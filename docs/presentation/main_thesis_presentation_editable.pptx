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6830568" y="0"/>
            <a:ext cx="5361431" cy="6858000"/>
          </a:xfrm>
          <a:custGeom>
            <a:avLst/>
            <a:gdLst/>
            <a:ahLst/>
            <a:cxnLst/>
            <a:rect l="l" t="t" r="r" b="b"/>
            <a:pathLst>
              <a:path w="5361431" h="6858000">
                <a:moveTo>
                  <a:pt x="2496312" y="0"/>
                </a:moveTo>
                <a:lnTo>
                  <a:pt x="5361431" y="0"/>
                </a:lnTo>
                <a:lnTo>
                  <a:pt x="536143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horizont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4572000"/>
            <a:ext cx="4370832" cy="1170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5455" y="1092127"/>
            <a:ext cx="623478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Evaluating the Robustness of AI-Based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9406" y="1574169"/>
            <a:ext cx="5987582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Forensic Tools under Adversarial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6367" y="2056238"/>
            <a:ext cx="3492427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Anti-Forensic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299" y="2816605"/>
            <a:ext cx="696657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404040"/>
                </a:solidFill>
                <a:latin typeface="Carlito"/>
              </a:rPr>
              <a:t>Master’s Degree in Computer Engineering, Cybersecurity and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3140" y="3111201"/>
            <a:ext cx="1257732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404040"/>
                </a:solidFill>
                <a:latin typeface="Carlito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6" y="3996866"/>
            <a:ext cx="80397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4224775"/>
            <a:ext cx="1940354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Prof. Davide Maiorca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6" y="4627618"/>
            <a:ext cx="1091282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Co-Advisor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4855554"/>
            <a:ext cx="2204524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Silvia Lucia Sanna, Ph.D.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1901" y="3971544"/>
            <a:ext cx="102829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000000"/>
                </a:solidFill>
                <a:latin typeface="Carlito"/>
              </a:rPr>
              <a:t>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8944" y="4229963"/>
            <a:ext cx="143129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Lello Molinario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3354" y="4685635"/>
            <a:ext cx="234742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000000"/>
                </a:solidFill>
                <a:latin typeface="Carlito"/>
              </a:rPr>
              <a:t>Student ID: 70/90/00369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2525" y="5618318"/>
            <a:ext cx="324678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3628524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1 Motivation and Research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2263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881281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74484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33135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26338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184989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78192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36843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3004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488696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81899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40550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8000"/>
            <a:ext cx="48581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095927" y="2293650"/>
            <a:ext cx="4482249" cy="395184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95927" y="2755753"/>
            <a:ext cx="4482249" cy="2318108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5936676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Why this matters in Digital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3628524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1 Motivation and 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240" y="235466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1" y="2354665"/>
            <a:ext cx="490132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AI-based forensic tools are increasingly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928" y="2718885"/>
            <a:ext cx="101276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used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2678" y="2713431"/>
            <a:ext cx="374033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1" i="0">
                <a:solidFill>
                  <a:srgbClr val="233A70"/>
                </a:solidFill>
                <a:latin typeface="Carlito"/>
              </a:rPr>
              <a:t> triage large image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4992" y="2718885"/>
            <a:ext cx="20191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40" y="3163454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1" y="3163454"/>
            <a:ext cx="48696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The analyst often relies on labels, tags,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928" y="3527674"/>
            <a:ext cx="503886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bookmarks or semantic retrieval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40" y="3972243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1" y="3972243"/>
            <a:ext cx="509047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In forensic contexts, a missed item is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928" y="4336463"/>
            <a:ext cx="48368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only a technical error: it can become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928" y="4695229"/>
            <a:ext cx="203769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1" i="0">
                <a:solidFill>
                  <a:srgbClr val="233A70"/>
                </a:solidFill>
                <a:latin typeface="Carlito"/>
              </a:rPr>
              <a:t>operational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7604" y="4700683"/>
            <a:ext cx="20191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8561" y="2317991"/>
            <a:ext cx="1965000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Core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3455" y="2774422"/>
            <a:ext cx="411980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The thesis does not build another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3455" y="3138641"/>
            <a:ext cx="222713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weapon classifier.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3455" y="3605522"/>
            <a:ext cx="367845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It evaluates whether AI-based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3455" y="3969742"/>
            <a:ext cx="367581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forensic classification remains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3455" y="4333962"/>
            <a:ext cx="300514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reliable when inputs 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3455" y="4698182"/>
            <a:ext cx="170631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manipulated.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6" y="6457996"/>
            <a:ext cx="516022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1944809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2425912"/>
            <a:ext cx="10883200" cy="758547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3060498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3628524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1 Motivation and 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0797" y="1991570"/>
            <a:ext cx="205948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Main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44559"/>
            <a:ext cx="103165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How robust are AI-based forensic image-classification and media-triage systems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6" y="2808779"/>
            <a:ext cx="8452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exposed to realistic adversarial and anti-forensic input manipulations?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470176"/>
            <a:ext cx="484648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The study combines three perspectives: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491" y="3914745"/>
            <a:ext cx="29634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20" y="3909291"/>
            <a:ext cx="383241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1" i="0">
                <a:solidFill>
                  <a:srgbClr val="233A70"/>
                </a:solidFill>
                <a:latin typeface="Carlito"/>
              </a:rPr>
              <a:t> Transparent proxy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6216" y="3914745"/>
            <a:ext cx="552009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: controlled models and known architectures.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110" y="4359314"/>
            <a:ext cx="3456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1705" y="4353860"/>
            <a:ext cx="430572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1" i="0">
                <a:solidFill>
                  <a:srgbClr val="233A70"/>
                </a:solidFill>
                <a:latin typeface="Carlito"/>
              </a:rPr>
              <a:t> Commercial black-box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9415" y="4359314"/>
            <a:ext cx="49646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: observable outputs from forensic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110" y="4803883"/>
            <a:ext cx="3456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1705" y="4798429"/>
            <a:ext cx="32538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1" i="0">
                <a:solidFill>
                  <a:srgbClr val="233A70"/>
                </a:solidFill>
                <a:latin typeface="Carlito"/>
              </a:rPr>
              <a:t> Operational risk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7509" y="4803883"/>
            <a:ext cx="616965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: false negatives, false positives, OOD behavior 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8518" y="5168104"/>
            <a:ext cx="151569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traceability.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86" y="6457999"/>
            <a:ext cx="51730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3/27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4440824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921934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2233279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3628524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1 Motivation and 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180232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1802328"/>
            <a:ext cx="702654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Existing evaluations often emphasize clean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224689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2246897"/>
            <a:ext cx="946320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Commercial forensic tools expose heterogeneous and partial decision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2691466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2691466"/>
            <a:ext cx="978197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Robustness under anti-forensic image transformations is rarely assessed with 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8519" y="3055686"/>
            <a:ext cx="263857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operational protocol.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831" y="350025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1872" y="3500255"/>
            <a:ext cx="952830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OOD behavior is often mixed with classification performance, instead of being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8519" y="3864502"/>
            <a:ext cx="25215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analyzed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1981" y="4487585"/>
            <a:ext cx="3917679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Gap addressed by this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4940574"/>
            <a:ext cx="1011158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A reproducible forensic evaluation framework that tests clean, OOD, adversarial 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6" y="5304794"/>
            <a:ext cx="639692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anti-forensic conditions under a common audit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6" y="6457995"/>
            <a:ext cx="533376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4/27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158384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2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2263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881281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74484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33135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26338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184989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78192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36843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3004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488696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81899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40550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8000"/>
            <a:ext cx="51516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5/27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4190154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671265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4516711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Main contribution: FAIRLab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158384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2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111" y="199622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0152" y="1996225"/>
            <a:ext cx="381129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Frozen dataset and controlled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6772" y="2360445"/>
            <a:ext cx="135059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manifests.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111" y="2805014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152" y="2805014"/>
            <a:ext cx="371452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Fold-aware proxy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111" y="3249583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152" y="3249583"/>
            <a:ext cx="416819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Blind forensic evaluation bundle.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111" y="3694152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152" y="3694152"/>
            <a:ext cx="407083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Black-box output normalization.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4987" y="2018698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1028" y="2018698"/>
            <a:ext cx="265499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Robustness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4987" y="2463267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1028" y="2463267"/>
            <a:ext cx="191276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OOD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4987" y="2907836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1028" y="2907836"/>
            <a:ext cx="22456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XAI case studies.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4987" y="3352406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1028" y="3352406"/>
            <a:ext cx="410426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Repository-level traceability 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7648" y="3716625"/>
            <a:ext cx="149839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checksums.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7034" y="4236915"/>
            <a:ext cx="1426053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6" y="4689904"/>
            <a:ext cx="1066759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FAIRLab is the methodological artifact: it makes the evaluation repeatable, auditable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6" y="5054125"/>
            <a:ext cx="404824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aligned with forensic constraints.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86" y="6458000"/>
            <a:ext cx="52373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6/27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579969" y="1561234"/>
            <a:ext cx="7032087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579969" y="2038410"/>
            <a:ext cx="7032087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79969" y="4443810"/>
            <a:ext cx="7032087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4458" y="4853110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458" y="5334220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5991" y="637692"/>
            <a:ext cx="1879252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91" y="1055156"/>
            <a:ext cx="158384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2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9969" y="1663347"/>
            <a:ext cx="1432525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1011" y="1663347"/>
            <a:ext cx="788171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9969" y="2141123"/>
            <a:ext cx="1748275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Research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0207" y="2141123"/>
            <a:ext cx="4194197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AI robustness in forensic image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9969" y="2462494"/>
            <a:ext cx="1719618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Frozen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0474" y="2462494"/>
            <a:ext cx="4888367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500 weapon + 500 non-weapon + 500 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9969" y="2783864"/>
            <a:ext cx="207687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Evaluation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0207" y="2783864"/>
            <a:ext cx="1317098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11,500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9969" y="3105235"/>
            <a:ext cx="158464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Proxy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0742" y="3105235"/>
            <a:ext cx="4877387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EﬃcientNet-B0, ResNet18, CLIP-based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9969" y="3426605"/>
            <a:ext cx="202385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Commercial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0742" y="3426605"/>
            <a:ext cx="4404698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Magnet, Excire, Cellebrite, Griﬀeye/T3K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9969" y="3748002"/>
            <a:ext cx="1292460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9939" y="3748002"/>
            <a:ext cx="417491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Clean, OOD, adversarial, anti-forensic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9969" y="4069373"/>
            <a:ext cx="184629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Public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0474" y="4069373"/>
            <a:ext cx="486078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69,000 sanitized commercial-tool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9240" y="4899871"/>
            <a:ext cx="3843122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What to emphasize verbally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6" y="5352860"/>
            <a:ext cx="1075762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The dataset is small by design but strongly controlled: the objective is forensic 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86" y="5717080"/>
            <a:ext cx="486994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assessment, not generic model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986" y="6457999"/>
            <a:ext cx="503381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7/27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3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3918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2569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50160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60256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9293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7944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698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5631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466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3318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232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978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52373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8/27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2685" y="2011554"/>
            <a:ext cx="5549128" cy="40357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685" y="2482071"/>
            <a:ext cx="5549128" cy="1710797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6895" y="1813865"/>
            <a:ext cx="5122474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6895" y="2294959"/>
            <a:ext cx="5122474" cy="2095570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455" y="4578002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4455" y="5059116"/>
            <a:ext cx="10883200" cy="713590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5991" y="637692"/>
            <a:ext cx="3451548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Dataset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3 Experimental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072" y="2058315"/>
            <a:ext cx="303164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Frozen source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057" y="2500713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098" y="2500713"/>
            <a:ext cx="252244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1,500 total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057" y="2945282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098" y="2945282"/>
            <a:ext cx="184531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500 weapon.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057" y="3389851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098" y="3389851"/>
            <a:ext cx="239751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500 non-weapon.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057" y="383442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098" y="3834420"/>
            <a:ext cx="308549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500 out-of-distribution.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7405" y="1860626"/>
            <a:ext cx="193061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Binary subset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8267" y="2313615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4308" y="2313615"/>
            <a:ext cx="193241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1,000 images.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8267" y="2758184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4308" y="2758184"/>
            <a:ext cx="184531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500 weapon.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8267" y="3202753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4308" y="3202753"/>
            <a:ext cx="239751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500 non-weapon.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8267" y="3647323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4308" y="3647323"/>
            <a:ext cx="407229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Base for proxy and perturbation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0955" y="4011542"/>
            <a:ext cx="149194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generation.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053" y="4624764"/>
            <a:ext cx="296640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Important distinction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3" y="5077754"/>
            <a:ext cx="1058490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OOD images are not a third class. They are used to test how systems behave outside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983" y="5441973"/>
            <a:ext cx="271892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intended distribution.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3" y="6457998"/>
            <a:ext cx="52373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9/27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418327" y="1779916"/>
            <a:ext cx="3355345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418327" y="2257092"/>
            <a:ext cx="3355345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18327" y="3693999"/>
            <a:ext cx="3355345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18327" y="4171176"/>
            <a:ext cx="3355345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4458" y="4638190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4458" y="5119300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5991" y="637692"/>
            <a:ext cx="4435340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Forensic evaluation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3 Experimental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8327" y="1882029"/>
            <a:ext cx="224452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Bundle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8821" y="1882029"/>
            <a:ext cx="624271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8327" y="2359805"/>
            <a:ext cx="230880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Clean binary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4020" y="2359805"/>
            <a:ext cx="748000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8327" y="2681176"/>
            <a:ext cx="2140886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Clean OOD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0417" y="2681176"/>
            <a:ext cx="561334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8327" y="3002546"/>
            <a:ext cx="2290056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Adversarial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9204" y="3002546"/>
            <a:ext cx="78308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8327" y="3323917"/>
            <a:ext cx="246065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Anti-forensic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8937" y="3323917"/>
            <a:ext cx="78308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8327" y="3791731"/>
            <a:ext cx="670066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2339" y="3791731"/>
            <a:ext cx="829681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1" i="0">
                <a:solidFill>
                  <a:srgbClr val="404040"/>
                </a:solidFill>
                <a:latin typeface="Carlito"/>
              </a:rPr>
              <a:t>11,500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523" y="4684951"/>
            <a:ext cx="240817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Why this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6" y="5137940"/>
            <a:ext cx="1016231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The bundle is processed blindly by forensic tools; ground truth and metadata remain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6" y="5502161"/>
            <a:ext cx="349018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outside the tool-facing 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6" y="6457996"/>
            <a:ext cx="60836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10/27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5263082"/>
            <a:ext cx="10883200" cy="403572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5733610"/>
            <a:ext cx="10883200" cy="372913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1699925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3 Experimental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116" y="1593086"/>
            <a:ext cx="28173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40" y="1593086"/>
            <a:ext cx="234977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Source image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009" y="2037736"/>
            <a:ext cx="32673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725" y="2037736"/>
            <a:ext cx="5825701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Human-in-the-loop validation and dataset freezing.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009" y="2482386"/>
            <a:ext cx="32673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725" y="2482386"/>
            <a:ext cx="401235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Binary subset and clean OOD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272" y="2927036"/>
            <a:ext cx="340658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1915" y="2927036"/>
            <a:ext cx="6134759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Adversarial and anti-forensic perturbation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751" y="3371686"/>
            <a:ext cx="32405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1789" y="3371686"/>
            <a:ext cx="3135270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Blind bundle construction.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305" y="3816362"/>
            <a:ext cx="33637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1662" y="3816362"/>
            <a:ext cx="2908701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Proxy-model evaluation.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294" y="4261013"/>
            <a:ext cx="294594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1872" y="4261013"/>
            <a:ext cx="3931206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Commercial black-box evaluation.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305" y="4705662"/>
            <a:ext cx="336373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233A70"/>
                </a:solidFill>
                <a:latin typeface="Carlito"/>
              </a:rPr>
              <a:t>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1662" y="4705662"/>
            <a:ext cx="6135828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404040"/>
                </a:solidFill>
                <a:latin typeface="Carlito"/>
              </a:rPr>
              <a:t> Output normalization, metrics, XAI and audit controls.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0420" y="5309844"/>
            <a:ext cx="1459798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Slide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6" y="5755285"/>
            <a:ext cx="7780462" cy="3883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8" b="0" i="0">
                <a:solidFill>
                  <a:srgbClr val="000000"/>
                </a:solidFill>
                <a:latin typeface="Carlito"/>
              </a:rPr>
              <a:t>This is the slide where the FAIRLab flowchart should be shown visually.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6" y="6457997"/>
            <a:ext cx="560586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11/27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2685" y="2084569"/>
            <a:ext cx="5229096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685" y="2565673"/>
            <a:ext cx="5229096" cy="1731340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06868" y="2091532"/>
            <a:ext cx="5442505" cy="40357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6868" y="2562038"/>
            <a:ext cx="5442505" cy="1728041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455" y="4484487"/>
            <a:ext cx="10883200" cy="417616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4455" y="4969048"/>
            <a:ext cx="10883200" cy="397616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5991" y="637692"/>
            <a:ext cx="5537143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Proxy models vs commercial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3 Experimental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9297" y="2131330"/>
            <a:ext cx="1924828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Proxy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057" y="258432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098" y="2584320"/>
            <a:ext cx="213915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EﬃcientNet-B0.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057" y="3028889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098" y="3028889"/>
            <a:ext cx="145528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ResNet18.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057" y="347345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098" y="3473458"/>
            <a:ext cx="309370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CLIP-based visual proxy.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057" y="391802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098" y="3918027"/>
            <a:ext cx="44060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Controlled training and evaluation.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1114" y="2138294"/>
            <a:ext cx="214336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Black-box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8240" y="2580692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4281" y="2580692"/>
            <a:ext cx="367258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Magnet AXIOM / Magnet.AI.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8240" y="3025261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4281" y="3025261"/>
            <a:ext cx="231188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Excire Foto 2025.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240" y="3469830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4281" y="3469830"/>
            <a:ext cx="253651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Cellebrite Inseyets.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8240" y="3914399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4281" y="3914399"/>
            <a:ext cx="26881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Griﬀeye / T3K CORE.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9397" y="4531249"/>
            <a:ext cx="300304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Methodological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983" y="4987678"/>
            <a:ext cx="97406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Proxy models give experimental control; black-box tools give operational realism.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3" y="6458005"/>
            <a:ext cx="59079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12/27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2738" y="2374971"/>
            <a:ext cx="5335719" cy="40357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738" y="2845461"/>
            <a:ext cx="5335719" cy="2165959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3614" y="2394112"/>
            <a:ext cx="5335720" cy="40357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13614" y="2864622"/>
            <a:ext cx="5335720" cy="2127659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5991" y="637692"/>
            <a:ext cx="5319250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Attack and perturbation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91" y="1055156"/>
            <a:ext cx="2346956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3 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0559" y="2421733"/>
            <a:ext cx="224909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Adversarial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110" y="285415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151" y="2854157"/>
            <a:ext cx="105147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FGSM.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110" y="3298726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151" y="3298726"/>
            <a:ext cx="224179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Iterative attacks.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110" y="374329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151" y="3743295"/>
            <a:ext cx="148226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DeepFool.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110" y="418786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151" y="4187865"/>
            <a:ext cx="411100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OnePixel / sparse perturbations.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110" y="4632434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151" y="4632434"/>
            <a:ext cx="435997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Transfer and direct-target settings.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1059" y="2440873"/>
            <a:ext cx="244963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Anti-forensic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4986" y="2883272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1027" y="2883272"/>
            <a:ext cx="27435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JPEG recompression.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4986" y="3327841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1027" y="3327841"/>
            <a:ext cx="108608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Resize.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986" y="3772410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1027" y="3772410"/>
            <a:ext cx="20429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Blur / sharpen.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4986" y="4216980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1027" y="4216980"/>
            <a:ext cx="102068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Noise.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4986" y="4661549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1027" y="4661549"/>
            <a:ext cx="157376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Color shift.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6" y="6457999"/>
            <a:ext cx="592080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13/27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192490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4 Evaluation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3918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2569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50160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60256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9293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7944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698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5631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466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3318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232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978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608149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14/27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639620" y="2349700"/>
            <a:ext cx="6912786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639620" y="2759914"/>
            <a:ext cx="6912786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639620" y="3933380"/>
            <a:ext cx="6912786" cy="0"/>
          </a:xfrm>
          <a:prstGeom prst="line">
            <a:avLst/>
          </a:prstGeom>
          <a:ln w="63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4458" y="4400423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458" y="4881533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5991" y="637692"/>
            <a:ext cx="3589610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Output 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5991" y="1055156"/>
            <a:ext cx="192490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4 Evaluation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8" y="1788591"/>
            <a:ext cx="696056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Commercial tools do not expose the same kind of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9620" y="2448777"/>
            <a:ext cx="498882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404040"/>
                </a:solidFill>
                <a:latin typeface="Carlito"/>
              </a:rP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9729" y="2448777"/>
            <a:ext cx="2452410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404040"/>
                </a:solidFill>
                <a:latin typeface="Carlito"/>
              </a:rPr>
              <a:t>Observable forensic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620" y="2858595"/>
            <a:ext cx="2556536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Magnet AXIOM / Magnet.AI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9515" y="2858595"/>
            <a:ext cx="1984702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Possible weapons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9620" y="3113030"/>
            <a:ext cx="156241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Excire Foto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9515" y="3113030"/>
            <a:ext cx="429174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Firearm-oriented semantic prompt membership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9620" y="3367438"/>
            <a:ext cx="172631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Cellebrite Inseyets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0157" y="3367438"/>
            <a:ext cx="290190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Exported weapon classifications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9620" y="3621873"/>
            <a:ext cx="1837299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Griﬀeye / T3K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9942" y="3621873"/>
            <a:ext cx="312322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CORE/Violence/Firearm bookmark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5233" y="4447184"/>
            <a:ext cx="183098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Critical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6" y="4900174"/>
            <a:ext cx="986583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The thesis evaluates observable exported signals, not proprietary model internals,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86" y="5264394"/>
            <a:ext cx="441892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thresholds, weights or training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6" y="6458000"/>
            <a:ext cx="58993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15/27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2738" y="1808084"/>
            <a:ext cx="5335719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738" y="2289168"/>
            <a:ext cx="5335719" cy="2117703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3614" y="1785908"/>
            <a:ext cx="5335720" cy="40357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13614" y="2256407"/>
            <a:ext cx="5335720" cy="2172616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4458" y="4616494"/>
            <a:ext cx="10883200" cy="417616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4458" y="5101047"/>
            <a:ext cx="10883200" cy="713591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5991" y="637692"/>
            <a:ext cx="4345485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Metrics: not only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5991" y="1055156"/>
            <a:ext cx="1924909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4 Evaluation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2656" y="1854818"/>
            <a:ext cx="1924828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Proxy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110" y="2297861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151" y="2297861"/>
            <a:ext cx="139487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110" y="274243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151" y="2742430"/>
            <a:ext cx="104561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Recall.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110" y="3186999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151" y="3186999"/>
            <a:ext cx="258725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False-negative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110" y="363156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151" y="3631568"/>
            <a:ext cx="250748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False-positive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110" y="407613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151" y="4076138"/>
            <a:ext cx="128754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F1 score.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3209" y="1832669"/>
            <a:ext cx="1965641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Forensic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4986" y="2275067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1027" y="2275067"/>
            <a:ext cx="205558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Weapon recall.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986" y="2719636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1027" y="2719636"/>
            <a:ext cx="258725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False-negative rate.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4986" y="3164205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1027" y="3164205"/>
            <a:ext cx="250748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False-positive 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4986" y="3608774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1027" y="3608774"/>
            <a:ext cx="420455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Unknown / no-decision behavior.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4986" y="4053344"/>
            <a:ext cx="2740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1027" y="4053344"/>
            <a:ext cx="250455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OOD weapon-rate.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1900" y="4663255"/>
            <a:ext cx="2337476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Forensic framing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986" y="5119685"/>
            <a:ext cx="1020601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The key risk is not only whether the system is accurate, but whether it silently misses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986" y="5483905"/>
            <a:ext cx="231159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relevant evidence.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986" y="6457996"/>
            <a:ext cx="59850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16/27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1796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0447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99752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58403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773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6386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5691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4342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364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2298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163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281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572584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17/27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4179158"/>
            <a:ext cx="10883200" cy="403572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649679"/>
            <a:ext cx="10883200" cy="394317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5702588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Proxy-model results: what to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2265822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2265822"/>
            <a:ext cx="682068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Start from clean performance to establish the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2710391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2710391"/>
            <a:ext cx="1003358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Then show robustness degradation under adversarial and anti-forensic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315496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3154960"/>
            <a:ext cx="1032800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Highlight the strongest collapse case: EﬃcientNet-B0 under direct-target Sigma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831" y="359953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1872" y="3599530"/>
            <a:ext cx="907786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Emphasize that robustness diﬀers across architectures and attack settings.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5502" y="4225919"/>
            <a:ext cx="2089694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Main sentence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4668317"/>
            <a:ext cx="710719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Clean performance does not imply operational robustness.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6" y="6457997"/>
            <a:ext cx="59850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18/27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4245771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726873"/>
            <a:ext cx="10883200" cy="758547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6340838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Commercial-tool results: what to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1971521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1971521"/>
            <a:ext cx="803739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Do not present the tools as if they shared the same internal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241609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2416090"/>
            <a:ext cx="678285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Compare them through normalized observable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286066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2860660"/>
            <a:ext cx="973651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Focus on operational behavior: detections, misses, false alarms and no-decision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8519" y="3224879"/>
            <a:ext cx="83945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831" y="366944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1872" y="3669448"/>
            <a:ext cx="705792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Show that eﬀects are tool-specific and condition-specific.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336" y="4292532"/>
            <a:ext cx="3488646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Defensible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6" y="4745521"/>
            <a:ext cx="1039341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The thesis does not claim to reverse engineer commercial AI modules; it assesses their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5109741"/>
            <a:ext cx="626203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exported behavior under controlled forensic inputs.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6" y="6457998"/>
            <a:ext cx="59850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19/27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3979698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460808"/>
            <a:ext cx="10883200" cy="761846"/>
          </a:xfrm>
          <a:prstGeom prst="roundRect">
            <a:avLst>
              <a:gd name="adj" fmla="val 8000"/>
            </a:avLst>
          </a:prstGeom>
          <a:solidFill>
            <a:srgbClr val="C89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2394866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OOD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2146709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2146709"/>
            <a:ext cx="1018372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OOD samples test what happens outside the expected binary weapon/non-weapon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519" y="2510929"/>
            <a:ext cx="101276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setting.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831" y="295549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1872" y="2955498"/>
            <a:ext cx="758754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Forced labeling on OOD content can create operational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5831" y="340006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1872" y="3400067"/>
            <a:ext cx="1028607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High-confidence or repeated OOD weapon tagging should be treated as a risk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2626" y="4026459"/>
            <a:ext cx="3696895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Why this slide is 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86" y="4479448"/>
            <a:ext cx="107189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It shows that the problem is not only adversarial attacks. Robust forensic triage must also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4843668"/>
            <a:ext cx="319223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manage distribution shift.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6" y="6458000"/>
            <a:ext cx="63857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20/27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3995636"/>
            <a:ext cx="10883200" cy="417616"/>
          </a:xfrm>
          <a:prstGeom prst="roundRect">
            <a:avLst>
              <a:gd name="adj" fmla="val 8000"/>
            </a:avLst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480190"/>
            <a:ext cx="10883200" cy="713590"/>
          </a:xfrm>
          <a:prstGeom prst="roundRect">
            <a:avLst>
              <a:gd name="adj" fmla="val 8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4991061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Explainability and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888073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5 Results and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216593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2165930"/>
            <a:ext cx="871481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Integrated Gradients is used to inspect selected proxy-model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2610499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2610499"/>
            <a:ext cx="404648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XAI is not treated as legal proof.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305506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3055068"/>
            <a:ext cx="954765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Its role is diagnostic: understanding where the model focuses under clean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8519" y="3419314"/>
            <a:ext cx="271951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perturbed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4025" y="4042396"/>
            <a:ext cx="3933428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FFFFFF"/>
                </a:solidFill>
                <a:latin typeface="Carlito"/>
              </a:rPr>
              <a:t>Message for the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86" y="4498827"/>
            <a:ext cx="1052272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Explainability supports interpretation and debugging, but it does not replace validation,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4863074"/>
            <a:ext cx="454678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audit trails or human forensic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6" y="6457994"/>
            <a:ext cx="590795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21/27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91" y="637692"/>
            <a:ext cx="2909324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FFFFFF"/>
                </a:solidFill>
                <a:latin typeface="Carlito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FFFFFF"/>
                </a:solidFill>
                <a:latin typeface="Carlito"/>
              </a:rPr>
              <a:t>6 Forensic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6" y="1851796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414" y="1910447"/>
            <a:ext cx="4169363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Motivation and 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6" y="2499752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414" y="2558403"/>
            <a:ext cx="164033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6" y="3147735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414" y="3206386"/>
            <a:ext cx="256907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6" y="3795691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414" y="3854342"/>
            <a:ext cx="204003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Evaluation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6" y="4443647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DejaVu Sans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414" y="4502298"/>
            <a:ext cx="32303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F618D"/>
                </a:solidFill>
                <a:latin typeface="Carlito"/>
              </a:rPr>
              <a:t>Results and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5091630"/>
            <a:ext cx="35616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DejaVu Sans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414" y="5150281"/>
            <a:ext cx="262977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FFFFFF"/>
                </a:solidFill>
                <a:latin typeface="Carlito"/>
              </a:rPr>
              <a:t>Forensic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8"/>
            <a:ext cx="621004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22/27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91" y="637692"/>
            <a:ext cx="4070515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Operational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6 Forensic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831" y="257318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1872" y="2573187"/>
            <a:ext cx="921452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AI-based forensic tools are useful for prioritization and workload reduction.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3017756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3017756"/>
            <a:ext cx="742097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They should not be used as autonomous evidence selectors.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346232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3462325"/>
            <a:ext cx="996935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Every AI-based triage result should be linked to tool version, configuration,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8519" y="3826545"/>
            <a:ext cx="346056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logic and validation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5831" y="4271115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1872" y="4271115"/>
            <a:ext cx="1011628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Human review remains necessary, especially for negative or no-decision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8" y="6457998"/>
            <a:ext cx="61864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23/27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4458" y="4027249"/>
            <a:ext cx="10883200" cy="414162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4458" y="4508352"/>
            <a:ext cx="10883200" cy="758547"/>
          </a:xfrm>
          <a:prstGeom prst="roundRect">
            <a:avLst>
              <a:gd name="adj" fmla="val 8000"/>
            </a:avLst>
          </a:prstGeom>
          <a:solidFill>
            <a:srgbClr val="CDF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5991" y="637692"/>
            <a:ext cx="1908948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6 Forensic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2117193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2117193"/>
            <a:ext cx="67324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Dataset size is intentionally controlled, not exhaustive.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2561762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2561762"/>
            <a:ext cx="902947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Commercial tools are black boxes: only observable outputs are evaluated.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3006331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3006331"/>
            <a:ext cx="811217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Some results depend on specific tool versions and export settings.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831" y="3450900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1872" y="3450900"/>
            <a:ext cx="862478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The study does not claim universal validity across all forensic domains.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3782" y="4074010"/>
            <a:ext cx="2333297" cy="4659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30" b="1" i="0">
                <a:solidFill>
                  <a:srgbClr val="000000"/>
                </a:solidFill>
                <a:latin typeface="Carlito"/>
              </a:rPr>
              <a:t>How to phrase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6" y="4527000"/>
            <a:ext cx="1049105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These limitations are not weaknesses of the protocol; they define the exact 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6" y="4891220"/>
            <a:ext cx="360338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000000"/>
                </a:solidFill>
                <a:latin typeface="Carlito"/>
              </a:rPr>
              <a:t>perimeter of the experiment.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6" y="6457997"/>
            <a:ext cx="638358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24/27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91" y="637692"/>
            <a:ext cx="2027342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6 Forensic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493" y="2414665"/>
            <a:ext cx="29634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1821" y="2414665"/>
            <a:ext cx="1032947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The thesis provides a reproducible framework for forensic AI robustness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4111" y="2859235"/>
            <a:ext cx="3456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706" y="2859235"/>
            <a:ext cx="833886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Clean accuracy alone is insuﬃcient for evaluating forensic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11" y="3303804"/>
            <a:ext cx="345611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706" y="3303804"/>
            <a:ext cx="89972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Output normalization is necessary for comparing black-box forensic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057" y="3748373"/>
            <a:ext cx="36086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902" y="3748373"/>
            <a:ext cx="7730652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OOD behavior and false negatives are central operational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095" y="4192942"/>
            <a:ext cx="34267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1758" y="4192942"/>
            <a:ext cx="8477278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AI-based forensic classification should remain human-supervised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8519" y="4557162"/>
            <a:ext cx="2214525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validation-driven.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88" y="6457998"/>
            <a:ext cx="620147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25/27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ca_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5991" y="637692"/>
            <a:ext cx="2081333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1" i="0">
                <a:solidFill>
                  <a:srgbClr val="233A70"/>
                </a:solidFill>
                <a:latin typeface="Carlito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91" y="1055156"/>
            <a:ext cx="2405527" cy="3494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7" b="0" i="0">
                <a:solidFill>
                  <a:srgbClr val="233A70"/>
                </a:solidFill>
                <a:latin typeface="Carlito"/>
              </a:rPr>
              <a:t>6 Forensic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831" y="2718859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1872" y="2718859"/>
            <a:ext cx="8923027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Extend the protocol to larger and more heterogeneous forensic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831" y="3163428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872" y="3163428"/>
            <a:ext cx="5350594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Include additional media classes and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831" y="3607997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872" y="3607997"/>
            <a:ext cx="7571120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Repeat tests across tool versions to measure robustness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831" y="4052566"/>
            <a:ext cx="274056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233A70"/>
                </a:solidFill>
                <a:latin typeface="Carli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1872" y="4052566"/>
            <a:ext cx="8051179" cy="4252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9" b="0" i="0">
                <a:solidFill>
                  <a:srgbClr val="404040"/>
                </a:solidFill>
                <a:latin typeface="Carlito"/>
              </a:rPr>
              <a:t> Explore stronger audit mechanisms for AI-assisted forensic triage.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8" y="6457998"/>
            <a:ext cx="627003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404040"/>
                </a:solidFill>
                <a:latin typeface="Carlito"/>
              </a:rPr>
              <a:t>26/27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170" cy="6856171"/>
          </a:xfrm>
          <a:prstGeom prst="rect">
            <a:avLst/>
          </a:prstGeom>
          <a:solidFill>
            <a:srgbClr val="2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c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7" y="7"/>
            <a:ext cx="1097235" cy="1306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826" y="2001618"/>
            <a:ext cx="10425310" cy="966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Evaluating the Robustness of AI-Based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955" y="2596456"/>
            <a:ext cx="10015521" cy="966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Forensic Tools under Adversarial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3624" y="3078525"/>
            <a:ext cx="5794393" cy="9661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46" b="0" i="0">
                <a:solidFill>
                  <a:srgbClr val="FFFFFF"/>
                </a:solidFill>
                <a:latin typeface="Carlito"/>
              </a:rPr>
              <a:t>Anti-Forensic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9725" y="4161555"/>
            <a:ext cx="3800560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0" i="1">
                <a:solidFill>
                  <a:srgbClr val="FFFFFF"/>
                </a:solidFill>
                <a:latin typeface="Carlito"/>
              </a:rPr>
              <a:t>Thank you for listening!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4294" y="4643597"/>
            <a:ext cx="2471225" cy="559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36" b="0" i="1">
                <a:solidFill>
                  <a:srgbClr val="FFFFFF"/>
                </a:solidFill>
                <a:latin typeface="Carlito"/>
              </a:rPr>
              <a:t>Any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88" y="6457998"/>
            <a:ext cx="604721" cy="310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0" i="0">
                <a:solidFill>
                  <a:srgbClr val="FFFFFF"/>
                </a:solidFill>
                <a:latin typeface="Carlito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Robustness of AI-Based Forensic Tools under Adversarial and Anti-Forensic Attacks</dc:title>
  <dc:subject>Editable PowerPoint reconstruction from thesis presentation PDF</dc:subject>
  <dc:creator>Lello Molinario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