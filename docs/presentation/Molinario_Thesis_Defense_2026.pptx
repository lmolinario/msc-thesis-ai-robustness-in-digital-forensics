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3"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930" autoAdjust="0"/>
  </p:normalViewPr>
  <p:slideViewPr>
    <p:cSldViewPr snapToGrid="0" snapToObjects="1">
      <p:cViewPr varScale="1">
        <p:scale>
          <a:sx n="88" d="100"/>
          <a:sy n="88" d="100"/>
        </p:scale>
        <p:origin x="13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FNR · missed-target risk</c:v>
          </c:tx>
          <c:spPr>
            <a:solidFill>
              <a:srgbClr val="BE3C37"/>
            </a:solidFill>
          </c:spPr>
          <c:invertIfNegative val="1"/>
          <c:dLbls>
            <c:spPr>
              <a:noFill/>
              <a:ln>
                <a:noFill/>
              </a:ln>
            </c:spPr>
            <c:txPr>
              <a:bodyPr anchorCtr="1"/>
              <a:lstStyle/>
              <a:p>
                <a:pPr>
                  <a:defRPr sz="1125"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7.0000000000000007E-2</c:v>
              </c:pt>
              <c:pt idx="1">
                <c:v>0.12</c:v>
              </c:pt>
              <c:pt idx="2">
                <c:v>4.2000000000000003E-2</c:v>
              </c:pt>
              <c:pt idx="3">
                <c:v>1.4E-2</c:v>
              </c:pt>
              <c:pt idx="4">
                <c:v>3.2000000000000001E-2</c:v>
              </c:pt>
              <c:pt idx="5">
                <c:v>3.5999999999999997E-2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173-4757-916B-D1825A920195}"/>
            </c:ext>
          </c:extLst>
        </c:ser>
        <c:ser>
          <c:idx val="1"/>
          <c:order val="1"/>
          <c:tx>
            <c:v>FPR · review workload</c:v>
          </c:tx>
          <c:spPr>
            <a:solidFill>
              <a:srgbClr val="C89B14"/>
            </a:solidFill>
          </c:spPr>
          <c:invertIfNegative val="1"/>
          <c:dLbls>
            <c:spPr>
              <a:noFill/>
              <a:ln>
                <a:noFill/>
              </a:ln>
            </c:spPr>
            <c:txPr>
              <a:bodyPr anchorCtr="1"/>
              <a:lstStyle/>
              <a:p>
                <a:pPr>
                  <a:defRPr sz="1125"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0.03</c:v>
              </c:pt>
              <c:pt idx="1">
                <c:v>2.5999999999999999E-2</c:v>
              </c:pt>
              <c:pt idx="2">
                <c:v>7.0000000000000007E-2</c:v>
              </c:pt>
              <c:pt idx="3">
                <c:v>0.156</c:v>
              </c:pt>
              <c:pt idx="4">
                <c:v>0.04</c:v>
              </c:pt>
              <c:pt idx="5">
                <c:v>8.0000000000000002E-3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6173-4757-916B-D1825A920195}"/>
            </c:ext>
          </c:extLst>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l"/>
        <c:majorGridlines>
          <c:spPr>
            <a:ln w="9525">
              <a:solidFill>
                <a:srgbClr val="D9DEE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5B6577"/>
                </a:solidFill>
              </a:defRPr>
            </a:pPr>
            <a:endParaRPr lang="it-IT"/>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9DEE8"/>
            </a:solidFill>
            <a:prstDash val="solid"/>
          </a:ln>
        </c:spPr>
        <c:txPr>
          <a:bodyPr anchorCtr="1"/>
          <a:lstStyle/>
          <a:p>
            <a:pPr>
              <a:defRPr sz="1275">
                <a:solidFill>
                  <a:srgbClr val="172033"/>
                </a:solidFill>
              </a:defRPr>
            </a:pPr>
            <a:endParaRPr lang="it-IT"/>
          </a:p>
        </c:txPr>
        <c:crossAx val="48650112"/>
        <c:crosses val="autoZero"/>
        <c:crossBetween val="between"/>
      </c:valAx>
      <c:spPr>
        <a:solidFill>
          <a:srgbClr val="F7F8FA"/>
        </a:solidFill>
        <a:ln w="0">
          <a:noFill/>
          <a:prstDash val="solid"/>
        </a:ln>
      </c:spPr>
    </c:plotArea>
    <c:legend>
      <c:legendPos val="b"/>
      <c:overlay val="0"/>
      <c:txPr>
        <a:bodyPr anchorCtr="1"/>
        <a:lstStyle/>
        <a:p>
          <a:pPr>
            <a:defRPr sz="1200">
              <a:solidFill>
                <a:srgbClr val="5B6577"/>
              </a:solidFill>
            </a:defRPr>
          </a:pPr>
          <a:endParaRPr lang="it-IT"/>
        </a:p>
      </c:txPr>
    </c:legend>
    <c:plotVisOnly val="1"/>
    <c:dispBlanksAs val="zero"/>
    <c:showDLblsOverMax val="1"/>
  </c:chart>
  <c:spPr>
    <a:solidFill>
      <a:srgbClr val="F7F8FA"/>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OOD weapon-assignment rate</c:v>
          </c:tx>
          <c:spPr>
            <a:solidFill>
              <a:srgbClr val="233A70"/>
            </a:solidFill>
          </c:spPr>
          <c:invertIfNegative val="1"/>
          <c:dPt>
            <c:idx val="2"/>
            <c:invertIfNegative val="0"/>
            <c:bubble3D val="0"/>
            <c:spPr>
              <a:solidFill>
                <a:srgbClr val="BE3C37"/>
              </a:solidFill>
            </c:spPr>
            <c:extLst>
              <c:ext xmlns:c16="http://schemas.microsoft.com/office/drawing/2014/chart" uri="{C3380CC4-5D6E-409C-BE32-E72D297353CC}">
                <c16:uniqueId val="{00000001-17A7-4A15-9920-6B2EF4D0E65B}"/>
              </c:ext>
            </c:extLst>
          </c:dPt>
          <c:dPt>
            <c:idx val="3"/>
            <c:invertIfNegative val="0"/>
            <c:bubble3D val="0"/>
            <c:spPr>
              <a:solidFill>
                <a:srgbClr val="087A50"/>
              </a:solidFill>
            </c:spPr>
            <c:extLst>
              <c:ext xmlns:c16="http://schemas.microsoft.com/office/drawing/2014/chart" uri="{C3380CC4-5D6E-409C-BE32-E72D297353CC}">
                <c16:uniqueId val="{00000003-17A7-4A15-9920-6B2EF4D0E65B}"/>
              </c:ext>
            </c:extLst>
          </c:dPt>
          <c:dPt>
            <c:idx val="4"/>
            <c:invertIfNegative val="0"/>
            <c:bubble3D val="0"/>
            <c:spPr>
              <a:solidFill>
                <a:srgbClr val="087A50"/>
              </a:solidFill>
            </c:spPr>
            <c:extLst>
              <c:ext xmlns:c16="http://schemas.microsoft.com/office/drawing/2014/chart" uri="{C3380CC4-5D6E-409C-BE32-E72D297353CC}">
                <c16:uniqueId val="{00000005-17A7-4A15-9920-6B2EF4D0E65B}"/>
              </c:ext>
            </c:extLst>
          </c:dPt>
          <c:dPt>
            <c:idx val="5"/>
            <c:invertIfNegative val="0"/>
            <c:bubble3D val="0"/>
            <c:spPr>
              <a:solidFill>
                <a:srgbClr val="087A50"/>
              </a:solidFill>
            </c:spPr>
            <c:extLst>
              <c:ext xmlns:c16="http://schemas.microsoft.com/office/drawing/2014/chart" uri="{C3380CC4-5D6E-409C-BE32-E72D297353CC}">
                <c16:uniqueId val="{00000007-17A7-4A15-9920-6B2EF4D0E65B}"/>
              </c:ext>
            </c:extLst>
          </c:dPt>
          <c:dPt>
            <c:idx val="6"/>
            <c:invertIfNegative val="0"/>
            <c:bubble3D val="0"/>
            <c:spPr>
              <a:solidFill>
                <a:srgbClr val="C89B14"/>
              </a:solidFill>
            </c:spPr>
            <c:extLst>
              <c:ext xmlns:c16="http://schemas.microsoft.com/office/drawing/2014/chart" uri="{C3380CC4-5D6E-409C-BE32-E72D297353CC}">
                <c16:uniqueId val="{00000009-17A7-4A15-9920-6B2EF4D0E65B}"/>
              </c:ext>
            </c:extLst>
          </c:dPt>
          <c:dPt>
            <c:idx val="7"/>
            <c:invertIfNegative val="0"/>
            <c:bubble3D val="0"/>
            <c:spPr>
              <a:solidFill>
                <a:srgbClr val="087A50"/>
              </a:solidFill>
            </c:spPr>
            <c:extLst>
              <c:ext xmlns:c16="http://schemas.microsoft.com/office/drawing/2014/chart" uri="{C3380CC4-5D6E-409C-BE32-E72D297353CC}">
                <c16:uniqueId val="{0000000B-17A7-4A15-9920-6B2EF4D0E65B}"/>
              </c:ext>
            </c:extLst>
          </c:dPt>
          <c:dPt>
            <c:idx val="8"/>
            <c:invertIfNegative val="0"/>
            <c:bubble3D val="0"/>
            <c:spPr>
              <a:solidFill>
                <a:srgbClr val="087A50"/>
              </a:solidFill>
            </c:spPr>
            <c:extLst>
              <c:ext xmlns:c16="http://schemas.microsoft.com/office/drawing/2014/chart" uri="{C3380CC4-5D6E-409C-BE32-E72D297353CC}">
                <c16:uniqueId val="{0000000D-17A7-4A15-9920-6B2EF4D0E65B}"/>
              </c:ext>
            </c:extLst>
          </c:dPt>
          <c:dLbls>
            <c:spPr>
              <a:noFill/>
              <a:ln>
                <a:noFill/>
              </a:ln>
            </c:spPr>
            <c:txPr>
              <a:bodyPr anchorCtr="1"/>
              <a:lstStyle/>
              <a:p>
                <a:pPr>
                  <a:defRPr sz="1050"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9"/>
              <c:pt idx="0">
                <c:v>EfficientNet-B0</c:v>
              </c:pt>
              <c:pt idx="1">
                <c:v>ResNet18</c:v>
              </c:pt>
              <c:pt idx="2">
                <c:v>CLIP proxy</c:v>
              </c:pt>
              <c:pt idx="3">
                <c:v>Magnet.AI</c:v>
              </c:pt>
              <c:pt idx="4">
                <c:v>Excire D20</c:v>
              </c:pt>
              <c:pt idx="5">
                <c:v>Excire D50</c:v>
              </c:pt>
              <c:pt idx="6">
                <c:v>Excire D80</c:v>
              </c:pt>
              <c:pt idx="7">
                <c:v>Cellebrite</c:v>
              </c:pt>
              <c:pt idx="8">
                <c:v>Griffeye / T3K</c:v>
              </c:pt>
            </c:strLit>
          </c:cat>
          <c:val>
            <c:numLit>
              <c:formatCode>0.0%</c:formatCode>
              <c:ptCount val="9"/>
              <c:pt idx="0">
                <c:v>0.36959999999999998</c:v>
              </c:pt>
              <c:pt idx="1">
                <c:v>0.43759999999999999</c:v>
              </c:pt>
              <c:pt idx="2">
                <c:v>0.83560000000000001</c:v>
              </c:pt>
              <c:pt idx="3">
                <c:v>0.36</c:v>
              </c:pt>
              <c:pt idx="4">
                <c:v>0.23799999999999999</c:v>
              </c:pt>
              <c:pt idx="5">
                <c:v>0.34</c:v>
              </c:pt>
              <c:pt idx="6">
                <c:v>0.52200000000000002</c:v>
              </c:pt>
              <c:pt idx="7">
                <c:v>0.29199999999999998</c:v>
              </c:pt>
              <c:pt idx="8">
                <c:v>0.26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E-17A7-4A15-9920-6B2EF4D0E65B}"/>
            </c:ext>
          </c:extLst>
        </c:ser>
        <c:dLbls>
          <c:dLblPos val="outEnd"/>
          <c:showLegendKey val="0"/>
          <c:showVal val="1"/>
          <c:showCatName val="0"/>
          <c:showSerName val="0"/>
          <c:showPercent val="0"/>
          <c:showBubbleSize val="0"/>
        </c:dLbls>
        <c:gapWidth val="38"/>
        <c:axId val="48650112"/>
        <c:axId val="48672768"/>
      </c:barChart>
      <c:catAx>
        <c:axId val="48650112"/>
        <c:scaling>
          <c:orientation val="minMax"/>
        </c:scaling>
        <c:delete val="0"/>
        <c:axPos val="l"/>
        <c:majorGridlines>
          <c:spPr>
            <a:ln w="9525">
              <a:solidFill>
                <a:srgbClr val="D9DEE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5B6577"/>
                </a:solidFill>
              </a:defRPr>
            </a:pPr>
            <a:endParaRPr lang="it-IT"/>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9DEE8"/>
            </a:solidFill>
            <a:prstDash val="solid"/>
          </a:ln>
        </c:spPr>
        <c:txPr>
          <a:bodyPr anchorCtr="1"/>
          <a:lstStyle/>
          <a:p>
            <a:pPr>
              <a:defRPr sz="1200">
                <a:solidFill>
                  <a:srgbClr val="172033"/>
                </a:solidFill>
              </a:defRPr>
            </a:pPr>
            <a:endParaRPr lang="it-IT"/>
          </a:p>
        </c:txPr>
        <c:crossAx val="48650112"/>
        <c:crosses val="autoZero"/>
        <c:crossBetween val="between"/>
      </c:valAx>
      <c:spPr>
        <a:solidFill>
          <a:srgbClr val="F7F8FA"/>
        </a:solidFill>
        <a:ln w="0">
          <a:noFill/>
          <a:prstDash val="solid"/>
        </a:ln>
      </c:spPr>
    </c:plotArea>
    <c:plotVisOnly val="1"/>
    <c:dispBlanksAs val="zero"/>
    <c:showDLblsOverMax val="1"/>
  </c:chart>
  <c:spPr>
    <a:solidFill>
      <a:srgbClr val="F7F8FA"/>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morning. My name is Lello Molinario. This thesis evaluates the robustness of AI-based forensic image-triage tools under adversarial, anti-forensic and out-of-distribution inputs. The goal is not to build a new firearm classifier. The goal is to understand when AI-assisted prioritization can fail, and how those failures can be measured in an auditable way.</a:t>
            </a:r>
            <a:endParaRPr lang="it-IT" dirty="0"/>
          </a:p>
          <a:p>
            <a:r>
              <a:rPr b="1" dirty="0"/>
              <a:t>Transition</a:t>
            </a:r>
            <a:r>
              <a:rPr dirty="0"/>
              <a:t>: I will start from the operational risk that motivates the work.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r>
              <a:rPr dirty="0"/>
              <a:t>Digital investigations may contain very large image collections, so AI can help decide what an analyst reviews first. The risk is asymmetric. A false positive creates extra work, but a false negative can quietly move relevant evidence out of the priority queue. My central question is therefore: how does forensic image triage behave under adversarial, anti-forensic and out-of-distribution inputs? The contribution is an auditable robustness assessment, not a new classifier.</a:t>
            </a:r>
          </a:p>
          <a:p>
            <a:r>
              <a:rPr b="1" dirty="0"/>
              <a:t>Transition</a:t>
            </a:r>
            <a:r>
              <a:rPr dirty="0"/>
              <a:t>: To answer this question, I designed the </a:t>
            </a:r>
            <a:r>
              <a:rPr dirty="0" err="1"/>
              <a:t>FAIRLab</a:t>
            </a:r>
            <a:r>
              <a:rPr dirty="0"/>
              <a:t> protocol.</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FAIRLab</a:t>
            </a:r>
            <a:r>
              <a:rPr dirty="0"/>
              <a:t> connects six stages. I start from a heterogeneous image pool, validate and deduplicate it, and freeze 1,500 source images. I generate controlled perturbations, evaluate three transparent proxies and six commercial configurations, normalize the observable outputs, and interpret the results in forensic terms. Traceability runs through the complete process with identifiers, manifests, checksums, frozen configurations and source-to-output links.</a:t>
            </a:r>
          </a:p>
          <a:p>
            <a:r>
              <a:rPr b="1" dirty="0"/>
              <a:t>Transition</a:t>
            </a:r>
            <a:r>
              <a:rPr dirty="0"/>
              <a:t>: This is the exact population behind every comparison.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T</a:t>
            </a:r>
            <a:r>
              <a:rPr dirty="0"/>
              <a:t>he frozen population contains 1,500 source images: 500 weapon, 500 non-weapon and 500 images in a separate OOD branch. The 1,000 binary images produce ten linked variants each, for 10,000 adversarial and anti-forensic files. Together with the clean sources, the tool-facing bundle contains 11,500 files. The variants remain linked to their sources; they are not 10,000 independent cases. OOD is evaluated separately, not as a third supervised class.</a:t>
            </a:r>
          </a:p>
          <a:p>
            <a:r>
              <a:rPr b="1" dirty="0"/>
              <a:t>Transition</a:t>
            </a:r>
            <a:r>
              <a:rPr dirty="0"/>
              <a:t>: I used this same frozen population at two evidence levels.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first evidence level uses transparent proxy models: EfficientNet-B0, ResNet18 and a CLIP-based proxy. Here I can inspect predictions, gradients and fold-aware checkpoints. The second level uses four commercial black-box systems in six configurations, where only analyst-visible outputs are available. The threat model is essential: model-dependent attacks are direct only on EfficientNet-B0. On every other system, the same files measure empirical transfer. Color Shift and the five anti-forensic transformations are model-agnostic conditions.</a:t>
            </a:r>
          </a:p>
          <a:p>
            <a:r>
              <a:rPr b="1" dirty="0"/>
              <a:t>Transition</a:t>
            </a:r>
            <a:r>
              <a:rPr dirty="0"/>
              <a:t>: Different outputs can be compared only after an explicit normalization step.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Commercial tools expose tags, bookmarks, labels or retrieval results rather than one common prediction interface. I therefore freeze a mapping for every tool version and configuration and normalize each output into weapon, non-weapon or unknown. This makes directional errors comparable. The false-negative rate represents missed-target risk; the false-positive rate represents review workload. OOD weapon assignment is reported separately. No unknown state occurred in the 69,000 normalized commercial decisions, but the protocol keeps that state explicit.</a:t>
            </a:r>
          </a:p>
          <a:p>
            <a:r>
              <a:rPr b="1" dirty="0"/>
              <a:t>Transition</a:t>
            </a:r>
            <a:r>
              <a:rPr dirty="0"/>
              <a:t>: With the comparison rules fixed, we can now examine the main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EfficientNet-B0 reaches 97.8 percent clean accuracy. Under the strongest direct Sigma Zero condition, it falls to 1.5 percent: a drop of 96.3 percentage points. The same generated artifacts do not transfer uniformly. The worst transferred accuracies are 91.8 percent for ResNet18 and 91.4 percent for CLIP. These are different claims: the first is direct-target vulnerability; the others are empirical transfer. Aggregate anti-forensic effects are smaller, with a largest proxy drop of 3.0 points, but directional errors still matter.</a:t>
            </a:r>
          </a:p>
          <a:p>
            <a:r>
              <a:rPr b="1" dirty="0"/>
              <a:t>Transition</a:t>
            </a:r>
            <a:r>
              <a:rPr dirty="0"/>
              <a:t>: The commercial-tool heatmap shows that transfer is also configuration-dependent.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heatmap is the clearest publication visual for black-box transfer. I would not read every cell. The message is heterogeneity: the same </a:t>
            </a:r>
            <a:r>
              <a:rPr dirty="0" err="1"/>
              <a:t>EfficientNet</a:t>
            </a:r>
            <a:r>
              <a:rPr dirty="0"/>
              <a:t>-generated artifacts have different effects across tools and across settings of the same tool. The largest observed effects are Sigma Zero transfers on </a:t>
            </a:r>
            <a:r>
              <a:rPr dirty="0" err="1"/>
              <a:t>Excire</a:t>
            </a:r>
            <a:r>
              <a:rPr dirty="0"/>
              <a:t> D50 and D80, with drops of 20.2 and 25.8 percentage points. These are transfer results, not direct attacks on proprietary models, and they do not create a product ranking.</a:t>
            </a:r>
          </a:p>
          <a:p>
            <a:r>
              <a:rPr b="1" dirty="0"/>
              <a:t>Transition</a:t>
            </a:r>
            <a:r>
              <a:rPr dirty="0"/>
              <a:t>: Configuration also changes the ordinary clean-condition error trade-off.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One accuracy value is not enough. For </a:t>
            </a:r>
            <a:r>
              <a:rPr dirty="0" err="1"/>
              <a:t>Excire</a:t>
            </a:r>
            <a:r>
              <a:rPr dirty="0"/>
              <a:t>, moving from distance 20 to distance 80 reduces the missed-target rate from 12.0 to 1.4 percent. However, the false-positive rate rises from 2.6 to 15.6 percent, and OOD weapon assignment rises from 23.8 to 52.2 percent. A setting can therefore reduce silent misses while creating much more review work and more OOD routing. These rows are frozen operating profiles, not a universal ranking of products.</a:t>
            </a:r>
          </a:p>
          <a:p>
            <a:r>
              <a:rPr b="1" dirty="0"/>
              <a:t>Transition</a:t>
            </a:r>
            <a:r>
              <a:rPr dirty="0"/>
              <a:t>: The separate OOD branch makes that third behavior visible.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Every evaluated system assigns at least some OOD images to the weapon-oriented state. The CLIP proxy reaches 83.6 percent, while the commercial configurations range from 23.8 to 52.2 percent. For CLIP, 500 OOD images are evaluated by five fold-specific checkpoints, so 83.6 percent refers to 2,500 responses. Each commercial rate uses one normalized decision per image. These values are not supervised false-positive rates; they describe closed-set operating behavior.</a:t>
            </a:r>
          </a:p>
          <a:p>
            <a:r>
              <a:rPr b="1" dirty="0"/>
              <a:t>Transition</a:t>
            </a:r>
            <a:r>
              <a:rPr dirty="0"/>
              <a:t>: One explainability case shows why even a very concentrated output is not a guarantee.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 case 0015, the reference class is non-weapon. After Sigma Zero, the proxy predicts weapon with a maximum predicted-class probability of 1.000. Integrated Gradients helps inspect where this selected proxy response is concentrated, but the claim is deliberately limited. The attribution is a qualitative diagnostic. It does not certify correctness, calibrate confidence or explain the internal behavior of a proprietary tool.</a:t>
            </a:r>
          </a:p>
          <a:p>
            <a:r>
              <a:rPr b="1" dirty="0"/>
              <a:t>Transition</a:t>
            </a:r>
            <a:r>
              <a:rPr dirty="0"/>
              <a:t>: These findings lead to a clear operational rule.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still be useful, but it should create a prioritized queue rather than an irreversible exclusion. The analyst reviews the context and makes the final decision. Every action should preserve the tool version, configuration, output mapping and validation context. This keeps the efficiency benefit while making the process reviewable and defensible. The practical rule is simple: use AI to prioritize evidence review, never to silently exclude evidence.</a:t>
            </a:r>
          </a:p>
          <a:p>
            <a:r>
              <a:rPr b="1" dirty="0"/>
              <a:t>Transition</a:t>
            </a:r>
            <a:r>
              <a:rPr dirty="0"/>
              <a:t>: Before I close, I will state the boundaries that keep this result defensible.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strongest limitations are the 1,500-image single-reviewer corpus, one frozen parameter setting per perturbation, direct attacks only on EfficientNet-B0, and version-dependent black-box outputs. Fifteen of 11,500 files matched a predefined sensitive metadata term. Leave-out differences were small, but this does not prove causal irrelevance for every decision. The work makes no legal-admissibility, certification or universal-ranking claim.</a:t>
            </a:r>
          </a:p>
          <a:p>
            <a:r>
              <a:rPr b="1" dirty="0"/>
              <a:t>Transition</a:t>
            </a:r>
            <a:r>
              <a:rPr dirty="0"/>
              <a:t>: I will finish with three points to remember.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First, clean performance is only a baseline; robustness depends on the condition. Second, direct attacks, empirical transfer, OOD behavior and configuration trade-offs are distinct dimensions and must not be mixed. Third, </a:t>
            </a:r>
            <a:r>
              <a:rPr dirty="0" err="1"/>
              <a:t>FAIRLab</a:t>
            </a:r>
            <a:r>
              <a:rPr dirty="0"/>
              <a:t> makes those dimensions traceable, auditable and reviewable by a forensic expert. The final message is: AI can prioritize evidence, but it must not silently exclude it. Thank you. I am happy to take your questions.</a:t>
            </a:r>
          </a:p>
          <a:p>
            <a:endParaRPr dirty="0"/>
          </a:p>
          <a:p>
            <a:r>
              <a:rPr dirty="0"/>
              <a:t>Backup map for Presenter View:</a:t>
            </a:r>
          </a:p>
          <a:p>
            <a:r>
              <a:rPr dirty="0"/>
              <a:t>B1 formal research questions · B2 perturbation overview · B3 traceability · B4 exact commercial metrics · B5 adversarial parameters · B6 anti-forensic parameters · B7 output normalization · B8 formulas and denominators · B9 limitations and future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Backup B1 · Research questions</a:t>
            </a:r>
          </a:p>
          <a:p>
            <a:r>
              <a:rPr lang="en-US" dirty="0"/>
              <a:t>if the commission asks how the thesis claims map to the formal research questions</a:t>
            </a:r>
            <a:r>
              <a:rPr lang="it-IT" dirty="0"/>
              <a:t>. </a:t>
            </a:r>
            <a:r>
              <a:rPr dirty="0"/>
              <a:t>Answer briefly:</a:t>
            </a:r>
            <a:r>
              <a:rPr lang="it-IT" dirty="0"/>
              <a:t> </a:t>
            </a:r>
            <a:r>
              <a:rPr dirty="0"/>
              <a:t>RQ1 covers clean, OOD, adversarial and anti-forensic behavior of the proxies; RQ2 separates direct attack, transfer and model-agnostic conditions; RQ3 concerns black-box outputs and configuration profiles; RQ4 connects directional errors and OOD routing to continued human review. Repeat that the assessment is protocol-specific, not certification or legal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Backup B2 · Perturbation suite</a:t>
            </a:r>
          </a:p>
          <a:p>
            <a:r>
              <a:rPr lang="it-IT"/>
              <a:t>Use this slide </a:t>
            </a:r>
            <a:r>
              <a:t>if </a:t>
            </a:r>
            <a:r>
              <a:rPr dirty="0"/>
              <a:t>the commission asks which conditions were evaluated. The adversarial or adversarial-style group includes FGSM, One Pixel, Sigma Zero, </a:t>
            </a:r>
            <a:r>
              <a:rPr dirty="0" err="1"/>
              <a:t>SuperDeepFool</a:t>
            </a:r>
            <a:r>
              <a:rPr dirty="0"/>
              <a:t> and deterministic model-agnostic Color Shift. The anti-forensic group includes JPEG recompression, resampling, Gaussian blur, histogram modification and contrast stretching. Stress again that model-dependent attacks are direct only on EfficientNet-B0 and are transfer tests elsewhere.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Backup B3 · Traceability and reproducibility</a:t>
            </a:r>
          </a:p>
          <a:p>
            <a:r>
              <a:rPr dirty="0"/>
              <a:t>if the commission asks how a reported number can be audited. Start from the source manifest, follow the source-condition identifier to the derived file, then to the proxy or tool output, the normalized operational state, the metric table and the final figure. SHA-256 digests, frozen registries and explicit mapping rules protect this chain.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Backup B4 · Exact commercial metrics</a:t>
            </a:r>
          </a:p>
          <a:p>
            <a:r>
              <a:rPr dirty="0"/>
              <a:t>Use this table only for a numerical question about one commercial configuration. Keep clean binary metrics and OOD routing separate. The strongest clean accuracy in this frozen comparison is 97.8 percent for </a:t>
            </a:r>
            <a:r>
              <a:rPr dirty="0" err="1"/>
              <a:t>Griffeye</a:t>
            </a:r>
            <a:r>
              <a:rPr dirty="0"/>
              <a:t>/T3K, but the rows are operating profiles under specific versions and settings; they do not establish a general product ranking.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Backup B5 · Frozen adversarial settings</a:t>
            </a:r>
          </a:p>
          <a:p>
            <a:r>
              <a:rPr dirty="0"/>
              <a:t>if the commission asks whether the attacks were reproducible or which parameters were fixed. FGSM is untargeted with ε = 8/255 in pixel space. One Pixel uses Differential Evolution over x, y, R, G and B, with 50 iterations, an effective population of approximately 100, seed 42 and early stopping after misclassification. Sigma Zero uses 1,000 steps, η₀ = 1.0, σ = 0.001 and τ₀ = 0.3. </a:t>
            </a:r>
            <a:r>
              <a:rPr dirty="0" err="1"/>
              <a:t>SuperDeepFool</a:t>
            </a:r>
            <a:r>
              <a:rPr dirty="0"/>
              <a:t> uses SDF(∞,1), 20 outer iterations, 50 </a:t>
            </a:r>
            <a:r>
              <a:rPr dirty="0" err="1"/>
              <a:t>DeepFool</a:t>
            </a:r>
            <a:r>
              <a:rPr dirty="0"/>
              <a:t> iterations and one projection step. All model-dependent conditions target the fold-aware EfficientNet-B0 checkpoint. Color Shift is model-agnostic.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Backup B6 · Frozen anti-forensic settings</a:t>
            </a:r>
          </a:p>
          <a:p>
            <a:r>
              <a:rPr dirty="0"/>
              <a:t>if the commission asks how the anti-forensic transformations were controlled. JPEG recompression uses quality 70 without changing dimensions. Resize </a:t>
            </a:r>
            <a:r>
              <a:rPr dirty="0" err="1"/>
              <a:t>downsamples</a:t>
            </a:r>
            <a:r>
              <a:rPr dirty="0"/>
              <a:t> to 50 percent and restores the original dimensions with bicubic interpolation. Gaussian blur uses radius 1.5. Histogram modification applies per-channel equalization, while contrast stretching uses </a:t>
            </a:r>
            <a:r>
              <a:rPr dirty="0" err="1"/>
              <a:t>autocontrast</a:t>
            </a:r>
            <a:r>
              <a:rPr dirty="0"/>
              <a:t> with a 1 percent cutoff. The four transformations other than the dedicated recompression condition are serialized at JPEG quality 95. Each condition is model-agnostic and uses one frozen setting.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Backup B7 · Black-box output normalization</a:t>
            </a:r>
          </a:p>
          <a:p>
            <a:r>
              <a:rPr dirty="0"/>
              <a:t>if the commission asks how unlike commercial outputs were made comparable. Magnet uses its Possible weapons tag; </a:t>
            </a:r>
            <a:r>
              <a:rPr dirty="0" err="1"/>
              <a:t>Griffeye</a:t>
            </a:r>
            <a:r>
              <a:rPr dirty="0"/>
              <a:t>/T3K uses the CORE/Violence/Firearm bookmark; </a:t>
            </a:r>
            <a:r>
              <a:rPr dirty="0" err="1"/>
              <a:t>Excire</a:t>
            </a:r>
            <a:r>
              <a:rPr dirty="0"/>
              <a:t> uses membership in at least one of eight frozen firearm-oriented prompt hit lists, keeping D20, D50 and D80 separate; Cellebrite uses the Armi, Pistola or Fucile classifications. The frozen rules convert observable states to true, false or unsupported, and then to weapon, </a:t>
            </a:r>
            <a:r>
              <a:rPr dirty="0" err="1"/>
              <a:t>non_weapon</a:t>
            </a:r>
            <a:r>
              <a:rPr dirty="0"/>
              <a:t> or unknown. Unsupported values are never silently treated as negative. No unknown decision occurred in the final 69,000-row population.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Backup B8 · Metric formulas and denominators</a:t>
            </a:r>
          </a:p>
          <a:p>
            <a:r>
              <a:rPr lang="it-IT" dirty="0" err="1"/>
              <a:t>If</a:t>
            </a:r>
            <a:r>
              <a:rPr lang="it-IT" dirty="0"/>
              <a:t> the commissione </a:t>
            </a:r>
            <a:r>
              <a:rPr lang="it-IT" dirty="0" err="1"/>
              <a:t>asks</a:t>
            </a:r>
            <a:r>
              <a:rPr lang="it-IT" dirty="0"/>
              <a:t> </a:t>
            </a:r>
            <a:r>
              <a:rPr dirty="0"/>
              <a:t>for a question about metric interpretation. Accuracy summarizes correct binary decisions. FNR is FN divided by TP plus FN and corresponds to missed-target risk. FPR is FP divided by FP plus TN and corresponds to additional review workload. OOD weapon assignment is reported separately because OOD images do not belong to the supervised weapon/non-weapon task. Proxy OOD values aggregate five fold-specific responses for each of 500 images, so the denominator is 2,500. Each commercial configuration produces one decision per OOD image, so its denominator is 500. Unknown outputs are excluded from binary denominators and reported separately.</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Backup B9 · Limitations and future validation</a:t>
            </a:r>
          </a:p>
          <a:p>
            <a:r>
              <a:rPr dirty="0"/>
              <a:t>if the commission asks how the work should be extended. The next step is not merely to seek higher accuracy. It is to test whether the observed operating profiles remain stable across larger and more heterogeneous multi-reviewer datasets, parameter sweeps and adaptive attacks, repeated commercial-tool versions, additional media modalities and stronger audit controls. These directions address the current boundaries without changing the central requirement: every extension must remain traceable and reviewable by a forensic expert.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DB6DC-E063-4C95-B7B6-18A89B193093}"/>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0B6458F3-DEF4-4E74-90D7-A6CFC6E9EEC7}"/>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668E6159-AEF2-436B-AD0D-300A104E7B1B}"/>
              </a:ext>
            </a:extLst>
          </p:cNvPr>
          <p:cNvSpPr>
            <a:spLocks noGrp="1"/>
          </p:cNvSpPr>
          <p:nvPr>
            <p:ph type="dt" idx="10"/>
          </p:nvPr>
        </p:nvSpPr>
        <p:spPr/>
        <p:txBody>
          <a:bodyPr/>
          <a:lstStyle/>
          <a:p>
            <a:fld id="{5BCAD085-E8A6-8845-BD4E-CB4CCA059FC4}" type="datetimeFigureOut">
              <a:t>09/09/2026</a:t>
            </a:fld>
            <a:endParaRPr/>
          </a:p>
        </p:txBody>
      </p:sp>
      <p:sp>
        <p:nvSpPr>
          <p:cNvPr id="5" name="Footer Placeholder 4">
            <a:extLst>
              <a:ext uri="{FF2B5EF4-FFF2-40B4-BE49-F238E27FC236}">
                <a16:creationId xmlns:a16="http://schemas.microsoft.com/office/drawing/2014/main" id="{8D0553C7-FFA7-49E1-A235-16CA36E4E67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C081E00-2BEC-4075-90C4-CFC44EDE307E}"/>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DCDE2-EC61-4F5B-880C-33A7790A7C4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79B4628-C1DE-40AC-BDA3-B903DF2A3846}"/>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AFDE277-33BE-4446-97AE-44467DBA3D58}"/>
              </a:ext>
            </a:extLst>
          </p:cNvPr>
          <p:cNvSpPr>
            <a:spLocks noGrp="1"/>
          </p:cNvSpPr>
          <p:nvPr>
            <p:ph type="dt" idx="10"/>
          </p:nvPr>
        </p:nvSpPr>
        <p:spPr/>
        <p:txBody>
          <a:bodyPr/>
          <a:lstStyle/>
          <a:p>
            <a:fld id="{5BCAD085-E8A6-8845-BD4E-CB4CCA059FC4}" type="datetimeFigureOut">
              <a:t>09/09/2026</a:t>
            </a:fld>
            <a:endParaRPr/>
          </a:p>
        </p:txBody>
      </p:sp>
      <p:sp>
        <p:nvSpPr>
          <p:cNvPr id="5" name="Footer Placeholder 4">
            <a:extLst>
              <a:ext uri="{FF2B5EF4-FFF2-40B4-BE49-F238E27FC236}">
                <a16:creationId xmlns:a16="http://schemas.microsoft.com/office/drawing/2014/main" id="{3B517663-0F9B-47BC-BDE8-9142A67B5EE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B0C35A8-30BB-466D-92CB-18D515428729}"/>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18B1F-DD36-4780-BFC5-310492F5FE4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B860CB1-3D2D-4251-9A8A-4FF50D93991F}"/>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E75557EC-AFCA-4E22-9F26-0FB019F0BA9B}"/>
              </a:ext>
            </a:extLst>
          </p:cNvPr>
          <p:cNvSpPr>
            <a:spLocks noGrp="1"/>
          </p:cNvSpPr>
          <p:nvPr>
            <p:ph type="dt" idx="10"/>
          </p:nvPr>
        </p:nvSpPr>
        <p:spPr/>
        <p:txBody>
          <a:bodyPr/>
          <a:lstStyle/>
          <a:p>
            <a:fld id="{5BCAD085-E8A6-8845-BD4E-CB4CCA059FC4}" type="datetimeFigureOut">
              <a:t>09/09/2026</a:t>
            </a:fld>
            <a:endParaRPr/>
          </a:p>
        </p:txBody>
      </p:sp>
      <p:sp>
        <p:nvSpPr>
          <p:cNvPr id="5" name="Footer Placeholder 4">
            <a:extLst>
              <a:ext uri="{FF2B5EF4-FFF2-40B4-BE49-F238E27FC236}">
                <a16:creationId xmlns:a16="http://schemas.microsoft.com/office/drawing/2014/main" id="{175A50AD-4A24-409F-A142-AE6C1EE1ACE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B1A7DB3-0CCE-4B73-823D-F04AC0D1EB49}"/>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CD41A-3909-47A2-95D9-38FEE703760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B5B6AAF-BEEA-4CEA-A916-D654B1375A59}"/>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C389DD6A-2D90-4166-A9EE-903D16CAA7BF}"/>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780A4F4A-B7E3-4623-9AEA-A4CD8EAECF46}"/>
              </a:ext>
            </a:extLst>
          </p:cNvPr>
          <p:cNvSpPr>
            <a:spLocks noGrp="1"/>
          </p:cNvSpPr>
          <p:nvPr>
            <p:ph type="dt" idx="10"/>
          </p:nvPr>
        </p:nvSpPr>
        <p:spPr/>
        <p:txBody>
          <a:bodyPr/>
          <a:lstStyle/>
          <a:p>
            <a:fld id="{5BCAD085-E8A6-8845-BD4E-CB4CCA059FC4}" type="datetimeFigureOut">
              <a:t>09/09/2026</a:t>
            </a:fld>
            <a:endParaRPr/>
          </a:p>
        </p:txBody>
      </p:sp>
      <p:sp>
        <p:nvSpPr>
          <p:cNvPr id="6" name="Footer Placeholder 5">
            <a:extLst>
              <a:ext uri="{FF2B5EF4-FFF2-40B4-BE49-F238E27FC236}">
                <a16:creationId xmlns:a16="http://schemas.microsoft.com/office/drawing/2014/main" id="{C2CC5959-F783-4E91-B12E-EDAD95F1084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91C8CAC-6FA5-4F6C-A71A-27061AB321DD}"/>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E595-36FE-428E-BE96-BD221BACB6CB}"/>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73819F1B-B435-4117-AA3D-8C0CAF9C30BC}"/>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CE6DA375-0CC3-4E73-9EB5-CCB3FD21EF5B}"/>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2F7DD439-42EA-45E1-BDE6-318C9D104E42}"/>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746805BB-EB86-4603-A671-DC22CC8DF44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2A69D72F-70A5-4C5C-AD07-00B42AB26818}"/>
              </a:ext>
            </a:extLst>
          </p:cNvPr>
          <p:cNvSpPr>
            <a:spLocks noGrp="1"/>
          </p:cNvSpPr>
          <p:nvPr>
            <p:ph type="dt" idx="10"/>
          </p:nvPr>
        </p:nvSpPr>
        <p:spPr/>
        <p:txBody>
          <a:bodyPr/>
          <a:lstStyle/>
          <a:p>
            <a:fld id="{5BCAD085-E8A6-8845-BD4E-CB4CCA059FC4}" type="datetimeFigureOut">
              <a:t>09/09/2026</a:t>
            </a:fld>
            <a:endParaRPr/>
          </a:p>
        </p:txBody>
      </p:sp>
      <p:sp>
        <p:nvSpPr>
          <p:cNvPr id="8" name="Footer Placeholder 7">
            <a:extLst>
              <a:ext uri="{FF2B5EF4-FFF2-40B4-BE49-F238E27FC236}">
                <a16:creationId xmlns:a16="http://schemas.microsoft.com/office/drawing/2014/main" id="{099064B0-BBC0-4762-A0C7-CFB35B3E0F4E}"/>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6215CA60-B417-4C38-9CEF-45D71C32AA11}"/>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578BC-66CB-4605-8371-D7CE3C096885}"/>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FA87690-DE1A-4C8D-BDDE-AD99E99A5CE1}"/>
              </a:ext>
            </a:extLst>
          </p:cNvPr>
          <p:cNvSpPr>
            <a:spLocks noGrp="1"/>
          </p:cNvSpPr>
          <p:nvPr>
            <p:ph type="dt" idx="10"/>
          </p:nvPr>
        </p:nvSpPr>
        <p:spPr/>
        <p:txBody>
          <a:bodyPr/>
          <a:lstStyle/>
          <a:p>
            <a:fld id="{5BCAD085-E8A6-8845-BD4E-CB4CCA059FC4}" type="datetimeFigureOut">
              <a:t>09/09/2026</a:t>
            </a:fld>
            <a:endParaRPr/>
          </a:p>
        </p:txBody>
      </p:sp>
      <p:sp>
        <p:nvSpPr>
          <p:cNvPr id="4" name="Footer Placeholder 3">
            <a:extLst>
              <a:ext uri="{FF2B5EF4-FFF2-40B4-BE49-F238E27FC236}">
                <a16:creationId xmlns:a16="http://schemas.microsoft.com/office/drawing/2014/main" id="{3F680584-8E32-4755-A818-91F7B782EE2E}"/>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779BFB0-617E-429E-B7B9-7C6BB54E173D}"/>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E7E42A-7458-42ED-A3B7-AD723AA2CC4A}"/>
              </a:ext>
            </a:extLst>
          </p:cNvPr>
          <p:cNvSpPr>
            <a:spLocks noGrp="1"/>
          </p:cNvSpPr>
          <p:nvPr>
            <p:ph type="dt" idx="10"/>
          </p:nvPr>
        </p:nvSpPr>
        <p:spPr/>
        <p:txBody>
          <a:bodyPr/>
          <a:lstStyle/>
          <a:p>
            <a:fld id="{5BCAD085-E8A6-8845-BD4E-CB4CCA059FC4}" type="datetimeFigureOut">
              <a:t>09/09/2026</a:t>
            </a:fld>
            <a:endParaRPr/>
          </a:p>
        </p:txBody>
      </p:sp>
      <p:sp>
        <p:nvSpPr>
          <p:cNvPr id="3" name="Footer Placeholder 2">
            <a:extLst>
              <a:ext uri="{FF2B5EF4-FFF2-40B4-BE49-F238E27FC236}">
                <a16:creationId xmlns:a16="http://schemas.microsoft.com/office/drawing/2014/main" id="{8761F3E5-4678-4403-B401-D64A135C4E70}"/>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AC9EF1D2-B6B8-45DA-B76E-8FA56FDEE907}"/>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A6176-68E0-4FA0-9BDC-287A293ED3D1}"/>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FF26C89E-D46D-4222-8E58-66D988513029}"/>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9541E7EA-2690-4907-A27C-945DDB4C41DA}"/>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BB577236-C748-4945-88C1-A0D7A3F00BBD}"/>
              </a:ext>
            </a:extLst>
          </p:cNvPr>
          <p:cNvSpPr>
            <a:spLocks noGrp="1"/>
          </p:cNvSpPr>
          <p:nvPr>
            <p:ph type="dt" idx="10"/>
          </p:nvPr>
        </p:nvSpPr>
        <p:spPr/>
        <p:txBody>
          <a:bodyPr/>
          <a:lstStyle/>
          <a:p>
            <a:fld id="{5BCAD085-E8A6-8845-BD4E-CB4CCA059FC4}" type="datetimeFigureOut">
              <a:t>09/09/2026</a:t>
            </a:fld>
            <a:endParaRPr/>
          </a:p>
        </p:txBody>
      </p:sp>
      <p:sp>
        <p:nvSpPr>
          <p:cNvPr id="6" name="Footer Placeholder 5">
            <a:extLst>
              <a:ext uri="{FF2B5EF4-FFF2-40B4-BE49-F238E27FC236}">
                <a16:creationId xmlns:a16="http://schemas.microsoft.com/office/drawing/2014/main" id="{C6010D2C-380A-4777-B04C-010EC9C3366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FEF9276-37EF-4AB6-9801-C549160E029C}"/>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FC540-6228-445D-86C0-D79BF7AA0DC2}"/>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2312FC71-A96C-44BB-A277-8A81822FE9A2}"/>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340EBC7F-89EB-4D1A-965E-6EB9F82A4926}"/>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77EF697E-1F7D-42F8-9E1A-0EC7F1A3B3FC}"/>
              </a:ext>
            </a:extLst>
          </p:cNvPr>
          <p:cNvSpPr>
            <a:spLocks noGrp="1"/>
          </p:cNvSpPr>
          <p:nvPr>
            <p:ph type="dt" idx="10"/>
          </p:nvPr>
        </p:nvSpPr>
        <p:spPr/>
        <p:txBody>
          <a:bodyPr/>
          <a:lstStyle/>
          <a:p>
            <a:fld id="{5BCAD085-E8A6-8845-BD4E-CB4CCA059FC4}" type="datetimeFigureOut">
              <a:t>09/09/2026</a:t>
            </a:fld>
            <a:endParaRPr/>
          </a:p>
        </p:txBody>
      </p:sp>
      <p:sp>
        <p:nvSpPr>
          <p:cNvPr id="6" name="Footer Placeholder 5">
            <a:extLst>
              <a:ext uri="{FF2B5EF4-FFF2-40B4-BE49-F238E27FC236}">
                <a16:creationId xmlns:a16="http://schemas.microsoft.com/office/drawing/2014/main" id="{FF0F8D75-D6BB-4D73-9D65-D17EA5BB52A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B7FB32C-3732-44E4-9220-E015D01AB6A0}"/>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C8B4B-CC31-495B-A04F-A6C392A2380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A7DADADB-A65B-4E39-8B9D-8CAE0D78A24F}"/>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DE9904A-A67A-4F38-BF91-4D30D967DCF4}"/>
              </a:ext>
            </a:extLst>
          </p:cNvPr>
          <p:cNvSpPr>
            <a:spLocks noGrp="1"/>
          </p:cNvSpPr>
          <p:nvPr>
            <p:ph type="dt" idx="10"/>
          </p:nvPr>
        </p:nvSpPr>
        <p:spPr/>
        <p:txBody>
          <a:bodyPr/>
          <a:lstStyle/>
          <a:p>
            <a:fld id="{5BCAD085-E8A6-8845-BD4E-CB4CCA059FC4}" type="datetimeFigureOut">
              <a:t>09/09/2026</a:t>
            </a:fld>
            <a:endParaRPr/>
          </a:p>
        </p:txBody>
      </p:sp>
      <p:sp>
        <p:nvSpPr>
          <p:cNvPr id="5" name="Footer Placeholder 4">
            <a:extLst>
              <a:ext uri="{FF2B5EF4-FFF2-40B4-BE49-F238E27FC236}">
                <a16:creationId xmlns:a16="http://schemas.microsoft.com/office/drawing/2014/main" id="{FB20E72A-1994-4537-86B6-465DABE14D5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34082B7-07AA-4036-9DDD-DC724348399C}"/>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0B8711-C9F4-413D-8B29-0029BDA2BE21}"/>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950DE2CF-B073-4D05-9BF4-0AFDD831769B}"/>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FA55F7D-C61A-43EC-BDE6-728D1D648991}"/>
              </a:ext>
            </a:extLst>
          </p:cNvPr>
          <p:cNvSpPr>
            <a:spLocks noGrp="1"/>
          </p:cNvSpPr>
          <p:nvPr>
            <p:ph type="dt" idx="10"/>
          </p:nvPr>
        </p:nvSpPr>
        <p:spPr/>
        <p:txBody>
          <a:bodyPr/>
          <a:lstStyle/>
          <a:p>
            <a:fld id="{5BCAD085-E8A6-8845-BD4E-CB4CCA059FC4}" type="datetimeFigureOut">
              <a:t>09/09/2026</a:t>
            </a:fld>
            <a:endParaRPr/>
          </a:p>
        </p:txBody>
      </p:sp>
      <p:sp>
        <p:nvSpPr>
          <p:cNvPr id="5" name="Footer Placeholder 4">
            <a:extLst>
              <a:ext uri="{FF2B5EF4-FFF2-40B4-BE49-F238E27FC236}">
                <a16:creationId xmlns:a16="http://schemas.microsoft.com/office/drawing/2014/main" id="{B307FD32-5EAC-4BCB-9FF0-E6F3F490218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31DE324-D168-4B61-BF7A-4C9215F4B2B5}"/>
              </a:ext>
            </a:extLst>
          </p:cNvPr>
          <p:cNvSpPr>
            <a:spLocks noGrp="1"/>
          </p:cNvSpPr>
          <p:nvPr>
            <p:ph type="sldNum" idx="12"/>
          </p:nvPr>
        </p:nvSpPr>
        <p:spPr/>
        <p:txBody>
          <a:bodyPr/>
          <a:lstStyle/>
          <a:p>
            <a:fld id="{C1FF6DA9-008F-8B48-92A6-B652298478BF}"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A03E93-00E9-4A6B-A0E2-6EFE99D38EDE}"/>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B55EB488-BBB0-4243-BBDE-AA2306824745}"/>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A46BD0A-CC69-499C-8F43-F4C52E467D27}"/>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09/09/2026</a:t>
            </a:fld>
            <a:endParaRPr/>
          </a:p>
        </p:txBody>
      </p:sp>
      <p:sp>
        <p:nvSpPr>
          <p:cNvPr id="5" name="Footer Placeholder 4">
            <a:extLst>
              <a:ext uri="{FF2B5EF4-FFF2-40B4-BE49-F238E27FC236}">
                <a16:creationId xmlns:a16="http://schemas.microsoft.com/office/drawing/2014/main" id="{50272A18-0833-4409-B631-EFC143341D19}"/>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7B78FB27-D5F1-4963-AD32-CC01B1D84F5D}"/>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AD3ADBD0-72C3-4D60-A6FB-9276160845E1}"/>
              </a:ext>
            </a:extLst>
          </p:cNvPr>
          <p:cNvSpPr>
            <a:spLocks noGrp="1"/>
          </p:cNvSpPr>
          <p:nvPr/>
        </p:nvSpPr>
        <p:spPr>
          <a:xfrm>
            <a:off x="6830569" y="0"/>
            <a:ext cx="5361431" cy="6858000"/>
          </a:xfrm>
          <a:custGeom>
            <a:avLst/>
            <a:gdLst/>
            <a:ahLst/>
            <a:cxnLst/>
            <a:rect l="l" t="t" r="r" b="b"/>
            <a:pathLst>
              <a:path w="5361431" h="6858000">
                <a:moveTo>
                  <a:pt x="2496312" y="0"/>
                </a:moveTo>
                <a:lnTo>
                  <a:pt x="5361431" y="0"/>
                </a:lnTo>
                <a:lnTo>
                  <a:pt x="5361431" y="6858000"/>
                </a:lnTo>
                <a:lnTo>
                  <a:pt x="0" y="6858000"/>
                </a:lnTo>
                <a:close/>
              </a:path>
            </a:pathLst>
          </a:cu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9" name="Picture 2"/>
          <p:cNvPicPr>
            <a:picLocks noChangeAspect="1"/>
          </p:cNvPicPr>
          <p:nvPr/>
        </p:nvPicPr>
        <p:blipFill>
          <a:blip r:embed="rId3"/>
          <a:stretch>
            <a:fillRect/>
          </a:stretch>
        </p:blipFill>
        <p:spPr>
          <a:xfrm>
            <a:off x="7787251" y="4572000"/>
            <a:ext cx="4370832" cy="1170432"/>
          </a:xfrm>
          <a:prstGeom prst="rect">
            <a:avLst/>
          </a:prstGeom>
        </p:spPr>
      </p:pic>
      <p:sp>
        <p:nvSpPr>
          <p:cNvPr id="4" name="TextBox 3">
            <a:extLst>
              <a:ext uri="{FF2B5EF4-FFF2-40B4-BE49-F238E27FC236}">
                <a16:creationId xmlns:a16="http://schemas.microsoft.com/office/drawing/2014/main" id="{5F6D6B5F-566D-4D15-A4E4-289A74BD800B}"/>
              </a:ext>
            </a:extLst>
          </p:cNvPr>
          <p:cNvSpPr>
            <a:spLocks noGrp="1"/>
          </p:cNvSpPr>
          <p:nvPr/>
        </p:nvSpPr>
        <p:spPr>
          <a:xfrm>
            <a:off x="1245455" y="1092127"/>
            <a:ext cx="6234784" cy="559192"/>
          </a:xfrm>
          <a:prstGeom prst="rect">
            <a:avLst/>
          </a:prstGeom>
          <a:noFill/>
        </p:spPr>
        <p:txBody>
          <a:bodyPr wrap="none" lIns="0" tIns="0" rIns="0" bIns="0" anchor="t">
            <a:noAutofit/>
          </a:bodyPr>
          <a:lstStyle/>
          <a:p>
            <a:pPr algn="l">
              <a:lnSpc>
                <a:spcPct val="100000"/>
              </a:lnSpc>
              <a:spcBef>
                <a:spcPts val="0"/>
              </a:spcBef>
              <a:spcAft>
                <a:spcPts val="0"/>
              </a:spcAft>
              <a:buNone/>
            </a:pPr>
            <a:r>
              <a:rPr sz="3036" b="1" i="0">
                <a:solidFill>
                  <a:srgbClr val="233A70"/>
                </a:solidFill>
                <a:latin typeface="Carlito"/>
                <a:ea typeface="Carlito"/>
                <a:cs typeface="Carlito"/>
              </a:rPr>
              <a:t>Evaluating the Robustness of AI-Based</a:t>
            </a:r>
          </a:p>
        </p:txBody>
      </p:sp>
      <p:sp>
        <p:nvSpPr>
          <p:cNvPr id="5" name="TextBox 4">
            <a:extLst>
              <a:ext uri="{FF2B5EF4-FFF2-40B4-BE49-F238E27FC236}">
                <a16:creationId xmlns:a16="http://schemas.microsoft.com/office/drawing/2014/main" id="{4C68C7AD-E9E1-4269-A322-11CC58D220E5}"/>
              </a:ext>
            </a:extLst>
          </p:cNvPr>
          <p:cNvSpPr>
            <a:spLocks noGrp="1"/>
          </p:cNvSpPr>
          <p:nvPr/>
        </p:nvSpPr>
        <p:spPr>
          <a:xfrm>
            <a:off x="1369406" y="1574169"/>
            <a:ext cx="5987582" cy="559192"/>
          </a:xfrm>
          <a:prstGeom prst="rect">
            <a:avLst/>
          </a:prstGeom>
          <a:noFill/>
        </p:spPr>
        <p:txBody>
          <a:bodyPr wrap="none" lIns="0" tIns="0" rIns="0" bIns="0" anchor="t">
            <a:noAutofit/>
          </a:bodyPr>
          <a:lstStyle/>
          <a:p>
            <a:pPr algn="l">
              <a:lnSpc>
                <a:spcPct val="100000"/>
              </a:lnSpc>
              <a:spcBef>
                <a:spcPts val="0"/>
              </a:spcBef>
              <a:spcAft>
                <a:spcPts val="0"/>
              </a:spcAft>
              <a:buNone/>
            </a:pPr>
            <a:r>
              <a:rPr sz="3036" b="1" i="0">
                <a:solidFill>
                  <a:srgbClr val="233A70"/>
                </a:solidFill>
                <a:latin typeface="Carlito"/>
                <a:ea typeface="Carlito"/>
                <a:cs typeface="Carlito"/>
              </a:rPr>
              <a:t>Forensic Tools under Adversarial and</a:t>
            </a:r>
          </a:p>
        </p:txBody>
      </p:sp>
      <p:sp>
        <p:nvSpPr>
          <p:cNvPr id="6" name="TextBox 5">
            <a:extLst>
              <a:ext uri="{FF2B5EF4-FFF2-40B4-BE49-F238E27FC236}">
                <a16:creationId xmlns:a16="http://schemas.microsoft.com/office/drawing/2014/main" id="{AE37D7BF-E7C8-4B80-AA3E-D277CB4D3227}"/>
              </a:ext>
            </a:extLst>
          </p:cNvPr>
          <p:cNvSpPr>
            <a:spLocks noGrp="1"/>
          </p:cNvSpPr>
          <p:nvPr/>
        </p:nvSpPr>
        <p:spPr>
          <a:xfrm>
            <a:off x="2616367" y="2056238"/>
            <a:ext cx="3492427" cy="559192"/>
          </a:xfrm>
          <a:prstGeom prst="rect">
            <a:avLst/>
          </a:prstGeom>
          <a:noFill/>
        </p:spPr>
        <p:txBody>
          <a:bodyPr wrap="none" lIns="0" tIns="0" rIns="0" bIns="0" anchor="t">
            <a:noAutofit/>
          </a:bodyPr>
          <a:lstStyle/>
          <a:p>
            <a:pPr algn="l">
              <a:lnSpc>
                <a:spcPct val="100000"/>
              </a:lnSpc>
              <a:spcBef>
                <a:spcPts val="0"/>
              </a:spcBef>
              <a:spcAft>
                <a:spcPts val="0"/>
              </a:spcAft>
              <a:buNone/>
            </a:pPr>
            <a:r>
              <a:rPr sz="3036" b="1" i="0">
                <a:solidFill>
                  <a:srgbClr val="233A70"/>
                </a:solidFill>
                <a:latin typeface="Carlito"/>
                <a:ea typeface="Carlito"/>
                <a:cs typeface="Carlito"/>
              </a:rPr>
              <a:t>Anti-Forensic Attacks</a:t>
            </a:r>
          </a:p>
        </p:txBody>
      </p:sp>
      <p:sp>
        <p:nvSpPr>
          <p:cNvPr id="7" name="TextBox 6">
            <a:extLst>
              <a:ext uri="{FF2B5EF4-FFF2-40B4-BE49-F238E27FC236}">
                <a16:creationId xmlns:a16="http://schemas.microsoft.com/office/drawing/2014/main" id="{714EF284-A801-4261-926C-2EEAFEA761DF}"/>
              </a:ext>
            </a:extLst>
          </p:cNvPr>
          <p:cNvSpPr>
            <a:spLocks noGrp="1"/>
          </p:cNvSpPr>
          <p:nvPr/>
        </p:nvSpPr>
        <p:spPr>
          <a:xfrm>
            <a:off x="1143000" y="2816638"/>
            <a:ext cx="6438900" cy="349472"/>
          </a:xfrm>
          <a:prstGeom prst="rect">
            <a:avLst/>
          </a:prstGeom>
          <a:noFill/>
        </p:spPr>
        <p:txBody>
          <a:bodyPr wrap="none" lIns="0" tIns="0" rIns="0" bIns="0" anchor="t">
            <a:noAutofit/>
          </a:bodyPr>
          <a:lstStyle/>
          <a:p>
            <a:pPr algn="l">
              <a:lnSpc>
                <a:spcPct val="100000"/>
              </a:lnSpc>
              <a:spcBef>
                <a:spcPts val="0"/>
              </a:spcBef>
              <a:spcAft>
                <a:spcPts val="0"/>
              </a:spcAft>
              <a:buNone/>
            </a:pPr>
            <a:r>
              <a:rPr sz="1897" b="0" i="0">
                <a:solidFill>
                  <a:srgbClr val="404040"/>
                </a:solidFill>
                <a:latin typeface="Carlito"/>
                <a:ea typeface="Carlito"/>
                <a:cs typeface="Carlito"/>
              </a:rPr>
              <a:t>Master’s Degree in Computer Engineering</a:t>
            </a:r>
          </a:p>
        </p:txBody>
      </p:sp>
      <p:sp>
        <p:nvSpPr>
          <p:cNvPr id="8" name="TextBox 7">
            <a:extLst>
              <a:ext uri="{FF2B5EF4-FFF2-40B4-BE49-F238E27FC236}">
                <a16:creationId xmlns:a16="http://schemas.microsoft.com/office/drawing/2014/main" id="{B60AA5D2-5B61-455B-BBE9-086C543935C9}"/>
              </a:ext>
            </a:extLst>
          </p:cNvPr>
          <p:cNvSpPr>
            <a:spLocks noGrp="1"/>
          </p:cNvSpPr>
          <p:nvPr/>
        </p:nvSpPr>
        <p:spPr>
          <a:xfrm>
            <a:off x="1428750" y="3111246"/>
            <a:ext cx="5867400" cy="349472"/>
          </a:xfrm>
          <a:prstGeom prst="rect">
            <a:avLst/>
          </a:prstGeom>
          <a:noFill/>
        </p:spPr>
        <p:txBody>
          <a:bodyPr wrap="none" lIns="0" tIns="0" rIns="0" bIns="0" anchor="t">
            <a:noAutofit/>
          </a:bodyPr>
          <a:lstStyle/>
          <a:p>
            <a:pPr algn="l">
              <a:lnSpc>
                <a:spcPct val="100000"/>
              </a:lnSpc>
              <a:spcBef>
                <a:spcPts val="0"/>
              </a:spcBef>
              <a:spcAft>
                <a:spcPts val="0"/>
              </a:spcAft>
              <a:buNone/>
            </a:pPr>
            <a:r>
              <a:rPr sz="1897" b="0" i="0">
                <a:solidFill>
                  <a:srgbClr val="404040"/>
                </a:solidFill>
                <a:latin typeface="Carlito"/>
                <a:ea typeface="Carlito"/>
                <a:cs typeface="Carlito"/>
              </a:rPr>
              <a:t>Cybersecurity and Artificial Intelligence</a:t>
            </a:r>
          </a:p>
        </p:txBody>
      </p:sp>
      <p:sp>
        <p:nvSpPr>
          <p:cNvPr id="9" name="TextBox 8">
            <a:extLst>
              <a:ext uri="{FF2B5EF4-FFF2-40B4-BE49-F238E27FC236}">
                <a16:creationId xmlns:a16="http://schemas.microsoft.com/office/drawing/2014/main" id="{8CC206C0-8612-4C95-88BD-073E5D709139}"/>
              </a:ext>
            </a:extLst>
          </p:cNvPr>
          <p:cNvSpPr>
            <a:spLocks noGrp="1"/>
          </p:cNvSpPr>
          <p:nvPr/>
        </p:nvSpPr>
        <p:spPr>
          <a:xfrm>
            <a:off x="761986" y="3996866"/>
            <a:ext cx="803973"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1" i="0">
                <a:solidFill>
                  <a:srgbClr val="000000"/>
                </a:solidFill>
                <a:latin typeface="Carlito"/>
                <a:ea typeface="Carlito"/>
                <a:cs typeface="Carlito"/>
              </a:rPr>
              <a:t>Advisor</a:t>
            </a:r>
          </a:p>
        </p:txBody>
      </p:sp>
      <p:sp>
        <p:nvSpPr>
          <p:cNvPr id="10" name="TextBox 9">
            <a:extLst>
              <a:ext uri="{FF2B5EF4-FFF2-40B4-BE49-F238E27FC236}">
                <a16:creationId xmlns:a16="http://schemas.microsoft.com/office/drawing/2014/main" id="{8597C9F5-C83C-46EA-B5F8-9BA5795DFE33}"/>
              </a:ext>
            </a:extLst>
          </p:cNvPr>
          <p:cNvSpPr>
            <a:spLocks noGrp="1"/>
          </p:cNvSpPr>
          <p:nvPr/>
        </p:nvSpPr>
        <p:spPr>
          <a:xfrm>
            <a:off x="761986" y="4224775"/>
            <a:ext cx="1940354"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Prof. Davide Maiorca</a:t>
            </a:r>
          </a:p>
        </p:txBody>
      </p:sp>
      <p:sp>
        <p:nvSpPr>
          <p:cNvPr id="11" name="TextBox 10">
            <a:extLst>
              <a:ext uri="{FF2B5EF4-FFF2-40B4-BE49-F238E27FC236}">
                <a16:creationId xmlns:a16="http://schemas.microsoft.com/office/drawing/2014/main" id="{31C97160-9434-4274-86A4-31180B678549}"/>
              </a:ext>
            </a:extLst>
          </p:cNvPr>
          <p:cNvSpPr>
            <a:spLocks noGrp="1"/>
          </p:cNvSpPr>
          <p:nvPr/>
        </p:nvSpPr>
        <p:spPr>
          <a:xfrm>
            <a:off x="761986" y="4627618"/>
            <a:ext cx="1091282"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1" i="0">
                <a:solidFill>
                  <a:srgbClr val="000000"/>
                </a:solidFill>
                <a:latin typeface="Carlito"/>
                <a:ea typeface="Carlito"/>
                <a:cs typeface="Carlito"/>
              </a:rPr>
              <a:t>Co-Advisor</a:t>
            </a:r>
          </a:p>
        </p:txBody>
      </p:sp>
      <p:sp>
        <p:nvSpPr>
          <p:cNvPr id="12" name="TextBox 11">
            <a:extLst>
              <a:ext uri="{FF2B5EF4-FFF2-40B4-BE49-F238E27FC236}">
                <a16:creationId xmlns:a16="http://schemas.microsoft.com/office/drawing/2014/main" id="{5B16A2C5-AD4B-43D8-80B7-E209C671B2FA}"/>
              </a:ext>
            </a:extLst>
          </p:cNvPr>
          <p:cNvSpPr>
            <a:spLocks noGrp="1"/>
          </p:cNvSpPr>
          <p:nvPr/>
        </p:nvSpPr>
        <p:spPr>
          <a:xfrm>
            <a:off x="761986" y="4855554"/>
            <a:ext cx="2204524"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Silvia Lucia Sanna, Ph.D.</a:t>
            </a:r>
          </a:p>
        </p:txBody>
      </p:sp>
      <p:sp>
        <p:nvSpPr>
          <p:cNvPr id="13" name="TextBox 12">
            <a:extLst>
              <a:ext uri="{FF2B5EF4-FFF2-40B4-BE49-F238E27FC236}">
                <a16:creationId xmlns:a16="http://schemas.microsoft.com/office/drawing/2014/main" id="{2A1750C7-FF88-40A1-81A0-843EF4A32EDF}"/>
              </a:ext>
            </a:extLst>
          </p:cNvPr>
          <p:cNvSpPr>
            <a:spLocks noGrp="1"/>
          </p:cNvSpPr>
          <p:nvPr/>
        </p:nvSpPr>
        <p:spPr>
          <a:xfrm>
            <a:off x="6201901" y="3971544"/>
            <a:ext cx="1028293"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1" i="0">
                <a:solidFill>
                  <a:srgbClr val="000000"/>
                </a:solidFill>
                <a:latin typeface="Carlito"/>
                <a:ea typeface="Carlito"/>
                <a:cs typeface="Carlito"/>
              </a:rPr>
              <a:t>Candidate</a:t>
            </a:r>
          </a:p>
        </p:txBody>
      </p:sp>
      <p:sp>
        <p:nvSpPr>
          <p:cNvPr id="14" name="TextBox 13">
            <a:extLst>
              <a:ext uri="{FF2B5EF4-FFF2-40B4-BE49-F238E27FC236}">
                <a16:creationId xmlns:a16="http://schemas.microsoft.com/office/drawing/2014/main" id="{5F83D23B-74B9-4F5E-8934-E6D373922EF3}"/>
              </a:ext>
            </a:extLst>
          </p:cNvPr>
          <p:cNvSpPr>
            <a:spLocks noGrp="1"/>
          </p:cNvSpPr>
          <p:nvPr/>
        </p:nvSpPr>
        <p:spPr>
          <a:xfrm>
            <a:off x="5798944" y="4229963"/>
            <a:ext cx="1431297"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Lello Molinario</a:t>
            </a:r>
          </a:p>
        </p:txBody>
      </p:sp>
      <p:sp>
        <p:nvSpPr>
          <p:cNvPr id="15" name="TextBox 14">
            <a:extLst>
              <a:ext uri="{FF2B5EF4-FFF2-40B4-BE49-F238E27FC236}">
                <a16:creationId xmlns:a16="http://schemas.microsoft.com/office/drawing/2014/main" id="{459D83A5-BA59-4DBD-A175-A13844B7B58E}"/>
              </a:ext>
            </a:extLst>
          </p:cNvPr>
          <p:cNvSpPr>
            <a:spLocks noGrp="1"/>
          </p:cNvSpPr>
          <p:nvPr/>
        </p:nvSpPr>
        <p:spPr>
          <a:xfrm>
            <a:off x="4833354" y="4685635"/>
            <a:ext cx="2347428" cy="310662"/>
          </a:xfrm>
          <a:prstGeom prst="rect">
            <a:avLst/>
          </a:prstGeom>
          <a:noFill/>
        </p:spPr>
        <p:txBody>
          <a:bodyPr wrap="none" lIns="0" tIns="0" rIns="0" bIns="0" anchor="t">
            <a:noAutofit/>
          </a:bodyPr>
          <a:lstStyle/>
          <a:p>
            <a:pPr algn="l">
              <a:lnSpc>
                <a:spcPct val="100000"/>
              </a:lnSpc>
              <a:spcBef>
                <a:spcPts val="0"/>
              </a:spcBef>
              <a:spcAft>
                <a:spcPts val="0"/>
              </a:spcAft>
              <a:buNone/>
            </a:pPr>
            <a:r>
              <a:rPr sz="1687" b="0" i="0">
                <a:solidFill>
                  <a:srgbClr val="000000"/>
                </a:solidFill>
                <a:latin typeface="Carlito"/>
                <a:ea typeface="Carlito"/>
                <a:cs typeface="Carlito"/>
              </a:rPr>
              <a:t>Student ID: 70/90/00369</a:t>
            </a:r>
          </a:p>
        </p:txBody>
      </p:sp>
      <p:sp>
        <p:nvSpPr>
          <p:cNvPr id="16" name="TextBox 15">
            <a:extLst>
              <a:ext uri="{FF2B5EF4-FFF2-40B4-BE49-F238E27FC236}">
                <a16:creationId xmlns:a16="http://schemas.microsoft.com/office/drawing/2014/main" id="{98B901F8-0F1F-4C36-A37E-DBF9254044E0}"/>
              </a:ext>
            </a:extLst>
          </p:cNvPr>
          <p:cNvSpPr>
            <a:spLocks noGrp="1"/>
          </p:cNvSpPr>
          <p:nvPr/>
        </p:nvSpPr>
        <p:spPr>
          <a:xfrm>
            <a:off x="2372525" y="5618318"/>
            <a:ext cx="3246783" cy="425219"/>
          </a:xfrm>
          <a:prstGeom prst="rect">
            <a:avLst/>
          </a:prstGeom>
          <a:noFill/>
        </p:spPr>
        <p:txBody>
          <a:bodyPr wrap="none" lIns="0" tIns="0" rIns="0" bIns="0" anchor="t">
            <a:noAutofit/>
          </a:bodyPr>
          <a:lstStyle/>
          <a:p>
            <a:pPr algn="l">
              <a:lnSpc>
                <a:spcPct val="100000"/>
              </a:lnSpc>
              <a:spcBef>
                <a:spcPts val="0"/>
              </a:spcBef>
              <a:spcAft>
                <a:spcPts val="0"/>
              </a:spcAft>
              <a:buNone/>
            </a:pPr>
            <a:r>
              <a:rPr sz="2309" b="0" i="0">
                <a:solidFill>
                  <a:srgbClr val="000000"/>
                </a:solidFill>
                <a:latin typeface="Carlito"/>
                <a:ea typeface="Carlito"/>
                <a:cs typeface="Carlito"/>
              </a:rPr>
              <a:t>Academic Year 2025/2026</a:t>
            </a:r>
          </a:p>
        </p:txBody>
      </p:sp>
    </p:spTree>
    <p:extLst>
      <p:ext uri="{BB962C8B-B14F-4D97-AF65-F5344CB8AC3E}">
        <p14:creationId xmlns:p14="http://schemas.microsoft.com/office/powerpoint/2010/main" val="374676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2" name="Rettangolo 21">
            <a:extLst>
              <a:ext uri="{FF2B5EF4-FFF2-40B4-BE49-F238E27FC236}">
                <a16:creationId xmlns:a16="http://schemas.microsoft.com/office/drawing/2014/main" id="{B8A7D5BD-3F8A-4BB6-975D-5266EF1DB7CC}"/>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588B664-C98E-41C9-A1E0-71858EDC4002}"/>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The operational risk is silent exclusion</a:t>
            </a:r>
          </a:p>
        </p:txBody>
      </p:sp>
      <p:sp>
        <p:nvSpPr>
          <p:cNvPr id="3" name="Rettangolo 2">
            <a:extLst>
              <a:ext uri="{FF2B5EF4-FFF2-40B4-BE49-F238E27FC236}">
                <a16:creationId xmlns:a16="http://schemas.microsoft.com/office/drawing/2014/main" id="{8C61DB06-AF65-4B2C-AA7F-B35A9C8C91A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965599AD-B896-4974-A1A2-CBC1B2481DA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1E12A901-ED39-4DD2-822A-E7619785E99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02</a:t>
            </a:r>
          </a:p>
        </p:txBody>
      </p:sp>
      <p:sp>
        <p:nvSpPr>
          <p:cNvPr id="6" name="Rettangolo con angoli arrotondati 5">
            <a:extLst>
              <a:ext uri="{FF2B5EF4-FFF2-40B4-BE49-F238E27FC236}">
                <a16:creationId xmlns:a16="http://schemas.microsoft.com/office/drawing/2014/main" id="{295FDD48-F0EC-46C5-B827-2A805C95A516}"/>
              </a:ext>
            </a:extLst>
          </p:cNvPr>
          <p:cNvSpPr>
            <a:spLocks noGrp="1"/>
          </p:cNvSpPr>
          <p:nvPr/>
        </p:nvSpPr>
        <p:spPr>
          <a:xfrm>
            <a:off x="685800" y="1524000"/>
            <a:ext cx="3048000" cy="1200150"/>
          </a:xfrm>
          <a:prstGeom prst="roundRect">
            <a:avLst>
              <a:gd name="adj" fmla="val 14286"/>
            </a:avLst>
          </a:prstGeom>
          <a:solidFill>
            <a:srgbClr val="FFFFFF"/>
          </a:solidFill>
          <a:ln w="9525">
            <a:solidFill>
              <a:srgbClr val="D9DEE8"/>
            </a:solidFill>
            <a:prstDash val="solid"/>
          </a:ln>
        </p:spPr>
        <p:txBody>
          <a:bodyPr/>
          <a:lstStyle/>
          <a:p>
            <a:endParaRPr/>
          </a:p>
        </p:txBody>
      </p:sp>
      <p:sp>
        <p:nvSpPr>
          <p:cNvPr id="7" name="Rettangolo 6">
            <a:extLst>
              <a:ext uri="{FF2B5EF4-FFF2-40B4-BE49-F238E27FC236}">
                <a16:creationId xmlns:a16="http://schemas.microsoft.com/office/drawing/2014/main" id="{134106DB-7DBE-4BE2-AF47-E9B1070376D7}"/>
              </a:ext>
            </a:extLst>
          </p:cNvPr>
          <p:cNvSpPr>
            <a:spLocks noGrp="1"/>
          </p:cNvSpPr>
          <p:nvPr/>
        </p:nvSpPr>
        <p:spPr>
          <a:xfrm>
            <a:off x="8763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LARGE</a:t>
            </a:r>
          </a:p>
        </p:txBody>
      </p:sp>
      <p:sp>
        <p:nvSpPr>
          <p:cNvPr id="8" name="Rettangolo 7">
            <a:extLst>
              <a:ext uri="{FF2B5EF4-FFF2-40B4-BE49-F238E27FC236}">
                <a16:creationId xmlns:a16="http://schemas.microsoft.com/office/drawing/2014/main" id="{6866549D-9D17-463F-9BE9-DC9437B3FE8D}"/>
              </a:ext>
            </a:extLst>
          </p:cNvPr>
          <p:cNvSpPr>
            <a:spLocks noGrp="1"/>
          </p:cNvSpPr>
          <p:nvPr/>
        </p:nvSpPr>
        <p:spPr>
          <a:xfrm>
            <a:off x="8763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image collections</a:t>
            </a:r>
          </a:p>
        </p:txBody>
      </p:sp>
      <p:sp>
        <p:nvSpPr>
          <p:cNvPr id="9" name="Rettangolo con angoli arrotondati 8">
            <a:extLst>
              <a:ext uri="{FF2B5EF4-FFF2-40B4-BE49-F238E27FC236}">
                <a16:creationId xmlns:a16="http://schemas.microsoft.com/office/drawing/2014/main" id="{1B4F03EB-5A2C-471C-ABF0-97B8F80F2258}"/>
              </a:ext>
            </a:extLst>
          </p:cNvPr>
          <p:cNvSpPr>
            <a:spLocks noGrp="1"/>
          </p:cNvSpPr>
          <p:nvPr/>
        </p:nvSpPr>
        <p:spPr>
          <a:xfrm>
            <a:off x="4343400" y="1524000"/>
            <a:ext cx="3048000" cy="1200150"/>
          </a:xfrm>
          <a:prstGeom prst="roundRect">
            <a:avLst>
              <a:gd name="adj" fmla="val 14286"/>
            </a:avLst>
          </a:prstGeom>
          <a:solidFill>
            <a:srgbClr val="E9EEF8"/>
          </a:solidFill>
          <a:ln w="9525">
            <a:solidFill>
              <a:srgbClr val="E9EEF8"/>
            </a:solidFill>
            <a:prstDash val="solid"/>
          </a:ln>
        </p:spPr>
        <p:txBody>
          <a:bodyPr/>
          <a:lstStyle/>
          <a:p>
            <a:endParaRPr/>
          </a:p>
        </p:txBody>
      </p:sp>
      <p:sp>
        <p:nvSpPr>
          <p:cNvPr id="10" name="Rettangolo 9">
            <a:extLst>
              <a:ext uri="{FF2B5EF4-FFF2-40B4-BE49-F238E27FC236}">
                <a16:creationId xmlns:a16="http://schemas.microsoft.com/office/drawing/2014/main" id="{AFC8020C-45AE-4038-A8C9-738588A763B5}"/>
              </a:ext>
            </a:extLst>
          </p:cNvPr>
          <p:cNvSpPr>
            <a:spLocks noGrp="1"/>
          </p:cNvSpPr>
          <p:nvPr/>
        </p:nvSpPr>
        <p:spPr>
          <a:xfrm>
            <a:off x="45339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AI</a:t>
            </a:r>
          </a:p>
        </p:txBody>
      </p:sp>
      <p:sp>
        <p:nvSpPr>
          <p:cNvPr id="11" name="Rettangolo 10">
            <a:extLst>
              <a:ext uri="{FF2B5EF4-FFF2-40B4-BE49-F238E27FC236}">
                <a16:creationId xmlns:a16="http://schemas.microsoft.com/office/drawing/2014/main" id="{C33FDAE1-0BA9-4918-83D0-329C1792220C}"/>
              </a:ext>
            </a:extLst>
          </p:cNvPr>
          <p:cNvSpPr>
            <a:spLocks noGrp="1"/>
          </p:cNvSpPr>
          <p:nvPr/>
        </p:nvSpPr>
        <p:spPr>
          <a:xfrm>
            <a:off x="45339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assisted triage</a:t>
            </a:r>
          </a:p>
        </p:txBody>
      </p:sp>
      <p:sp>
        <p:nvSpPr>
          <p:cNvPr id="12" name="Rettangolo con angoli arrotondati 11">
            <a:extLst>
              <a:ext uri="{FF2B5EF4-FFF2-40B4-BE49-F238E27FC236}">
                <a16:creationId xmlns:a16="http://schemas.microsoft.com/office/drawing/2014/main" id="{4C845868-F781-47A9-940E-F0CDBB7371DC}"/>
              </a:ext>
            </a:extLst>
          </p:cNvPr>
          <p:cNvSpPr>
            <a:spLocks noGrp="1"/>
          </p:cNvSpPr>
          <p:nvPr/>
        </p:nvSpPr>
        <p:spPr>
          <a:xfrm>
            <a:off x="8001000" y="1524000"/>
            <a:ext cx="3048000" cy="1200150"/>
          </a:xfrm>
          <a:prstGeom prst="roundRect">
            <a:avLst>
              <a:gd name="adj" fmla="val 14286"/>
            </a:avLst>
          </a:prstGeom>
          <a:solidFill>
            <a:srgbClr val="FBEAEA"/>
          </a:solidFill>
          <a:ln w="9525">
            <a:solidFill>
              <a:srgbClr val="FBEAEA"/>
            </a:solidFill>
            <a:prstDash val="solid"/>
          </a:ln>
        </p:spPr>
        <p:txBody>
          <a:bodyPr/>
          <a:lstStyle/>
          <a:p>
            <a:endParaRPr/>
          </a:p>
        </p:txBody>
      </p:sp>
      <p:sp>
        <p:nvSpPr>
          <p:cNvPr id="13" name="Rettangolo 12">
            <a:extLst>
              <a:ext uri="{FF2B5EF4-FFF2-40B4-BE49-F238E27FC236}">
                <a16:creationId xmlns:a16="http://schemas.microsoft.com/office/drawing/2014/main" id="{E1D87471-E992-400B-8BA5-98A79A7C8C69}"/>
              </a:ext>
            </a:extLst>
          </p:cNvPr>
          <p:cNvSpPr>
            <a:spLocks noGrp="1"/>
          </p:cNvSpPr>
          <p:nvPr/>
        </p:nvSpPr>
        <p:spPr>
          <a:xfrm>
            <a:off x="81915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BE3C37"/>
                </a:solidFill>
                <a:latin typeface="Arial"/>
                <a:ea typeface="Arial"/>
                <a:cs typeface="Arial"/>
              </a:defRPr>
            </a:pPr>
            <a:r>
              <a:rPr sz="2850" b="1">
                <a:solidFill>
                  <a:srgbClr val="BE3C37"/>
                </a:solidFill>
                <a:latin typeface="Arial"/>
                <a:ea typeface="Arial"/>
                <a:cs typeface="Arial"/>
              </a:rPr>
              <a:t>MISS</a:t>
            </a:r>
          </a:p>
        </p:txBody>
      </p:sp>
      <p:sp>
        <p:nvSpPr>
          <p:cNvPr id="14" name="Rettangolo 13">
            <a:extLst>
              <a:ext uri="{FF2B5EF4-FFF2-40B4-BE49-F238E27FC236}">
                <a16:creationId xmlns:a16="http://schemas.microsoft.com/office/drawing/2014/main" id="{B0C05342-6D6D-4097-A670-5979C502D4B5}"/>
              </a:ext>
            </a:extLst>
          </p:cNvPr>
          <p:cNvSpPr>
            <a:spLocks noGrp="1"/>
          </p:cNvSpPr>
          <p:nvPr/>
        </p:nvSpPr>
        <p:spPr>
          <a:xfrm>
            <a:off x="81915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relevant evidence</a:t>
            </a:r>
          </a:p>
        </p:txBody>
      </p:sp>
      <p:sp>
        <p:nvSpPr>
          <p:cNvPr id="15" name="Rettangolo 14">
            <a:extLst>
              <a:ext uri="{FF2B5EF4-FFF2-40B4-BE49-F238E27FC236}">
                <a16:creationId xmlns:a16="http://schemas.microsoft.com/office/drawing/2014/main" id="{BE95789F-29F4-458B-9109-B5F4176210EA}"/>
              </a:ext>
            </a:extLst>
          </p:cNvPr>
          <p:cNvSpPr>
            <a:spLocks noGrp="1"/>
          </p:cNvSpPr>
          <p:nvPr/>
        </p:nvSpPr>
        <p:spPr>
          <a:xfrm>
            <a:off x="3752850" y="1866900"/>
            <a:ext cx="571500" cy="47625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6" name="Rettangolo 15">
            <a:extLst>
              <a:ext uri="{FF2B5EF4-FFF2-40B4-BE49-F238E27FC236}">
                <a16:creationId xmlns:a16="http://schemas.microsoft.com/office/drawing/2014/main" id="{B813C1EC-E4C9-443B-9424-97804AB1F480}"/>
              </a:ext>
            </a:extLst>
          </p:cNvPr>
          <p:cNvSpPr>
            <a:spLocks noGrp="1"/>
          </p:cNvSpPr>
          <p:nvPr/>
        </p:nvSpPr>
        <p:spPr>
          <a:xfrm>
            <a:off x="7410450" y="1866900"/>
            <a:ext cx="571500" cy="47625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7" name="Rettangolo con angoli arrotondati 16">
            <a:extLst>
              <a:ext uri="{FF2B5EF4-FFF2-40B4-BE49-F238E27FC236}">
                <a16:creationId xmlns:a16="http://schemas.microsoft.com/office/drawing/2014/main" id="{4EBFE33E-8979-4761-84B8-587E7AC16DD3}"/>
              </a:ext>
            </a:extLst>
          </p:cNvPr>
          <p:cNvSpPr>
            <a:spLocks noGrp="1"/>
          </p:cNvSpPr>
          <p:nvPr/>
        </p:nvSpPr>
        <p:spPr>
          <a:xfrm>
            <a:off x="1123950" y="3162300"/>
            <a:ext cx="9944100" cy="1352550"/>
          </a:xfrm>
          <a:prstGeom prst="roundRect">
            <a:avLst>
              <a:gd name="adj" fmla="val 12676"/>
            </a:avLst>
          </a:prstGeom>
          <a:solidFill>
            <a:srgbClr val="233A70"/>
          </a:solidFill>
          <a:ln w="0">
            <a:noFill/>
            <a:prstDash val="solid"/>
          </a:ln>
        </p:spPr>
        <p:txBody>
          <a:bodyPr/>
          <a:lstStyle/>
          <a:p>
            <a:endParaRPr/>
          </a:p>
        </p:txBody>
      </p:sp>
      <p:sp>
        <p:nvSpPr>
          <p:cNvPr id="18" name="Rettangolo 17">
            <a:extLst>
              <a:ext uri="{FF2B5EF4-FFF2-40B4-BE49-F238E27FC236}">
                <a16:creationId xmlns:a16="http://schemas.microsoft.com/office/drawing/2014/main" id="{77611C6C-126C-490B-8FFB-2004E5871B70}"/>
              </a:ext>
            </a:extLst>
          </p:cNvPr>
          <p:cNvSpPr>
            <a:spLocks noGrp="1"/>
          </p:cNvSpPr>
          <p:nvPr/>
        </p:nvSpPr>
        <p:spPr>
          <a:xfrm>
            <a:off x="1504950" y="3429000"/>
            <a:ext cx="9182100" cy="800100"/>
          </a:xfrm>
          <a:prstGeom prst="rect">
            <a:avLst/>
          </a:prstGeom>
          <a:noFill/>
          <a:ln w="0">
            <a:noFill/>
            <a:prstDash val="solid"/>
          </a:ln>
        </p:spPr>
        <p:txBody>
          <a:bodyPr wrap="square" lIns="0" tIns="0" rIns="0" bIns="0" anchor="ctr">
            <a:noAutofit/>
          </a:bodyPr>
          <a:lstStyle/>
          <a:p>
            <a:pPr algn="ctr">
              <a:buNone/>
              <a:defRPr sz="2400" b="1">
                <a:solidFill>
                  <a:srgbClr val="FFFFFF"/>
                </a:solidFill>
                <a:latin typeface="Arial"/>
                <a:ea typeface="Arial"/>
                <a:cs typeface="Arial"/>
              </a:defRPr>
            </a:pPr>
            <a:r>
              <a:rPr sz="2400" b="1">
                <a:solidFill>
                  <a:srgbClr val="FFFFFF"/>
                </a:solidFill>
                <a:latin typeface="Arial"/>
                <a:ea typeface="Arial"/>
                <a:cs typeface="Arial"/>
              </a:rPr>
              <a:t>How does forensic image triage behave under</a:t>
            </a:r>
          </a:p>
          <a:p>
            <a:pPr algn="ctr">
              <a:buNone/>
              <a:defRPr sz="2400" b="1">
                <a:solidFill>
                  <a:srgbClr val="FFFFFF"/>
                </a:solidFill>
                <a:latin typeface="Arial"/>
                <a:ea typeface="Arial"/>
                <a:cs typeface="Arial"/>
              </a:defRPr>
            </a:pPr>
            <a:r>
              <a:rPr sz="2400" b="1">
                <a:solidFill>
                  <a:srgbClr val="FFFFFF"/>
                </a:solidFill>
                <a:latin typeface="Arial"/>
                <a:ea typeface="Arial"/>
                <a:cs typeface="Arial"/>
              </a:rPr>
              <a:t>adversarial, anti-forensic and OOD inputs?</a:t>
            </a:r>
          </a:p>
        </p:txBody>
      </p:sp>
      <p:sp>
        <p:nvSpPr>
          <p:cNvPr id="19" name="Rettangolo 18">
            <a:extLst>
              <a:ext uri="{FF2B5EF4-FFF2-40B4-BE49-F238E27FC236}">
                <a16:creationId xmlns:a16="http://schemas.microsoft.com/office/drawing/2014/main" id="{DDA7D3C5-CB47-4C4D-BA38-0571EC45CEF8}"/>
              </a:ext>
            </a:extLst>
          </p:cNvPr>
          <p:cNvSpPr>
            <a:spLocks noGrp="1"/>
          </p:cNvSpPr>
          <p:nvPr/>
        </p:nvSpPr>
        <p:spPr>
          <a:xfrm>
            <a:off x="876300" y="4857750"/>
            <a:ext cx="9982200" cy="476250"/>
          </a:xfrm>
          <a:prstGeom prst="rect">
            <a:avLst/>
          </a:prstGeom>
          <a:noFill/>
          <a:ln w="0">
            <a:noFill/>
            <a:prstDash val="solid"/>
          </a:ln>
        </p:spPr>
        <p:txBody>
          <a:bodyPr wrap="square" lIns="0" tIns="0" rIns="0" bIns="0" anchor="ctr">
            <a:noAutofit/>
          </a:bodyPr>
          <a:lstStyle/>
          <a:p>
            <a:pPr algn="ctr">
              <a:buNone/>
              <a:defRPr sz="1575" b="0">
                <a:solidFill>
                  <a:srgbClr val="5B6577"/>
                </a:solidFill>
                <a:latin typeface="Arial"/>
                <a:ea typeface="Arial"/>
                <a:cs typeface="Arial"/>
              </a:defRPr>
            </a:pPr>
            <a:r>
              <a:rPr sz="1575" b="0">
                <a:solidFill>
                  <a:srgbClr val="5B6577"/>
                </a:solidFill>
                <a:latin typeface="Arial"/>
                <a:ea typeface="Arial"/>
                <a:cs typeface="Arial"/>
              </a:rPr>
              <a:t>Clean accuracy may look reassuring while a relevant item is quietly moved out of the analyst’s priority queue.</a:t>
            </a:r>
          </a:p>
        </p:txBody>
      </p:sp>
      <p:sp>
        <p:nvSpPr>
          <p:cNvPr id="20" name="Rettangolo con angoli arrotondati 19">
            <a:extLst>
              <a:ext uri="{FF2B5EF4-FFF2-40B4-BE49-F238E27FC236}">
                <a16:creationId xmlns:a16="http://schemas.microsoft.com/office/drawing/2014/main" id="{59855B48-B64C-42AD-8C97-0C65B6AAAAF3}"/>
              </a:ext>
            </a:extLst>
          </p:cNvPr>
          <p:cNvSpPr>
            <a:spLocks noGrp="1"/>
          </p:cNvSpPr>
          <p:nvPr/>
        </p:nvSpPr>
        <p:spPr>
          <a:xfrm>
            <a:off x="2000250" y="5600700"/>
            <a:ext cx="8191500" cy="514350"/>
          </a:xfrm>
          <a:prstGeom prst="roundRect">
            <a:avLst>
              <a:gd name="adj" fmla="val 25926"/>
            </a:avLst>
          </a:prstGeom>
          <a:solidFill>
            <a:srgbClr val="E7F8F0"/>
          </a:solidFill>
          <a:ln w="0">
            <a:noFill/>
            <a:prstDash val="solid"/>
          </a:ln>
        </p:spPr>
        <p:txBody>
          <a:bodyPr/>
          <a:lstStyle/>
          <a:p>
            <a:endParaRPr/>
          </a:p>
        </p:txBody>
      </p:sp>
      <p:sp>
        <p:nvSpPr>
          <p:cNvPr id="21" name="Rettangolo 20">
            <a:extLst>
              <a:ext uri="{FF2B5EF4-FFF2-40B4-BE49-F238E27FC236}">
                <a16:creationId xmlns:a16="http://schemas.microsoft.com/office/drawing/2014/main" id="{C5A6713C-2452-4272-91E6-86D11A7F5573}"/>
              </a:ext>
            </a:extLst>
          </p:cNvPr>
          <p:cNvSpPr>
            <a:spLocks noGrp="1"/>
          </p:cNvSpPr>
          <p:nvPr/>
        </p:nvSpPr>
        <p:spPr>
          <a:xfrm>
            <a:off x="2266950" y="5743575"/>
            <a:ext cx="7658100" cy="2476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Contribution: auditable robustness assessment—not a new firearm classifier.</a:t>
            </a:r>
          </a:p>
        </p:txBody>
      </p:sp>
    </p:spTree>
    <p:extLst>
      <p:ext uri="{BB962C8B-B14F-4D97-AF65-F5344CB8AC3E}">
        <p14:creationId xmlns:p14="http://schemas.microsoft.com/office/powerpoint/2010/main" val="7108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2" name="Rettangolo 31">
            <a:extLst>
              <a:ext uri="{FF2B5EF4-FFF2-40B4-BE49-F238E27FC236}">
                <a16:creationId xmlns:a16="http://schemas.microsoft.com/office/drawing/2014/main" id="{6C0B1A53-D25B-4A63-AC3D-8F73AF1B454A}"/>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9BB695DD-AE95-440C-B8F5-952448E18C0F}"/>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FAIRLab makes robustness auditable</a:t>
            </a:r>
          </a:p>
        </p:txBody>
      </p:sp>
      <p:sp>
        <p:nvSpPr>
          <p:cNvPr id="3" name="Rettangolo 2">
            <a:extLst>
              <a:ext uri="{FF2B5EF4-FFF2-40B4-BE49-F238E27FC236}">
                <a16:creationId xmlns:a16="http://schemas.microsoft.com/office/drawing/2014/main" id="{043FF31C-DB46-4E33-817A-CBBE738643F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D319FC2A-5C48-4679-98E3-D8A119AEE97E}"/>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3B214099-1E39-4983-88F2-9CF7A1ED2504}"/>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03</a:t>
            </a:r>
          </a:p>
        </p:txBody>
      </p:sp>
      <p:sp>
        <p:nvSpPr>
          <p:cNvPr id="6" name="Rettangolo con angoli arrotondati 5">
            <a:extLst>
              <a:ext uri="{FF2B5EF4-FFF2-40B4-BE49-F238E27FC236}">
                <a16:creationId xmlns:a16="http://schemas.microsoft.com/office/drawing/2014/main" id="{F91845BA-A49A-4FC8-8C94-20F23A40393D}"/>
              </a:ext>
            </a:extLst>
          </p:cNvPr>
          <p:cNvSpPr>
            <a:spLocks noGrp="1"/>
          </p:cNvSpPr>
          <p:nvPr/>
        </p:nvSpPr>
        <p:spPr>
          <a:xfrm>
            <a:off x="685800" y="1524000"/>
            <a:ext cx="3048000" cy="1200150"/>
          </a:xfrm>
          <a:prstGeom prst="roundRect">
            <a:avLst>
              <a:gd name="adj" fmla="val 12698"/>
            </a:avLst>
          </a:prstGeom>
          <a:solidFill>
            <a:srgbClr val="FFFFFF"/>
          </a:solidFill>
          <a:ln w="9525">
            <a:solidFill>
              <a:srgbClr val="D9DEE8"/>
            </a:solidFill>
            <a:prstDash val="solid"/>
          </a:ln>
        </p:spPr>
        <p:txBody>
          <a:bodyPr/>
          <a:lstStyle/>
          <a:p>
            <a:endParaRPr/>
          </a:p>
        </p:txBody>
      </p:sp>
      <p:sp>
        <p:nvSpPr>
          <p:cNvPr id="7" name="Rettangolo 6">
            <a:extLst>
              <a:ext uri="{FF2B5EF4-FFF2-40B4-BE49-F238E27FC236}">
                <a16:creationId xmlns:a16="http://schemas.microsoft.com/office/drawing/2014/main" id="{4B2F791D-898D-4C09-88CD-BCF8DAF22C9B}"/>
              </a:ext>
            </a:extLst>
          </p:cNvPr>
          <p:cNvSpPr>
            <a:spLocks noGrp="1"/>
          </p:cNvSpPr>
          <p:nvPr/>
        </p:nvSpPr>
        <p:spPr>
          <a:xfrm>
            <a:off x="8763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01 · SOURCE</a:t>
            </a:r>
          </a:p>
        </p:txBody>
      </p:sp>
      <p:sp>
        <p:nvSpPr>
          <p:cNvPr id="8" name="Rettangolo 7">
            <a:extLst>
              <a:ext uri="{FF2B5EF4-FFF2-40B4-BE49-F238E27FC236}">
                <a16:creationId xmlns:a16="http://schemas.microsoft.com/office/drawing/2014/main" id="{DD23DB3C-604D-4EEA-A4FA-3C66E44C8E4F}"/>
              </a:ext>
            </a:extLst>
          </p:cNvPr>
          <p:cNvSpPr>
            <a:spLocks noGrp="1"/>
          </p:cNvSpPr>
          <p:nvPr/>
        </p:nvSpPr>
        <p:spPr>
          <a:xfrm>
            <a:off x="8763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heterogeneous pool</a:t>
            </a:r>
          </a:p>
        </p:txBody>
      </p:sp>
      <p:sp>
        <p:nvSpPr>
          <p:cNvPr id="9" name="Rettangolo con angoli arrotondati 8">
            <a:extLst>
              <a:ext uri="{FF2B5EF4-FFF2-40B4-BE49-F238E27FC236}">
                <a16:creationId xmlns:a16="http://schemas.microsoft.com/office/drawing/2014/main" id="{99A661A2-1646-46C8-B23D-CEAE1DEB18C1}"/>
              </a:ext>
            </a:extLst>
          </p:cNvPr>
          <p:cNvSpPr>
            <a:spLocks noGrp="1"/>
          </p:cNvSpPr>
          <p:nvPr/>
        </p:nvSpPr>
        <p:spPr>
          <a:xfrm>
            <a:off x="4343400" y="1524000"/>
            <a:ext cx="3048000" cy="1200150"/>
          </a:xfrm>
          <a:prstGeom prst="roundRect">
            <a:avLst>
              <a:gd name="adj" fmla="val 12698"/>
            </a:avLst>
          </a:prstGeom>
          <a:solidFill>
            <a:srgbClr val="E7F8F0"/>
          </a:solidFill>
          <a:ln w="9525">
            <a:solidFill>
              <a:srgbClr val="E7F8F0"/>
            </a:solidFill>
            <a:prstDash val="solid"/>
          </a:ln>
        </p:spPr>
        <p:txBody>
          <a:bodyPr/>
          <a:lstStyle/>
          <a:p>
            <a:endParaRPr/>
          </a:p>
        </p:txBody>
      </p:sp>
      <p:sp>
        <p:nvSpPr>
          <p:cNvPr id="10" name="Rettangolo 9">
            <a:extLst>
              <a:ext uri="{FF2B5EF4-FFF2-40B4-BE49-F238E27FC236}">
                <a16:creationId xmlns:a16="http://schemas.microsoft.com/office/drawing/2014/main" id="{AFED12D9-FF88-4E60-BD67-EFEB869BA78A}"/>
              </a:ext>
            </a:extLst>
          </p:cNvPr>
          <p:cNvSpPr>
            <a:spLocks noGrp="1"/>
          </p:cNvSpPr>
          <p:nvPr/>
        </p:nvSpPr>
        <p:spPr>
          <a:xfrm>
            <a:off x="45339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02 · VALIDATE</a:t>
            </a:r>
          </a:p>
        </p:txBody>
      </p:sp>
      <p:sp>
        <p:nvSpPr>
          <p:cNvPr id="11" name="Rettangolo 10">
            <a:extLst>
              <a:ext uri="{FF2B5EF4-FFF2-40B4-BE49-F238E27FC236}">
                <a16:creationId xmlns:a16="http://schemas.microsoft.com/office/drawing/2014/main" id="{3160162F-71B4-4503-94D0-C14C526A20C3}"/>
              </a:ext>
            </a:extLst>
          </p:cNvPr>
          <p:cNvSpPr>
            <a:spLocks noGrp="1"/>
          </p:cNvSpPr>
          <p:nvPr/>
        </p:nvSpPr>
        <p:spPr>
          <a:xfrm>
            <a:off x="45339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review + dedup</a:t>
            </a:r>
          </a:p>
        </p:txBody>
      </p:sp>
      <p:sp>
        <p:nvSpPr>
          <p:cNvPr id="12" name="Rettangolo con angoli arrotondati 11">
            <a:extLst>
              <a:ext uri="{FF2B5EF4-FFF2-40B4-BE49-F238E27FC236}">
                <a16:creationId xmlns:a16="http://schemas.microsoft.com/office/drawing/2014/main" id="{4441295A-C9D9-4A2C-BE6D-DA5D40668718}"/>
              </a:ext>
            </a:extLst>
          </p:cNvPr>
          <p:cNvSpPr>
            <a:spLocks noGrp="1"/>
          </p:cNvSpPr>
          <p:nvPr/>
        </p:nvSpPr>
        <p:spPr>
          <a:xfrm>
            <a:off x="8001000" y="1524000"/>
            <a:ext cx="3048000" cy="1200150"/>
          </a:xfrm>
          <a:prstGeom prst="roundRect">
            <a:avLst>
              <a:gd name="adj" fmla="val 12698"/>
            </a:avLst>
          </a:prstGeom>
          <a:solidFill>
            <a:srgbClr val="E9EEF8"/>
          </a:solidFill>
          <a:ln w="9525">
            <a:solidFill>
              <a:srgbClr val="E9EEF8"/>
            </a:solidFill>
            <a:prstDash val="solid"/>
          </a:ln>
        </p:spPr>
        <p:txBody>
          <a:bodyPr/>
          <a:lstStyle/>
          <a:p>
            <a:endParaRPr/>
          </a:p>
        </p:txBody>
      </p:sp>
      <p:sp>
        <p:nvSpPr>
          <p:cNvPr id="13" name="Rettangolo 12">
            <a:extLst>
              <a:ext uri="{FF2B5EF4-FFF2-40B4-BE49-F238E27FC236}">
                <a16:creationId xmlns:a16="http://schemas.microsoft.com/office/drawing/2014/main" id="{338253A6-A215-4512-91B2-D613B8843D99}"/>
              </a:ext>
            </a:extLst>
          </p:cNvPr>
          <p:cNvSpPr>
            <a:spLocks noGrp="1"/>
          </p:cNvSpPr>
          <p:nvPr/>
        </p:nvSpPr>
        <p:spPr>
          <a:xfrm>
            <a:off x="81915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03 · FREEZE</a:t>
            </a:r>
          </a:p>
        </p:txBody>
      </p:sp>
      <p:sp>
        <p:nvSpPr>
          <p:cNvPr id="14" name="Rettangolo 13">
            <a:extLst>
              <a:ext uri="{FF2B5EF4-FFF2-40B4-BE49-F238E27FC236}">
                <a16:creationId xmlns:a16="http://schemas.microsoft.com/office/drawing/2014/main" id="{2E74B2CF-06EF-494C-B330-0AB6D414FA74}"/>
              </a:ext>
            </a:extLst>
          </p:cNvPr>
          <p:cNvSpPr>
            <a:spLocks noGrp="1"/>
          </p:cNvSpPr>
          <p:nvPr/>
        </p:nvSpPr>
        <p:spPr>
          <a:xfrm>
            <a:off x="81915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1,500 sources</a:t>
            </a:r>
          </a:p>
        </p:txBody>
      </p:sp>
      <p:sp>
        <p:nvSpPr>
          <p:cNvPr id="15" name="Rettangolo con angoli arrotondati 14">
            <a:extLst>
              <a:ext uri="{FF2B5EF4-FFF2-40B4-BE49-F238E27FC236}">
                <a16:creationId xmlns:a16="http://schemas.microsoft.com/office/drawing/2014/main" id="{D680E11F-9529-4EA7-B8B2-3E7934F1DACD}"/>
              </a:ext>
            </a:extLst>
          </p:cNvPr>
          <p:cNvSpPr>
            <a:spLocks noGrp="1"/>
          </p:cNvSpPr>
          <p:nvPr/>
        </p:nvSpPr>
        <p:spPr>
          <a:xfrm>
            <a:off x="8001000" y="3409950"/>
            <a:ext cx="3048000" cy="1200150"/>
          </a:xfrm>
          <a:prstGeom prst="roundRect">
            <a:avLst>
              <a:gd name="adj" fmla="val 12698"/>
            </a:avLst>
          </a:prstGeom>
          <a:solidFill>
            <a:srgbClr val="FFF4CD"/>
          </a:solidFill>
          <a:ln w="9525">
            <a:solidFill>
              <a:srgbClr val="FFF4CD"/>
            </a:solidFill>
            <a:prstDash val="solid"/>
          </a:ln>
        </p:spPr>
        <p:txBody>
          <a:bodyPr/>
          <a:lstStyle/>
          <a:p>
            <a:endParaRPr/>
          </a:p>
        </p:txBody>
      </p:sp>
      <p:sp>
        <p:nvSpPr>
          <p:cNvPr id="16" name="Rettangolo 15">
            <a:extLst>
              <a:ext uri="{FF2B5EF4-FFF2-40B4-BE49-F238E27FC236}">
                <a16:creationId xmlns:a16="http://schemas.microsoft.com/office/drawing/2014/main" id="{2EEF2A37-33E3-4CAF-8CCD-8C45ED364321}"/>
              </a:ext>
            </a:extLst>
          </p:cNvPr>
          <p:cNvSpPr>
            <a:spLocks noGrp="1"/>
          </p:cNvSpPr>
          <p:nvPr/>
        </p:nvSpPr>
        <p:spPr>
          <a:xfrm>
            <a:off x="81915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04 · PERTURB</a:t>
            </a:r>
          </a:p>
        </p:txBody>
      </p:sp>
      <p:sp>
        <p:nvSpPr>
          <p:cNvPr id="17" name="Rettangolo 16">
            <a:extLst>
              <a:ext uri="{FF2B5EF4-FFF2-40B4-BE49-F238E27FC236}">
                <a16:creationId xmlns:a16="http://schemas.microsoft.com/office/drawing/2014/main" id="{BE58FD48-63A5-43A4-AE2D-68109E9A97B5}"/>
              </a:ext>
            </a:extLst>
          </p:cNvPr>
          <p:cNvSpPr>
            <a:spLocks noGrp="1"/>
          </p:cNvSpPr>
          <p:nvPr/>
        </p:nvSpPr>
        <p:spPr>
          <a:xfrm>
            <a:off x="81915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10,000 variants</a:t>
            </a:r>
          </a:p>
        </p:txBody>
      </p:sp>
      <p:sp>
        <p:nvSpPr>
          <p:cNvPr id="18" name="Rettangolo con angoli arrotondati 17">
            <a:extLst>
              <a:ext uri="{FF2B5EF4-FFF2-40B4-BE49-F238E27FC236}">
                <a16:creationId xmlns:a16="http://schemas.microsoft.com/office/drawing/2014/main" id="{6D80ED9B-D274-464D-8DFA-5D4EB141CE12}"/>
              </a:ext>
            </a:extLst>
          </p:cNvPr>
          <p:cNvSpPr>
            <a:spLocks noGrp="1"/>
          </p:cNvSpPr>
          <p:nvPr/>
        </p:nvSpPr>
        <p:spPr>
          <a:xfrm>
            <a:off x="4343400" y="3409950"/>
            <a:ext cx="3048000" cy="1200150"/>
          </a:xfrm>
          <a:prstGeom prst="roundRect">
            <a:avLst>
              <a:gd name="adj" fmla="val 12698"/>
            </a:avLst>
          </a:prstGeom>
          <a:solidFill>
            <a:srgbClr val="FFFFFF"/>
          </a:solidFill>
          <a:ln w="9525">
            <a:solidFill>
              <a:srgbClr val="D9DEE8"/>
            </a:solidFill>
            <a:prstDash val="solid"/>
          </a:ln>
        </p:spPr>
        <p:txBody>
          <a:bodyPr/>
          <a:lstStyle/>
          <a:p>
            <a:endParaRPr/>
          </a:p>
        </p:txBody>
      </p:sp>
      <p:sp>
        <p:nvSpPr>
          <p:cNvPr id="19" name="Rettangolo 18">
            <a:extLst>
              <a:ext uri="{FF2B5EF4-FFF2-40B4-BE49-F238E27FC236}">
                <a16:creationId xmlns:a16="http://schemas.microsoft.com/office/drawing/2014/main" id="{8C00595D-2E4C-4798-9AFA-918EB03D6CE1}"/>
              </a:ext>
            </a:extLst>
          </p:cNvPr>
          <p:cNvSpPr>
            <a:spLocks noGrp="1"/>
          </p:cNvSpPr>
          <p:nvPr/>
        </p:nvSpPr>
        <p:spPr>
          <a:xfrm>
            <a:off x="45339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05 · EVALUATE</a:t>
            </a:r>
          </a:p>
        </p:txBody>
      </p:sp>
      <p:sp>
        <p:nvSpPr>
          <p:cNvPr id="20" name="Rettangolo 19">
            <a:extLst>
              <a:ext uri="{FF2B5EF4-FFF2-40B4-BE49-F238E27FC236}">
                <a16:creationId xmlns:a16="http://schemas.microsoft.com/office/drawing/2014/main" id="{25CC8402-52F3-415B-8334-9D28329B23A7}"/>
              </a:ext>
            </a:extLst>
          </p:cNvPr>
          <p:cNvSpPr>
            <a:spLocks noGrp="1"/>
          </p:cNvSpPr>
          <p:nvPr/>
        </p:nvSpPr>
        <p:spPr>
          <a:xfrm>
            <a:off x="45339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3 proxies + 6 configs</a:t>
            </a:r>
          </a:p>
        </p:txBody>
      </p:sp>
      <p:sp>
        <p:nvSpPr>
          <p:cNvPr id="21" name="Rettangolo con angoli arrotondati 20">
            <a:extLst>
              <a:ext uri="{FF2B5EF4-FFF2-40B4-BE49-F238E27FC236}">
                <a16:creationId xmlns:a16="http://schemas.microsoft.com/office/drawing/2014/main" id="{F96800EB-DDFB-441A-ACC4-724820F4F532}"/>
              </a:ext>
            </a:extLst>
          </p:cNvPr>
          <p:cNvSpPr>
            <a:spLocks noGrp="1"/>
          </p:cNvSpPr>
          <p:nvPr/>
        </p:nvSpPr>
        <p:spPr>
          <a:xfrm>
            <a:off x="685800" y="3409950"/>
            <a:ext cx="3048000" cy="1200150"/>
          </a:xfrm>
          <a:prstGeom prst="roundRect">
            <a:avLst>
              <a:gd name="adj" fmla="val 12698"/>
            </a:avLst>
          </a:prstGeom>
          <a:solidFill>
            <a:srgbClr val="E7F8F0"/>
          </a:solidFill>
          <a:ln w="9525">
            <a:solidFill>
              <a:srgbClr val="E7F8F0"/>
            </a:solidFill>
            <a:prstDash val="solid"/>
          </a:ln>
        </p:spPr>
        <p:txBody>
          <a:bodyPr/>
          <a:lstStyle/>
          <a:p>
            <a:endParaRPr/>
          </a:p>
        </p:txBody>
      </p:sp>
      <p:sp>
        <p:nvSpPr>
          <p:cNvPr id="22" name="Rettangolo 21">
            <a:extLst>
              <a:ext uri="{FF2B5EF4-FFF2-40B4-BE49-F238E27FC236}">
                <a16:creationId xmlns:a16="http://schemas.microsoft.com/office/drawing/2014/main" id="{445E9920-1B66-4358-8F69-F6C653EC3630}"/>
              </a:ext>
            </a:extLst>
          </p:cNvPr>
          <p:cNvSpPr>
            <a:spLocks noGrp="1"/>
          </p:cNvSpPr>
          <p:nvPr/>
        </p:nvSpPr>
        <p:spPr>
          <a:xfrm>
            <a:off x="8763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06 · INTERPRET</a:t>
            </a:r>
          </a:p>
        </p:txBody>
      </p:sp>
      <p:sp>
        <p:nvSpPr>
          <p:cNvPr id="23" name="Rettangolo 22">
            <a:extLst>
              <a:ext uri="{FF2B5EF4-FFF2-40B4-BE49-F238E27FC236}">
                <a16:creationId xmlns:a16="http://schemas.microsoft.com/office/drawing/2014/main" id="{80975C52-4A62-447C-ADE4-34216CFBF10A}"/>
              </a:ext>
            </a:extLst>
          </p:cNvPr>
          <p:cNvSpPr>
            <a:spLocks noGrp="1"/>
          </p:cNvSpPr>
          <p:nvPr/>
        </p:nvSpPr>
        <p:spPr>
          <a:xfrm>
            <a:off x="8763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normalize + interpret</a:t>
            </a:r>
          </a:p>
        </p:txBody>
      </p:sp>
      <p:sp>
        <p:nvSpPr>
          <p:cNvPr id="24" name="Rettangolo 23">
            <a:extLst>
              <a:ext uri="{FF2B5EF4-FFF2-40B4-BE49-F238E27FC236}">
                <a16:creationId xmlns:a16="http://schemas.microsoft.com/office/drawing/2014/main" id="{38172E1D-A294-4F18-8D9E-59C9800F9A07}"/>
              </a:ext>
            </a:extLst>
          </p:cNvPr>
          <p:cNvSpPr>
            <a:spLocks noGrp="1"/>
          </p:cNvSpPr>
          <p:nvPr/>
        </p:nvSpPr>
        <p:spPr>
          <a:xfrm>
            <a:off x="3752850" y="18669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5" name="Rettangolo 24">
            <a:extLst>
              <a:ext uri="{FF2B5EF4-FFF2-40B4-BE49-F238E27FC236}">
                <a16:creationId xmlns:a16="http://schemas.microsoft.com/office/drawing/2014/main" id="{B0C79570-604F-4B83-988C-6FFC8922885B}"/>
              </a:ext>
            </a:extLst>
          </p:cNvPr>
          <p:cNvSpPr>
            <a:spLocks noGrp="1"/>
          </p:cNvSpPr>
          <p:nvPr/>
        </p:nvSpPr>
        <p:spPr>
          <a:xfrm>
            <a:off x="7410450" y="18669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6" name="Rettangolo 25">
            <a:extLst>
              <a:ext uri="{FF2B5EF4-FFF2-40B4-BE49-F238E27FC236}">
                <a16:creationId xmlns:a16="http://schemas.microsoft.com/office/drawing/2014/main" id="{F96F2BBD-EA80-4DB4-86CA-2A3F56F711DE}"/>
              </a:ext>
            </a:extLst>
          </p:cNvPr>
          <p:cNvSpPr>
            <a:spLocks noGrp="1"/>
          </p:cNvSpPr>
          <p:nvPr/>
        </p:nvSpPr>
        <p:spPr>
          <a:xfrm>
            <a:off x="9239250" y="28194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7" name="Rettangolo 26">
            <a:extLst>
              <a:ext uri="{FF2B5EF4-FFF2-40B4-BE49-F238E27FC236}">
                <a16:creationId xmlns:a16="http://schemas.microsoft.com/office/drawing/2014/main" id="{44084EFE-410F-44E2-89FE-E361686FEAB1}"/>
              </a:ext>
            </a:extLst>
          </p:cNvPr>
          <p:cNvSpPr>
            <a:spLocks noGrp="1"/>
          </p:cNvSpPr>
          <p:nvPr/>
        </p:nvSpPr>
        <p:spPr>
          <a:xfrm>
            <a:off x="7410450" y="375285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8" name="Rettangolo 27">
            <a:extLst>
              <a:ext uri="{FF2B5EF4-FFF2-40B4-BE49-F238E27FC236}">
                <a16:creationId xmlns:a16="http://schemas.microsoft.com/office/drawing/2014/main" id="{28D85B2B-3959-47A8-B720-64C081695514}"/>
              </a:ext>
            </a:extLst>
          </p:cNvPr>
          <p:cNvSpPr>
            <a:spLocks noGrp="1"/>
          </p:cNvSpPr>
          <p:nvPr/>
        </p:nvSpPr>
        <p:spPr>
          <a:xfrm>
            <a:off x="3752850" y="375285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9" name="Rettangolo con angoli arrotondati 28">
            <a:extLst>
              <a:ext uri="{FF2B5EF4-FFF2-40B4-BE49-F238E27FC236}">
                <a16:creationId xmlns:a16="http://schemas.microsoft.com/office/drawing/2014/main" id="{2A76AEB6-1FF2-487B-8819-3E7FBEC77FE1}"/>
              </a:ext>
            </a:extLst>
          </p:cNvPr>
          <p:cNvSpPr>
            <a:spLocks noGrp="1"/>
          </p:cNvSpPr>
          <p:nvPr/>
        </p:nvSpPr>
        <p:spPr>
          <a:xfrm>
            <a:off x="1123950" y="5181600"/>
            <a:ext cx="9944100" cy="895350"/>
          </a:xfrm>
          <a:prstGeom prst="roundRect">
            <a:avLst>
              <a:gd name="adj" fmla="val 17021"/>
            </a:avLst>
          </a:prstGeom>
          <a:solidFill>
            <a:srgbClr val="233A70"/>
          </a:solidFill>
          <a:ln w="0">
            <a:noFill/>
            <a:prstDash val="solid"/>
          </a:ln>
        </p:spPr>
        <p:txBody>
          <a:bodyPr/>
          <a:lstStyle/>
          <a:p>
            <a:endParaRPr/>
          </a:p>
        </p:txBody>
      </p:sp>
      <p:sp>
        <p:nvSpPr>
          <p:cNvPr id="30" name="Rettangolo 29">
            <a:extLst>
              <a:ext uri="{FF2B5EF4-FFF2-40B4-BE49-F238E27FC236}">
                <a16:creationId xmlns:a16="http://schemas.microsoft.com/office/drawing/2014/main" id="{E50CBE53-BF18-4A80-A29D-95B884CE3AAD}"/>
              </a:ext>
            </a:extLst>
          </p:cNvPr>
          <p:cNvSpPr>
            <a:spLocks noGrp="1"/>
          </p:cNvSpPr>
          <p:nvPr/>
        </p:nvSpPr>
        <p:spPr>
          <a:xfrm>
            <a:off x="1524000" y="5314950"/>
            <a:ext cx="9144000" cy="22860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TRACEABILITY THROUGHOUT</a:t>
            </a:r>
          </a:p>
        </p:txBody>
      </p:sp>
      <p:sp>
        <p:nvSpPr>
          <p:cNvPr id="31" name="Rettangolo 30">
            <a:extLst>
              <a:ext uri="{FF2B5EF4-FFF2-40B4-BE49-F238E27FC236}">
                <a16:creationId xmlns:a16="http://schemas.microsoft.com/office/drawing/2014/main" id="{3A3D9C14-794F-4016-9A53-92CC5AA4F5CE}"/>
              </a:ext>
            </a:extLst>
          </p:cNvPr>
          <p:cNvSpPr>
            <a:spLocks noGrp="1"/>
          </p:cNvSpPr>
          <p:nvPr/>
        </p:nvSpPr>
        <p:spPr>
          <a:xfrm>
            <a:off x="1381125" y="5676900"/>
            <a:ext cx="9429750" cy="228600"/>
          </a:xfrm>
          <a:prstGeom prst="rect">
            <a:avLst/>
          </a:prstGeom>
          <a:noFill/>
          <a:ln w="0">
            <a:noFill/>
            <a:prstDash val="solid"/>
          </a:ln>
        </p:spPr>
        <p:txBody>
          <a:bodyPr wrap="square" lIns="0" tIns="0" rIns="0" bIns="0" anchor="t">
            <a:noAutofit/>
          </a:bodyPr>
          <a:lstStyle/>
          <a:p>
            <a:pPr algn="ctr">
              <a:buNone/>
              <a:defRPr sz="1425" b="0">
                <a:solidFill>
                  <a:srgbClr val="FFFFFF"/>
                </a:solidFill>
                <a:latin typeface="Arial"/>
                <a:ea typeface="Arial"/>
                <a:cs typeface="Arial"/>
              </a:defRPr>
            </a:pPr>
            <a:r>
              <a:rPr sz="1425" b="0">
                <a:solidFill>
                  <a:srgbClr val="FFFFFF"/>
                </a:solidFill>
                <a:latin typeface="Arial"/>
                <a:ea typeface="Arial"/>
                <a:cs typeface="Arial"/>
              </a:rPr>
              <a:t>deterministic identifiers  ·  manifests  ·  checksums  ·  frozen configurations  ·  source-to-output links</a:t>
            </a:r>
          </a:p>
        </p:txBody>
      </p:sp>
    </p:spTree>
    <p:extLst>
      <p:ext uri="{BB962C8B-B14F-4D97-AF65-F5344CB8AC3E}">
        <p14:creationId xmlns:p14="http://schemas.microsoft.com/office/powerpoint/2010/main" val="485154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8F233B7B-EA32-4CE0-BCAD-4A6722324753}"/>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919E34FA-C1B9-47A3-8BA3-61812BD51E7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One population becomes 11,500 traceable files</a:t>
            </a:r>
          </a:p>
        </p:txBody>
      </p:sp>
      <p:sp>
        <p:nvSpPr>
          <p:cNvPr id="3" name="Rettangolo 2">
            <a:extLst>
              <a:ext uri="{FF2B5EF4-FFF2-40B4-BE49-F238E27FC236}">
                <a16:creationId xmlns:a16="http://schemas.microsoft.com/office/drawing/2014/main" id="{0D8F709E-76E6-4E38-8E82-5BE12BAB121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C66E610D-CF25-46AB-B840-2131076D741E}"/>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51A81E0D-402E-4998-85C6-567245A7304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04</a:t>
            </a:r>
          </a:p>
        </p:txBody>
      </p:sp>
      <p:sp>
        <p:nvSpPr>
          <p:cNvPr id="6" name="Rettangolo 5">
            <a:extLst>
              <a:ext uri="{FF2B5EF4-FFF2-40B4-BE49-F238E27FC236}">
                <a16:creationId xmlns:a16="http://schemas.microsoft.com/office/drawing/2014/main" id="{52FE96BF-C5D8-4EBB-ADFA-45DAE60C8A98}"/>
              </a:ext>
            </a:extLst>
          </p:cNvPr>
          <p:cNvSpPr>
            <a:spLocks noGrp="1"/>
          </p:cNvSpPr>
          <p:nvPr/>
        </p:nvSpPr>
        <p:spPr>
          <a:xfrm>
            <a:off x="685800" y="1390650"/>
            <a:ext cx="10820400" cy="533400"/>
          </a:xfrm>
          <a:prstGeom prst="rect">
            <a:avLst/>
          </a:prstGeom>
          <a:noFill/>
          <a:ln w="0">
            <a:noFill/>
            <a:prstDash val="solid"/>
          </a:ln>
        </p:spPr>
        <p:txBody>
          <a:bodyPr wrap="square" lIns="0" tIns="0" rIns="0" bIns="0" anchor="t">
            <a:noAutofit/>
          </a:bodyPr>
          <a:lstStyle/>
          <a:p>
            <a:pPr algn="ctr">
              <a:buNone/>
              <a:defRPr sz="3225" b="1">
                <a:solidFill>
                  <a:srgbClr val="233A70"/>
                </a:solidFill>
                <a:latin typeface="Arial"/>
                <a:ea typeface="Arial"/>
                <a:cs typeface="Arial"/>
              </a:defRPr>
            </a:pPr>
            <a:r>
              <a:rPr sz="3225" b="1">
                <a:solidFill>
                  <a:srgbClr val="233A70"/>
                </a:solidFill>
                <a:latin typeface="Arial"/>
                <a:ea typeface="Arial"/>
                <a:cs typeface="Arial"/>
              </a:rPr>
              <a:t>1,500 SOURCE IMAGES</a:t>
            </a:r>
          </a:p>
        </p:txBody>
      </p:sp>
      <p:sp>
        <p:nvSpPr>
          <p:cNvPr id="7" name="Rettangolo con angoli arrotondati 6">
            <a:extLst>
              <a:ext uri="{FF2B5EF4-FFF2-40B4-BE49-F238E27FC236}">
                <a16:creationId xmlns:a16="http://schemas.microsoft.com/office/drawing/2014/main" id="{A8148055-D97E-4B5A-9B6A-F238DC4DBA1C}"/>
              </a:ext>
            </a:extLst>
          </p:cNvPr>
          <p:cNvSpPr>
            <a:spLocks noGrp="1"/>
          </p:cNvSpPr>
          <p:nvPr/>
        </p:nvSpPr>
        <p:spPr>
          <a:xfrm>
            <a:off x="685800" y="2114550"/>
            <a:ext cx="3048000" cy="1181100"/>
          </a:xfrm>
          <a:prstGeom prst="roundRect">
            <a:avLst>
              <a:gd name="adj" fmla="val 12903"/>
            </a:avLst>
          </a:prstGeom>
          <a:solidFill>
            <a:srgbClr val="FBEAEA"/>
          </a:solidFill>
          <a:ln w="0">
            <a:noFill/>
            <a:prstDash val="solid"/>
          </a:ln>
        </p:spPr>
        <p:txBody>
          <a:bodyPr/>
          <a:lstStyle/>
          <a:p>
            <a:endParaRPr/>
          </a:p>
        </p:txBody>
      </p:sp>
      <p:sp>
        <p:nvSpPr>
          <p:cNvPr id="8" name="Rettangolo 7">
            <a:extLst>
              <a:ext uri="{FF2B5EF4-FFF2-40B4-BE49-F238E27FC236}">
                <a16:creationId xmlns:a16="http://schemas.microsoft.com/office/drawing/2014/main" id="{67CF2057-B56B-4EF8-B891-1D8A8FB5D789}"/>
              </a:ext>
            </a:extLst>
          </p:cNvPr>
          <p:cNvSpPr>
            <a:spLocks noGrp="1"/>
          </p:cNvSpPr>
          <p:nvPr/>
        </p:nvSpPr>
        <p:spPr>
          <a:xfrm>
            <a:off x="8763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BE3C37"/>
                </a:solidFill>
                <a:latin typeface="Arial"/>
                <a:ea typeface="Arial"/>
                <a:cs typeface="Arial"/>
              </a:defRPr>
            </a:pPr>
            <a:r>
              <a:rPr sz="3150" b="1">
                <a:solidFill>
                  <a:srgbClr val="BE3C37"/>
                </a:solidFill>
                <a:latin typeface="Arial"/>
                <a:ea typeface="Arial"/>
                <a:cs typeface="Arial"/>
              </a:rPr>
              <a:t>500</a:t>
            </a:r>
          </a:p>
        </p:txBody>
      </p:sp>
      <p:sp>
        <p:nvSpPr>
          <p:cNvPr id="9" name="Rettangolo 8">
            <a:extLst>
              <a:ext uri="{FF2B5EF4-FFF2-40B4-BE49-F238E27FC236}">
                <a16:creationId xmlns:a16="http://schemas.microsoft.com/office/drawing/2014/main" id="{C91F0788-58B8-4BE5-B7B6-9DA31BD87AB9}"/>
              </a:ext>
            </a:extLst>
          </p:cNvPr>
          <p:cNvSpPr>
            <a:spLocks noGrp="1"/>
          </p:cNvSpPr>
          <p:nvPr/>
        </p:nvSpPr>
        <p:spPr>
          <a:xfrm>
            <a:off x="8763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weapon</a:t>
            </a:r>
          </a:p>
        </p:txBody>
      </p:sp>
      <p:sp>
        <p:nvSpPr>
          <p:cNvPr id="10" name="Rettangolo con angoli arrotondati 9">
            <a:extLst>
              <a:ext uri="{FF2B5EF4-FFF2-40B4-BE49-F238E27FC236}">
                <a16:creationId xmlns:a16="http://schemas.microsoft.com/office/drawing/2014/main" id="{DAD1981F-B9B3-4955-8E93-2C4366243B80}"/>
              </a:ext>
            </a:extLst>
          </p:cNvPr>
          <p:cNvSpPr>
            <a:spLocks noGrp="1"/>
          </p:cNvSpPr>
          <p:nvPr/>
        </p:nvSpPr>
        <p:spPr>
          <a:xfrm>
            <a:off x="4343400" y="2114550"/>
            <a:ext cx="3048000" cy="1181100"/>
          </a:xfrm>
          <a:prstGeom prst="roundRect">
            <a:avLst>
              <a:gd name="adj" fmla="val 12903"/>
            </a:avLst>
          </a:prstGeom>
          <a:solidFill>
            <a:srgbClr val="E7F8F0"/>
          </a:solidFill>
          <a:ln w="0">
            <a:noFill/>
            <a:prstDash val="solid"/>
          </a:ln>
        </p:spPr>
        <p:txBody>
          <a:bodyPr/>
          <a:lstStyle/>
          <a:p>
            <a:endParaRPr/>
          </a:p>
        </p:txBody>
      </p:sp>
      <p:sp>
        <p:nvSpPr>
          <p:cNvPr id="11" name="Rettangolo 10">
            <a:extLst>
              <a:ext uri="{FF2B5EF4-FFF2-40B4-BE49-F238E27FC236}">
                <a16:creationId xmlns:a16="http://schemas.microsoft.com/office/drawing/2014/main" id="{F51DE534-5451-426F-8C55-A3847300037B}"/>
              </a:ext>
            </a:extLst>
          </p:cNvPr>
          <p:cNvSpPr>
            <a:spLocks noGrp="1"/>
          </p:cNvSpPr>
          <p:nvPr/>
        </p:nvSpPr>
        <p:spPr>
          <a:xfrm>
            <a:off x="45339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087A50"/>
                </a:solidFill>
                <a:latin typeface="Arial"/>
                <a:ea typeface="Arial"/>
                <a:cs typeface="Arial"/>
              </a:defRPr>
            </a:pPr>
            <a:r>
              <a:rPr sz="3150" b="1">
                <a:solidFill>
                  <a:srgbClr val="087A50"/>
                </a:solidFill>
                <a:latin typeface="Arial"/>
                <a:ea typeface="Arial"/>
                <a:cs typeface="Arial"/>
              </a:rPr>
              <a:t>500</a:t>
            </a:r>
          </a:p>
        </p:txBody>
      </p:sp>
      <p:sp>
        <p:nvSpPr>
          <p:cNvPr id="12" name="Rettangolo 11">
            <a:extLst>
              <a:ext uri="{FF2B5EF4-FFF2-40B4-BE49-F238E27FC236}">
                <a16:creationId xmlns:a16="http://schemas.microsoft.com/office/drawing/2014/main" id="{B95C25BE-E0AC-4211-88DD-AF36BE27D58C}"/>
              </a:ext>
            </a:extLst>
          </p:cNvPr>
          <p:cNvSpPr>
            <a:spLocks noGrp="1"/>
          </p:cNvSpPr>
          <p:nvPr/>
        </p:nvSpPr>
        <p:spPr>
          <a:xfrm>
            <a:off x="45339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non-weapon</a:t>
            </a:r>
          </a:p>
        </p:txBody>
      </p:sp>
      <p:sp>
        <p:nvSpPr>
          <p:cNvPr id="13" name="Rettangolo con angoli arrotondati 12">
            <a:extLst>
              <a:ext uri="{FF2B5EF4-FFF2-40B4-BE49-F238E27FC236}">
                <a16:creationId xmlns:a16="http://schemas.microsoft.com/office/drawing/2014/main" id="{AA057755-0908-41EF-9861-B5B3136090A8}"/>
              </a:ext>
            </a:extLst>
          </p:cNvPr>
          <p:cNvSpPr>
            <a:spLocks noGrp="1"/>
          </p:cNvSpPr>
          <p:nvPr/>
        </p:nvSpPr>
        <p:spPr>
          <a:xfrm>
            <a:off x="8001000" y="2114550"/>
            <a:ext cx="3048000" cy="1181100"/>
          </a:xfrm>
          <a:prstGeom prst="roundRect">
            <a:avLst>
              <a:gd name="adj" fmla="val 12903"/>
            </a:avLst>
          </a:prstGeom>
          <a:solidFill>
            <a:srgbClr val="FFF4CD"/>
          </a:solidFill>
          <a:ln w="0">
            <a:noFill/>
            <a:prstDash val="solid"/>
          </a:ln>
        </p:spPr>
        <p:txBody>
          <a:bodyPr/>
          <a:lstStyle/>
          <a:p>
            <a:endParaRPr/>
          </a:p>
        </p:txBody>
      </p:sp>
      <p:sp>
        <p:nvSpPr>
          <p:cNvPr id="14" name="Rettangolo 13">
            <a:extLst>
              <a:ext uri="{FF2B5EF4-FFF2-40B4-BE49-F238E27FC236}">
                <a16:creationId xmlns:a16="http://schemas.microsoft.com/office/drawing/2014/main" id="{FBF595D1-D2F2-4609-90AA-9836312F8BEA}"/>
              </a:ext>
            </a:extLst>
          </p:cNvPr>
          <p:cNvSpPr>
            <a:spLocks noGrp="1"/>
          </p:cNvSpPr>
          <p:nvPr/>
        </p:nvSpPr>
        <p:spPr>
          <a:xfrm>
            <a:off x="81915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C89B14"/>
                </a:solidFill>
                <a:latin typeface="Arial"/>
                <a:ea typeface="Arial"/>
                <a:cs typeface="Arial"/>
              </a:defRPr>
            </a:pPr>
            <a:r>
              <a:rPr sz="3150" b="1">
                <a:solidFill>
                  <a:srgbClr val="C89B14"/>
                </a:solidFill>
                <a:latin typeface="Arial"/>
                <a:ea typeface="Arial"/>
                <a:cs typeface="Arial"/>
              </a:rPr>
              <a:t>500</a:t>
            </a:r>
          </a:p>
        </p:txBody>
      </p:sp>
      <p:sp>
        <p:nvSpPr>
          <p:cNvPr id="15" name="Rettangolo 14">
            <a:extLst>
              <a:ext uri="{FF2B5EF4-FFF2-40B4-BE49-F238E27FC236}">
                <a16:creationId xmlns:a16="http://schemas.microsoft.com/office/drawing/2014/main" id="{CA31140D-6563-486C-A3B6-00812F0790B5}"/>
              </a:ext>
            </a:extLst>
          </p:cNvPr>
          <p:cNvSpPr>
            <a:spLocks noGrp="1"/>
          </p:cNvSpPr>
          <p:nvPr/>
        </p:nvSpPr>
        <p:spPr>
          <a:xfrm>
            <a:off x="81915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separate OOD branch</a:t>
            </a:r>
          </a:p>
        </p:txBody>
      </p:sp>
      <p:sp>
        <p:nvSpPr>
          <p:cNvPr id="16" name="Rettangolo con angoli arrotondati 15">
            <a:extLst>
              <a:ext uri="{FF2B5EF4-FFF2-40B4-BE49-F238E27FC236}">
                <a16:creationId xmlns:a16="http://schemas.microsoft.com/office/drawing/2014/main" id="{E8AE0E5F-D588-4518-BA59-676FC615A528}"/>
              </a:ext>
            </a:extLst>
          </p:cNvPr>
          <p:cNvSpPr>
            <a:spLocks noGrp="1"/>
          </p:cNvSpPr>
          <p:nvPr/>
        </p:nvSpPr>
        <p:spPr>
          <a:xfrm>
            <a:off x="685800" y="3714750"/>
            <a:ext cx="6667500" cy="1352550"/>
          </a:xfrm>
          <a:prstGeom prst="roundRect">
            <a:avLst>
              <a:gd name="adj" fmla="val 12676"/>
            </a:avLst>
          </a:prstGeom>
          <a:solidFill>
            <a:srgbClr val="E9EEF8"/>
          </a:solidFill>
          <a:ln w="0">
            <a:noFill/>
            <a:prstDash val="solid"/>
          </a:ln>
        </p:spPr>
        <p:txBody>
          <a:bodyPr/>
          <a:lstStyle/>
          <a:p>
            <a:endParaRPr/>
          </a:p>
        </p:txBody>
      </p:sp>
      <p:sp>
        <p:nvSpPr>
          <p:cNvPr id="17" name="Rettangolo 16">
            <a:extLst>
              <a:ext uri="{FF2B5EF4-FFF2-40B4-BE49-F238E27FC236}">
                <a16:creationId xmlns:a16="http://schemas.microsoft.com/office/drawing/2014/main" id="{86E49BA0-1207-489F-96D4-25FAF47B2880}"/>
              </a:ext>
            </a:extLst>
          </p:cNvPr>
          <p:cNvSpPr>
            <a:spLocks noGrp="1"/>
          </p:cNvSpPr>
          <p:nvPr/>
        </p:nvSpPr>
        <p:spPr>
          <a:xfrm>
            <a:off x="952500" y="3962400"/>
            <a:ext cx="61341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1,000 × 10 = 10,000</a:t>
            </a:r>
          </a:p>
        </p:txBody>
      </p:sp>
      <p:sp>
        <p:nvSpPr>
          <p:cNvPr id="18" name="Rettangolo 17">
            <a:extLst>
              <a:ext uri="{FF2B5EF4-FFF2-40B4-BE49-F238E27FC236}">
                <a16:creationId xmlns:a16="http://schemas.microsoft.com/office/drawing/2014/main" id="{2E908EB8-C4F4-4547-90E0-2C16671F8D2D}"/>
              </a:ext>
            </a:extLst>
          </p:cNvPr>
          <p:cNvSpPr>
            <a:spLocks noGrp="1"/>
          </p:cNvSpPr>
          <p:nvPr/>
        </p:nvSpPr>
        <p:spPr>
          <a:xfrm>
            <a:off x="952500" y="4572000"/>
            <a:ext cx="6134100" cy="266700"/>
          </a:xfrm>
          <a:prstGeom prst="rect">
            <a:avLst/>
          </a:prstGeom>
          <a:noFill/>
          <a:ln w="0">
            <a:noFill/>
            <a:prstDash val="solid"/>
          </a:ln>
        </p:spPr>
        <p:txBody>
          <a:bodyPr wrap="square" lIns="0" tIns="0" rIns="0" bIns="0" anchor="t">
            <a:noAutofit/>
          </a:bodyPr>
          <a:lstStyle/>
          <a:p>
            <a:pPr algn="ctr">
              <a:buNone/>
              <a:defRPr sz="1575" b="0">
                <a:solidFill>
                  <a:srgbClr val="5B6577"/>
                </a:solidFill>
                <a:latin typeface="Arial"/>
                <a:ea typeface="Arial"/>
                <a:cs typeface="Arial"/>
              </a:defRPr>
            </a:pPr>
            <a:r>
              <a:rPr sz="1575" b="0">
                <a:solidFill>
                  <a:srgbClr val="5B6577"/>
                </a:solidFill>
                <a:latin typeface="Arial"/>
                <a:ea typeface="Arial"/>
                <a:cs typeface="Arial"/>
              </a:rPr>
              <a:t>linked adversarial and anti-forensic variants</a:t>
            </a:r>
          </a:p>
        </p:txBody>
      </p:sp>
      <p:sp>
        <p:nvSpPr>
          <p:cNvPr id="19" name="Rettangolo con angoli arrotondati 18">
            <a:extLst>
              <a:ext uri="{FF2B5EF4-FFF2-40B4-BE49-F238E27FC236}">
                <a16:creationId xmlns:a16="http://schemas.microsoft.com/office/drawing/2014/main" id="{493E70C3-409B-43B7-A636-07BDD643C977}"/>
              </a:ext>
            </a:extLst>
          </p:cNvPr>
          <p:cNvSpPr>
            <a:spLocks noGrp="1"/>
          </p:cNvSpPr>
          <p:nvPr/>
        </p:nvSpPr>
        <p:spPr>
          <a:xfrm>
            <a:off x="7734300" y="3714750"/>
            <a:ext cx="3771900" cy="1352550"/>
          </a:xfrm>
          <a:prstGeom prst="roundRect">
            <a:avLst>
              <a:gd name="adj" fmla="val 12676"/>
            </a:avLst>
          </a:prstGeom>
          <a:solidFill>
            <a:srgbClr val="233A70"/>
          </a:solidFill>
          <a:ln w="0">
            <a:noFill/>
            <a:prstDash val="solid"/>
          </a:ln>
        </p:spPr>
        <p:txBody>
          <a:bodyPr/>
          <a:lstStyle/>
          <a:p>
            <a:endParaRPr/>
          </a:p>
        </p:txBody>
      </p:sp>
      <p:sp>
        <p:nvSpPr>
          <p:cNvPr id="20" name="Rettangolo 19">
            <a:extLst>
              <a:ext uri="{FF2B5EF4-FFF2-40B4-BE49-F238E27FC236}">
                <a16:creationId xmlns:a16="http://schemas.microsoft.com/office/drawing/2014/main" id="{CFA7B9EC-C8CD-4FB2-B247-F8C9592B3AAE}"/>
              </a:ext>
            </a:extLst>
          </p:cNvPr>
          <p:cNvSpPr>
            <a:spLocks noGrp="1"/>
          </p:cNvSpPr>
          <p:nvPr/>
        </p:nvSpPr>
        <p:spPr>
          <a:xfrm>
            <a:off x="8001000" y="3924300"/>
            <a:ext cx="3238500" cy="514350"/>
          </a:xfrm>
          <a:prstGeom prst="rect">
            <a:avLst/>
          </a:prstGeom>
          <a:noFill/>
          <a:ln w="0">
            <a:noFill/>
            <a:prstDash val="solid"/>
          </a:ln>
        </p:spPr>
        <p:txBody>
          <a:bodyPr wrap="square" lIns="0" tIns="0" rIns="0" bIns="0" anchor="t">
            <a:noAutofit/>
          </a:bodyPr>
          <a:lstStyle/>
          <a:p>
            <a:pPr algn="ctr">
              <a:buNone/>
              <a:defRPr sz="3450" b="1">
                <a:solidFill>
                  <a:srgbClr val="FFFFFF"/>
                </a:solidFill>
                <a:latin typeface="Arial"/>
                <a:ea typeface="Arial"/>
                <a:cs typeface="Arial"/>
              </a:defRPr>
            </a:pPr>
            <a:r>
              <a:rPr sz="3450" b="1">
                <a:solidFill>
                  <a:srgbClr val="FFFFFF"/>
                </a:solidFill>
                <a:latin typeface="Arial"/>
                <a:ea typeface="Arial"/>
                <a:cs typeface="Arial"/>
              </a:rPr>
              <a:t>11,500</a:t>
            </a:r>
          </a:p>
        </p:txBody>
      </p:sp>
      <p:sp>
        <p:nvSpPr>
          <p:cNvPr id="21" name="Rettangolo 20">
            <a:extLst>
              <a:ext uri="{FF2B5EF4-FFF2-40B4-BE49-F238E27FC236}">
                <a16:creationId xmlns:a16="http://schemas.microsoft.com/office/drawing/2014/main" id="{C59CA103-07C3-4D93-ABAE-B985C7F5307B}"/>
              </a:ext>
            </a:extLst>
          </p:cNvPr>
          <p:cNvSpPr>
            <a:spLocks noGrp="1"/>
          </p:cNvSpPr>
          <p:nvPr/>
        </p:nvSpPr>
        <p:spPr>
          <a:xfrm>
            <a:off x="8001000" y="4572000"/>
            <a:ext cx="3238500" cy="266700"/>
          </a:xfrm>
          <a:prstGeom prst="rect">
            <a:avLst/>
          </a:prstGeom>
          <a:noFill/>
          <a:ln w="0">
            <a:noFill/>
            <a:prstDash val="solid"/>
          </a:ln>
        </p:spPr>
        <p:txBody>
          <a:bodyPr wrap="square" lIns="0" tIns="0" rIns="0" bIns="0" anchor="t">
            <a:noAutofit/>
          </a:bodyPr>
          <a:lstStyle/>
          <a:p>
            <a:pPr algn="ctr">
              <a:buNone/>
              <a:defRPr sz="1650" b="1">
                <a:solidFill>
                  <a:srgbClr val="14B978"/>
                </a:solidFill>
                <a:latin typeface="Arial"/>
                <a:ea typeface="Arial"/>
                <a:cs typeface="Arial"/>
              </a:defRPr>
            </a:pPr>
            <a:r>
              <a:rPr sz="1650" b="1">
                <a:solidFill>
                  <a:srgbClr val="14B978"/>
                </a:solidFill>
                <a:latin typeface="Arial"/>
                <a:ea typeface="Arial"/>
                <a:cs typeface="Arial"/>
              </a:rPr>
              <a:t>tool-facing files</a:t>
            </a:r>
          </a:p>
        </p:txBody>
      </p:sp>
      <p:sp>
        <p:nvSpPr>
          <p:cNvPr id="22" name="Rettangolo 21">
            <a:extLst>
              <a:ext uri="{FF2B5EF4-FFF2-40B4-BE49-F238E27FC236}">
                <a16:creationId xmlns:a16="http://schemas.microsoft.com/office/drawing/2014/main" id="{97064189-DD4E-40F9-A7D8-F52355D532F4}"/>
              </a:ext>
            </a:extLst>
          </p:cNvPr>
          <p:cNvSpPr>
            <a:spLocks noGrp="1"/>
          </p:cNvSpPr>
          <p:nvPr/>
        </p:nvSpPr>
        <p:spPr>
          <a:xfrm>
            <a:off x="1428750" y="5448300"/>
            <a:ext cx="9334500" cy="304800"/>
          </a:xfrm>
          <a:prstGeom prst="rect">
            <a:avLst/>
          </a:prstGeom>
          <a:noFill/>
          <a:ln w="0">
            <a:noFill/>
            <a:prstDash val="solid"/>
          </a:ln>
        </p:spPr>
        <p:txBody>
          <a:bodyPr wrap="square" lIns="0" tIns="0" rIns="0" bIns="0" anchor="t">
            <a:noAutofit/>
          </a:bodyPr>
          <a:lstStyle/>
          <a:p>
            <a:pPr algn="ctr">
              <a:buNone/>
              <a:defRPr sz="1500" b="1">
                <a:solidFill>
                  <a:srgbClr val="5B6577"/>
                </a:solidFill>
                <a:latin typeface="Arial"/>
                <a:ea typeface="Arial"/>
                <a:cs typeface="Arial"/>
              </a:defRPr>
            </a:pPr>
            <a:r>
              <a:rPr sz="1500" b="1">
                <a:solidFill>
                  <a:srgbClr val="5B6577"/>
                </a:solidFill>
                <a:latin typeface="Arial"/>
                <a:ea typeface="Arial"/>
                <a:cs typeface="Arial"/>
              </a:rPr>
              <a:t>The manipulated files are linked source–condition variants—not 10,000 independent cases.</a:t>
            </a:r>
          </a:p>
        </p:txBody>
      </p:sp>
      <p:sp>
        <p:nvSpPr>
          <p:cNvPr id="23" name="Rettangolo 22">
            <a:extLst>
              <a:ext uri="{FF2B5EF4-FFF2-40B4-BE49-F238E27FC236}">
                <a16:creationId xmlns:a16="http://schemas.microsoft.com/office/drawing/2014/main" id="{54B01487-7E01-457B-8FE5-D55CB28A858C}"/>
              </a:ext>
            </a:extLst>
          </p:cNvPr>
          <p:cNvSpPr>
            <a:spLocks noGrp="1"/>
          </p:cNvSpPr>
          <p:nvPr/>
        </p:nvSpPr>
        <p:spPr>
          <a:xfrm>
            <a:off x="1714500" y="5829300"/>
            <a:ext cx="87630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OOD is evaluated separately and is not a third supervised class.</a:t>
            </a:r>
          </a:p>
        </p:txBody>
      </p:sp>
    </p:spTree>
    <p:extLst>
      <p:ext uri="{BB962C8B-B14F-4D97-AF65-F5344CB8AC3E}">
        <p14:creationId xmlns:p14="http://schemas.microsoft.com/office/powerpoint/2010/main" val="714570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8A9DF18E-4042-467C-97B9-4589B37E30B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913CC87C-9B72-4C2C-AD30-2FB203B4699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Two evidence levels, one experimental basis</a:t>
            </a:r>
          </a:p>
        </p:txBody>
      </p:sp>
      <p:sp>
        <p:nvSpPr>
          <p:cNvPr id="3" name="Rettangolo 2">
            <a:extLst>
              <a:ext uri="{FF2B5EF4-FFF2-40B4-BE49-F238E27FC236}">
                <a16:creationId xmlns:a16="http://schemas.microsoft.com/office/drawing/2014/main" id="{BCB0685F-E48D-4052-8734-E6910A0E4C4F}"/>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4F4A7D0-C37E-4471-9B99-5FD96688AE1B}"/>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4A482C16-A30B-415B-84DE-F197B421E064}"/>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05</a:t>
            </a:r>
          </a:p>
        </p:txBody>
      </p:sp>
      <p:sp>
        <p:nvSpPr>
          <p:cNvPr id="6" name="Rettangolo con angoli arrotondati 5">
            <a:extLst>
              <a:ext uri="{FF2B5EF4-FFF2-40B4-BE49-F238E27FC236}">
                <a16:creationId xmlns:a16="http://schemas.microsoft.com/office/drawing/2014/main" id="{19694DF6-BA12-4007-B98D-CE24074B6695}"/>
              </a:ext>
            </a:extLst>
          </p:cNvPr>
          <p:cNvSpPr>
            <a:spLocks noGrp="1"/>
          </p:cNvSpPr>
          <p:nvPr/>
        </p:nvSpPr>
        <p:spPr>
          <a:xfrm>
            <a:off x="685800" y="1409700"/>
            <a:ext cx="5143500" cy="2705100"/>
          </a:xfrm>
          <a:prstGeom prst="roundRect">
            <a:avLst>
              <a:gd name="adj" fmla="val 6338"/>
            </a:avLst>
          </a:prstGeom>
          <a:solidFill>
            <a:srgbClr val="E9EEF8"/>
          </a:solidFill>
          <a:ln w="0">
            <a:noFill/>
            <a:prstDash val="solid"/>
          </a:ln>
        </p:spPr>
        <p:txBody>
          <a:bodyPr/>
          <a:lstStyle/>
          <a:p>
            <a:endParaRPr/>
          </a:p>
        </p:txBody>
      </p:sp>
      <p:sp>
        <p:nvSpPr>
          <p:cNvPr id="7" name="Rettangolo 6">
            <a:extLst>
              <a:ext uri="{FF2B5EF4-FFF2-40B4-BE49-F238E27FC236}">
                <a16:creationId xmlns:a16="http://schemas.microsoft.com/office/drawing/2014/main" id="{C754D5C3-C7C7-47E3-B4A6-F28E654F1A1F}"/>
              </a:ext>
            </a:extLst>
          </p:cNvPr>
          <p:cNvSpPr>
            <a:spLocks noGrp="1"/>
          </p:cNvSpPr>
          <p:nvPr/>
        </p:nvSpPr>
        <p:spPr>
          <a:xfrm>
            <a:off x="990600" y="1657350"/>
            <a:ext cx="4533900" cy="285750"/>
          </a:xfrm>
          <a:prstGeom prst="rect">
            <a:avLst/>
          </a:prstGeom>
          <a:noFill/>
          <a:ln w="0">
            <a:noFill/>
            <a:prstDash val="solid"/>
          </a:ln>
        </p:spPr>
        <p:txBody>
          <a:bodyPr wrap="square" lIns="0" tIns="0" rIns="0" bIns="0" anchor="t">
            <a:noAutofit/>
          </a:bodyPr>
          <a:lstStyle/>
          <a:p>
            <a:pPr algn="l">
              <a:buNone/>
              <a:defRPr sz="1350" b="1">
                <a:solidFill>
                  <a:srgbClr val="233A70"/>
                </a:solidFill>
                <a:latin typeface="Arial"/>
                <a:ea typeface="Arial"/>
                <a:cs typeface="Arial"/>
              </a:defRPr>
            </a:pPr>
            <a:r>
              <a:rPr sz="1350" b="1">
                <a:solidFill>
                  <a:srgbClr val="233A70"/>
                </a:solidFill>
                <a:latin typeface="Arial"/>
                <a:ea typeface="Arial"/>
                <a:cs typeface="Arial"/>
              </a:rPr>
              <a:t>TRANSPARENT PROXIES</a:t>
            </a:r>
          </a:p>
        </p:txBody>
      </p:sp>
      <p:sp>
        <p:nvSpPr>
          <p:cNvPr id="8" name="Rettangolo 7">
            <a:extLst>
              <a:ext uri="{FF2B5EF4-FFF2-40B4-BE49-F238E27FC236}">
                <a16:creationId xmlns:a16="http://schemas.microsoft.com/office/drawing/2014/main" id="{DFFB7302-4FE1-4F8C-B8DE-30ECA9608832}"/>
              </a:ext>
            </a:extLst>
          </p:cNvPr>
          <p:cNvSpPr>
            <a:spLocks noGrp="1"/>
          </p:cNvSpPr>
          <p:nvPr/>
        </p:nvSpPr>
        <p:spPr>
          <a:xfrm>
            <a:off x="990600" y="2114550"/>
            <a:ext cx="2857500" cy="1181100"/>
          </a:xfrm>
          <a:prstGeom prst="rect">
            <a:avLst/>
          </a:prstGeom>
          <a:noFill/>
          <a:ln w="0">
            <a:noFill/>
            <a:prstDash val="solid"/>
          </a:ln>
        </p:spPr>
        <p:txBody>
          <a:bodyPr wrap="square" lIns="0" tIns="0" rIns="0" bIns="0" anchor="t">
            <a:noAutofit/>
          </a:bodyPr>
          <a:lstStyle/>
          <a:p>
            <a:pPr algn="l">
              <a:buNone/>
              <a:defRPr sz="2250" b="1">
                <a:solidFill>
                  <a:srgbClr val="172033"/>
                </a:solidFill>
                <a:latin typeface="Arial"/>
                <a:ea typeface="Arial"/>
                <a:cs typeface="Arial"/>
              </a:defRPr>
            </a:pPr>
            <a:r>
              <a:rPr sz="2250" b="1">
                <a:solidFill>
                  <a:srgbClr val="172033"/>
                </a:solidFill>
                <a:latin typeface="Arial"/>
                <a:ea typeface="Arial"/>
                <a:cs typeface="Arial"/>
              </a:rPr>
              <a:t>EfficientNet-B0</a:t>
            </a:r>
          </a:p>
          <a:p>
            <a:pPr algn="l">
              <a:buNone/>
              <a:defRPr sz="2250" b="1">
                <a:solidFill>
                  <a:srgbClr val="172033"/>
                </a:solidFill>
                <a:latin typeface="Arial"/>
                <a:ea typeface="Arial"/>
                <a:cs typeface="Arial"/>
              </a:defRPr>
            </a:pPr>
            <a:r>
              <a:rPr sz="2250" b="1">
                <a:solidFill>
                  <a:srgbClr val="172033"/>
                </a:solidFill>
                <a:latin typeface="Arial"/>
                <a:ea typeface="Arial"/>
                <a:cs typeface="Arial"/>
              </a:rPr>
              <a:t>ResNet18</a:t>
            </a:r>
          </a:p>
          <a:p>
            <a:pPr algn="l">
              <a:buNone/>
              <a:defRPr sz="2250" b="1">
                <a:solidFill>
                  <a:srgbClr val="172033"/>
                </a:solidFill>
                <a:latin typeface="Arial"/>
                <a:ea typeface="Arial"/>
                <a:cs typeface="Arial"/>
              </a:defRPr>
            </a:pPr>
            <a:r>
              <a:rPr sz="2250" b="1">
                <a:solidFill>
                  <a:srgbClr val="172033"/>
                </a:solidFill>
                <a:latin typeface="Arial"/>
                <a:ea typeface="Arial"/>
                <a:cs typeface="Arial"/>
              </a:rPr>
              <a:t>CLIP-based proxy</a:t>
            </a:r>
          </a:p>
        </p:txBody>
      </p:sp>
      <p:sp>
        <p:nvSpPr>
          <p:cNvPr id="9" name="Rettangolo 8">
            <a:extLst>
              <a:ext uri="{FF2B5EF4-FFF2-40B4-BE49-F238E27FC236}">
                <a16:creationId xmlns:a16="http://schemas.microsoft.com/office/drawing/2014/main" id="{2C5E08B1-D6FC-4045-B482-500474653204}"/>
              </a:ext>
            </a:extLst>
          </p:cNvPr>
          <p:cNvSpPr>
            <a:spLocks noGrp="1"/>
          </p:cNvSpPr>
          <p:nvPr/>
        </p:nvSpPr>
        <p:spPr>
          <a:xfrm>
            <a:off x="990600" y="3524250"/>
            <a:ext cx="4286250" cy="361950"/>
          </a:xfrm>
          <a:prstGeom prst="rect">
            <a:avLst/>
          </a:prstGeom>
          <a:noFill/>
          <a:ln w="0">
            <a:noFill/>
            <a:prstDash val="solid"/>
          </a:ln>
        </p:spPr>
        <p:txBody>
          <a:bodyPr wrap="square" lIns="0" tIns="0" rIns="0" bIns="0" anchor="t">
            <a:noAutofit/>
          </a:bodyPr>
          <a:lstStyle/>
          <a:p>
            <a:pPr algn="l">
              <a:buNone/>
              <a:defRPr sz="1350" b="0">
                <a:solidFill>
                  <a:srgbClr val="5B6577"/>
                </a:solidFill>
                <a:latin typeface="Arial"/>
                <a:ea typeface="Arial"/>
                <a:cs typeface="Arial"/>
              </a:defRPr>
            </a:pPr>
            <a:r>
              <a:rPr sz="1350" b="0">
                <a:solidFill>
                  <a:srgbClr val="5B6577"/>
                </a:solidFill>
                <a:latin typeface="Arial"/>
                <a:ea typeface="Arial"/>
                <a:cs typeface="Arial"/>
              </a:rPr>
              <a:t>Inspectable predictions · gradients · fold-aware checkpoints</a:t>
            </a:r>
          </a:p>
        </p:txBody>
      </p:sp>
      <p:sp>
        <p:nvSpPr>
          <p:cNvPr id="10" name="Rettangolo con angoli arrotondati 9">
            <a:extLst>
              <a:ext uri="{FF2B5EF4-FFF2-40B4-BE49-F238E27FC236}">
                <a16:creationId xmlns:a16="http://schemas.microsoft.com/office/drawing/2014/main" id="{98A93300-E588-4524-BF87-E02F18B50A9D}"/>
              </a:ext>
            </a:extLst>
          </p:cNvPr>
          <p:cNvSpPr>
            <a:spLocks noGrp="1"/>
          </p:cNvSpPr>
          <p:nvPr/>
        </p:nvSpPr>
        <p:spPr>
          <a:xfrm>
            <a:off x="6362700" y="1409700"/>
            <a:ext cx="5143500" cy="2705100"/>
          </a:xfrm>
          <a:prstGeom prst="roundRect">
            <a:avLst>
              <a:gd name="adj" fmla="val 6338"/>
            </a:avLst>
          </a:prstGeom>
          <a:solidFill>
            <a:srgbClr val="FFFFFF"/>
          </a:solidFill>
          <a:ln w="9525">
            <a:solidFill>
              <a:srgbClr val="D9DEE8"/>
            </a:solidFill>
            <a:prstDash val="solid"/>
          </a:ln>
        </p:spPr>
        <p:txBody>
          <a:bodyPr/>
          <a:lstStyle/>
          <a:p>
            <a:endParaRPr/>
          </a:p>
        </p:txBody>
      </p:sp>
      <p:sp>
        <p:nvSpPr>
          <p:cNvPr id="11" name="Rettangolo 10">
            <a:extLst>
              <a:ext uri="{FF2B5EF4-FFF2-40B4-BE49-F238E27FC236}">
                <a16:creationId xmlns:a16="http://schemas.microsoft.com/office/drawing/2014/main" id="{56EC00C9-A240-4103-BF94-6EB97877400B}"/>
              </a:ext>
            </a:extLst>
          </p:cNvPr>
          <p:cNvSpPr>
            <a:spLocks noGrp="1"/>
          </p:cNvSpPr>
          <p:nvPr/>
        </p:nvSpPr>
        <p:spPr>
          <a:xfrm>
            <a:off x="6667500" y="1657350"/>
            <a:ext cx="4533900" cy="285750"/>
          </a:xfrm>
          <a:prstGeom prst="rect">
            <a:avLst/>
          </a:prstGeom>
          <a:noFill/>
          <a:ln w="0">
            <a:noFill/>
            <a:prstDash val="solid"/>
          </a:ln>
        </p:spPr>
        <p:txBody>
          <a:bodyPr wrap="square" lIns="0" tIns="0" rIns="0" bIns="0" anchor="t">
            <a:noAutofit/>
          </a:bodyPr>
          <a:lstStyle/>
          <a:p>
            <a:pPr algn="l">
              <a:buNone/>
              <a:defRPr sz="1350" b="1">
                <a:solidFill>
                  <a:srgbClr val="233A70"/>
                </a:solidFill>
                <a:latin typeface="Arial"/>
                <a:ea typeface="Arial"/>
                <a:cs typeface="Arial"/>
              </a:defRPr>
            </a:pPr>
            <a:r>
              <a:rPr sz="1350" b="1">
                <a:solidFill>
                  <a:srgbClr val="233A70"/>
                </a:solidFill>
                <a:latin typeface="Arial"/>
                <a:ea typeface="Arial"/>
                <a:cs typeface="Arial"/>
              </a:rPr>
              <a:t>BLACK-BOX SOFTWARE · 4 SYSTEMS / 6 CONFIGURATIONS</a:t>
            </a:r>
          </a:p>
        </p:txBody>
      </p:sp>
      <p:sp>
        <p:nvSpPr>
          <p:cNvPr id="12" name="Rettangolo 11">
            <a:extLst>
              <a:ext uri="{FF2B5EF4-FFF2-40B4-BE49-F238E27FC236}">
                <a16:creationId xmlns:a16="http://schemas.microsoft.com/office/drawing/2014/main" id="{4EB6323D-5229-4FB7-99FB-3FC21DAEEEBD}"/>
              </a:ext>
            </a:extLst>
          </p:cNvPr>
          <p:cNvSpPr>
            <a:spLocks noGrp="1"/>
          </p:cNvSpPr>
          <p:nvPr/>
        </p:nvSpPr>
        <p:spPr>
          <a:xfrm>
            <a:off x="6667500" y="2114550"/>
            <a:ext cx="4333875" cy="1428750"/>
          </a:xfrm>
          <a:prstGeom prst="rect">
            <a:avLst/>
          </a:prstGeom>
          <a:noFill/>
          <a:ln w="0">
            <a:noFill/>
            <a:prstDash val="solid"/>
          </a:ln>
        </p:spPr>
        <p:txBody>
          <a:bodyPr wrap="square" lIns="0" tIns="0" rIns="0" bIns="0" anchor="t">
            <a:noAutofit/>
          </a:bodyPr>
          <a:lstStyle/>
          <a:p>
            <a:pPr algn="l">
              <a:buNone/>
              <a:defRPr sz="1725" b="1">
                <a:solidFill>
                  <a:srgbClr val="172033"/>
                </a:solidFill>
                <a:latin typeface="Arial"/>
                <a:ea typeface="Arial"/>
                <a:cs typeface="Arial"/>
              </a:defRPr>
            </a:pPr>
            <a:r>
              <a:rPr sz="1725" b="1">
                <a:solidFill>
                  <a:srgbClr val="172033"/>
                </a:solidFill>
                <a:latin typeface="Arial"/>
                <a:ea typeface="Arial"/>
                <a:cs typeface="Arial"/>
              </a:rPr>
              <a:t>Magnet AXIOM / Magnet.AI</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Excire Foto 2025 · D20 / D50 / D80</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Cellebrite Inseyets</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Magnet Griffeye / T3K CORE</a:t>
            </a:r>
          </a:p>
        </p:txBody>
      </p:sp>
      <p:sp>
        <p:nvSpPr>
          <p:cNvPr id="13" name="Rettangolo 12">
            <a:extLst>
              <a:ext uri="{FF2B5EF4-FFF2-40B4-BE49-F238E27FC236}">
                <a16:creationId xmlns:a16="http://schemas.microsoft.com/office/drawing/2014/main" id="{1940F821-DB94-4198-A67D-0F34539A9B01}"/>
              </a:ext>
            </a:extLst>
          </p:cNvPr>
          <p:cNvSpPr>
            <a:spLocks noGrp="1"/>
          </p:cNvSpPr>
          <p:nvPr/>
        </p:nvSpPr>
        <p:spPr>
          <a:xfrm>
            <a:off x="6667500" y="3657600"/>
            <a:ext cx="4286250" cy="323850"/>
          </a:xfrm>
          <a:prstGeom prst="rect">
            <a:avLst/>
          </a:prstGeom>
          <a:noFill/>
          <a:ln w="0">
            <a:noFill/>
            <a:prstDash val="solid"/>
          </a:ln>
        </p:spPr>
        <p:txBody>
          <a:bodyPr wrap="square" lIns="0" tIns="0" rIns="0" bIns="0" anchor="t">
            <a:noAutofit/>
          </a:bodyPr>
          <a:lstStyle/>
          <a:p>
            <a:pPr algn="l">
              <a:buNone/>
              <a:defRPr sz="1350" b="0">
                <a:solidFill>
                  <a:srgbClr val="5B6577"/>
                </a:solidFill>
                <a:latin typeface="Arial"/>
                <a:ea typeface="Arial"/>
                <a:cs typeface="Arial"/>
              </a:defRPr>
            </a:pPr>
            <a:r>
              <a:rPr sz="1350" b="0">
                <a:solidFill>
                  <a:srgbClr val="5B6577"/>
                </a:solidFill>
                <a:latin typeface="Arial"/>
                <a:ea typeface="Arial"/>
                <a:cs typeface="Arial"/>
              </a:rPr>
              <a:t>Observable tags · bookmarks · labels · semantic retrieval</a:t>
            </a:r>
          </a:p>
        </p:txBody>
      </p:sp>
      <p:sp>
        <p:nvSpPr>
          <p:cNvPr id="14" name="Rettangolo 13">
            <a:extLst>
              <a:ext uri="{FF2B5EF4-FFF2-40B4-BE49-F238E27FC236}">
                <a16:creationId xmlns:a16="http://schemas.microsoft.com/office/drawing/2014/main" id="{88C109F7-273D-459C-BB14-90A9205313D4}"/>
              </a:ext>
            </a:extLst>
          </p:cNvPr>
          <p:cNvSpPr>
            <a:spLocks noGrp="1"/>
          </p:cNvSpPr>
          <p:nvPr/>
        </p:nvSpPr>
        <p:spPr>
          <a:xfrm>
            <a:off x="685800" y="4457700"/>
            <a:ext cx="10820400" cy="24765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THREAT-MODEL PATHS</a:t>
            </a:r>
          </a:p>
        </p:txBody>
      </p:sp>
      <p:sp>
        <p:nvSpPr>
          <p:cNvPr id="15" name="Rettangolo con angoli arrotondati 14">
            <a:extLst>
              <a:ext uri="{FF2B5EF4-FFF2-40B4-BE49-F238E27FC236}">
                <a16:creationId xmlns:a16="http://schemas.microsoft.com/office/drawing/2014/main" id="{D0FAD262-96F1-4338-83F7-F0766FE9CDD5}"/>
              </a:ext>
            </a:extLst>
          </p:cNvPr>
          <p:cNvSpPr>
            <a:spLocks noGrp="1"/>
          </p:cNvSpPr>
          <p:nvPr/>
        </p:nvSpPr>
        <p:spPr>
          <a:xfrm>
            <a:off x="685800" y="4857750"/>
            <a:ext cx="3505200" cy="1104900"/>
          </a:xfrm>
          <a:prstGeom prst="roundRect">
            <a:avLst>
              <a:gd name="adj" fmla="val 12069"/>
            </a:avLst>
          </a:prstGeom>
          <a:solidFill>
            <a:srgbClr val="FBEAEA"/>
          </a:solidFill>
          <a:ln w="0">
            <a:noFill/>
            <a:prstDash val="solid"/>
          </a:ln>
        </p:spPr>
        <p:txBody>
          <a:bodyPr/>
          <a:lstStyle/>
          <a:p>
            <a:endParaRPr/>
          </a:p>
        </p:txBody>
      </p:sp>
      <p:sp>
        <p:nvSpPr>
          <p:cNvPr id="16" name="Rettangolo 15">
            <a:extLst>
              <a:ext uri="{FF2B5EF4-FFF2-40B4-BE49-F238E27FC236}">
                <a16:creationId xmlns:a16="http://schemas.microsoft.com/office/drawing/2014/main" id="{A1BC2A9B-3EA3-421B-B9EF-D8552CAA31A6}"/>
              </a:ext>
            </a:extLst>
          </p:cNvPr>
          <p:cNvSpPr>
            <a:spLocks noGrp="1"/>
          </p:cNvSpPr>
          <p:nvPr/>
        </p:nvSpPr>
        <p:spPr>
          <a:xfrm>
            <a:off x="8572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BE3C37"/>
                </a:solidFill>
                <a:latin typeface="Arial"/>
                <a:ea typeface="Arial"/>
                <a:cs typeface="Arial"/>
              </a:defRPr>
            </a:pPr>
            <a:r>
              <a:rPr sz="1350" b="1">
                <a:solidFill>
                  <a:srgbClr val="BE3C37"/>
                </a:solidFill>
                <a:latin typeface="Arial"/>
                <a:ea typeface="Arial"/>
                <a:cs typeface="Arial"/>
              </a:rPr>
              <a:t>DIRECT TARGET</a:t>
            </a:r>
          </a:p>
        </p:txBody>
      </p:sp>
      <p:sp>
        <p:nvSpPr>
          <p:cNvPr id="17" name="Rettangolo 16">
            <a:extLst>
              <a:ext uri="{FF2B5EF4-FFF2-40B4-BE49-F238E27FC236}">
                <a16:creationId xmlns:a16="http://schemas.microsoft.com/office/drawing/2014/main" id="{F37C7E16-C6EA-40E2-8936-26BD745EF6C6}"/>
              </a:ext>
            </a:extLst>
          </p:cNvPr>
          <p:cNvSpPr>
            <a:spLocks noGrp="1"/>
          </p:cNvSpPr>
          <p:nvPr/>
        </p:nvSpPr>
        <p:spPr>
          <a:xfrm>
            <a:off x="9144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Model-dependent attacks evaluated on EfficientNet-B0</a:t>
            </a:r>
          </a:p>
        </p:txBody>
      </p:sp>
      <p:sp>
        <p:nvSpPr>
          <p:cNvPr id="18" name="Rettangolo con angoli arrotondati 17">
            <a:extLst>
              <a:ext uri="{FF2B5EF4-FFF2-40B4-BE49-F238E27FC236}">
                <a16:creationId xmlns:a16="http://schemas.microsoft.com/office/drawing/2014/main" id="{FC128AEF-92C5-4E35-BDB3-6D38879C6AD4}"/>
              </a:ext>
            </a:extLst>
          </p:cNvPr>
          <p:cNvSpPr>
            <a:spLocks noGrp="1"/>
          </p:cNvSpPr>
          <p:nvPr/>
        </p:nvSpPr>
        <p:spPr>
          <a:xfrm>
            <a:off x="4343400" y="4857750"/>
            <a:ext cx="3505200" cy="1104900"/>
          </a:xfrm>
          <a:prstGeom prst="roundRect">
            <a:avLst>
              <a:gd name="adj" fmla="val 12069"/>
            </a:avLst>
          </a:prstGeom>
          <a:solidFill>
            <a:srgbClr val="FFF4CD"/>
          </a:solidFill>
          <a:ln w="0">
            <a:noFill/>
            <a:prstDash val="solid"/>
          </a:ln>
        </p:spPr>
        <p:txBody>
          <a:bodyPr/>
          <a:lstStyle/>
          <a:p>
            <a:endParaRPr/>
          </a:p>
        </p:txBody>
      </p:sp>
      <p:sp>
        <p:nvSpPr>
          <p:cNvPr id="19" name="Rettangolo 18">
            <a:extLst>
              <a:ext uri="{FF2B5EF4-FFF2-40B4-BE49-F238E27FC236}">
                <a16:creationId xmlns:a16="http://schemas.microsoft.com/office/drawing/2014/main" id="{2CE88DA7-3406-417C-9434-A21622865CD5}"/>
              </a:ext>
            </a:extLst>
          </p:cNvPr>
          <p:cNvSpPr>
            <a:spLocks noGrp="1"/>
          </p:cNvSpPr>
          <p:nvPr/>
        </p:nvSpPr>
        <p:spPr>
          <a:xfrm>
            <a:off x="45148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EMPIRICAL TRANSFER</a:t>
            </a:r>
          </a:p>
        </p:txBody>
      </p:sp>
      <p:sp>
        <p:nvSpPr>
          <p:cNvPr id="20" name="Rettangolo 19">
            <a:extLst>
              <a:ext uri="{FF2B5EF4-FFF2-40B4-BE49-F238E27FC236}">
                <a16:creationId xmlns:a16="http://schemas.microsoft.com/office/drawing/2014/main" id="{3B11CD2C-E9E6-4F62-8369-743441D1FC5E}"/>
              </a:ext>
            </a:extLst>
          </p:cNvPr>
          <p:cNvSpPr>
            <a:spLocks noGrp="1"/>
          </p:cNvSpPr>
          <p:nvPr/>
        </p:nvSpPr>
        <p:spPr>
          <a:xfrm>
            <a:off x="45720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The same artifacts applied to non-target systems</a:t>
            </a:r>
          </a:p>
        </p:txBody>
      </p:sp>
      <p:sp>
        <p:nvSpPr>
          <p:cNvPr id="21" name="Rettangolo con angoli arrotondati 20">
            <a:extLst>
              <a:ext uri="{FF2B5EF4-FFF2-40B4-BE49-F238E27FC236}">
                <a16:creationId xmlns:a16="http://schemas.microsoft.com/office/drawing/2014/main" id="{67DA1114-C657-4C88-BA6D-0A11C4C0C09D}"/>
              </a:ext>
            </a:extLst>
          </p:cNvPr>
          <p:cNvSpPr>
            <a:spLocks noGrp="1"/>
          </p:cNvSpPr>
          <p:nvPr/>
        </p:nvSpPr>
        <p:spPr>
          <a:xfrm>
            <a:off x="8001000" y="4857750"/>
            <a:ext cx="3505200" cy="1104900"/>
          </a:xfrm>
          <a:prstGeom prst="roundRect">
            <a:avLst>
              <a:gd name="adj" fmla="val 12069"/>
            </a:avLst>
          </a:prstGeom>
          <a:solidFill>
            <a:srgbClr val="E7F8F0"/>
          </a:solidFill>
          <a:ln w="0">
            <a:noFill/>
            <a:prstDash val="solid"/>
          </a:ln>
        </p:spPr>
        <p:txBody>
          <a:bodyPr/>
          <a:lstStyle/>
          <a:p>
            <a:endParaRPr/>
          </a:p>
        </p:txBody>
      </p:sp>
      <p:sp>
        <p:nvSpPr>
          <p:cNvPr id="22" name="Rettangolo 21">
            <a:extLst>
              <a:ext uri="{FF2B5EF4-FFF2-40B4-BE49-F238E27FC236}">
                <a16:creationId xmlns:a16="http://schemas.microsoft.com/office/drawing/2014/main" id="{28CECFA8-8A49-4567-8CE6-BD12F2E08422}"/>
              </a:ext>
            </a:extLst>
          </p:cNvPr>
          <p:cNvSpPr>
            <a:spLocks noGrp="1"/>
          </p:cNvSpPr>
          <p:nvPr/>
        </p:nvSpPr>
        <p:spPr>
          <a:xfrm>
            <a:off x="81724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MODEL-AGNOSTIC</a:t>
            </a:r>
          </a:p>
        </p:txBody>
      </p:sp>
      <p:sp>
        <p:nvSpPr>
          <p:cNvPr id="23" name="Rettangolo 22">
            <a:extLst>
              <a:ext uri="{FF2B5EF4-FFF2-40B4-BE49-F238E27FC236}">
                <a16:creationId xmlns:a16="http://schemas.microsoft.com/office/drawing/2014/main" id="{C604F757-AFD3-46F8-BFBF-FDE0793FAF4D}"/>
              </a:ext>
            </a:extLst>
          </p:cNvPr>
          <p:cNvSpPr>
            <a:spLocks noGrp="1"/>
          </p:cNvSpPr>
          <p:nvPr/>
        </p:nvSpPr>
        <p:spPr>
          <a:xfrm>
            <a:off x="82296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Color Shift and five anti-forensic transformations</a:t>
            </a:r>
          </a:p>
        </p:txBody>
      </p:sp>
    </p:spTree>
    <p:extLst>
      <p:ext uri="{BB962C8B-B14F-4D97-AF65-F5344CB8AC3E}">
        <p14:creationId xmlns:p14="http://schemas.microsoft.com/office/powerpoint/2010/main" val="700163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7" name="Rettangolo 26">
            <a:extLst>
              <a:ext uri="{FF2B5EF4-FFF2-40B4-BE49-F238E27FC236}">
                <a16:creationId xmlns:a16="http://schemas.microsoft.com/office/drawing/2014/main" id="{81E6EA5E-1BA3-4F66-A39C-B36EC754644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030D2A4-C965-47CF-8557-481DDBF7BAD0}"/>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Explicit mappings enable comparison</a:t>
            </a:r>
          </a:p>
        </p:txBody>
      </p:sp>
      <p:sp>
        <p:nvSpPr>
          <p:cNvPr id="3" name="Rettangolo 2">
            <a:extLst>
              <a:ext uri="{FF2B5EF4-FFF2-40B4-BE49-F238E27FC236}">
                <a16:creationId xmlns:a16="http://schemas.microsoft.com/office/drawing/2014/main" id="{574AC689-33AE-4188-BD30-A98CE3C1F13C}"/>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89D44508-8BE4-44DA-A23D-C69ABEFD103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9874DB88-CD45-410D-B418-22DA962B98F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06</a:t>
            </a:r>
          </a:p>
        </p:txBody>
      </p:sp>
      <p:sp>
        <p:nvSpPr>
          <p:cNvPr id="6" name="Rettangolo 5">
            <a:extLst>
              <a:ext uri="{FF2B5EF4-FFF2-40B4-BE49-F238E27FC236}">
                <a16:creationId xmlns:a16="http://schemas.microsoft.com/office/drawing/2014/main" id="{C4E232F5-EA03-4FB1-8CD5-60017B2B3666}"/>
              </a:ext>
            </a:extLst>
          </p:cNvPr>
          <p:cNvSpPr>
            <a:spLocks noGrp="1"/>
          </p:cNvSpPr>
          <p:nvPr/>
        </p:nvSpPr>
        <p:spPr>
          <a:xfrm>
            <a:off x="1733550" y="2266950"/>
            <a:ext cx="8724900" cy="57150"/>
          </a:xfrm>
          <a:prstGeom prst="rect">
            <a:avLst/>
          </a:prstGeom>
          <a:solidFill>
            <a:srgbClr val="D9DEE8"/>
          </a:solidFill>
          <a:ln w="0">
            <a:noFill/>
            <a:prstDash val="solid"/>
          </a:ln>
        </p:spPr>
        <p:txBody>
          <a:bodyPr/>
          <a:lstStyle/>
          <a:p>
            <a:endParaRPr/>
          </a:p>
        </p:txBody>
      </p:sp>
      <p:sp>
        <p:nvSpPr>
          <p:cNvPr id="7" name="Rettangolo con angoli arrotondati 6">
            <a:extLst>
              <a:ext uri="{FF2B5EF4-FFF2-40B4-BE49-F238E27FC236}">
                <a16:creationId xmlns:a16="http://schemas.microsoft.com/office/drawing/2014/main" id="{A546D0B0-58E3-4310-ABD1-CC65AA1F65B9}"/>
              </a:ext>
            </a:extLst>
          </p:cNvPr>
          <p:cNvSpPr>
            <a:spLocks noGrp="1"/>
          </p:cNvSpPr>
          <p:nvPr/>
        </p:nvSpPr>
        <p:spPr>
          <a:xfrm>
            <a:off x="685800" y="1657350"/>
            <a:ext cx="2667000" cy="1257300"/>
          </a:xfrm>
          <a:prstGeom prst="roundRect">
            <a:avLst>
              <a:gd name="adj" fmla="val 12121"/>
            </a:avLst>
          </a:prstGeom>
          <a:solidFill>
            <a:srgbClr val="FFFFFF"/>
          </a:solidFill>
          <a:ln w="9525">
            <a:solidFill>
              <a:srgbClr val="D9DEE8"/>
            </a:solidFill>
            <a:prstDash val="solid"/>
          </a:ln>
        </p:spPr>
        <p:txBody>
          <a:bodyPr/>
          <a:lstStyle/>
          <a:p>
            <a:endParaRPr/>
          </a:p>
        </p:txBody>
      </p:sp>
      <p:sp>
        <p:nvSpPr>
          <p:cNvPr id="8" name="Rettangolo 7">
            <a:extLst>
              <a:ext uri="{FF2B5EF4-FFF2-40B4-BE49-F238E27FC236}">
                <a16:creationId xmlns:a16="http://schemas.microsoft.com/office/drawing/2014/main" id="{A81CFEC4-5E35-4C15-A807-197F3453E411}"/>
              </a:ext>
            </a:extLst>
          </p:cNvPr>
          <p:cNvSpPr>
            <a:spLocks noGrp="1"/>
          </p:cNvSpPr>
          <p:nvPr/>
        </p:nvSpPr>
        <p:spPr>
          <a:xfrm>
            <a:off x="8572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Observable outputs</a:t>
            </a:r>
          </a:p>
        </p:txBody>
      </p:sp>
      <p:sp>
        <p:nvSpPr>
          <p:cNvPr id="9" name="Rettangolo 8">
            <a:extLst>
              <a:ext uri="{FF2B5EF4-FFF2-40B4-BE49-F238E27FC236}">
                <a16:creationId xmlns:a16="http://schemas.microsoft.com/office/drawing/2014/main" id="{0C82864D-2992-412D-87C9-C8116242CB92}"/>
              </a:ext>
            </a:extLst>
          </p:cNvPr>
          <p:cNvSpPr>
            <a:spLocks noGrp="1"/>
          </p:cNvSpPr>
          <p:nvPr/>
        </p:nvSpPr>
        <p:spPr>
          <a:xfrm>
            <a:off x="8572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tags · bookmarks · labels · retrieval</a:t>
            </a:r>
          </a:p>
        </p:txBody>
      </p:sp>
      <p:sp>
        <p:nvSpPr>
          <p:cNvPr id="10" name="Rettangolo con angoli arrotondati 9">
            <a:extLst>
              <a:ext uri="{FF2B5EF4-FFF2-40B4-BE49-F238E27FC236}">
                <a16:creationId xmlns:a16="http://schemas.microsoft.com/office/drawing/2014/main" id="{52BB320A-88DF-4212-9748-1A81E55A6509}"/>
              </a:ext>
            </a:extLst>
          </p:cNvPr>
          <p:cNvSpPr>
            <a:spLocks noGrp="1"/>
          </p:cNvSpPr>
          <p:nvPr/>
        </p:nvSpPr>
        <p:spPr>
          <a:xfrm>
            <a:off x="4762500" y="1657350"/>
            <a:ext cx="2667000" cy="1257300"/>
          </a:xfrm>
          <a:prstGeom prst="roundRect">
            <a:avLst>
              <a:gd name="adj" fmla="val 12121"/>
            </a:avLst>
          </a:prstGeom>
          <a:solidFill>
            <a:srgbClr val="E9EEF8"/>
          </a:solidFill>
          <a:ln w="9525">
            <a:solidFill>
              <a:srgbClr val="E9EEF8"/>
            </a:solidFill>
            <a:prstDash val="solid"/>
          </a:ln>
        </p:spPr>
        <p:txBody>
          <a:bodyPr/>
          <a:lstStyle/>
          <a:p>
            <a:endParaRPr/>
          </a:p>
        </p:txBody>
      </p:sp>
      <p:sp>
        <p:nvSpPr>
          <p:cNvPr id="11" name="Rettangolo 10">
            <a:extLst>
              <a:ext uri="{FF2B5EF4-FFF2-40B4-BE49-F238E27FC236}">
                <a16:creationId xmlns:a16="http://schemas.microsoft.com/office/drawing/2014/main" id="{FD74F8E5-4D60-416B-B482-9CAE4E4D1E2F}"/>
              </a:ext>
            </a:extLst>
          </p:cNvPr>
          <p:cNvSpPr>
            <a:spLocks noGrp="1"/>
          </p:cNvSpPr>
          <p:nvPr/>
        </p:nvSpPr>
        <p:spPr>
          <a:xfrm>
            <a:off x="49339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Output mapping</a:t>
            </a:r>
          </a:p>
        </p:txBody>
      </p:sp>
      <p:sp>
        <p:nvSpPr>
          <p:cNvPr id="12" name="Rettangolo 11">
            <a:extLst>
              <a:ext uri="{FF2B5EF4-FFF2-40B4-BE49-F238E27FC236}">
                <a16:creationId xmlns:a16="http://schemas.microsoft.com/office/drawing/2014/main" id="{6EB043F8-9E47-4F79-A3FB-61719463254C}"/>
              </a:ext>
            </a:extLst>
          </p:cNvPr>
          <p:cNvSpPr>
            <a:spLocks noGrp="1"/>
          </p:cNvSpPr>
          <p:nvPr/>
        </p:nvSpPr>
        <p:spPr>
          <a:xfrm>
            <a:off x="49339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version + configuration + export semantics</a:t>
            </a:r>
          </a:p>
        </p:txBody>
      </p:sp>
      <p:sp>
        <p:nvSpPr>
          <p:cNvPr id="13" name="Rettangolo con angoli arrotondati 12">
            <a:extLst>
              <a:ext uri="{FF2B5EF4-FFF2-40B4-BE49-F238E27FC236}">
                <a16:creationId xmlns:a16="http://schemas.microsoft.com/office/drawing/2014/main" id="{3BB1E76B-72A2-4DBC-842E-AEA144C0BA95}"/>
              </a:ext>
            </a:extLst>
          </p:cNvPr>
          <p:cNvSpPr>
            <a:spLocks noGrp="1"/>
          </p:cNvSpPr>
          <p:nvPr/>
        </p:nvSpPr>
        <p:spPr>
          <a:xfrm>
            <a:off x="8839200" y="1657350"/>
            <a:ext cx="2667000" cy="1257300"/>
          </a:xfrm>
          <a:prstGeom prst="roundRect">
            <a:avLst>
              <a:gd name="adj" fmla="val 12121"/>
            </a:avLst>
          </a:prstGeom>
          <a:solidFill>
            <a:srgbClr val="FFFFFF"/>
          </a:solidFill>
          <a:ln w="9525">
            <a:solidFill>
              <a:srgbClr val="D9DEE8"/>
            </a:solidFill>
            <a:prstDash val="solid"/>
          </a:ln>
        </p:spPr>
        <p:txBody>
          <a:bodyPr/>
          <a:lstStyle/>
          <a:p>
            <a:endParaRPr/>
          </a:p>
        </p:txBody>
      </p:sp>
      <p:sp>
        <p:nvSpPr>
          <p:cNvPr id="14" name="Rettangolo 13">
            <a:extLst>
              <a:ext uri="{FF2B5EF4-FFF2-40B4-BE49-F238E27FC236}">
                <a16:creationId xmlns:a16="http://schemas.microsoft.com/office/drawing/2014/main" id="{A556E7B6-FC90-493A-BF1D-397EFBDE7A22}"/>
              </a:ext>
            </a:extLst>
          </p:cNvPr>
          <p:cNvSpPr>
            <a:spLocks noGrp="1"/>
          </p:cNvSpPr>
          <p:nvPr/>
        </p:nvSpPr>
        <p:spPr>
          <a:xfrm>
            <a:off x="90106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Operational states</a:t>
            </a:r>
          </a:p>
        </p:txBody>
      </p:sp>
      <p:sp>
        <p:nvSpPr>
          <p:cNvPr id="15" name="Rettangolo 14">
            <a:extLst>
              <a:ext uri="{FF2B5EF4-FFF2-40B4-BE49-F238E27FC236}">
                <a16:creationId xmlns:a16="http://schemas.microsoft.com/office/drawing/2014/main" id="{7D3EA51E-91B9-4C0F-9EBE-F9DF968A206F}"/>
              </a:ext>
            </a:extLst>
          </p:cNvPr>
          <p:cNvSpPr>
            <a:spLocks noGrp="1"/>
          </p:cNvSpPr>
          <p:nvPr/>
        </p:nvSpPr>
        <p:spPr>
          <a:xfrm>
            <a:off x="90106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 · non_weapon · unknown</a:t>
            </a:r>
          </a:p>
        </p:txBody>
      </p:sp>
      <p:sp>
        <p:nvSpPr>
          <p:cNvPr id="16" name="Rettangolo 15">
            <a:extLst>
              <a:ext uri="{FF2B5EF4-FFF2-40B4-BE49-F238E27FC236}">
                <a16:creationId xmlns:a16="http://schemas.microsoft.com/office/drawing/2014/main" id="{4063CCF0-7B01-49ED-91C7-126039BFBC3F}"/>
              </a:ext>
            </a:extLst>
          </p:cNvPr>
          <p:cNvSpPr>
            <a:spLocks noGrp="1"/>
          </p:cNvSpPr>
          <p:nvPr/>
        </p:nvSpPr>
        <p:spPr>
          <a:xfrm>
            <a:off x="3590925" y="1943100"/>
            <a:ext cx="838200" cy="533400"/>
          </a:xfrm>
          <a:prstGeom prst="rect">
            <a:avLst/>
          </a:prstGeom>
          <a:noFill/>
          <a:ln w="0">
            <a:noFill/>
            <a:prstDash val="solid"/>
          </a:ln>
        </p:spPr>
        <p:txBody>
          <a:bodyPr wrap="square" lIns="0" tIns="0" rIns="0" bIns="0" anchor="t">
            <a:noAutofit/>
          </a:bodyPr>
          <a:lstStyle/>
          <a:p>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7" name="Rettangolo 16">
            <a:extLst>
              <a:ext uri="{FF2B5EF4-FFF2-40B4-BE49-F238E27FC236}">
                <a16:creationId xmlns:a16="http://schemas.microsoft.com/office/drawing/2014/main" id="{2F1F406C-D78B-4AA1-80BA-9D9321429CEC}"/>
              </a:ext>
            </a:extLst>
          </p:cNvPr>
          <p:cNvSpPr>
            <a:spLocks noGrp="1"/>
          </p:cNvSpPr>
          <p:nvPr/>
        </p:nvSpPr>
        <p:spPr>
          <a:xfrm>
            <a:off x="7667625" y="1943100"/>
            <a:ext cx="838200" cy="533400"/>
          </a:xfrm>
          <a:prstGeom prst="rect">
            <a:avLst/>
          </a:prstGeom>
          <a:noFill/>
          <a:ln w="0">
            <a:noFill/>
            <a:prstDash val="solid"/>
          </a:ln>
        </p:spPr>
        <p:txBody>
          <a:bodyPr wrap="square" lIns="0" tIns="0" rIns="0" bIns="0" anchor="t">
            <a:noAutofit/>
          </a:bodyPr>
          <a:lstStyle/>
          <a:p>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8" name="Rettangolo 17">
            <a:extLst>
              <a:ext uri="{FF2B5EF4-FFF2-40B4-BE49-F238E27FC236}">
                <a16:creationId xmlns:a16="http://schemas.microsoft.com/office/drawing/2014/main" id="{91253F60-E8B5-495D-AEBF-8CC9D8FD6960}"/>
              </a:ext>
            </a:extLst>
          </p:cNvPr>
          <p:cNvSpPr>
            <a:spLocks noGrp="1"/>
          </p:cNvSpPr>
          <p:nvPr/>
        </p:nvSpPr>
        <p:spPr>
          <a:xfrm>
            <a:off x="1066800" y="3429000"/>
            <a:ext cx="4095750" cy="26670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MISSED-TARGET RISK</a:t>
            </a:r>
          </a:p>
        </p:txBody>
      </p:sp>
      <p:sp>
        <p:nvSpPr>
          <p:cNvPr id="19" name="Rettangolo 18">
            <a:extLst>
              <a:ext uri="{FF2B5EF4-FFF2-40B4-BE49-F238E27FC236}">
                <a16:creationId xmlns:a16="http://schemas.microsoft.com/office/drawing/2014/main" id="{BC8311FB-C066-4072-B667-B34AD4D0E420}"/>
              </a:ext>
            </a:extLst>
          </p:cNvPr>
          <p:cNvSpPr>
            <a:spLocks noGrp="1"/>
          </p:cNvSpPr>
          <p:nvPr/>
        </p:nvSpPr>
        <p:spPr>
          <a:xfrm>
            <a:off x="1066800" y="3829050"/>
            <a:ext cx="4095750" cy="609600"/>
          </a:xfrm>
          <a:prstGeom prst="rect">
            <a:avLst/>
          </a:prstGeom>
          <a:noFill/>
          <a:ln w="0">
            <a:noFill/>
            <a:prstDash val="solid"/>
          </a:ln>
        </p:spPr>
        <p:txBody>
          <a:bodyPr wrap="square" lIns="0" tIns="0" rIns="0" bIns="0" anchor="t">
            <a:noAutofit/>
          </a:bodyPr>
          <a:lstStyle/>
          <a:p>
            <a:pPr algn="ctr">
              <a:buNone/>
              <a:defRPr sz="4050" b="1">
                <a:solidFill>
                  <a:srgbClr val="BE3C37"/>
                </a:solidFill>
                <a:latin typeface="Arial"/>
                <a:ea typeface="Arial"/>
                <a:cs typeface="Arial"/>
              </a:defRPr>
            </a:pPr>
            <a:r>
              <a:rPr sz="4050" b="1">
                <a:solidFill>
                  <a:srgbClr val="BE3C37"/>
                </a:solidFill>
                <a:latin typeface="Arial"/>
                <a:ea typeface="Arial"/>
                <a:cs typeface="Arial"/>
              </a:rPr>
              <a:t>FNR</a:t>
            </a:r>
          </a:p>
        </p:txBody>
      </p:sp>
      <p:sp>
        <p:nvSpPr>
          <p:cNvPr id="20" name="Rettangolo 19">
            <a:extLst>
              <a:ext uri="{FF2B5EF4-FFF2-40B4-BE49-F238E27FC236}">
                <a16:creationId xmlns:a16="http://schemas.microsoft.com/office/drawing/2014/main" id="{97D0AD05-5F40-433E-89C0-32EEE5F2F868}"/>
              </a:ext>
            </a:extLst>
          </p:cNvPr>
          <p:cNvSpPr>
            <a:spLocks noGrp="1"/>
          </p:cNvSpPr>
          <p:nvPr/>
        </p:nvSpPr>
        <p:spPr>
          <a:xfrm>
            <a:off x="1066800" y="4514850"/>
            <a:ext cx="409575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weapon → non_weapon</a:t>
            </a:r>
          </a:p>
        </p:txBody>
      </p:sp>
      <p:sp>
        <p:nvSpPr>
          <p:cNvPr id="21" name="Rettangolo 20">
            <a:extLst>
              <a:ext uri="{FF2B5EF4-FFF2-40B4-BE49-F238E27FC236}">
                <a16:creationId xmlns:a16="http://schemas.microsoft.com/office/drawing/2014/main" id="{5E474FE5-9B28-42E6-B688-9EA5D69086EE}"/>
              </a:ext>
            </a:extLst>
          </p:cNvPr>
          <p:cNvSpPr>
            <a:spLocks noGrp="1"/>
          </p:cNvSpPr>
          <p:nvPr/>
        </p:nvSpPr>
        <p:spPr>
          <a:xfrm>
            <a:off x="6076950" y="3390900"/>
            <a:ext cx="28575" cy="1809750"/>
          </a:xfrm>
          <a:prstGeom prst="rect">
            <a:avLst/>
          </a:prstGeom>
          <a:solidFill>
            <a:srgbClr val="D9DEE8"/>
          </a:solidFill>
          <a:ln w="0">
            <a:noFill/>
            <a:prstDash val="solid"/>
          </a:ln>
        </p:spPr>
        <p:txBody>
          <a:bodyPr/>
          <a:lstStyle/>
          <a:p>
            <a:endParaRPr/>
          </a:p>
        </p:txBody>
      </p:sp>
      <p:sp>
        <p:nvSpPr>
          <p:cNvPr id="22" name="Rettangolo 21">
            <a:extLst>
              <a:ext uri="{FF2B5EF4-FFF2-40B4-BE49-F238E27FC236}">
                <a16:creationId xmlns:a16="http://schemas.microsoft.com/office/drawing/2014/main" id="{A074807C-4784-4903-B750-5BECA1BD3546}"/>
              </a:ext>
            </a:extLst>
          </p:cNvPr>
          <p:cNvSpPr>
            <a:spLocks noGrp="1"/>
          </p:cNvSpPr>
          <p:nvPr/>
        </p:nvSpPr>
        <p:spPr>
          <a:xfrm>
            <a:off x="7029450" y="3429000"/>
            <a:ext cx="4095750" cy="266700"/>
          </a:xfrm>
          <a:prstGeom prst="rect">
            <a:avLst/>
          </a:prstGeom>
          <a:noFill/>
          <a:ln w="0">
            <a:noFill/>
            <a:prstDash val="solid"/>
          </a:ln>
        </p:spPr>
        <p:txBody>
          <a:bodyPr wrap="square" lIns="0" tIns="0" rIns="0" bIns="0" anchor="t">
            <a:noAutofit/>
          </a:bodyPr>
          <a:lstStyle/>
          <a:p>
            <a:pPr algn="ctr">
              <a:buNone/>
              <a:defRPr sz="1425" b="1">
                <a:solidFill>
                  <a:srgbClr val="C89B14"/>
                </a:solidFill>
                <a:latin typeface="Arial"/>
                <a:ea typeface="Arial"/>
                <a:cs typeface="Arial"/>
              </a:defRPr>
            </a:pPr>
            <a:r>
              <a:rPr sz="1425" b="1">
                <a:solidFill>
                  <a:srgbClr val="C89B14"/>
                </a:solidFill>
                <a:latin typeface="Arial"/>
                <a:ea typeface="Arial"/>
                <a:cs typeface="Arial"/>
              </a:rPr>
              <a:t>REVIEW-WORKLOAD RISK</a:t>
            </a:r>
          </a:p>
        </p:txBody>
      </p:sp>
      <p:sp>
        <p:nvSpPr>
          <p:cNvPr id="23" name="Rettangolo 22">
            <a:extLst>
              <a:ext uri="{FF2B5EF4-FFF2-40B4-BE49-F238E27FC236}">
                <a16:creationId xmlns:a16="http://schemas.microsoft.com/office/drawing/2014/main" id="{5FC9D189-EFC1-4DC8-81D2-005B26D5BFA5}"/>
              </a:ext>
            </a:extLst>
          </p:cNvPr>
          <p:cNvSpPr>
            <a:spLocks noGrp="1"/>
          </p:cNvSpPr>
          <p:nvPr/>
        </p:nvSpPr>
        <p:spPr>
          <a:xfrm>
            <a:off x="7029450" y="3829050"/>
            <a:ext cx="4095750" cy="609600"/>
          </a:xfrm>
          <a:prstGeom prst="rect">
            <a:avLst/>
          </a:prstGeom>
          <a:noFill/>
          <a:ln w="0">
            <a:noFill/>
            <a:prstDash val="solid"/>
          </a:ln>
        </p:spPr>
        <p:txBody>
          <a:bodyPr wrap="square" lIns="0" tIns="0" rIns="0" bIns="0" anchor="t">
            <a:noAutofit/>
          </a:bodyPr>
          <a:lstStyle/>
          <a:p>
            <a:pPr algn="ctr">
              <a:buNone/>
              <a:defRPr sz="4050" b="1">
                <a:solidFill>
                  <a:srgbClr val="C89B14"/>
                </a:solidFill>
                <a:latin typeface="Arial"/>
                <a:ea typeface="Arial"/>
                <a:cs typeface="Arial"/>
              </a:defRPr>
            </a:pPr>
            <a:r>
              <a:rPr sz="4050" b="1">
                <a:solidFill>
                  <a:srgbClr val="C89B14"/>
                </a:solidFill>
                <a:latin typeface="Arial"/>
                <a:ea typeface="Arial"/>
                <a:cs typeface="Arial"/>
              </a:rPr>
              <a:t>FPR</a:t>
            </a:r>
          </a:p>
        </p:txBody>
      </p:sp>
      <p:sp>
        <p:nvSpPr>
          <p:cNvPr id="24" name="Rettangolo 23">
            <a:extLst>
              <a:ext uri="{FF2B5EF4-FFF2-40B4-BE49-F238E27FC236}">
                <a16:creationId xmlns:a16="http://schemas.microsoft.com/office/drawing/2014/main" id="{C1CE03FA-0D68-42C1-89E8-C743E7BB7F52}"/>
              </a:ext>
            </a:extLst>
          </p:cNvPr>
          <p:cNvSpPr>
            <a:spLocks noGrp="1"/>
          </p:cNvSpPr>
          <p:nvPr/>
        </p:nvSpPr>
        <p:spPr>
          <a:xfrm>
            <a:off x="7029450" y="4514850"/>
            <a:ext cx="409575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non_weapon → weapon</a:t>
            </a:r>
          </a:p>
        </p:txBody>
      </p:sp>
      <p:sp>
        <p:nvSpPr>
          <p:cNvPr id="25" name="Rettangolo con angoli arrotondati 24">
            <a:extLst>
              <a:ext uri="{FF2B5EF4-FFF2-40B4-BE49-F238E27FC236}">
                <a16:creationId xmlns:a16="http://schemas.microsoft.com/office/drawing/2014/main" id="{679C6CA1-E422-4B3D-A1C4-68A1B04782DB}"/>
              </a:ext>
            </a:extLst>
          </p:cNvPr>
          <p:cNvSpPr>
            <a:spLocks noGrp="1"/>
          </p:cNvSpPr>
          <p:nvPr/>
        </p:nvSpPr>
        <p:spPr>
          <a:xfrm>
            <a:off x="1790700" y="5429250"/>
            <a:ext cx="8610600" cy="552450"/>
          </a:xfrm>
          <a:prstGeom prst="roundRect">
            <a:avLst>
              <a:gd name="adj" fmla="val 24138"/>
            </a:avLst>
          </a:prstGeom>
          <a:solidFill>
            <a:srgbClr val="E7F8F0"/>
          </a:solidFill>
          <a:ln w="0">
            <a:noFill/>
            <a:prstDash val="solid"/>
          </a:ln>
        </p:spPr>
        <p:txBody>
          <a:bodyPr/>
          <a:lstStyle/>
          <a:p>
            <a:endParaRPr/>
          </a:p>
        </p:txBody>
      </p:sp>
      <p:sp>
        <p:nvSpPr>
          <p:cNvPr id="26" name="Rettangolo 25">
            <a:extLst>
              <a:ext uri="{FF2B5EF4-FFF2-40B4-BE49-F238E27FC236}">
                <a16:creationId xmlns:a16="http://schemas.microsoft.com/office/drawing/2014/main" id="{9AC02F13-9E37-4088-8708-E1F14BE825A7}"/>
              </a:ext>
            </a:extLst>
          </p:cNvPr>
          <p:cNvSpPr>
            <a:spLocks noGrp="1"/>
          </p:cNvSpPr>
          <p:nvPr/>
        </p:nvSpPr>
        <p:spPr>
          <a:xfrm>
            <a:off x="2038350" y="5581650"/>
            <a:ext cx="8115300" cy="24765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OOD weapon-assignment rate is reported separately; no unknown state occurred in 69,000 normalized decisions.</a:t>
            </a:r>
          </a:p>
        </p:txBody>
      </p:sp>
    </p:spTree>
    <p:extLst>
      <p:ext uri="{BB962C8B-B14F-4D97-AF65-F5344CB8AC3E}">
        <p14:creationId xmlns:p14="http://schemas.microsoft.com/office/powerpoint/2010/main" val="1623973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5" name="Rettangolo 34">
            <a:extLst>
              <a:ext uri="{FF2B5EF4-FFF2-40B4-BE49-F238E27FC236}">
                <a16:creationId xmlns:a16="http://schemas.microsoft.com/office/drawing/2014/main" id="{B682DB6E-8EFB-4DA0-800D-68D826B1831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C2FB14A-91A6-468C-9FBC-56EB8791369E}"/>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Direct-target collapse did not transfer uniformly</a:t>
            </a:r>
          </a:p>
        </p:txBody>
      </p:sp>
      <p:sp>
        <p:nvSpPr>
          <p:cNvPr id="3" name="Rettangolo 2">
            <a:extLst>
              <a:ext uri="{FF2B5EF4-FFF2-40B4-BE49-F238E27FC236}">
                <a16:creationId xmlns:a16="http://schemas.microsoft.com/office/drawing/2014/main" id="{C191ECC7-CDAF-4D9F-AF0A-FC4F6D1F8648}"/>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44E86AFB-EC30-4BB1-A97A-884CD498C0D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B1BC9993-142B-4F39-8B3D-F8FBFA60361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07</a:t>
            </a:r>
          </a:p>
        </p:txBody>
      </p:sp>
      <p:sp>
        <p:nvSpPr>
          <p:cNvPr id="6" name="Rettangolo 5">
            <a:extLst>
              <a:ext uri="{FF2B5EF4-FFF2-40B4-BE49-F238E27FC236}">
                <a16:creationId xmlns:a16="http://schemas.microsoft.com/office/drawing/2014/main" id="{16658F52-9BE9-415C-BF14-A5CB15AB43AB}"/>
              </a:ext>
            </a:extLst>
          </p:cNvPr>
          <p:cNvSpPr>
            <a:spLocks noGrp="1"/>
          </p:cNvSpPr>
          <p:nvPr/>
        </p:nvSpPr>
        <p:spPr>
          <a:xfrm>
            <a:off x="685800" y="1257300"/>
            <a:ext cx="108204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Worst observed adversarial condition per proxy; attacks were optimized only for EfficientNet-B0</a:t>
            </a:r>
          </a:p>
        </p:txBody>
      </p:sp>
      <p:sp>
        <p:nvSpPr>
          <p:cNvPr id="7" name="Rettangolo con angoli arrotondati 6">
            <a:extLst>
              <a:ext uri="{FF2B5EF4-FFF2-40B4-BE49-F238E27FC236}">
                <a16:creationId xmlns:a16="http://schemas.microsoft.com/office/drawing/2014/main" id="{56AE85E9-0E8F-4E95-8EC0-7B131EEDAC00}"/>
              </a:ext>
            </a:extLst>
          </p:cNvPr>
          <p:cNvSpPr>
            <a:spLocks noGrp="1"/>
          </p:cNvSpPr>
          <p:nvPr/>
        </p:nvSpPr>
        <p:spPr>
          <a:xfrm>
            <a:off x="685800" y="1676400"/>
            <a:ext cx="3333750" cy="3695700"/>
          </a:xfrm>
          <a:prstGeom prst="roundRect">
            <a:avLst>
              <a:gd name="adj" fmla="val 5143"/>
            </a:avLst>
          </a:prstGeom>
          <a:solidFill>
            <a:srgbClr val="FFFFFF"/>
          </a:solidFill>
          <a:ln w="9525">
            <a:solidFill>
              <a:srgbClr val="D9DEE8"/>
            </a:solidFill>
            <a:prstDash val="solid"/>
          </a:ln>
        </p:spPr>
        <p:txBody>
          <a:bodyPr/>
          <a:lstStyle/>
          <a:p>
            <a:endParaRPr/>
          </a:p>
        </p:txBody>
      </p:sp>
      <p:sp>
        <p:nvSpPr>
          <p:cNvPr id="8" name="Rettangolo 7">
            <a:extLst>
              <a:ext uri="{FF2B5EF4-FFF2-40B4-BE49-F238E27FC236}">
                <a16:creationId xmlns:a16="http://schemas.microsoft.com/office/drawing/2014/main" id="{9577C2D9-78D1-4F27-ABC7-FD9633E30F4D}"/>
              </a:ext>
            </a:extLst>
          </p:cNvPr>
          <p:cNvSpPr>
            <a:spLocks noGrp="1"/>
          </p:cNvSpPr>
          <p:nvPr/>
        </p:nvSpPr>
        <p:spPr>
          <a:xfrm>
            <a:off x="876300"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EfficientNet-B0</a:t>
            </a:r>
          </a:p>
        </p:txBody>
      </p:sp>
      <p:sp>
        <p:nvSpPr>
          <p:cNvPr id="9" name="Rettangolo 8">
            <a:extLst>
              <a:ext uri="{FF2B5EF4-FFF2-40B4-BE49-F238E27FC236}">
                <a16:creationId xmlns:a16="http://schemas.microsoft.com/office/drawing/2014/main" id="{2E82C4FA-E336-46EA-9A84-371A09CA3AEA}"/>
              </a:ext>
            </a:extLst>
          </p:cNvPr>
          <p:cNvSpPr>
            <a:spLocks noGrp="1"/>
          </p:cNvSpPr>
          <p:nvPr/>
        </p:nvSpPr>
        <p:spPr>
          <a:xfrm>
            <a:off x="876300"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0" name="Rettangolo 9">
            <a:extLst>
              <a:ext uri="{FF2B5EF4-FFF2-40B4-BE49-F238E27FC236}">
                <a16:creationId xmlns:a16="http://schemas.microsoft.com/office/drawing/2014/main" id="{70F2D2A0-02D8-4A6B-9903-BE856DE2D296}"/>
              </a:ext>
            </a:extLst>
          </p:cNvPr>
          <p:cNvSpPr>
            <a:spLocks noGrp="1"/>
          </p:cNvSpPr>
          <p:nvPr/>
        </p:nvSpPr>
        <p:spPr>
          <a:xfrm>
            <a:off x="876300"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97.8%</a:t>
            </a:r>
          </a:p>
        </p:txBody>
      </p:sp>
      <p:sp>
        <p:nvSpPr>
          <p:cNvPr id="11" name="Rettangolo 10">
            <a:extLst>
              <a:ext uri="{FF2B5EF4-FFF2-40B4-BE49-F238E27FC236}">
                <a16:creationId xmlns:a16="http://schemas.microsoft.com/office/drawing/2014/main" id="{49D9FAB2-354F-4D6E-AEB6-D07E9821938A}"/>
              </a:ext>
            </a:extLst>
          </p:cNvPr>
          <p:cNvSpPr>
            <a:spLocks noGrp="1"/>
          </p:cNvSpPr>
          <p:nvPr/>
        </p:nvSpPr>
        <p:spPr>
          <a:xfrm>
            <a:off x="1905000"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BE3C37"/>
                </a:solidFill>
                <a:latin typeface="Arial"/>
                <a:ea typeface="Arial"/>
                <a:cs typeface="Arial"/>
              </a:defRPr>
            </a:pPr>
            <a:r>
              <a:rPr sz="2850" b="1">
                <a:solidFill>
                  <a:srgbClr val="BE3C37"/>
                </a:solidFill>
                <a:latin typeface="Arial"/>
                <a:ea typeface="Arial"/>
                <a:cs typeface="Arial"/>
              </a:rPr>
              <a:t>↓</a:t>
            </a:r>
          </a:p>
        </p:txBody>
      </p:sp>
      <p:sp>
        <p:nvSpPr>
          <p:cNvPr id="12" name="Rettangolo 11">
            <a:extLst>
              <a:ext uri="{FF2B5EF4-FFF2-40B4-BE49-F238E27FC236}">
                <a16:creationId xmlns:a16="http://schemas.microsoft.com/office/drawing/2014/main" id="{F996CD3D-5C3A-40B2-A13D-7A62926E9BE4}"/>
              </a:ext>
            </a:extLst>
          </p:cNvPr>
          <p:cNvSpPr>
            <a:spLocks noGrp="1"/>
          </p:cNvSpPr>
          <p:nvPr/>
        </p:nvSpPr>
        <p:spPr>
          <a:xfrm>
            <a:off x="2762250"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BE3C37"/>
                </a:solidFill>
                <a:latin typeface="Arial"/>
                <a:ea typeface="Arial"/>
                <a:cs typeface="Arial"/>
              </a:defRPr>
            </a:pPr>
            <a:r>
              <a:rPr sz="1275" b="1">
                <a:solidFill>
                  <a:srgbClr val="BE3C37"/>
                </a:solidFill>
                <a:latin typeface="Arial"/>
                <a:ea typeface="Arial"/>
                <a:cs typeface="Arial"/>
              </a:rPr>
              <a:t>−96.3 pp</a:t>
            </a:r>
          </a:p>
        </p:txBody>
      </p:sp>
      <p:sp>
        <p:nvSpPr>
          <p:cNvPr id="13" name="Rettangolo 12">
            <a:extLst>
              <a:ext uri="{FF2B5EF4-FFF2-40B4-BE49-F238E27FC236}">
                <a16:creationId xmlns:a16="http://schemas.microsoft.com/office/drawing/2014/main" id="{A0E55963-0CB1-4969-8E2A-F4EB81ADF8D4}"/>
              </a:ext>
            </a:extLst>
          </p:cNvPr>
          <p:cNvSpPr>
            <a:spLocks noGrp="1"/>
          </p:cNvSpPr>
          <p:nvPr/>
        </p:nvSpPr>
        <p:spPr>
          <a:xfrm>
            <a:off x="876300"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BE3C37"/>
                </a:solidFill>
                <a:latin typeface="Arial"/>
                <a:ea typeface="Arial"/>
                <a:cs typeface="Arial"/>
              </a:defRPr>
            </a:pPr>
            <a:r>
              <a:rPr sz="3225" b="1">
                <a:solidFill>
                  <a:srgbClr val="BE3C37"/>
                </a:solidFill>
                <a:latin typeface="Arial"/>
                <a:ea typeface="Arial"/>
                <a:cs typeface="Arial"/>
              </a:rPr>
              <a:t>1.5%</a:t>
            </a:r>
          </a:p>
        </p:txBody>
      </p:sp>
      <p:sp>
        <p:nvSpPr>
          <p:cNvPr id="14" name="Rettangolo con angoli arrotondati 13">
            <a:extLst>
              <a:ext uri="{FF2B5EF4-FFF2-40B4-BE49-F238E27FC236}">
                <a16:creationId xmlns:a16="http://schemas.microsoft.com/office/drawing/2014/main" id="{BF5BB6F7-3575-4024-AC7F-C44206587777}"/>
              </a:ext>
            </a:extLst>
          </p:cNvPr>
          <p:cNvSpPr>
            <a:spLocks noGrp="1"/>
          </p:cNvSpPr>
          <p:nvPr/>
        </p:nvSpPr>
        <p:spPr>
          <a:xfrm>
            <a:off x="1019175" y="4514850"/>
            <a:ext cx="2667000" cy="552450"/>
          </a:xfrm>
          <a:prstGeom prst="roundRect">
            <a:avLst>
              <a:gd name="adj" fmla="val 20690"/>
            </a:avLst>
          </a:prstGeom>
          <a:solidFill>
            <a:srgbClr val="FBEAEA"/>
          </a:solidFill>
          <a:ln w="0">
            <a:noFill/>
            <a:prstDash val="solid"/>
          </a:ln>
        </p:spPr>
        <p:txBody>
          <a:bodyPr/>
          <a:lstStyle/>
          <a:p>
            <a:endParaRPr/>
          </a:p>
        </p:txBody>
      </p:sp>
      <p:sp>
        <p:nvSpPr>
          <p:cNvPr id="15" name="Rettangolo 14">
            <a:extLst>
              <a:ext uri="{FF2B5EF4-FFF2-40B4-BE49-F238E27FC236}">
                <a16:creationId xmlns:a16="http://schemas.microsoft.com/office/drawing/2014/main" id="{AE6018B9-C8AD-41A8-89CA-38D39F49C678}"/>
              </a:ext>
            </a:extLst>
          </p:cNvPr>
          <p:cNvSpPr>
            <a:spLocks noGrp="1"/>
          </p:cNvSpPr>
          <p:nvPr/>
        </p:nvSpPr>
        <p:spPr>
          <a:xfrm>
            <a:off x="1190625"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BE3C37"/>
                </a:solidFill>
                <a:latin typeface="Arial"/>
                <a:ea typeface="Arial"/>
                <a:cs typeface="Arial"/>
              </a:defRPr>
            </a:pPr>
            <a:r>
              <a:rPr sz="1350" b="1">
                <a:solidFill>
                  <a:srgbClr val="BE3C37"/>
                </a:solidFill>
                <a:latin typeface="Arial"/>
                <a:ea typeface="Arial"/>
                <a:cs typeface="Arial"/>
              </a:rPr>
              <a:t>Sigma Zero · direct</a:t>
            </a:r>
          </a:p>
        </p:txBody>
      </p:sp>
      <p:sp>
        <p:nvSpPr>
          <p:cNvPr id="16" name="Rettangolo con angoli arrotondati 15">
            <a:extLst>
              <a:ext uri="{FF2B5EF4-FFF2-40B4-BE49-F238E27FC236}">
                <a16:creationId xmlns:a16="http://schemas.microsoft.com/office/drawing/2014/main" id="{9E2BCEBA-C7B6-438A-99BD-F49CB0486D2F}"/>
              </a:ext>
            </a:extLst>
          </p:cNvPr>
          <p:cNvSpPr>
            <a:spLocks noGrp="1"/>
          </p:cNvSpPr>
          <p:nvPr/>
        </p:nvSpPr>
        <p:spPr>
          <a:xfrm>
            <a:off x="4429125" y="1676400"/>
            <a:ext cx="3333750" cy="3695700"/>
          </a:xfrm>
          <a:prstGeom prst="roundRect">
            <a:avLst>
              <a:gd name="adj" fmla="val 5143"/>
            </a:avLst>
          </a:prstGeom>
          <a:solidFill>
            <a:srgbClr val="FFFFFF"/>
          </a:solidFill>
          <a:ln w="9525">
            <a:solidFill>
              <a:srgbClr val="D9DEE8"/>
            </a:solidFill>
            <a:prstDash val="solid"/>
          </a:ln>
        </p:spPr>
        <p:txBody>
          <a:bodyPr/>
          <a:lstStyle/>
          <a:p>
            <a:endParaRPr/>
          </a:p>
        </p:txBody>
      </p:sp>
      <p:sp>
        <p:nvSpPr>
          <p:cNvPr id="17" name="Rettangolo 16">
            <a:extLst>
              <a:ext uri="{FF2B5EF4-FFF2-40B4-BE49-F238E27FC236}">
                <a16:creationId xmlns:a16="http://schemas.microsoft.com/office/drawing/2014/main" id="{394FB914-142B-4176-B281-5AF8EAC4DD42}"/>
              </a:ext>
            </a:extLst>
          </p:cNvPr>
          <p:cNvSpPr>
            <a:spLocks noGrp="1"/>
          </p:cNvSpPr>
          <p:nvPr/>
        </p:nvSpPr>
        <p:spPr>
          <a:xfrm>
            <a:off x="4619625"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ResNet18</a:t>
            </a:r>
          </a:p>
        </p:txBody>
      </p:sp>
      <p:sp>
        <p:nvSpPr>
          <p:cNvPr id="18" name="Rettangolo 17">
            <a:extLst>
              <a:ext uri="{FF2B5EF4-FFF2-40B4-BE49-F238E27FC236}">
                <a16:creationId xmlns:a16="http://schemas.microsoft.com/office/drawing/2014/main" id="{90C27F24-DDCD-4476-BEE6-9730E13D6F09}"/>
              </a:ext>
            </a:extLst>
          </p:cNvPr>
          <p:cNvSpPr>
            <a:spLocks noGrp="1"/>
          </p:cNvSpPr>
          <p:nvPr/>
        </p:nvSpPr>
        <p:spPr>
          <a:xfrm>
            <a:off x="4619625"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9" name="Rettangolo 18">
            <a:extLst>
              <a:ext uri="{FF2B5EF4-FFF2-40B4-BE49-F238E27FC236}">
                <a16:creationId xmlns:a16="http://schemas.microsoft.com/office/drawing/2014/main" id="{D2EDF698-9BB1-43E3-85CA-2599EF772F95}"/>
              </a:ext>
            </a:extLst>
          </p:cNvPr>
          <p:cNvSpPr>
            <a:spLocks noGrp="1"/>
          </p:cNvSpPr>
          <p:nvPr/>
        </p:nvSpPr>
        <p:spPr>
          <a:xfrm>
            <a:off x="4619625"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96.4%</a:t>
            </a:r>
          </a:p>
        </p:txBody>
      </p:sp>
      <p:sp>
        <p:nvSpPr>
          <p:cNvPr id="20" name="Rettangolo 19">
            <a:extLst>
              <a:ext uri="{FF2B5EF4-FFF2-40B4-BE49-F238E27FC236}">
                <a16:creationId xmlns:a16="http://schemas.microsoft.com/office/drawing/2014/main" id="{D1C64AAB-74DE-49AE-9C87-6178540E0BD2}"/>
              </a:ext>
            </a:extLst>
          </p:cNvPr>
          <p:cNvSpPr>
            <a:spLocks noGrp="1"/>
          </p:cNvSpPr>
          <p:nvPr/>
        </p:nvSpPr>
        <p:spPr>
          <a:xfrm>
            <a:off x="5648325"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21" name="Rettangolo 20">
            <a:extLst>
              <a:ext uri="{FF2B5EF4-FFF2-40B4-BE49-F238E27FC236}">
                <a16:creationId xmlns:a16="http://schemas.microsoft.com/office/drawing/2014/main" id="{2DF9C9FD-68A9-4B40-AB58-34AD20B34583}"/>
              </a:ext>
            </a:extLst>
          </p:cNvPr>
          <p:cNvSpPr>
            <a:spLocks noGrp="1"/>
          </p:cNvSpPr>
          <p:nvPr/>
        </p:nvSpPr>
        <p:spPr>
          <a:xfrm>
            <a:off x="6505575"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C89B14"/>
                </a:solidFill>
                <a:latin typeface="Arial"/>
                <a:ea typeface="Arial"/>
                <a:cs typeface="Arial"/>
              </a:defRPr>
            </a:pPr>
            <a:r>
              <a:rPr sz="1275" b="1">
                <a:solidFill>
                  <a:srgbClr val="C89B14"/>
                </a:solidFill>
                <a:latin typeface="Arial"/>
                <a:ea typeface="Arial"/>
                <a:cs typeface="Arial"/>
              </a:rPr>
              <a:t>−4.6 pp</a:t>
            </a:r>
          </a:p>
        </p:txBody>
      </p:sp>
      <p:sp>
        <p:nvSpPr>
          <p:cNvPr id="22" name="Rettangolo 21">
            <a:extLst>
              <a:ext uri="{FF2B5EF4-FFF2-40B4-BE49-F238E27FC236}">
                <a16:creationId xmlns:a16="http://schemas.microsoft.com/office/drawing/2014/main" id="{492EA1CA-E94D-4529-9473-680D6960283D}"/>
              </a:ext>
            </a:extLst>
          </p:cNvPr>
          <p:cNvSpPr>
            <a:spLocks noGrp="1"/>
          </p:cNvSpPr>
          <p:nvPr/>
        </p:nvSpPr>
        <p:spPr>
          <a:xfrm>
            <a:off x="4619625"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C89B14"/>
                </a:solidFill>
                <a:latin typeface="Arial"/>
                <a:ea typeface="Arial"/>
                <a:cs typeface="Arial"/>
              </a:defRPr>
            </a:pPr>
            <a:r>
              <a:rPr sz="3225" b="1">
                <a:solidFill>
                  <a:srgbClr val="C89B14"/>
                </a:solidFill>
                <a:latin typeface="Arial"/>
                <a:ea typeface="Arial"/>
                <a:cs typeface="Arial"/>
              </a:rPr>
              <a:t>91.8%</a:t>
            </a:r>
          </a:p>
        </p:txBody>
      </p:sp>
      <p:sp>
        <p:nvSpPr>
          <p:cNvPr id="23" name="Rettangolo con angoli arrotondati 22">
            <a:extLst>
              <a:ext uri="{FF2B5EF4-FFF2-40B4-BE49-F238E27FC236}">
                <a16:creationId xmlns:a16="http://schemas.microsoft.com/office/drawing/2014/main" id="{96FF0273-DED0-4DE2-8AA8-75586A24899D}"/>
              </a:ext>
            </a:extLst>
          </p:cNvPr>
          <p:cNvSpPr>
            <a:spLocks noGrp="1"/>
          </p:cNvSpPr>
          <p:nvPr/>
        </p:nvSpPr>
        <p:spPr>
          <a:xfrm>
            <a:off x="4762500" y="4514850"/>
            <a:ext cx="2667000" cy="552450"/>
          </a:xfrm>
          <a:prstGeom prst="roundRect">
            <a:avLst>
              <a:gd name="adj" fmla="val 20690"/>
            </a:avLst>
          </a:prstGeom>
          <a:solidFill>
            <a:srgbClr val="FFF4CD"/>
          </a:solidFill>
          <a:ln w="0">
            <a:noFill/>
            <a:prstDash val="solid"/>
          </a:ln>
        </p:spPr>
        <p:txBody>
          <a:bodyPr/>
          <a:lstStyle/>
          <a:p>
            <a:endParaRPr/>
          </a:p>
        </p:txBody>
      </p:sp>
      <p:sp>
        <p:nvSpPr>
          <p:cNvPr id="24" name="Rettangolo 23">
            <a:extLst>
              <a:ext uri="{FF2B5EF4-FFF2-40B4-BE49-F238E27FC236}">
                <a16:creationId xmlns:a16="http://schemas.microsoft.com/office/drawing/2014/main" id="{7F13BBE7-F396-45EB-8CD4-E163172E1B3A}"/>
              </a:ext>
            </a:extLst>
          </p:cNvPr>
          <p:cNvSpPr>
            <a:spLocks noGrp="1"/>
          </p:cNvSpPr>
          <p:nvPr/>
        </p:nvSpPr>
        <p:spPr>
          <a:xfrm>
            <a:off x="4933950"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25" name="Rettangolo con angoli arrotondati 24">
            <a:extLst>
              <a:ext uri="{FF2B5EF4-FFF2-40B4-BE49-F238E27FC236}">
                <a16:creationId xmlns:a16="http://schemas.microsoft.com/office/drawing/2014/main" id="{C70A0BA2-8F3B-41DC-9592-4F623D651E86}"/>
              </a:ext>
            </a:extLst>
          </p:cNvPr>
          <p:cNvSpPr>
            <a:spLocks noGrp="1"/>
          </p:cNvSpPr>
          <p:nvPr/>
        </p:nvSpPr>
        <p:spPr>
          <a:xfrm>
            <a:off x="8172450" y="1676400"/>
            <a:ext cx="3333750" cy="3695700"/>
          </a:xfrm>
          <a:prstGeom prst="roundRect">
            <a:avLst>
              <a:gd name="adj" fmla="val 5143"/>
            </a:avLst>
          </a:prstGeom>
          <a:solidFill>
            <a:srgbClr val="FFFFFF"/>
          </a:solidFill>
          <a:ln w="9525">
            <a:solidFill>
              <a:srgbClr val="D9DEE8"/>
            </a:solidFill>
            <a:prstDash val="solid"/>
          </a:ln>
        </p:spPr>
        <p:txBody>
          <a:bodyPr/>
          <a:lstStyle/>
          <a:p>
            <a:endParaRPr/>
          </a:p>
        </p:txBody>
      </p:sp>
      <p:sp>
        <p:nvSpPr>
          <p:cNvPr id="26" name="Rettangolo 25">
            <a:extLst>
              <a:ext uri="{FF2B5EF4-FFF2-40B4-BE49-F238E27FC236}">
                <a16:creationId xmlns:a16="http://schemas.microsoft.com/office/drawing/2014/main" id="{A98C1D30-9BE6-4F8C-9D4A-F416452798D5}"/>
              </a:ext>
            </a:extLst>
          </p:cNvPr>
          <p:cNvSpPr>
            <a:spLocks noGrp="1"/>
          </p:cNvSpPr>
          <p:nvPr/>
        </p:nvSpPr>
        <p:spPr>
          <a:xfrm>
            <a:off x="8362950"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CLIP proxy</a:t>
            </a:r>
          </a:p>
        </p:txBody>
      </p:sp>
      <p:sp>
        <p:nvSpPr>
          <p:cNvPr id="27" name="Rettangolo 26">
            <a:extLst>
              <a:ext uri="{FF2B5EF4-FFF2-40B4-BE49-F238E27FC236}">
                <a16:creationId xmlns:a16="http://schemas.microsoft.com/office/drawing/2014/main" id="{FA9C149E-EE01-4E65-8446-3CDAC9015D72}"/>
              </a:ext>
            </a:extLst>
          </p:cNvPr>
          <p:cNvSpPr>
            <a:spLocks noGrp="1"/>
          </p:cNvSpPr>
          <p:nvPr/>
        </p:nvSpPr>
        <p:spPr>
          <a:xfrm>
            <a:off x="8362950"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28" name="Rettangolo 27">
            <a:extLst>
              <a:ext uri="{FF2B5EF4-FFF2-40B4-BE49-F238E27FC236}">
                <a16:creationId xmlns:a16="http://schemas.microsoft.com/office/drawing/2014/main" id="{980272C0-9E9C-4040-9C6C-D012524091C6}"/>
              </a:ext>
            </a:extLst>
          </p:cNvPr>
          <p:cNvSpPr>
            <a:spLocks noGrp="1"/>
          </p:cNvSpPr>
          <p:nvPr/>
        </p:nvSpPr>
        <p:spPr>
          <a:xfrm>
            <a:off x="8362950"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92.7%</a:t>
            </a:r>
          </a:p>
        </p:txBody>
      </p:sp>
      <p:sp>
        <p:nvSpPr>
          <p:cNvPr id="29" name="Rettangolo 28">
            <a:extLst>
              <a:ext uri="{FF2B5EF4-FFF2-40B4-BE49-F238E27FC236}">
                <a16:creationId xmlns:a16="http://schemas.microsoft.com/office/drawing/2014/main" id="{B0237A4F-5EE2-4F91-A719-5C9D999C0C17}"/>
              </a:ext>
            </a:extLst>
          </p:cNvPr>
          <p:cNvSpPr>
            <a:spLocks noGrp="1"/>
          </p:cNvSpPr>
          <p:nvPr/>
        </p:nvSpPr>
        <p:spPr>
          <a:xfrm>
            <a:off x="9391650"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30" name="Rettangolo 29">
            <a:extLst>
              <a:ext uri="{FF2B5EF4-FFF2-40B4-BE49-F238E27FC236}">
                <a16:creationId xmlns:a16="http://schemas.microsoft.com/office/drawing/2014/main" id="{E068C5AC-6F4C-4F36-A557-12E2AE1E13C0}"/>
              </a:ext>
            </a:extLst>
          </p:cNvPr>
          <p:cNvSpPr>
            <a:spLocks noGrp="1"/>
          </p:cNvSpPr>
          <p:nvPr/>
        </p:nvSpPr>
        <p:spPr>
          <a:xfrm>
            <a:off x="10248900"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C89B14"/>
                </a:solidFill>
                <a:latin typeface="Arial"/>
                <a:ea typeface="Arial"/>
                <a:cs typeface="Arial"/>
              </a:defRPr>
            </a:pPr>
            <a:r>
              <a:rPr sz="1275" b="1">
                <a:solidFill>
                  <a:srgbClr val="C89B14"/>
                </a:solidFill>
                <a:latin typeface="Arial"/>
                <a:ea typeface="Arial"/>
                <a:cs typeface="Arial"/>
              </a:rPr>
              <a:t>−1.3 pp</a:t>
            </a:r>
          </a:p>
        </p:txBody>
      </p:sp>
      <p:sp>
        <p:nvSpPr>
          <p:cNvPr id="31" name="Rettangolo 30">
            <a:extLst>
              <a:ext uri="{FF2B5EF4-FFF2-40B4-BE49-F238E27FC236}">
                <a16:creationId xmlns:a16="http://schemas.microsoft.com/office/drawing/2014/main" id="{B7F6DC36-2570-45E5-AFD1-8D49B963DBCB}"/>
              </a:ext>
            </a:extLst>
          </p:cNvPr>
          <p:cNvSpPr>
            <a:spLocks noGrp="1"/>
          </p:cNvSpPr>
          <p:nvPr/>
        </p:nvSpPr>
        <p:spPr>
          <a:xfrm>
            <a:off x="8362950"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C89B14"/>
                </a:solidFill>
                <a:latin typeface="Arial"/>
                <a:ea typeface="Arial"/>
                <a:cs typeface="Arial"/>
              </a:defRPr>
            </a:pPr>
            <a:r>
              <a:rPr sz="3225" b="1">
                <a:solidFill>
                  <a:srgbClr val="C89B14"/>
                </a:solidFill>
                <a:latin typeface="Arial"/>
                <a:ea typeface="Arial"/>
                <a:cs typeface="Arial"/>
              </a:rPr>
              <a:t>91.4%</a:t>
            </a:r>
          </a:p>
        </p:txBody>
      </p:sp>
      <p:sp>
        <p:nvSpPr>
          <p:cNvPr id="32" name="Rettangolo con angoli arrotondati 31">
            <a:extLst>
              <a:ext uri="{FF2B5EF4-FFF2-40B4-BE49-F238E27FC236}">
                <a16:creationId xmlns:a16="http://schemas.microsoft.com/office/drawing/2014/main" id="{E0EF1A65-1CB2-42B0-B44F-2F0165D59CB8}"/>
              </a:ext>
            </a:extLst>
          </p:cNvPr>
          <p:cNvSpPr>
            <a:spLocks noGrp="1"/>
          </p:cNvSpPr>
          <p:nvPr/>
        </p:nvSpPr>
        <p:spPr>
          <a:xfrm>
            <a:off x="8505825" y="4514850"/>
            <a:ext cx="2667000" cy="552450"/>
          </a:xfrm>
          <a:prstGeom prst="roundRect">
            <a:avLst>
              <a:gd name="adj" fmla="val 20690"/>
            </a:avLst>
          </a:prstGeom>
          <a:solidFill>
            <a:srgbClr val="FFF4CD"/>
          </a:solidFill>
          <a:ln w="0">
            <a:noFill/>
            <a:prstDash val="solid"/>
          </a:ln>
        </p:spPr>
        <p:txBody>
          <a:bodyPr/>
          <a:lstStyle/>
          <a:p>
            <a:endParaRPr/>
          </a:p>
        </p:txBody>
      </p:sp>
      <p:sp>
        <p:nvSpPr>
          <p:cNvPr id="33" name="Rettangolo 32">
            <a:extLst>
              <a:ext uri="{FF2B5EF4-FFF2-40B4-BE49-F238E27FC236}">
                <a16:creationId xmlns:a16="http://schemas.microsoft.com/office/drawing/2014/main" id="{C72A86F9-3076-4133-A78E-82EB41F3A1D6}"/>
              </a:ext>
            </a:extLst>
          </p:cNvPr>
          <p:cNvSpPr>
            <a:spLocks noGrp="1"/>
          </p:cNvSpPr>
          <p:nvPr/>
        </p:nvSpPr>
        <p:spPr>
          <a:xfrm>
            <a:off x="8677275"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34" name="Rettangolo 33">
            <a:extLst>
              <a:ext uri="{FF2B5EF4-FFF2-40B4-BE49-F238E27FC236}">
                <a16:creationId xmlns:a16="http://schemas.microsoft.com/office/drawing/2014/main" id="{83A62D01-9A99-4444-A378-62E9EAECF82E}"/>
              </a:ext>
            </a:extLst>
          </p:cNvPr>
          <p:cNvSpPr>
            <a:spLocks noGrp="1"/>
          </p:cNvSpPr>
          <p:nvPr/>
        </p:nvSpPr>
        <p:spPr>
          <a:xfrm>
            <a:off x="1428750" y="5753100"/>
            <a:ext cx="9334500" cy="266700"/>
          </a:xfrm>
          <a:prstGeom prst="rect">
            <a:avLst/>
          </a:prstGeom>
          <a:noFill/>
          <a:ln w="0">
            <a:noFill/>
            <a:prstDash val="solid"/>
          </a:ln>
        </p:spPr>
        <p:txBody>
          <a:bodyPr wrap="square" lIns="0" tIns="0" rIns="0" bIns="0" anchor="t">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Largest anti-forensic proxy drop: 3.0 pp · ResNet18, histogram modification</a:t>
            </a:r>
          </a:p>
        </p:txBody>
      </p:sp>
    </p:spTree>
    <p:extLst>
      <p:ext uri="{BB962C8B-B14F-4D97-AF65-F5344CB8AC3E}">
        <p14:creationId xmlns:p14="http://schemas.microsoft.com/office/powerpoint/2010/main" val="602715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0" name="Rettangolo 9">
            <a:extLst>
              <a:ext uri="{FF2B5EF4-FFF2-40B4-BE49-F238E27FC236}">
                <a16:creationId xmlns:a16="http://schemas.microsoft.com/office/drawing/2014/main" id="{CBFBE0B0-4196-49D2-816F-6775E02BA4B6}"/>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31AF1709-E0A2-40EF-88E7-6DDA26F6CFFD}"/>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Black-box transfer was configuration-dependent</a:t>
            </a:r>
          </a:p>
        </p:txBody>
      </p:sp>
      <p:sp>
        <p:nvSpPr>
          <p:cNvPr id="3" name="Rettangolo 2">
            <a:extLst>
              <a:ext uri="{FF2B5EF4-FFF2-40B4-BE49-F238E27FC236}">
                <a16:creationId xmlns:a16="http://schemas.microsoft.com/office/drawing/2014/main" id="{3291F0CF-6083-4E3B-9AC2-0305E98F368E}"/>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565A18C7-FE67-4009-89BB-E8C6FE7C319D}"/>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BC8DA42D-E2E5-4441-9FF6-841AA3906BA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08</a:t>
            </a:r>
          </a:p>
        </p:txBody>
      </p:sp>
      <p:pic>
        <p:nvPicPr>
          <p:cNvPr id="17" name="Picture 10"/>
          <p:cNvPicPr>
            <a:picLocks noChangeAspect="1"/>
          </p:cNvPicPr>
          <p:nvPr/>
        </p:nvPicPr>
        <p:blipFill>
          <a:blip r:embed="rId3"/>
          <a:srcRect/>
          <a:stretch>
            <a:fillRect/>
          </a:stretch>
        </p:blipFill>
        <p:spPr>
          <a:xfrm>
            <a:off x="944113" y="1257300"/>
            <a:ext cx="10303774" cy="4095750"/>
          </a:xfrm>
          <a:prstGeom prst="rect">
            <a:avLst/>
          </a:prstGeom>
        </p:spPr>
      </p:pic>
      <p:sp>
        <p:nvSpPr>
          <p:cNvPr id="7" name="Rettangolo con angoli arrotondati 6">
            <a:extLst>
              <a:ext uri="{FF2B5EF4-FFF2-40B4-BE49-F238E27FC236}">
                <a16:creationId xmlns:a16="http://schemas.microsoft.com/office/drawing/2014/main" id="{AF37DDE1-913C-46CF-A2F3-12C536DDA446}"/>
              </a:ext>
            </a:extLst>
          </p:cNvPr>
          <p:cNvSpPr>
            <a:spLocks noGrp="1"/>
          </p:cNvSpPr>
          <p:nvPr/>
        </p:nvSpPr>
        <p:spPr>
          <a:xfrm>
            <a:off x="1123950" y="5467350"/>
            <a:ext cx="9944100" cy="590550"/>
          </a:xfrm>
          <a:prstGeom prst="roundRect">
            <a:avLst>
              <a:gd name="adj" fmla="val 22581"/>
            </a:avLst>
          </a:prstGeom>
          <a:solidFill>
            <a:srgbClr val="FBEAEA"/>
          </a:solidFill>
          <a:ln w="0">
            <a:noFill/>
            <a:prstDash val="solid"/>
          </a:ln>
        </p:spPr>
        <p:txBody>
          <a:bodyPr/>
          <a:lstStyle/>
          <a:p>
            <a:endParaRPr/>
          </a:p>
        </p:txBody>
      </p:sp>
      <p:sp>
        <p:nvSpPr>
          <p:cNvPr id="8" name="Rettangolo 7">
            <a:extLst>
              <a:ext uri="{FF2B5EF4-FFF2-40B4-BE49-F238E27FC236}">
                <a16:creationId xmlns:a16="http://schemas.microsoft.com/office/drawing/2014/main" id="{30C38F54-5C1E-4ADD-809B-B0B819F1C798}"/>
              </a:ext>
            </a:extLst>
          </p:cNvPr>
          <p:cNvSpPr>
            <a:spLocks noGrp="1"/>
          </p:cNvSpPr>
          <p:nvPr/>
        </p:nvSpPr>
        <p:spPr>
          <a:xfrm>
            <a:off x="1409700" y="5619750"/>
            <a:ext cx="9372600" cy="266700"/>
          </a:xfrm>
          <a:prstGeom prst="rect">
            <a:avLst/>
          </a:prstGeom>
          <a:noFill/>
          <a:ln w="0">
            <a:noFill/>
            <a:prstDash val="solid"/>
          </a:ln>
        </p:spPr>
        <p:txBody>
          <a:bodyPr wrap="square" lIns="0" tIns="0" rIns="0" bIns="0" anchor="t">
            <a:noAutofit/>
          </a:bodyPr>
          <a:lstStyle/>
          <a:p>
            <a:pPr algn="ctr">
              <a:buNone/>
              <a:defRPr sz="1575" b="1">
                <a:solidFill>
                  <a:srgbClr val="BE3C37"/>
                </a:solidFill>
                <a:latin typeface="Arial"/>
                <a:ea typeface="Arial"/>
                <a:cs typeface="Arial"/>
              </a:defRPr>
            </a:pPr>
            <a:r>
              <a:rPr sz="1575" b="1">
                <a:solidFill>
                  <a:srgbClr val="BE3C37"/>
                </a:solidFill>
                <a:latin typeface="Arial"/>
                <a:ea typeface="Arial"/>
                <a:cs typeface="Arial"/>
              </a:rPr>
              <a:t>Largest transfer effects: Sigma Zero · Excire D50 −20.2 pp · D80 −25.8 pp</a:t>
            </a:r>
          </a:p>
        </p:txBody>
      </p:sp>
      <p:sp>
        <p:nvSpPr>
          <p:cNvPr id="9" name="Rettangolo 8">
            <a:extLst>
              <a:ext uri="{FF2B5EF4-FFF2-40B4-BE49-F238E27FC236}">
                <a16:creationId xmlns:a16="http://schemas.microsoft.com/office/drawing/2014/main" id="{25396EEC-0BD8-400F-A539-2C244EEA8DC5}"/>
              </a:ext>
            </a:extLst>
          </p:cNvPr>
          <p:cNvSpPr>
            <a:spLocks noGrp="1"/>
          </p:cNvSpPr>
          <p:nvPr/>
        </p:nvSpPr>
        <p:spPr>
          <a:xfrm>
            <a:off x="1524000" y="6115050"/>
            <a:ext cx="91440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Transfer from EfficientNet-B0 artifacts—not direct attacks · Source: FAIRLab manuscript</a:t>
            </a:r>
          </a:p>
        </p:txBody>
      </p:sp>
    </p:spTree>
    <p:extLst>
      <p:ext uri="{BB962C8B-B14F-4D97-AF65-F5344CB8AC3E}">
        <p14:creationId xmlns:p14="http://schemas.microsoft.com/office/powerpoint/2010/main" val="1506196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99C5F556-E43B-4D5C-87AA-60CC7C8B790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2E59AA1-F424-40FD-9085-E34E23AA9D98}"/>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 lower miss rate can create a larger review burden</a:t>
            </a:r>
          </a:p>
        </p:txBody>
      </p:sp>
      <p:sp>
        <p:nvSpPr>
          <p:cNvPr id="3" name="Rettangolo 2">
            <a:extLst>
              <a:ext uri="{FF2B5EF4-FFF2-40B4-BE49-F238E27FC236}">
                <a16:creationId xmlns:a16="http://schemas.microsoft.com/office/drawing/2014/main" id="{36849F68-D7D6-4111-82DC-6F4B34B72431}"/>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336AF14B-E51D-40CF-BE63-CFC5A20414B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1BEF75CF-FB0D-4A83-BC3D-ED743ECD537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09</a:t>
            </a:r>
          </a:p>
        </p:txBody>
      </p:sp>
      <p:sp>
        <p:nvSpPr>
          <p:cNvPr id="6" name="Rettangolo 5">
            <a:extLst>
              <a:ext uri="{FF2B5EF4-FFF2-40B4-BE49-F238E27FC236}">
                <a16:creationId xmlns:a16="http://schemas.microsoft.com/office/drawing/2014/main" id="{F4EDF8AC-4E92-461B-895C-53D1DB7355BF}"/>
              </a:ext>
            </a:extLst>
          </p:cNvPr>
          <p:cNvSpPr>
            <a:spLocks noGrp="1"/>
          </p:cNvSpPr>
          <p:nvPr/>
        </p:nvSpPr>
        <p:spPr>
          <a:xfrm>
            <a:off x="685800" y="1257300"/>
            <a:ext cx="752475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Clean-condition directional error rates</a:t>
            </a:r>
          </a:p>
        </p:txBody>
      </p:sp>
      <p:graphicFrame>
        <p:nvGraphicFramePr>
          <p:cNvPr id="27" name="Chart"/>
          <p:cNvGraphicFramePr/>
          <p:nvPr/>
        </p:nvGraphicFramePr>
        <p:xfrm>
          <a:off x="533400" y="1504950"/>
          <a:ext cx="7810500" cy="4400550"/>
        </p:xfrm>
        <a:graphic>
          <a:graphicData uri="http://schemas.openxmlformats.org/drawingml/2006/chart">
            <c:chart xmlns:c="http://schemas.openxmlformats.org/drawingml/2006/chart" xmlns:r="http://schemas.openxmlformats.org/officeDocument/2006/relationships" r:id="rId3"/>
          </a:graphicData>
        </a:graphic>
      </p:graphicFrame>
      <p:sp>
        <p:nvSpPr>
          <p:cNvPr id="8" name="Rettangolo con angoli arrotondati 7">
            <a:extLst>
              <a:ext uri="{FF2B5EF4-FFF2-40B4-BE49-F238E27FC236}">
                <a16:creationId xmlns:a16="http://schemas.microsoft.com/office/drawing/2014/main" id="{B32211CA-359B-48C3-B5B4-E09B47E32F88}"/>
              </a:ext>
            </a:extLst>
          </p:cNvPr>
          <p:cNvSpPr>
            <a:spLocks noGrp="1"/>
          </p:cNvSpPr>
          <p:nvPr/>
        </p:nvSpPr>
        <p:spPr>
          <a:xfrm>
            <a:off x="8648700" y="1524000"/>
            <a:ext cx="2857500" cy="3829050"/>
          </a:xfrm>
          <a:prstGeom prst="roundRect">
            <a:avLst>
              <a:gd name="adj" fmla="val 6000"/>
            </a:avLst>
          </a:prstGeom>
          <a:solidFill>
            <a:srgbClr val="233A70"/>
          </a:solidFill>
          <a:ln w="0">
            <a:noFill/>
            <a:prstDash val="solid"/>
          </a:ln>
        </p:spPr>
        <p:txBody>
          <a:bodyPr/>
          <a:lstStyle/>
          <a:p>
            <a:endParaRPr/>
          </a:p>
        </p:txBody>
      </p:sp>
      <p:sp>
        <p:nvSpPr>
          <p:cNvPr id="9" name="Rettangolo 8">
            <a:extLst>
              <a:ext uri="{FF2B5EF4-FFF2-40B4-BE49-F238E27FC236}">
                <a16:creationId xmlns:a16="http://schemas.microsoft.com/office/drawing/2014/main" id="{AA5CA415-7615-47D2-9D36-55A55C537A04}"/>
              </a:ext>
            </a:extLst>
          </p:cNvPr>
          <p:cNvSpPr>
            <a:spLocks noGrp="1"/>
          </p:cNvSpPr>
          <p:nvPr/>
        </p:nvSpPr>
        <p:spPr>
          <a:xfrm>
            <a:off x="8877300" y="1809750"/>
            <a:ext cx="2400300" cy="26670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EXCIRE D20 → D80</a:t>
            </a:r>
          </a:p>
        </p:txBody>
      </p:sp>
      <p:sp>
        <p:nvSpPr>
          <p:cNvPr id="10" name="Rettangolo 9">
            <a:extLst>
              <a:ext uri="{FF2B5EF4-FFF2-40B4-BE49-F238E27FC236}">
                <a16:creationId xmlns:a16="http://schemas.microsoft.com/office/drawing/2014/main" id="{650148F9-8ED3-4F66-9B1A-1A6CE4A7D735}"/>
              </a:ext>
            </a:extLst>
          </p:cNvPr>
          <p:cNvSpPr>
            <a:spLocks noGrp="1"/>
          </p:cNvSpPr>
          <p:nvPr/>
        </p:nvSpPr>
        <p:spPr>
          <a:xfrm>
            <a:off x="8877300" y="236220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12.0%  →  1.4%</a:t>
            </a:r>
          </a:p>
        </p:txBody>
      </p:sp>
      <p:sp>
        <p:nvSpPr>
          <p:cNvPr id="11" name="Rettangolo 10">
            <a:extLst>
              <a:ext uri="{FF2B5EF4-FFF2-40B4-BE49-F238E27FC236}">
                <a16:creationId xmlns:a16="http://schemas.microsoft.com/office/drawing/2014/main" id="{8A701E2C-D64D-4975-A8E0-8B4746B56A04}"/>
              </a:ext>
            </a:extLst>
          </p:cNvPr>
          <p:cNvSpPr>
            <a:spLocks noGrp="1"/>
          </p:cNvSpPr>
          <p:nvPr/>
        </p:nvSpPr>
        <p:spPr>
          <a:xfrm>
            <a:off x="8877300" y="278130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missed-target rate</a:t>
            </a:r>
          </a:p>
        </p:txBody>
      </p:sp>
      <p:sp>
        <p:nvSpPr>
          <p:cNvPr id="12" name="Rettangolo 11">
            <a:extLst>
              <a:ext uri="{FF2B5EF4-FFF2-40B4-BE49-F238E27FC236}">
                <a16:creationId xmlns:a16="http://schemas.microsoft.com/office/drawing/2014/main" id="{005DAFCB-DAF8-45AC-A897-4BF08C50F272}"/>
              </a:ext>
            </a:extLst>
          </p:cNvPr>
          <p:cNvSpPr>
            <a:spLocks noGrp="1"/>
          </p:cNvSpPr>
          <p:nvPr/>
        </p:nvSpPr>
        <p:spPr>
          <a:xfrm>
            <a:off x="9163050" y="3219450"/>
            <a:ext cx="1828800" cy="19050"/>
          </a:xfrm>
          <a:prstGeom prst="rect">
            <a:avLst/>
          </a:prstGeom>
          <a:solidFill>
            <a:srgbClr val="536A9B"/>
          </a:solidFill>
          <a:ln w="0">
            <a:noFill/>
            <a:prstDash val="solid"/>
          </a:ln>
        </p:spPr>
        <p:txBody>
          <a:bodyPr/>
          <a:lstStyle/>
          <a:p>
            <a:endParaRPr/>
          </a:p>
        </p:txBody>
      </p:sp>
      <p:sp>
        <p:nvSpPr>
          <p:cNvPr id="13" name="Rettangolo 12">
            <a:extLst>
              <a:ext uri="{FF2B5EF4-FFF2-40B4-BE49-F238E27FC236}">
                <a16:creationId xmlns:a16="http://schemas.microsoft.com/office/drawing/2014/main" id="{16BAF519-5148-4A1A-B484-7B42D432C6F0}"/>
              </a:ext>
            </a:extLst>
          </p:cNvPr>
          <p:cNvSpPr>
            <a:spLocks noGrp="1"/>
          </p:cNvSpPr>
          <p:nvPr/>
        </p:nvSpPr>
        <p:spPr>
          <a:xfrm>
            <a:off x="8877300" y="344805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2.6%  →  15.6%</a:t>
            </a:r>
          </a:p>
        </p:txBody>
      </p:sp>
      <p:sp>
        <p:nvSpPr>
          <p:cNvPr id="14" name="Rettangolo 13">
            <a:extLst>
              <a:ext uri="{FF2B5EF4-FFF2-40B4-BE49-F238E27FC236}">
                <a16:creationId xmlns:a16="http://schemas.microsoft.com/office/drawing/2014/main" id="{F911A9A3-7270-4526-9632-3EC112625EF3}"/>
              </a:ext>
            </a:extLst>
          </p:cNvPr>
          <p:cNvSpPr>
            <a:spLocks noGrp="1"/>
          </p:cNvSpPr>
          <p:nvPr/>
        </p:nvSpPr>
        <p:spPr>
          <a:xfrm>
            <a:off x="8877300" y="386715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false-positive rate</a:t>
            </a:r>
          </a:p>
        </p:txBody>
      </p:sp>
      <p:sp>
        <p:nvSpPr>
          <p:cNvPr id="15" name="Rettangolo 14">
            <a:extLst>
              <a:ext uri="{FF2B5EF4-FFF2-40B4-BE49-F238E27FC236}">
                <a16:creationId xmlns:a16="http://schemas.microsoft.com/office/drawing/2014/main" id="{39F04AF7-B86E-4DE5-B20C-93E90631CB11}"/>
              </a:ext>
            </a:extLst>
          </p:cNvPr>
          <p:cNvSpPr>
            <a:spLocks noGrp="1"/>
          </p:cNvSpPr>
          <p:nvPr/>
        </p:nvSpPr>
        <p:spPr>
          <a:xfrm>
            <a:off x="9163050" y="4305300"/>
            <a:ext cx="1828800" cy="19050"/>
          </a:xfrm>
          <a:prstGeom prst="rect">
            <a:avLst/>
          </a:prstGeom>
          <a:solidFill>
            <a:srgbClr val="536A9B"/>
          </a:solidFill>
          <a:ln w="0">
            <a:noFill/>
            <a:prstDash val="solid"/>
          </a:ln>
        </p:spPr>
        <p:txBody>
          <a:bodyPr/>
          <a:lstStyle/>
          <a:p>
            <a:endParaRPr/>
          </a:p>
        </p:txBody>
      </p:sp>
      <p:sp>
        <p:nvSpPr>
          <p:cNvPr id="16" name="Rettangolo 15">
            <a:extLst>
              <a:ext uri="{FF2B5EF4-FFF2-40B4-BE49-F238E27FC236}">
                <a16:creationId xmlns:a16="http://schemas.microsoft.com/office/drawing/2014/main" id="{EAAD1828-F238-4BA2-BD2C-60615842DC5B}"/>
              </a:ext>
            </a:extLst>
          </p:cNvPr>
          <p:cNvSpPr>
            <a:spLocks noGrp="1"/>
          </p:cNvSpPr>
          <p:nvPr/>
        </p:nvSpPr>
        <p:spPr>
          <a:xfrm>
            <a:off x="8877300" y="453390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23.8%  →  52.2%</a:t>
            </a:r>
          </a:p>
        </p:txBody>
      </p:sp>
      <p:sp>
        <p:nvSpPr>
          <p:cNvPr id="17" name="Rettangolo 16">
            <a:extLst>
              <a:ext uri="{FF2B5EF4-FFF2-40B4-BE49-F238E27FC236}">
                <a16:creationId xmlns:a16="http://schemas.microsoft.com/office/drawing/2014/main" id="{ABC4CE77-AF49-48BF-981A-8A6598910C9D}"/>
              </a:ext>
            </a:extLst>
          </p:cNvPr>
          <p:cNvSpPr>
            <a:spLocks noGrp="1"/>
          </p:cNvSpPr>
          <p:nvPr/>
        </p:nvSpPr>
        <p:spPr>
          <a:xfrm>
            <a:off x="8877300" y="495300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OOD weapon assignment</a:t>
            </a:r>
          </a:p>
        </p:txBody>
      </p:sp>
      <p:sp>
        <p:nvSpPr>
          <p:cNvPr id="18" name="Rettangolo 17">
            <a:extLst>
              <a:ext uri="{FF2B5EF4-FFF2-40B4-BE49-F238E27FC236}">
                <a16:creationId xmlns:a16="http://schemas.microsoft.com/office/drawing/2014/main" id="{AA7ACF6B-58A7-4567-977D-A10198E44E94}"/>
              </a:ext>
            </a:extLst>
          </p:cNvPr>
          <p:cNvSpPr>
            <a:spLocks noGrp="1"/>
          </p:cNvSpPr>
          <p:nvPr/>
        </p:nvSpPr>
        <p:spPr>
          <a:xfrm>
            <a:off x="1333500" y="6076950"/>
            <a:ext cx="9525000" cy="285750"/>
          </a:xfrm>
          <a:prstGeom prst="rect">
            <a:avLst/>
          </a:prstGeom>
          <a:noFill/>
          <a:ln w="0">
            <a:noFill/>
            <a:prstDash val="solid"/>
          </a:ln>
        </p:spPr>
        <p:txBody>
          <a:bodyPr wrap="square" lIns="0" tIns="0" rIns="0" bIns="0" anchor="t">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No configuration minimizes missed targets, review workload and OOD assignments simultaneously.</a:t>
            </a:r>
          </a:p>
        </p:txBody>
      </p:sp>
    </p:spTree>
    <p:extLst>
      <p:ext uri="{BB962C8B-B14F-4D97-AF65-F5344CB8AC3E}">
        <p14:creationId xmlns:p14="http://schemas.microsoft.com/office/powerpoint/2010/main" val="18034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5" name="Rettangolo 14">
            <a:extLst>
              <a:ext uri="{FF2B5EF4-FFF2-40B4-BE49-F238E27FC236}">
                <a16:creationId xmlns:a16="http://schemas.microsoft.com/office/drawing/2014/main" id="{DED6D724-FE30-49AE-997C-C1887C78417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5EA681E0-927A-45B2-8337-239E5FF9E12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OOD images were still routed to weapon</a:t>
            </a:r>
          </a:p>
        </p:txBody>
      </p:sp>
      <p:sp>
        <p:nvSpPr>
          <p:cNvPr id="3" name="Rettangolo 2">
            <a:extLst>
              <a:ext uri="{FF2B5EF4-FFF2-40B4-BE49-F238E27FC236}">
                <a16:creationId xmlns:a16="http://schemas.microsoft.com/office/drawing/2014/main" id="{02E27C31-8D1E-4BD3-8929-482DDDC7B9EB}"/>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B23CCABE-2638-4044-8CC3-F8BDA96C8E5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32AC8A4D-2588-4B15-8350-592248936756}"/>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10</a:t>
            </a:r>
          </a:p>
        </p:txBody>
      </p:sp>
      <p:sp>
        <p:nvSpPr>
          <p:cNvPr id="6" name="Rettangolo 5">
            <a:extLst>
              <a:ext uri="{FF2B5EF4-FFF2-40B4-BE49-F238E27FC236}">
                <a16:creationId xmlns:a16="http://schemas.microsoft.com/office/drawing/2014/main" id="{C8C57C77-6DBD-44DA-9192-A78EE4E2B07D}"/>
              </a:ext>
            </a:extLst>
          </p:cNvPr>
          <p:cNvSpPr>
            <a:spLocks noGrp="1"/>
          </p:cNvSpPr>
          <p:nvPr/>
        </p:nvSpPr>
        <p:spPr>
          <a:xfrm>
            <a:off x="685800" y="1257300"/>
            <a:ext cx="78105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Weapon-assignment rate on the separate 500-image OOD branch</a:t>
            </a:r>
          </a:p>
        </p:txBody>
      </p:sp>
      <p:graphicFrame>
        <p:nvGraphicFramePr>
          <p:cNvPr id="23" name="Chart"/>
          <p:cNvGraphicFramePr/>
          <p:nvPr/>
        </p:nvGraphicFramePr>
        <p:xfrm>
          <a:off x="533400" y="1466850"/>
          <a:ext cx="8001000" cy="4648200"/>
        </p:xfrm>
        <a:graphic>
          <a:graphicData uri="http://schemas.openxmlformats.org/drawingml/2006/chart">
            <c:chart xmlns:c="http://schemas.openxmlformats.org/drawingml/2006/chart" xmlns:r="http://schemas.openxmlformats.org/officeDocument/2006/relationships" r:id="rId3"/>
          </a:graphicData>
        </a:graphic>
      </p:graphicFrame>
      <p:sp>
        <p:nvSpPr>
          <p:cNvPr id="8" name="Rettangolo con angoli arrotondati 7">
            <a:extLst>
              <a:ext uri="{FF2B5EF4-FFF2-40B4-BE49-F238E27FC236}">
                <a16:creationId xmlns:a16="http://schemas.microsoft.com/office/drawing/2014/main" id="{162DD1E9-B02D-4444-9572-E8249CCCA93D}"/>
              </a:ext>
            </a:extLst>
          </p:cNvPr>
          <p:cNvSpPr>
            <a:spLocks noGrp="1"/>
          </p:cNvSpPr>
          <p:nvPr/>
        </p:nvSpPr>
        <p:spPr>
          <a:xfrm>
            <a:off x="8858250" y="1619250"/>
            <a:ext cx="2647950" cy="1428750"/>
          </a:xfrm>
          <a:prstGeom prst="roundRect">
            <a:avLst>
              <a:gd name="adj" fmla="val 12000"/>
            </a:avLst>
          </a:prstGeom>
          <a:solidFill>
            <a:srgbClr val="FBEAEA"/>
          </a:solidFill>
          <a:ln w="0">
            <a:noFill/>
            <a:prstDash val="solid"/>
          </a:ln>
        </p:spPr>
        <p:txBody>
          <a:bodyPr/>
          <a:lstStyle/>
          <a:p>
            <a:endParaRPr/>
          </a:p>
        </p:txBody>
      </p:sp>
      <p:sp>
        <p:nvSpPr>
          <p:cNvPr id="9" name="Rettangolo 8">
            <a:extLst>
              <a:ext uri="{FF2B5EF4-FFF2-40B4-BE49-F238E27FC236}">
                <a16:creationId xmlns:a16="http://schemas.microsoft.com/office/drawing/2014/main" id="{C66F82BF-F8CF-4914-8747-DF7B49329C5C}"/>
              </a:ext>
            </a:extLst>
          </p:cNvPr>
          <p:cNvSpPr>
            <a:spLocks noGrp="1"/>
          </p:cNvSpPr>
          <p:nvPr/>
        </p:nvSpPr>
        <p:spPr>
          <a:xfrm>
            <a:off x="9048750" y="1943100"/>
            <a:ext cx="2266950" cy="571500"/>
          </a:xfrm>
          <a:prstGeom prst="rect">
            <a:avLst/>
          </a:prstGeom>
          <a:noFill/>
          <a:ln w="0">
            <a:noFill/>
            <a:prstDash val="solid"/>
          </a:ln>
        </p:spPr>
        <p:txBody>
          <a:bodyPr wrap="square" lIns="0" tIns="0" rIns="0" bIns="0" anchor="t">
            <a:noAutofit/>
          </a:bodyPr>
          <a:lstStyle/>
          <a:p>
            <a:pPr algn="ctr">
              <a:buNone/>
              <a:defRPr sz="3675" b="1">
                <a:solidFill>
                  <a:srgbClr val="BE3C37"/>
                </a:solidFill>
                <a:latin typeface="Arial"/>
                <a:ea typeface="Arial"/>
                <a:cs typeface="Arial"/>
              </a:defRPr>
            </a:pPr>
            <a:r>
              <a:rPr sz="3675" b="1">
                <a:solidFill>
                  <a:srgbClr val="BE3C37"/>
                </a:solidFill>
                <a:latin typeface="Arial"/>
                <a:ea typeface="Arial"/>
                <a:cs typeface="Arial"/>
              </a:rPr>
              <a:t>83.6%</a:t>
            </a:r>
          </a:p>
        </p:txBody>
      </p:sp>
      <p:sp>
        <p:nvSpPr>
          <p:cNvPr id="10" name="Rettangolo 9">
            <a:extLst>
              <a:ext uri="{FF2B5EF4-FFF2-40B4-BE49-F238E27FC236}">
                <a16:creationId xmlns:a16="http://schemas.microsoft.com/office/drawing/2014/main" id="{FB8121E6-B232-4F7B-975D-38945AFE3309}"/>
              </a:ext>
            </a:extLst>
          </p:cNvPr>
          <p:cNvSpPr>
            <a:spLocks noGrp="1"/>
          </p:cNvSpPr>
          <p:nvPr/>
        </p:nvSpPr>
        <p:spPr>
          <a:xfrm>
            <a:off x="9048750" y="2590800"/>
            <a:ext cx="2266950" cy="266700"/>
          </a:xfrm>
          <a:prstGeom prst="rect">
            <a:avLst/>
          </a:prstGeom>
          <a:noFill/>
          <a:ln w="0">
            <a:noFill/>
            <a:prstDash val="solid"/>
          </a:ln>
        </p:spPr>
        <p:txBody>
          <a:bodyPr wrap="square" lIns="0" tIns="0" rIns="0" bIns="0" anchor="t">
            <a:noAutofit/>
          </a:bodyPr>
          <a:lstStyle/>
          <a:p>
            <a:pPr algn="ctr">
              <a:buNone/>
              <a:defRPr sz="1500" b="1">
                <a:solidFill>
                  <a:srgbClr val="172033"/>
                </a:solidFill>
                <a:latin typeface="Arial"/>
                <a:ea typeface="Arial"/>
                <a:cs typeface="Arial"/>
              </a:defRPr>
            </a:pPr>
            <a:r>
              <a:rPr sz="1500" b="1">
                <a:solidFill>
                  <a:srgbClr val="172033"/>
                </a:solidFill>
                <a:latin typeface="Arial"/>
                <a:ea typeface="Arial"/>
                <a:cs typeface="Arial"/>
              </a:rPr>
              <a:t>CLIP proxy</a:t>
            </a:r>
          </a:p>
        </p:txBody>
      </p:sp>
      <p:sp>
        <p:nvSpPr>
          <p:cNvPr id="11" name="Rettangolo con angoli arrotondati 10">
            <a:extLst>
              <a:ext uri="{FF2B5EF4-FFF2-40B4-BE49-F238E27FC236}">
                <a16:creationId xmlns:a16="http://schemas.microsoft.com/office/drawing/2014/main" id="{C227376D-1F4B-4368-B470-3C3C554720A1}"/>
              </a:ext>
            </a:extLst>
          </p:cNvPr>
          <p:cNvSpPr>
            <a:spLocks noGrp="1"/>
          </p:cNvSpPr>
          <p:nvPr/>
        </p:nvSpPr>
        <p:spPr>
          <a:xfrm>
            <a:off x="8858250" y="3314700"/>
            <a:ext cx="2647950" cy="1428750"/>
          </a:xfrm>
          <a:prstGeom prst="roundRect">
            <a:avLst>
              <a:gd name="adj" fmla="val 12000"/>
            </a:avLst>
          </a:prstGeom>
          <a:solidFill>
            <a:srgbClr val="FFF4CD"/>
          </a:solidFill>
          <a:ln w="0">
            <a:noFill/>
            <a:prstDash val="solid"/>
          </a:ln>
        </p:spPr>
        <p:txBody>
          <a:bodyPr/>
          <a:lstStyle/>
          <a:p>
            <a:endParaRPr/>
          </a:p>
        </p:txBody>
      </p:sp>
      <p:sp>
        <p:nvSpPr>
          <p:cNvPr id="12" name="Rettangolo 11">
            <a:extLst>
              <a:ext uri="{FF2B5EF4-FFF2-40B4-BE49-F238E27FC236}">
                <a16:creationId xmlns:a16="http://schemas.microsoft.com/office/drawing/2014/main" id="{F2B5D134-0109-4C0B-83F0-6B3FC048A3AC}"/>
              </a:ext>
            </a:extLst>
          </p:cNvPr>
          <p:cNvSpPr>
            <a:spLocks noGrp="1"/>
          </p:cNvSpPr>
          <p:nvPr/>
        </p:nvSpPr>
        <p:spPr>
          <a:xfrm>
            <a:off x="9048750" y="3638550"/>
            <a:ext cx="2266950" cy="571500"/>
          </a:xfrm>
          <a:prstGeom prst="rect">
            <a:avLst/>
          </a:prstGeom>
          <a:noFill/>
          <a:ln w="0">
            <a:noFill/>
            <a:prstDash val="solid"/>
          </a:ln>
        </p:spPr>
        <p:txBody>
          <a:bodyPr wrap="square" lIns="0" tIns="0" rIns="0" bIns="0" anchor="t">
            <a:noAutofit/>
          </a:bodyPr>
          <a:lstStyle/>
          <a:p>
            <a:pPr algn="ctr">
              <a:buNone/>
              <a:defRPr sz="2700" b="1">
                <a:solidFill>
                  <a:srgbClr val="C89B14"/>
                </a:solidFill>
                <a:latin typeface="Arial"/>
                <a:ea typeface="Arial"/>
                <a:cs typeface="Arial"/>
              </a:defRPr>
            </a:pPr>
            <a:r>
              <a:rPr sz="2700" b="1">
                <a:solidFill>
                  <a:srgbClr val="C89B14"/>
                </a:solidFill>
                <a:latin typeface="Arial"/>
                <a:ea typeface="Arial"/>
                <a:cs typeface="Arial"/>
              </a:rPr>
              <a:t>23.8–52.2%</a:t>
            </a:r>
          </a:p>
        </p:txBody>
      </p:sp>
      <p:sp>
        <p:nvSpPr>
          <p:cNvPr id="13" name="Rettangolo 12">
            <a:extLst>
              <a:ext uri="{FF2B5EF4-FFF2-40B4-BE49-F238E27FC236}">
                <a16:creationId xmlns:a16="http://schemas.microsoft.com/office/drawing/2014/main" id="{6C367E04-4539-48B7-95FD-25BE3AFE42D3}"/>
              </a:ext>
            </a:extLst>
          </p:cNvPr>
          <p:cNvSpPr>
            <a:spLocks noGrp="1"/>
          </p:cNvSpPr>
          <p:nvPr/>
        </p:nvSpPr>
        <p:spPr>
          <a:xfrm>
            <a:off x="9048750" y="4286250"/>
            <a:ext cx="2266950" cy="266700"/>
          </a:xfrm>
          <a:prstGeom prst="rect">
            <a:avLst/>
          </a:prstGeom>
          <a:noFill/>
          <a:ln w="0">
            <a:noFill/>
            <a:prstDash val="solid"/>
          </a:ln>
        </p:spPr>
        <p:txBody>
          <a:bodyPr wrap="square" lIns="0" tIns="0" rIns="0" bIns="0" anchor="t">
            <a:noAutofit/>
          </a:bodyPr>
          <a:lstStyle/>
          <a:p>
            <a:pPr algn="ctr">
              <a:buNone/>
              <a:defRPr sz="1500" b="1">
                <a:solidFill>
                  <a:srgbClr val="172033"/>
                </a:solidFill>
                <a:latin typeface="Arial"/>
                <a:ea typeface="Arial"/>
                <a:cs typeface="Arial"/>
              </a:defRPr>
            </a:pPr>
            <a:r>
              <a:rPr sz="1500" b="1">
                <a:solidFill>
                  <a:srgbClr val="172033"/>
                </a:solidFill>
                <a:latin typeface="Arial"/>
                <a:ea typeface="Arial"/>
                <a:cs typeface="Arial"/>
              </a:rPr>
              <a:t>black-box range</a:t>
            </a:r>
          </a:p>
        </p:txBody>
      </p:sp>
      <p:sp>
        <p:nvSpPr>
          <p:cNvPr id="14" name="Rettangolo 13">
            <a:extLst>
              <a:ext uri="{FF2B5EF4-FFF2-40B4-BE49-F238E27FC236}">
                <a16:creationId xmlns:a16="http://schemas.microsoft.com/office/drawing/2014/main" id="{ED55BAD6-5F50-4762-AA30-51DEBFC8C1C5}"/>
              </a:ext>
            </a:extLst>
          </p:cNvPr>
          <p:cNvSpPr>
            <a:spLocks noGrp="1"/>
          </p:cNvSpPr>
          <p:nvPr/>
        </p:nvSpPr>
        <p:spPr>
          <a:xfrm>
            <a:off x="8820150" y="5143500"/>
            <a:ext cx="2724150" cy="647700"/>
          </a:xfrm>
          <a:prstGeom prst="rect">
            <a:avLst/>
          </a:prstGeom>
          <a:noFill/>
          <a:ln w="0">
            <a:noFill/>
            <a:prstDash val="solid"/>
          </a:ln>
        </p:spPr>
        <p:txBody>
          <a:bodyPr wrap="square" lIns="0" tIns="0" rIns="0" bIns="0" anchor="ctr">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These are closed-set operating behaviors—not supervised false positives.</a:t>
            </a:r>
          </a:p>
        </p:txBody>
      </p:sp>
    </p:spTree>
    <p:extLst>
      <p:ext uri="{BB962C8B-B14F-4D97-AF65-F5344CB8AC3E}">
        <p14:creationId xmlns:p14="http://schemas.microsoft.com/office/powerpoint/2010/main" val="937685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6" name="Rettangolo 25">
            <a:extLst>
              <a:ext uri="{FF2B5EF4-FFF2-40B4-BE49-F238E27FC236}">
                <a16:creationId xmlns:a16="http://schemas.microsoft.com/office/drawing/2014/main" id="{5645DA4D-5BF9-4953-8433-9A7E419FF066}"/>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E4F3758C-2532-486E-A04E-E3D13E2CDF8A}"/>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 maximally concentrated output can still be wrong</a:t>
            </a:r>
          </a:p>
        </p:txBody>
      </p:sp>
      <p:sp>
        <p:nvSpPr>
          <p:cNvPr id="3" name="Rettangolo 2">
            <a:extLst>
              <a:ext uri="{FF2B5EF4-FFF2-40B4-BE49-F238E27FC236}">
                <a16:creationId xmlns:a16="http://schemas.microsoft.com/office/drawing/2014/main" id="{CA526874-FE39-4860-AE76-8FB19350DF74}"/>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A090AA1-0FBA-403D-B515-3D72E084FF70}"/>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E694E014-2838-430B-BED6-5AAAE1012DAB}"/>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11</a:t>
            </a:r>
          </a:p>
        </p:txBody>
      </p:sp>
      <p:pic>
        <p:nvPicPr>
          <p:cNvPr id="35" name="Picture 26"/>
          <p:cNvPicPr>
            <a:picLocks noChangeAspect="1"/>
          </p:cNvPicPr>
          <p:nvPr/>
        </p:nvPicPr>
        <p:blipFill>
          <a:blip r:embed="rId3"/>
          <a:srcRect/>
          <a:stretch>
            <a:fillRect/>
          </a:stretch>
        </p:blipFill>
        <p:spPr>
          <a:xfrm>
            <a:off x="685800" y="1638300"/>
            <a:ext cx="2000250" cy="2000250"/>
          </a:xfrm>
          <a:prstGeom prst="rect">
            <a:avLst/>
          </a:prstGeom>
        </p:spPr>
      </p:pic>
      <p:sp>
        <p:nvSpPr>
          <p:cNvPr id="7" name="Rettangolo 6">
            <a:extLst>
              <a:ext uri="{FF2B5EF4-FFF2-40B4-BE49-F238E27FC236}">
                <a16:creationId xmlns:a16="http://schemas.microsoft.com/office/drawing/2014/main" id="{F435B978-2CD2-4500-A3CA-AAC78EA22718}"/>
              </a:ext>
            </a:extLst>
          </p:cNvPr>
          <p:cNvSpPr>
            <a:spLocks noGrp="1"/>
          </p:cNvSpPr>
          <p:nvPr/>
        </p:nvSpPr>
        <p:spPr>
          <a:xfrm>
            <a:off x="68580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Perturbed input</a:t>
            </a:r>
          </a:p>
        </p:txBody>
      </p:sp>
      <p:sp>
        <p:nvSpPr>
          <p:cNvPr id="8" name="Rettangolo 7">
            <a:extLst>
              <a:ext uri="{FF2B5EF4-FFF2-40B4-BE49-F238E27FC236}">
                <a16:creationId xmlns:a16="http://schemas.microsoft.com/office/drawing/2014/main" id="{B1989978-C8F3-45F2-99A5-CA65821A908A}"/>
              </a:ext>
            </a:extLst>
          </p:cNvPr>
          <p:cNvSpPr>
            <a:spLocks noGrp="1"/>
          </p:cNvSpPr>
          <p:nvPr/>
        </p:nvSpPr>
        <p:spPr>
          <a:xfrm>
            <a:off x="68580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Sigma Zero</a:t>
            </a:r>
          </a:p>
        </p:txBody>
      </p:sp>
      <p:pic>
        <p:nvPicPr>
          <p:cNvPr id="38" name="Picture 27"/>
          <p:cNvPicPr>
            <a:picLocks noChangeAspect="1"/>
          </p:cNvPicPr>
          <p:nvPr/>
        </p:nvPicPr>
        <p:blipFill>
          <a:blip r:embed="rId4"/>
          <a:srcRect/>
          <a:stretch>
            <a:fillRect/>
          </a:stretch>
        </p:blipFill>
        <p:spPr>
          <a:xfrm>
            <a:off x="2990850" y="1638300"/>
            <a:ext cx="2000250" cy="2000250"/>
          </a:xfrm>
          <a:prstGeom prst="rect">
            <a:avLst/>
          </a:prstGeom>
        </p:spPr>
      </p:pic>
      <p:sp>
        <p:nvSpPr>
          <p:cNvPr id="10" name="Rettangolo 9">
            <a:extLst>
              <a:ext uri="{FF2B5EF4-FFF2-40B4-BE49-F238E27FC236}">
                <a16:creationId xmlns:a16="http://schemas.microsoft.com/office/drawing/2014/main" id="{E91D850F-EA38-4FEE-BE99-2BC2EB72ECB5}"/>
              </a:ext>
            </a:extLst>
          </p:cNvPr>
          <p:cNvSpPr>
            <a:spLocks noGrp="1"/>
          </p:cNvSpPr>
          <p:nvPr/>
        </p:nvSpPr>
        <p:spPr>
          <a:xfrm>
            <a:off x="299085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IG magnitude</a:t>
            </a:r>
          </a:p>
        </p:txBody>
      </p:sp>
      <p:sp>
        <p:nvSpPr>
          <p:cNvPr id="11" name="Rettangolo 10">
            <a:extLst>
              <a:ext uri="{FF2B5EF4-FFF2-40B4-BE49-F238E27FC236}">
                <a16:creationId xmlns:a16="http://schemas.microsoft.com/office/drawing/2014/main" id="{8491799F-BA10-4AA0-9BE0-C7F292FCB7FE}"/>
              </a:ext>
            </a:extLst>
          </p:cNvPr>
          <p:cNvSpPr>
            <a:spLocks noGrp="1"/>
          </p:cNvSpPr>
          <p:nvPr/>
        </p:nvSpPr>
        <p:spPr>
          <a:xfrm>
            <a:off x="299085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predicted class</a:t>
            </a:r>
          </a:p>
        </p:txBody>
      </p:sp>
      <p:pic>
        <p:nvPicPr>
          <p:cNvPr id="41" name="Picture 28"/>
          <p:cNvPicPr>
            <a:picLocks noChangeAspect="1"/>
          </p:cNvPicPr>
          <p:nvPr/>
        </p:nvPicPr>
        <p:blipFill>
          <a:blip r:embed="rId5"/>
          <a:srcRect/>
          <a:stretch>
            <a:fillRect/>
          </a:stretch>
        </p:blipFill>
        <p:spPr>
          <a:xfrm>
            <a:off x="5295900" y="1638300"/>
            <a:ext cx="2000250" cy="2000250"/>
          </a:xfrm>
          <a:prstGeom prst="rect">
            <a:avLst/>
          </a:prstGeom>
        </p:spPr>
      </p:pic>
      <p:sp>
        <p:nvSpPr>
          <p:cNvPr id="13" name="Rettangolo 12">
            <a:extLst>
              <a:ext uri="{FF2B5EF4-FFF2-40B4-BE49-F238E27FC236}">
                <a16:creationId xmlns:a16="http://schemas.microsoft.com/office/drawing/2014/main" id="{BD18B2E2-966E-4B84-B33C-A64D6FBBD8E2}"/>
              </a:ext>
            </a:extLst>
          </p:cNvPr>
          <p:cNvSpPr>
            <a:spLocks noGrp="1"/>
          </p:cNvSpPr>
          <p:nvPr/>
        </p:nvSpPr>
        <p:spPr>
          <a:xfrm>
            <a:off x="529590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Attribution overlay</a:t>
            </a:r>
          </a:p>
        </p:txBody>
      </p:sp>
      <p:sp>
        <p:nvSpPr>
          <p:cNvPr id="14" name="Rettangolo 13">
            <a:extLst>
              <a:ext uri="{FF2B5EF4-FFF2-40B4-BE49-F238E27FC236}">
                <a16:creationId xmlns:a16="http://schemas.microsoft.com/office/drawing/2014/main" id="{F42CFE87-0CE4-4FBF-BED1-B5868165BBDA}"/>
              </a:ext>
            </a:extLst>
          </p:cNvPr>
          <p:cNvSpPr>
            <a:spLocks noGrp="1"/>
          </p:cNvSpPr>
          <p:nvPr/>
        </p:nvSpPr>
        <p:spPr>
          <a:xfrm>
            <a:off x="529590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qualitative only</a:t>
            </a:r>
          </a:p>
        </p:txBody>
      </p:sp>
      <p:sp>
        <p:nvSpPr>
          <p:cNvPr id="15" name="Rettangolo con angoli arrotondati 14">
            <a:extLst>
              <a:ext uri="{FF2B5EF4-FFF2-40B4-BE49-F238E27FC236}">
                <a16:creationId xmlns:a16="http://schemas.microsoft.com/office/drawing/2014/main" id="{FA069229-F17B-4C8B-BB46-930BCC99CC7F}"/>
              </a:ext>
            </a:extLst>
          </p:cNvPr>
          <p:cNvSpPr>
            <a:spLocks noGrp="1"/>
          </p:cNvSpPr>
          <p:nvPr/>
        </p:nvSpPr>
        <p:spPr>
          <a:xfrm>
            <a:off x="7810500" y="1562100"/>
            <a:ext cx="3695700" cy="2857500"/>
          </a:xfrm>
          <a:prstGeom prst="roundRect">
            <a:avLst>
              <a:gd name="adj" fmla="val 6667"/>
            </a:avLst>
          </a:prstGeom>
          <a:solidFill>
            <a:srgbClr val="233A70"/>
          </a:solidFill>
          <a:ln w="0">
            <a:noFill/>
            <a:prstDash val="solid"/>
          </a:ln>
        </p:spPr>
        <p:txBody>
          <a:bodyPr/>
          <a:lstStyle/>
          <a:p>
            <a:endParaRPr/>
          </a:p>
        </p:txBody>
      </p:sp>
      <p:sp>
        <p:nvSpPr>
          <p:cNvPr id="16" name="Rettangolo 15">
            <a:extLst>
              <a:ext uri="{FF2B5EF4-FFF2-40B4-BE49-F238E27FC236}">
                <a16:creationId xmlns:a16="http://schemas.microsoft.com/office/drawing/2014/main" id="{7D25BA6B-1106-4A33-832D-36A979EC83DB}"/>
              </a:ext>
            </a:extLst>
          </p:cNvPr>
          <p:cNvSpPr>
            <a:spLocks noGrp="1"/>
          </p:cNvSpPr>
          <p:nvPr/>
        </p:nvSpPr>
        <p:spPr>
          <a:xfrm>
            <a:off x="8096250" y="1828800"/>
            <a:ext cx="3124200" cy="228600"/>
          </a:xfrm>
          <a:prstGeom prst="rect">
            <a:avLst/>
          </a:prstGeom>
          <a:noFill/>
          <a:ln w="0">
            <a:noFill/>
            <a:prstDash val="solid"/>
          </a:ln>
        </p:spPr>
        <p:txBody>
          <a:bodyPr wrap="square" lIns="0" tIns="0" rIns="0" bIns="0" anchor="t">
            <a:noAutofit/>
          </a:bodyPr>
          <a:lstStyle/>
          <a:p>
            <a:pPr algn="ctr">
              <a:buNone/>
              <a:defRPr sz="1275" b="1">
                <a:solidFill>
                  <a:srgbClr val="14B978"/>
                </a:solidFill>
                <a:latin typeface="Arial"/>
                <a:ea typeface="Arial"/>
                <a:cs typeface="Arial"/>
              </a:defRPr>
            </a:pPr>
            <a:r>
              <a:rPr sz="1275" b="1">
                <a:solidFill>
                  <a:srgbClr val="14B978"/>
                </a:solidFill>
                <a:latin typeface="Arial"/>
                <a:ea typeface="Arial"/>
                <a:cs typeface="Arial"/>
              </a:rPr>
              <a:t>xai_case_0015</a:t>
            </a:r>
          </a:p>
        </p:txBody>
      </p:sp>
      <p:sp>
        <p:nvSpPr>
          <p:cNvPr id="17" name="Rettangolo 16">
            <a:extLst>
              <a:ext uri="{FF2B5EF4-FFF2-40B4-BE49-F238E27FC236}">
                <a16:creationId xmlns:a16="http://schemas.microsoft.com/office/drawing/2014/main" id="{3EAB3D39-A4EA-43CB-9D21-A6855C38A875}"/>
              </a:ext>
            </a:extLst>
          </p:cNvPr>
          <p:cNvSpPr>
            <a:spLocks noGrp="1"/>
          </p:cNvSpPr>
          <p:nvPr/>
        </p:nvSpPr>
        <p:spPr>
          <a:xfrm>
            <a:off x="8096250" y="2305050"/>
            <a:ext cx="1333500" cy="228600"/>
          </a:xfrm>
          <a:prstGeom prst="rect">
            <a:avLst/>
          </a:prstGeom>
          <a:noFill/>
          <a:ln w="0">
            <a:noFill/>
            <a:prstDash val="solid"/>
          </a:ln>
        </p:spPr>
        <p:txBody>
          <a:bodyPr wrap="square" lIns="0" tIns="0" rIns="0" bIns="0" anchor="t">
            <a:noAutofit/>
          </a:bodyPr>
          <a:lstStyle/>
          <a:p>
            <a:pPr algn="ctr">
              <a:buNone/>
              <a:defRPr sz="1200" b="1">
                <a:solidFill>
                  <a:srgbClr val="DCE4F3"/>
                </a:solidFill>
                <a:latin typeface="Arial"/>
                <a:ea typeface="Arial"/>
                <a:cs typeface="Arial"/>
              </a:defRPr>
            </a:pPr>
            <a:r>
              <a:rPr sz="1200" b="1">
                <a:solidFill>
                  <a:srgbClr val="DCE4F3"/>
                </a:solidFill>
                <a:latin typeface="Arial"/>
                <a:ea typeface="Arial"/>
                <a:cs typeface="Arial"/>
              </a:rPr>
              <a:t>REFERENCE</a:t>
            </a:r>
          </a:p>
        </p:txBody>
      </p:sp>
      <p:sp>
        <p:nvSpPr>
          <p:cNvPr id="18" name="Rettangolo 17">
            <a:extLst>
              <a:ext uri="{FF2B5EF4-FFF2-40B4-BE49-F238E27FC236}">
                <a16:creationId xmlns:a16="http://schemas.microsoft.com/office/drawing/2014/main" id="{C1C5FAD1-3F30-4059-A516-5B8394AAE46E}"/>
              </a:ext>
            </a:extLst>
          </p:cNvPr>
          <p:cNvSpPr>
            <a:spLocks noGrp="1"/>
          </p:cNvSpPr>
          <p:nvPr/>
        </p:nvSpPr>
        <p:spPr>
          <a:xfrm>
            <a:off x="8096250" y="2590800"/>
            <a:ext cx="133350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non_weapon</a:t>
            </a:r>
          </a:p>
        </p:txBody>
      </p:sp>
      <p:sp>
        <p:nvSpPr>
          <p:cNvPr id="19" name="Rettangolo 18">
            <a:extLst>
              <a:ext uri="{FF2B5EF4-FFF2-40B4-BE49-F238E27FC236}">
                <a16:creationId xmlns:a16="http://schemas.microsoft.com/office/drawing/2014/main" id="{535795A5-21C9-4CC4-AF05-3AA3207A1EC2}"/>
              </a:ext>
            </a:extLst>
          </p:cNvPr>
          <p:cNvSpPr>
            <a:spLocks noGrp="1"/>
          </p:cNvSpPr>
          <p:nvPr/>
        </p:nvSpPr>
        <p:spPr>
          <a:xfrm>
            <a:off x="9886950" y="2305050"/>
            <a:ext cx="1333500" cy="228600"/>
          </a:xfrm>
          <a:prstGeom prst="rect">
            <a:avLst/>
          </a:prstGeom>
          <a:noFill/>
          <a:ln w="0">
            <a:noFill/>
            <a:prstDash val="solid"/>
          </a:ln>
        </p:spPr>
        <p:txBody>
          <a:bodyPr wrap="square" lIns="0" tIns="0" rIns="0" bIns="0" anchor="t">
            <a:noAutofit/>
          </a:bodyPr>
          <a:lstStyle/>
          <a:p>
            <a:pPr algn="ctr">
              <a:buNone/>
              <a:defRPr sz="1200" b="1">
                <a:solidFill>
                  <a:srgbClr val="DCE4F3"/>
                </a:solidFill>
                <a:latin typeface="Arial"/>
                <a:ea typeface="Arial"/>
                <a:cs typeface="Arial"/>
              </a:defRPr>
            </a:pPr>
            <a:r>
              <a:rPr sz="1200" b="1">
                <a:solidFill>
                  <a:srgbClr val="DCE4F3"/>
                </a:solidFill>
                <a:latin typeface="Arial"/>
                <a:ea typeface="Arial"/>
                <a:cs typeface="Arial"/>
              </a:rPr>
              <a:t>PREDICTION</a:t>
            </a:r>
          </a:p>
        </p:txBody>
      </p:sp>
      <p:sp>
        <p:nvSpPr>
          <p:cNvPr id="20" name="Rettangolo 19">
            <a:extLst>
              <a:ext uri="{FF2B5EF4-FFF2-40B4-BE49-F238E27FC236}">
                <a16:creationId xmlns:a16="http://schemas.microsoft.com/office/drawing/2014/main" id="{9864EAE4-9F0E-4EF8-8279-3D124BC4010B}"/>
              </a:ext>
            </a:extLst>
          </p:cNvPr>
          <p:cNvSpPr>
            <a:spLocks noGrp="1"/>
          </p:cNvSpPr>
          <p:nvPr/>
        </p:nvSpPr>
        <p:spPr>
          <a:xfrm>
            <a:off x="9886950" y="2590800"/>
            <a:ext cx="133350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weapon</a:t>
            </a:r>
          </a:p>
        </p:txBody>
      </p:sp>
      <p:sp>
        <p:nvSpPr>
          <p:cNvPr id="21" name="Rettangolo 20">
            <a:extLst>
              <a:ext uri="{FF2B5EF4-FFF2-40B4-BE49-F238E27FC236}">
                <a16:creationId xmlns:a16="http://schemas.microsoft.com/office/drawing/2014/main" id="{471C4D3D-721D-4498-8EFA-1BF90F405B30}"/>
              </a:ext>
            </a:extLst>
          </p:cNvPr>
          <p:cNvSpPr>
            <a:spLocks noGrp="1"/>
          </p:cNvSpPr>
          <p:nvPr/>
        </p:nvSpPr>
        <p:spPr>
          <a:xfrm>
            <a:off x="8172450" y="3124200"/>
            <a:ext cx="2971800" cy="19050"/>
          </a:xfrm>
          <a:prstGeom prst="rect">
            <a:avLst/>
          </a:prstGeom>
          <a:solidFill>
            <a:srgbClr val="536A9B"/>
          </a:solidFill>
          <a:ln w="0">
            <a:noFill/>
            <a:prstDash val="solid"/>
          </a:ln>
        </p:spPr>
        <p:txBody>
          <a:bodyPr/>
          <a:lstStyle/>
          <a:p>
            <a:endParaRPr/>
          </a:p>
        </p:txBody>
      </p:sp>
      <p:sp>
        <p:nvSpPr>
          <p:cNvPr id="22" name="Rettangolo 21">
            <a:extLst>
              <a:ext uri="{FF2B5EF4-FFF2-40B4-BE49-F238E27FC236}">
                <a16:creationId xmlns:a16="http://schemas.microsoft.com/office/drawing/2014/main" id="{A2E0B2CD-9A4A-41BF-8D83-9380D61CA4D4}"/>
              </a:ext>
            </a:extLst>
          </p:cNvPr>
          <p:cNvSpPr>
            <a:spLocks noGrp="1"/>
          </p:cNvSpPr>
          <p:nvPr/>
        </p:nvSpPr>
        <p:spPr>
          <a:xfrm>
            <a:off x="8096250" y="3371850"/>
            <a:ext cx="3124200" cy="209550"/>
          </a:xfrm>
          <a:prstGeom prst="rect">
            <a:avLst/>
          </a:prstGeom>
          <a:noFill/>
          <a:ln w="0">
            <a:noFill/>
            <a:prstDash val="solid"/>
          </a:ln>
        </p:spPr>
        <p:txBody>
          <a:bodyPr wrap="square" lIns="0" tIns="0" rIns="0" bIns="0" anchor="t">
            <a:noAutofit/>
          </a:bodyPr>
          <a:lstStyle/>
          <a:p>
            <a:pPr algn="ctr">
              <a:buNone/>
              <a:defRPr sz="1200" b="1">
                <a:solidFill>
                  <a:srgbClr val="14B978"/>
                </a:solidFill>
                <a:latin typeface="Arial"/>
                <a:ea typeface="Arial"/>
                <a:cs typeface="Arial"/>
              </a:defRPr>
            </a:pPr>
            <a:r>
              <a:rPr sz="1200" b="1">
                <a:solidFill>
                  <a:srgbClr val="14B978"/>
                </a:solidFill>
                <a:latin typeface="Arial"/>
                <a:ea typeface="Arial"/>
                <a:cs typeface="Arial"/>
              </a:rPr>
              <a:t>MAX-P</a:t>
            </a:r>
          </a:p>
        </p:txBody>
      </p:sp>
      <p:sp>
        <p:nvSpPr>
          <p:cNvPr id="23" name="Rettangolo 22">
            <a:extLst>
              <a:ext uri="{FF2B5EF4-FFF2-40B4-BE49-F238E27FC236}">
                <a16:creationId xmlns:a16="http://schemas.microsoft.com/office/drawing/2014/main" id="{09EB84B4-E40A-4FB5-A6A0-847175A7A7AD}"/>
              </a:ext>
            </a:extLst>
          </p:cNvPr>
          <p:cNvSpPr>
            <a:spLocks noGrp="1"/>
          </p:cNvSpPr>
          <p:nvPr/>
        </p:nvSpPr>
        <p:spPr>
          <a:xfrm>
            <a:off x="8096250" y="3638550"/>
            <a:ext cx="3124200" cy="514350"/>
          </a:xfrm>
          <a:prstGeom prst="rect">
            <a:avLst/>
          </a:prstGeom>
          <a:noFill/>
          <a:ln w="0">
            <a:noFill/>
            <a:prstDash val="solid"/>
          </a:ln>
        </p:spPr>
        <p:txBody>
          <a:bodyPr wrap="square" lIns="0" tIns="0" rIns="0" bIns="0" anchor="t">
            <a:noAutofit/>
          </a:bodyPr>
          <a:lstStyle/>
          <a:p>
            <a:pPr algn="ctr">
              <a:buNone/>
              <a:defRPr sz="3375" b="1">
                <a:solidFill>
                  <a:srgbClr val="FFFFFF"/>
                </a:solidFill>
                <a:latin typeface="Arial"/>
                <a:ea typeface="Arial"/>
                <a:cs typeface="Arial"/>
              </a:defRPr>
            </a:pPr>
            <a:r>
              <a:rPr sz="3375" b="1">
                <a:solidFill>
                  <a:srgbClr val="FFFFFF"/>
                </a:solidFill>
                <a:latin typeface="Arial"/>
                <a:ea typeface="Arial"/>
                <a:cs typeface="Arial"/>
              </a:rPr>
              <a:t>1.000</a:t>
            </a:r>
          </a:p>
        </p:txBody>
      </p:sp>
      <p:sp>
        <p:nvSpPr>
          <p:cNvPr id="24" name="Rettangolo con angoli arrotondati 23">
            <a:extLst>
              <a:ext uri="{FF2B5EF4-FFF2-40B4-BE49-F238E27FC236}">
                <a16:creationId xmlns:a16="http://schemas.microsoft.com/office/drawing/2014/main" id="{18A2F9C9-4D34-4737-8B90-8118C124B94E}"/>
              </a:ext>
            </a:extLst>
          </p:cNvPr>
          <p:cNvSpPr>
            <a:spLocks noGrp="1"/>
          </p:cNvSpPr>
          <p:nvPr/>
        </p:nvSpPr>
        <p:spPr>
          <a:xfrm>
            <a:off x="1123950" y="4762500"/>
            <a:ext cx="9944100" cy="1104900"/>
          </a:xfrm>
          <a:prstGeom prst="roundRect">
            <a:avLst>
              <a:gd name="adj" fmla="val 15517"/>
            </a:avLst>
          </a:prstGeom>
          <a:solidFill>
            <a:srgbClr val="E7F8F0"/>
          </a:solidFill>
          <a:ln w="0">
            <a:noFill/>
            <a:prstDash val="solid"/>
          </a:ln>
        </p:spPr>
        <p:txBody>
          <a:bodyPr/>
          <a:lstStyle/>
          <a:p>
            <a:endParaRPr/>
          </a:p>
        </p:txBody>
      </p:sp>
      <p:sp>
        <p:nvSpPr>
          <p:cNvPr id="25" name="Rettangolo 24">
            <a:extLst>
              <a:ext uri="{FF2B5EF4-FFF2-40B4-BE49-F238E27FC236}">
                <a16:creationId xmlns:a16="http://schemas.microsoft.com/office/drawing/2014/main" id="{F063FFD0-1294-4279-B46B-EF1D1D3EB627}"/>
              </a:ext>
            </a:extLst>
          </p:cNvPr>
          <p:cNvSpPr>
            <a:spLocks noGrp="1"/>
          </p:cNvSpPr>
          <p:nvPr/>
        </p:nvSpPr>
        <p:spPr>
          <a:xfrm>
            <a:off x="1466850" y="5010150"/>
            <a:ext cx="9258300" cy="647700"/>
          </a:xfrm>
          <a:prstGeom prst="rect">
            <a:avLst/>
          </a:prstGeom>
          <a:noFill/>
          <a:ln w="0">
            <a:noFill/>
            <a:prstDash val="solid"/>
          </a:ln>
        </p:spPr>
        <p:txBody>
          <a:bodyPr wrap="square" lIns="0" tIns="0" rIns="0" bIns="0" anchor="ctr">
            <a:noAutofit/>
          </a:bodyPr>
          <a:lstStyle/>
          <a:p>
            <a:pPr algn="ctr">
              <a:buNone/>
              <a:defRPr sz="1650" b="1">
                <a:solidFill>
                  <a:srgbClr val="087A50"/>
                </a:solidFill>
                <a:latin typeface="Arial"/>
                <a:ea typeface="Arial"/>
                <a:cs typeface="Arial"/>
              </a:defRPr>
            </a:pPr>
            <a:r>
              <a:rPr sz="1650" b="1">
                <a:solidFill>
                  <a:srgbClr val="087A50"/>
                </a:solidFill>
                <a:latin typeface="Arial"/>
                <a:ea typeface="Arial"/>
                <a:cs typeface="Arial"/>
              </a:rPr>
              <a:t>Integrated Gradients supports diagnosis of selected proxy outputs.</a:t>
            </a:r>
          </a:p>
          <a:p>
            <a:pPr algn="ctr">
              <a:buNone/>
              <a:defRPr sz="1650" b="1">
                <a:solidFill>
                  <a:srgbClr val="087A50"/>
                </a:solidFill>
                <a:latin typeface="Arial"/>
                <a:ea typeface="Arial"/>
                <a:cs typeface="Arial"/>
              </a:defRPr>
            </a:pPr>
            <a:r>
              <a:rPr sz="1650" b="1">
                <a:solidFill>
                  <a:srgbClr val="087A50"/>
                </a:solidFill>
                <a:latin typeface="Arial"/>
                <a:ea typeface="Arial"/>
                <a:cs typeface="Arial"/>
              </a:rPr>
              <a:t>It does not certify correctness, calibrate confidence, or explain proprietary black-box systems.</a:t>
            </a:r>
          </a:p>
        </p:txBody>
      </p:sp>
    </p:spTree>
    <p:extLst>
      <p:ext uri="{BB962C8B-B14F-4D97-AF65-F5344CB8AC3E}">
        <p14:creationId xmlns:p14="http://schemas.microsoft.com/office/powerpoint/2010/main" val="816023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3" name="Rettangolo 32">
            <a:extLst>
              <a:ext uri="{FF2B5EF4-FFF2-40B4-BE49-F238E27FC236}">
                <a16:creationId xmlns:a16="http://schemas.microsoft.com/office/drawing/2014/main" id="{AFCF59B5-683B-474F-989A-FBD69F45330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784007D6-2081-4930-A389-03D64A1A2382}"/>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Human review remains the final decision gate</a:t>
            </a:r>
          </a:p>
        </p:txBody>
      </p:sp>
      <p:sp>
        <p:nvSpPr>
          <p:cNvPr id="3" name="Rettangolo 2">
            <a:extLst>
              <a:ext uri="{FF2B5EF4-FFF2-40B4-BE49-F238E27FC236}">
                <a16:creationId xmlns:a16="http://schemas.microsoft.com/office/drawing/2014/main" id="{68493C46-8133-4462-86DB-466B3708A87B}"/>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20FCC7E3-0B4D-4701-98B4-D33EB2D8663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FCFAFCCB-405C-47A7-B90B-CEB46F98CC33}"/>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12</a:t>
            </a:r>
          </a:p>
        </p:txBody>
      </p:sp>
      <p:sp>
        <p:nvSpPr>
          <p:cNvPr id="6" name="Rettangolo 5">
            <a:extLst>
              <a:ext uri="{FF2B5EF4-FFF2-40B4-BE49-F238E27FC236}">
                <a16:creationId xmlns:a16="http://schemas.microsoft.com/office/drawing/2014/main" id="{6E42C77A-5BF7-4B4F-ACB6-2B4A6D08B6F7}"/>
              </a:ext>
            </a:extLst>
          </p:cNvPr>
          <p:cNvSpPr>
            <a:spLocks noGrp="1"/>
          </p:cNvSpPr>
          <p:nvPr/>
        </p:nvSpPr>
        <p:spPr>
          <a:xfrm>
            <a:off x="1695450" y="2800350"/>
            <a:ext cx="8801100" cy="76200"/>
          </a:xfrm>
          <a:prstGeom prst="rect">
            <a:avLst/>
          </a:prstGeom>
          <a:solidFill>
            <a:srgbClr val="D9DEE8"/>
          </a:solidFill>
          <a:ln w="0">
            <a:noFill/>
            <a:prstDash val="solid"/>
          </a:ln>
        </p:spPr>
        <p:txBody>
          <a:bodyPr/>
          <a:lstStyle/>
          <a:p>
            <a:endParaRPr/>
          </a:p>
        </p:txBody>
      </p:sp>
      <p:sp>
        <p:nvSpPr>
          <p:cNvPr id="7" name="Rettangolo 6">
            <a:extLst>
              <a:ext uri="{FF2B5EF4-FFF2-40B4-BE49-F238E27FC236}">
                <a16:creationId xmlns:a16="http://schemas.microsoft.com/office/drawing/2014/main" id="{CC497960-5D6A-401D-938B-E77E37B954DF}"/>
              </a:ext>
            </a:extLst>
          </p:cNvPr>
          <p:cNvSpPr>
            <a:spLocks noGrp="1"/>
          </p:cNvSpPr>
          <p:nvPr/>
        </p:nvSpPr>
        <p:spPr>
          <a:xfrm>
            <a:off x="6858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01</a:t>
            </a:r>
          </a:p>
        </p:txBody>
      </p:sp>
      <p:sp>
        <p:nvSpPr>
          <p:cNvPr id="8" name="Rettangolo con angoli arrotondati 7">
            <a:extLst>
              <a:ext uri="{FF2B5EF4-FFF2-40B4-BE49-F238E27FC236}">
                <a16:creationId xmlns:a16="http://schemas.microsoft.com/office/drawing/2014/main" id="{9D4C1FD3-F2E8-481B-B8A3-6FDAC352E8B5}"/>
              </a:ext>
            </a:extLst>
          </p:cNvPr>
          <p:cNvSpPr>
            <a:spLocks noGrp="1"/>
          </p:cNvSpPr>
          <p:nvPr/>
        </p:nvSpPr>
        <p:spPr>
          <a:xfrm>
            <a:off x="685800" y="2076450"/>
            <a:ext cx="2190750" cy="1466850"/>
          </a:xfrm>
          <a:prstGeom prst="roundRect">
            <a:avLst>
              <a:gd name="adj" fmla="val 11688"/>
            </a:avLst>
          </a:prstGeom>
          <a:solidFill>
            <a:srgbClr val="FFFFFF"/>
          </a:solidFill>
          <a:ln w="9525">
            <a:solidFill>
              <a:srgbClr val="D9DEE8"/>
            </a:solidFill>
            <a:prstDash val="solid"/>
          </a:ln>
        </p:spPr>
        <p:txBody>
          <a:bodyPr/>
          <a:lstStyle/>
          <a:p>
            <a:endParaRPr/>
          </a:p>
        </p:txBody>
      </p:sp>
      <p:sp>
        <p:nvSpPr>
          <p:cNvPr id="9" name="Rettangolo 8">
            <a:extLst>
              <a:ext uri="{FF2B5EF4-FFF2-40B4-BE49-F238E27FC236}">
                <a16:creationId xmlns:a16="http://schemas.microsoft.com/office/drawing/2014/main" id="{A4596393-8F9B-4AB8-B9FA-12DDC5FEB621}"/>
              </a:ext>
            </a:extLst>
          </p:cNvPr>
          <p:cNvSpPr>
            <a:spLocks noGrp="1"/>
          </p:cNvSpPr>
          <p:nvPr/>
        </p:nvSpPr>
        <p:spPr>
          <a:xfrm>
            <a:off x="8572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AI outputs</a:t>
            </a:r>
          </a:p>
        </p:txBody>
      </p:sp>
      <p:sp>
        <p:nvSpPr>
          <p:cNvPr id="10" name="Rettangolo 9">
            <a:extLst>
              <a:ext uri="{FF2B5EF4-FFF2-40B4-BE49-F238E27FC236}">
                <a16:creationId xmlns:a16="http://schemas.microsoft.com/office/drawing/2014/main" id="{7AA4D259-8252-49D2-AC66-8CEBF46905A6}"/>
              </a:ext>
            </a:extLst>
          </p:cNvPr>
          <p:cNvSpPr>
            <a:spLocks noGrp="1"/>
          </p:cNvSpPr>
          <p:nvPr/>
        </p:nvSpPr>
        <p:spPr>
          <a:xfrm>
            <a:off x="8572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tags · labels</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semantic matches</a:t>
            </a:r>
          </a:p>
        </p:txBody>
      </p:sp>
      <p:sp>
        <p:nvSpPr>
          <p:cNvPr id="11" name="Rettangolo 10">
            <a:extLst>
              <a:ext uri="{FF2B5EF4-FFF2-40B4-BE49-F238E27FC236}">
                <a16:creationId xmlns:a16="http://schemas.microsoft.com/office/drawing/2014/main" id="{B875C228-D2D2-4ED0-AE89-A0F4D270CE44}"/>
              </a:ext>
            </a:extLst>
          </p:cNvPr>
          <p:cNvSpPr>
            <a:spLocks noGrp="1"/>
          </p:cNvSpPr>
          <p:nvPr/>
        </p:nvSpPr>
        <p:spPr>
          <a:xfrm>
            <a:off x="34671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02</a:t>
            </a:r>
          </a:p>
        </p:txBody>
      </p:sp>
      <p:sp>
        <p:nvSpPr>
          <p:cNvPr id="12" name="Rettangolo con angoli arrotondati 11">
            <a:extLst>
              <a:ext uri="{FF2B5EF4-FFF2-40B4-BE49-F238E27FC236}">
                <a16:creationId xmlns:a16="http://schemas.microsoft.com/office/drawing/2014/main" id="{F27AA906-E5AF-40DB-9F2E-5E5C26E8C25A}"/>
              </a:ext>
            </a:extLst>
          </p:cNvPr>
          <p:cNvSpPr>
            <a:spLocks noGrp="1"/>
          </p:cNvSpPr>
          <p:nvPr/>
        </p:nvSpPr>
        <p:spPr>
          <a:xfrm>
            <a:off x="3467100" y="2076450"/>
            <a:ext cx="2190750" cy="1466850"/>
          </a:xfrm>
          <a:prstGeom prst="roundRect">
            <a:avLst>
              <a:gd name="adj" fmla="val 11688"/>
            </a:avLst>
          </a:prstGeom>
          <a:solidFill>
            <a:srgbClr val="E9EEF8"/>
          </a:solidFill>
          <a:ln w="9525">
            <a:solidFill>
              <a:srgbClr val="E9EEF8"/>
            </a:solidFill>
            <a:prstDash val="solid"/>
          </a:ln>
        </p:spPr>
        <p:txBody>
          <a:bodyPr/>
          <a:lstStyle/>
          <a:p>
            <a:endParaRPr/>
          </a:p>
        </p:txBody>
      </p:sp>
      <p:sp>
        <p:nvSpPr>
          <p:cNvPr id="13" name="Rettangolo 12">
            <a:extLst>
              <a:ext uri="{FF2B5EF4-FFF2-40B4-BE49-F238E27FC236}">
                <a16:creationId xmlns:a16="http://schemas.microsoft.com/office/drawing/2014/main" id="{10A088F2-59B9-41DB-B22F-C8A142756290}"/>
              </a:ext>
            </a:extLst>
          </p:cNvPr>
          <p:cNvSpPr>
            <a:spLocks noGrp="1"/>
          </p:cNvSpPr>
          <p:nvPr/>
        </p:nvSpPr>
        <p:spPr>
          <a:xfrm>
            <a:off x="36385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Prioritized queue</a:t>
            </a:r>
          </a:p>
        </p:txBody>
      </p:sp>
      <p:sp>
        <p:nvSpPr>
          <p:cNvPr id="14" name="Rettangolo 13">
            <a:extLst>
              <a:ext uri="{FF2B5EF4-FFF2-40B4-BE49-F238E27FC236}">
                <a16:creationId xmlns:a16="http://schemas.microsoft.com/office/drawing/2014/main" id="{27D139E3-0991-49D9-9C28-1A63AF4F9EAD}"/>
              </a:ext>
            </a:extLst>
          </p:cNvPr>
          <p:cNvSpPr>
            <a:spLocks noGrp="1"/>
          </p:cNvSpPr>
          <p:nvPr/>
        </p:nvSpPr>
        <p:spPr>
          <a:xfrm>
            <a:off x="36385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workload</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reduction</a:t>
            </a:r>
          </a:p>
        </p:txBody>
      </p:sp>
      <p:sp>
        <p:nvSpPr>
          <p:cNvPr id="15" name="Rettangolo 14">
            <a:extLst>
              <a:ext uri="{FF2B5EF4-FFF2-40B4-BE49-F238E27FC236}">
                <a16:creationId xmlns:a16="http://schemas.microsoft.com/office/drawing/2014/main" id="{7F193325-1128-438B-B217-138A67DDF676}"/>
              </a:ext>
            </a:extLst>
          </p:cNvPr>
          <p:cNvSpPr>
            <a:spLocks noGrp="1"/>
          </p:cNvSpPr>
          <p:nvPr/>
        </p:nvSpPr>
        <p:spPr>
          <a:xfrm>
            <a:off x="62484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03</a:t>
            </a:r>
          </a:p>
        </p:txBody>
      </p:sp>
      <p:sp>
        <p:nvSpPr>
          <p:cNvPr id="16" name="Rettangolo con angoli arrotondati 15">
            <a:extLst>
              <a:ext uri="{FF2B5EF4-FFF2-40B4-BE49-F238E27FC236}">
                <a16:creationId xmlns:a16="http://schemas.microsoft.com/office/drawing/2014/main" id="{E8C8212D-5123-48C7-8465-CE6674A3EAFA}"/>
              </a:ext>
            </a:extLst>
          </p:cNvPr>
          <p:cNvSpPr>
            <a:spLocks noGrp="1"/>
          </p:cNvSpPr>
          <p:nvPr/>
        </p:nvSpPr>
        <p:spPr>
          <a:xfrm>
            <a:off x="6248400" y="2076450"/>
            <a:ext cx="2190750" cy="1466850"/>
          </a:xfrm>
          <a:prstGeom prst="roundRect">
            <a:avLst>
              <a:gd name="adj" fmla="val 11688"/>
            </a:avLst>
          </a:prstGeom>
          <a:solidFill>
            <a:srgbClr val="E7F8F0"/>
          </a:solidFill>
          <a:ln w="9525">
            <a:solidFill>
              <a:srgbClr val="E7F8F0"/>
            </a:solidFill>
            <a:prstDash val="solid"/>
          </a:ln>
        </p:spPr>
        <p:txBody>
          <a:bodyPr/>
          <a:lstStyle/>
          <a:p>
            <a:endParaRPr/>
          </a:p>
        </p:txBody>
      </p:sp>
      <p:sp>
        <p:nvSpPr>
          <p:cNvPr id="17" name="Rettangolo 16">
            <a:extLst>
              <a:ext uri="{FF2B5EF4-FFF2-40B4-BE49-F238E27FC236}">
                <a16:creationId xmlns:a16="http://schemas.microsoft.com/office/drawing/2014/main" id="{688DB260-266F-461B-B69D-7D7802AF0D5C}"/>
              </a:ext>
            </a:extLst>
          </p:cNvPr>
          <p:cNvSpPr>
            <a:spLocks noGrp="1"/>
          </p:cNvSpPr>
          <p:nvPr/>
        </p:nvSpPr>
        <p:spPr>
          <a:xfrm>
            <a:off x="64198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087A50"/>
                </a:solidFill>
                <a:latin typeface="Arial"/>
                <a:ea typeface="Arial"/>
                <a:cs typeface="Arial"/>
              </a:defRPr>
            </a:pPr>
            <a:r>
              <a:rPr sz="1800" b="1">
                <a:solidFill>
                  <a:srgbClr val="087A50"/>
                </a:solidFill>
                <a:latin typeface="Arial"/>
                <a:ea typeface="Arial"/>
                <a:cs typeface="Arial"/>
              </a:rPr>
              <a:t>Human review</a:t>
            </a:r>
          </a:p>
        </p:txBody>
      </p:sp>
      <p:sp>
        <p:nvSpPr>
          <p:cNvPr id="18" name="Rettangolo 17">
            <a:extLst>
              <a:ext uri="{FF2B5EF4-FFF2-40B4-BE49-F238E27FC236}">
                <a16:creationId xmlns:a16="http://schemas.microsoft.com/office/drawing/2014/main" id="{0D32C62D-AD61-47FC-9DF3-3D1D755CC850}"/>
              </a:ext>
            </a:extLst>
          </p:cNvPr>
          <p:cNvSpPr>
            <a:spLocks noGrp="1"/>
          </p:cNvSpPr>
          <p:nvPr/>
        </p:nvSpPr>
        <p:spPr>
          <a:xfrm>
            <a:off x="64198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contextual</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validation</a:t>
            </a:r>
          </a:p>
        </p:txBody>
      </p:sp>
      <p:sp>
        <p:nvSpPr>
          <p:cNvPr id="19" name="Rettangolo 18">
            <a:extLst>
              <a:ext uri="{FF2B5EF4-FFF2-40B4-BE49-F238E27FC236}">
                <a16:creationId xmlns:a16="http://schemas.microsoft.com/office/drawing/2014/main" id="{9D03034B-8F88-418E-9635-E3411B5DDEBC}"/>
              </a:ext>
            </a:extLst>
          </p:cNvPr>
          <p:cNvSpPr>
            <a:spLocks noGrp="1"/>
          </p:cNvSpPr>
          <p:nvPr/>
        </p:nvSpPr>
        <p:spPr>
          <a:xfrm>
            <a:off x="90297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04</a:t>
            </a:r>
          </a:p>
        </p:txBody>
      </p:sp>
      <p:sp>
        <p:nvSpPr>
          <p:cNvPr id="20" name="Rettangolo con angoli arrotondati 19">
            <a:extLst>
              <a:ext uri="{FF2B5EF4-FFF2-40B4-BE49-F238E27FC236}">
                <a16:creationId xmlns:a16="http://schemas.microsoft.com/office/drawing/2014/main" id="{0A7F9A2F-8B4C-4A62-8D51-C8AC9213FEC9}"/>
              </a:ext>
            </a:extLst>
          </p:cNvPr>
          <p:cNvSpPr>
            <a:spLocks noGrp="1"/>
          </p:cNvSpPr>
          <p:nvPr/>
        </p:nvSpPr>
        <p:spPr>
          <a:xfrm>
            <a:off x="9029700" y="2076450"/>
            <a:ext cx="2190750" cy="1466850"/>
          </a:xfrm>
          <a:prstGeom prst="roundRect">
            <a:avLst>
              <a:gd name="adj" fmla="val 11688"/>
            </a:avLst>
          </a:prstGeom>
          <a:solidFill>
            <a:srgbClr val="FFFFFF"/>
          </a:solidFill>
          <a:ln w="9525">
            <a:solidFill>
              <a:srgbClr val="D9DEE8"/>
            </a:solidFill>
            <a:prstDash val="solid"/>
          </a:ln>
        </p:spPr>
        <p:txBody>
          <a:bodyPr/>
          <a:lstStyle/>
          <a:p>
            <a:endParaRPr/>
          </a:p>
        </p:txBody>
      </p:sp>
      <p:sp>
        <p:nvSpPr>
          <p:cNvPr id="21" name="Rettangolo 20">
            <a:extLst>
              <a:ext uri="{FF2B5EF4-FFF2-40B4-BE49-F238E27FC236}">
                <a16:creationId xmlns:a16="http://schemas.microsoft.com/office/drawing/2014/main" id="{DC68B587-3821-4278-A721-BE8076578B8C}"/>
              </a:ext>
            </a:extLst>
          </p:cNvPr>
          <p:cNvSpPr>
            <a:spLocks noGrp="1"/>
          </p:cNvSpPr>
          <p:nvPr/>
        </p:nvSpPr>
        <p:spPr>
          <a:xfrm>
            <a:off x="92011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Documented action</a:t>
            </a:r>
          </a:p>
        </p:txBody>
      </p:sp>
      <p:sp>
        <p:nvSpPr>
          <p:cNvPr id="22" name="Rettangolo 21">
            <a:extLst>
              <a:ext uri="{FF2B5EF4-FFF2-40B4-BE49-F238E27FC236}">
                <a16:creationId xmlns:a16="http://schemas.microsoft.com/office/drawing/2014/main" id="{F2ED8D5E-2422-4B92-867E-DD3CA4ACD7CB}"/>
              </a:ext>
            </a:extLst>
          </p:cNvPr>
          <p:cNvSpPr>
            <a:spLocks noGrp="1"/>
          </p:cNvSpPr>
          <p:nvPr/>
        </p:nvSpPr>
        <p:spPr>
          <a:xfrm>
            <a:off x="92011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defensible</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forensic workflow</a:t>
            </a:r>
          </a:p>
        </p:txBody>
      </p:sp>
      <p:sp>
        <p:nvSpPr>
          <p:cNvPr id="23" name="Rettangolo 22">
            <a:extLst>
              <a:ext uri="{FF2B5EF4-FFF2-40B4-BE49-F238E27FC236}">
                <a16:creationId xmlns:a16="http://schemas.microsoft.com/office/drawing/2014/main" id="{04339118-F714-4CF4-9531-D2EFDA073425}"/>
              </a:ext>
            </a:extLst>
          </p:cNvPr>
          <p:cNvSpPr>
            <a:spLocks noGrp="1"/>
          </p:cNvSpPr>
          <p:nvPr/>
        </p:nvSpPr>
        <p:spPr>
          <a:xfrm>
            <a:off x="685800" y="4095750"/>
            <a:ext cx="108204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TRACE EVERY DECISION</a:t>
            </a:r>
          </a:p>
        </p:txBody>
      </p:sp>
      <p:sp>
        <p:nvSpPr>
          <p:cNvPr id="24" name="Rettangolo 23">
            <a:extLst>
              <a:ext uri="{FF2B5EF4-FFF2-40B4-BE49-F238E27FC236}">
                <a16:creationId xmlns:a16="http://schemas.microsoft.com/office/drawing/2014/main" id="{6DE606BC-E4EE-43D8-A10A-D6AF9A28A5DE}"/>
              </a:ext>
            </a:extLst>
          </p:cNvPr>
          <p:cNvSpPr>
            <a:spLocks noGrp="1"/>
          </p:cNvSpPr>
          <p:nvPr/>
        </p:nvSpPr>
        <p:spPr>
          <a:xfrm>
            <a:off x="8382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tool version</a:t>
            </a:r>
          </a:p>
        </p:txBody>
      </p:sp>
      <p:sp>
        <p:nvSpPr>
          <p:cNvPr id="25" name="Rettangolo 24">
            <a:extLst>
              <a:ext uri="{FF2B5EF4-FFF2-40B4-BE49-F238E27FC236}">
                <a16:creationId xmlns:a16="http://schemas.microsoft.com/office/drawing/2014/main" id="{E60E196D-BF02-4A60-AA11-C25A1BD1FBCA}"/>
              </a:ext>
            </a:extLst>
          </p:cNvPr>
          <p:cNvSpPr>
            <a:spLocks noGrp="1"/>
          </p:cNvSpPr>
          <p:nvPr/>
        </p:nvSpPr>
        <p:spPr>
          <a:xfrm>
            <a:off x="3333750" y="4533900"/>
            <a:ext cx="19050" cy="400050"/>
          </a:xfrm>
          <a:prstGeom prst="rect">
            <a:avLst/>
          </a:prstGeom>
          <a:solidFill>
            <a:srgbClr val="D9DEE8"/>
          </a:solidFill>
          <a:ln w="0">
            <a:noFill/>
            <a:prstDash val="solid"/>
          </a:ln>
        </p:spPr>
        <p:txBody>
          <a:bodyPr/>
          <a:lstStyle/>
          <a:p>
            <a:endParaRPr/>
          </a:p>
        </p:txBody>
      </p:sp>
      <p:sp>
        <p:nvSpPr>
          <p:cNvPr id="26" name="Rettangolo 25">
            <a:extLst>
              <a:ext uri="{FF2B5EF4-FFF2-40B4-BE49-F238E27FC236}">
                <a16:creationId xmlns:a16="http://schemas.microsoft.com/office/drawing/2014/main" id="{03F90BFD-8FC5-496D-B2BD-090EFE986347}"/>
              </a:ext>
            </a:extLst>
          </p:cNvPr>
          <p:cNvSpPr>
            <a:spLocks noGrp="1"/>
          </p:cNvSpPr>
          <p:nvPr/>
        </p:nvSpPr>
        <p:spPr>
          <a:xfrm>
            <a:off x="35433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configuration</a:t>
            </a:r>
          </a:p>
        </p:txBody>
      </p:sp>
      <p:sp>
        <p:nvSpPr>
          <p:cNvPr id="27" name="Rettangolo 26">
            <a:extLst>
              <a:ext uri="{FF2B5EF4-FFF2-40B4-BE49-F238E27FC236}">
                <a16:creationId xmlns:a16="http://schemas.microsoft.com/office/drawing/2014/main" id="{B2B38D1D-5BC1-489F-8CEC-BF5FD0E6DF1A}"/>
              </a:ext>
            </a:extLst>
          </p:cNvPr>
          <p:cNvSpPr>
            <a:spLocks noGrp="1"/>
          </p:cNvSpPr>
          <p:nvPr/>
        </p:nvSpPr>
        <p:spPr>
          <a:xfrm>
            <a:off x="6038850" y="4533900"/>
            <a:ext cx="19050" cy="400050"/>
          </a:xfrm>
          <a:prstGeom prst="rect">
            <a:avLst/>
          </a:prstGeom>
          <a:solidFill>
            <a:srgbClr val="D9DEE8"/>
          </a:solidFill>
          <a:ln w="0">
            <a:noFill/>
            <a:prstDash val="solid"/>
          </a:ln>
        </p:spPr>
        <p:txBody>
          <a:bodyPr/>
          <a:lstStyle/>
          <a:p>
            <a:endParaRPr/>
          </a:p>
        </p:txBody>
      </p:sp>
      <p:sp>
        <p:nvSpPr>
          <p:cNvPr id="28" name="Rettangolo 27">
            <a:extLst>
              <a:ext uri="{FF2B5EF4-FFF2-40B4-BE49-F238E27FC236}">
                <a16:creationId xmlns:a16="http://schemas.microsoft.com/office/drawing/2014/main" id="{8CBE62AC-4860-455E-BD3B-688579D32233}"/>
              </a:ext>
            </a:extLst>
          </p:cNvPr>
          <p:cNvSpPr>
            <a:spLocks noGrp="1"/>
          </p:cNvSpPr>
          <p:nvPr/>
        </p:nvSpPr>
        <p:spPr>
          <a:xfrm>
            <a:off x="62484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output mapping</a:t>
            </a:r>
          </a:p>
        </p:txBody>
      </p:sp>
      <p:sp>
        <p:nvSpPr>
          <p:cNvPr id="29" name="Rettangolo 28">
            <a:extLst>
              <a:ext uri="{FF2B5EF4-FFF2-40B4-BE49-F238E27FC236}">
                <a16:creationId xmlns:a16="http://schemas.microsoft.com/office/drawing/2014/main" id="{DAD0FA6E-44BA-4057-A6E5-205E1EA40B06}"/>
              </a:ext>
            </a:extLst>
          </p:cNvPr>
          <p:cNvSpPr>
            <a:spLocks noGrp="1"/>
          </p:cNvSpPr>
          <p:nvPr/>
        </p:nvSpPr>
        <p:spPr>
          <a:xfrm>
            <a:off x="8743950" y="4533900"/>
            <a:ext cx="19050" cy="400050"/>
          </a:xfrm>
          <a:prstGeom prst="rect">
            <a:avLst/>
          </a:prstGeom>
          <a:solidFill>
            <a:srgbClr val="D9DEE8"/>
          </a:solidFill>
          <a:ln w="0">
            <a:noFill/>
            <a:prstDash val="solid"/>
          </a:ln>
        </p:spPr>
        <p:txBody>
          <a:bodyPr/>
          <a:lstStyle/>
          <a:p>
            <a:endParaRPr/>
          </a:p>
        </p:txBody>
      </p:sp>
      <p:sp>
        <p:nvSpPr>
          <p:cNvPr id="30" name="Rettangolo 29">
            <a:extLst>
              <a:ext uri="{FF2B5EF4-FFF2-40B4-BE49-F238E27FC236}">
                <a16:creationId xmlns:a16="http://schemas.microsoft.com/office/drawing/2014/main" id="{EB7B099E-18FB-4F61-A001-312CD23DFDB3}"/>
              </a:ext>
            </a:extLst>
          </p:cNvPr>
          <p:cNvSpPr>
            <a:spLocks noGrp="1"/>
          </p:cNvSpPr>
          <p:nvPr/>
        </p:nvSpPr>
        <p:spPr>
          <a:xfrm>
            <a:off x="89535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validation context</a:t>
            </a:r>
          </a:p>
        </p:txBody>
      </p:sp>
      <p:sp>
        <p:nvSpPr>
          <p:cNvPr id="31" name="Rettangolo con angoli arrotondati 30">
            <a:extLst>
              <a:ext uri="{FF2B5EF4-FFF2-40B4-BE49-F238E27FC236}">
                <a16:creationId xmlns:a16="http://schemas.microsoft.com/office/drawing/2014/main" id="{61341085-EF38-4412-9246-C812DAAA179E}"/>
              </a:ext>
            </a:extLst>
          </p:cNvPr>
          <p:cNvSpPr>
            <a:spLocks noGrp="1"/>
          </p:cNvSpPr>
          <p:nvPr/>
        </p:nvSpPr>
        <p:spPr>
          <a:xfrm>
            <a:off x="1123950" y="5391150"/>
            <a:ext cx="9944100" cy="723900"/>
          </a:xfrm>
          <a:prstGeom prst="roundRect">
            <a:avLst>
              <a:gd name="adj" fmla="val 21053"/>
            </a:avLst>
          </a:prstGeom>
          <a:solidFill>
            <a:srgbClr val="233A70"/>
          </a:solidFill>
          <a:ln w="0">
            <a:noFill/>
            <a:prstDash val="solid"/>
          </a:ln>
        </p:spPr>
        <p:txBody>
          <a:bodyPr/>
          <a:lstStyle/>
          <a:p>
            <a:endParaRPr/>
          </a:p>
        </p:txBody>
      </p:sp>
      <p:sp>
        <p:nvSpPr>
          <p:cNvPr id="32" name="Rettangolo 31">
            <a:extLst>
              <a:ext uri="{FF2B5EF4-FFF2-40B4-BE49-F238E27FC236}">
                <a16:creationId xmlns:a16="http://schemas.microsoft.com/office/drawing/2014/main" id="{C6444606-31CF-4954-A94E-256FA6870834}"/>
              </a:ext>
            </a:extLst>
          </p:cNvPr>
          <p:cNvSpPr>
            <a:spLocks noGrp="1"/>
          </p:cNvSpPr>
          <p:nvPr/>
        </p:nvSpPr>
        <p:spPr>
          <a:xfrm>
            <a:off x="1466850" y="5581650"/>
            <a:ext cx="9258300" cy="342900"/>
          </a:xfrm>
          <a:prstGeom prst="rect">
            <a:avLst/>
          </a:prstGeom>
          <a:noFill/>
          <a:ln w="0">
            <a:noFill/>
            <a:prstDash val="solid"/>
          </a:ln>
        </p:spPr>
        <p:txBody>
          <a:bodyPr wrap="square" lIns="0" tIns="0" rIns="0" bIns="0" anchor="ctr">
            <a:noAutofit/>
          </a:bodyP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Use AI to prioritize evidence review—never to silently exclude it.</a:t>
            </a:r>
          </a:p>
        </p:txBody>
      </p:sp>
    </p:spTree>
    <p:extLst>
      <p:ext uri="{BB962C8B-B14F-4D97-AF65-F5344CB8AC3E}">
        <p14:creationId xmlns:p14="http://schemas.microsoft.com/office/powerpoint/2010/main" val="1400809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1" name="Rettangolo 30">
            <a:extLst>
              <a:ext uri="{FF2B5EF4-FFF2-40B4-BE49-F238E27FC236}">
                <a16:creationId xmlns:a16="http://schemas.microsoft.com/office/drawing/2014/main" id="{450EE9F5-CABF-434E-8232-BDF46C2B08C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EC59691-266B-4DB0-8057-0406222D320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Claim boundaries keep the result defensible</a:t>
            </a:r>
          </a:p>
        </p:txBody>
      </p:sp>
      <p:sp>
        <p:nvSpPr>
          <p:cNvPr id="3" name="Rettangolo 2">
            <a:extLst>
              <a:ext uri="{FF2B5EF4-FFF2-40B4-BE49-F238E27FC236}">
                <a16:creationId xmlns:a16="http://schemas.microsoft.com/office/drawing/2014/main" id="{79089BD1-B305-48BE-BA26-09870B60112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42C6706B-ACDF-4666-A54A-86FD9DBD539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D079A16-C2FC-4182-B67E-51370D40AE4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13</a:t>
            </a:r>
          </a:p>
        </p:txBody>
      </p:sp>
      <p:sp>
        <p:nvSpPr>
          <p:cNvPr id="6" name="Rettangolo con angoli arrotondati 5">
            <a:extLst>
              <a:ext uri="{FF2B5EF4-FFF2-40B4-BE49-F238E27FC236}">
                <a16:creationId xmlns:a16="http://schemas.microsoft.com/office/drawing/2014/main" id="{A958CF67-914D-4A36-B2C0-CBFE18A07BAD}"/>
              </a:ext>
            </a:extLst>
          </p:cNvPr>
          <p:cNvSpPr>
            <a:spLocks noGrp="1"/>
          </p:cNvSpPr>
          <p:nvPr/>
        </p:nvSpPr>
        <p:spPr>
          <a:xfrm>
            <a:off x="685800" y="1581150"/>
            <a:ext cx="4095750" cy="4171950"/>
          </a:xfrm>
          <a:prstGeom prst="roundRect">
            <a:avLst>
              <a:gd name="adj" fmla="val 4651"/>
            </a:avLst>
          </a:prstGeom>
          <a:solidFill>
            <a:srgbClr val="233A70"/>
          </a:solidFill>
          <a:ln w="0">
            <a:noFill/>
            <a:prstDash val="solid"/>
          </a:ln>
        </p:spPr>
        <p:txBody>
          <a:bodyPr/>
          <a:lstStyle/>
          <a:p>
            <a:endParaRPr/>
          </a:p>
        </p:txBody>
      </p:sp>
      <p:sp>
        <p:nvSpPr>
          <p:cNvPr id="7" name="Rettangolo 6">
            <a:extLst>
              <a:ext uri="{FF2B5EF4-FFF2-40B4-BE49-F238E27FC236}">
                <a16:creationId xmlns:a16="http://schemas.microsoft.com/office/drawing/2014/main" id="{E5DDE80D-F491-4EDB-A777-AC5174C65059}"/>
              </a:ext>
            </a:extLst>
          </p:cNvPr>
          <p:cNvSpPr>
            <a:spLocks noGrp="1"/>
          </p:cNvSpPr>
          <p:nvPr/>
        </p:nvSpPr>
        <p:spPr>
          <a:xfrm>
            <a:off x="971550" y="1847850"/>
            <a:ext cx="3524250" cy="24765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METADATA SENSITIVITY</a:t>
            </a:r>
          </a:p>
        </p:txBody>
      </p:sp>
      <p:sp>
        <p:nvSpPr>
          <p:cNvPr id="8" name="Rettangolo 7">
            <a:extLst>
              <a:ext uri="{FF2B5EF4-FFF2-40B4-BE49-F238E27FC236}">
                <a16:creationId xmlns:a16="http://schemas.microsoft.com/office/drawing/2014/main" id="{9CE8CE40-2313-4751-AC3A-75251D60271B}"/>
              </a:ext>
            </a:extLst>
          </p:cNvPr>
          <p:cNvSpPr>
            <a:spLocks noGrp="1"/>
          </p:cNvSpPr>
          <p:nvPr/>
        </p:nvSpPr>
        <p:spPr>
          <a:xfrm>
            <a:off x="971550" y="2286000"/>
            <a:ext cx="3524250" cy="647700"/>
          </a:xfrm>
          <a:prstGeom prst="rect">
            <a:avLst/>
          </a:prstGeom>
          <a:noFill/>
          <a:ln w="0">
            <a:noFill/>
            <a:prstDash val="solid"/>
          </a:ln>
        </p:spPr>
        <p:txBody>
          <a:bodyPr wrap="square" lIns="0" tIns="0" rIns="0" bIns="0" anchor="t">
            <a:noAutofit/>
          </a:bodyPr>
          <a:lstStyle/>
          <a:p>
            <a:pPr algn="ctr">
              <a:buNone/>
              <a:defRPr sz="4200" b="1">
                <a:solidFill>
                  <a:srgbClr val="FFFFFF"/>
                </a:solidFill>
                <a:latin typeface="Arial"/>
                <a:ea typeface="Arial"/>
                <a:cs typeface="Arial"/>
              </a:defRPr>
            </a:pPr>
            <a:r>
              <a:rPr sz="4200" b="1">
                <a:solidFill>
                  <a:srgbClr val="FFFFFF"/>
                </a:solidFill>
                <a:latin typeface="Arial"/>
                <a:ea typeface="Arial"/>
                <a:cs typeface="Arial"/>
              </a:rPr>
              <a:t>15</a:t>
            </a:r>
          </a:p>
        </p:txBody>
      </p:sp>
      <p:sp>
        <p:nvSpPr>
          <p:cNvPr id="9" name="Rettangolo 8">
            <a:extLst>
              <a:ext uri="{FF2B5EF4-FFF2-40B4-BE49-F238E27FC236}">
                <a16:creationId xmlns:a16="http://schemas.microsoft.com/office/drawing/2014/main" id="{32443789-E78D-482B-9842-1CE14508CB7C}"/>
              </a:ext>
            </a:extLst>
          </p:cNvPr>
          <p:cNvSpPr>
            <a:spLocks noGrp="1"/>
          </p:cNvSpPr>
          <p:nvPr/>
        </p:nvSpPr>
        <p:spPr>
          <a:xfrm>
            <a:off x="971550" y="2952750"/>
            <a:ext cx="352425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of 11,500 files</a:t>
            </a:r>
          </a:p>
        </p:txBody>
      </p:sp>
      <p:sp>
        <p:nvSpPr>
          <p:cNvPr id="10" name="Rettangolo 9">
            <a:extLst>
              <a:ext uri="{FF2B5EF4-FFF2-40B4-BE49-F238E27FC236}">
                <a16:creationId xmlns:a16="http://schemas.microsoft.com/office/drawing/2014/main" id="{68FF4B46-61D2-46B2-A3F1-741BE38718F5}"/>
              </a:ext>
            </a:extLst>
          </p:cNvPr>
          <p:cNvSpPr>
            <a:spLocks noGrp="1"/>
          </p:cNvSpPr>
          <p:nvPr/>
        </p:nvSpPr>
        <p:spPr>
          <a:xfrm>
            <a:off x="1066800" y="3390900"/>
            <a:ext cx="3333750" cy="495300"/>
          </a:xfrm>
          <a:prstGeom prst="rect">
            <a:avLst/>
          </a:prstGeom>
          <a:noFill/>
          <a:ln w="0">
            <a:noFill/>
            <a:prstDash val="solid"/>
          </a:ln>
        </p:spPr>
        <p:txBody>
          <a:bodyPr wrap="square" lIns="0" tIns="0" rIns="0" bIns="0" anchor="ctr">
            <a:noAutofit/>
          </a:bodyPr>
          <a:lstStyle/>
          <a:p>
            <a:pPr algn="ctr">
              <a:buNone/>
              <a:defRPr sz="1425" b="0">
                <a:solidFill>
                  <a:srgbClr val="DCE4F3"/>
                </a:solidFill>
                <a:latin typeface="Arial"/>
                <a:ea typeface="Arial"/>
                <a:cs typeface="Arial"/>
              </a:defRPr>
            </a:pPr>
            <a:r>
              <a:rPr sz="1425" b="0">
                <a:solidFill>
                  <a:srgbClr val="DCE4F3"/>
                </a:solidFill>
                <a:latin typeface="Arial"/>
                <a:ea typeface="Arial"/>
                <a:cs typeface="Arial"/>
              </a:rPr>
              <a:t>matched a predefined sensitive metadata term</a:t>
            </a:r>
          </a:p>
        </p:txBody>
      </p:sp>
      <p:sp>
        <p:nvSpPr>
          <p:cNvPr id="11" name="Rettangolo 10">
            <a:extLst>
              <a:ext uri="{FF2B5EF4-FFF2-40B4-BE49-F238E27FC236}">
                <a16:creationId xmlns:a16="http://schemas.microsoft.com/office/drawing/2014/main" id="{1C420481-7C8E-4DDB-BC91-67D78A171A6C}"/>
              </a:ext>
            </a:extLst>
          </p:cNvPr>
          <p:cNvSpPr>
            <a:spLocks noGrp="1"/>
          </p:cNvSpPr>
          <p:nvPr/>
        </p:nvSpPr>
        <p:spPr>
          <a:xfrm>
            <a:off x="1257300" y="4133850"/>
            <a:ext cx="2952750" cy="19050"/>
          </a:xfrm>
          <a:prstGeom prst="rect">
            <a:avLst/>
          </a:prstGeom>
          <a:solidFill>
            <a:srgbClr val="536A9B"/>
          </a:solidFill>
          <a:ln w="0">
            <a:noFill/>
            <a:prstDash val="solid"/>
          </a:ln>
        </p:spPr>
        <p:txBody>
          <a:bodyPr/>
          <a:lstStyle/>
          <a:p>
            <a:endParaRPr/>
          </a:p>
        </p:txBody>
      </p:sp>
      <p:sp>
        <p:nvSpPr>
          <p:cNvPr id="12" name="Rettangolo 11">
            <a:extLst>
              <a:ext uri="{FF2B5EF4-FFF2-40B4-BE49-F238E27FC236}">
                <a16:creationId xmlns:a16="http://schemas.microsoft.com/office/drawing/2014/main" id="{F3249D90-455B-4447-9E26-B2ADC594CFFC}"/>
              </a:ext>
            </a:extLst>
          </p:cNvPr>
          <p:cNvSpPr>
            <a:spLocks noGrp="1"/>
          </p:cNvSpPr>
          <p:nvPr/>
        </p:nvSpPr>
        <p:spPr>
          <a:xfrm>
            <a:off x="1066800" y="4419600"/>
            <a:ext cx="3333750" cy="285750"/>
          </a:xfrm>
          <a:prstGeom prst="rect">
            <a:avLst/>
          </a:prstGeom>
          <a:noFill/>
          <a:ln w="0">
            <a:noFill/>
            <a:prstDash val="solid"/>
          </a:ln>
        </p:spPr>
        <p:txBody>
          <a:bodyPr wrap="square" lIns="0" tIns="0" rIns="0" bIns="0" anchor="t">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Leave-out differences were small</a:t>
            </a:r>
          </a:p>
        </p:txBody>
      </p:sp>
      <p:sp>
        <p:nvSpPr>
          <p:cNvPr id="13" name="Rettangolo 12">
            <a:extLst>
              <a:ext uri="{FF2B5EF4-FFF2-40B4-BE49-F238E27FC236}">
                <a16:creationId xmlns:a16="http://schemas.microsoft.com/office/drawing/2014/main" id="{A91E40B1-43F4-44AE-B4D8-392C565EFA1E}"/>
              </a:ext>
            </a:extLst>
          </p:cNvPr>
          <p:cNvSpPr>
            <a:spLocks noGrp="1"/>
          </p:cNvSpPr>
          <p:nvPr/>
        </p:nvSpPr>
        <p:spPr>
          <a:xfrm>
            <a:off x="1066800" y="4953000"/>
            <a:ext cx="3333750" cy="476250"/>
          </a:xfrm>
          <a:prstGeom prst="rect">
            <a:avLst/>
          </a:prstGeom>
          <a:noFill/>
          <a:ln w="0">
            <a:noFill/>
            <a:prstDash val="solid"/>
          </a:ln>
        </p:spPr>
        <p:txBody>
          <a:bodyPr wrap="square" lIns="0" tIns="0" rIns="0" bIns="0" anchor="ctr">
            <a:noAutofit/>
          </a:bodyPr>
          <a:lstStyle/>
          <a:p>
            <a:pPr algn="ctr">
              <a:buNone/>
              <a:defRPr sz="1350" b="0">
                <a:solidFill>
                  <a:srgbClr val="FFF4CD"/>
                </a:solidFill>
                <a:latin typeface="Arial"/>
                <a:ea typeface="Arial"/>
                <a:cs typeface="Arial"/>
              </a:defRPr>
            </a:pPr>
            <a:r>
              <a:rPr sz="1350" b="0">
                <a:solidFill>
                  <a:srgbClr val="FFF4CD"/>
                </a:solidFill>
                <a:latin typeface="Arial"/>
                <a:ea typeface="Arial"/>
                <a:cs typeface="Arial"/>
              </a:rPr>
              <a:t>This does not prove causal irrelevance for every decision.</a:t>
            </a:r>
          </a:p>
        </p:txBody>
      </p:sp>
      <p:sp>
        <p:nvSpPr>
          <p:cNvPr id="14" name="Rettangolo 13">
            <a:extLst>
              <a:ext uri="{FF2B5EF4-FFF2-40B4-BE49-F238E27FC236}">
                <a16:creationId xmlns:a16="http://schemas.microsoft.com/office/drawing/2014/main" id="{271950E5-9AE8-4624-8836-A98073AC06EB}"/>
              </a:ext>
            </a:extLst>
          </p:cNvPr>
          <p:cNvSpPr>
            <a:spLocks noGrp="1"/>
          </p:cNvSpPr>
          <p:nvPr/>
        </p:nvSpPr>
        <p:spPr>
          <a:xfrm>
            <a:off x="5334000" y="1657350"/>
            <a:ext cx="6172200" cy="266700"/>
          </a:xfrm>
          <a:prstGeom prst="rect">
            <a:avLst/>
          </a:prstGeom>
          <a:noFill/>
          <a:ln w="0">
            <a:noFill/>
            <a:prstDash val="solid"/>
          </a:ln>
        </p:spPr>
        <p:txBody>
          <a:bodyPr wrap="square" lIns="0" tIns="0" rIns="0" bIns="0" anchor="t">
            <a:noAutofit/>
          </a:bodyPr>
          <a:lstStyle/>
          <a:p>
            <a:pPr algn="l">
              <a:buNone/>
              <a:defRPr sz="1425" b="1">
                <a:solidFill>
                  <a:srgbClr val="233A70"/>
                </a:solidFill>
                <a:latin typeface="Arial"/>
                <a:ea typeface="Arial"/>
                <a:cs typeface="Arial"/>
              </a:defRPr>
            </a:pPr>
            <a:r>
              <a:rPr sz="1425" b="1">
                <a:solidFill>
                  <a:srgbClr val="233A70"/>
                </a:solidFill>
                <a:latin typeface="Arial"/>
                <a:ea typeface="Arial"/>
                <a:cs typeface="Arial"/>
              </a:rPr>
              <a:t>CLAIM BOUNDARIES</a:t>
            </a:r>
          </a:p>
        </p:txBody>
      </p:sp>
      <p:sp>
        <p:nvSpPr>
          <p:cNvPr id="15" name="Rettangolo 14">
            <a:extLst>
              <a:ext uri="{FF2B5EF4-FFF2-40B4-BE49-F238E27FC236}">
                <a16:creationId xmlns:a16="http://schemas.microsoft.com/office/drawing/2014/main" id="{9B35F04A-8C1A-4D02-A7D5-B5388F8EBAA1}"/>
              </a:ext>
            </a:extLst>
          </p:cNvPr>
          <p:cNvSpPr>
            <a:spLocks noGrp="1"/>
          </p:cNvSpPr>
          <p:nvPr/>
        </p:nvSpPr>
        <p:spPr>
          <a:xfrm>
            <a:off x="5334000" y="21336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Rettangolo 15">
            <a:extLst>
              <a:ext uri="{FF2B5EF4-FFF2-40B4-BE49-F238E27FC236}">
                <a16:creationId xmlns:a16="http://schemas.microsoft.com/office/drawing/2014/main" id="{383BA1E7-4180-41B6-8C72-60ACF49C3748}"/>
              </a:ext>
            </a:extLst>
          </p:cNvPr>
          <p:cNvSpPr>
            <a:spLocks noGrp="1"/>
          </p:cNvSpPr>
          <p:nvPr/>
        </p:nvSpPr>
        <p:spPr>
          <a:xfrm>
            <a:off x="7467600" y="21336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1,500 images; one reviewer</a:t>
            </a:r>
          </a:p>
        </p:txBody>
      </p:sp>
      <p:sp>
        <p:nvSpPr>
          <p:cNvPr id="17" name="Rettangolo 16">
            <a:extLst>
              <a:ext uri="{FF2B5EF4-FFF2-40B4-BE49-F238E27FC236}">
                <a16:creationId xmlns:a16="http://schemas.microsoft.com/office/drawing/2014/main" id="{1E912AF9-D85C-4977-969E-906B3A4C3311}"/>
              </a:ext>
            </a:extLst>
          </p:cNvPr>
          <p:cNvSpPr>
            <a:spLocks noGrp="1"/>
          </p:cNvSpPr>
          <p:nvPr/>
        </p:nvSpPr>
        <p:spPr>
          <a:xfrm>
            <a:off x="5334000" y="2609850"/>
            <a:ext cx="6172200" cy="9525"/>
          </a:xfrm>
          <a:prstGeom prst="rect">
            <a:avLst/>
          </a:prstGeom>
          <a:solidFill>
            <a:srgbClr val="D9DEE8"/>
          </a:solidFill>
          <a:ln w="0">
            <a:noFill/>
            <a:prstDash val="solid"/>
          </a:ln>
        </p:spPr>
        <p:txBody>
          <a:bodyPr/>
          <a:lstStyle/>
          <a:p>
            <a:endParaRPr/>
          </a:p>
        </p:txBody>
      </p:sp>
      <p:sp>
        <p:nvSpPr>
          <p:cNvPr id="18" name="Rettangolo 17">
            <a:extLst>
              <a:ext uri="{FF2B5EF4-FFF2-40B4-BE49-F238E27FC236}">
                <a16:creationId xmlns:a16="http://schemas.microsoft.com/office/drawing/2014/main" id="{1FEB3410-F8F5-45C3-B8A9-72E8CC0B13F9}"/>
              </a:ext>
            </a:extLst>
          </p:cNvPr>
          <p:cNvSpPr>
            <a:spLocks noGrp="1"/>
          </p:cNvSpPr>
          <p:nvPr/>
        </p:nvSpPr>
        <p:spPr>
          <a:xfrm>
            <a:off x="5334000" y="28194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Perturbations</a:t>
            </a:r>
          </a:p>
        </p:txBody>
      </p:sp>
      <p:sp>
        <p:nvSpPr>
          <p:cNvPr id="19" name="Rettangolo 18">
            <a:extLst>
              <a:ext uri="{FF2B5EF4-FFF2-40B4-BE49-F238E27FC236}">
                <a16:creationId xmlns:a16="http://schemas.microsoft.com/office/drawing/2014/main" id="{528555C9-5DFF-4894-9FE6-D4333953FC88}"/>
              </a:ext>
            </a:extLst>
          </p:cNvPr>
          <p:cNvSpPr>
            <a:spLocks noGrp="1"/>
          </p:cNvSpPr>
          <p:nvPr/>
        </p:nvSpPr>
        <p:spPr>
          <a:xfrm>
            <a:off x="7467600" y="28194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one frozen setting per condition</a:t>
            </a:r>
          </a:p>
        </p:txBody>
      </p:sp>
      <p:sp>
        <p:nvSpPr>
          <p:cNvPr id="20" name="Rettangolo 19">
            <a:extLst>
              <a:ext uri="{FF2B5EF4-FFF2-40B4-BE49-F238E27FC236}">
                <a16:creationId xmlns:a16="http://schemas.microsoft.com/office/drawing/2014/main" id="{F89CB595-C0E8-481C-B956-C19F8CDD3C85}"/>
              </a:ext>
            </a:extLst>
          </p:cNvPr>
          <p:cNvSpPr>
            <a:spLocks noGrp="1"/>
          </p:cNvSpPr>
          <p:nvPr/>
        </p:nvSpPr>
        <p:spPr>
          <a:xfrm>
            <a:off x="5334000" y="3295650"/>
            <a:ext cx="6172200" cy="9525"/>
          </a:xfrm>
          <a:prstGeom prst="rect">
            <a:avLst/>
          </a:prstGeom>
          <a:solidFill>
            <a:srgbClr val="D9DEE8"/>
          </a:solidFill>
          <a:ln w="0">
            <a:noFill/>
            <a:prstDash val="solid"/>
          </a:ln>
        </p:spPr>
        <p:txBody>
          <a:bodyPr/>
          <a:lstStyle/>
          <a:p>
            <a:endParaRPr/>
          </a:p>
        </p:txBody>
      </p:sp>
      <p:sp>
        <p:nvSpPr>
          <p:cNvPr id="21" name="Rettangolo 20">
            <a:extLst>
              <a:ext uri="{FF2B5EF4-FFF2-40B4-BE49-F238E27FC236}">
                <a16:creationId xmlns:a16="http://schemas.microsoft.com/office/drawing/2014/main" id="{6CF52DE5-B776-4B1D-800C-73C4E4A5C8F6}"/>
              </a:ext>
            </a:extLst>
          </p:cNvPr>
          <p:cNvSpPr>
            <a:spLocks noGrp="1"/>
          </p:cNvSpPr>
          <p:nvPr/>
        </p:nvSpPr>
        <p:spPr>
          <a:xfrm>
            <a:off x="5334000" y="35052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Attack target</a:t>
            </a:r>
          </a:p>
        </p:txBody>
      </p:sp>
      <p:sp>
        <p:nvSpPr>
          <p:cNvPr id="22" name="Rettangolo 21">
            <a:extLst>
              <a:ext uri="{FF2B5EF4-FFF2-40B4-BE49-F238E27FC236}">
                <a16:creationId xmlns:a16="http://schemas.microsoft.com/office/drawing/2014/main" id="{CFA73A27-E6D0-47E7-ADA5-8D98B5FD3677}"/>
              </a:ext>
            </a:extLst>
          </p:cNvPr>
          <p:cNvSpPr>
            <a:spLocks noGrp="1"/>
          </p:cNvSpPr>
          <p:nvPr/>
        </p:nvSpPr>
        <p:spPr>
          <a:xfrm>
            <a:off x="7467600" y="35052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direct attacks only on EfficientNet-B0</a:t>
            </a:r>
          </a:p>
        </p:txBody>
      </p:sp>
      <p:sp>
        <p:nvSpPr>
          <p:cNvPr id="23" name="Rettangolo 22">
            <a:extLst>
              <a:ext uri="{FF2B5EF4-FFF2-40B4-BE49-F238E27FC236}">
                <a16:creationId xmlns:a16="http://schemas.microsoft.com/office/drawing/2014/main" id="{6730AD67-EBD7-4FFB-A38A-B32B95B85FDA}"/>
              </a:ext>
            </a:extLst>
          </p:cNvPr>
          <p:cNvSpPr>
            <a:spLocks noGrp="1"/>
          </p:cNvSpPr>
          <p:nvPr/>
        </p:nvSpPr>
        <p:spPr>
          <a:xfrm>
            <a:off x="5334000" y="3981450"/>
            <a:ext cx="6172200" cy="9525"/>
          </a:xfrm>
          <a:prstGeom prst="rect">
            <a:avLst/>
          </a:prstGeom>
          <a:solidFill>
            <a:srgbClr val="D9DEE8"/>
          </a:solidFill>
          <a:ln w="0">
            <a:noFill/>
            <a:prstDash val="solid"/>
          </a:ln>
        </p:spPr>
        <p:txBody>
          <a:bodyPr/>
          <a:lstStyle/>
          <a:p>
            <a:endParaRPr/>
          </a:p>
        </p:txBody>
      </p:sp>
      <p:sp>
        <p:nvSpPr>
          <p:cNvPr id="24" name="Rettangolo 23">
            <a:extLst>
              <a:ext uri="{FF2B5EF4-FFF2-40B4-BE49-F238E27FC236}">
                <a16:creationId xmlns:a16="http://schemas.microsoft.com/office/drawing/2014/main" id="{297D8C7E-D048-4389-B744-C095380C76FF}"/>
              </a:ext>
            </a:extLst>
          </p:cNvPr>
          <p:cNvSpPr>
            <a:spLocks noGrp="1"/>
          </p:cNvSpPr>
          <p:nvPr/>
        </p:nvSpPr>
        <p:spPr>
          <a:xfrm>
            <a:off x="5334000" y="41910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Black-box</a:t>
            </a:r>
          </a:p>
        </p:txBody>
      </p:sp>
      <p:sp>
        <p:nvSpPr>
          <p:cNvPr id="25" name="Rettangolo 24">
            <a:extLst>
              <a:ext uri="{FF2B5EF4-FFF2-40B4-BE49-F238E27FC236}">
                <a16:creationId xmlns:a16="http://schemas.microsoft.com/office/drawing/2014/main" id="{FB545777-3A93-46AD-B3E0-2631B388AFF4}"/>
              </a:ext>
            </a:extLst>
          </p:cNvPr>
          <p:cNvSpPr>
            <a:spLocks noGrp="1"/>
          </p:cNvSpPr>
          <p:nvPr/>
        </p:nvSpPr>
        <p:spPr>
          <a:xfrm>
            <a:off x="7467600" y="41910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tool version + settings + output mapping</a:t>
            </a:r>
          </a:p>
        </p:txBody>
      </p:sp>
      <p:sp>
        <p:nvSpPr>
          <p:cNvPr id="26" name="Rettangolo 25">
            <a:extLst>
              <a:ext uri="{FF2B5EF4-FFF2-40B4-BE49-F238E27FC236}">
                <a16:creationId xmlns:a16="http://schemas.microsoft.com/office/drawing/2014/main" id="{3C77DA9F-A647-486F-87C1-3A6BA389185F}"/>
              </a:ext>
            </a:extLst>
          </p:cNvPr>
          <p:cNvSpPr>
            <a:spLocks noGrp="1"/>
          </p:cNvSpPr>
          <p:nvPr/>
        </p:nvSpPr>
        <p:spPr>
          <a:xfrm>
            <a:off x="5334000" y="4667250"/>
            <a:ext cx="6172200" cy="9525"/>
          </a:xfrm>
          <a:prstGeom prst="rect">
            <a:avLst/>
          </a:prstGeom>
          <a:solidFill>
            <a:srgbClr val="D9DEE8"/>
          </a:solidFill>
          <a:ln w="0">
            <a:noFill/>
            <a:prstDash val="solid"/>
          </a:ln>
        </p:spPr>
        <p:txBody>
          <a:bodyPr/>
          <a:lstStyle/>
          <a:p>
            <a:endParaRPr/>
          </a:p>
        </p:txBody>
      </p:sp>
      <p:sp>
        <p:nvSpPr>
          <p:cNvPr id="27" name="Rettangolo 26">
            <a:extLst>
              <a:ext uri="{FF2B5EF4-FFF2-40B4-BE49-F238E27FC236}">
                <a16:creationId xmlns:a16="http://schemas.microsoft.com/office/drawing/2014/main" id="{8E6250E2-E927-4F06-BBD5-AC880A4A2AFA}"/>
              </a:ext>
            </a:extLst>
          </p:cNvPr>
          <p:cNvSpPr>
            <a:spLocks noGrp="1"/>
          </p:cNvSpPr>
          <p:nvPr/>
        </p:nvSpPr>
        <p:spPr>
          <a:xfrm>
            <a:off x="5334000" y="4876800"/>
            <a:ext cx="1905000" cy="266700"/>
          </a:xfrm>
          <a:prstGeom prst="rect">
            <a:avLst/>
          </a:prstGeom>
          <a:noFill/>
          <a:ln w="0">
            <a:noFill/>
            <a:prstDash val="solid"/>
          </a:ln>
        </p:spPr>
        <p:txBody>
          <a:bodyPr wrap="square" lIns="0" tIns="0" rIns="0" bIns="0" anchor="t">
            <a:noAutofit/>
          </a:bodyPr>
          <a:lstStyle/>
          <a:p>
            <a:pPr algn="l">
              <a:buNone/>
              <a:defRPr sz="1500" b="1">
                <a:solidFill>
                  <a:srgbClr val="BE3C37"/>
                </a:solidFill>
                <a:latin typeface="Arial"/>
                <a:ea typeface="Arial"/>
                <a:cs typeface="Arial"/>
              </a:defRPr>
            </a:pPr>
            <a:r>
              <a:rPr sz="1500" b="1">
                <a:solidFill>
                  <a:srgbClr val="BE3C37"/>
                </a:solidFill>
                <a:latin typeface="Arial"/>
                <a:ea typeface="Arial"/>
                <a:cs typeface="Arial"/>
              </a:rPr>
              <a:t>Legal scope</a:t>
            </a:r>
          </a:p>
        </p:txBody>
      </p:sp>
      <p:sp>
        <p:nvSpPr>
          <p:cNvPr id="28" name="Rettangolo 27">
            <a:extLst>
              <a:ext uri="{FF2B5EF4-FFF2-40B4-BE49-F238E27FC236}">
                <a16:creationId xmlns:a16="http://schemas.microsoft.com/office/drawing/2014/main" id="{096B4D8D-5682-4A6A-9047-F2FEEF48A8B7}"/>
              </a:ext>
            </a:extLst>
          </p:cNvPr>
          <p:cNvSpPr>
            <a:spLocks noGrp="1"/>
          </p:cNvSpPr>
          <p:nvPr/>
        </p:nvSpPr>
        <p:spPr>
          <a:xfrm>
            <a:off x="7467600" y="48768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operational triage only; no legal claim</a:t>
            </a:r>
          </a:p>
        </p:txBody>
      </p:sp>
      <p:sp>
        <p:nvSpPr>
          <p:cNvPr id="29" name="Rettangolo con angoli arrotondati 28">
            <a:extLst>
              <a:ext uri="{FF2B5EF4-FFF2-40B4-BE49-F238E27FC236}">
                <a16:creationId xmlns:a16="http://schemas.microsoft.com/office/drawing/2014/main" id="{61709ABF-C6C7-4CB5-B2B9-481AE4E3DAC9}"/>
              </a:ext>
            </a:extLst>
          </p:cNvPr>
          <p:cNvSpPr>
            <a:spLocks noGrp="1"/>
          </p:cNvSpPr>
          <p:nvPr/>
        </p:nvSpPr>
        <p:spPr>
          <a:xfrm>
            <a:off x="5334000" y="5676900"/>
            <a:ext cx="6172200" cy="457200"/>
          </a:xfrm>
          <a:prstGeom prst="roundRect">
            <a:avLst>
              <a:gd name="adj" fmla="val 25000"/>
            </a:avLst>
          </a:prstGeom>
          <a:solidFill>
            <a:srgbClr val="E9EEF8"/>
          </a:solidFill>
          <a:ln w="0">
            <a:noFill/>
            <a:prstDash val="solid"/>
          </a:ln>
        </p:spPr>
        <p:txBody>
          <a:bodyPr/>
          <a:lstStyle/>
          <a:p>
            <a:endParaRPr/>
          </a:p>
        </p:txBody>
      </p:sp>
      <p:sp>
        <p:nvSpPr>
          <p:cNvPr id="30" name="Rettangolo 29">
            <a:extLst>
              <a:ext uri="{FF2B5EF4-FFF2-40B4-BE49-F238E27FC236}">
                <a16:creationId xmlns:a16="http://schemas.microsoft.com/office/drawing/2014/main" id="{9FA4F0A5-3312-4D65-952B-9A4883F78124}"/>
              </a:ext>
            </a:extLst>
          </p:cNvPr>
          <p:cNvSpPr>
            <a:spLocks noGrp="1"/>
          </p:cNvSpPr>
          <p:nvPr/>
        </p:nvSpPr>
        <p:spPr>
          <a:xfrm>
            <a:off x="5562600" y="5800725"/>
            <a:ext cx="5715000" cy="2286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Protocol-specific assessment—not certification or universal ranking.</a:t>
            </a:r>
          </a:p>
        </p:txBody>
      </p:sp>
    </p:spTree>
    <p:extLst>
      <p:ext uri="{BB962C8B-B14F-4D97-AF65-F5344CB8AC3E}">
        <p14:creationId xmlns:p14="http://schemas.microsoft.com/office/powerpoint/2010/main" val="1308217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33A70"/>
        </a:solidFill>
        <a:effectLst/>
      </p:bgPr>
    </p:bg>
    <p:spTree>
      <p:nvGrpSpPr>
        <p:cNvPr id="1" name=""/>
        <p:cNvGrpSpPr/>
        <p:nvPr/>
      </p:nvGrpSpPr>
      <p:grpSpPr>
        <a:xfrm>
          <a:off x="0" y="0"/>
          <a:ext cx="0" cy="0"/>
          <a:chOff x="0" y="0"/>
          <a:chExt cx="0" cy="0"/>
        </a:xfrm>
      </p:grpSpPr>
      <p:pic>
        <p:nvPicPr>
          <p:cNvPr id="15" name="Picture 1"/>
          <p:cNvPicPr>
            <a:picLocks noChangeAspect="1"/>
          </p:cNvPicPr>
          <p:nvPr/>
        </p:nvPicPr>
        <p:blipFill>
          <a:blip r:embed="rId3"/>
          <a:srcRect/>
          <a:stretch>
            <a:fillRect/>
          </a:stretch>
        </p:blipFill>
        <p:spPr>
          <a:xfrm>
            <a:off x="9812751" y="400050"/>
            <a:ext cx="1424748" cy="1695450"/>
          </a:xfrm>
          <a:prstGeom prst="rect">
            <a:avLst/>
          </a:prstGeom>
        </p:spPr>
      </p:pic>
      <p:sp>
        <p:nvSpPr>
          <p:cNvPr id="2" name="Rettangolo 1">
            <a:extLst>
              <a:ext uri="{FF2B5EF4-FFF2-40B4-BE49-F238E27FC236}">
                <a16:creationId xmlns:a16="http://schemas.microsoft.com/office/drawing/2014/main" id="{96233C98-1682-4713-96AF-301D7793CFAD}"/>
              </a:ext>
            </a:extLst>
          </p:cNvPr>
          <p:cNvSpPr>
            <a:spLocks noGrp="1"/>
          </p:cNvSpPr>
          <p:nvPr/>
        </p:nvSpPr>
        <p:spPr>
          <a:xfrm>
            <a:off x="685800" y="685800"/>
            <a:ext cx="8763000" cy="1524000"/>
          </a:xfrm>
          <a:prstGeom prst="rect">
            <a:avLst/>
          </a:prstGeom>
          <a:noFill/>
          <a:ln w="0">
            <a:noFill/>
            <a:prstDash val="solid"/>
          </a:ln>
        </p:spPr>
        <p:txBody>
          <a:bodyPr wrap="square" lIns="0" tIns="0" rIns="0" bIns="0" anchor="ctr">
            <a:noAutofit/>
          </a:bodyPr>
          <a:lstStyle/>
          <a:p>
            <a:pPr algn="l">
              <a:buNone/>
              <a:defRPr sz="4200" b="1">
                <a:solidFill>
                  <a:srgbClr val="FFFFFF"/>
                </a:solidFill>
                <a:latin typeface="Arial"/>
                <a:ea typeface="Arial"/>
                <a:cs typeface="Arial"/>
              </a:defRPr>
            </a:pPr>
            <a:r>
              <a:rPr sz="4200" b="1">
                <a:solidFill>
                  <a:srgbClr val="FFFFFF"/>
                </a:solidFill>
                <a:latin typeface="Arial"/>
                <a:ea typeface="Arial"/>
                <a:cs typeface="Arial"/>
              </a:rPr>
              <a:t>AI can prioritize evidence;</a:t>
            </a:r>
          </a:p>
          <a:p>
            <a:pPr algn="l">
              <a:buNone/>
              <a:defRPr sz="4200" b="1">
                <a:solidFill>
                  <a:srgbClr val="FFFFFF"/>
                </a:solidFill>
                <a:latin typeface="Arial"/>
                <a:ea typeface="Arial"/>
                <a:cs typeface="Arial"/>
              </a:defRPr>
            </a:pPr>
            <a:r>
              <a:rPr sz="4200" b="1">
                <a:solidFill>
                  <a:srgbClr val="FFFFFF"/>
                </a:solidFill>
                <a:latin typeface="Arial"/>
                <a:ea typeface="Arial"/>
                <a:cs typeface="Arial"/>
              </a:rPr>
              <a:t>it must not silently exclude it.</a:t>
            </a:r>
          </a:p>
        </p:txBody>
      </p:sp>
      <p:sp>
        <p:nvSpPr>
          <p:cNvPr id="3" name="Rettangolo 2">
            <a:extLst>
              <a:ext uri="{FF2B5EF4-FFF2-40B4-BE49-F238E27FC236}">
                <a16:creationId xmlns:a16="http://schemas.microsoft.com/office/drawing/2014/main" id="{406CEE45-9954-4129-B4CC-8763B90B9FE7}"/>
              </a:ext>
            </a:extLst>
          </p:cNvPr>
          <p:cNvSpPr>
            <a:spLocks noGrp="1"/>
          </p:cNvSpPr>
          <p:nvPr/>
        </p:nvSpPr>
        <p:spPr>
          <a:xfrm>
            <a:off x="685800" y="2381250"/>
            <a:ext cx="2000250" cy="66675"/>
          </a:xfrm>
          <a:prstGeom prst="rect">
            <a:avLst/>
          </a:prstGeom>
          <a:solidFill>
            <a:srgbClr val="14B978"/>
          </a:solidFill>
          <a:ln w="0">
            <a:noFill/>
            <a:prstDash val="solid"/>
          </a:ln>
        </p:spPr>
        <p:txBody>
          <a:bodyPr/>
          <a:lstStyle/>
          <a:p>
            <a:endParaRPr/>
          </a:p>
        </p:txBody>
      </p:sp>
      <p:sp>
        <p:nvSpPr>
          <p:cNvPr id="4" name="Rettangolo 3">
            <a:extLst>
              <a:ext uri="{FF2B5EF4-FFF2-40B4-BE49-F238E27FC236}">
                <a16:creationId xmlns:a16="http://schemas.microsoft.com/office/drawing/2014/main" id="{A87ACFBC-5913-4A14-A572-7C43C4E614CE}"/>
              </a:ext>
            </a:extLst>
          </p:cNvPr>
          <p:cNvSpPr>
            <a:spLocks noGrp="1"/>
          </p:cNvSpPr>
          <p:nvPr/>
        </p:nvSpPr>
        <p:spPr>
          <a:xfrm>
            <a:off x="685800" y="297180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01</a:t>
            </a:r>
          </a:p>
        </p:txBody>
      </p:sp>
      <p:sp>
        <p:nvSpPr>
          <p:cNvPr id="5" name="Rettangolo 4">
            <a:extLst>
              <a:ext uri="{FF2B5EF4-FFF2-40B4-BE49-F238E27FC236}">
                <a16:creationId xmlns:a16="http://schemas.microsoft.com/office/drawing/2014/main" id="{A7447639-7A70-4861-8213-2179225B1DA5}"/>
              </a:ext>
            </a:extLst>
          </p:cNvPr>
          <p:cNvSpPr>
            <a:spLocks noGrp="1"/>
          </p:cNvSpPr>
          <p:nvPr/>
        </p:nvSpPr>
        <p:spPr>
          <a:xfrm>
            <a:off x="1428750" y="283845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Clean performance is only the baseline; robustness is condition-dependent.</a:t>
            </a:r>
          </a:p>
        </p:txBody>
      </p:sp>
      <p:sp>
        <p:nvSpPr>
          <p:cNvPr id="6" name="Rettangolo 5">
            <a:extLst>
              <a:ext uri="{FF2B5EF4-FFF2-40B4-BE49-F238E27FC236}">
                <a16:creationId xmlns:a16="http://schemas.microsoft.com/office/drawing/2014/main" id="{1450CA5E-FC35-430A-9031-A11896E280CD}"/>
              </a:ext>
            </a:extLst>
          </p:cNvPr>
          <p:cNvSpPr>
            <a:spLocks noGrp="1"/>
          </p:cNvSpPr>
          <p:nvPr/>
        </p:nvSpPr>
        <p:spPr>
          <a:xfrm>
            <a:off x="1428750" y="3524250"/>
            <a:ext cx="8858250" cy="9525"/>
          </a:xfrm>
          <a:prstGeom prst="rect">
            <a:avLst/>
          </a:prstGeom>
          <a:solidFill>
            <a:srgbClr val="536A9B"/>
          </a:solidFill>
          <a:ln w="0">
            <a:noFill/>
            <a:prstDash val="solid"/>
          </a:ln>
        </p:spPr>
        <p:txBody>
          <a:bodyPr/>
          <a:lstStyle/>
          <a:p>
            <a:endParaRPr/>
          </a:p>
        </p:txBody>
      </p:sp>
      <p:sp>
        <p:nvSpPr>
          <p:cNvPr id="7" name="Rettangolo 6">
            <a:extLst>
              <a:ext uri="{FF2B5EF4-FFF2-40B4-BE49-F238E27FC236}">
                <a16:creationId xmlns:a16="http://schemas.microsoft.com/office/drawing/2014/main" id="{84B48416-48C8-47F4-8298-4F17F973B71A}"/>
              </a:ext>
            </a:extLst>
          </p:cNvPr>
          <p:cNvSpPr>
            <a:spLocks noGrp="1"/>
          </p:cNvSpPr>
          <p:nvPr/>
        </p:nvSpPr>
        <p:spPr>
          <a:xfrm>
            <a:off x="685800" y="375285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dirty="0">
                <a:solidFill>
                  <a:srgbClr val="14B978"/>
                </a:solidFill>
                <a:latin typeface="Arial"/>
                <a:ea typeface="Arial"/>
                <a:cs typeface="Arial"/>
              </a:rPr>
              <a:t>02</a:t>
            </a:r>
          </a:p>
        </p:txBody>
      </p:sp>
      <p:sp>
        <p:nvSpPr>
          <p:cNvPr id="8" name="Rettangolo 7">
            <a:extLst>
              <a:ext uri="{FF2B5EF4-FFF2-40B4-BE49-F238E27FC236}">
                <a16:creationId xmlns:a16="http://schemas.microsoft.com/office/drawing/2014/main" id="{988D7614-8FE3-475C-B612-F8C4E0C42486}"/>
              </a:ext>
            </a:extLst>
          </p:cNvPr>
          <p:cNvSpPr>
            <a:spLocks noGrp="1"/>
          </p:cNvSpPr>
          <p:nvPr/>
        </p:nvSpPr>
        <p:spPr>
          <a:xfrm>
            <a:off x="1428750" y="373380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Direct attacks, transfer and OOD behavior are distinct from configuration trade-offs.</a:t>
            </a:r>
          </a:p>
        </p:txBody>
      </p:sp>
      <p:sp>
        <p:nvSpPr>
          <p:cNvPr id="9" name="Rettangolo 8">
            <a:extLst>
              <a:ext uri="{FF2B5EF4-FFF2-40B4-BE49-F238E27FC236}">
                <a16:creationId xmlns:a16="http://schemas.microsoft.com/office/drawing/2014/main" id="{9FD6AFD3-88FF-4DC9-A60E-DD29C11BBE0F}"/>
              </a:ext>
            </a:extLst>
          </p:cNvPr>
          <p:cNvSpPr>
            <a:spLocks noGrp="1"/>
          </p:cNvSpPr>
          <p:nvPr/>
        </p:nvSpPr>
        <p:spPr>
          <a:xfrm>
            <a:off x="1428750" y="4419600"/>
            <a:ext cx="8858250" cy="9525"/>
          </a:xfrm>
          <a:prstGeom prst="rect">
            <a:avLst/>
          </a:prstGeom>
          <a:solidFill>
            <a:srgbClr val="536A9B"/>
          </a:solidFill>
          <a:ln w="0">
            <a:noFill/>
            <a:prstDash val="solid"/>
          </a:ln>
        </p:spPr>
        <p:txBody>
          <a:bodyPr/>
          <a:lstStyle/>
          <a:p>
            <a:endParaRPr/>
          </a:p>
        </p:txBody>
      </p:sp>
      <p:sp>
        <p:nvSpPr>
          <p:cNvPr id="10" name="Rettangolo 9">
            <a:extLst>
              <a:ext uri="{FF2B5EF4-FFF2-40B4-BE49-F238E27FC236}">
                <a16:creationId xmlns:a16="http://schemas.microsoft.com/office/drawing/2014/main" id="{82DD1464-6B69-4824-9D72-F6913E53C22E}"/>
              </a:ext>
            </a:extLst>
          </p:cNvPr>
          <p:cNvSpPr>
            <a:spLocks noGrp="1"/>
          </p:cNvSpPr>
          <p:nvPr/>
        </p:nvSpPr>
        <p:spPr>
          <a:xfrm>
            <a:off x="685800" y="464820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03</a:t>
            </a:r>
          </a:p>
        </p:txBody>
      </p:sp>
      <p:sp>
        <p:nvSpPr>
          <p:cNvPr id="11" name="Rettangolo 10">
            <a:extLst>
              <a:ext uri="{FF2B5EF4-FFF2-40B4-BE49-F238E27FC236}">
                <a16:creationId xmlns:a16="http://schemas.microsoft.com/office/drawing/2014/main" id="{CE069915-8C7F-4D66-A75C-DE9F676A9B58}"/>
              </a:ext>
            </a:extLst>
          </p:cNvPr>
          <p:cNvSpPr>
            <a:spLocks noGrp="1"/>
          </p:cNvSpPr>
          <p:nvPr/>
        </p:nvSpPr>
        <p:spPr>
          <a:xfrm>
            <a:off x="1428750" y="462915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FAIRLab makes those dimensions traceable, auditable and reviewable by a forensic expert.</a:t>
            </a:r>
          </a:p>
        </p:txBody>
      </p:sp>
      <p:sp>
        <p:nvSpPr>
          <p:cNvPr id="12" name="Rettangolo 11">
            <a:extLst>
              <a:ext uri="{FF2B5EF4-FFF2-40B4-BE49-F238E27FC236}">
                <a16:creationId xmlns:a16="http://schemas.microsoft.com/office/drawing/2014/main" id="{C5DB9022-7C6B-4FD6-BD9F-B0933F2FF931}"/>
              </a:ext>
            </a:extLst>
          </p:cNvPr>
          <p:cNvSpPr>
            <a:spLocks noGrp="1"/>
          </p:cNvSpPr>
          <p:nvPr/>
        </p:nvSpPr>
        <p:spPr>
          <a:xfrm>
            <a:off x="685800" y="5962650"/>
            <a:ext cx="2476500" cy="419100"/>
          </a:xfrm>
          <a:prstGeom prst="rect">
            <a:avLst/>
          </a:prstGeom>
          <a:noFill/>
          <a:ln w="0">
            <a:noFill/>
            <a:prstDash val="solid"/>
          </a:ln>
        </p:spPr>
        <p:txBody>
          <a:bodyPr wrap="square" lIns="0" tIns="0" rIns="0" bIns="0" anchor="t">
            <a:noAutofit/>
          </a:bodyPr>
          <a:lstStyle/>
          <a:p>
            <a:endParaRPr/>
          </a:p>
        </p:txBody>
      </p:sp>
      <p:sp>
        <p:nvSpPr>
          <p:cNvPr id="13" name="Rettangolo 12">
            <a:extLst>
              <a:ext uri="{FF2B5EF4-FFF2-40B4-BE49-F238E27FC236}">
                <a16:creationId xmlns:a16="http://schemas.microsoft.com/office/drawing/2014/main" id="{E270C321-849E-4038-B40F-9F6AE5428309}"/>
              </a:ext>
            </a:extLst>
          </p:cNvPr>
          <p:cNvSpPr>
            <a:spLocks noGrp="1"/>
          </p:cNvSpPr>
          <p:nvPr/>
        </p:nvSpPr>
        <p:spPr>
          <a:xfrm>
            <a:off x="8972550" y="6038850"/>
            <a:ext cx="2266950" cy="266700"/>
          </a:xfrm>
          <a:prstGeom prst="rect">
            <a:avLst/>
          </a:prstGeom>
          <a:noFill/>
          <a:ln w="0">
            <a:noFill/>
            <a:prstDash val="solid"/>
          </a:ln>
        </p:spPr>
        <p:txBody>
          <a:bodyPr wrap="square" lIns="0" tIns="0" rIns="0" bIns="0" anchor="t">
            <a:noAutofit/>
          </a:bodyPr>
          <a:lstStyle/>
          <a:p>
            <a:endParaRPr/>
          </a:p>
        </p:txBody>
      </p:sp>
    </p:spTree>
    <p:extLst>
      <p:ext uri="{BB962C8B-B14F-4D97-AF65-F5344CB8AC3E}">
        <p14:creationId xmlns:p14="http://schemas.microsoft.com/office/powerpoint/2010/main" val="1025552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0170" cy="6856171"/>
          </a:xfrm>
          <a:prstGeom prst="rect">
            <a:avLst/>
          </a:pr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ca_light.png"/>
          <p:cNvPicPr>
            <a:picLocks noChangeAspect="1"/>
          </p:cNvPicPr>
          <p:nvPr/>
        </p:nvPicPr>
        <p:blipFill>
          <a:blip r:embed="rId2"/>
          <a:stretch>
            <a:fillRect/>
          </a:stretch>
        </p:blipFill>
        <p:spPr>
          <a:xfrm>
            <a:off x="731477" y="7"/>
            <a:ext cx="1097235" cy="1306092"/>
          </a:xfrm>
          <a:prstGeom prst="rect">
            <a:avLst/>
          </a:prstGeom>
        </p:spPr>
      </p:pic>
      <p:sp>
        <p:nvSpPr>
          <p:cNvPr id="4" name="TextBox 3"/>
          <p:cNvSpPr txBox="1"/>
          <p:nvPr/>
        </p:nvSpPr>
        <p:spPr>
          <a:xfrm>
            <a:off x="946826" y="2001618"/>
            <a:ext cx="10425310"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dirty="0">
                <a:solidFill>
                  <a:srgbClr val="FFFFFF"/>
                </a:solidFill>
                <a:latin typeface="Carlito"/>
              </a:rPr>
              <a:t>Evaluating the Robustness of AI-Based</a:t>
            </a:r>
          </a:p>
        </p:txBody>
      </p:sp>
      <p:sp>
        <p:nvSpPr>
          <p:cNvPr id="5" name="TextBox 4"/>
          <p:cNvSpPr txBox="1"/>
          <p:nvPr/>
        </p:nvSpPr>
        <p:spPr>
          <a:xfrm>
            <a:off x="1152955" y="2596456"/>
            <a:ext cx="10015521"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a:solidFill>
                  <a:srgbClr val="FFFFFF"/>
                </a:solidFill>
                <a:latin typeface="Carlito"/>
              </a:rPr>
              <a:t>Forensic Tools under Adversarial and</a:t>
            </a:r>
          </a:p>
        </p:txBody>
      </p:sp>
      <p:sp>
        <p:nvSpPr>
          <p:cNvPr id="6" name="TextBox 5"/>
          <p:cNvSpPr txBox="1"/>
          <p:nvPr/>
        </p:nvSpPr>
        <p:spPr>
          <a:xfrm>
            <a:off x="3263624" y="3078525"/>
            <a:ext cx="5794393"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dirty="0">
                <a:solidFill>
                  <a:srgbClr val="FFFFFF"/>
                </a:solidFill>
                <a:latin typeface="Carlito"/>
              </a:rPr>
              <a:t>Anti-Forensic Attacks</a:t>
            </a:r>
          </a:p>
        </p:txBody>
      </p:sp>
      <p:sp>
        <p:nvSpPr>
          <p:cNvPr id="7" name="TextBox 6"/>
          <p:cNvSpPr txBox="1"/>
          <p:nvPr/>
        </p:nvSpPr>
        <p:spPr>
          <a:xfrm>
            <a:off x="4259725" y="4161555"/>
            <a:ext cx="3800560" cy="559192"/>
          </a:xfrm>
          <a:prstGeom prst="rect">
            <a:avLst/>
          </a:prstGeom>
          <a:noFill/>
        </p:spPr>
        <p:txBody>
          <a:bodyPr wrap="none" lIns="0" tIns="0" rIns="0" bIns="0" anchor="t">
            <a:noAutofit/>
          </a:bodyPr>
          <a:lstStyle/>
          <a:p>
            <a:pPr algn="l">
              <a:lnSpc>
                <a:spcPct val="100000"/>
              </a:lnSpc>
              <a:spcBef>
                <a:spcPts val="0"/>
              </a:spcBef>
              <a:spcAft>
                <a:spcPts val="0"/>
              </a:spcAft>
            </a:pPr>
            <a:r>
              <a:rPr sz="3036" b="0" i="1">
                <a:solidFill>
                  <a:srgbClr val="FFFFFF"/>
                </a:solidFill>
                <a:latin typeface="Carlito"/>
              </a:rPr>
              <a:t>Thank you for listening!</a:t>
            </a:r>
          </a:p>
        </p:txBody>
      </p:sp>
      <p:sp>
        <p:nvSpPr>
          <p:cNvPr id="8" name="TextBox 7"/>
          <p:cNvSpPr txBox="1"/>
          <p:nvPr/>
        </p:nvSpPr>
        <p:spPr>
          <a:xfrm>
            <a:off x="4924294" y="4643597"/>
            <a:ext cx="2471225" cy="559192"/>
          </a:xfrm>
          <a:prstGeom prst="rect">
            <a:avLst/>
          </a:prstGeom>
          <a:noFill/>
        </p:spPr>
        <p:txBody>
          <a:bodyPr wrap="none" lIns="0" tIns="0" rIns="0" bIns="0" anchor="t">
            <a:noAutofit/>
          </a:bodyPr>
          <a:lstStyle/>
          <a:p>
            <a:pPr algn="l">
              <a:lnSpc>
                <a:spcPct val="100000"/>
              </a:lnSpc>
              <a:spcBef>
                <a:spcPts val="0"/>
              </a:spcBef>
              <a:spcAft>
                <a:spcPts val="0"/>
              </a:spcAft>
            </a:pPr>
            <a:r>
              <a:rPr sz="3036" b="0" i="1">
                <a:solidFill>
                  <a:srgbClr val="FFFFFF"/>
                </a:solidFill>
                <a:latin typeface="Carlito"/>
              </a:rPr>
              <a:t>Any questions?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Research questions and claim scope</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B1</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RQ1</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000250" y="146685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To what extent do the proxy models retain clean-baseline performance across separate OOD, adversarial and anti-forensic conditions?</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RQ2</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000250" y="246697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How do direct source-model attacks, cross-architecture transfer and model-agnostic Color Shift differ?</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RQ3</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000250" y="346710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How do black-box outputs and configuration choices shape the observed operational profiles?</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RQ4</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000250" y="446722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Which directional errors, degradations, OOD assignments and unknown states matter for continued human review?</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Scope: operational robustness under the frozen protocol—not certification, legal admissibility or universal ranking.</a:t>
            </a:r>
          </a:p>
        </p:txBody>
      </p:sp>
    </p:spTree>
    <p:extLst>
      <p:ext uri="{BB962C8B-B14F-4D97-AF65-F5344CB8AC3E}">
        <p14:creationId xmlns:p14="http://schemas.microsoft.com/office/powerpoint/2010/main" val="1631516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Perturbation suite and threat paths</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B2</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ADVERSARIAL / ADVERSARIAL-STYLE</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FGSM</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One Pixel</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Sigma Zero</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SuperDeepFool</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Color Shift · deterministic, model-agnostic</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ANTI-FORENSIC TRANSFORMATIONS</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recompression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Resample / resize</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modification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stretching</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Model-dependent attacks: direct on EfficientNet-B0  |  empirical transfer elsewhere</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Color Shift and anti-forensic transformations: model-agnostic conditions</a:t>
            </a:r>
          </a:p>
        </p:txBody>
      </p:sp>
    </p:spTree>
    <p:extLst>
      <p:ext uri="{BB962C8B-B14F-4D97-AF65-F5344CB8AC3E}">
        <p14:creationId xmlns:p14="http://schemas.microsoft.com/office/powerpoint/2010/main" val="98046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Rettangolo 23">
            <a:extLst>
              <a:ext uri="{FF2B5EF4-FFF2-40B4-BE49-F238E27FC236}">
                <a16:creationId xmlns:a16="http://schemas.microsoft.com/office/drawing/2014/main" id="{132C68E0-F7BB-4D84-B514-2E0F71B3B1B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7D20E475-2A5D-459D-8AAB-9F303C543F6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Traceability links sources to reported figures</a:t>
            </a:r>
          </a:p>
        </p:txBody>
      </p:sp>
      <p:sp>
        <p:nvSpPr>
          <p:cNvPr id="3" name="Rettangolo 2">
            <a:extLst>
              <a:ext uri="{FF2B5EF4-FFF2-40B4-BE49-F238E27FC236}">
                <a16:creationId xmlns:a16="http://schemas.microsoft.com/office/drawing/2014/main" id="{5B5396AA-6D1B-4946-9C6D-8D0F818A01C1}"/>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A3F1E25-2383-4EC9-B6D0-9445F682B414}"/>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49F56C24-1E99-42B1-9770-88B2B95F402B}"/>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B3</a:t>
            </a:r>
          </a:p>
        </p:txBody>
      </p:sp>
      <p:sp>
        <p:nvSpPr>
          <p:cNvPr id="6" name="Rettangolo 5">
            <a:extLst>
              <a:ext uri="{FF2B5EF4-FFF2-40B4-BE49-F238E27FC236}">
                <a16:creationId xmlns:a16="http://schemas.microsoft.com/office/drawing/2014/main" id="{7C39DB82-1F28-4EF9-B5A0-94D0168F6F0D}"/>
              </a:ext>
            </a:extLst>
          </p:cNvPr>
          <p:cNvSpPr>
            <a:spLocks noGrp="1"/>
          </p:cNvSpPr>
          <p:nvPr/>
        </p:nvSpPr>
        <p:spPr>
          <a:xfrm>
            <a:off x="1657350" y="2609850"/>
            <a:ext cx="8877300" cy="66675"/>
          </a:xfrm>
          <a:prstGeom prst="rect">
            <a:avLst/>
          </a:prstGeom>
          <a:solidFill>
            <a:srgbClr val="D9DEE8"/>
          </a:solidFill>
          <a:ln w="0">
            <a:noFill/>
            <a:prstDash val="solid"/>
          </a:ln>
        </p:spPr>
        <p:txBody>
          <a:bodyPr/>
          <a:lstStyle/>
          <a:p>
            <a:endParaRPr/>
          </a:p>
        </p:txBody>
      </p:sp>
      <p:sp>
        <p:nvSpPr>
          <p:cNvPr id="7" name="Rettangolo con angoli arrotondati 6">
            <a:extLst>
              <a:ext uri="{FF2B5EF4-FFF2-40B4-BE49-F238E27FC236}">
                <a16:creationId xmlns:a16="http://schemas.microsoft.com/office/drawing/2014/main" id="{DD3F15EF-FC7C-4F92-836B-00742035B3B5}"/>
              </a:ext>
            </a:extLst>
          </p:cNvPr>
          <p:cNvSpPr>
            <a:spLocks noGrp="1"/>
          </p:cNvSpPr>
          <p:nvPr/>
        </p:nvSpPr>
        <p:spPr>
          <a:xfrm>
            <a:off x="68580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8" name="Rettangolo 7">
            <a:extLst>
              <a:ext uri="{FF2B5EF4-FFF2-40B4-BE49-F238E27FC236}">
                <a16:creationId xmlns:a16="http://schemas.microsoft.com/office/drawing/2014/main" id="{31A8BB3B-F18E-4303-80A6-E7E762AD1EB3}"/>
              </a:ext>
            </a:extLst>
          </p:cNvPr>
          <p:cNvSpPr>
            <a:spLocks noGrp="1"/>
          </p:cNvSpPr>
          <p:nvPr/>
        </p:nvSpPr>
        <p:spPr>
          <a:xfrm>
            <a:off x="8001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SOURCE</a:t>
            </a:r>
          </a:p>
        </p:txBody>
      </p:sp>
      <p:sp>
        <p:nvSpPr>
          <p:cNvPr id="9" name="Rettangolo 8">
            <a:extLst>
              <a:ext uri="{FF2B5EF4-FFF2-40B4-BE49-F238E27FC236}">
                <a16:creationId xmlns:a16="http://schemas.microsoft.com/office/drawing/2014/main" id="{9DD03EAC-F71C-40B3-80E5-2DA59F31F6F8}"/>
              </a:ext>
            </a:extLst>
          </p:cNvPr>
          <p:cNvSpPr>
            <a:spLocks noGrp="1"/>
          </p:cNvSpPr>
          <p:nvPr/>
        </p:nvSpPr>
        <p:spPr>
          <a:xfrm>
            <a:off x="8001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dataset manifests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manual review</a:t>
            </a:r>
          </a:p>
        </p:txBody>
      </p:sp>
      <p:sp>
        <p:nvSpPr>
          <p:cNvPr id="10" name="Rettangolo con angoli arrotondati 9">
            <a:extLst>
              <a:ext uri="{FF2B5EF4-FFF2-40B4-BE49-F238E27FC236}">
                <a16:creationId xmlns:a16="http://schemas.microsoft.com/office/drawing/2014/main" id="{2B26A88D-1776-4876-8181-037F2371B042}"/>
              </a:ext>
            </a:extLst>
          </p:cNvPr>
          <p:cNvSpPr>
            <a:spLocks noGrp="1"/>
          </p:cNvSpPr>
          <p:nvPr/>
        </p:nvSpPr>
        <p:spPr>
          <a:xfrm>
            <a:off x="287655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11" name="Rettangolo 10">
            <a:extLst>
              <a:ext uri="{FF2B5EF4-FFF2-40B4-BE49-F238E27FC236}">
                <a16:creationId xmlns:a16="http://schemas.microsoft.com/office/drawing/2014/main" id="{9D87A7A1-41E2-4A42-8309-D39020B20FA2}"/>
              </a:ext>
            </a:extLst>
          </p:cNvPr>
          <p:cNvSpPr>
            <a:spLocks noGrp="1"/>
          </p:cNvSpPr>
          <p:nvPr/>
        </p:nvSpPr>
        <p:spPr>
          <a:xfrm>
            <a:off x="299085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DERIVATION</a:t>
            </a:r>
          </a:p>
        </p:txBody>
      </p:sp>
      <p:sp>
        <p:nvSpPr>
          <p:cNvPr id="12" name="Rettangolo 11">
            <a:extLst>
              <a:ext uri="{FF2B5EF4-FFF2-40B4-BE49-F238E27FC236}">
                <a16:creationId xmlns:a16="http://schemas.microsoft.com/office/drawing/2014/main" id="{7C0978C2-178E-484C-97FD-18E4D03A80D0}"/>
              </a:ext>
            </a:extLst>
          </p:cNvPr>
          <p:cNvSpPr>
            <a:spLocks noGrp="1"/>
          </p:cNvSpPr>
          <p:nvPr/>
        </p:nvSpPr>
        <p:spPr>
          <a:xfrm>
            <a:off x="299085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split + attack manifests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source–condition IDs</a:t>
            </a:r>
          </a:p>
        </p:txBody>
      </p:sp>
      <p:sp>
        <p:nvSpPr>
          <p:cNvPr id="13" name="Rettangolo con angoli arrotondati 12">
            <a:extLst>
              <a:ext uri="{FF2B5EF4-FFF2-40B4-BE49-F238E27FC236}">
                <a16:creationId xmlns:a16="http://schemas.microsoft.com/office/drawing/2014/main" id="{13E5A335-8E9A-4904-877C-CEBA763E0F88}"/>
              </a:ext>
            </a:extLst>
          </p:cNvPr>
          <p:cNvSpPr>
            <a:spLocks noGrp="1"/>
          </p:cNvSpPr>
          <p:nvPr/>
        </p:nvSpPr>
        <p:spPr>
          <a:xfrm>
            <a:off x="5067300" y="1885950"/>
            <a:ext cx="1714500" cy="1428750"/>
          </a:xfrm>
          <a:prstGeom prst="roundRect">
            <a:avLst>
              <a:gd name="adj" fmla="val 10667"/>
            </a:avLst>
          </a:prstGeom>
          <a:solidFill>
            <a:srgbClr val="E7F8F0"/>
          </a:solidFill>
          <a:ln w="9525">
            <a:solidFill>
              <a:srgbClr val="E7F8F0"/>
            </a:solidFill>
            <a:prstDash val="solid"/>
          </a:ln>
        </p:spPr>
        <p:txBody>
          <a:bodyPr/>
          <a:lstStyle/>
          <a:p>
            <a:endParaRPr/>
          </a:p>
        </p:txBody>
      </p:sp>
      <p:sp>
        <p:nvSpPr>
          <p:cNvPr id="14" name="Rettangolo 13">
            <a:extLst>
              <a:ext uri="{FF2B5EF4-FFF2-40B4-BE49-F238E27FC236}">
                <a16:creationId xmlns:a16="http://schemas.microsoft.com/office/drawing/2014/main" id="{6933333C-7762-40B6-A335-488B04D01FE9}"/>
              </a:ext>
            </a:extLst>
          </p:cNvPr>
          <p:cNvSpPr>
            <a:spLocks noGrp="1"/>
          </p:cNvSpPr>
          <p:nvPr/>
        </p:nvSpPr>
        <p:spPr>
          <a:xfrm>
            <a:off x="51816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087A50"/>
                </a:solidFill>
                <a:latin typeface="Arial"/>
                <a:ea typeface="Arial"/>
                <a:cs typeface="Arial"/>
              </a:defRPr>
            </a:pPr>
            <a:r>
              <a:rPr sz="1275" b="1">
                <a:solidFill>
                  <a:srgbClr val="087A50"/>
                </a:solidFill>
                <a:latin typeface="Arial"/>
                <a:ea typeface="Arial"/>
                <a:cs typeface="Arial"/>
              </a:rPr>
              <a:t>DECISION</a:t>
            </a:r>
          </a:p>
        </p:txBody>
      </p:sp>
      <p:sp>
        <p:nvSpPr>
          <p:cNvPr id="15" name="Rettangolo 14">
            <a:extLst>
              <a:ext uri="{FF2B5EF4-FFF2-40B4-BE49-F238E27FC236}">
                <a16:creationId xmlns:a16="http://schemas.microsoft.com/office/drawing/2014/main" id="{D6C7E621-5366-4ADA-9F42-14FFFBD21670}"/>
              </a:ext>
            </a:extLst>
          </p:cNvPr>
          <p:cNvSpPr>
            <a:spLocks noGrp="1"/>
          </p:cNvSpPr>
          <p:nvPr/>
        </p:nvSpPr>
        <p:spPr>
          <a:xfrm>
            <a:off x="51816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proxy predictions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normalized tool outputs</a:t>
            </a:r>
          </a:p>
        </p:txBody>
      </p:sp>
      <p:sp>
        <p:nvSpPr>
          <p:cNvPr id="16" name="Rettangolo con angoli arrotondati 15">
            <a:extLst>
              <a:ext uri="{FF2B5EF4-FFF2-40B4-BE49-F238E27FC236}">
                <a16:creationId xmlns:a16="http://schemas.microsoft.com/office/drawing/2014/main" id="{00315F4D-4D0F-46DA-8343-DC26FB1BF534}"/>
              </a:ext>
            </a:extLst>
          </p:cNvPr>
          <p:cNvSpPr>
            <a:spLocks noGrp="1"/>
          </p:cNvSpPr>
          <p:nvPr/>
        </p:nvSpPr>
        <p:spPr>
          <a:xfrm>
            <a:off x="725805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17" name="Rettangolo 16">
            <a:extLst>
              <a:ext uri="{FF2B5EF4-FFF2-40B4-BE49-F238E27FC236}">
                <a16:creationId xmlns:a16="http://schemas.microsoft.com/office/drawing/2014/main" id="{0EF42E65-D8F5-4F54-9D14-D8F427D0CFD4}"/>
              </a:ext>
            </a:extLst>
          </p:cNvPr>
          <p:cNvSpPr>
            <a:spLocks noGrp="1"/>
          </p:cNvSpPr>
          <p:nvPr/>
        </p:nvSpPr>
        <p:spPr>
          <a:xfrm>
            <a:off x="737235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METRIC</a:t>
            </a:r>
          </a:p>
        </p:txBody>
      </p:sp>
      <p:sp>
        <p:nvSpPr>
          <p:cNvPr id="18" name="Rettangolo 17">
            <a:extLst>
              <a:ext uri="{FF2B5EF4-FFF2-40B4-BE49-F238E27FC236}">
                <a16:creationId xmlns:a16="http://schemas.microsoft.com/office/drawing/2014/main" id="{8C403EC8-1210-44A7-826A-A435B28EDA3E}"/>
              </a:ext>
            </a:extLst>
          </p:cNvPr>
          <p:cNvSpPr>
            <a:spLocks noGrp="1"/>
          </p:cNvSpPr>
          <p:nvPr/>
        </p:nvSpPr>
        <p:spPr>
          <a:xfrm>
            <a:off x="737235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condition tables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directional errors</a:t>
            </a:r>
          </a:p>
        </p:txBody>
      </p:sp>
      <p:sp>
        <p:nvSpPr>
          <p:cNvPr id="19" name="Rettangolo con angoli arrotondati 18">
            <a:extLst>
              <a:ext uri="{FF2B5EF4-FFF2-40B4-BE49-F238E27FC236}">
                <a16:creationId xmlns:a16="http://schemas.microsoft.com/office/drawing/2014/main" id="{44A407A9-0C70-42CE-96D8-4F4090679635}"/>
              </a:ext>
            </a:extLst>
          </p:cNvPr>
          <p:cNvSpPr>
            <a:spLocks noGrp="1"/>
          </p:cNvSpPr>
          <p:nvPr/>
        </p:nvSpPr>
        <p:spPr>
          <a:xfrm>
            <a:off x="9448800" y="1885950"/>
            <a:ext cx="1714500" cy="1428750"/>
          </a:xfrm>
          <a:prstGeom prst="roundRect">
            <a:avLst>
              <a:gd name="adj" fmla="val 10667"/>
            </a:avLst>
          </a:prstGeom>
          <a:solidFill>
            <a:srgbClr val="FFFFFF"/>
          </a:solidFill>
          <a:ln w="9525">
            <a:solidFill>
              <a:srgbClr val="D9DEE8"/>
            </a:solidFill>
            <a:prstDash val="solid"/>
          </a:ln>
        </p:spPr>
        <p:txBody>
          <a:bodyPr/>
          <a:lstStyle/>
          <a:p>
            <a:endParaRPr/>
          </a:p>
        </p:txBody>
      </p:sp>
      <p:sp>
        <p:nvSpPr>
          <p:cNvPr id="20" name="Rettangolo 19">
            <a:extLst>
              <a:ext uri="{FF2B5EF4-FFF2-40B4-BE49-F238E27FC236}">
                <a16:creationId xmlns:a16="http://schemas.microsoft.com/office/drawing/2014/main" id="{F11B0350-76FB-4DB6-9B42-178EBF016A42}"/>
              </a:ext>
            </a:extLst>
          </p:cNvPr>
          <p:cNvSpPr>
            <a:spLocks noGrp="1"/>
          </p:cNvSpPr>
          <p:nvPr/>
        </p:nvSpPr>
        <p:spPr>
          <a:xfrm>
            <a:off x="95631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REPORT</a:t>
            </a:r>
          </a:p>
        </p:txBody>
      </p:sp>
      <p:sp>
        <p:nvSpPr>
          <p:cNvPr id="21" name="Rettangolo 20">
            <a:extLst>
              <a:ext uri="{FF2B5EF4-FFF2-40B4-BE49-F238E27FC236}">
                <a16:creationId xmlns:a16="http://schemas.microsoft.com/office/drawing/2014/main" id="{208868E6-4BF0-404D-BA6B-3AACD3C9C49D}"/>
              </a:ext>
            </a:extLst>
          </p:cNvPr>
          <p:cNvSpPr>
            <a:spLocks noGrp="1"/>
          </p:cNvSpPr>
          <p:nvPr/>
        </p:nvSpPr>
        <p:spPr>
          <a:xfrm>
            <a:off x="95631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thesis figures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conclusion tables</a:t>
            </a:r>
          </a:p>
        </p:txBody>
      </p:sp>
      <p:sp>
        <p:nvSpPr>
          <p:cNvPr id="22" name="Rettangolo 21">
            <a:extLst>
              <a:ext uri="{FF2B5EF4-FFF2-40B4-BE49-F238E27FC236}">
                <a16:creationId xmlns:a16="http://schemas.microsoft.com/office/drawing/2014/main" id="{143CDE96-C95C-4603-8D8F-39D3E4C03054}"/>
              </a:ext>
            </a:extLst>
          </p:cNvPr>
          <p:cNvSpPr>
            <a:spLocks noGrp="1"/>
          </p:cNvSpPr>
          <p:nvPr/>
        </p:nvSpPr>
        <p:spPr>
          <a:xfrm>
            <a:off x="685800" y="3905250"/>
            <a:ext cx="108204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Integrity and audit controls</a:t>
            </a:r>
          </a:p>
        </p:txBody>
      </p:sp>
      <p:sp>
        <p:nvSpPr>
          <p:cNvPr id="23" name="Rettangolo 22">
            <a:extLst>
              <a:ext uri="{FF2B5EF4-FFF2-40B4-BE49-F238E27FC236}">
                <a16:creationId xmlns:a16="http://schemas.microsoft.com/office/drawing/2014/main" id="{11FB0154-B506-4357-9ADE-0DC5A01E2B7D}"/>
              </a:ext>
            </a:extLst>
          </p:cNvPr>
          <p:cNvSpPr>
            <a:spLocks noGrp="1"/>
          </p:cNvSpPr>
          <p:nvPr/>
        </p:nvSpPr>
        <p:spPr>
          <a:xfrm>
            <a:off x="1714500" y="4438650"/>
            <a:ext cx="8763000" cy="1562100"/>
          </a:xfrm>
          <a:prstGeom prst="rect">
            <a:avLst/>
          </a:prstGeom>
          <a:noFill/>
          <a:ln w="0">
            <a:noFill/>
            <a:prstDash val="solid"/>
          </a:ln>
        </p:spPr>
        <p:txBody>
          <a:bodyPr wrap="square" lIns="0" tIns="0" rIns="0" bIns="0" anchor="t">
            <a:noAutofit/>
          </a:bodyPr>
          <a:lstStyle/>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SHA-256 digests for datasets, bundles, checkpoints and controlled artifacts</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Frozen model, tool-version and configuration registries</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Explicit output-normalization rules and unmatched/unknown handling</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Repository scripts regenerate metrics and thesis-ready reporting assets</a:t>
            </a:r>
          </a:p>
        </p:txBody>
      </p:sp>
    </p:spTree>
    <p:extLst>
      <p:ext uri="{BB962C8B-B14F-4D97-AF65-F5344CB8AC3E}">
        <p14:creationId xmlns:p14="http://schemas.microsoft.com/office/powerpoint/2010/main" val="2007090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Rettangolo 8">
            <a:extLst>
              <a:ext uri="{FF2B5EF4-FFF2-40B4-BE49-F238E27FC236}">
                <a16:creationId xmlns:a16="http://schemas.microsoft.com/office/drawing/2014/main" id="{ECFD6A99-8731-4DCC-8B9C-3FAB62ADD79F}"/>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FE25CF9-76BA-4D25-BF65-031D10FFFE1E}"/>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Commercial clean metrics and OOD behavior</a:t>
            </a:r>
          </a:p>
        </p:txBody>
      </p:sp>
      <p:sp>
        <p:nvSpPr>
          <p:cNvPr id="3" name="Rettangolo 2">
            <a:extLst>
              <a:ext uri="{FF2B5EF4-FFF2-40B4-BE49-F238E27FC236}">
                <a16:creationId xmlns:a16="http://schemas.microsoft.com/office/drawing/2014/main" id="{03D51E79-6B75-4622-885E-0AED5A11113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EE5EC74C-F846-4BB6-8F06-9C6093748B65}"/>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949061C5-1369-434C-85B4-B0C4550B308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B4</a:t>
            </a:r>
          </a:p>
        </p:txBody>
      </p:sp>
      <p:graphicFrame>
        <p:nvGraphicFramePr>
          <p:cNvPr id="16" name="Tabella 15"/>
          <p:cNvGraphicFramePr/>
          <p:nvPr/>
        </p:nvGraphicFramePr>
        <p:xfrm>
          <a:off x="685800" y="1485900"/>
          <a:ext cx="10820399" cy="3714750"/>
        </p:xfrm>
        <a:graphic>
          <a:graphicData uri="http://schemas.openxmlformats.org/drawingml/2006/table">
            <a:tbl>
              <a:tblPr/>
              <a:tblGrid>
                <a:gridCol w="3216876">
                  <a:extLst>
                    <a:ext uri="{9D8B030D-6E8A-4147-A177-3AD203B41FA5}">
                      <a16:colId xmlns:a16="http://schemas.microsoft.com/office/drawing/2014/main" val="20000"/>
                    </a:ext>
                  </a:extLst>
                </a:gridCol>
                <a:gridCol w="1462216">
                  <a:extLst>
                    <a:ext uri="{9D8B030D-6E8A-4147-A177-3AD203B41FA5}">
                      <a16:colId xmlns:a16="http://schemas.microsoft.com/office/drawing/2014/main" val="20001"/>
                    </a:ext>
                  </a:extLst>
                </a:gridCol>
                <a:gridCol w="1462216">
                  <a:extLst>
                    <a:ext uri="{9D8B030D-6E8A-4147-A177-3AD203B41FA5}">
                      <a16:colId xmlns:a16="http://schemas.microsoft.com/office/drawing/2014/main" val="20002"/>
                    </a:ext>
                  </a:extLst>
                </a:gridCol>
                <a:gridCol w="1462216">
                  <a:extLst>
                    <a:ext uri="{9D8B030D-6E8A-4147-A177-3AD203B41FA5}">
                      <a16:colId xmlns:a16="http://schemas.microsoft.com/office/drawing/2014/main" val="20003"/>
                    </a:ext>
                  </a:extLst>
                </a:gridCol>
                <a:gridCol w="1462216">
                  <a:extLst>
                    <a:ext uri="{9D8B030D-6E8A-4147-A177-3AD203B41FA5}">
                      <a16:colId xmlns:a16="http://schemas.microsoft.com/office/drawing/2014/main" val="20004"/>
                    </a:ext>
                  </a:extLst>
                </a:gridCol>
                <a:gridCol w="1754659">
                  <a:extLst>
                    <a:ext uri="{9D8B030D-6E8A-4147-A177-3AD203B41FA5}">
                      <a16:colId xmlns:a16="http://schemas.microsoft.com/office/drawing/2014/main" val="20005"/>
                    </a:ext>
                  </a:extLst>
                </a:gridCol>
              </a:tblGrid>
              <a:tr h="514350">
                <a:tc>
                  <a:txBody>
                    <a:bodyPr/>
                    <a:lstStyle/>
                    <a:p>
                      <a:pPr algn="l">
                        <a:buNone/>
                      </a:pPr>
                      <a:r>
                        <a:rPr sz="1425" b="1">
                          <a:solidFill>
                            <a:srgbClr val="FFFFFF"/>
                          </a:solidFill>
                        </a:rPr>
                        <a:t>Configuration</a:t>
                      </a:r>
                    </a:p>
                  </a:txBody>
                  <a:tcPr anchor="ctr">
                    <a:solidFill>
                      <a:srgbClr val="233A70"/>
                    </a:solidFill>
                  </a:tcPr>
                </a:tc>
                <a:tc>
                  <a:txBody>
                    <a:bodyPr/>
                    <a:lstStyle/>
                    <a:p>
                      <a:pPr algn="ctr">
                        <a:buNone/>
                      </a:pPr>
                      <a:r>
                        <a:rPr sz="1425" b="1">
                          <a:solidFill>
                            <a:srgbClr val="FFFFFF"/>
                          </a:solidFill>
                        </a:rPr>
                        <a:t>Accuracy</a:t>
                      </a:r>
                    </a:p>
                  </a:txBody>
                  <a:tcPr anchor="ctr">
                    <a:solidFill>
                      <a:srgbClr val="233A70"/>
                    </a:solidFill>
                  </a:tcPr>
                </a:tc>
                <a:tc>
                  <a:txBody>
                    <a:bodyPr/>
                    <a:lstStyle/>
                    <a:p>
                      <a:pPr algn="ctr">
                        <a:buNone/>
                      </a:pPr>
                      <a:r>
                        <a:rPr sz="1425" b="1">
                          <a:solidFill>
                            <a:srgbClr val="FFFFFF"/>
                          </a:solidFill>
                        </a:rPr>
                        <a:t>Recall</a:t>
                      </a:r>
                    </a:p>
                  </a:txBody>
                  <a:tcPr anchor="ctr">
                    <a:solidFill>
                      <a:srgbClr val="233A70"/>
                    </a:solidFill>
                  </a:tcPr>
                </a:tc>
                <a:tc>
                  <a:txBody>
                    <a:bodyPr/>
                    <a:lstStyle/>
                    <a:p>
                      <a:pPr algn="ctr">
                        <a:buNone/>
                      </a:pPr>
                      <a:r>
                        <a:rPr sz="1425" b="1">
                          <a:solidFill>
                            <a:srgbClr val="FFFFFF"/>
                          </a:solidFill>
                        </a:rPr>
                        <a:t>FNR</a:t>
                      </a:r>
                    </a:p>
                  </a:txBody>
                  <a:tcPr anchor="ctr">
                    <a:solidFill>
                      <a:srgbClr val="233A70"/>
                    </a:solidFill>
                  </a:tcPr>
                </a:tc>
                <a:tc>
                  <a:txBody>
                    <a:bodyPr/>
                    <a:lstStyle/>
                    <a:p>
                      <a:pPr algn="ctr">
                        <a:buNone/>
                      </a:pPr>
                      <a:r>
                        <a:rPr sz="1425" b="1">
                          <a:solidFill>
                            <a:srgbClr val="FFFFFF"/>
                          </a:solidFill>
                        </a:rPr>
                        <a:t>FPR</a:t>
                      </a:r>
                    </a:p>
                  </a:txBody>
                  <a:tcPr anchor="ctr">
                    <a:solidFill>
                      <a:srgbClr val="233A70"/>
                    </a:solidFill>
                  </a:tcPr>
                </a:tc>
                <a:tc>
                  <a:txBody>
                    <a:bodyPr/>
                    <a:lstStyle/>
                    <a:p>
                      <a:pPr algn="ctr">
                        <a:buNone/>
                      </a:pPr>
                      <a:r>
                        <a:rPr sz="1425" b="1">
                          <a:solidFill>
                            <a:srgbClr val="FFFFFF"/>
                          </a:solidFill>
                        </a:rPr>
                        <a:t>OOD W-rate</a:t>
                      </a:r>
                    </a:p>
                  </a:txBody>
                  <a:tcPr anchor="ctr">
                    <a:solidFill>
                      <a:srgbClr val="233A70"/>
                    </a:solidFill>
                  </a:tcPr>
                </a:tc>
                <a:extLst>
                  <a:ext uri="{0D108BD9-81ED-4DB2-BD59-A6C34878D82A}">
                    <a16:rowId xmlns:a16="http://schemas.microsoft.com/office/drawing/2014/main" val="10000"/>
                  </a:ext>
                </a:extLst>
              </a:tr>
              <a:tr h="533400">
                <a:tc>
                  <a:txBody>
                    <a:bodyPr/>
                    <a:lstStyle/>
                    <a:p>
                      <a:pPr algn="l">
                        <a:buNone/>
                      </a:pPr>
                      <a:r>
                        <a:rPr sz="1425" b="1">
                          <a:solidFill>
                            <a:srgbClr val="172033"/>
                          </a:solidFill>
                        </a:rPr>
                        <a:t>Magnet.AI</a:t>
                      </a:r>
                    </a:p>
                  </a:txBody>
                  <a:tcPr anchor="ctr">
                    <a:solidFill>
                      <a:srgbClr val="FFFFFF"/>
                    </a:solidFill>
                  </a:tcPr>
                </a:tc>
                <a:tc>
                  <a:txBody>
                    <a:bodyPr/>
                    <a:lstStyle/>
                    <a:p>
                      <a:pPr algn="ctr">
                        <a:buNone/>
                      </a:pPr>
                      <a:r>
                        <a:rPr sz="1425" b="0">
                          <a:solidFill>
                            <a:srgbClr val="172033"/>
                          </a:solidFill>
                        </a:rPr>
                        <a:t>95.0%</a:t>
                      </a:r>
                    </a:p>
                  </a:txBody>
                  <a:tcPr anchor="ctr">
                    <a:solidFill>
                      <a:srgbClr val="FFFFFF"/>
                    </a:solidFill>
                  </a:tcPr>
                </a:tc>
                <a:tc>
                  <a:txBody>
                    <a:bodyPr/>
                    <a:lstStyle/>
                    <a:p>
                      <a:pPr algn="ctr">
                        <a:buNone/>
                      </a:pPr>
                      <a:r>
                        <a:rPr sz="1425" b="0">
                          <a:solidFill>
                            <a:srgbClr val="172033"/>
                          </a:solidFill>
                        </a:rPr>
                        <a:t>93.0%</a:t>
                      </a:r>
                    </a:p>
                  </a:txBody>
                  <a:tcPr anchor="ctr">
                    <a:solidFill>
                      <a:srgbClr val="FFFFFF"/>
                    </a:solidFill>
                  </a:tcPr>
                </a:tc>
                <a:tc>
                  <a:txBody>
                    <a:bodyPr/>
                    <a:lstStyle/>
                    <a:p>
                      <a:pPr algn="ctr">
                        <a:buNone/>
                      </a:pPr>
                      <a:r>
                        <a:rPr sz="1425" b="0">
                          <a:solidFill>
                            <a:srgbClr val="172033"/>
                          </a:solidFill>
                        </a:rPr>
                        <a:t>7.0%</a:t>
                      </a:r>
                    </a:p>
                  </a:txBody>
                  <a:tcPr anchor="ctr">
                    <a:solidFill>
                      <a:srgbClr val="FFFFFF"/>
                    </a:solidFill>
                  </a:tcPr>
                </a:tc>
                <a:tc>
                  <a:txBody>
                    <a:bodyPr/>
                    <a:lstStyle/>
                    <a:p>
                      <a:pPr algn="ctr">
                        <a:buNone/>
                      </a:pPr>
                      <a:r>
                        <a:rPr sz="1425" b="0">
                          <a:solidFill>
                            <a:srgbClr val="172033"/>
                          </a:solidFill>
                        </a:rPr>
                        <a:t>3.0%</a:t>
                      </a:r>
                    </a:p>
                  </a:txBody>
                  <a:tcPr anchor="ctr">
                    <a:solidFill>
                      <a:srgbClr val="FFFFFF"/>
                    </a:solidFill>
                  </a:tcPr>
                </a:tc>
                <a:tc>
                  <a:txBody>
                    <a:bodyPr/>
                    <a:lstStyle/>
                    <a:p>
                      <a:pPr algn="ctr">
                        <a:buNone/>
                      </a:pPr>
                      <a:r>
                        <a:rPr sz="1425" b="0">
                          <a:solidFill>
                            <a:srgbClr val="172033"/>
                          </a:solidFill>
                        </a:rPr>
                        <a:t>36.0%</a:t>
                      </a:r>
                    </a:p>
                  </a:txBody>
                  <a:tcPr anchor="ctr">
                    <a:solidFill>
                      <a:srgbClr val="FFFFFF"/>
                    </a:solidFill>
                  </a:tcPr>
                </a:tc>
                <a:extLst>
                  <a:ext uri="{0D108BD9-81ED-4DB2-BD59-A6C34878D82A}">
                    <a16:rowId xmlns:a16="http://schemas.microsoft.com/office/drawing/2014/main" val="10001"/>
                  </a:ext>
                </a:extLst>
              </a:tr>
              <a:tr h="533400">
                <a:tc>
                  <a:txBody>
                    <a:bodyPr/>
                    <a:lstStyle/>
                    <a:p>
                      <a:pPr algn="l">
                        <a:buNone/>
                      </a:pPr>
                      <a:r>
                        <a:rPr sz="1425" b="1">
                          <a:solidFill>
                            <a:srgbClr val="172033"/>
                          </a:solidFill>
                        </a:rPr>
                        <a:t>Excire D20</a:t>
                      </a:r>
                    </a:p>
                  </a:txBody>
                  <a:tcPr anchor="ctr">
                    <a:solidFill>
                      <a:srgbClr val="E9EEF8"/>
                    </a:solidFill>
                  </a:tcPr>
                </a:tc>
                <a:tc>
                  <a:txBody>
                    <a:bodyPr/>
                    <a:lstStyle/>
                    <a:p>
                      <a:pPr algn="ctr">
                        <a:buNone/>
                      </a:pPr>
                      <a:r>
                        <a:rPr sz="1425" b="0">
                          <a:solidFill>
                            <a:srgbClr val="172033"/>
                          </a:solidFill>
                        </a:rPr>
                        <a:t>92.7%</a:t>
                      </a:r>
                    </a:p>
                  </a:txBody>
                  <a:tcPr anchor="ctr">
                    <a:solidFill>
                      <a:srgbClr val="E9EEF8"/>
                    </a:solidFill>
                  </a:tcPr>
                </a:tc>
                <a:tc>
                  <a:txBody>
                    <a:bodyPr/>
                    <a:lstStyle/>
                    <a:p>
                      <a:pPr algn="ctr">
                        <a:buNone/>
                      </a:pPr>
                      <a:r>
                        <a:rPr sz="1425" b="0">
                          <a:solidFill>
                            <a:srgbClr val="172033"/>
                          </a:solidFill>
                        </a:rPr>
                        <a:t>88.0%</a:t>
                      </a:r>
                    </a:p>
                  </a:txBody>
                  <a:tcPr anchor="ctr">
                    <a:solidFill>
                      <a:srgbClr val="E9EEF8"/>
                    </a:solidFill>
                  </a:tcPr>
                </a:tc>
                <a:tc>
                  <a:txBody>
                    <a:bodyPr/>
                    <a:lstStyle/>
                    <a:p>
                      <a:pPr algn="ctr">
                        <a:buNone/>
                      </a:pPr>
                      <a:r>
                        <a:rPr sz="1425" b="0">
                          <a:solidFill>
                            <a:srgbClr val="172033"/>
                          </a:solidFill>
                        </a:rPr>
                        <a:t>12.0%</a:t>
                      </a:r>
                    </a:p>
                  </a:txBody>
                  <a:tcPr anchor="ctr">
                    <a:solidFill>
                      <a:srgbClr val="E9EEF8"/>
                    </a:solidFill>
                  </a:tcPr>
                </a:tc>
                <a:tc>
                  <a:txBody>
                    <a:bodyPr/>
                    <a:lstStyle/>
                    <a:p>
                      <a:pPr algn="ctr">
                        <a:buNone/>
                      </a:pPr>
                      <a:r>
                        <a:rPr sz="1425" b="0">
                          <a:solidFill>
                            <a:srgbClr val="172033"/>
                          </a:solidFill>
                        </a:rPr>
                        <a:t>2.6%</a:t>
                      </a:r>
                    </a:p>
                  </a:txBody>
                  <a:tcPr anchor="ctr">
                    <a:solidFill>
                      <a:srgbClr val="E9EEF8"/>
                    </a:solidFill>
                  </a:tcPr>
                </a:tc>
                <a:tc>
                  <a:txBody>
                    <a:bodyPr/>
                    <a:lstStyle/>
                    <a:p>
                      <a:pPr algn="ctr">
                        <a:buNone/>
                      </a:pPr>
                      <a:r>
                        <a:rPr sz="1425" b="0">
                          <a:solidFill>
                            <a:srgbClr val="172033"/>
                          </a:solidFill>
                        </a:rPr>
                        <a:t>23.8%</a:t>
                      </a:r>
                    </a:p>
                  </a:txBody>
                  <a:tcPr anchor="ctr">
                    <a:solidFill>
                      <a:srgbClr val="E9EEF8"/>
                    </a:solidFill>
                  </a:tcPr>
                </a:tc>
                <a:extLst>
                  <a:ext uri="{0D108BD9-81ED-4DB2-BD59-A6C34878D82A}">
                    <a16:rowId xmlns:a16="http://schemas.microsoft.com/office/drawing/2014/main" val="10002"/>
                  </a:ext>
                </a:extLst>
              </a:tr>
              <a:tr h="533400">
                <a:tc>
                  <a:txBody>
                    <a:bodyPr/>
                    <a:lstStyle/>
                    <a:p>
                      <a:pPr algn="l">
                        <a:buNone/>
                      </a:pPr>
                      <a:r>
                        <a:rPr sz="1425" b="1">
                          <a:solidFill>
                            <a:srgbClr val="172033"/>
                          </a:solidFill>
                        </a:rPr>
                        <a:t>Excire D50</a:t>
                      </a:r>
                    </a:p>
                  </a:txBody>
                  <a:tcPr anchor="ctr">
                    <a:solidFill>
                      <a:srgbClr val="FFFFFF"/>
                    </a:solidFill>
                  </a:tcPr>
                </a:tc>
                <a:tc>
                  <a:txBody>
                    <a:bodyPr/>
                    <a:lstStyle/>
                    <a:p>
                      <a:pPr algn="ctr">
                        <a:buNone/>
                      </a:pPr>
                      <a:r>
                        <a:rPr sz="1425" b="0">
                          <a:solidFill>
                            <a:srgbClr val="172033"/>
                          </a:solidFill>
                        </a:rPr>
                        <a:t>94.4%</a:t>
                      </a:r>
                    </a:p>
                  </a:txBody>
                  <a:tcPr anchor="ctr">
                    <a:solidFill>
                      <a:srgbClr val="FFFFFF"/>
                    </a:solidFill>
                  </a:tcPr>
                </a:tc>
                <a:tc>
                  <a:txBody>
                    <a:bodyPr/>
                    <a:lstStyle/>
                    <a:p>
                      <a:pPr algn="ctr">
                        <a:buNone/>
                      </a:pPr>
                      <a:r>
                        <a:rPr sz="1425" b="0">
                          <a:solidFill>
                            <a:srgbClr val="172033"/>
                          </a:solidFill>
                        </a:rPr>
                        <a:t>95.8%</a:t>
                      </a:r>
                    </a:p>
                  </a:txBody>
                  <a:tcPr anchor="ctr">
                    <a:solidFill>
                      <a:srgbClr val="FFFFFF"/>
                    </a:solidFill>
                  </a:tcPr>
                </a:tc>
                <a:tc>
                  <a:txBody>
                    <a:bodyPr/>
                    <a:lstStyle/>
                    <a:p>
                      <a:pPr algn="ctr">
                        <a:buNone/>
                      </a:pPr>
                      <a:r>
                        <a:rPr sz="1425" b="0">
                          <a:solidFill>
                            <a:srgbClr val="172033"/>
                          </a:solidFill>
                        </a:rPr>
                        <a:t>4.2%</a:t>
                      </a:r>
                    </a:p>
                  </a:txBody>
                  <a:tcPr anchor="ctr">
                    <a:solidFill>
                      <a:srgbClr val="FFFFFF"/>
                    </a:solidFill>
                  </a:tcPr>
                </a:tc>
                <a:tc>
                  <a:txBody>
                    <a:bodyPr/>
                    <a:lstStyle/>
                    <a:p>
                      <a:pPr algn="ctr">
                        <a:buNone/>
                      </a:pPr>
                      <a:r>
                        <a:rPr sz="1425" b="0">
                          <a:solidFill>
                            <a:srgbClr val="172033"/>
                          </a:solidFill>
                        </a:rPr>
                        <a:t>7.0%</a:t>
                      </a:r>
                    </a:p>
                  </a:txBody>
                  <a:tcPr anchor="ctr">
                    <a:solidFill>
                      <a:srgbClr val="FFFFFF"/>
                    </a:solidFill>
                  </a:tcPr>
                </a:tc>
                <a:tc>
                  <a:txBody>
                    <a:bodyPr/>
                    <a:lstStyle/>
                    <a:p>
                      <a:pPr algn="ctr">
                        <a:buNone/>
                      </a:pPr>
                      <a:r>
                        <a:rPr sz="1425" b="0">
                          <a:solidFill>
                            <a:srgbClr val="172033"/>
                          </a:solidFill>
                        </a:rPr>
                        <a:t>34.0%</a:t>
                      </a:r>
                    </a:p>
                  </a:txBody>
                  <a:tcPr anchor="ctr">
                    <a:solidFill>
                      <a:srgbClr val="FFFFFF"/>
                    </a:solidFill>
                  </a:tcPr>
                </a:tc>
                <a:extLst>
                  <a:ext uri="{0D108BD9-81ED-4DB2-BD59-A6C34878D82A}">
                    <a16:rowId xmlns:a16="http://schemas.microsoft.com/office/drawing/2014/main" val="10003"/>
                  </a:ext>
                </a:extLst>
              </a:tr>
              <a:tr h="533400">
                <a:tc>
                  <a:txBody>
                    <a:bodyPr/>
                    <a:lstStyle/>
                    <a:p>
                      <a:pPr algn="l">
                        <a:buNone/>
                      </a:pPr>
                      <a:r>
                        <a:rPr sz="1425" b="1">
                          <a:solidFill>
                            <a:srgbClr val="172033"/>
                          </a:solidFill>
                        </a:rPr>
                        <a:t>Excire D80</a:t>
                      </a:r>
                    </a:p>
                  </a:txBody>
                  <a:tcPr anchor="ctr">
                    <a:solidFill>
                      <a:srgbClr val="E9EEF8"/>
                    </a:solidFill>
                  </a:tcPr>
                </a:tc>
                <a:tc>
                  <a:txBody>
                    <a:bodyPr/>
                    <a:lstStyle/>
                    <a:p>
                      <a:pPr algn="ctr">
                        <a:buNone/>
                      </a:pPr>
                      <a:r>
                        <a:rPr sz="1425" b="0">
                          <a:solidFill>
                            <a:srgbClr val="172033"/>
                          </a:solidFill>
                        </a:rPr>
                        <a:t>91.5%</a:t>
                      </a:r>
                    </a:p>
                  </a:txBody>
                  <a:tcPr anchor="ctr">
                    <a:solidFill>
                      <a:srgbClr val="E9EEF8"/>
                    </a:solidFill>
                  </a:tcPr>
                </a:tc>
                <a:tc>
                  <a:txBody>
                    <a:bodyPr/>
                    <a:lstStyle/>
                    <a:p>
                      <a:pPr algn="ctr">
                        <a:buNone/>
                      </a:pPr>
                      <a:r>
                        <a:rPr sz="1425" b="0">
                          <a:solidFill>
                            <a:srgbClr val="172033"/>
                          </a:solidFill>
                        </a:rPr>
                        <a:t>98.6%</a:t>
                      </a:r>
                    </a:p>
                  </a:txBody>
                  <a:tcPr anchor="ctr">
                    <a:solidFill>
                      <a:srgbClr val="E9EEF8"/>
                    </a:solidFill>
                  </a:tcPr>
                </a:tc>
                <a:tc>
                  <a:txBody>
                    <a:bodyPr/>
                    <a:lstStyle/>
                    <a:p>
                      <a:pPr algn="ctr">
                        <a:buNone/>
                      </a:pPr>
                      <a:r>
                        <a:rPr sz="1425" b="0">
                          <a:solidFill>
                            <a:srgbClr val="172033"/>
                          </a:solidFill>
                        </a:rPr>
                        <a:t>1.4%</a:t>
                      </a:r>
                    </a:p>
                  </a:txBody>
                  <a:tcPr anchor="ctr">
                    <a:solidFill>
                      <a:srgbClr val="E9EEF8"/>
                    </a:solidFill>
                  </a:tcPr>
                </a:tc>
                <a:tc>
                  <a:txBody>
                    <a:bodyPr/>
                    <a:lstStyle/>
                    <a:p>
                      <a:pPr algn="ctr">
                        <a:buNone/>
                      </a:pPr>
                      <a:r>
                        <a:rPr sz="1425" b="0">
                          <a:solidFill>
                            <a:srgbClr val="172033"/>
                          </a:solidFill>
                        </a:rPr>
                        <a:t>15.6%</a:t>
                      </a:r>
                    </a:p>
                  </a:txBody>
                  <a:tcPr anchor="ctr">
                    <a:solidFill>
                      <a:srgbClr val="E9EEF8"/>
                    </a:solidFill>
                  </a:tcPr>
                </a:tc>
                <a:tc>
                  <a:txBody>
                    <a:bodyPr/>
                    <a:lstStyle/>
                    <a:p>
                      <a:pPr algn="ctr">
                        <a:buNone/>
                      </a:pPr>
                      <a:r>
                        <a:rPr sz="1425" b="0">
                          <a:solidFill>
                            <a:srgbClr val="172033"/>
                          </a:solidFill>
                        </a:rPr>
                        <a:t>52.2%</a:t>
                      </a:r>
                    </a:p>
                  </a:txBody>
                  <a:tcPr anchor="ctr">
                    <a:solidFill>
                      <a:srgbClr val="E9EEF8"/>
                    </a:solidFill>
                  </a:tcPr>
                </a:tc>
                <a:extLst>
                  <a:ext uri="{0D108BD9-81ED-4DB2-BD59-A6C34878D82A}">
                    <a16:rowId xmlns:a16="http://schemas.microsoft.com/office/drawing/2014/main" val="10004"/>
                  </a:ext>
                </a:extLst>
              </a:tr>
              <a:tr h="533400">
                <a:tc>
                  <a:txBody>
                    <a:bodyPr/>
                    <a:lstStyle/>
                    <a:p>
                      <a:pPr algn="l">
                        <a:buNone/>
                      </a:pPr>
                      <a:r>
                        <a:rPr sz="1425" b="1">
                          <a:solidFill>
                            <a:srgbClr val="172033"/>
                          </a:solidFill>
                        </a:rPr>
                        <a:t>Cellebrite Inseyets</a:t>
                      </a:r>
                    </a:p>
                  </a:txBody>
                  <a:tcPr anchor="ctr">
                    <a:solidFill>
                      <a:srgbClr val="FFFFFF"/>
                    </a:solidFill>
                  </a:tcPr>
                </a:tc>
                <a:tc>
                  <a:txBody>
                    <a:bodyPr/>
                    <a:lstStyle/>
                    <a:p>
                      <a:pPr algn="ctr">
                        <a:buNone/>
                      </a:pPr>
                      <a:r>
                        <a:rPr sz="1425" b="0">
                          <a:solidFill>
                            <a:srgbClr val="172033"/>
                          </a:solidFill>
                        </a:rPr>
                        <a:t>96.4%</a:t>
                      </a:r>
                    </a:p>
                  </a:txBody>
                  <a:tcPr anchor="ctr">
                    <a:solidFill>
                      <a:srgbClr val="FFFFFF"/>
                    </a:solidFill>
                  </a:tcPr>
                </a:tc>
                <a:tc>
                  <a:txBody>
                    <a:bodyPr/>
                    <a:lstStyle/>
                    <a:p>
                      <a:pPr algn="ctr">
                        <a:buNone/>
                      </a:pPr>
                      <a:r>
                        <a:rPr sz="1425" b="0">
                          <a:solidFill>
                            <a:srgbClr val="172033"/>
                          </a:solidFill>
                        </a:rPr>
                        <a:t>96.8%</a:t>
                      </a:r>
                    </a:p>
                  </a:txBody>
                  <a:tcPr anchor="ctr">
                    <a:solidFill>
                      <a:srgbClr val="FFFFFF"/>
                    </a:solidFill>
                  </a:tcPr>
                </a:tc>
                <a:tc>
                  <a:txBody>
                    <a:bodyPr/>
                    <a:lstStyle/>
                    <a:p>
                      <a:pPr algn="ctr">
                        <a:buNone/>
                      </a:pPr>
                      <a:r>
                        <a:rPr sz="1425" b="0">
                          <a:solidFill>
                            <a:srgbClr val="172033"/>
                          </a:solidFill>
                        </a:rPr>
                        <a:t>3.2%</a:t>
                      </a:r>
                    </a:p>
                  </a:txBody>
                  <a:tcPr anchor="ctr">
                    <a:solidFill>
                      <a:srgbClr val="FFFFFF"/>
                    </a:solidFill>
                  </a:tcPr>
                </a:tc>
                <a:tc>
                  <a:txBody>
                    <a:bodyPr/>
                    <a:lstStyle/>
                    <a:p>
                      <a:pPr algn="ctr">
                        <a:buNone/>
                      </a:pPr>
                      <a:r>
                        <a:rPr sz="1425" b="0">
                          <a:solidFill>
                            <a:srgbClr val="172033"/>
                          </a:solidFill>
                        </a:rPr>
                        <a:t>4.0%</a:t>
                      </a:r>
                    </a:p>
                  </a:txBody>
                  <a:tcPr anchor="ctr">
                    <a:solidFill>
                      <a:srgbClr val="FFFFFF"/>
                    </a:solidFill>
                  </a:tcPr>
                </a:tc>
                <a:tc>
                  <a:txBody>
                    <a:bodyPr/>
                    <a:lstStyle/>
                    <a:p>
                      <a:pPr algn="ctr">
                        <a:buNone/>
                      </a:pPr>
                      <a:r>
                        <a:rPr sz="1425" b="0">
                          <a:solidFill>
                            <a:srgbClr val="172033"/>
                          </a:solidFill>
                        </a:rPr>
                        <a:t>29.2%</a:t>
                      </a:r>
                    </a:p>
                  </a:txBody>
                  <a:tcPr anchor="ctr">
                    <a:solidFill>
                      <a:srgbClr val="FFFFFF"/>
                    </a:solidFill>
                  </a:tcPr>
                </a:tc>
                <a:extLst>
                  <a:ext uri="{0D108BD9-81ED-4DB2-BD59-A6C34878D82A}">
                    <a16:rowId xmlns:a16="http://schemas.microsoft.com/office/drawing/2014/main" val="10005"/>
                  </a:ext>
                </a:extLst>
              </a:tr>
              <a:tr h="533400">
                <a:tc>
                  <a:txBody>
                    <a:bodyPr/>
                    <a:lstStyle/>
                    <a:p>
                      <a:pPr algn="l">
                        <a:buNone/>
                      </a:pPr>
                      <a:r>
                        <a:rPr sz="1425" b="1">
                          <a:solidFill>
                            <a:srgbClr val="172033"/>
                          </a:solidFill>
                        </a:rPr>
                        <a:t>Griffeye / T3K</a:t>
                      </a:r>
                    </a:p>
                  </a:txBody>
                  <a:tcPr anchor="ctr">
                    <a:solidFill>
                      <a:srgbClr val="E9EEF8"/>
                    </a:solidFill>
                  </a:tcPr>
                </a:tc>
                <a:tc>
                  <a:txBody>
                    <a:bodyPr/>
                    <a:lstStyle/>
                    <a:p>
                      <a:pPr algn="ctr">
                        <a:buNone/>
                      </a:pPr>
                      <a:r>
                        <a:rPr sz="1425" b="0">
                          <a:solidFill>
                            <a:srgbClr val="172033"/>
                          </a:solidFill>
                        </a:rPr>
                        <a:t>97.8%</a:t>
                      </a:r>
                    </a:p>
                  </a:txBody>
                  <a:tcPr anchor="ctr">
                    <a:solidFill>
                      <a:srgbClr val="E9EEF8"/>
                    </a:solidFill>
                  </a:tcPr>
                </a:tc>
                <a:tc>
                  <a:txBody>
                    <a:bodyPr/>
                    <a:lstStyle/>
                    <a:p>
                      <a:pPr algn="ctr">
                        <a:buNone/>
                      </a:pPr>
                      <a:r>
                        <a:rPr sz="1425" b="0">
                          <a:solidFill>
                            <a:srgbClr val="172033"/>
                          </a:solidFill>
                        </a:rPr>
                        <a:t>96.4%</a:t>
                      </a:r>
                    </a:p>
                  </a:txBody>
                  <a:tcPr anchor="ctr">
                    <a:solidFill>
                      <a:srgbClr val="E9EEF8"/>
                    </a:solidFill>
                  </a:tcPr>
                </a:tc>
                <a:tc>
                  <a:txBody>
                    <a:bodyPr/>
                    <a:lstStyle/>
                    <a:p>
                      <a:pPr algn="ctr">
                        <a:buNone/>
                      </a:pPr>
                      <a:r>
                        <a:rPr sz="1425" b="0">
                          <a:solidFill>
                            <a:srgbClr val="172033"/>
                          </a:solidFill>
                        </a:rPr>
                        <a:t>3.6%</a:t>
                      </a:r>
                    </a:p>
                  </a:txBody>
                  <a:tcPr anchor="ctr">
                    <a:solidFill>
                      <a:srgbClr val="E9EEF8"/>
                    </a:solidFill>
                  </a:tcPr>
                </a:tc>
                <a:tc>
                  <a:txBody>
                    <a:bodyPr/>
                    <a:lstStyle/>
                    <a:p>
                      <a:pPr algn="ctr">
                        <a:buNone/>
                      </a:pPr>
                      <a:r>
                        <a:rPr sz="1425" b="0">
                          <a:solidFill>
                            <a:srgbClr val="172033"/>
                          </a:solidFill>
                        </a:rPr>
                        <a:t>0.8%</a:t>
                      </a:r>
                    </a:p>
                  </a:txBody>
                  <a:tcPr anchor="ctr">
                    <a:solidFill>
                      <a:srgbClr val="E9EEF8"/>
                    </a:solidFill>
                  </a:tcPr>
                </a:tc>
                <a:tc>
                  <a:txBody>
                    <a:bodyPr/>
                    <a:lstStyle/>
                    <a:p>
                      <a:pPr algn="ctr">
                        <a:buNone/>
                      </a:pPr>
                      <a:r>
                        <a:rPr sz="1425" b="0">
                          <a:solidFill>
                            <a:srgbClr val="172033"/>
                          </a:solidFill>
                        </a:rPr>
                        <a:t>26.0%</a:t>
                      </a:r>
                    </a:p>
                  </a:txBody>
                  <a:tcPr anchor="ctr">
                    <a:solidFill>
                      <a:srgbClr val="E9EEF8"/>
                    </a:solidFill>
                  </a:tcPr>
                </a:tc>
                <a:extLst>
                  <a:ext uri="{0D108BD9-81ED-4DB2-BD59-A6C34878D82A}">
                    <a16:rowId xmlns:a16="http://schemas.microsoft.com/office/drawing/2014/main" val="10006"/>
                  </a:ext>
                </a:extLst>
              </a:tr>
            </a:tbl>
          </a:graphicData>
        </a:graphic>
      </p:graphicFrame>
      <p:sp>
        <p:nvSpPr>
          <p:cNvPr id="7" name="Rettangolo con angoli arrotondati 6">
            <a:extLst>
              <a:ext uri="{FF2B5EF4-FFF2-40B4-BE49-F238E27FC236}">
                <a16:creationId xmlns:a16="http://schemas.microsoft.com/office/drawing/2014/main" id="{D32727B6-06C1-49D9-947E-5CF838C2A296}"/>
              </a:ext>
            </a:extLst>
          </p:cNvPr>
          <p:cNvSpPr>
            <a:spLocks noGrp="1"/>
          </p:cNvSpPr>
          <p:nvPr/>
        </p:nvSpPr>
        <p:spPr>
          <a:xfrm>
            <a:off x="1123950" y="5505450"/>
            <a:ext cx="9944100" cy="609600"/>
          </a:xfrm>
          <a:prstGeom prst="roundRect">
            <a:avLst>
              <a:gd name="adj" fmla="val 21875"/>
            </a:avLst>
          </a:prstGeom>
          <a:solidFill>
            <a:srgbClr val="FFF4CD"/>
          </a:solidFill>
          <a:ln w="0">
            <a:noFill/>
            <a:prstDash val="solid"/>
          </a:ln>
        </p:spPr>
        <p:txBody>
          <a:bodyPr/>
          <a:lstStyle/>
          <a:p>
            <a:endParaRPr/>
          </a:p>
        </p:txBody>
      </p:sp>
      <p:sp>
        <p:nvSpPr>
          <p:cNvPr id="8" name="Rettangolo 7">
            <a:extLst>
              <a:ext uri="{FF2B5EF4-FFF2-40B4-BE49-F238E27FC236}">
                <a16:creationId xmlns:a16="http://schemas.microsoft.com/office/drawing/2014/main" id="{075FA7FD-80D1-4D89-BDEE-5525A60E4810}"/>
              </a:ext>
            </a:extLst>
          </p:cNvPr>
          <p:cNvSpPr>
            <a:spLocks noGrp="1"/>
          </p:cNvSpPr>
          <p:nvPr/>
        </p:nvSpPr>
        <p:spPr>
          <a:xfrm>
            <a:off x="1428750" y="5676900"/>
            <a:ext cx="933450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Interpret the rows as frozen operating profiles; the metrics do not establish a universal product ranking.</a:t>
            </a:r>
          </a:p>
        </p:txBody>
      </p:sp>
    </p:spTree>
    <p:extLst>
      <p:ext uri="{BB962C8B-B14F-4D97-AF65-F5344CB8AC3E}">
        <p14:creationId xmlns:p14="http://schemas.microsoft.com/office/powerpoint/2010/main" val="1255541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Adversarial settings were frozen before evaluation</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B5</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GRADIENT / SCORE-BASED</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FGSM · ε = 8/255 · untargeted</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fold-aware white-box checkpoint</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One Pixel · one-pixel DE</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50 iters · pop. ≈100 · seed 42</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SPARSE / BOUNDARY-BASED</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Sigma Zero · 1,000 steps</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η₀ = 1.0 · σ = .001 · τ₀ = .3</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SuperDeepFool · SDF(∞,1)</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20 outer · 50 inner · 1 projection</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Primary target: EfficientNet-B0 · PNG outputs</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Color Shift: R +12 / G 0 / B −12 · saturation 1.10 · JPEG quality 95</a:t>
            </a:r>
          </a:p>
        </p:txBody>
      </p:sp>
    </p:spTree>
    <p:extLst>
      <p:ext uri="{BB962C8B-B14F-4D97-AF65-F5344CB8AC3E}">
        <p14:creationId xmlns:p14="http://schemas.microsoft.com/office/powerpoint/2010/main" val="98046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Frozen anti-forensic settings</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B6</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SPATIAL / COMPRESSION</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 q70 · dimensions unchanged</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Resize · 50% down/up · bicubic</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 · radius 1.5</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TONAL</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 per-channel equalization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 autocontrast · 1% cutoff</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Other outputs · JPEG q95</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Model-agnostic · 1,000 source-linked artifacts per condition</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One frozen setting per condition</a:t>
            </a:r>
          </a:p>
        </p:txBody>
      </p:sp>
    </p:spTree>
    <p:extLst>
      <p:ext uri="{BB962C8B-B14F-4D97-AF65-F5344CB8AC3E}">
        <p14:creationId xmlns:p14="http://schemas.microsoft.com/office/powerpoint/2010/main" val="98046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How heterogeneous outputs became comparable</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B7</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MAGNET</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476500" y="1466850"/>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‘Possible weapons’ tag → weapon</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GRIFFEYE</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476500" y="2466975"/>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T3K ‘CORE/Violence/Firearm’ bookmark → weapon</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EXCIRE</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476500" y="3467100"/>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Hit in ≥1 of eight firearm-prompt lists → weapon · D20 / D50 / D80 kept separate</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6192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INSEYETS</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476500" y="4467225"/>
            <a:ext cx="902970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Cellebrite: ‘Armi’, ‘Pistola’ or ‘Fucile’ classification → weapon</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true → weapon · false → non_weapon · unsupported → unknown · 0 unknown in 69,000 decisions</a:t>
            </a:r>
          </a:p>
        </p:txBody>
      </p:sp>
    </p:spTree>
    <p:extLst>
      <p:ext uri="{BB962C8B-B14F-4D97-AF65-F5344CB8AC3E}">
        <p14:creationId xmlns:p14="http://schemas.microsoft.com/office/powerpoint/2010/main" val="1631516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Metric denominators keep comparisons honest</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B8</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ACC</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000250" y="146685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Correct decisions / evaluated binary outputs</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FNR</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000250" y="246697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FN / (TP + FN) = 1 − recall · missed-target risk</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FPR</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000250" y="346710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FP / (FP + TN) · review-workload risk</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OOD</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000250" y="446722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Weapon assignments / OOD responses · reported separately</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Proxy OOD: 5 folds × 500 = 2,500 responses · commercial OOD: 500 decisions/configuration</a:t>
            </a:r>
          </a:p>
        </p:txBody>
      </p:sp>
    </p:spTree>
    <p:extLst>
      <p:ext uri="{BB962C8B-B14F-4D97-AF65-F5344CB8AC3E}">
        <p14:creationId xmlns:p14="http://schemas.microsoft.com/office/powerpoint/2010/main" val="1631516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1" name="Rettangolo 30">
            <a:extLst>
              <a:ext uri="{FF2B5EF4-FFF2-40B4-BE49-F238E27FC236}">
                <a16:creationId xmlns:a16="http://schemas.microsoft.com/office/drawing/2014/main" id="{450EE9F5-CABF-434E-8232-BDF46C2B08C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a:p>
        </p:txBody>
      </p:sp>
      <p:sp>
        <p:nvSpPr>
          <p:cNvPr id="2" name="Rettangolo 1">
            <a:extLst>
              <a:ext uri="{FF2B5EF4-FFF2-40B4-BE49-F238E27FC236}">
                <a16:creationId xmlns:a16="http://schemas.microsoft.com/office/drawing/2014/main" id="{FEC59691-266B-4DB0-8057-0406222D320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Limitations define the next validation steps</a:t>
            </a:r>
          </a:p>
        </p:txBody>
      </p:sp>
      <p:sp>
        <p:nvSpPr>
          <p:cNvPr id="3" name="Rettangolo 2">
            <a:extLst>
              <a:ext uri="{FF2B5EF4-FFF2-40B4-BE49-F238E27FC236}">
                <a16:creationId xmlns:a16="http://schemas.microsoft.com/office/drawing/2014/main" id="{79089BD1-B305-48BE-BA26-09870B60112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a:p>
        </p:txBody>
      </p:sp>
      <p:sp>
        <p:nvSpPr>
          <p:cNvPr id="4" name="Rettangolo 3">
            <a:extLst>
              <a:ext uri="{FF2B5EF4-FFF2-40B4-BE49-F238E27FC236}">
                <a16:creationId xmlns:a16="http://schemas.microsoft.com/office/drawing/2014/main" id="{42C6706B-ACDF-4666-A54A-86FD9DBD539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D079A16-C2FC-4182-B67E-51370D40AE4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B9</a:t>
            </a:r>
          </a:p>
        </p:txBody>
      </p:sp>
      <p:sp>
        <p:nvSpPr>
          <p:cNvPr id="6" name="Rettangolo con angoli arrotondati 5">
            <a:extLst>
              <a:ext uri="{FF2B5EF4-FFF2-40B4-BE49-F238E27FC236}">
                <a16:creationId xmlns:a16="http://schemas.microsoft.com/office/drawing/2014/main" id="{A958CF67-914D-4A36-B2C0-CBFE18A07BAD}"/>
              </a:ext>
            </a:extLst>
          </p:cNvPr>
          <p:cNvSpPr>
            <a:spLocks noGrp="1"/>
          </p:cNvSpPr>
          <p:nvPr/>
        </p:nvSpPr>
        <p:spPr>
          <a:xfrm>
            <a:off x="685800" y="1581150"/>
            <a:ext cx="4095750" cy="4171950"/>
          </a:xfrm>
          <a:prstGeom prst="roundRect">
            <a:avLst>
              <a:gd name="adj" fmla="val 4651"/>
            </a:avLst>
          </a:prstGeom>
          <a:solidFill>
            <a:srgbClr val="233A70"/>
          </a:solidFill>
          <a:ln w="0">
            <a:noFill/>
            <a:prstDash val="solid"/>
          </a:ln>
        </p:spPr>
        <p:txBody>
          <a:bodyPr/>
          <a:lstStyle/>
          <a:p>
            <a:endParaRPr/>
          </a:p>
        </p:txBody>
      </p:sp>
      <p:sp>
        <p:nvSpPr>
          <p:cNvPr id="7" name="Rettangolo 6">
            <a:extLst>
              <a:ext uri="{FF2B5EF4-FFF2-40B4-BE49-F238E27FC236}">
                <a16:creationId xmlns:a16="http://schemas.microsoft.com/office/drawing/2014/main" id="{E5DDE80D-F491-4EDB-A777-AC5174C65059}"/>
              </a:ext>
            </a:extLst>
          </p:cNvPr>
          <p:cNvSpPr>
            <a:spLocks noGrp="1"/>
          </p:cNvSpPr>
          <p:nvPr/>
        </p:nvSpPr>
        <p:spPr>
          <a:xfrm>
            <a:off x="971550" y="1847850"/>
            <a:ext cx="3524250" cy="24765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FUTURE VALIDATION</a:t>
            </a:r>
          </a:p>
        </p:txBody>
      </p:sp>
      <p:sp>
        <p:nvSpPr>
          <p:cNvPr id="8" name="Rettangolo 7">
            <a:extLst>
              <a:ext uri="{FF2B5EF4-FFF2-40B4-BE49-F238E27FC236}">
                <a16:creationId xmlns:a16="http://schemas.microsoft.com/office/drawing/2014/main" id="{9CE8CE40-2313-4751-AC3A-75251D60271B}"/>
              </a:ext>
            </a:extLst>
          </p:cNvPr>
          <p:cNvSpPr>
            <a:spLocks noGrp="1"/>
          </p:cNvSpPr>
          <p:nvPr/>
        </p:nvSpPr>
        <p:spPr>
          <a:xfrm>
            <a:off x="971550" y="2286000"/>
            <a:ext cx="3524250" cy="647700"/>
          </a:xfrm>
          <a:prstGeom prst="rect">
            <a:avLst/>
          </a:prstGeom>
          <a:noFill/>
          <a:ln w="0">
            <a:noFill/>
            <a:prstDash val="solid"/>
          </a:ln>
        </p:spPr>
        <p:txBody>
          <a:bodyPr wrap="square" lIns="0" tIns="0" rIns="0" bIns="0" anchor="t">
            <a:noAutofit/>
          </a:bodyPr>
          <a:lstStyle/>
          <a:p>
            <a:pPr algn="ctr">
              <a:buNone/>
              <a:defRPr sz="4200" b="1">
                <a:solidFill>
                  <a:srgbClr val="FFFFFF"/>
                </a:solidFill>
                <a:latin typeface="Arial"/>
                <a:ea typeface="Arial"/>
                <a:cs typeface="Arial"/>
              </a:defRPr>
            </a:pPr>
            <a:r>
              <a:rPr sz="4200" b="1">
                <a:solidFill>
                  <a:srgbClr val="FFFFFF"/>
                </a:solidFill>
                <a:latin typeface="Arial"/>
                <a:ea typeface="Arial"/>
                <a:cs typeface="Arial"/>
              </a:rPr>
              <a:t>5</a:t>
            </a:r>
          </a:p>
        </p:txBody>
      </p:sp>
      <p:sp>
        <p:nvSpPr>
          <p:cNvPr id="9" name="Rettangolo 8">
            <a:extLst>
              <a:ext uri="{FF2B5EF4-FFF2-40B4-BE49-F238E27FC236}">
                <a16:creationId xmlns:a16="http://schemas.microsoft.com/office/drawing/2014/main" id="{32443789-E78D-482B-9842-1CE14508CB7C}"/>
              </a:ext>
            </a:extLst>
          </p:cNvPr>
          <p:cNvSpPr>
            <a:spLocks noGrp="1"/>
          </p:cNvSpPr>
          <p:nvPr/>
        </p:nvSpPr>
        <p:spPr>
          <a:xfrm>
            <a:off x="971550" y="2952750"/>
            <a:ext cx="352425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next steps</a:t>
            </a:r>
          </a:p>
        </p:txBody>
      </p:sp>
      <p:sp>
        <p:nvSpPr>
          <p:cNvPr id="10" name="Rettangolo 9">
            <a:extLst>
              <a:ext uri="{FF2B5EF4-FFF2-40B4-BE49-F238E27FC236}">
                <a16:creationId xmlns:a16="http://schemas.microsoft.com/office/drawing/2014/main" id="{68FF4B46-61D2-46B2-A3F1-741BE38718F5}"/>
              </a:ext>
            </a:extLst>
          </p:cNvPr>
          <p:cNvSpPr>
            <a:spLocks noGrp="1"/>
          </p:cNvSpPr>
          <p:nvPr/>
        </p:nvSpPr>
        <p:spPr>
          <a:xfrm>
            <a:off x="1066800" y="3390900"/>
            <a:ext cx="3333750" cy="495300"/>
          </a:xfrm>
          <a:prstGeom prst="rect">
            <a:avLst/>
          </a:prstGeom>
          <a:noFill/>
          <a:ln w="0">
            <a:noFill/>
            <a:prstDash val="solid"/>
          </a:ln>
        </p:spPr>
        <p:txBody>
          <a:bodyPr wrap="square" lIns="0" tIns="0" rIns="0" bIns="0" anchor="ctr">
            <a:noAutofit/>
          </a:bodyPr>
          <a:lstStyle/>
          <a:p>
            <a:pPr algn="ctr">
              <a:buNone/>
              <a:defRPr sz="1425" b="0">
                <a:solidFill>
                  <a:srgbClr val="DCE4F3"/>
                </a:solidFill>
                <a:latin typeface="Arial"/>
                <a:ea typeface="Arial"/>
                <a:cs typeface="Arial"/>
              </a:defRPr>
            </a:pPr>
            <a:r>
              <a:rPr sz="1425" b="0">
                <a:solidFill>
                  <a:srgbClr val="DCE4F3"/>
                </a:solidFill>
                <a:latin typeface="Arial"/>
                <a:ea typeface="Arial"/>
                <a:cs typeface="Arial"/>
              </a:rPr>
              <a:t>across data, tools and time</a:t>
            </a:r>
          </a:p>
        </p:txBody>
      </p:sp>
      <p:sp>
        <p:nvSpPr>
          <p:cNvPr id="11" name="Rettangolo 10">
            <a:extLst>
              <a:ext uri="{FF2B5EF4-FFF2-40B4-BE49-F238E27FC236}">
                <a16:creationId xmlns:a16="http://schemas.microsoft.com/office/drawing/2014/main" id="{1C420481-7C8E-4DDB-BC91-67D78A171A6C}"/>
              </a:ext>
            </a:extLst>
          </p:cNvPr>
          <p:cNvSpPr>
            <a:spLocks noGrp="1"/>
          </p:cNvSpPr>
          <p:nvPr/>
        </p:nvSpPr>
        <p:spPr>
          <a:xfrm>
            <a:off x="1257300" y="4133850"/>
            <a:ext cx="2952750" cy="19050"/>
          </a:xfrm>
          <a:prstGeom prst="rect">
            <a:avLst/>
          </a:prstGeom>
          <a:solidFill>
            <a:srgbClr val="536A9B"/>
          </a:solidFill>
          <a:ln w="0">
            <a:noFill/>
            <a:prstDash val="solid"/>
          </a:ln>
        </p:spPr>
        <p:txBody>
          <a:bodyPr/>
          <a:lstStyle/>
          <a:p>
            <a:endParaRPr/>
          </a:p>
        </p:txBody>
      </p:sp>
      <p:sp>
        <p:nvSpPr>
          <p:cNvPr id="12" name="Rettangolo 11">
            <a:extLst>
              <a:ext uri="{FF2B5EF4-FFF2-40B4-BE49-F238E27FC236}">
                <a16:creationId xmlns:a16="http://schemas.microsoft.com/office/drawing/2014/main" id="{F3249D90-455B-4447-9E26-B2ADC594CFFC}"/>
              </a:ext>
            </a:extLst>
          </p:cNvPr>
          <p:cNvSpPr>
            <a:spLocks noGrp="1"/>
          </p:cNvSpPr>
          <p:nvPr/>
        </p:nvSpPr>
        <p:spPr>
          <a:xfrm>
            <a:off x="1066800" y="4419600"/>
            <a:ext cx="3333750" cy="285750"/>
          </a:xfrm>
          <a:prstGeom prst="rect">
            <a:avLst/>
          </a:prstGeom>
          <a:noFill/>
          <a:ln w="0">
            <a:noFill/>
            <a:prstDash val="solid"/>
          </a:ln>
        </p:spPr>
        <p:txBody>
          <a:bodyPr wrap="square" lIns="0" tIns="0" rIns="0" bIns="0" anchor="t">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Generalizability must be tested</a:t>
            </a:r>
          </a:p>
        </p:txBody>
      </p:sp>
      <p:sp>
        <p:nvSpPr>
          <p:cNvPr id="13" name="Rettangolo 12">
            <a:extLst>
              <a:ext uri="{FF2B5EF4-FFF2-40B4-BE49-F238E27FC236}">
                <a16:creationId xmlns:a16="http://schemas.microsoft.com/office/drawing/2014/main" id="{A91E40B1-43F4-44AE-B4D8-392C565EFA1E}"/>
              </a:ext>
            </a:extLst>
          </p:cNvPr>
          <p:cNvSpPr>
            <a:spLocks noGrp="1"/>
          </p:cNvSpPr>
          <p:nvPr/>
        </p:nvSpPr>
        <p:spPr>
          <a:xfrm>
            <a:off x="1066800" y="4953000"/>
            <a:ext cx="3333750" cy="476250"/>
          </a:xfrm>
          <a:prstGeom prst="rect">
            <a:avLst/>
          </a:prstGeom>
          <a:noFill/>
          <a:ln w="0">
            <a:noFill/>
            <a:prstDash val="solid"/>
          </a:ln>
        </p:spPr>
        <p:txBody>
          <a:bodyPr wrap="square" lIns="0" tIns="0" rIns="0" bIns="0" anchor="ctr">
            <a:noAutofit/>
          </a:bodyPr>
          <a:lstStyle/>
          <a:p>
            <a:pPr algn="ctr">
              <a:buNone/>
              <a:defRPr sz="1350" b="0">
                <a:solidFill>
                  <a:srgbClr val="FFF4CD"/>
                </a:solidFill>
                <a:latin typeface="Arial"/>
                <a:ea typeface="Arial"/>
                <a:cs typeface="Arial"/>
              </a:defRPr>
            </a:pPr>
            <a:r>
              <a:rPr sz="1350" b="0">
                <a:solidFill>
                  <a:srgbClr val="FFF4CD"/>
                </a:solidFill>
                <a:latin typeface="Arial"/>
                <a:ea typeface="Arial"/>
                <a:cs typeface="Arial"/>
              </a:rPr>
              <a:t>not assumed from one frozen protocol.</a:t>
            </a:r>
          </a:p>
        </p:txBody>
      </p:sp>
      <p:sp>
        <p:nvSpPr>
          <p:cNvPr id="14" name="Rettangolo 13">
            <a:extLst>
              <a:ext uri="{FF2B5EF4-FFF2-40B4-BE49-F238E27FC236}">
                <a16:creationId xmlns:a16="http://schemas.microsoft.com/office/drawing/2014/main" id="{271950E5-9AE8-4624-8836-A98073AC06EB}"/>
              </a:ext>
            </a:extLst>
          </p:cNvPr>
          <p:cNvSpPr>
            <a:spLocks noGrp="1"/>
          </p:cNvSpPr>
          <p:nvPr/>
        </p:nvSpPr>
        <p:spPr>
          <a:xfrm>
            <a:off x="5334000" y="1657350"/>
            <a:ext cx="6172200" cy="266700"/>
          </a:xfrm>
          <a:prstGeom prst="rect">
            <a:avLst/>
          </a:prstGeom>
          <a:noFill/>
          <a:ln w="0">
            <a:noFill/>
            <a:prstDash val="solid"/>
          </a:ln>
        </p:spPr>
        <p:txBody>
          <a:bodyPr wrap="square" lIns="0" tIns="0" rIns="0" bIns="0" anchor="t">
            <a:noAutofit/>
          </a:bodyPr>
          <a:lstStyle/>
          <a:p>
            <a:pPr algn="l">
              <a:buNone/>
              <a:defRPr sz="1425" b="1">
                <a:solidFill>
                  <a:srgbClr val="233A70"/>
                </a:solidFill>
                <a:latin typeface="Arial"/>
                <a:ea typeface="Arial"/>
                <a:cs typeface="Arial"/>
              </a:defRPr>
            </a:pPr>
            <a:r>
              <a:rPr sz="1425" b="1">
                <a:solidFill>
                  <a:srgbClr val="233A70"/>
                </a:solidFill>
                <a:latin typeface="Arial"/>
                <a:ea typeface="Arial"/>
                <a:cs typeface="Arial"/>
              </a:rPr>
              <a:t>BOUNDARY → NEXT STEP</a:t>
            </a:r>
          </a:p>
        </p:txBody>
      </p:sp>
      <p:sp>
        <p:nvSpPr>
          <p:cNvPr id="15" name="Rettangolo 14">
            <a:extLst>
              <a:ext uri="{FF2B5EF4-FFF2-40B4-BE49-F238E27FC236}">
                <a16:creationId xmlns:a16="http://schemas.microsoft.com/office/drawing/2014/main" id="{9B35F04A-8C1A-4D02-A7D5-B5388F8EBAA1}"/>
              </a:ext>
            </a:extLst>
          </p:cNvPr>
          <p:cNvSpPr>
            <a:spLocks noGrp="1"/>
          </p:cNvSpPr>
          <p:nvPr/>
        </p:nvSpPr>
        <p:spPr>
          <a:xfrm>
            <a:off x="5334000" y="21336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Rettangolo 15">
            <a:extLst>
              <a:ext uri="{FF2B5EF4-FFF2-40B4-BE49-F238E27FC236}">
                <a16:creationId xmlns:a16="http://schemas.microsoft.com/office/drawing/2014/main" id="{383BA1E7-4180-41B6-8C72-60ACF49C3748}"/>
              </a:ext>
            </a:extLst>
          </p:cNvPr>
          <p:cNvSpPr>
            <a:spLocks noGrp="1"/>
          </p:cNvSpPr>
          <p:nvPr/>
        </p:nvSpPr>
        <p:spPr>
          <a:xfrm>
            <a:off x="7467600" y="21336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larger, heterogeneous, multi-reviewer sets</a:t>
            </a:r>
          </a:p>
        </p:txBody>
      </p:sp>
      <p:sp>
        <p:nvSpPr>
          <p:cNvPr id="17" name="Rettangolo 16">
            <a:extLst>
              <a:ext uri="{FF2B5EF4-FFF2-40B4-BE49-F238E27FC236}">
                <a16:creationId xmlns:a16="http://schemas.microsoft.com/office/drawing/2014/main" id="{1E912AF9-D85C-4977-969E-906B3A4C3311}"/>
              </a:ext>
            </a:extLst>
          </p:cNvPr>
          <p:cNvSpPr>
            <a:spLocks noGrp="1"/>
          </p:cNvSpPr>
          <p:nvPr/>
        </p:nvSpPr>
        <p:spPr>
          <a:xfrm>
            <a:off x="5334000" y="2609850"/>
            <a:ext cx="6172200" cy="9525"/>
          </a:xfrm>
          <a:prstGeom prst="rect">
            <a:avLst/>
          </a:prstGeom>
          <a:solidFill>
            <a:srgbClr val="D9DEE8"/>
          </a:solidFill>
          <a:ln w="0">
            <a:noFill/>
            <a:prstDash val="solid"/>
          </a:ln>
        </p:spPr>
        <p:txBody>
          <a:bodyPr/>
          <a:lstStyle/>
          <a:p>
            <a:endParaRPr/>
          </a:p>
        </p:txBody>
      </p:sp>
      <p:sp>
        <p:nvSpPr>
          <p:cNvPr id="18" name="Rettangolo 17">
            <a:extLst>
              <a:ext uri="{FF2B5EF4-FFF2-40B4-BE49-F238E27FC236}">
                <a16:creationId xmlns:a16="http://schemas.microsoft.com/office/drawing/2014/main" id="{1FEB3410-F8F5-45C3-B8A9-72E8CC0B13F9}"/>
              </a:ext>
            </a:extLst>
          </p:cNvPr>
          <p:cNvSpPr>
            <a:spLocks noGrp="1"/>
          </p:cNvSpPr>
          <p:nvPr/>
        </p:nvSpPr>
        <p:spPr>
          <a:xfrm>
            <a:off x="5334000" y="28194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Conditions</a:t>
            </a:r>
          </a:p>
        </p:txBody>
      </p:sp>
      <p:sp>
        <p:nvSpPr>
          <p:cNvPr id="19" name="Rettangolo 18">
            <a:extLst>
              <a:ext uri="{FF2B5EF4-FFF2-40B4-BE49-F238E27FC236}">
                <a16:creationId xmlns:a16="http://schemas.microsoft.com/office/drawing/2014/main" id="{528555C9-5DFF-4894-9FE6-D4333953FC88}"/>
              </a:ext>
            </a:extLst>
          </p:cNvPr>
          <p:cNvSpPr>
            <a:spLocks noGrp="1"/>
          </p:cNvSpPr>
          <p:nvPr/>
        </p:nvSpPr>
        <p:spPr>
          <a:xfrm>
            <a:off x="7467600" y="28194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parameter sweeps; adaptive attacks</a:t>
            </a:r>
          </a:p>
        </p:txBody>
      </p:sp>
      <p:sp>
        <p:nvSpPr>
          <p:cNvPr id="20" name="Rettangolo 19">
            <a:extLst>
              <a:ext uri="{FF2B5EF4-FFF2-40B4-BE49-F238E27FC236}">
                <a16:creationId xmlns:a16="http://schemas.microsoft.com/office/drawing/2014/main" id="{F89CB595-C0E8-481C-B956-C19F8CDD3C85}"/>
              </a:ext>
            </a:extLst>
          </p:cNvPr>
          <p:cNvSpPr>
            <a:spLocks noGrp="1"/>
          </p:cNvSpPr>
          <p:nvPr/>
        </p:nvSpPr>
        <p:spPr>
          <a:xfrm>
            <a:off x="5334000" y="3295650"/>
            <a:ext cx="6172200" cy="9525"/>
          </a:xfrm>
          <a:prstGeom prst="rect">
            <a:avLst/>
          </a:prstGeom>
          <a:solidFill>
            <a:srgbClr val="D9DEE8"/>
          </a:solidFill>
          <a:ln w="0">
            <a:noFill/>
            <a:prstDash val="solid"/>
          </a:ln>
        </p:spPr>
        <p:txBody>
          <a:bodyPr/>
          <a:lstStyle/>
          <a:p>
            <a:endParaRPr/>
          </a:p>
        </p:txBody>
      </p:sp>
      <p:sp>
        <p:nvSpPr>
          <p:cNvPr id="21" name="Rettangolo 20">
            <a:extLst>
              <a:ext uri="{FF2B5EF4-FFF2-40B4-BE49-F238E27FC236}">
                <a16:creationId xmlns:a16="http://schemas.microsoft.com/office/drawing/2014/main" id="{6CF52DE5-B776-4B1D-800C-73C4E4A5C8F6}"/>
              </a:ext>
            </a:extLst>
          </p:cNvPr>
          <p:cNvSpPr>
            <a:spLocks noGrp="1"/>
          </p:cNvSpPr>
          <p:nvPr/>
        </p:nvSpPr>
        <p:spPr>
          <a:xfrm>
            <a:off x="5334000" y="35052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Tools</a:t>
            </a:r>
          </a:p>
        </p:txBody>
      </p:sp>
      <p:sp>
        <p:nvSpPr>
          <p:cNvPr id="22" name="Rettangolo 21">
            <a:extLst>
              <a:ext uri="{FF2B5EF4-FFF2-40B4-BE49-F238E27FC236}">
                <a16:creationId xmlns:a16="http://schemas.microsoft.com/office/drawing/2014/main" id="{CFA73A27-E6D0-47E7-ADA5-8D98B5FD3677}"/>
              </a:ext>
            </a:extLst>
          </p:cNvPr>
          <p:cNvSpPr>
            <a:spLocks noGrp="1"/>
          </p:cNvSpPr>
          <p:nvPr/>
        </p:nvSpPr>
        <p:spPr>
          <a:xfrm>
            <a:off x="7467600" y="35052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repeat across versions; track drift</a:t>
            </a:r>
          </a:p>
        </p:txBody>
      </p:sp>
      <p:sp>
        <p:nvSpPr>
          <p:cNvPr id="23" name="Rettangolo 22">
            <a:extLst>
              <a:ext uri="{FF2B5EF4-FFF2-40B4-BE49-F238E27FC236}">
                <a16:creationId xmlns:a16="http://schemas.microsoft.com/office/drawing/2014/main" id="{6730AD67-EBD7-4FFB-A38A-B32B95B85FDA}"/>
              </a:ext>
            </a:extLst>
          </p:cNvPr>
          <p:cNvSpPr>
            <a:spLocks noGrp="1"/>
          </p:cNvSpPr>
          <p:nvPr/>
        </p:nvSpPr>
        <p:spPr>
          <a:xfrm>
            <a:off x="5334000" y="3981450"/>
            <a:ext cx="6172200" cy="9525"/>
          </a:xfrm>
          <a:prstGeom prst="rect">
            <a:avLst/>
          </a:prstGeom>
          <a:solidFill>
            <a:srgbClr val="D9DEE8"/>
          </a:solidFill>
          <a:ln w="0">
            <a:noFill/>
            <a:prstDash val="solid"/>
          </a:ln>
        </p:spPr>
        <p:txBody>
          <a:bodyPr/>
          <a:lstStyle/>
          <a:p>
            <a:endParaRPr/>
          </a:p>
        </p:txBody>
      </p:sp>
      <p:sp>
        <p:nvSpPr>
          <p:cNvPr id="24" name="Rettangolo 23">
            <a:extLst>
              <a:ext uri="{FF2B5EF4-FFF2-40B4-BE49-F238E27FC236}">
                <a16:creationId xmlns:a16="http://schemas.microsoft.com/office/drawing/2014/main" id="{297D8C7E-D048-4389-B744-C095380C76FF}"/>
              </a:ext>
            </a:extLst>
          </p:cNvPr>
          <p:cNvSpPr>
            <a:spLocks noGrp="1"/>
          </p:cNvSpPr>
          <p:nvPr/>
        </p:nvSpPr>
        <p:spPr>
          <a:xfrm>
            <a:off x="5334000" y="4191000"/>
            <a:ext cx="190500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Modalities</a:t>
            </a:r>
          </a:p>
        </p:txBody>
      </p:sp>
      <p:sp>
        <p:nvSpPr>
          <p:cNvPr id="25" name="Rettangolo 24">
            <a:extLst>
              <a:ext uri="{FF2B5EF4-FFF2-40B4-BE49-F238E27FC236}">
                <a16:creationId xmlns:a16="http://schemas.microsoft.com/office/drawing/2014/main" id="{FB545777-3A93-46AD-B3E0-2631B388AFF4}"/>
              </a:ext>
            </a:extLst>
          </p:cNvPr>
          <p:cNvSpPr>
            <a:spLocks noGrp="1"/>
          </p:cNvSpPr>
          <p:nvPr/>
        </p:nvSpPr>
        <p:spPr>
          <a:xfrm>
            <a:off x="7467600" y="41910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extend beyond still images</a:t>
            </a:r>
          </a:p>
        </p:txBody>
      </p:sp>
      <p:sp>
        <p:nvSpPr>
          <p:cNvPr id="26" name="Rettangolo 25">
            <a:extLst>
              <a:ext uri="{FF2B5EF4-FFF2-40B4-BE49-F238E27FC236}">
                <a16:creationId xmlns:a16="http://schemas.microsoft.com/office/drawing/2014/main" id="{3C77DA9F-A647-486F-87C1-3A6BA389185F}"/>
              </a:ext>
            </a:extLst>
          </p:cNvPr>
          <p:cNvSpPr>
            <a:spLocks noGrp="1"/>
          </p:cNvSpPr>
          <p:nvPr/>
        </p:nvSpPr>
        <p:spPr>
          <a:xfrm>
            <a:off x="5334000" y="4667250"/>
            <a:ext cx="6172200" cy="9525"/>
          </a:xfrm>
          <a:prstGeom prst="rect">
            <a:avLst/>
          </a:prstGeom>
          <a:solidFill>
            <a:srgbClr val="D9DEE8"/>
          </a:solidFill>
          <a:ln w="0">
            <a:noFill/>
            <a:prstDash val="solid"/>
          </a:ln>
        </p:spPr>
        <p:txBody>
          <a:bodyPr/>
          <a:lstStyle/>
          <a:p>
            <a:endParaRPr/>
          </a:p>
        </p:txBody>
      </p:sp>
      <p:sp>
        <p:nvSpPr>
          <p:cNvPr id="27" name="Rettangolo 26">
            <a:extLst>
              <a:ext uri="{FF2B5EF4-FFF2-40B4-BE49-F238E27FC236}">
                <a16:creationId xmlns:a16="http://schemas.microsoft.com/office/drawing/2014/main" id="{8E6250E2-E927-4F06-BBD5-AC880A4A2AFA}"/>
              </a:ext>
            </a:extLst>
          </p:cNvPr>
          <p:cNvSpPr>
            <a:spLocks noGrp="1"/>
          </p:cNvSpPr>
          <p:nvPr/>
        </p:nvSpPr>
        <p:spPr>
          <a:xfrm>
            <a:off x="5334000" y="4876800"/>
            <a:ext cx="1905000" cy="266700"/>
          </a:xfrm>
          <a:prstGeom prst="rect">
            <a:avLst/>
          </a:prstGeom>
          <a:noFill/>
          <a:ln w="0">
            <a:noFill/>
            <a:prstDash val="solid"/>
          </a:ln>
        </p:spPr>
        <p:txBody>
          <a:bodyPr wrap="square" lIns="0" tIns="0" rIns="0" bIns="0" anchor="t">
            <a:noAutofit/>
          </a:bodyPr>
          <a:lstStyle/>
          <a:p>
            <a:pPr algn="l">
              <a:buNone/>
              <a:defRPr sz="1500" b="1">
                <a:solidFill>
                  <a:srgbClr val="BE3C37"/>
                </a:solidFill>
                <a:latin typeface="Arial"/>
                <a:ea typeface="Arial"/>
                <a:cs typeface="Arial"/>
              </a:defRPr>
            </a:pPr>
            <a:r>
              <a:rPr sz="1500" b="1">
                <a:solidFill>
                  <a:srgbClr val="BE3C37"/>
                </a:solidFill>
                <a:latin typeface="Arial"/>
                <a:ea typeface="Arial"/>
                <a:cs typeface="Arial"/>
              </a:rPr>
              <a:t>Governance</a:t>
            </a:r>
          </a:p>
        </p:txBody>
      </p:sp>
      <p:sp>
        <p:nvSpPr>
          <p:cNvPr id="28" name="Rettangolo 27">
            <a:extLst>
              <a:ext uri="{FF2B5EF4-FFF2-40B4-BE49-F238E27FC236}">
                <a16:creationId xmlns:a16="http://schemas.microsoft.com/office/drawing/2014/main" id="{096B4D8D-5682-4A6A-9047-F2FEEF48A8B7}"/>
              </a:ext>
            </a:extLst>
          </p:cNvPr>
          <p:cNvSpPr>
            <a:spLocks noGrp="1"/>
          </p:cNvSpPr>
          <p:nvPr/>
        </p:nvSpPr>
        <p:spPr>
          <a:xfrm>
            <a:off x="7467600" y="4876800"/>
            <a:ext cx="40386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stronger audit and review controls</a:t>
            </a:r>
          </a:p>
        </p:txBody>
      </p:sp>
      <p:sp>
        <p:nvSpPr>
          <p:cNvPr id="29" name="Rettangolo con angoli arrotondati 28">
            <a:extLst>
              <a:ext uri="{FF2B5EF4-FFF2-40B4-BE49-F238E27FC236}">
                <a16:creationId xmlns:a16="http://schemas.microsoft.com/office/drawing/2014/main" id="{61709ABF-C6C7-4CB5-B2B9-481AE4E3DAC9}"/>
              </a:ext>
            </a:extLst>
          </p:cNvPr>
          <p:cNvSpPr>
            <a:spLocks noGrp="1"/>
          </p:cNvSpPr>
          <p:nvPr/>
        </p:nvSpPr>
        <p:spPr>
          <a:xfrm>
            <a:off x="5334000" y="5676900"/>
            <a:ext cx="6172200" cy="457200"/>
          </a:xfrm>
          <a:prstGeom prst="roundRect">
            <a:avLst>
              <a:gd name="adj" fmla="val 25000"/>
            </a:avLst>
          </a:prstGeom>
          <a:solidFill>
            <a:srgbClr val="E9EEF8"/>
          </a:solidFill>
          <a:ln w="0">
            <a:noFill/>
            <a:prstDash val="solid"/>
          </a:ln>
        </p:spPr>
        <p:txBody>
          <a:bodyPr/>
          <a:lstStyle/>
          <a:p>
            <a:endParaRPr/>
          </a:p>
        </p:txBody>
      </p:sp>
      <p:sp>
        <p:nvSpPr>
          <p:cNvPr id="30" name="Rettangolo 29">
            <a:extLst>
              <a:ext uri="{FF2B5EF4-FFF2-40B4-BE49-F238E27FC236}">
                <a16:creationId xmlns:a16="http://schemas.microsoft.com/office/drawing/2014/main" id="{9FA4F0A5-3312-4D65-952B-9A4883F78124}"/>
              </a:ext>
            </a:extLst>
          </p:cNvPr>
          <p:cNvSpPr>
            <a:spLocks noGrp="1"/>
          </p:cNvSpPr>
          <p:nvPr/>
        </p:nvSpPr>
        <p:spPr>
          <a:xfrm>
            <a:off x="5562600" y="5800725"/>
            <a:ext cx="5715000" cy="2286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Expand the protocol without weakening traceability.</a:t>
            </a:r>
          </a:p>
        </p:txBody>
      </p:sp>
    </p:spTree>
    <p:extLst>
      <p:ext uri="{BB962C8B-B14F-4D97-AF65-F5344CB8AC3E}">
        <p14:creationId xmlns:p14="http://schemas.microsoft.com/office/powerpoint/2010/main" val="1308217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3785</Words>
  <Application>Microsoft Office PowerPoint</Application>
  <DocSecurity>0</DocSecurity>
  <PresentationFormat>Widescreen</PresentationFormat>
  <Paragraphs>454</Paragraphs>
  <Slides>24</Slides>
  <Notes>23</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24</vt:i4>
      </vt:variant>
    </vt:vector>
  </HeadingPairs>
  <TitlesOfParts>
    <vt:vector size="28" baseType="lpstr">
      <vt:lpstr>Arial</vt:lpstr>
      <vt:lpstr>Calibri</vt:lpstr>
      <vt:lpstr>Carlito</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Lello Molinario</cp:lastModifiedBy>
  <cp:revision>7</cp:revision>
  <dcterms:created xsi:type="dcterms:W3CDTF">2026-09-06T08:00:34Z</dcterms:created>
  <dcterms:modified xsi:type="dcterms:W3CDTF">2026-09-09T10:47:07Z</dcterms:modified>
</cp:coreProperties>
</file>