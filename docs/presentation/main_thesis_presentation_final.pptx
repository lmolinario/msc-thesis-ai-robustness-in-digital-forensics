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4e1a11743d4980" /><Relationship Type="http://schemas.openxmlformats.org/officeDocument/2006/relationships/extended-properties" Target="/docProps/app.xml" Id="R83202c22bd934fd4" /><Relationship Type="http://schemas.openxmlformats.org/officeDocument/2006/relationships/officeDocument" Target="/ppt/presentation.xml" Id="Re8ff8128d4b44e19" /></Relationships>
</file>

<file path=ppt/presentation.xml><?xml version="1.0" encoding="utf-8"?>
<p:presentation xmlns:p="http://schemas.openxmlformats.org/presentationml/2006/main">
  <p:sldMasterIdLst>
    <p:sldMasterId xmlns:r="http://schemas.openxmlformats.org/officeDocument/2006/relationships" id="2147483648" r:id="Rde946d85457e4fd0"/>
  </p:sldMasterIdLst>
  <p:notesMasterIdLst>
    <p:notesMasterId xmlns:r="http://schemas.openxmlformats.org/officeDocument/2006/relationships" r:id="Rac6f6c56aa62439f"/>
  </p:notesMasterIdLst>
  <p:sldIdLst>
    <p:sldId xmlns:r="http://schemas.openxmlformats.org/officeDocument/2006/relationships" id="256" r:id="R4150ad167d1745d7"/>
    <p:sldId xmlns:r="http://schemas.openxmlformats.org/officeDocument/2006/relationships" id="257" r:id="Rb66514f05ecc44df"/>
    <p:sldId xmlns:r="http://schemas.openxmlformats.org/officeDocument/2006/relationships" id="258" r:id="Rc87e0ca78c814876"/>
    <p:sldId xmlns:r="http://schemas.openxmlformats.org/officeDocument/2006/relationships" id="259" r:id="R54cdc943b4c7417d"/>
    <p:sldId xmlns:r="http://schemas.openxmlformats.org/officeDocument/2006/relationships" id="260" r:id="R64c560ef1008428c"/>
    <p:sldId xmlns:r="http://schemas.openxmlformats.org/officeDocument/2006/relationships" id="261" r:id="R9a04f5a5a3c14855"/>
    <p:sldId xmlns:r="http://schemas.openxmlformats.org/officeDocument/2006/relationships" id="262" r:id="Rc2f8d432ed474736"/>
    <p:sldId xmlns:r="http://schemas.openxmlformats.org/officeDocument/2006/relationships" id="263" r:id="R8f2fe10f30f84114"/>
    <p:sldId xmlns:r="http://schemas.openxmlformats.org/officeDocument/2006/relationships" id="264" r:id="R4122d08e9f054354"/>
    <p:sldId xmlns:r="http://schemas.openxmlformats.org/officeDocument/2006/relationships" id="265" r:id="Ra01ca1858d74427c"/>
    <p:sldId xmlns:r="http://schemas.openxmlformats.org/officeDocument/2006/relationships" id="266" r:id="R9cf243f2d3ff480e"/>
    <p:sldId xmlns:r="http://schemas.openxmlformats.org/officeDocument/2006/relationships" id="267" r:id="R372d52aa338a4396"/>
    <p:sldId xmlns:r="http://schemas.openxmlformats.org/officeDocument/2006/relationships" id="268" r:id="R513e20a8ccf6495c"/>
    <p:sldId xmlns:r="http://schemas.openxmlformats.org/officeDocument/2006/relationships" id="269" r:id="R48260db720584f4b"/>
    <p:sldId xmlns:r="http://schemas.openxmlformats.org/officeDocument/2006/relationships" id="270" r:id="R98d2f3f226ea4f74"/>
    <p:sldId xmlns:r="http://schemas.openxmlformats.org/officeDocument/2006/relationships" id="271" r:id="R86592ed19d5c481a"/>
    <p:sldId xmlns:r="http://schemas.openxmlformats.org/officeDocument/2006/relationships" id="272" r:id="R8d937cf958104380"/>
    <p:sldId xmlns:r="http://schemas.openxmlformats.org/officeDocument/2006/relationships" id="273" r:id="R63ea3e40a226423e"/>
    <p:sldId xmlns:r="http://schemas.openxmlformats.org/officeDocument/2006/relationships" id="274" r:id="Ree96c1604c8a4fe7"/>
    <p:sldId xmlns:r="http://schemas.openxmlformats.org/officeDocument/2006/relationships" id="275" r:id="Rbfb117ebcf6e4dd8"/>
    <p:sldId xmlns:r="http://schemas.openxmlformats.org/officeDocument/2006/relationships" id="276" r:id="R3b0774fe03414124"/>
    <p:sldId xmlns:r="http://schemas.openxmlformats.org/officeDocument/2006/relationships" id="277" r:id="R021f0755179a4573"/>
    <p:sldId xmlns:r="http://schemas.openxmlformats.org/officeDocument/2006/relationships" id="278" r:id="R5fcc9a1a267c42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a5c961a786c401f" /><Relationship Type="http://schemas.openxmlformats.org/officeDocument/2006/relationships/slideMaster" Target="/ppt/slideMasters/slideMaster1.xml" Id="Rde946d85457e4fd0" /><Relationship Type="http://schemas.openxmlformats.org/officeDocument/2006/relationships/notesMaster" Target="/ppt/notesMasters/notesMaster1.xml" Id="Rac6f6c56aa62439f" /><Relationship Type="http://schemas.openxmlformats.org/officeDocument/2006/relationships/presProps" Target="/ppt/presProps.xml" Id="R4c9b013ebdef4a3b" /><Relationship Type="http://schemas.openxmlformats.org/officeDocument/2006/relationships/viewProps" Target="/ppt/viewProps.xml" Id="Rba53cbaffb2f4be2" /><Relationship Type="http://schemas.openxmlformats.org/officeDocument/2006/relationships/tableStyles" Target="/ppt/tableStyles.xml" Id="R463b2e860707457d" /><Relationship Type="http://schemas.openxmlformats.org/officeDocument/2006/relationships/slide" Target="/ppt/slides/slide1.xml" Id="R4150ad167d1745d7" /><Relationship Type="http://schemas.openxmlformats.org/officeDocument/2006/relationships/slide" Target="/ppt/slides/slide2.xml" Id="Rb66514f05ecc44df" /><Relationship Type="http://schemas.openxmlformats.org/officeDocument/2006/relationships/slide" Target="/ppt/slides/slide3.xml" Id="Rc87e0ca78c814876" /><Relationship Type="http://schemas.openxmlformats.org/officeDocument/2006/relationships/slide" Target="/ppt/slides/slide4.xml" Id="R54cdc943b4c7417d" /><Relationship Type="http://schemas.openxmlformats.org/officeDocument/2006/relationships/slide" Target="/ppt/slides/slide5.xml" Id="R64c560ef1008428c" /><Relationship Type="http://schemas.openxmlformats.org/officeDocument/2006/relationships/slide" Target="/ppt/slides/slide6.xml" Id="R9a04f5a5a3c14855" /><Relationship Type="http://schemas.openxmlformats.org/officeDocument/2006/relationships/slide" Target="/ppt/slides/slide7.xml" Id="Rc2f8d432ed474736" /><Relationship Type="http://schemas.openxmlformats.org/officeDocument/2006/relationships/slide" Target="/ppt/slides/slide8.xml" Id="R8f2fe10f30f84114" /><Relationship Type="http://schemas.openxmlformats.org/officeDocument/2006/relationships/slide" Target="/ppt/slides/slide9.xml" Id="R4122d08e9f054354" /><Relationship Type="http://schemas.openxmlformats.org/officeDocument/2006/relationships/slide" Target="/ppt/slides/slide10.xml" Id="Ra01ca1858d74427c" /><Relationship Type="http://schemas.openxmlformats.org/officeDocument/2006/relationships/slide" Target="/ppt/slides/slide11.xml" Id="R9cf243f2d3ff480e" /><Relationship Type="http://schemas.openxmlformats.org/officeDocument/2006/relationships/slide" Target="/ppt/slides/slide12.xml" Id="R372d52aa338a4396" /><Relationship Type="http://schemas.openxmlformats.org/officeDocument/2006/relationships/slide" Target="/ppt/slides/slide13.xml" Id="R513e20a8ccf6495c" /><Relationship Type="http://schemas.openxmlformats.org/officeDocument/2006/relationships/slide" Target="/ppt/slides/slide14.xml" Id="R48260db720584f4b" /><Relationship Type="http://schemas.openxmlformats.org/officeDocument/2006/relationships/slide" Target="/ppt/slides/slide15.xml" Id="R98d2f3f226ea4f74" /><Relationship Type="http://schemas.openxmlformats.org/officeDocument/2006/relationships/slide" Target="/ppt/slides/slide16.xml" Id="R86592ed19d5c481a" /><Relationship Type="http://schemas.openxmlformats.org/officeDocument/2006/relationships/slide" Target="/ppt/slides/slide17.xml" Id="R8d937cf958104380" /><Relationship Type="http://schemas.openxmlformats.org/officeDocument/2006/relationships/slide" Target="/ppt/slides/slide18.xml" Id="R63ea3e40a226423e" /><Relationship Type="http://schemas.openxmlformats.org/officeDocument/2006/relationships/slide" Target="/ppt/slides/slide19.xml" Id="Ree96c1604c8a4fe7" /><Relationship Type="http://schemas.openxmlformats.org/officeDocument/2006/relationships/slide" Target="/ppt/slides/slide20.xml" Id="Rbfb117ebcf6e4dd8" /><Relationship Type="http://schemas.openxmlformats.org/officeDocument/2006/relationships/slide" Target="/ppt/slides/slide21.xml" Id="R3b0774fe03414124" /><Relationship Type="http://schemas.openxmlformats.org/officeDocument/2006/relationships/slide" Target="/ppt/slides/slide22.xml" Id="R021f0755179a4573" /><Relationship Type="http://schemas.openxmlformats.org/officeDocument/2006/relationships/slide" Target="/ppt/slides/slide23.xml" Id="R5fcc9a1a267c42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8df2457be141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b25d671875453e" /><Relationship Type="http://schemas.openxmlformats.org/officeDocument/2006/relationships/notesMaster" Target="/ppt/notesMasters/notesMaster1.xml" Id="R809f899ca9d148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abcef994f24b13" /><Relationship Type="http://schemas.openxmlformats.org/officeDocument/2006/relationships/notesMaster" Target="/ppt/notesMasters/notesMaster1.xml" Id="Rda69eaafbf9540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7b763a86f54017" /><Relationship Type="http://schemas.openxmlformats.org/officeDocument/2006/relationships/notesMaster" Target="/ppt/notesMasters/notesMaster1.xml" Id="R8d262d57fed441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faf96766d94118" /><Relationship Type="http://schemas.openxmlformats.org/officeDocument/2006/relationships/notesMaster" Target="/ppt/notesMasters/notesMaster1.xml" Id="R9cb04bc3db9a43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d8c41e6c634b72" /><Relationship Type="http://schemas.openxmlformats.org/officeDocument/2006/relationships/notesMaster" Target="/ppt/notesMasters/notesMaster1.xml" Id="R99b2daedeab04a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2b2d0e23ca4e36" /><Relationship Type="http://schemas.openxmlformats.org/officeDocument/2006/relationships/notesMaster" Target="/ppt/notesMasters/notesMaster1.xml" Id="Rbc58908040d247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aa45a3b0104797" /><Relationship Type="http://schemas.openxmlformats.org/officeDocument/2006/relationships/notesMaster" Target="/ppt/notesMasters/notesMaster1.xml" Id="Ra4b54d1a5011477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97d912de0f4016" /><Relationship Type="http://schemas.openxmlformats.org/officeDocument/2006/relationships/notesMaster" Target="/ppt/notesMasters/notesMaster1.xml" Id="R6f170f01fdfb47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0e0e717ffbe4967" /><Relationship Type="http://schemas.openxmlformats.org/officeDocument/2006/relationships/notesMaster" Target="/ppt/notesMasters/notesMaster1.xml" Id="Rb96359b00d2241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10d46e4562d447b" /><Relationship Type="http://schemas.openxmlformats.org/officeDocument/2006/relationships/notesMaster" Target="/ppt/notesMasters/notesMaster1.xml" Id="Ra4cfe811d1474b0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b00bcbda1f4f92" /><Relationship Type="http://schemas.openxmlformats.org/officeDocument/2006/relationships/notesMaster" Target="/ppt/notesMasters/notesMaster1.xml" Id="R7440a4e9e2974c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131ecb17702444a" /><Relationship Type="http://schemas.openxmlformats.org/officeDocument/2006/relationships/notesMaster" Target="/ppt/notesMasters/notesMaster1.xml" Id="R2bbcc8b042b5431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4c53fe973bd44b3" /><Relationship Type="http://schemas.openxmlformats.org/officeDocument/2006/relationships/notesMaster" Target="/ppt/notesMasters/notesMaster1.xml" Id="R0cae89084dcd496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924f349fd144cc1" /><Relationship Type="http://schemas.openxmlformats.org/officeDocument/2006/relationships/notesMaster" Target="/ppt/notesMasters/notesMaster1.xml" Id="R0bd0da2017fa48f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8df81a776744b76" /><Relationship Type="http://schemas.openxmlformats.org/officeDocument/2006/relationships/notesMaster" Target="/ppt/notesMasters/notesMaster1.xml" Id="R1fdd6565822f40c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36387cc962040ae" /><Relationship Type="http://schemas.openxmlformats.org/officeDocument/2006/relationships/notesMaster" Target="/ppt/notesMasters/notesMaster1.xml" Id="Rfea3d55fa7934d1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849a1d2150c4539" /><Relationship Type="http://schemas.openxmlformats.org/officeDocument/2006/relationships/notesMaster" Target="/ppt/notesMasters/notesMaster1.xml" Id="R6dd0f3fa6536406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b2dc6993197455d" /><Relationship Type="http://schemas.openxmlformats.org/officeDocument/2006/relationships/notesMaster" Target="/ppt/notesMasters/notesMaster1.xml" Id="R03874c32676d464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71fd2df7b1540b9" /><Relationship Type="http://schemas.openxmlformats.org/officeDocument/2006/relationships/notesMaster" Target="/ppt/notesMasters/notesMaster1.xml" Id="Rf8922388580949a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d2a85a76b0e4373" /><Relationship Type="http://schemas.openxmlformats.org/officeDocument/2006/relationships/notesMaster" Target="/ppt/notesMasters/notesMaster1.xml" Id="Rc4c394649c6648c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94f1f15b0944473" /><Relationship Type="http://schemas.openxmlformats.org/officeDocument/2006/relationships/notesMaster" Target="/ppt/notesMasters/notesMaster1.xml" Id="R6ce312f621a7407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a25014cca894d1b" /><Relationship Type="http://schemas.openxmlformats.org/officeDocument/2006/relationships/notesMaster" Target="/ppt/notesMasters/notesMaster1.xml" Id="R33c377f7854646b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2ec612bb4e84d3c" /><Relationship Type="http://schemas.openxmlformats.org/officeDocument/2006/relationships/notesMaster" Target="/ppt/notesMasters/notesMaster1.xml" Id="Rf024d4c205f74a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0:00–0:30</a:t>
            </a:r>
          </a:p>
          <a:p xmlns:a="http://schemas.openxmlformats.org/drawingml/2006/main">
            <a:r>
              <a:t>Good morning. My name is Lello Molinario. This thesis evaluates the robustness of AI-based forensic image-triage tools under adversarial, anti-forensic and out-of-distribution inputs. The goal is not to build a new firearm classifier. The goal is to understand when AI-assisted prioritization can fail, and how those failures can be measured in an auditable way.</a:t>
            </a:r>
          </a:p>
          <a:p xmlns:a="http://schemas.openxmlformats.org/drawingml/2006/main">
            <a:r>
              <a:t>Transition: I will start from the operational risk that motivates the work.</a:t>
            </a:r>
          </a:p>
          <a:p xmlns:a="http://schemas.openxmlformats.org/drawingml/2006/main">
            <a:r>
              <a:t/>
            </a:r>
          </a:p>
          <a:p xmlns:a="http://schemas.openxmlformats.org/drawingml/2006/main">
            <a:r>
              <a:t>[Sources]</a:t>
            </a:r>
          </a:p>
          <a:p xmlns:a="http://schemas.openxmlformats.org/drawingml/2006/main">
            <a:r>
              <a:t>- docs/LatexThesis/main.tex — official thesis title and degree information</a:t>
            </a:r>
          </a:p>
          <a:p xmlns:a="http://schemas.openxmlformats.org/drawingml/2006/main">
            <a:r>
              <a:t>- docs/LatexThesis/sections/00_abstract.tex</a:t>
            </a:r>
          </a:p>
          <a:p xmlns:a="http://schemas.openxmlformats.org/drawingml/2006/main">
            <a:r>
              <a:t>- docs/LatexSlides/assets/logo_RGB.png; theme license in docs/LatexSlides/LICENSE.txt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0:30–1:25</a:t>
            </a:r>
          </a:p>
          <a:p xmlns:a="http://schemas.openxmlformats.org/drawingml/2006/main">
            <a:r>
              <a:t>Digital investigations may contain very large image collections, so AI can help decide what an analyst reviews first. The risk is asymmetric. A false positive creates extra work, but a false negative can quietly move relevant evidence out of the priority queue. My central question is therefore: how does forensic image triage behave under adversarial, anti-forensic and out-of-distribution inputs? The contribution is an auditable robustness assessment, not a new classifier.</a:t>
            </a:r>
          </a:p>
          <a:p xmlns:a="http://schemas.openxmlformats.org/drawingml/2006/main">
            <a:r>
              <a:t>Transition: To answer this question, I designed the FAIRLab protocol.</a:t>
            </a:r>
          </a:p>
          <a:p xmlns:a="http://schemas.openxmlformats.org/drawingml/2006/main">
            <a:r>
              <a:t/>
            </a:r>
          </a:p>
          <a:p xmlns:a="http://schemas.openxmlformats.org/drawingml/2006/main">
            <a:r>
              <a:t>[Sources]</a:t>
            </a:r>
          </a:p>
          <a:p xmlns:a="http://schemas.openxmlformats.org/drawingml/2006/main">
            <a:r>
              <a:t>- docs/LatexThesis/sections/01_introduction.tex</a:t>
            </a:r>
          </a:p>
          <a:p xmlns:a="http://schemas.openxmlformats.org/drawingml/2006/main">
            <a:r>
              <a:t>- docs/LatexThesis/sections/04_methodology.tex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1:25–2:20</a:t>
            </a:r>
          </a:p>
          <a:p xmlns:a="http://schemas.openxmlformats.org/drawingml/2006/main">
            <a:r>
              <a:t>FAIRLab connects six stages. I start from a heterogeneous image pool, validate and deduplicate it, and freeze 1,500 source images. I generate controlled perturbations, evaluate three transparent proxies and six commercial configurations, normalize the observable outputs, and interpret the results in forensic terms. Traceability runs through the complete process with identifiers, manifests, checksums, frozen configurations and source-to-output links.</a:t>
            </a:r>
          </a:p>
          <a:p xmlns:a="http://schemas.openxmlformats.org/drawingml/2006/main">
            <a:r>
              <a:t>Transition: This is the exact population behind every comparison.</a:t>
            </a:r>
          </a:p>
          <a:p xmlns:a="http://schemas.openxmlformats.org/drawingml/2006/main">
            <a:r>
              <a:t/>
            </a:r>
          </a:p>
          <a:p xmlns:a="http://schemas.openxmlformats.org/drawingml/2006/main">
            <a:r>
              <a:t>[Sources]</a:t>
            </a:r>
          </a:p>
          <a:p xmlns:a="http://schemas.openxmlformats.org/drawingml/2006/main">
            <a:r>
              <a:t>- docs/LatexThesis/sections/04_methodology.tex</a:t>
            </a:r>
          </a:p>
          <a:p xmlns:a="http://schemas.openxmlformats.org/drawingml/2006/main">
            <a:r>
              <a:t>- docs/LatexThesis/sections/05_implementation.tex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2:20–3:10</a:t>
            </a:r>
          </a:p>
          <a:p xmlns:a="http://schemas.openxmlformats.org/drawingml/2006/main">
            <a:r>
              <a:t>The frozen population contains 1,500 source images: 500 weapon, 500 non-weapon and 500 images in a separate OOD branch. The 1,000 binary images produce ten linked variants each, for 10,000 adversarial and anti-forensic files. Together with the clean sources, the tool-facing bundle contains 11,500 files. The variants remain linked to their sources; they are not 10,000 independent cases. OOD is evaluated separately, not as a third supervised class.</a:t>
            </a:r>
          </a:p>
          <a:p xmlns:a="http://schemas.openxmlformats.org/drawingml/2006/main">
            <a:r>
              <a:t>Transition: I used this same frozen population at two evidence levels.</a:t>
            </a:r>
          </a:p>
          <a:p xmlns:a="http://schemas.openxmlformats.org/drawingml/2006/main">
            <a:r>
              <a:t/>
            </a:r>
          </a:p>
          <a:p xmlns:a="http://schemas.openxmlformats.org/drawingml/2006/main">
            <a:r>
              <a:t>[Sources]</a:t>
            </a:r>
          </a:p>
          <a:p xmlns:a="http://schemas.openxmlformats.org/drawingml/2006/main">
            <a:r>
              <a:t>- docs/LatexThesis/sections/04_methodology.tex</a:t>
            </a:r>
          </a:p>
          <a:p xmlns:a="http://schemas.openxmlformats.org/drawingml/2006/main">
            <a:r>
              <a:t>- docs/LatexThesis/sections/05_implementation.tex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3:10–4:05</a:t>
            </a:r>
          </a:p>
          <a:p xmlns:a="http://schemas.openxmlformats.org/drawingml/2006/main">
            <a:r>
              <a:t>The first evidence level uses transparent proxy models: EfficientNet-B0, ResNet18 and a CLIP-based proxy. Here I can inspect predictions, gradients and fold-aware checkpoints. The second level uses four commercial black-box systems in six configurations, where only analyst-visible outputs are available. The threat model is essential: model-dependent attacks are direct only on EfficientNet-B0. On every other system, the same files measure empirical transfer. Color Shift and the five anti-forensic transformations are model-agnostic conditions.</a:t>
            </a:r>
          </a:p>
          <a:p xmlns:a="http://schemas.openxmlformats.org/drawingml/2006/main">
            <a:r>
              <a:t>Transition: Different outputs can be compared only after an explicit normalization step.</a:t>
            </a:r>
          </a:p>
          <a:p xmlns:a="http://schemas.openxmlformats.org/drawingml/2006/main">
            <a:r>
              <a:t/>
            </a:r>
          </a:p>
          <a:p xmlns:a="http://schemas.openxmlformats.org/drawingml/2006/main">
            <a:r>
              <a:t>[Sources]</a:t>
            </a:r>
          </a:p>
          <a:p xmlns:a="http://schemas.openxmlformats.org/drawingml/2006/main">
            <a:r>
              <a:t>- docs/LatexThesis/sections/00_abstract.tex</a:t>
            </a:r>
          </a:p>
          <a:p xmlns:a="http://schemas.openxmlformats.org/drawingml/2006/main">
            <a:r>
              <a:t>- docs/LatexThesis/sections/04_methodology.tex — evaluated systems and attack pathways</a:t>
            </a:r>
          </a:p>
          <a:p xmlns:a="http://schemas.openxmlformats.org/drawingml/2006/main">
            <a:r>
              <a:t>- evaluation/forensic_tools/tool_version_log.csv</a:t>
            </a:r>
          </a:p>
          <a:p xmlns:a="http://schemas.openxmlformats.org/drawingml/2006/main">
            <a:r>
              <a:t>- models/model_registry.json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4:05–4:50</a:t>
            </a:r>
          </a:p>
          <a:p xmlns:a="http://schemas.openxmlformats.org/drawingml/2006/main">
            <a:r>
              <a:t>Commercial tools expose tags, bookmarks, labels or retrieval results rather than one common prediction interface. I therefore freeze a mapping for every tool version and configuration and normalize each output into weapon, non-weapon or unknown. This makes directional errors comparable. The false-negative rate represents missed-target risk; the false-positive rate represents review workload. OOD weapon assignment is reported separately. No unknown state occurred in the 69,000 normalized commercial decisions, but the protocol keeps that state explicit.</a:t>
            </a:r>
          </a:p>
          <a:p xmlns:a="http://schemas.openxmlformats.org/drawingml/2006/main">
            <a:r>
              <a:t>Transition: With the comparison rules fixed, we can now examine the main results.</a:t>
            </a:r>
          </a:p>
          <a:p xmlns:a="http://schemas.openxmlformats.org/drawingml/2006/main">
            <a:r>
              <a:t/>
            </a:r>
          </a:p>
          <a:p xmlns:a="http://schemas.openxmlformats.org/drawingml/2006/main">
            <a:r>
              <a:t>[Sources]</a:t>
            </a:r>
          </a:p>
          <a:p xmlns:a="http://schemas.openxmlformats.org/drawingml/2006/main">
            <a:r>
              <a:t>- docs/LatexThesis/sections/05_implementation.tex — output normalization</a:t>
            </a:r>
          </a:p>
          <a:p xmlns:a="http://schemas.openxmlformats.org/drawingml/2006/main">
            <a:r>
              <a:t>- docs/LatexThesis/sections/06_results.tex — metric definitions and decision counts</a:t>
            </a:r>
          </a:p>
          <a:p xmlns:a="http://schemas.openxmlformats.org/drawingml/2006/main">
            <a:r>
              <a:t>- evaluation/forensic_tools/normalized_predictions_public_summary.json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4:50–5:55</a:t>
            </a:r>
          </a:p>
          <a:p xmlns:a="http://schemas.openxmlformats.org/drawingml/2006/main">
            <a:r>
              <a:t>EfficientNet-B0 reaches 97.8 percent clean accuracy. Under the strongest direct Sigma Zero condition, it falls to 1.5 percent: a drop of 96.3 percentage points. The same generated artifacts do not transfer uniformly. The worst transferred accuracies are 91.8 percent for ResNet18 and 91.4 percent for CLIP. These are different claims: the first is direct-target vulnerability; the others are empirical transfer. Aggregate anti-forensic effects are smaller, with a largest proxy drop of 3.0 points, but directional errors still matter.</a:t>
            </a:r>
          </a:p>
          <a:p xmlns:a="http://schemas.openxmlformats.org/drawingml/2006/main">
            <a:r>
              <a:t>Transition: The commercial-tool heatmap shows that transfer is also configuration-dependent.</a:t>
            </a:r>
          </a:p>
          <a:p xmlns:a="http://schemas.openxmlformats.org/drawingml/2006/main">
            <a:r>
              <a:t/>
            </a:r>
          </a:p>
          <a:p xmlns:a="http://schemas.openxmlformats.org/drawingml/2006/main">
            <a:r>
              <a:t>[Sources]</a:t>
            </a:r>
          </a:p>
          <a:p xmlns:a="http://schemas.openxmlformats.org/drawingml/2006/main">
            <a:r>
              <a:t>- results/metrics/proxy_model_clean_metrics.csv</a:t>
            </a:r>
          </a:p>
          <a:p xmlns:a="http://schemas.openxmlformats.org/drawingml/2006/main">
            <a:r>
              <a:t>- results/metrics/proxy_model_adversarial_metrics.csv</a:t>
            </a:r>
          </a:p>
          <a:p xmlns:a="http://schemas.openxmlformats.org/drawingml/2006/main">
            <a:r>
              <a:t>- results/metrics/proxy_model_anti_forensic_metrics.csv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5:55–7:00</a:t>
            </a:r>
          </a:p>
          <a:p xmlns:a="http://schemas.openxmlformats.org/drawingml/2006/main">
            <a:r>
              <a:t>This heatmap is the clearest publication visual for black-box transfer. I would not read every cell. The message is heterogeneity: the same EfficientNet-generated artifacts have different effects across tools and across settings of the same tool. The largest observed effects are Sigma Zero transfers on Excire D50 and D80, with drops of 20.2 and 25.8 percentage points. These are transfer results, not direct attacks on proprietary models, and they do not create a product ranking.</a:t>
            </a:r>
          </a:p>
          <a:p xmlns:a="http://schemas.openxmlformats.org/drawingml/2006/main">
            <a:r>
              <a:t>Transition: Configuration also changes the ordinary clean-condition error trade-off.</a:t>
            </a:r>
          </a:p>
          <a:p xmlns:a="http://schemas.openxmlformats.org/drawingml/2006/main">
            <a:r>
              <a:t/>
            </a:r>
          </a:p>
          <a:p xmlns:a="http://schemas.openxmlformats.org/drawingml/2006/main">
            <a:r>
              <a:t>[Sources]</a:t>
            </a:r>
          </a:p>
          <a:p xmlns:a="http://schemas.openxmlformats.org/drawingml/2006/main">
            <a:r>
              <a:t>- results/figures/chapter_5/fig_forensic_tools_adversarial_accuracy_drop_heatmap.png</a:t>
            </a:r>
          </a:p>
          <a:p xmlns:a="http://schemas.openxmlformats.org/drawingml/2006/main">
            <a:r>
              <a:t>- results/figures/chapter_5/tab_forensic_tools_worst_cases.csv</a:t>
            </a:r>
          </a:p>
          <a:p xmlns:a="http://schemas.openxmlformats.org/drawingml/2006/main">
            <a:r>
              <a:t>- FAIRLab manuscript, black-box transfer heatmap embedded in the source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7:00–8:05</a:t>
            </a:r>
          </a:p>
          <a:p xmlns:a="http://schemas.openxmlformats.org/drawingml/2006/main">
            <a:r>
              <a:t>One accuracy value is not enough. For Excire, moving from distance 20 to distance 80 reduces the missed-target rate from 12.0 to 1.4 percent. However, the false-positive rate rises from 2.6 to 15.6 percent, and OOD weapon assignment rises from 23.8 to 52.2 percent. A setting can therefore reduce silent misses while creating much more review work and more OOD routing. These rows are frozen operating profiles, not a universal ranking of products.</a:t>
            </a:r>
          </a:p>
          <a:p xmlns:a="http://schemas.openxmlformats.org/drawingml/2006/main">
            <a:r>
              <a:t>Transition: The separate OOD branch makes that third behavior visible.</a:t>
            </a:r>
          </a:p>
          <a:p xmlns:a="http://schemas.openxmlformats.org/drawingml/2006/main">
            <a:r>
              <a:t/>
            </a:r>
          </a:p>
          <a:p xmlns:a="http://schemas.openxmlformats.org/drawingml/2006/main">
            <a:r>
              <a:t>[Sources]</a:t>
            </a:r>
          </a:p>
          <a:p xmlns:a="http://schemas.openxmlformats.org/drawingml/2006/main">
            <a:r>
              <a:t>- results/figures/chapter_5/tab_forensic_tools_clean_metrics.csv</a:t>
            </a:r>
          </a:p>
          <a:p xmlns:a="http://schemas.openxmlformats.org/drawingml/2006/main">
            <a:r>
              <a:t>- results/figures/chapter_5/tab_forensic_tools_ood_metrics.csv</a:t>
            </a:r>
          </a:p>
          <a:p xmlns:a="http://schemas.openxmlformats.org/drawingml/2006/main">
            <a:r>
              <a:t>- docs/LatexThesis/sections/07_conclusions.tex — RQ3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8:05–8:55</a:t>
            </a:r>
          </a:p>
          <a:p xmlns:a="http://schemas.openxmlformats.org/drawingml/2006/main">
            <a:r>
              <a:t>Every evaluated system assigns at least some OOD images to the weapon-oriented state. The CLIP proxy reaches 83.6 percent, while the commercial configurations range from 23.8 to 52.2 percent. For CLIP, 500 OOD images are evaluated by five fold-specific checkpoints, so 83.6 percent refers to 2,500 responses. Each commercial rate uses one normalized decision per image. These values are not supervised false-positive rates; they describe closed-set operating behavior.</a:t>
            </a:r>
          </a:p>
          <a:p xmlns:a="http://schemas.openxmlformats.org/drawingml/2006/main">
            <a:r>
              <a:t>Transition: One explainability case shows why even a very concentrated output is not a guarantee.</a:t>
            </a:r>
          </a:p>
          <a:p xmlns:a="http://schemas.openxmlformats.org/drawingml/2006/main">
            <a:r>
              <a:t/>
            </a:r>
          </a:p>
          <a:p xmlns:a="http://schemas.openxmlformats.org/drawingml/2006/main">
            <a:r>
              <a:t>[Sources]</a:t>
            </a:r>
          </a:p>
          <a:p xmlns:a="http://schemas.openxmlformats.org/drawingml/2006/main">
            <a:r>
              <a:t>- results/metrics/proxy_model_ood_metrics.csv</a:t>
            </a:r>
          </a:p>
          <a:p xmlns:a="http://schemas.openxmlformats.org/drawingml/2006/main">
            <a:r>
              <a:t>- results/figures/chapter_5/tab_forensic_tools_ood_metrics.csv</a:t>
            </a:r>
          </a:p>
          <a:p xmlns:a="http://schemas.openxmlformats.org/drawingml/2006/main">
            <a:r>
              <a:t>- docs/LatexThesis/sections/05_implementation.tex — OOD denominator rule</a:t>
            </a:r>
          </a:p>
          <a:p xmlns:a="http://schemas.openxmlformats.org/drawingml/2006/main">
            <a:r>
              <a:t>- docs/LatexThesis/sections/07_conclusions.tex — RQ1, RQ3 and RQ4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8:55–9:45</a:t>
            </a:r>
          </a:p>
          <a:p xmlns:a="http://schemas.openxmlformats.org/drawingml/2006/main">
            <a:r>
              <a:t>In case 0015, the reference class is non-weapon. After Sigma Zero, the proxy predicts weapon with a maximum predicted-class probability of 1.000. Integrated Gradients helps inspect where this selected proxy response is concentrated, but the claim is deliberately limited. The attribution is a qualitative diagnostic. It does not certify correctness, calibrate confidence or explain the internal behavior of a proprietary tool.</a:t>
            </a:r>
          </a:p>
          <a:p xmlns:a="http://schemas.openxmlformats.org/drawingml/2006/main">
            <a:r>
              <a:t>Transition: These findings lead to a clear operational rule.</a:t>
            </a:r>
          </a:p>
          <a:p xmlns:a="http://schemas.openxmlformats.org/drawingml/2006/main">
            <a:r>
              <a:t/>
            </a:r>
          </a:p>
          <a:p xmlns:a="http://schemas.openxmlformats.org/drawingml/2006/main">
            <a:r>
              <a:t>[Sources]</a:t>
            </a:r>
          </a:p>
          <a:p xmlns:a="http://schemas.openxmlformats.org/drawingml/2006/main">
            <a:r>
              <a:t>- docs/LatexThesis/sections/06_results.tex — maximum-probability adversarial false positive</a:t>
            </a:r>
          </a:p>
          <a:p xmlns:a="http://schemas.openxmlformats.org/drawingml/2006/main">
            <a:r>
              <a:t>- docs/LatexThesis/images/fig_xai_case5_adversarial_high_conf_failure_input.png</a:t>
            </a:r>
          </a:p>
          <a:p xmlns:a="http://schemas.openxmlformats.org/drawingml/2006/main">
            <a:r>
              <a:t>- docs/LatexThesis/images/fig_xai_case5_adversarial_high_conf_failure_heatmap.png</a:t>
            </a:r>
          </a:p>
          <a:p xmlns:a="http://schemas.openxmlformats.org/drawingml/2006/main">
            <a:r>
              <a:t>- docs/LatexThesis/images/fig_xai_case5_adversarial_high_conf_failure_overlay.png</a:t>
            </a:r>
          </a:p>
          <a:p xmlns:a="http://schemas.openxmlformats.org/drawingml/2006/main">
            <a:r>
              <a:t>- explainability/manifests/chapter5/thesis_selection.csv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9:45–10:40</a:t>
            </a:r>
          </a:p>
          <a:p xmlns:a="http://schemas.openxmlformats.org/drawingml/2006/main">
            <a:r>
              <a:t>AI can still be useful, but it should create a prioritized queue rather than an irreversible exclusion. The analyst reviews the context and makes the final decision. Every action should preserve the tool version, configuration, output mapping and validation context. This keeps the efficiency benefit while making the process reviewable and defensible. The practical rule is simple: use AI to prioritize evidence review, never to silently exclude evidence.</a:t>
            </a:r>
          </a:p>
          <a:p xmlns:a="http://schemas.openxmlformats.org/drawingml/2006/main">
            <a:r>
              <a:t>Transition: Before I close, I will state the boundaries that keep this result defensible.</a:t>
            </a:r>
          </a:p>
          <a:p xmlns:a="http://schemas.openxmlformats.org/drawingml/2006/main">
            <a:r>
              <a:t/>
            </a:r>
          </a:p>
          <a:p xmlns:a="http://schemas.openxmlformats.org/drawingml/2006/main">
            <a:r>
              <a:t>[Sources]</a:t>
            </a:r>
          </a:p>
          <a:p xmlns:a="http://schemas.openxmlformats.org/drawingml/2006/main">
            <a:r>
              <a:t>- docs/LatexThesis/sections/07_conclusions.tex — operational implications and recommendations</a:t>
            </a:r>
          </a:p>
          <a:p xmlns:a="http://schemas.openxmlformats.org/drawingml/2006/main">
            <a:r>
              <a:t>- docs/LatexThesis/sections/00_abstract.tex — concluding paragraph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10:40–11:25</a:t>
            </a:r>
          </a:p>
          <a:p xmlns:a="http://schemas.openxmlformats.org/drawingml/2006/main">
            <a:r>
              <a:t>The strongest limitations are the 1,500-image single-reviewer corpus, one frozen parameter setting per perturbation, direct attacks only on EfficientNet-B0, and version-dependent black-box outputs. Fifteen of 11,500 files matched a predefined sensitive metadata term. Leave-out differences were small, but this does not prove causal irrelevance for every decision. The work makes no legal-admissibility, certification or universal-ranking claim.</a:t>
            </a:r>
          </a:p>
          <a:p xmlns:a="http://schemas.openxmlformats.org/drawingml/2006/main">
            <a:r>
              <a:t>Transition: I will finish with three points to remember.</a:t>
            </a:r>
          </a:p>
          <a:p xmlns:a="http://schemas.openxmlformats.org/drawingml/2006/main">
            <a:r>
              <a:t/>
            </a:r>
          </a:p>
          <a:p xmlns:a="http://schemas.openxmlformats.org/drawingml/2006/main">
            <a:r>
              <a:t>[Sources]</a:t>
            </a:r>
          </a:p>
          <a:p xmlns:a="http://schemas.openxmlformats.org/drawingml/2006/main">
            <a:r>
              <a:t>- results/figures/chapter_5/embedded_metadata_sensitivity_summary.json</a:t>
            </a:r>
          </a:p>
          <a:p xmlns:a="http://schemas.openxmlformats.org/drawingml/2006/main">
            <a:r>
              <a:t>- docs/LatexThesis/sections/06_results.tex</a:t>
            </a:r>
          </a:p>
          <a:p xmlns:a="http://schemas.openxmlformats.org/drawingml/2006/main">
            <a:r>
              <a:t>- docs/LatexThesis/sections/07_conclusions.tex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11:25–12:15</a:t>
            </a:r>
          </a:p>
          <a:p xmlns:a="http://schemas.openxmlformats.org/drawingml/2006/main">
            <a:r>
              <a:t>First, clean performance is only a baseline; robustness depends on the condition. Second, direct attacks, empirical transfer, OOD behavior and configuration trade-offs are distinct dimensions and must not be mixed. Third, FAIRLab makes those dimensions traceable, auditable and reviewable by a forensic expert. The final message is: AI can prioritize evidence, but it must not silently exclude it. Thank you. I am happy to take your questions.</a:t>
            </a:r>
          </a:p>
          <a:p xmlns:a="http://schemas.openxmlformats.org/drawingml/2006/main">
            <a:r>
              <a:t/>
            </a:r>
          </a:p>
          <a:p xmlns:a="http://schemas.openxmlformats.org/drawingml/2006/main">
            <a:r>
              <a:t>Backup map for Presenter View:</a:t>
            </a:r>
          </a:p>
          <a:p xmlns:a="http://schemas.openxmlformats.org/drawingml/2006/main">
            <a:r>
              <a:t>B1 formal research questions · B2 perturbation overview · B3 traceability · B4 exact commercial metrics · B5 adversarial parameters · B6 anti-forensic parameters · B7 output normalization · B8 formulas and denominators · B9 limitations and future validation.</a:t>
            </a:r>
          </a:p>
          <a:p xmlns:a="http://schemas.openxmlformats.org/drawingml/2006/main">
            <a:r>
              <a:t/>
            </a:r>
          </a:p>
          <a:p xmlns:a="http://schemas.openxmlformats.org/drawingml/2006/main">
            <a:r>
              <a:t>[Sources]</a:t>
            </a:r>
          </a:p>
          <a:p xmlns:a="http://schemas.openxmlformats.org/drawingml/2006/main">
            <a:r>
              <a:t>- docs/LatexThesis/sections/07_conclusions.tex</a:t>
            </a:r>
          </a:p>
          <a:p xmlns:a="http://schemas.openxmlformats.org/drawingml/2006/main">
            <a:r>
              <a:t>- docs/LatexSlides/assets/logo_RGB.png; theme license in docs/LatexSlides/LICENSE.txt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B1 · Research questions</a:t>
            </a:r>
          </a:p>
          <a:p xmlns:a="http://schemas.openxmlformats.org/drawingml/2006/main">
            <a:r>
              <a:t>Use this slide if the commission asks how the thesis claims map to the formal research questions. Answer briefly: RQ1 covers clean, OOD, adversarial and anti-forensic behavior of the proxies; RQ2 separates direct attack, transfer and model-agnostic conditions; RQ3 concerns black-box outputs and configuration profiles; RQ4 connects directional errors and OOD routing to continued human review. Repeat that the assessment is protocol-specific, not certification or legal validation.</a:t>
            </a:r>
          </a:p>
          <a:p xmlns:a="http://schemas.openxmlformats.org/drawingml/2006/main">
            <a:r>
              <a:t/>
            </a:r>
          </a:p>
          <a:p xmlns:a="http://schemas.openxmlformats.org/drawingml/2006/main">
            <a:r>
              <a:t>[Sources]</a:t>
            </a:r>
          </a:p>
          <a:p xmlns:a="http://schemas.openxmlformats.org/drawingml/2006/main">
            <a:r>
              <a:t>- docs/LatexThesis/sections/01_introduction.tex — Research Questions</a:t>
            </a:r>
          </a:p>
          <a:p xmlns:a="http://schemas.openxmlformats.org/drawingml/2006/main">
            <a:r>
              <a:t>- docs/LatexThesis/sections/07_conclusions.tex — Answers to the Research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B2 · Perturbation suite</a:t>
            </a:r>
          </a:p>
          <a:p xmlns:a="http://schemas.openxmlformats.org/drawingml/2006/main">
            <a:r>
              <a:t>Use this slide if the commission asks which conditions were evaluated. The adversarial or adversarial-style group includes FGSM, One Pixel, Sigma Zero, SuperDeepFool and deterministic model-agnostic Color Shift. The anti-forensic group includes JPEG recompression, resampling, Gaussian blur, histogram modification and contrast stretching. Stress again that model-dependent attacks are direct only on EfficientNet-B0 and are transfer tests elsewhere.</a:t>
            </a:r>
          </a:p>
          <a:p xmlns:a="http://schemas.openxmlformats.org/drawingml/2006/main">
            <a:r>
              <a:t/>
            </a:r>
          </a:p>
          <a:p xmlns:a="http://schemas.openxmlformats.org/drawingml/2006/main">
            <a:r>
              <a:t>[Sources]</a:t>
            </a:r>
          </a:p>
          <a:p xmlns:a="http://schemas.openxmlformats.org/drawingml/2006/main">
            <a:r>
              <a:t>- docs/LatexThesis/sections/04_methodology.tex — perturbation definitions</a:t>
            </a:r>
          </a:p>
          <a:p xmlns:a="http://schemas.openxmlformats.org/drawingml/2006/main">
            <a:r>
              <a:t>- attacks/manifests/README.md</a:t>
            </a:r>
          </a:p>
          <a:p xmlns:a="http://schemas.openxmlformats.org/drawingml/2006/main">
            <a:r>
              <a:t>- docs/LatexThesis/sections/07_conclusions.tex — RQ2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B3 · Traceability and reproducibility</a:t>
            </a:r>
          </a:p>
          <a:p xmlns:a="http://schemas.openxmlformats.org/drawingml/2006/main">
            <a:r>
              <a:t>Use this slide if the commission asks how a reported number can be audited. Start from the source manifest, follow the source-condition identifier to the derived file, then to the proxy or tool output, the normalized operational state, the metric table and the final figure. SHA-256 digests, frozen registries and explicit mapping rules protect this chain.</a:t>
            </a:r>
          </a:p>
          <a:p xmlns:a="http://schemas.openxmlformats.org/drawingml/2006/main">
            <a:r>
              <a:t/>
            </a:r>
          </a:p>
          <a:p xmlns:a="http://schemas.openxmlformats.org/drawingml/2006/main">
            <a:r>
              <a:t>[Sources]</a:t>
            </a:r>
          </a:p>
          <a:p xmlns:a="http://schemas.openxmlformats.org/drawingml/2006/main">
            <a:r>
              <a:t>- docs/artifact/THESIS_ARTIFACT.md</a:t>
            </a:r>
          </a:p>
          <a:p xmlns:a="http://schemas.openxmlformats.org/drawingml/2006/main">
            <a:r>
              <a:t>- docs/artifact/REPRODUCIBILITY.md</a:t>
            </a:r>
          </a:p>
          <a:p xmlns:a="http://schemas.openxmlformats.org/drawingml/2006/main">
            <a:r>
              <a:t>- docs/artifact/CONTROLLED_ARTIFACT_CHECKSUMS.sha256</a:t>
            </a:r>
          </a:p>
          <a:p xmlns:a="http://schemas.openxmlformats.org/drawingml/2006/main">
            <a:r>
              <a:t>- docs/LatexThesis/sections/05_implementation.tex — traceability and integrity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B4 · Exact commercial metrics</a:t>
            </a:r>
          </a:p>
          <a:p xmlns:a="http://schemas.openxmlformats.org/drawingml/2006/main">
            <a:r>
              <a:t>Use this table only for a numerical question about one commercial configuration. Keep clean binary metrics and OOD routing separate. The strongest clean accuracy in this frozen comparison is 97.8 percent for Griffeye/T3K, but the rows are operating profiles under specific versions and settings; they do not establish a general product ranking.</a:t>
            </a:r>
          </a:p>
          <a:p xmlns:a="http://schemas.openxmlformats.org/drawingml/2006/main">
            <a:r>
              <a:t/>
            </a:r>
          </a:p>
          <a:p xmlns:a="http://schemas.openxmlformats.org/drawingml/2006/main">
            <a:r>
              <a:t>[Sources]</a:t>
            </a:r>
          </a:p>
          <a:p xmlns:a="http://schemas.openxmlformats.org/drawingml/2006/main">
            <a:r>
              <a:t>- results/figures/chapter_5/tab_forensic_tools_clean_metrics.csv</a:t>
            </a:r>
          </a:p>
          <a:p xmlns:a="http://schemas.openxmlformats.org/drawingml/2006/main">
            <a:r>
              <a:t>- results/figures/chapter_5/tab_forensic_tools_ood_metrics.csv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B5 · Frozen adversarial settings</a:t>
            </a:r>
          </a:p>
          <a:p xmlns:a="http://schemas.openxmlformats.org/drawingml/2006/main">
            <a:r>
              <a:t>Use this slide if the commission asks whether the attacks were reproducible or which parameters were fixed. FGSM is untargeted with ε = 8/255 in pixel space. One Pixel uses Differential Evolution over x, y, R, G and B, with 50 iterations, an effective population of approximately 100, seed 42 and early stopping after misclassification. Sigma Zero uses 1,000 steps, η₀ = 1.0, σ = 0.001 and τ₀ = 0.3. SuperDeepFool uses SDF(∞,1), 20 outer iterations, 50 DeepFool iterations and one projection step. All model-dependent conditions target the fold-aware EfficientNet-B0 checkpoint. Color Shift is model-agnostic.</a:t>
            </a:r>
          </a:p>
          <a:p xmlns:a="http://schemas.openxmlformats.org/drawingml/2006/main">
            <a:r>
              <a:t/>
            </a:r>
          </a:p>
          <a:p xmlns:a="http://schemas.openxmlformats.org/drawingml/2006/main">
            <a:r>
              <a:t>[Sources]</a:t>
            </a:r>
          </a:p>
          <a:p xmlns:a="http://schemas.openxmlformats.org/drawingml/2006/main">
            <a:r>
              <a:t>- docs/LatexThesis/sections/05_implementation.tex — Table: Frozen adversarial and adversarial-style generation parameters</a:t>
            </a:r>
          </a:p>
          <a:p xmlns:a="http://schemas.openxmlformats.org/drawingml/2006/main">
            <a:r>
              <a:t>- attacks/manifests/README.md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B6 · Frozen anti-forensic settings</a:t>
            </a:r>
          </a:p>
          <a:p xmlns:a="http://schemas.openxmlformats.org/drawingml/2006/main">
            <a:r>
              <a:t>Use this slide if the commission asks how the anti-forensic transformations were controlled. JPEG recompression uses quality 70 without changing dimensions. Resize downsamples to 50 percent and restores the original dimensions with bicubic interpolation. Gaussian blur uses radius 1.5. Histogram modification applies per-channel equalization, while contrast stretching uses autocontrast with a 1 percent cutoff. The four transformations other than the dedicated recompression condition are serialized at JPEG quality 95. Each condition is model-agnostic and uses one frozen setting.</a:t>
            </a:r>
          </a:p>
          <a:p xmlns:a="http://schemas.openxmlformats.org/drawingml/2006/main">
            <a:r>
              <a:t/>
            </a:r>
          </a:p>
          <a:p xmlns:a="http://schemas.openxmlformats.org/drawingml/2006/main">
            <a:r>
              <a:t>[Sources]</a:t>
            </a:r>
          </a:p>
          <a:p xmlns:a="http://schemas.openxmlformats.org/drawingml/2006/main">
            <a:r>
              <a:t>- docs/LatexThesis/sections/05_implementation.tex — Table: Frozen anti-forensic transformation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B7 · Black-box output normalization</a:t>
            </a:r>
          </a:p>
          <a:p xmlns:a="http://schemas.openxmlformats.org/drawingml/2006/main">
            <a:r>
              <a:t>Use this slide if the commission asks how unlike commercial outputs were made comparable. Magnet uses its Possible weapons tag; Griffeye/T3K uses the CORE/Violence/Firearm bookmark; Excire uses membership in at least one of eight frozen firearm-oriented prompt hit lists, keeping D20, D50 and D80 separate; Cellebrite uses the Armi, Pistola or Fucile classifications. The frozen rules convert observable states to true, false or unsupported, and then to weapon, non_weapon or unknown. Unsupported values are never silently treated as negative. No unknown decision occurred in the final 69,000-row population.</a:t>
            </a:r>
          </a:p>
          <a:p xmlns:a="http://schemas.openxmlformats.org/drawingml/2006/main">
            <a:r>
              <a:t/>
            </a:r>
          </a:p>
          <a:p xmlns:a="http://schemas.openxmlformats.org/drawingml/2006/main">
            <a:r>
              <a:t>[Sources]</a:t>
            </a:r>
          </a:p>
          <a:p xmlns:a="http://schemas.openxmlformats.org/drawingml/2006/main">
            <a:r>
              <a:t>- docs/LatexThesis/sections/05_implementation.tex — Output Matching and Normalization; frozen mapping table</a:t>
            </a:r>
          </a:p>
          <a:p xmlns:a="http://schemas.openxmlformats.org/drawingml/2006/main">
            <a:r>
              <a:t>- evaluation/forensic_tools/normalized_predictions_public_summary.json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B8 · Metric formulas and denominators</a:t>
            </a:r>
          </a:p>
          <a:p xmlns:a="http://schemas.openxmlformats.org/drawingml/2006/main">
            <a:r>
              <a:t>Use this slide for a question about metric interpretation. Accuracy summarizes correct binary decisions. FNR is FN divided by TP plus FN and corresponds to missed-target risk. FPR is FP divided by FP plus TN and corresponds to additional review workload. OOD weapon assignment is reported separately because OOD images do not belong to the supervised weapon/non-weapon task. Proxy OOD values aggregate five fold-specific responses for each of 500 images, so the denominator is 2,500. Each commercial configuration produces one decision per OOD image, so its denominator is 500. Unknown outputs are excluded from binary denominators and reported separately.</a:t>
            </a:r>
          </a:p>
          <a:p xmlns:a="http://schemas.openxmlformats.org/drawingml/2006/main">
            <a:r>
              <a:t/>
            </a:r>
          </a:p>
          <a:p xmlns:a="http://schemas.openxmlformats.org/drawingml/2006/main">
            <a:r>
              <a:t>[Sources]</a:t>
            </a:r>
          </a:p>
          <a:p xmlns:a="http://schemas.openxmlformats.org/drawingml/2006/main">
            <a:r>
              <a:t>- docs/LatexThesis/sections/05_implementation.tex — metric computation and OOD denominator rule</a:t>
            </a:r>
          </a:p>
          <a:p xmlns:a="http://schemas.openxmlformats.org/drawingml/2006/main">
            <a:r>
              <a:t>- docs/LatexThesis/sections/06_results.tex — reported metric definitions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B9 · Limitations and future validation</a:t>
            </a:r>
          </a:p>
          <a:p xmlns:a="http://schemas.openxmlformats.org/drawingml/2006/main">
            <a:r>
              <a:t>Use this slide if the commission asks how the work should be extended. The next step is not merely to seek higher accuracy. It is to test whether the observed operating profiles remain stable across larger and more heterogeneous multi-reviewer datasets, parameter sweeps and adaptive attacks, repeated commercial-tool versions, additional media modalities and stronger audit controls. These directions address the current boundaries without changing the central requirement: every extension must remain traceable and reviewable by a forensic expert.</a:t>
            </a:r>
          </a:p>
          <a:p xmlns:a="http://schemas.openxmlformats.org/drawingml/2006/main">
            <a:r>
              <a:t/>
            </a:r>
          </a:p>
          <a:p xmlns:a="http://schemas.openxmlformats.org/drawingml/2006/main">
            <a:r>
              <a:t>[Sources]</a:t>
            </a:r>
          </a:p>
          <a:p xmlns:a="http://schemas.openxmlformats.org/drawingml/2006/main">
            <a:r>
              <a:t>- docs/LatexThesis/sections/07_conclusions.tex — limitations and future work</a:t>
            </a:r>
          </a:p>
          <a:p xmlns:a="http://schemas.openxmlformats.org/drawingml/2006/main">
            <a:r>
              <a:t>- docs/LatexThesis/sections/04_methodology.tex — protocol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a30e3ba96e42e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a4622a354e743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8f7cbae9af1469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32bc1c8391b4f3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4c36c3fce4846e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e41fd890a3f4b0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3110cac81f744c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6e76dec52bd4c6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b3d7a621bf44bc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cc8769c88604d8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cc71a5986b745ff"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B8DB6DC-E063-4C95-B7B6-18A89B193093}"/>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0B6458F3-DEF4-4E74-90D7-A6CFC6E9EEC7}"/>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668E6159-AEF2-436B-AD0D-300A104E7B1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9/4/2026</a:t>
            </a:fld>
            <a:endParaRPr/>
          </a:p>
        </p:txBody>
      </p:sp>
      <p:sp>
        <p:nvSpPr>
          <p:cNvPr id="5" name="Footer Placeholder 4">
            <a:extLst xmlns:a="http://schemas.openxmlformats.org/drawingml/2006/main">
              <a:ext uri="{FF2B5EF4-FFF2-40B4-BE49-F238E27FC236}">
                <a16:creationId xmlns:a16="http://schemas.microsoft.com/office/drawing/2014/main" id="{8D0553C7-FFA7-49E1-A235-16CA36E4E67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C081E00-2BEC-4075-90C4-CFC44EDE307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FCDCDE2-EC61-4F5B-880C-33A7790A7C4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79B4628-C1DE-40AC-BDA3-B903DF2A3846}"/>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AFDE277-33BE-4446-97AE-44467DBA3D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9/4/2026</a:t>
            </a:fld>
            <a:endParaRPr/>
          </a:p>
        </p:txBody>
      </p:sp>
      <p:sp>
        <p:nvSpPr>
          <p:cNvPr id="5" name="Footer Placeholder 4">
            <a:extLst xmlns:a="http://schemas.openxmlformats.org/drawingml/2006/main">
              <a:ext uri="{FF2B5EF4-FFF2-40B4-BE49-F238E27FC236}">
                <a16:creationId xmlns:a16="http://schemas.microsoft.com/office/drawing/2014/main" id="{3B517663-0F9B-47BC-BDE8-9142A67B5E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B0C35A8-30BB-466D-92CB-18D51542872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818B1F-DD36-4780-BFC5-310492F5FE4C}"/>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B860CB1-3D2D-4251-9A8A-4FF50D93991F}"/>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75557EC-AFCA-4E22-9F26-0FB019F0BA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9/4/2026</a:t>
            </a:fld>
            <a:endParaRPr/>
          </a:p>
        </p:txBody>
      </p:sp>
      <p:sp>
        <p:nvSpPr>
          <p:cNvPr id="5" name="Footer Placeholder 4">
            <a:extLst xmlns:a="http://schemas.openxmlformats.org/drawingml/2006/main">
              <a:ext uri="{FF2B5EF4-FFF2-40B4-BE49-F238E27FC236}">
                <a16:creationId xmlns:a16="http://schemas.microsoft.com/office/drawing/2014/main" id="{175A50AD-4A24-409F-A142-AE6C1EE1ACE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B1A7DB3-0CCE-4B73-823D-F04AC0D1EB4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C5CD41A-3909-47A2-95D9-38FEE703760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B5B6AAF-BEEA-4CEA-A916-D654B1375A59}"/>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C389DD6A-2D90-4166-A9EE-903D16CAA7BF}"/>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780A4F4A-B7E3-4623-9AEA-A4CD8EAECF4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9/4/2026</a:t>
            </a:fld>
            <a:endParaRPr/>
          </a:p>
        </p:txBody>
      </p:sp>
      <p:sp>
        <p:nvSpPr>
          <p:cNvPr id="6" name="Footer Placeholder 5">
            <a:extLst xmlns:a="http://schemas.openxmlformats.org/drawingml/2006/main">
              <a:ext uri="{FF2B5EF4-FFF2-40B4-BE49-F238E27FC236}">
                <a16:creationId xmlns:a16="http://schemas.microsoft.com/office/drawing/2014/main" id="{C2CC5959-F783-4E91-B12E-EDAD95F108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91C8CAC-6FA5-4F6C-A71A-27061AB321D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C5CE595-36FE-428E-BE96-BD221BACB6C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3819F1B-B435-4117-AA3D-8C0CAF9C30BC}"/>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CE6DA375-0CC3-4E73-9EB5-CCB3FD21EF5B}"/>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2F7DD439-42EA-45E1-BDE6-318C9D104E42}"/>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746805BB-EB86-4603-A671-DC22CC8DF44C}"/>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2A69D72F-70A5-4C5C-AD07-00B42AB268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9/4/2026</a:t>
            </a:fld>
            <a:endParaRPr/>
          </a:p>
        </p:txBody>
      </p:sp>
      <p:sp>
        <p:nvSpPr>
          <p:cNvPr id="8" name="Footer Placeholder 7">
            <a:extLst xmlns:a="http://schemas.openxmlformats.org/drawingml/2006/main">
              <a:ext uri="{FF2B5EF4-FFF2-40B4-BE49-F238E27FC236}">
                <a16:creationId xmlns:a16="http://schemas.microsoft.com/office/drawing/2014/main" id="{099064B0-BBC0-4762-A0C7-CFB35B3E0F4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6215CA60-B417-4C38-9CEF-45D71C32AA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D7578BC-66CB-4605-8371-D7CE3C09688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3FA87690-DE1A-4C8D-BDDE-AD99E99A5C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9/4/2026</a:t>
            </a:fld>
            <a:endParaRPr/>
          </a:p>
        </p:txBody>
      </p:sp>
      <p:sp>
        <p:nvSpPr>
          <p:cNvPr id="4" name="Footer Placeholder 3">
            <a:extLst xmlns:a="http://schemas.openxmlformats.org/drawingml/2006/main">
              <a:ext uri="{FF2B5EF4-FFF2-40B4-BE49-F238E27FC236}">
                <a16:creationId xmlns:a16="http://schemas.microsoft.com/office/drawing/2014/main" id="{3F680584-8E32-4755-A818-91F7B782EE2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8779BFB0-617E-429E-B7B9-7C6BB54E17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3FE7E42A-7458-42ED-A3B7-AD723AA2CC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9/4/2026</a:t>
            </a:fld>
            <a:endParaRPr/>
          </a:p>
        </p:txBody>
      </p:sp>
      <p:sp>
        <p:nvSpPr>
          <p:cNvPr id="3" name="Footer Placeholder 2">
            <a:extLst xmlns:a="http://schemas.openxmlformats.org/drawingml/2006/main">
              <a:ext uri="{FF2B5EF4-FFF2-40B4-BE49-F238E27FC236}">
                <a16:creationId xmlns:a16="http://schemas.microsoft.com/office/drawing/2014/main" id="{8761F3E5-4678-4403-B401-D64A135C4E7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AC9EF1D2-B6B8-45DA-B76E-8FA56FDEE90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72A6176-68E0-4FA0-9BDC-287A293ED3D1}"/>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F26C89E-D46D-4222-8E58-66D988513029}"/>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9541E7EA-2690-4907-A27C-945DDB4C41DA}"/>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B577236-C748-4945-88C1-A0D7A3F00B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9/4/2026</a:t>
            </a:fld>
            <a:endParaRPr/>
          </a:p>
        </p:txBody>
      </p:sp>
      <p:sp>
        <p:nvSpPr>
          <p:cNvPr id="6" name="Footer Placeholder 5">
            <a:extLst xmlns:a="http://schemas.openxmlformats.org/drawingml/2006/main">
              <a:ext uri="{FF2B5EF4-FFF2-40B4-BE49-F238E27FC236}">
                <a16:creationId xmlns:a16="http://schemas.microsoft.com/office/drawing/2014/main" id="{C6010D2C-380A-4777-B04C-010EC9C3366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FEF9276-37EF-4AB6-9801-C549160E029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71FC540-6228-445D-86C0-D79BF7AA0DC2}"/>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2312FC71-A96C-44BB-A277-8A81822FE9A2}"/>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340EBC7F-89EB-4D1A-965E-6EB9F82A4926}"/>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7EF697E-1F7D-42F8-9E1A-0EC7F1A3B3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9/4/2026</a:t>
            </a:fld>
            <a:endParaRPr/>
          </a:p>
        </p:txBody>
      </p:sp>
      <p:sp>
        <p:nvSpPr>
          <p:cNvPr id="6" name="Footer Placeholder 5">
            <a:extLst xmlns:a="http://schemas.openxmlformats.org/drawingml/2006/main">
              <a:ext uri="{FF2B5EF4-FFF2-40B4-BE49-F238E27FC236}">
                <a16:creationId xmlns:a16="http://schemas.microsoft.com/office/drawing/2014/main" id="{FF0F8D75-D6BB-4D73-9D65-D17EA5BB52A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B7FB32C-3732-44E4-9220-E015D01AB6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BFC8B4B-CC31-495B-A04F-A6C392A2380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A7DADADB-A65B-4E39-8B9D-8CAE0D78A24F}"/>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DE9904A-A67A-4F38-BF91-4D30D967DCF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9/4/2026</a:t>
            </a:fld>
            <a:endParaRPr/>
          </a:p>
        </p:txBody>
      </p:sp>
      <p:sp>
        <p:nvSpPr>
          <p:cNvPr id="5" name="Footer Placeholder 4">
            <a:extLst xmlns:a="http://schemas.openxmlformats.org/drawingml/2006/main">
              <a:ext uri="{FF2B5EF4-FFF2-40B4-BE49-F238E27FC236}">
                <a16:creationId xmlns:a16="http://schemas.microsoft.com/office/drawing/2014/main" id="{FB20E72A-1994-4537-86B6-465DABE14D5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34082B7-07AA-4036-9DDD-DC724348399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4F0B8711-C9F4-413D-8B29-0029BDA2BE21}"/>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950DE2CF-B073-4D05-9BF4-0AFDD831769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3FA55F7D-C61A-43EC-BDE6-728D1D6489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9/4/2026</a:t>
            </a:fld>
            <a:endParaRPr/>
          </a:p>
        </p:txBody>
      </p:sp>
      <p:sp>
        <p:nvSpPr>
          <p:cNvPr id="5" name="Footer Placeholder 4">
            <a:extLst xmlns:a="http://schemas.openxmlformats.org/drawingml/2006/main">
              <a:ext uri="{FF2B5EF4-FFF2-40B4-BE49-F238E27FC236}">
                <a16:creationId xmlns:a16="http://schemas.microsoft.com/office/drawing/2014/main" id="{B307FD32-5EAC-4BCB-9FF0-E6F3F49021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31DE324-D168-4B61-BF7A-4C9215F4B2B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6250c469c04d99" /><Relationship Type="http://schemas.openxmlformats.org/officeDocument/2006/relationships/slideLayout" Target="/ppt/slideLayouts/slideLayout1.xml" Id="Rd576f83537064978" /><Relationship Type="http://schemas.openxmlformats.org/officeDocument/2006/relationships/slideLayout" Target="/ppt/slideLayouts/slideLayout2.xml" Id="R4571bbe0a5f344fc" /><Relationship Type="http://schemas.openxmlformats.org/officeDocument/2006/relationships/slideLayout" Target="/ppt/slideLayouts/slideLayout3.xml" Id="R733ce7ab4f6046cf" /><Relationship Type="http://schemas.openxmlformats.org/officeDocument/2006/relationships/slideLayout" Target="/ppt/slideLayouts/slideLayout4.xml" Id="R2ca4ed77ae804494" /><Relationship Type="http://schemas.openxmlformats.org/officeDocument/2006/relationships/slideLayout" Target="/ppt/slideLayouts/slideLayout5.xml" Id="Rfcaa355f0a704aac" /><Relationship Type="http://schemas.openxmlformats.org/officeDocument/2006/relationships/slideLayout" Target="/ppt/slideLayouts/slideLayout6.xml" Id="R4dedec43480740d4" /><Relationship Type="http://schemas.openxmlformats.org/officeDocument/2006/relationships/slideLayout" Target="/ppt/slideLayouts/slideLayout7.xml" Id="R2cbae81ae20d4222" /><Relationship Type="http://schemas.openxmlformats.org/officeDocument/2006/relationships/slideLayout" Target="/ppt/slideLayouts/slideLayout8.xml" Id="R3a3a120e38064a64" /><Relationship Type="http://schemas.openxmlformats.org/officeDocument/2006/relationships/slideLayout" Target="/ppt/slideLayouts/slideLayout9.xml" Id="Reccb7ed7ac5846e2" /><Relationship Type="http://schemas.openxmlformats.org/officeDocument/2006/relationships/slideLayout" Target="/ppt/slideLayouts/slideLayout10.xml" Id="Rbfb405b4ceaf45fb" /><Relationship Type="http://schemas.openxmlformats.org/officeDocument/2006/relationships/slideLayout" Target="/ppt/slideLayouts/slideLayout11.xml" Id="Rc984601c3853477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0A03E93-00E9-4A6B-A0E2-6EFE99D38ED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55EB488-BBB0-4243-BBDE-AA2306824745}"/>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A46BD0A-CC69-499C-8F43-F4C52E467D27}"/>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9/4/2026</a:t>
            </a:fld>
            <a:endParaRPr/>
          </a:p>
        </p:txBody>
      </p:sp>
      <p:sp>
        <p:nvSpPr>
          <p:cNvPr id="5" name="Footer Placeholder 4">
            <a:extLst xmlns:a="http://schemas.openxmlformats.org/drawingml/2006/main">
              <a:ext uri="{FF2B5EF4-FFF2-40B4-BE49-F238E27FC236}">
                <a16:creationId xmlns:a16="http://schemas.microsoft.com/office/drawing/2014/main" id="{50272A18-0833-4409-B631-EFC143341D19}"/>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B78FB27-D5F1-4963-AD32-CC01B1D84F5D}"/>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‹N›</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76f83537064978"/>
    <p:sldLayoutId xmlns:r="http://schemas.openxmlformats.org/officeDocument/2006/relationships" id="2147483650" r:id="R4571bbe0a5f344fc"/>
    <p:sldLayoutId xmlns:r="http://schemas.openxmlformats.org/officeDocument/2006/relationships" id="2147483651" r:id="R733ce7ab4f6046cf"/>
    <p:sldLayoutId xmlns:r="http://schemas.openxmlformats.org/officeDocument/2006/relationships" id="2147483652" r:id="R2ca4ed77ae804494"/>
    <p:sldLayoutId xmlns:r="http://schemas.openxmlformats.org/officeDocument/2006/relationships" id="2147483653" r:id="Rfcaa355f0a704aac"/>
    <p:sldLayoutId xmlns:r="http://schemas.openxmlformats.org/officeDocument/2006/relationships" id="2147483654" r:id="R4dedec43480740d4"/>
    <p:sldLayoutId xmlns:r="http://schemas.openxmlformats.org/officeDocument/2006/relationships" id="2147483655" r:id="R2cbae81ae20d4222"/>
    <p:sldLayoutId xmlns:r="http://schemas.openxmlformats.org/officeDocument/2006/relationships" id="2147483656" r:id="R3a3a120e38064a64"/>
    <p:sldLayoutId xmlns:r="http://schemas.openxmlformats.org/officeDocument/2006/relationships" id="2147483657" r:id="Reccb7ed7ac5846e2"/>
    <p:sldLayoutId xmlns:r="http://schemas.openxmlformats.org/officeDocument/2006/relationships" id="2147483658" r:id="Rbfb405b4ceaf45fb"/>
    <p:sldLayoutId xmlns:r="http://schemas.openxmlformats.org/officeDocument/2006/relationships" id="2147483659" r:id="Rc984601c38534772"/>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6d5614a27c944f37" /><Relationship Type="http://schemas.openxmlformats.org/officeDocument/2006/relationships/image" Target="/ppt/media/image.png" Id="Reaecccddbb204673" /><Relationship Type="http://schemas.openxmlformats.org/officeDocument/2006/relationships/notesSlide" Target="/ppt/notesSlides/notesSlide1.xml" Id="Rb01c55ad73d947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2d30076df1d44075" /><Relationship Type="http://schemas.openxmlformats.org/officeDocument/2006/relationships/notesSlide" Target="/ppt/notesSlides/notesSlide2.xml" Id="R215d3e0141b94d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d35ead00c9ad497b" /><Relationship Type="http://schemas.openxmlformats.org/officeDocument/2006/relationships/notesSlide" Target="/ppt/notesSlides/notesSlide3.xml" Id="Rcae04a6817bf4c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6c99a2c2e3234479" /><Relationship Type="http://schemas.openxmlformats.org/officeDocument/2006/relationships/notesSlide" Target="/ppt/notesSlides/notesSlide4.xml" Id="R4999bfa17c3c40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d79f29ed9f364345" /><Relationship Type="http://schemas.openxmlformats.org/officeDocument/2006/relationships/notesSlide" Target="/ppt/notesSlides/notesSlide5.xml" Id="Rc79c8952801043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aa63957c84744cde" /><Relationship Type="http://schemas.openxmlformats.org/officeDocument/2006/relationships/notesSlide" Target="/ppt/notesSlides/notesSlide6.xml" Id="R45b7571b99ea4e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2679bbdc43d4480e" /><Relationship Type="http://schemas.openxmlformats.org/officeDocument/2006/relationships/notesSlide" Target="/ppt/notesSlides/notesSlide7.xml" Id="R7542ac7db51d4e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96c05ba956144940" /><Relationship Type="http://schemas.openxmlformats.org/officeDocument/2006/relationships/image" Target="/ppt/media/image.jpeg" Id="Rd4cd7f18883642bd" /><Relationship Type="http://schemas.openxmlformats.org/officeDocument/2006/relationships/notesSlide" Target="/ppt/notesSlides/notesSlide8.xml" Id="R295fd627957a464e"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a8347b059cdf488a" /><Relationship Type="http://schemas.openxmlformats.org/officeDocument/2006/relationships/chart" Target="/ppt/slides/charts/chart1.xml" Id="Rbb6542035daa473f" /><Relationship Type="http://schemas.openxmlformats.org/officeDocument/2006/relationships/notesSlide" Target="/ppt/notesSlides/notesSlide9.xml" Id="R73db18391d5c46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51ac273efb7b4ff1" /><Relationship Type="http://schemas.openxmlformats.org/officeDocument/2006/relationships/chart" Target="/ppt/slides/charts/chart2.xml" Id="Rd96b7ba956794228" /><Relationship Type="http://schemas.openxmlformats.org/officeDocument/2006/relationships/notesSlide" Target="/ppt/notesSlides/notesSlide10.xml" Id="R2e5624ac187d42a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7383d0f7ae054826" /><Relationship Type="http://schemas.openxmlformats.org/officeDocument/2006/relationships/image" Target="/ppt/media/image2.png" Id="Re6aa1eb694604975" /><Relationship Type="http://schemas.openxmlformats.org/officeDocument/2006/relationships/image" Target="/ppt/media/image3.png" Id="R06c303a7496343b2" /><Relationship Type="http://schemas.openxmlformats.org/officeDocument/2006/relationships/image" Target="/ppt/media/image4.png" Id="R7a67b91edf434c27" /><Relationship Type="http://schemas.openxmlformats.org/officeDocument/2006/relationships/notesSlide" Target="/ppt/notesSlides/notesSlide11.xml" Id="Rf14e68ad38a8403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5197a7a999ad4c59" /><Relationship Type="http://schemas.openxmlformats.org/officeDocument/2006/relationships/notesSlide" Target="/ppt/notesSlides/notesSlide12.xml" Id="Rf6cec6749a61437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8a597a030b7440e5" /><Relationship Type="http://schemas.openxmlformats.org/officeDocument/2006/relationships/notesSlide" Target="/ppt/notesSlides/notesSlide13.xml" Id="Rabc5c1c5b4d5463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6f564e7da2b14064" /><Relationship Type="http://schemas.openxmlformats.org/officeDocument/2006/relationships/image" Target="/ppt/media/image5.png" Id="R1d3d8843ca174db9" /><Relationship Type="http://schemas.openxmlformats.org/officeDocument/2006/relationships/notesSlide" Target="/ppt/notesSlides/notesSlide14.xml" Id="R9409188039644b5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93b70376f6204cfd" /><Relationship Type="http://schemas.openxmlformats.org/officeDocument/2006/relationships/notesSlide" Target="/ppt/notesSlides/notesSlide15.xml" Id="Rfc81ceb77e9f4f9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e7e2af6b39d7441d" /><Relationship Type="http://schemas.openxmlformats.org/officeDocument/2006/relationships/notesSlide" Target="/ppt/notesSlides/notesSlide16.xml" Id="R7f166e483db2451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e50534a659a24725" /><Relationship Type="http://schemas.openxmlformats.org/officeDocument/2006/relationships/notesSlide" Target="/ppt/notesSlides/notesSlide17.xml" Id="Rb7b7aa4a3b994d8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a2461a2801f04085" /><Relationship Type="http://schemas.openxmlformats.org/officeDocument/2006/relationships/notesSlide" Target="/ppt/notesSlides/notesSlide18.xml" Id="R6725b08d0a2c42e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6b45830439bd4abb" /><Relationship Type="http://schemas.openxmlformats.org/officeDocument/2006/relationships/notesSlide" Target="/ppt/notesSlides/notesSlide19.xml" Id="R3a284ab3de2e425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20c31444d1394ed8" /><Relationship Type="http://schemas.openxmlformats.org/officeDocument/2006/relationships/notesSlide" Target="/ppt/notesSlides/notesSlide20.xml" Id="Re2a7c5f9e04b404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c4e5947a80aa4737" /><Relationship Type="http://schemas.openxmlformats.org/officeDocument/2006/relationships/notesSlide" Target="/ppt/notesSlides/notesSlide21.xml" Id="R5e65219850384ca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bd533d2b682545c9" /><Relationship Type="http://schemas.openxmlformats.org/officeDocument/2006/relationships/notesSlide" Target="/ppt/notesSlides/notesSlide22.xml" Id="R8d7df73f99634b9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dd36edad3d304e8d" /><Relationship Type="http://schemas.openxmlformats.org/officeDocument/2006/relationships/notesSlide" Target="/ppt/notesSlides/notesSlide23.xml" Id="R69db69979d954c37" /></Relationships>
</file>

<file path=ppt/slides/charts/chart1.xml><?xml version="1.0" encoding="utf-8"?>
<c:chartSpace xmlns:c="http://schemas.openxmlformats.org/drawingml/2006/chart">
  <c:lang val="en-US"/>
  <c:roundedCorners val="1"/>
  <c:style val="2"/>
  <c:chart>
    <c:autoTitleDeleted val="1"/>
    <c:plotArea>
      <c:barChart>
        <c:barDir val="bar"/>
        <c:grouping val="clustered"/>
        <c:varyColors val="0"/>
        <c:ser>
          <c:idx val="0"/>
          <c:order val="0"/>
          <c:tx>
            <c:v>FNR · missed-target risk</c:v>
          </c:tx>
          <c:spPr>
            <a:solidFill xmlns:a="http://schemas.openxmlformats.org/drawingml/2006/main">
              <a:srgbClr val="BE3C37"/>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125" b="1">
                    <a:solidFill>
                      <a:srgbClr val="172033"/>
                    </a:solidFill>
                  </a:defRPr>
                </a:pPr>
              </a:p>
            </c:txPr>
            <c:dLblPos val="outEnd"/>
            <c:showLegendKey val="0"/>
            <c:showVal val="1"/>
            <c:showCatName val="0"/>
            <c:showSerName val="0"/>
            <c:showPercent val="0"/>
            <c:showBubbleSize val="0"/>
            <c:showLeaderLines val="0"/>
          </c:dLbls>
          <c:cat>
            <c:strLit>
              <c:ptCount val="6"/>
              <c:pt idx="0">
                <c:v>Magnet.AI</c:v>
              </c:pt>
              <c:pt idx="1">
                <c:v>Excire D20</c:v>
              </c:pt>
              <c:pt idx="2">
                <c:v>Excire D50</c:v>
              </c:pt>
              <c:pt idx="3">
                <c:v>Excire D80</c:v>
              </c:pt>
              <c:pt idx="4">
                <c:v>Cellebrite</c:v>
              </c:pt>
              <c:pt idx="5">
                <c:v>Griffeye / T3K</c:v>
              </c:pt>
            </c:strLit>
          </c:cat>
          <c:val>
            <c:numLit>
              <c:formatCode>0.0%</c:formatCode>
              <c:ptCount val="6"/>
              <c:pt idx="0">
                <c:v>0.07</c:v>
              </c:pt>
              <c:pt idx="1">
                <c:v>0.12</c:v>
              </c:pt>
              <c:pt idx="2">
                <c:v>0.042</c:v>
              </c:pt>
              <c:pt idx="3">
                <c:v>0.014</c:v>
              </c:pt>
              <c:pt idx="4">
                <c:v>0.032</c:v>
              </c:pt>
              <c:pt idx="5">
                <c:v>0.036</c:v>
              </c:pt>
            </c:numLit>
          </c:val>
        </c:ser>
        <c:ser>
          <c:idx val="1"/>
          <c:order val="1"/>
          <c:tx>
            <c:v>FPR · review workload</c:v>
          </c:tx>
          <c:spPr>
            <a:solidFill xmlns:a="http://schemas.openxmlformats.org/drawingml/2006/main">
              <a:srgbClr val="C89B14"/>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125" b="1">
                    <a:solidFill>
                      <a:srgbClr val="172033"/>
                    </a:solidFill>
                  </a:defRPr>
                </a:pPr>
              </a:p>
            </c:txPr>
            <c:dLblPos val="outEnd"/>
            <c:showLegendKey val="0"/>
            <c:showVal val="1"/>
            <c:showCatName val="0"/>
            <c:showSerName val="0"/>
            <c:showPercent val="0"/>
            <c:showBubbleSize val="0"/>
            <c:showLeaderLines val="0"/>
          </c:dLbls>
          <c:cat>
            <c:strLit>
              <c:ptCount val="6"/>
              <c:pt idx="0">
                <c:v>Magnet.AI</c:v>
              </c:pt>
              <c:pt idx="1">
                <c:v>Excire D20</c:v>
              </c:pt>
              <c:pt idx="2">
                <c:v>Excire D50</c:v>
              </c:pt>
              <c:pt idx="3">
                <c:v>Excire D80</c:v>
              </c:pt>
              <c:pt idx="4">
                <c:v>Cellebrite</c:v>
              </c:pt>
              <c:pt idx="5">
                <c:v>Griffeye / T3K</c:v>
              </c:pt>
            </c:strLit>
          </c:cat>
          <c:val>
            <c:numLit>
              <c:formatCode>0.0%</c:formatCode>
              <c:ptCount val="6"/>
              <c:pt idx="0">
                <c:v>0.03</c:v>
              </c:pt>
              <c:pt idx="1">
                <c:v>0.026</c:v>
              </c:pt>
              <c:pt idx="2">
                <c:v>0.07</c:v>
              </c:pt>
              <c:pt idx="3">
                <c:v>0.156</c:v>
              </c:pt>
              <c:pt idx="4">
                <c:v>0.04</c:v>
              </c:pt>
              <c:pt idx="5">
                <c:v>0.008</c:v>
              </c:pt>
            </c:numLit>
          </c:val>
        </c:ser>
        <c:dLbls>
          <c:dLblPos val="outEnd"/>
          <c:showLegendKey val="0"/>
          <c:showVal val="1"/>
          <c:showCatName val="0"/>
          <c:showSerName val="0"/>
          <c:showPercent val="0"/>
          <c:showBubbleSize val="0"/>
        </c:dLbls>
        <c:gapWidth val="48"/>
        <c:axId val="48650112"/>
        <c:axId val="48672768"/>
      </c:barChart>
      <c:catAx>
        <c:axId val="48650112"/>
        <c:scaling>
          <c:orientation val="minMax"/>
        </c:scaling>
        <c:delete val="0"/>
        <c:axPos val="l"/>
        <c:majorGridlines>
          <c:spPr>
            <a:ln xmlns:a="http://schemas.openxmlformats.org/drawingml/2006/main" w="9525">
              <a:solidFill>
                <a:srgbClr val="D9DEE8"/>
              </a:solidFill>
              <a:prstDash val="solid"/>
            </a:ln>
          </c:spPr>
        </c:majorGridlines>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B6577"/>
                </a:solidFill>
              </a:defRPr>
            </a:pPr>
          </a:p>
        </c:txPr>
        <c:crossAx val="48672768"/>
        <c:crosses val="autoZero"/>
        <c:lblOffset val="100"/>
      </c:catAx>
      <c:valAx>
        <c:axId val="48672768"/>
        <c:scaling>
          <c:orientation val="minMax"/>
        </c:scaling>
        <c:delete val="0"/>
        <c:axPos val="b"/>
        <c:numFmt formatCode="0.0%" sourceLinked="1"/>
        <c:majorTickMark val="none"/>
        <c:minorTickMark val="none"/>
        <c:tickLblPos val="nextTo"/>
        <c:spPr>
          <a:ln xmlns:a="http://schemas.openxmlformats.org/drawingml/2006/main" w="9525">
            <a:solidFill>
              <a:srgbClr val="D9DEE8"/>
            </a:solidFill>
            <a:prstDash val="solid"/>
          </a:ln>
        </c:spPr>
        <c:txPr>
          <a:bodyPr xmlns:a="http://schemas.openxmlformats.org/drawingml/2006/main" anchorCtr="1"/>
          <a:lstStyle xmlns:a="http://schemas.openxmlformats.org/drawingml/2006/main"/>
          <a:p xmlns:a="http://schemas.openxmlformats.org/drawingml/2006/main">
            <a:pPr>
              <a:defRPr sz="1275">
                <a:solidFill>
                  <a:srgbClr val="172033"/>
                </a:solidFill>
              </a:defRPr>
            </a:pPr>
          </a:p>
        </c:txPr>
        <c:crossAx val="48650112"/>
        <c:crosses val="autoZero"/>
        <c:crossBetween val="between"/>
      </c:valAx>
      <c:spPr>
        <a:solidFill xmlns:a="http://schemas.openxmlformats.org/drawingml/2006/main">
          <a:srgbClr val="F7F8FA"/>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5B6577"/>
              </a:solidFill>
            </a:defRPr>
          </a:pPr>
        </a:p>
      </c:txPr>
    </c:legend>
    <c:plotVisOnly val="1"/>
  </c:chart>
  <c:spPr>
    <a:solidFill xmlns:a="http://schemas.openxmlformats.org/drawingml/2006/main">
      <a:srgbClr val="F7F8FA"/>
    </a:solidFill>
    <a:ln xmlns:a="http://schemas.openxmlformats.org/drawingml/2006/main" w="0">
      <a:noFill/>
      <a:prstDash val="solid"/>
    </a:ln>
  </c:spPr>
</c:chartSpace>
</file>

<file path=ppt/slides/charts/chart2.xml><?xml version="1.0" encoding="utf-8"?>
<c:chartSpace xmlns:c="http://schemas.openxmlformats.org/drawingml/2006/chart">
  <c:lang val="en-US"/>
  <c:roundedCorners val="1"/>
  <c:style val="2"/>
  <c:chart>
    <c:autoTitleDeleted val="1"/>
    <c:plotArea>
      <c:barChart>
        <c:barDir val="bar"/>
        <c:grouping val="clustered"/>
        <c:varyColors val="0"/>
        <c:ser>
          <c:idx val="0"/>
          <c:order val="0"/>
          <c:tx>
            <c:v>OOD weapon-assignment rate</c:v>
          </c:tx>
          <c:spPr>
            <a:solidFill xmlns:a="http://schemas.openxmlformats.org/drawingml/2006/main">
              <a:srgbClr val="233A70"/>
            </a:solidFill>
          </c:spPr>
          <c:dPt>
            <c:idx val="2"/>
            <c:invertIfNegative val="0"/>
            <c:spPr>
              <a:solidFill xmlns:a="http://schemas.openxmlformats.org/drawingml/2006/main">
                <a:srgbClr val="BE3C37"/>
              </a:solidFill>
            </c:spPr>
          </c:dPt>
          <c:dPt>
            <c:idx val="3"/>
            <c:invertIfNegative val="0"/>
            <c:spPr>
              <a:solidFill xmlns:a="http://schemas.openxmlformats.org/drawingml/2006/main">
                <a:srgbClr val="087A50"/>
              </a:solidFill>
            </c:spPr>
          </c:dPt>
          <c:dPt>
            <c:idx val="4"/>
            <c:invertIfNegative val="0"/>
            <c:spPr>
              <a:solidFill xmlns:a="http://schemas.openxmlformats.org/drawingml/2006/main">
                <a:srgbClr val="087A50"/>
              </a:solidFill>
            </c:spPr>
          </c:dPt>
          <c:dPt>
            <c:idx val="5"/>
            <c:invertIfNegative val="0"/>
            <c:spPr>
              <a:solidFill xmlns:a="http://schemas.openxmlformats.org/drawingml/2006/main">
                <a:srgbClr val="087A50"/>
              </a:solidFill>
            </c:spPr>
          </c:dPt>
          <c:dPt>
            <c:idx val="6"/>
            <c:invertIfNegative val="0"/>
            <c:spPr>
              <a:solidFill xmlns:a="http://schemas.openxmlformats.org/drawingml/2006/main">
                <a:srgbClr val="C89B14"/>
              </a:solidFill>
            </c:spPr>
          </c:dPt>
          <c:dPt>
            <c:idx val="7"/>
            <c:invertIfNegative val="0"/>
            <c:spPr>
              <a:solidFill xmlns:a="http://schemas.openxmlformats.org/drawingml/2006/main">
                <a:srgbClr val="087A50"/>
              </a:solidFill>
            </c:spPr>
          </c:dPt>
          <c:dPt>
            <c:idx val="8"/>
            <c:invertIfNegative val="0"/>
            <c:spPr>
              <a:solidFill xmlns:a="http://schemas.openxmlformats.org/drawingml/2006/main">
                <a:srgbClr val="087A50"/>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050" b="1">
                    <a:solidFill>
                      <a:srgbClr val="172033"/>
                    </a:solidFill>
                  </a:defRPr>
                </a:pPr>
              </a:p>
            </c:txPr>
            <c:dLblPos val="outEnd"/>
            <c:showLegendKey val="0"/>
            <c:showVal val="1"/>
            <c:showCatName val="0"/>
            <c:showSerName val="0"/>
            <c:showPercent val="0"/>
            <c:showBubbleSize val="0"/>
            <c:showLeaderLines val="0"/>
          </c:dLbls>
          <c:cat>
            <c:strLit>
              <c:ptCount val="9"/>
              <c:pt idx="0">
                <c:v>EfficientNet-B0</c:v>
              </c:pt>
              <c:pt idx="1">
                <c:v>ResNet18</c:v>
              </c:pt>
              <c:pt idx="2">
                <c:v>CLIP proxy</c:v>
              </c:pt>
              <c:pt idx="3">
                <c:v>Magnet.AI</c:v>
              </c:pt>
              <c:pt idx="4">
                <c:v>Excire D20</c:v>
              </c:pt>
              <c:pt idx="5">
                <c:v>Excire D50</c:v>
              </c:pt>
              <c:pt idx="6">
                <c:v>Excire D80</c:v>
              </c:pt>
              <c:pt idx="7">
                <c:v>Cellebrite</c:v>
              </c:pt>
              <c:pt idx="8">
                <c:v>Griffeye / T3K</c:v>
              </c:pt>
            </c:strLit>
          </c:cat>
          <c:val>
            <c:numLit>
              <c:formatCode>0.0%</c:formatCode>
              <c:ptCount val="9"/>
              <c:pt idx="0">
                <c:v>0.3696</c:v>
              </c:pt>
              <c:pt idx="1">
                <c:v>0.4376</c:v>
              </c:pt>
              <c:pt idx="2">
                <c:v>0.8356</c:v>
              </c:pt>
              <c:pt idx="3">
                <c:v>0.36</c:v>
              </c:pt>
              <c:pt idx="4">
                <c:v>0.238</c:v>
              </c:pt>
              <c:pt idx="5">
                <c:v>0.34</c:v>
              </c:pt>
              <c:pt idx="6">
                <c:v>0.522</c:v>
              </c:pt>
              <c:pt idx="7">
                <c:v>0.292</c:v>
              </c:pt>
              <c:pt idx="8">
                <c:v>0.26</c:v>
              </c:pt>
            </c:numLit>
          </c:val>
        </c:ser>
        <c:dLbls>
          <c:dLblPos val="outEnd"/>
          <c:showLegendKey val="0"/>
          <c:showVal val="1"/>
          <c:showCatName val="0"/>
          <c:showSerName val="0"/>
          <c:showPercent val="0"/>
          <c:showBubbleSize val="0"/>
        </c:dLbls>
        <c:gapWidth val="38"/>
        <c:axId val="48650112"/>
        <c:axId val="48672768"/>
      </c:barChart>
      <c:catAx>
        <c:axId val="48650112"/>
        <c:scaling>
          <c:orientation val="minMax"/>
        </c:scaling>
        <c:delete val="0"/>
        <c:axPos val="l"/>
        <c:majorGridlines>
          <c:spPr>
            <a:ln xmlns:a="http://schemas.openxmlformats.org/drawingml/2006/main" w="9525">
              <a:solidFill>
                <a:srgbClr val="D9DEE8"/>
              </a:solidFill>
              <a:prstDash val="solid"/>
            </a:ln>
          </c:spPr>
        </c:majorGridlines>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B6577"/>
                </a:solidFill>
              </a:defRPr>
            </a:pPr>
          </a:p>
        </c:txPr>
        <c:crossAx val="48672768"/>
        <c:crosses val="autoZero"/>
        <c:lblOffset val="100"/>
      </c:catAx>
      <c:valAx>
        <c:axId val="48672768"/>
        <c:scaling>
          <c:orientation val="minMax"/>
        </c:scaling>
        <c:delete val="0"/>
        <c:axPos val="b"/>
        <c:numFmt formatCode="0.0%" sourceLinked="1"/>
        <c:majorTickMark val="none"/>
        <c:minorTickMark val="none"/>
        <c:tickLblPos val="nextTo"/>
        <c:spPr>
          <a:ln xmlns:a="http://schemas.openxmlformats.org/drawingml/2006/main" w="9525">
            <a:solidFill>
              <a:srgbClr val="D9DEE8"/>
            </a:solidFill>
            <a:prstDash val="solid"/>
          </a:ln>
        </c:spPr>
        <c:txPr>
          <a:bodyPr xmlns:a="http://schemas.openxmlformats.org/drawingml/2006/main" anchorCtr="1"/>
          <a:lstStyle xmlns:a="http://schemas.openxmlformats.org/drawingml/2006/main"/>
          <a:p xmlns:a="http://schemas.openxmlformats.org/drawingml/2006/main">
            <a:pPr>
              <a:defRPr sz="1200">
                <a:solidFill>
                  <a:srgbClr val="172033"/>
                </a:solidFill>
              </a:defRPr>
            </a:pPr>
          </a:p>
        </c:txPr>
        <c:crossAx val="48650112"/>
        <c:crosses val="autoZero"/>
        <c:crossBetween val="between"/>
      </c:valAx>
      <c:spPr>
        <a:solidFill xmlns:a="http://schemas.openxmlformats.org/drawingml/2006/main">
          <a:srgbClr val="F7F8FA"/>
        </a:solidFill>
        <a:ln xmlns:a="http://schemas.openxmlformats.org/drawingml/2006/main" w="0">
          <a:noFill/>
          <a:prstDash val="solid"/>
        </a:ln>
      </c:spPr>
    </c:plotArea>
    <c:plotVisOnly val="1"/>
  </c:chart>
  <c:spPr>
    <a:solidFill xmlns:a="http://schemas.openxmlformats.org/drawingml/2006/main">
      <a:srgbClr val="F7F8FA"/>
    </a:solidFill>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Freeform 1">
            <a:extLst xmlns:a="http://schemas.openxmlformats.org/drawingml/2006/main">
              <a:ext uri="{FF2B5EF4-FFF2-40B4-BE49-F238E27FC236}">
                <a16:creationId xmlns:a16="http://schemas.microsoft.com/office/drawing/2014/main" id="{AD3ADBD0-72C3-4D60-A6FB-9276160845E1}"/>
              </a:ext>
            </a:extLst>
          </p:cNvPr>
          <p:cNvSpPr>
            <a:spLocks xmlns:a="http://schemas.openxmlformats.org/drawingml/2006/main" noGrp="1"/>
          </p:cNvSpPr>
          <p:nvPr/>
        </p:nvSpPr>
        <p:spPr>
          <a:xfrm xmlns:a="http://schemas.openxmlformats.org/drawingml/2006/main">
            <a:off x="6830568" y="0"/>
            <a:ext cx="5361431" cy="6858000"/>
          </a:xfrm>
          <a:custGeom xmlns:a="http://schemas.openxmlformats.org/drawingml/2006/main">
            <a:rect l="l" t="t" r="r" b="b"/>
            <a:pathLst>
              <a:path w="5361431" h="6858000">
                <a:moveTo>
                  <a:pt x="2496312" y="0"/>
                </a:moveTo>
                <a:lnTo>
                  <a:pt x="5361431" y="0"/>
                </a:lnTo>
                <a:lnTo>
                  <a:pt x="5361431" y="6858000"/>
                </a:lnTo>
                <a:lnTo>
                  <a:pt x="0" y="6858000"/>
                </a:lnTo>
                <a:close/>
              </a:path>
            </a:pathLst>
          </a:custGeom>
          <a:solidFill xmlns:a="http://schemas.openxmlformats.org/drawingml/2006/main">
            <a:srgbClr val="233A7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9" name="Picture 2"/>
          <p:cNvPicPr>
            <a:picLocks xmlns:a="http://schemas.openxmlformats.org/drawingml/2006/main" noChangeAspect="1"/>
          </p:cNvPicPr>
          <p:nvPr/>
        </p:nvPicPr>
        <p:blipFill>
          <a:blip xmlns:r="http://schemas.openxmlformats.org/officeDocument/2006/relationships" xmlns:a="http://schemas.openxmlformats.org/drawingml/2006/main" r:embed="Reaecccddbb204673"/>
          <a:stretch xmlns:a="http://schemas.openxmlformats.org/drawingml/2006/main">
            <a:fillRect l="0" t="0" r="0" b="0"/>
          </a:stretch>
        </p:blipFill>
        <p:spPr>
          <a:xfrm xmlns:a="http://schemas.openxmlformats.org/drawingml/2006/main">
            <a:off x="7699248" y="4572000"/>
            <a:ext cx="4370832" cy="1170432"/>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5F6D6B5F-566D-4D15-A4E4-289A74BD800B}"/>
              </a:ext>
            </a:extLst>
          </p:cNvPr>
          <p:cNvSpPr>
            <a:spLocks xmlns:a="http://schemas.openxmlformats.org/drawingml/2006/main" noGrp="1"/>
          </p:cNvSpPr>
          <p:nvPr/>
        </p:nvSpPr>
        <p:spPr>
          <a:xfrm xmlns:a="http://schemas.openxmlformats.org/drawingml/2006/main">
            <a:off x="1245455" y="1092127"/>
            <a:ext cx="6234784" cy="55919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3036" b="1" i="0">
                <a:solidFill>
                  <a:srgbClr val="233A70"/>
                </a:solidFill>
                <a:latin typeface="Carlito"/>
                <a:ea typeface="Carlito"/>
                <a:cs typeface="Carlito"/>
              </a:rPr>
              <a:t>Evaluating the Robustness of AI-Based</a:t>
            </a:r>
          </a:p>
        </p:txBody>
      </p:sp>
      <p:sp>
        <p:nvSpPr>
          <p:cNvPr id="5" name="TextBox 4">
            <a:extLst xmlns:a="http://schemas.openxmlformats.org/drawingml/2006/main">
              <a:ext uri="{FF2B5EF4-FFF2-40B4-BE49-F238E27FC236}">
                <a16:creationId xmlns:a16="http://schemas.microsoft.com/office/drawing/2014/main" id="{4C68C7AD-E9E1-4269-A322-11CC58D220E5}"/>
              </a:ext>
            </a:extLst>
          </p:cNvPr>
          <p:cNvSpPr>
            <a:spLocks xmlns:a="http://schemas.openxmlformats.org/drawingml/2006/main" noGrp="1"/>
          </p:cNvSpPr>
          <p:nvPr/>
        </p:nvSpPr>
        <p:spPr>
          <a:xfrm xmlns:a="http://schemas.openxmlformats.org/drawingml/2006/main">
            <a:off x="1369406" y="1574169"/>
            <a:ext cx="5987582" cy="55919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3036" b="1" i="0">
                <a:solidFill>
                  <a:srgbClr val="233A70"/>
                </a:solidFill>
                <a:latin typeface="Carlito"/>
                <a:ea typeface="Carlito"/>
                <a:cs typeface="Carlito"/>
              </a:rPr>
              <a:t>Forensic Tools under Adversarial and</a:t>
            </a:r>
          </a:p>
        </p:txBody>
      </p:sp>
      <p:sp>
        <p:nvSpPr>
          <p:cNvPr id="6" name="TextBox 5">
            <a:extLst xmlns:a="http://schemas.openxmlformats.org/drawingml/2006/main">
              <a:ext uri="{FF2B5EF4-FFF2-40B4-BE49-F238E27FC236}">
                <a16:creationId xmlns:a16="http://schemas.microsoft.com/office/drawing/2014/main" id="{AE37D7BF-E7C8-4B80-AA3E-D277CB4D3227}"/>
              </a:ext>
            </a:extLst>
          </p:cNvPr>
          <p:cNvSpPr>
            <a:spLocks xmlns:a="http://schemas.openxmlformats.org/drawingml/2006/main" noGrp="1"/>
          </p:cNvSpPr>
          <p:nvPr/>
        </p:nvSpPr>
        <p:spPr>
          <a:xfrm xmlns:a="http://schemas.openxmlformats.org/drawingml/2006/main">
            <a:off x="2616367" y="2056238"/>
            <a:ext cx="3492427" cy="55919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3036" b="1" i="0">
                <a:solidFill>
                  <a:srgbClr val="233A70"/>
                </a:solidFill>
                <a:latin typeface="Carlito"/>
                <a:ea typeface="Carlito"/>
                <a:cs typeface="Carlito"/>
              </a:rPr>
              <a:t>Anti-Forensic Attacks</a:t>
            </a:r>
          </a:p>
        </p:txBody>
      </p:sp>
      <p:sp>
        <p:nvSpPr>
          <p:cNvPr id="7" name="TextBox 6">
            <a:extLst xmlns:a="http://schemas.openxmlformats.org/drawingml/2006/main">
              <a:ext uri="{FF2B5EF4-FFF2-40B4-BE49-F238E27FC236}">
                <a16:creationId xmlns:a16="http://schemas.microsoft.com/office/drawing/2014/main" id="{714EF284-A801-4261-926C-2EEAFEA761DF}"/>
              </a:ext>
            </a:extLst>
          </p:cNvPr>
          <p:cNvSpPr>
            <a:spLocks xmlns:a="http://schemas.openxmlformats.org/drawingml/2006/main" noGrp="1"/>
          </p:cNvSpPr>
          <p:nvPr/>
        </p:nvSpPr>
        <p:spPr>
          <a:xfrm xmlns:a="http://schemas.openxmlformats.org/drawingml/2006/main">
            <a:off x="1143000" y="2816638"/>
            <a:ext cx="6438900" cy="34947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1897" b="0" i="0">
                <a:solidFill>
                  <a:srgbClr val="404040"/>
                </a:solidFill>
                <a:latin typeface="Carlito"/>
                <a:ea typeface="Carlito"/>
                <a:cs typeface="Carlito"/>
              </a:rPr>
              <a:t>Master’s Degree in Computer Engineering</a:t>
            </a:r>
          </a:p>
        </p:txBody>
      </p:sp>
      <p:sp>
        <p:nvSpPr>
          <p:cNvPr id="8" name="TextBox 7">
            <a:extLst xmlns:a="http://schemas.openxmlformats.org/drawingml/2006/main">
              <a:ext uri="{FF2B5EF4-FFF2-40B4-BE49-F238E27FC236}">
                <a16:creationId xmlns:a16="http://schemas.microsoft.com/office/drawing/2014/main" id="{B60AA5D2-5B61-455B-BBE9-086C543935C9}"/>
              </a:ext>
            </a:extLst>
          </p:cNvPr>
          <p:cNvSpPr>
            <a:spLocks xmlns:a="http://schemas.openxmlformats.org/drawingml/2006/main" noGrp="1"/>
          </p:cNvSpPr>
          <p:nvPr/>
        </p:nvSpPr>
        <p:spPr>
          <a:xfrm xmlns:a="http://schemas.openxmlformats.org/drawingml/2006/main">
            <a:off x="1428750" y="3111246"/>
            <a:ext cx="5867400" cy="34947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1897" b="0" i="0">
                <a:solidFill>
                  <a:srgbClr val="404040"/>
                </a:solidFill>
                <a:latin typeface="Carlito"/>
                <a:ea typeface="Carlito"/>
                <a:cs typeface="Carlito"/>
              </a:rPr>
              <a:t>Cybersecurity and Artificial Intelligence</a:t>
            </a:r>
          </a:p>
        </p:txBody>
      </p:sp>
      <p:sp>
        <p:nvSpPr>
          <p:cNvPr id="9" name="TextBox 8">
            <a:extLst xmlns:a="http://schemas.openxmlformats.org/drawingml/2006/main">
              <a:ext uri="{FF2B5EF4-FFF2-40B4-BE49-F238E27FC236}">
                <a16:creationId xmlns:a16="http://schemas.microsoft.com/office/drawing/2014/main" id="{8CC206C0-8612-4C95-88BD-073E5D709139}"/>
              </a:ext>
            </a:extLst>
          </p:cNvPr>
          <p:cNvSpPr>
            <a:spLocks xmlns:a="http://schemas.openxmlformats.org/drawingml/2006/main" noGrp="1"/>
          </p:cNvSpPr>
          <p:nvPr/>
        </p:nvSpPr>
        <p:spPr>
          <a:xfrm xmlns:a="http://schemas.openxmlformats.org/drawingml/2006/main">
            <a:off x="761986" y="3996866"/>
            <a:ext cx="803973" cy="31066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1687" b="1" i="0">
                <a:solidFill>
                  <a:srgbClr val="000000"/>
                </a:solidFill>
                <a:latin typeface="Carlito"/>
                <a:ea typeface="Carlito"/>
                <a:cs typeface="Carlito"/>
              </a:rPr>
              <a:t>Advisor</a:t>
            </a:r>
          </a:p>
        </p:txBody>
      </p:sp>
      <p:sp>
        <p:nvSpPr>
          <p:cNvPr id="10" name="TextBox 9">
            <a:extLst xmlns:a="http://schemas.openxmlformats.org/drawingml/2006/main">
              <a:ext uri="{FF2B5EF4-FFF2-40B4-BE49-F238E27FC236}">
                <a16:creationId xmlns:a16="http://schemas.microsoft.com/office/drawing/2014/main" id="{8597C9F5-C83C-46EA-B5F8-9BA5795DFE33}"/>
              </a:ext>
            </a:extLst>
          </p:cNvPr>
          <p:cNvSpPr>
            <a:spLocks xmlns:a="http://schemas.openxmlformats.org/drawingml/2006/main" noGrp="1"/>
          </p:cNvSpPr>
          <p:nvPr/>
        </p:nvSpPr>
        <p:spPr>
          <a:xfrm xmlns:a="http://schemas.openxmlformats.org/drawingml/2006/main">
            <a:off x="761986" y="4224775"/>
            <a:ext cx="1940354" cy="31066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1687" b="0" i="0">
                <a:solidFill>
                  <a:srgbClr val="000000"/>
                </a:solidFill>
                <a:latin typeface="Carlito"/>
                <a:ea typeface="Carlito"/>
                <a:cs typeface="Carlito"/>
              </a:rPr>
              <a:t>Prof. Davide Maiorca</a:t>
            </a:r>
          </a:p>
        </p:txBody>
      </p:sp>
      <p:sp>
        <p:nvSpPr>
          <p:cNvPr id="11" name="TextBox 10">
            <a:extLst xmlns:a="http://schemas.openxmlformats.org/drawingml/2006/main">
              <a:ext uri="{FF2B5EF4-FFF2-40B4-BE49-F238E27FC236}">
                <a16:creationId xmlns:a16="http://schemas.microsoft.com/office/drawing/2014/main" id="{31C97160-9434-4274-86A4-31180B678549}"/>
              </a:ext>
            </a:extLst>
          </p:cNvPr>
          <p:cNvSpPr>
            <a:spLocks xmlns:a="http://schemas.openxmlformats.org/drawingml/2006/main" noGrp="1"/>
          </p:cNvSpPr>
          <p:nvPr/>
        </p:nvSpPr>
        <p:spPr>
          <a:xfrm xmlns:a="http://schemas.openxmlformats.org/drawingml/2006/main">
            <a:off x="761986" y="4627618"/>
            <a:ext cx="1091282" cy="31066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1687" b="1" i="0">
                <a:solidFill>
                  <a:srgbClr val="000000"/>
                </a:solidFill>
                <a:latin typeface="Carlito"/>
                <a:ea typeface="Carlito"/>
                <a:cs typeface="Carlito"/>
              </a:rPr>
              <a:t>Co-Advisor</a:t>
            </a:r>
          </a:p>
        </p:txBody>
      </p:sp>
      <p:sp>
        <p:nvSpPr>
          <p:cNvPr id="12" name="TextBox 11">
            <a:extLst xmlns:a="http://schemas.openxmlformats.org/drawingml/2006/main">
              <a:ext uri="{FF2B5EF4-FFF2-40B4-BE49-F238E27FC236}">
                <a16:creationId xmlns:a16="http://schemas.microsoft.com/office/drawing/2014/main" id="{5B16A2C5-AD4B-43D8-80B7-E209C671B2FA}"/>
              </a:ext>
            </a:extLst>
          </p:cNvPr>
          <p:cNvSpPr>
            <a:spLocks xmlns:a="http://schemas.openxmlformats.org/drawingml/2006/main" noGrp="1"/>
          </p:cNvSpPr>
          <p:nvPr/>
        </p:nvSpPr>
        <p:spPr>
          <a:xfrm xmlns:a="http://schemas.openxmlformats.org/drawingml/2006/main">
            <a:off x="761986" y="4855554"/>
            <a:ext cx="2204524" cy="31066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1687" b="0" i="0">
                <a:solidFill>
                  <a:srgbClr val="000000"/>
                </a:solidFill>
                <a:latin typeface="Carlito"/>
                <a:ea typeface="Carlito"/>
                <a:cs typeface="Carlito"/>
              </a:rPr>
              <a:t>Silvia Lucia Sanna, Ph.D.</a:t>
            </a:r>
          </a:p>
        </p:txBody>
      </p:sp>
      <p:sp>
        <p:nvSpPr>
          <p:cNvPr id="13" name="TextBox 12">
            <a:extLst xmlns:a="http://schemas.openxmlformats.org/drawingml/2006/main">
              <a:ext uri="{FF2B5EF4-FFF2-40B4-BE49-F238E27FC236}">
                <a16:creationId xmlns:a16="http://schemas.microsoft.com/office/drawing/2014/main" id="{2A1750C7-FF88-40A1-81A0-843EF4A32EDF}"/>
              </a:ext>
            </a:extLst>
          </p:cNvPr>
          <p:cNvSpPr>
            <a:spLocks xmlns:a="http://schemas.openxmlformats.org/drawingml/2006/main" noGrp="1"/>
          </p:cNvSpPr>
          <p:nvPr/>
        </p:nvSpPr>
        <p:spPr>
          <a:xfrm xmlns:a="http://schemas.openxmlformats.org/drawingml/2006/main">
            <a:off x="6201901" y="3971544"/>
            <a:ext cx="1028293" cy="31066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1687" b="1" i="0">
                <a:solidFill>
                  <a:srgbClr val="000000"/>
                </a:solidFill>
                <a:latin typeface="Carlito"/>
                <a:ea typeface="Carlito"/>
                <a:cs typeface="Carlito"/>
              </a:rPr>
              <a:t>Candidate</a:t>
            </a:r>
          </a:p>
        </p:txBody>
      </p:sp>
      <p:sp>
        <p:nvSpPr>
          <p:cNvPr id="14" name="TextBox 13">
            <a:extLst xmlns:a="http://schemas.openxmlformats.org/drawingml/2006/main">
              <a:ext uri="{FF2B5EF4-FFF2-40B4-BE49-F238E27FC236}">
                <a16:creationId xmlns:a16="http://schemas.microsoft.com/office/drawing/2014/main" id="{5F83D23B-74B9-4F5E-8934-E6D373922EF3}"/>
              </a:ext>
            </a:extLst>
          </p:cNvPr>
          <p:cNvSpPr>
            <a:spLocks xmlns:a="http://schemas.openxmlformats.org/drawingml/2006/main" noGrp="1"/>
          </p:cNvSpPr>
          <p:nvPr/>
        </p:nvSpPr>
        <p:spPr>
          <a:xfrm xmlns:a="http://schemas.openxmlformats.org/drawingml/2006/main">
            <a:off x="5798944" y="4229963"/>
            <a:ext cx="1431297" cy="31066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1687" b="0" i="0">
                <a:solidFill>
                  <a:srgbClr val="000000"/>
                </a:solidFill>
                <a:latin typeface="Carlito"/>
                <a:ea typeface="Carlito"/>
                <a:cs typeface="Carlito"/>
              </a:rPr>
              <a:t>Lello Molinario</a:t>
            </a:r>
          </a:p>
        </p:txBody>
      </p:sp>
      <p:sp>
        <p:nvSpPr>
          <p:cNvPr id="15" name="TextBox 14">
            <a:extLst xmlns:a="http://schemas.openxmlformats.org/drawingml/2006/main">
              <a:ext uri="{FF2B5EF4-FFF2-40B4-BE49-F238E27FC236}">
                <a16:creationId xmlns:a16="http://schemas.microsoft.com/office/drawing/2014/main" id="{459D83A5-BA59-4DBD-A175-A13844B7B58E}"/>
              </a:ext>
            </a:extLst>
          </p:cNvPr>
          <p:cNvSpPr>
            <a:spLocks xmlns:a="http://schemas.openxmlformats.org/drawingml/2006/main" noGrp="1"/>
          </p:cNvSpPr>
          <p:nvPr/>
        </p:nvSpPr>
        <p:spPr>
          <a:xfrm xmlns:a="http://schemas.openxmlformats.org/drawingml/2006/main">
            <a:off x="4833354" y="4685635"/>
            <a:ext cx="2347428" cy="31066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1687" b="0" i="0">
                <a:solidFill>
                  <a:srgbClr val="000000"/>
                </a:solidFill>
                <a:latin typeface="Carlito"/>
                <a:ea typeface="Carlito"/>
                <a:cs typeface="Carlito"/>
              </a:rPr>
              <a:t>Student ID: 70/90/00369</a:t>
            </a:r>
          </a:p>
        </p:txBody>
      </p:sp>
      <p:sp>
        <p:nvSpPr>
          <p:cNvPr id="16" name="TextBox 15">
            <a:extLst xmlns:a="http://schemas.openxmlformats.org/drawingml/2006/main">
              <a:ext uri="{FF2B5EF4-FFF2-40B4-BE49-F238E27FC236}">
                <a16:creationId xmlns:a16="http://schemas.microsoft.com/office/drawing/2014/main" id="{98B901F8-0F1F-4C36-A37E-DBF9254044E0}"/>
              </a:ext>
            </a:extLst>
          </p:cNvPr>
          <p:cNvSpPr>
            <a:spLocks xmlns:a="http://schemas.openxmlformats.org/drawingml/2006/main" noGrp="1"/>
          </p:cNvSpPr>
          <p:nvPr/>
        </p:nvSpPr>
        <p:spPr>
          <a:xfrm xmlns:a="http://schemas.openxmlformats.org/drawingml/2006/main">
            <a:off x="2372525" y="5618318"/>
            <a:ext cx="3246783" cy="425219"/>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2309" b="0" i="0">
                <a:solidFill>
                  <a:srgbClr val="000000"/>
                </a:solidFill>
                <a:latin typeface="Carlito"/>
                <a:ea typeface="Carlito"/>
                <a:cs typeface="Carlito"/>
              </a:rPr>
              <a:t>Academic Year 2025/2026</a:t>
            </a:r>
          </a:p>
        </p:txBody>
      </p:sp>
    </p:spTree>
    <p:extLst>
      <p:ext uri="{BB962C8B-B14F-4D97-AF65-F5344CB8AC3E}">
        <p14:creationId xmlns:p14="http://schemas.microsoft.com/office/powerpoint/2010/main" val="374676645"/>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2" name="Rettangolo 21">
            <a:extLst xmlns:a="http://schemas.openxmlformats.org/drawingml/2006/main">
              <a:ext uri="{FF2B5EF4-FFF2-40B4-BE49-F238E27FC236}">
                <a16:creationId xmlns:a16="http://schemas.microsoft.com/office/drawing/2014/main" id="{B8A7D5BD-3F8A-4BB6-975D-5266EF1DB7C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F588B664-C98E-41C9-A1E0-71858EDC4002}"/>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The operational risk is silent exclusion</a:t>
            </a:r>
          </a:p>
        </p:txBody>
      </p:sp>
      <p:sp>
        <p:nvSpPr>
          <p:cNvPr id="3" name="Rettangolo 2">
            <a:extLst xmlns:a="http://schemas.openxmlformats.org/drawingml/2006/main">
              <a:ext uri="{FF2B5EF4-FFF2-40B4-BE49-F238E27FC236}">
                <a16:creationId xmlns:a16="http://schemas.microsoft.com/office/drawing/2014/main" id="{8C61DB06-AF65-4B2C-AA7F-B35A9C8C91A9}"/>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965599AD-B896-4974-A1A2-CBC1B2481DAF}"/>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1E12A901-ED39-4DD2-822A-E7619785E99C}"/>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02</a:t>
            </a:r>
          </a:p>
        </p:txBody>
      </p:sp>
      <p:sp>
        <p:nvSpPr>
          <p:cNvPr id="6" name="Rettangolo con angoli arrotondati 5">
            <a:extLst xmlns:a="http://schemas.openxmlformats.org/drawingml/2006/main">
              <a:ext uri="{FF2B5EF4-FFF2-40B4-BE49-F238E27FC236}">
                <a16:creationId xmlns:a16="http://schemas.microsoft.com/office/drawing/2014/main" id="{295FDD48-F0EC-46C5-B827-2A805C95A516}"/>
              </a:ext>
            </a:extLst>
          </p:cNvPr>
          <p:cNvSpPr>
            <a:spLocks xmlns:a="http://schemas.openxmlformats.org/drawingml/2006/main" noGrp="1"/>
          </p:cNvSpPr>
          <p:nvPr/>
        </p:nvSpPr>
        <p:spPr>
          <a:xfrm xmlns:a="http://schemas.openxmlformats.org/drawingml/2006/main">
            <a:off x="685800" y="1524000"/>
            <a:ext cx="3048000" cy="12001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6">
            <a:extLst xmlns:a="http://schemas.openxmlformats.org/drawingml/2006/main">
              <a:ext uri="{FF2B5EF4-FFF2-40B4-BE49-F238E27FC236}">
                <a16:creationId xmlns:a16="http://schemas.microsoft.com/office/drawing/2014/main" id="{134106DB-7DBE-4BE2-AF47-E9B1070376D7}"/>
              </a:ext>
            </a:extLst>
          </p:cNvPr>
          <p:cNvSpPr>
            <a:spLocks xmlns:a="http://schemas.openxmlformats.org/drawingml/2006/main" noGrp="1"/>
          </p:cNvSpPr>
          <p:nvPr/>
        </p:nvSpPr>
        <p:spPr>
          <a:xfrm xmlns:a="http://schemas.openxmlformats.org/drawingml/2006/main">
            <a:off x="876300" y="1743075"/>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233A70"/>
                </a:solidFill>
                <a:latin typeface="Arial"/>
                <a:ea typeface="Arial"/>
                <a:cs typeface="Arial"/>
              </a:defRPr>
            </a:pPr>
            <a:r>
              <a:rPr sz="2850" b="1">
                <a:solidFill>
                  <a:srgbClr val="233A70"/>
                </a:solidFill>
                <a:latin typeface="Arial"/>
                <a:ea typeface="Arial"/>
                <a:cs typeface="Arial"/>
              </a:rPr>
              <a:t>LARGE</a:t>
            </a:r>
          </a:p>
        </p:txBody>
      </p:sp>
      <p:sp>
        <p:nvSpPr>
          <p:cNvPr id="8" name="Rettangolo 7">
            <a:extLst xmlns:a="http://schemas.openxmlformats.org/drawingml/2006/main">
              <a:ext uri="{FF2B5EF4-FFF2-40B4-BE49-F238E27FC236}">
                <a16:creationId xmlns:a16="http://schemas.microsoft.com/office/drawing/2014/main" id="{6866549D-9D17-463F-9BE9-DC9437B3FE8D}"/>
              </a:ext>
            </a:extLst>
          </p:cNvPr>
          <p:cNvSpPr>
            <a:spLocks xmlns:a="http://schemas.openxmlformats.org/drawingml/2006/main" noGrp="1"/>
          </p:cNvSpPr>
          <p:nvPr/>
        </p:nvSpPr>
        <p:spPr>
          <a:xfrm xmlns:a="http://schemas.openxmlformats.org/drawingml/2006/main">
            <a:off x="876300" y="22669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0">
                <a:solidFill>
                  <a:srgbClr val="5B6577"/>
                </a:solidFill>
                <a:latin typeface="Arial"/>
                <a:ea typeface="Arial"/>
                <a:cs typeface="Arial"/>
              </a:defRPr>
            </a:pPr>
            <a:r>
              <a:rPr sz="1500" b="0">
                <a:solidFill>
                  <a:srgbClr val="5B6577"/>
                </a:solidFill>
                <a:latin typeface="Arial"/>
                <a:ea typeface="Arial"/>
                <a:cs typeface="Arial"/>
              </a:rPr>
              <a:t>image collections</a:t>
            </a:r>
          </a:p>
        </p:txBody>
      </p:sp>
      <p:sp>
        <p:nvSpPr>
          <p:cNvPr id="9" name="Rettangolo con angoli arrotondati 8">
            <a:extLst xmlns:a="http://schemas.openxmlformats.org/drawingml/2006/main">
              <a:ext uri="{FF2B5EF4-FFF2-40B4-BE49-F238E27FC236}">
                <a16:creationId xmlns:a16="http://schemas.microsoft.com/office/drawing/2014/main" id="{1B4F03EB-5A2C-471C-ABF0-97B8F80F2258}"/>
              </a:ext>
            </a:extLst>
          </p:cNvPr>
          <p:cNvSpPr>
            <a:spLocks xmlns:a="http://schemas.openxmlformats.org/drawingml/2006/main" noGrp="1"/>
          </p:cNvSpPr>
          <p:nvPr/>
        </p:nvSpPr>
        <p:spPr>
          <a:xfrm xmlns:a="http://schemas.openxmlformats.org/drawingml/2006/main">
            <a:off x="4343400" y="1524000"/>
            <a:ext cx="3048000" cy="1200150"/>
          </a:xfrm>
          <a:prstGeom xmlns:a="http://schemas.openxmlformats.org/drawingml/2006/main" prst="roundRect">
            <a:avLst>
              <a:gd name="adj" fmla="val 14286"/>
            </a:avLst>
          </a:prstGeom>
          <a:solidFill xmlns:a="http://schemas.openxmlformats.org/drawingml/2006/main">
            <a:srgbClr val="E9EEF8"/>
          </a:solidFill>
          <a:ln xmlns:a="http://schemas.openxmlformats.org/drawingml/2006/main" w="9525">
            <a:solidFill>
              <a:srgbClr val="E9EEF8"/>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ttangolo 9">
            <a:extLst xmlns:a="http://schemas.openxmlformats.org/drawingml/2006/main">
              <a:ext uri="{FF2B5EF4-FFF2-40B4-BE49-F238E27FC236}">
                <a16:creationId xmlns:a16="http://schemas.microsoft.com/office/drawing/2014/main" id="{AFC8020C-45AE-4038-A8C9-738588A763B5}"/>
              </a:ext>
            </a:extLst>
          </p:cNvPr>
          <p:cNvSpPr>
            <a:spLocks xmlns:a="http://schemas.openxmlformats.org/drawingml/2006/main" noGrp="1"/>
          </p:cNvSpPr>
          <p:nvPr/>
        </p:nvSpPr>
        <p:spPr>
          <a:xfrm xmlns:a="http://schemas.openxmlformats.org/drawingml/2006/main">
            <a:off x="4533900" y="1743075"/>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233A70"/>
                </a:solidFill>
                <a:latin typeface="Arial"/>
                <a:ea typeface="Arial"/>
                <a:cs typeface="Arial"/>
              </a:defRPr>
            </a:pPr>
            <a:r>
              <a:rPr sz="2850" b="1">
                <a:solidFill>
                  <a:srgbClr val="233A70"/>
                </a:solidFill>
                <a:latin typeface="Arial"/>
                <a:ea typeface="Arial"/>
                <a:cs typeface="Arial"/>
              </a:rPr>
              <a:t>AI</a:t>
            </a:r>
          </a:p>
        </p:txBody>
      </p:sp>
      <p:sp>
        <p:nvSpPr>
          <p:cNvPr id="11" name="Rettangolo 10">
            <a:extLst xmlns:a="http://schemas.openxmlformats.org/drawingml/2006/main">
              <a:ext uri="{FF2B5EF4-FFF2-40B4-BE49-F238E27FC236}">
                <a16:creationId xmlns:a16="http://schemas.microsoft.com/office/drawing/2014/main" id="{C33FDAE1-0BA9-4918-83D0-329C1792220C}"/>
              </a:ext>
            </a:extLst>
          </p:cNvPr>
          <p:cNvSpPr>
            <a:spLocks xmlns:a="http://schemas.openxmlformats.org/drawingml/2006/main" noGrp="1"/>
          </p:cNvSpPr>
          <p:nvPr/>
        </p:nvSpPr>
        <p:spPr>
          <a:xfrm xmlns:a="http://schemas.openxmlformats.org/drawingml/2006/main">
            <a:off x="4533900" y="22669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0">
                <a:solidFill>
                  <a:srgbClr val="5B6577"/>
                </a:solidFill>
                <a:latin typeface="Arial"/>
                <a:ea typeface="Arial"/>
                <a:cs typeface="Arial"/>
              </a:defRPr>
            </a:pPr>
            <a:r>
              <a:rPr sz="1500" b="0">
                <a:solidFill>
                  <a:srgbClr val="5B6577"/>
                </a:solidFill>
                <a:latin typeface="Arial"/>
                <a:ea typeface="Arial"/>
                <a:cs typeface="Arial"/>
              </a:rPr>
              <a:t>assisted triage</a:t>
            </a:r>
          </a:p>
        </p:txBody>
      </p:sp>
      <p:sp>
        <p:nvSpPr>
          <p:cNvPr id="12" name="Rettangolo con angoli arrotondati 11">
            <a:extLst xmlns:a="http://schemas.openxmlformats.org/drawingml/2006/main">
              <a:ext uri="{FF2B5EF4-FFF2-40B4-BE49-F238E27FC236}">
                <a16:creationId xmlns:a16="http://schemas.microsoft.com/office/drawing/2014/main" id="{4C845868-F781-47A9-940E-F0CDBB7371DC}"/>
              </a:ext>
            </a:extLst>
          </p:cNvPr>
          <p:cNvSpPr>
            <a:spLocks xmlns:a="http://schemas.openxmlformats.org/drawingml/2006/main" noGrp="1"/>
          </p:cNvSpPr>
          <p:nvPr/>
        </p:nvSpPr>
        <p:spPr>
          <a:xfrm xmlns:a="http://schemas.openxmlformats.org/drawingml/2006/main">
            <a:off x="8001000" y="1524000"/>
            <a:ext cx="3048000" cy="1200150"/>
          </a:xfrm>
          <a:prstGeom xmlns:a="http://schemas.openxmlformats.org/drawingml/2006/main" prst="roundRect">
            <a:avLst>
              <a:gd name="adj" fmla="val 14286"/>
            </a:avLst>
          </a:prstGeom>
          <a:solidFill xmlns:a="http://schemas.openxmlformats.org/drawingml/2006/main">
            <a:srgbClr val="FBEAEA"/>
          </a:solidFill>
          <a:ln xmlns:a="http://schemas.openxmlformats.org/drawingml/2006/main" w="9525">
            <a:solidFill>
              <a:srgbClr val="FBEAEA"/>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Rettangolo 12">
            <a:extLst xmlns:a="http://schemas.openxmlformats.org/drawingml/2006/main">
              <a:ext uri="{FF2B5EF4-FFF2-40B4-BE49-F238E27FC236}">
                <a16:creationId xmlns:a16="http://schemas.microsoft.com/office/drawing/2014/main" id="{E1D87471-E992-400B-8BA5-98A79A7C8C69}"/>
              </a:ext>
            </a:extLst>
          </p:cNvPr>
          <p:cNvSpPr>
            <a:spLocks xmlns:a="http://schemas.openxmlformats.org/drawingml/2006/main" noGrp="1"/>
          </p:cNvSpPr>
          <p:nvPr/>
        </p:nvSpPr>
        <p:spPr>
          <a:xfrm xmlns:a="http://schemas.openxmlformats.org/drawingml/2006/main">
            <a:off x="8191500" y="1743075"/>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BE3C37"/>
                </a:solidFill>
                <a:latin typeface="Arial"/>
                <a:ea typeface="Arial"/>
                <a:cs typeface="Arial"/>
              </a:defRPr>
            </a:pPr>
            <a:r>
              <a:rPr sz="2850" b="1">
                <a:solidFill>
                  <a:srgbClr val="BE3C37"/>
                </a:solidFill>
                <a:latin typeface="Arial"/>
                <a:ea typeface="Arial"/>
                <a:cs typeface="Arial"/>
              </a:rPr>
              <a:t>MISS</a:t>
            </a:r>
          </a:p>
        </p:txBody>
      </p:sp>
      <p:sp>
        <p:nvSpPr>
          <p:cNvPr id="14" name="Rettangolo 13">
            <a:extLst xmlns:a="http://schemas.openxmlformats.org/drawingml/2006/main">
              <a:ext uri="{FF2B5EF4-FFF2-40B4-BE49-F238E27FC236}">
                <a16:creationId xmlns:a16="http://schemas.microsoft.com/office/drawing/2014/main" id="{B0C05342-6D6D-4097-A670-5979C502D4B5}"/>
              </a:ext>
            </a:extLst>
          </p:cNvPr>
          <p:cNvSpPr>
            <a:spLocks xmlns:a="http://schemas.openxmlformats.org/drawingml/2006/main" noGrp="1"/>
          </p:cNvSpPr>
          <p:nvPr/>
        </p:nvSpPr>
        <p:spPr>
          <a:xfrm xmlns:a="http://schemas.openxmlformats.org/drawingml/2006/main">
            <a:off x="8191500" y="22669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0">
                <a:solidFill>
                  <a:srgbClr val="5B6577"/>
                </a:solidFill>
                <a:latin typeface="Arial"/>
                <a:ea typeface="Arial"/>
                <a:cs typeface="Arial"/>
              </a:defRPr>
            </a:pPr>
            <a:r>
              <a:rPr sz="1500" b="0">
                <a:solidFill>
                  <a:srgbClr val="5B6577"/>
                </a:solidFill>
                <a:latin typeface="Arial"/>
                <a:ea typeface="Arial"/>
                <a:cs typeface="Arial"/>
              </a:rPr>
              <a:t>relevant evidence</a:t>
            </a:r>
          </a:p>
        </p:txBody>
      </p:sp>
      <p:sp>
        <p:nvSpPr>
          <p:cNvPr id="15" name="Rettangolo 14">
            <a:extLst xmlns:a="http://schemas.openxmlformats.org/drawingml/2006/main">
              <a:ext uri="{FF2B5EF4-FFF2-40B4-BE49-F238E27FC236}">
                <a16:creationId xmlns:a16="http://schemas.microsoft.com/office/drawing/2014/main" id="{BE95789F-29F4-458B-9109-B5F4176210EA}"/>
              </a:ext>
            </a:extLst>
          </p:cNvPr>
          <p:cNvSpPr>
            <a:spLocks xmlns:a="http://schemas.openxmlformats.org/drawingml/2006/main" noGrp="1"/>
          </p:cNvSpPr>
          <p:nvPr/>
        </p:nvSpPr>
        <p:spPr>
          <a:xfrm xmlns:a="http://schemas.openxmlformats.org/drawingml/2006/main">
            <a:off x="3752850" y="186690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150" b="1">
                <a:solidFill>
                  <a:srgbClr val="233A70"/>
                </a:solidFill>
                <a:latin typeface="Arial"/>
                <a:ea typeface="Arial"/>
                <a:cs typeface="Arial"/>
              </a:defRPr>
            </a:pPr>
            <a:r>
              <a:rPr sz="3150" b="1">
                <a:solidFill>
                  <a:srgbClr val="233A70"/>
                </a:solidFill>
                <a:latin typeface="Arial"/>
                <a:ea typeface="Arial"/>
                <a:cs typeface="Arial"/>
              </a:rPr>
              <a:t>→</a:t>
            </a:r>
          </a:p>
        </p:txBody>
      </p:sp>
      <p:sp>
        <p:nvSpPr>
          <p:cNvPr id="16" name="Rettangolo 15">
            <a:extLst xmlns:a="http://schemas.openxmlformats.org/drawingml/2006/main">
              <a:ext uri="{FF2B5EF4-FFF2-40B4-BE49-F238E27FC236}">
                <a16:creationId xmlns:a16="http://schemas.microsoft.com/office/drawing/2014/main" id="{B813C1EC-E4C9-443B-9424-97804AB1F480}"/>
              </a:ext>
            </a:extLst>
          </p:cNvPr>
          <p:cNvSpPr>
            <a:spLocks xmlns:a="http://schemas.openxmlformats.org/drawingml/2006/main" noGrp="1"/>
          </p:cNvSpPr>
          <p:nvPr/>
        </p:nvSpPr>
        <p:spPr>
          <a:xfrm xmlns:a="http://schemas.openxmlformats.org/drawingml/2006/main">
            <a:off x="7410450" y="186690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150" b="1">
                <a:solidFill>
                  <a:srgbClr val="233A70"/>
                </a:solidFill>
                <a:latin typeface="Arial"/>
                <a:ea typeface="Arial"/>
                <a:cs typeface="Arial"/>
              </a:defRPr>
            </a:pPr>
            <a:r>
              <a:rPr sz="3150" b="1">
                <a:solidFill>
                  <a:srgbClr val="233A70"/>
                </a:solidFill>
                <a:latin typeface="Arial"/>
                <a:ea typeface="Arial"/>
                <a:cs typeface="Arial"/>
              </a:rPr>
              <a:t>→</a:t>
            </a:r>
          </a:p>
        </p:txBody>
      </p:sp>
      <p:sp>
        <p:nvSpPr>
          <p:cNvPr id="17" name="Rettangolo con angoli arrotondati 16">
            <a:extLst xmlns:a="http://schemas.openxmlformats.org/drawingml/2006/main">
              <a:ext uri="{FF2B5EF4-FFF2-40B4-BE49-F238E27FC236}">
                <a16:creationId xmlns:a16="http://schemas.microsoft.com/office/drawing/2014/main" id="{4EBFE33E-8979-4761-84B8-587E7AC16DD3}"/>
              </a:ext>
            </a:extLst>
          </p:cNvPr>
          <p:cNvSpPr>
            <a:spLocks xmlns:a="http://schemas.openxmlformats.org/drawingml/2006/main" noGrp="1"/>
          </p:cNvSpPr>
          <p:nvPr/>
        </p:nvSpPr>
        <p:spPr>
          <a:xfrm xmlns:a="http://schemas.openxmlformats.org/drawingml/2006/main">
            <a:off x="1123950" y="3162300"/>
            <a:ext cx="9944100" cy="1352550"/>
          </a:xfrm>
          <a:prstGeom xmlns:a="http://schemas.openxmlformats.org/drawingml/2006/main" prst="roundRect">
            <a:avLst>
              <a:gd name="adj" fmla="val 12676"/>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8" name="Rettangolo 17">
            <a:extLst xmlns:a="http://schemas.openxmlformats.org/drawingml/2006/main">
              <a:ext uri="{FF2B5EF4-FFF2-40B4-BE49-F238E27FC236}">
                <a16:creationId xmlns:a16="http://schemas.microsoft.com/office/drawing/2014/main" id="{77611C6C-126C-490B-8FFB-2004E5871B70}"/>
              </a:ext>
            </a:extLst>
          </p:cNvPr>
          <p:cNvSpPr>
            <a:spLocks xmlns:a="http://schemas.openxmlformats.org/drawingml/2006/main" noGrp="1"/>
          </p:cNvSpPr>
          <p:nvPr/>
        </p:nvSpPr>
        <p:spPr>
          <a:xfrm xmlns:a="http://schemas.openxmlformats.org/drawingml/2006/main">
            <a:off x="1504950" y="3429000"/>
            <a:ext cx="9182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How does forensic image triage behave under</a:t>
            </a:r>
          </a:p>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adversarial, anti-forensic and OOD inputs?</a:t>
            </a:r>
          </a:p>
        </p:txBody>
      </p:sp>
      <p:sp>
        <p:nvSpPr>
          <p:cNvPr id="19" name="Rettangolo 18">
            <a:extLst xmlns:a="http://schemas.openxmlformats.org/drawingml/2006/main">
              <a:ext uri="{FF2B5EF4-FFF2-40B4-BE49-F238E27FC236}">
                <a16:creationId xmlns:a16="http://schemas.microsoft.com/office/drawing/2014/main" id="{DDA7D3C5-CB47-4C4D-BA38-0571EC45CEF8}"/>
              </a:ext>
            </a:extLst>
          </p:cNvPr>
          <p:cNvSpPr>
            <a:spLocks xmlns:a="http://schemas.openxmlformats.org/drawingml/2006/main" noGrp="1"/>
          </p:cNvSpPr>
          <p:nvPr/>
        </p:nvSpPr>
        <p:spPr>
          <a:xfrm xmlns:a="http://schemas.openxmlformats.org/drawingml/2006/main">
            <a:off x="876300" y="4857750"/>
            <a:ext cx="9982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575" b="0">
                <a:solidFill>
                  <a:srgbClr val="5B6577"/>
                </a:solidFill>
                <a:latin typeface="Arial"/>
                <a:ea typeface="Arial"/>
                <a:cs typeface="Arial"/>
              </a:defRPr>
            </a:pPr>
            <a:r>
              <a:rPr sz="1575" b="0">
                <a:solidFill>
                  <a:srgbClr val="5B6577"/>
                </a:solidFill>
                <a:latin typeface="Arial"/>
                <a:ea typeface="Arial"/>
                <a:cs typeface="Arial"/>
              </a:rPr>
              <a:t>Clean accuracy may look reassuring while a relevant item is quietly moved out of the analyst’s priority queue.</a:t>
            </a:r>
          </a:p>
        </p:txBody>
      </p:sp>
      <p:sp>
        <p:nvSpPr>
          <p:cNvPr id="20" name="Rettangolo con angoli arrotondati 19">
            <a:extLst xmlns:a="http://schemas.openxmlformats.org/drawingml/2006/main">
              <a:ext uri="{FF2B5EF4-FFF2-40B4-BE49-F238E27FC236}">
                <a16:creationId xmlns:a16="http://schemas.microsoft.com/office/drawing/2014/main" id="{59855B48-B64C-42AD-8C97-0C65B6AAAAF3}"/>
              </a:ext>
            </a:extLst>
          </p:cNvPr>
          <p:cNvSpPr>
            <a:spLocks xmlns:a="http://schemas.openxmlformats.org/drawingml/2006/main" noGrp="1"/>
          </p:cNvSpPr>
          <p:nvPr/>
        </p:nvSpPr>
        <p:spPr>
          <a:xfrm xmlns:a="http://schemas.openxmlformats.org/drawingml/2006/main">
            <a:off x="2000250" y="5600700"/>
            <a:ext cx="8191500" cy="514350"/>
          </a:xfrm>
          <a:prstGeom xmlns:a="http://schemas.openxmlformats.org/drawingml/2006/main" prst="roundRect">
            <a:avLst>
              <a:gd name="adj" fmla="val 25926"/>
            </a:avLst>
          </a:prstGeom>
          <a:solidFill xmlns:a="http://schemas.openxmlformats.org/drawingml/2006/main">
            <a:srgbClr val="E7F8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1" name="Rettangolo 20">
            <a:extLst xmlns:a="http://schemas.openxmlformats.org/drawingml/2006/main">
              <a:ext uri="{FF2B5EF4-FFF2-40B4-BE49-F238E27FC236}">
                <a16:creationId xmlns:a16="http://schemas.microsoft.com/office/drawing/2014/main" id="{C5A6713C-2452-4272-91E6-86D11A7F5573}"/>
              </a:ext>
            </a:extLst>
          </p:cNvPr>
          <p:cNvSpPr>
            <a:spLocks xmlns:a="http://schemas.openxmlformats.org/drawingml/2006/main" noGrp="1"/>
          </p:cNvSpPr>
          <p:nvPr/>
        </p:nvSpPr>
        <p:spPr>
          <a:xfrm xmlns:a="http://schemas.openxmlformats.org/drawingml/2006/main">
            <a:off x="2266950" y="5743575"/>
            <a:ext cx="7658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087A50"/>
                </a:solidFill>
                <a:latin typeface="Arial"/>
                <a:ea typeface="Arial"/>
                <a:cs typeface="Arial"/>
              </a:defRPr>
            </a:pPr>
            <a:r>
              <a:rPr sz="1425" b="1">
                <a:solidFill>
                  <a:srgbClr val="087A50"/>
                </a:solidFill>
                <a:latin typeface="Arial"/>
                <a:ea typeface="Arial"/>
                <a:cs typeface="Arial"/>
              </a:rPr>
              <a:t>Contribution: auditable robustness assessment—not a new firearm classifier.</a:t>
            </a:r>
          </a:p>
        </p:txBody>
      </p:sp>
    </p:spTree>
    <p:extLst>
      <p:ext uri="{BB962C8B-B14F-4D97-AF65-F5344CB8AC3E}">
        <p14:creationId xmlns:p14="http://schemas.microsoft.com/office/powerpoint/2010/main" val="7108233"/>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2" name="Rettangolo 31">
            <a:extLst xmlns:a="http://schemas.openxmlformats.org/drawingml/2006/main">
              <a:ext uri="{FF2B5EF4-FFF2-40B4-BE49-F238E27FC236}">
                <a16:creationId xmlns:a16="http://schemas.microsoft.com/office/drawing/2014/main" id="{6C0B1A53-D25B-4A63-AC3D-8F73AF1B454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9BB695DD-AE95-440C-B8F5-952448E18C0F}"/>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FAIRLab makes robustness auditable</a:t>
            </a:r>
          </a:p>
        </p:txBody>
      </p:sp>
      <p:sp>
        <p:nvSpPr>
          <p:cNvPr id="3" name="Rettangolo 2">
            <a:extLst xmlns:a="http://schemas.openxmlformats.org/drawingml/2006/main">
              <a:ext uri="{FF2B5EF4-FFF2-40B4-BE49-F238E27FC236}">
                <a16:creationId xmlns:a16="http://schemas.microsoft.com/office/drawing/2014/main" id="{043FF31C-DB46-4E33-817A-CBBE738643F9}"/>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D319FC2A-5C48-4679-98E3-D8A119AEE97E}"/>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3B214099-1E39-4983-88F2-9CF7A1ED2504}"/>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03</a:t>
            </a:r>
          </a:p>
        </p:txBody>
      </p:sp>
      <p:sp>
        <p:nvSpPr>
          <p:cNvPr id="6" name="Rettangolo con angoli arrotondati 5">
            <a:extLst xmlns:a="http://schemas.openxmlformats.org/drawingml/2006/main">
              <a:ext uri="{FF2B5EF4-FFF2-40B4-BE49-F238E27FC236}">
                <a16:creationId xmlns:a16="http://schemas.microsoft.com/office/drawing/2014/main" id="{F91845BA-A49A-4FC8-8C94-20F23A40393D}"/>
              </a:ext>
            </a:extLst>
          </p:cNvPr>
          <p:cNvSpPr>
            <a:spLocks xmlns:a="http://schemas.openxmlformats.org/drawingml/2006/main" noGrp="1"/>
          </p:cNvSpPr>
          <p:nvPr/>
        </p:nvSpPr>
        <p:spPr>
          <a:xfrm xmlns:a="http://schemas.openxmlformats.org/drawingml/2006/main">
            <a:off x="685800" y="1524000"/>
            <a:ext cx="304800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6">
            <a:extLst xmlns:a="http://schemas.openxmlformats.org/drawingml/2006/main">
              <a:ext uri="{FF2B5EF4-FFF2-40B4-BE49-F238E27FC236}">
                <a16:creationId xmlns:a16="http://schemas.microsoft.com/office/drawing/2014/main" id="{4B2F791D-898D-4C09-88CD-BCF8DAF22C9B}"/>
              </a:ext>
            </a:extLst>
          </p:cNvPr>
          <p:cNvSpPr>
            <a:spLocks xmlns:a="http://schemas.openxmlformats.org/drawingml/2006/main" noGrp="1"/>
          </p:cNvSpPr>
          <p:nvPr/>
        </p:nvSpPr>
        <p:spPr>
          <a:xfrm xmlns:a="http://schemas.openxmlformats.org/drawingml/2006/main">
            <a:off x="876300" y="17526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233A70"/>
                </a:solidFill>
                <a:latin typeface="Arial"/>
                <a:ea typeface="Arial"/>
                <a:cs typeface="Arial"/>
              </a:defRPr>
            </a:pPr>
            <a:r>
              <a:rPr sz="1350" b="1">
                <a:solidFill>
                  <a:srgbClr val="233A70"/>
                </a:solidFill>
                <a:latin typeface="Arial"/>
                <a:ea typeface="Arial"/>
                <a:cs typeface="Arial"/>
              </a:rPr>
              <a:t>01 · SOURCE</a:t>
            </a:r>
          </a:p>
        </p:txBody>
      </p:sp>
      <p:sp>
        <p:nvSpPr>
          <p:cNvPr id="8" name="Rettangolo 7">
            <a:extLst xmlns:a="http://schemas.openxmlformats.org/drawingml/2006/main">
              <a:ext uri="{FF2B5EF4-FFF2-40B4-BE49-F238E27FC236}">
                <a16:creationId xmlns:a16="http://schemas.microsoft.com/office/drawing/2014/main" id="{DD23DB3C-604D-4EEA-A4FA-3C66E44C8E4F}"/>
              </a:ext>
            </a:extLst>
          </p:cNvPr>
          <p:cNvSpPr>
            <a:spLocks xmlns:a="http://schemas.openxmlformats.org/drawingml/2006/main" noGrp="1"/>
          </p:cNvSpPr>
          <p:nvPr/>
        </p:nvSpPr>
        <p:spPr>
          <a:xfrm xmlns:a="http://schemas.openxmlformats.org/drawingml/2006/main">
            <a:off x="876300" y="21907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72033"/>
                </a:solidFill>
                <a:latin typeface="Arial"/>
                <a:ea typeface="Arial"/>
                <a:cs typeface="Arial"/>
              </a:defRPr>
            </a:pPr>
            <a:r>
              <a:rPr sz="1800" b="1">
                <a:solidFill>
                  <a:srgbClr val="172033"/>
                </a:solidFill>
                <a:latin typeface="Arial"/>
                <a:ea typeface="Arial"/>
                <a:cs typeface="Arial"/>
              </a:rPr>
              <a:t>heterogeneous pool</a:t>
            </a:r>
          </a:p>
        </p:txBody>
      </p:sp>
      <p:sp>
        <p:nvSpPr>
          <p:cNvPr id="9" name="Rettangolo con angoli arrotondati 8">
            <a:extLst xmlns:a="http://schemas.openxmlformats.org/drawingml/2006/main">
              <a:ext uri="{FF2B5EF4-FFF2-40B4-BE49-F238E27FC236}">
                <a16:creationId xmlns:a16="http://schemas.microsoft.com/office/drawing/2014/main" id="{99A661A2-1646-46C8-B23D-CEAE1DEB18C1}"/>
              </a:ext>
            </a:extLst>
          </p:cNvPr>
          <p:cNvSpPr>
            <a:spLocks xmlns:a="http://schemas.openxmlformats.org/drawingml/2006/main" noGrp="1"/>
          </p:cNvSpPr>
          <p:nvPr/>
        </p:nvSpPr>
        <p:spPr>
          <a:xfrm xmlns:a="http://schemas.openxmlformats.org/drawingml/2006/main">
            <a:off x="4343400" y="1524000"/>
            <a:ext cx="3048000" cy="1200150"/>
          </a:xfrm>
          <a:prstGeom xmlns:a="http://schemas.openxmlformats.org/drawingml/2006/main" prst="roundRect">
            <a:avLst>
              <a:gd name="adj" fmla="val 12698"/>
            </a:avLst>
          </a:prstGeom>
          <a:solidFill xmlns:a="http://schemas.openxmlformats.org/drawingml/2006/main">
            <a:srgbClr val="E7F8F0"/>
          </a:solidFill>
          <a:ln xmlns:a="http://schemas.openxmlformats.org/drawingml/2006/main" w="9525">
            <a:solidFill>
              <a:srgbClr val="E7F8F0"/>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ttangolo 9">
            <a:extLst xmlns:a="http://schemas.openxmlformats.org/drawingml/2006/main">
              <a:ext uri="{FF2B5EF4-FFF2-40B4-BE49-F238E27FC236}">
                <a16:creationId xmlns:a16="http://schemas.microsoft.com/office/drawing/2014/main" id="{AFED12D9-FF88-4E60-BD67-EFEB869BA78A}"/>
              </a:ext>
            </a:extLst>
          </p:cNvPr>
          <p:cNvSpPr>
            <a:spLocks xmlns:a="http://schemas.openxmlformats.org/drawingml/2006/main" noGrp="1"/>
          </p:cNvSpPr>
          <p:nvPr/>
        </p:nvSpPr>
        <p:spPr>
          <a:xfrm xmlns:a="http://schemas.openxmlformats.org/drawingml/2006/main">
            <a:off x="4533900" y="17526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087A50"/>
                </a:solidFill>
                <a:latin typeface="Arial"/>
                <a:ea typeface="Arial"/>
                <a:cs typeface="Arial"/>
              </a:defRPr>
            </a:pPr>
            <a:r>
              <a:rPr sz="1350" b="1">
                <a:solidFill>
                  <a:srgbClr val="087A50"/>
                </a:solidFill>
                <a:latin typeface="Arial"/>
                <a:ea typeface="Arial"/>
                <a:cs typeface="Arial"/>
              </a:rPr>
              <a:t>02 · VALIDATE</a:t>
            </a:r>
          </a:p>
        </p:txBody>
      </p:sp>
      <p:sp>
        <p:nvSpPr>
          <p:cNvPr id="11" name="Rettangolo 10">
            <a:extLst xmlns:a="http://schemas.openxmlformats.org/drawingml/2006/main">
              <a:ext uri="{FF2B5EF4-FFF2-40B4-BE49-F238E27FC236}">
                <a16:creationId xmlns:a16="http://schemas.microsoft.com/office/drawing/2014/main" id="{3160162F-71B4-4503-94D0-C14C526A20C3}"/>
              </a:ext>
            </a:extLst>
          </p:cNvPr>
          <p:cNvSpPr>
            <a:spLocks xmlns:a="http://schemas.openxmlformats.org/drawingml/2006/main" noGrp="1"/>
          </p:cNvSpPr>
          <p:nvPr/>
        </p:nvSpPr>
        <p:spPr>
          <a:xfrm xmlns:a="http://schemas.openxmlformats.org/drawingml/2006/main">
            <a:off x="4533900" y="21907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72033"/>
                </a:solidFill>
                <a:latin typeface="Arial"/>
                <a:ea typeface="Arial"/>
                <a:cs typeface="Arial"/>
              </a:defRPr>
            </a:pPr>
            <a:r>
              <a:rPr sz="1800" b="1">
                <a:solidFill>
                  <a:srgbClr val="172033"/>
                </a:solidFill>
                <a:latin typeface="Arial"/>
                <a:ea typeface="Arial"/>
                <a:cs typeface="Arial"/>
              </a:rPr>
              <a:t>review + dedup</a:t>
            </a:r>
          </a:p>
        </p:txBody>
      </p:sp>
      <p:sp>
        <p:nvSpPr>
          <p:cNvPr id="12" name="Rettangolo con angoli arrotondati 11">
            <a:extLst xmlns:a="http://schemas.openxmlformats.org/drawingml/2006/main">
              <a:ext uri="{FF2B5EF4-FFF2-40B4-BE49-F238E27FC236}">
                <a16:creationId xmlns:a16="http://schemas.microsoft.com/office/drawing/2014/main" id="{4441295A-C9D9-4A2C-BE6D-DA5D40668718}"/>
              </a:ext>
            </a:extLst>
          </p:cNvPr>
          <p:cNvSpPr>
            <a:spLocks xmlns:a="http://schemas.openxmlformats.org/drawingml/2006/main" noGrp="1"/>
          </p:cNvSpPr>
          <p:nvPr/>
        </p:nvSpPr>
        <p:spPr>
          <a:xfrm xmlns:a="http://schemas.openxmlformats.org/drawingml/2006/main">
            <a:off x="8001000" y="1524000"/>
            <a:ext cx="3048000" cy="1200150"/>
          </a:xfrm>
          <a:prstGeom xmlns:a="http://schemas.openxmlformats.org/drawingml/2006/main" prst="roundRect">
            <a:avLst>
              <a:gd name="adj" fmla="val 12698"/>
            </a:avLst>
          </a:prstGeom>
          <a:solidFill xmlns:a="http://schemas.openxmlformats.org/drawingml/2006/main">
            <a:srgbClr val="E9EEF8"/>
          </a:solidFill>
          <a:ln xmlns:a="http://schemas.openxmlformats.org/drawingml/2006/main" w="9525">
            <a:solidFill>
              <a:srgbClr val="E9EEF8"/>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Rettangolo 12">
            <a:extLst xmlns:a="http://schemas.openxmlformats.org/drawingml/2006/main">
              <a:ext uri="{FF2B5EF4-FFF2-40B4-BE49-F238E27FC236}">
                <a16:creationId xmlns:a16="http://schemas.microsoft.com/office/drawing/2014/main" id="{338253A6-A215-4512-91B2-D613B8843D99}"/>
              </a:ext>
            </a:extLst>
          </p:cNvPr>
          <p:cNvSpPr>
            <a:spLocks xmlns:a="http://schemas.openxmlformats.org/drawingml/2006/main" noGrp="1"/>
          </p:cNvSpPr>
          <p:nvPr/>
        </p:nvSpPr>
        <p:spPr>
          <a:xfrm xmlns:a="http://schemas.openxmlformats.org/drawingml/2006/main">
            <a:off x="8191500" y="17526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233A70"/>
                </a:solidFill>
                <a:latin typeface="Arial"/>
                <a:ea typeface="Arial"/>
                <a:cs typeface="Arial"/>
              </a:defRPr>
            </a:pPr>
            <a:r>
              <a:rPr sz="1350" b="1">
                <a:solidFill>
                  <a:srgbClr val="233A70"/>
                </a:solidFill>
                <a:latin typeface="Arial"/>
                <a:ea typeface="Arial"/>
                <a:cs typeface="Arial"/>
              </a:rPr>
              <a:t>03 · FREEZE</a:t>
            </a:r>
          </a:p>
        </p:txBody>
      </p:sp>
      <p:sp>
        <p:nvSpPr>
          <p:cNvPr id="14" name="Rettangolo 13">
            <a:extLst xmlns:a="http://schemas.openxmlformats.org/drawingml/2006/main">
              <a:ext uri="{FF2B5EF4-FFF2-40B4-BE49-F238E27FC236}">
                <a16:creationId xmlns:a16="http://schemas.microsoft.com/office/drawing/2014/main" id="{2E74B2CF-06EF-494C-B330-0AB6D414FA74}"/>
              </a:ext>
            </a:extLst>
          </p:cNvPr>
          <p:cNvSpPr>
            <a:spLocks xmlns:a="http://schemas.openxmlformats.org/drawingml/2006/main" noGrp="1"/>
          </p:cNvSpPr>
          <p:nvPr/>
        </p:nvSpPr>
        <p:spPr>
          <a:xfrm xmlns:a="http://schemas.openxmlformats.org/drawingml/2006/main">
            <a:off x="8191500" y="21907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72033"/>
                </a:solidFill>
                <a:latin typeface="Arial"/>
                <a:ea typeface="Arial"/>
                <a:cs typeface="Arial"/>
              </a:defRPr>
            </a:pPr>
            <a:r>
              <a:rPr sz="1800" b="1">
                <a:solidFill>
                  <a:srgbClr val="172033"/>
                </a:solidFill>
                <a:latin typeface="Arial"/>
                <a:ea typeface="Arial"/>
                <a:cs typeface="Arial"/>
              </a:rPr>
              <a:t>1,500 sources</a:t>
            </a:r>
          </a:p>
        </p:txBody>
      </p:sp>
      <p:sp>
        <p:nvSpPr>
          <p:cNvPr id="15" name="Rettangolo con angoli arrotondati 14">
            <a:extLst xmlns:a="http://schemas.openxmlformats.org/drawingml/2006/main">
              <a:ext uri="{FF2B5EF4-FFF2-40B4-BE49-F238E27FC236}">
                <a16:creationId xmlns:a16="http://schemas.microsoft.com/office/drawing/2014/main" id="{D680E11F-9529-4EA7-B8B2-3E7934F1DACD}"/>
              </a:ext>
            </a:extLst>
          </p:cNvPr>
          <p:cNvSpPr>
            <a:spLocks xmlns:a="http://schemas.openxmlformats.org/drawingml/2006/main" noGrp="1"/>
          </p:cNvSpPr>
          <p:nvPr/>
        </p:nvSpPr>
        <p:spPr>
          <a:xfrm xmlns:a="http://schemas.openxmlformats.org/drawingml/2006/main">
            <a:off x="8001000" y="3409950"/>
            <a:ext cx="3048000" cy="1200150"/>
          </a:xfrm>
          <a:prstGeom xmlns:a="http://schemas.openxmlformats.org/drawingml/2006/main" prst="roundRect">
            <a:avLst>
              <a:gd name="adj" fmla="val 12698"/>
            </a:avLst>
          </a:prstGeom>
          <a:solidFill xmlns:a="http://schemas.openxmlformats.org/drawingml/2006/main">
            <a:srgbClr val="FFF4CD"/>
          </a:solidFill>
          <a:ln xmlns:a="http://schemas.openxmlformats.org/drawingml/2006/main" w="9525">
            <a:solidFill>
              <a:srgbClr val="FFF4CD"/>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ttangolo 15">
            <a:extLst xmlns:a="http://schemas.openxmlformats.org/drawingml/2006/main">
              <a:ext uri="{FF2B5EF4-FFF2-40B4-BE49-F238E27FC236}">
                <a16:creationId xmlns:a16="http://schemas.microsoft.com/office/drawing/2014/main" id="{2EEF2A37-33E3-4CAF-8CCD-8C45ED364321}"/>
              </a:ext>
            </a:extLst>
          </p:cNvPr>
          <p:cNvSpPr>
            <a:spLocks xmlns:a="http://schemas.openxmlformats.org/drawingml/2006/main" noGrp="1"/>
          </p:cNvSpPr>
          <p:nvPr/>
        </p:nvSpPr>
        <p:spPr>
          <a:xfrm xmlns:a="http://schemas.openxmlformats.org/drawingml/2006/main">
            <a:off x="8191500" y="36385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C89B14"/>
                </a:solidFill>
                <a:latin typeface="Arial"/>
                <a:ea typeface="Arial"/>
                <a:cs typeface="Arial"/>
              </a:defRPr>
            </a:pPr>
            <a:r>
              <a:rPr sz="1350" b="1">
                <a:solidFill>
                  <a:srgbClr val="C89B14"/>
                </a:solidFill>
                <a:latin typeface="Arial"/>
                <a:ea typeface="Arial"/>
                <a:cs typeface="Arial"/>
              </a:rPr>
              <a:t>04 · PERTURB</a:t>
            </a:r>
          </a:p>
        </p:txBody>
      </p:sp>
      <p:sp>
        <p:nvSpPr>
          <p:cNvPr id="17" name="Rettangolo 16">
            <a:extLst xmlns:a="http://schemas.openxmlformats.org/drawingml/2006/main">
              <a:ext uri="{FF2B5EF4-FFF2-40B4-BE49-F238E27FC236}">
                <a16:creationId xmlns:a16="http://schemas.microsoft.com/office/drawing/2014/main" id="{BE58FD48-63A5-43A4-AE2D-68109E9A97B5}"/>
              </a:ext>
            </a:extLst>
          </p:cNvPr>
          <p:cNvSpPr>
            <a:spLocks xmlns:a="http://schemas.openxmlformats.org/drawingml/2006/main" noGrp="1"/>
          </p:cNvSpPr>
          <p:nvPr/>
        </p:nvSpPr>
        <p:spPr>
          <a:xfrm xmlns:a="http://schemas.openxmlformats.org/drawingml/2006/main">
            <a:off x="8191500" y="40767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72033"/>
                </a:solidFill>
                <a:latin typeface="Arial"/>
                <a:ea typeface="Arial"/>
                <a:cs typeface="Arial"/>
              </a:defRPr>
            </a:pPr>
            <a:r>
              <a:rPr sz="1800" b="1">
                <a:solidFill>
                  <a:srgbClr val="172033"/>
                </a:solidFill>
                <a:latin typeface="Arial"/>
                <a:ea typeface="Arial"/>
                <a:cs typeface="Arial"/>
              </a:rPr>
              <a:t>10,000 variants</a:t>
            </a:r>
          </a:p>
        </p:txBody>
      </p:sp>
      <p:sp>
        <p:nvSpPr>
          <p:cNvPr id="18" name="Rettangolo con angoli arrotondati 17">
            <a:extLst xmlns:a="http://schemas.openxmlformats.org/drawingml/2006/main">
              <a:ext uri="{FF2B5EF4-FFF2-40B4-BE49-F238E27FC236}">
                <a16:creationId xmlns:a16="http://schemas.microsoft.com/office/drawing/2014/main" id="{6D80ED9B-D274-464D-8DFA-5D4EB141CE12}"/>
              </a:ext>
            </a:extLst>
          </p:cNvPr>
          <p:cNvSpPr>
            <a:spLocks xmlns:a="http://schemas.openxmlformats.org/drawingml/2006/main" noGrp="1"/>
          </p:cNvSpPr>
          <p:nvPr/>
        </p:nvSpPr>
        <p:spPr>
          <a:xfrm xmlns:a="http://schemas.openxmlformats.org/drawingml/2006/main">
            <a:off x="4343400" y="3409950"/>
            <a:ext cx="304800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Rettangolo 18">
            <a:extLst xmlns:a="http://schemas.openxmlformats.org/drawingml/2006/main">
              <a:ext uri="{FF2B5EF4-FFF2-40B4-BE49-F238E27FC236}">
                <a16:creationId xmlns:a16="http://schemas.microsoft.com/office/drawing/2014/main" id="{8C00595D-2E4C-4798-9AFA-918EB03D6CE1}"/>
              </a:ext>
            </a:extLst>
          </p:cNvPr>
          <p:cNvSpPr>
            <a:spLocks xmlns:a="http://schemas.openxmlformats.org/drawingml/2006/main" noGrp="1"/>
          </p:cNvSpPr>
          <p:nvPr/>
        </p:nvSpPr>
        <p:spPr>
          <a:xfrm xmlns:a="http://schemas.openxmlformats.org/drawingml/2006/main">
            <a:off x="4533900" y="36385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233A70"/>
                </a:solidFill>
                <a:latin typeface="Arial"/>
                <a:ea typeface="Arial"/>
                <a:cs typeface="Arial"/>
              </a:defRPr>
            </a:pPr>
            <a:r>
              <a:rPr sz="1350" b="1">
                <a:solidFill>
                  <a:srgbClr val="233A70"/>
                </a:solidFill>
                <a:latin typeface="Arial"/>
                <a:ea typeface="Arial"/>
                <a:cs typeface="Arial"/>
              </a:rPr>
              <a:t>05 · EVALUATE</a:t>
            </a:r>
          </a:p>
        </p:txBody>
      </p:sp>
      <p:sp>
        <p:nvSpPr>
          <p:cNvPr id="20" name="Rettangolo 19">
            <a:extLst xmlns:a="http://schemas.openxmlformats.org/drawingml/2006/main">
              <a:ext uri="{FF2B5EF4-FFF2-40B4-BE49-F238E27FC236}">
                <a16:creationId xmlns:a16="http://schemas.microsoft.com/office/drawing/2014/main" id="{25CC8402-52F3-415B-8334-9D28329B23A7}"/>
              </a:ext>
            </a:extLst>
          </p:cNvPr>
          <p:cNvSpPr>
            <a:spLocks xmlns:a="http://schemas.openxmlformats.org/drawingml/2006/main" noGrp="1"/>
          </p:cNvSpPr>
          <p:nvPr/>
        </p:nvSpPr>
        <p:spPr>
          <a:xfrm xmlns:a="http://schemas.openxmlformats.org/drawingml/2006/main">
            <a:off x="4533900" y="40767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72033"/>
                </a:solidFill>
                <a:latin typeface="Arial"/>
                <a:ea typeface="Arial"/>
                <a:cs typeface="Arial"/>
              </a:defRPr>
            </a:pPr>
            <a:r>
              <a:rPr sz="1800" b="1">
                <a:solidFill>
                  <a:srgbClr val="172033"/>
                </a:solidFill>
                <a:latin typeface="Arial"/>
                <a:ea typeface="Arial"/>
                <a:cs typeface="Arial"/>
              </a:rPr>
              <a:t>3 proxies + 6 configs</a:t>
            </a:r>
          </a:p>
        </p:txBody>
      </p:sp>
      <p:sp>
        <p:nvSpPr>
          <p:cNvPr id="21" name="Rettangolo con angoli arrotondati 20">
            <a:extLst xmlns:a="http://schemas.openxmlformats.org/drawingml/2006/main">
              <a:ext uri="{FF2B5EF4-FFF2-40B4-BE49-F238E27FC236}">
                <a16:creationId xmlns:a16="http://schemas.microsoft.com/office/drawing/2014/main" id="{F96800EB-DDFB-441A-ACC4-724820F4F532}"/>
              </a:ext>
            </a:extLst>
          </p:cNvPr>
          <p:cNvSpPr>
            <a:spLocks xmlns:a="http://schemas.openxmlformats.org/drawingml/2006/main" noGrp="1"/>
          </p:cNvSpPr>
          <p:nvPr/>
        </p:nvSpPr>
        <p:spPr>
          <a:xfrm xmlns:a="http://schemas.openxmlformats.org/drawingml/2006/main">
            <a:off x="685800" y="3409950"/>
            <a:ext cx="3048000" cy="1200150"/>
          </a:xfrm>
          <a:prstGeom xmlns:a="http://schemas.openxmlformats.org/drawingml/2006/main" prst="roundRect">
            <a:avLst>
              <a:gd name="adj" fmla="val 12698"/>
            </a:avLst>
          </a:prstGeom>
          <a:solidFill xmlns:a="http://schemas.openxmlformats.org/drawingml/2006/main">
            <a:srgbClr val="E7F8F0"/>
          </a:solidFill>
          <a:ln xmlns:a="http://schemas.openxmlformats.org/drawingml/2006/main" w="9525">
            <a:solidFill>
              <a:srgbClr val="E7F8F0"/>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Rettangolo 21">
            <a:extLst xmlns:a="http://schemas.openxmlformats.org/drawingml/2006/main">
              <a:ext uri="{FF2B5EF4-FFF2-40B4-BE49-F238E27FC236}">
                <a16:creationId xmlns:a16="http://schemas.microsoft.com/office/drawing/2014/main" id="{445E9920-1B66-4358-8F69-F6C653EC3630}"/>
              </a:ext>
            </a:extLst>
          </p:cNvPr>
          <p:cNvSpPr>
            <a:spLocks xmlns:a="http://schemas.openxmlformats.org/drawingml/2006/main" noGrp="1"/>
          </p:cNvSpPr>
          <p:nvPr/>
        </p:nvSpPr>
        <p:spPr>
          <a:xfrm xmlns:a="http://schemas.openxmlformats.org/drawingml/2006/main">
            <a:off x="876300" y="36385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087A50"/>
                </a:solidFill>
                <a:latin typeface="Arial"/>
                <a:ea typeface="Arial"/>
                <a:cs typeface="Arial"/>
              </a:defRPr>
            </a:pPr>
            <a:r>
              <a:rPr sz="1350" b="1">
                <a:solidFill>
                  <a:srgbClr val="087A50"/>
                </a:solidFill>
                <a:latin typeface="Arial"/>
                <a:ea typeface="Arial"/>
                <a:cs typeface="Arial"/>
              </a:rPr>
              <a:t>06 · INTERPRET</a:t>
            </a:r>
          </a:p>
        </p:txBody>
      </p:sp>
      <p:sp>
        <p:nvSpPr>
          <p:cNvPr id="23" name="Rettangolo 22">
            <a:extLst xmlns:a="http://schemas.openxmlformats.org/drawingml/2006/main">
              <a:ext uri="{FF2B5EF4-FFF2-40B4-BE49-F238E27FC236}">
                <a16:creationId xmlns:a16="http://schemas.microsoft.com/office/drawing/2014/main" id="{80975C52-4A62-447C-ADE4-34216CFBF10A}"/>
              </a:ext>
            </a:extLst>
          </p:cNvPr>
          <p:cNvSpPr>
            <a:spLocks xmlns:a="http://schemas.openxmlformats.org/drawingml/2006/main" noGrp="1"/>
          </p:cNvSpPr>
          <p:nvPr/>
        </p:nvSpPr>
        <p:spPr>
          <a:xfrm xmlns:a="http://schemas.openxmlformats.org/drawingml/2006/main">
            <a:off x="876300" y="40767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72033"/>
                </a:solidFill>
                <a:latin typeface="Arial"/>
                <a:ea typeface="Arial"/>
                <a:cs typeface="Arial"/>
              </a:defRPr>
            </a:pPr>
            <a:r>
              <a:rPr sz="1800" b="1">
                <a:solidFill>
                  <a:srgbClr val="172033"/>
                </a:solidFill>
                <a:latin typeface="Arial"/>
                <a:ea typeface="Arial"/>
                <a:cs typeface="Arial"/>
              </a:rPr>
              <a:t>normalize + interpret</a:t>
            </a:r>
          </a:p>
        </p:txBody>
      </p:sp>
      <p:sp>
        <p:nvSpPr>
          <p:cNvPr id="24" name="Rettangolo 23">
            <a:extLst xmlns:a="http://schemas.openxmlformats.org/drawingml/2006/main">
              <a:ext uri="{FF2B5EF4-FFF2-40B4-BE49-F238E27FC236}">
                <a16:creationId xmlns:a16="http://schemas.microsoft.com/office/drawing/2014/main" id="{38172E1D-A294-4F18-8D9E-59C9800F9A07}"/>
              </a:ext>
            </a:extLst>
          </p:cNvPr>
          <p:cNvSpPr>
            <a:spLocks xmlns:a="http://schemas.openxmlformats.org/drawingml/2006/main" noGrp="1"/>
          </p:cNvSpPr>
          <p:nvPr/>
        </p:nvSpPr>
        <p:spPr>
          <a:xfrm xmlns:a="http://schemas.openxmlformats.org/drawingml/2006/main">
            <a:off x="3752850" y="186690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5" name="Rettangolo 24">
            <a:extLst xmlns:a="http://schemas.openxmlformats.org/drawingml/2006/main">
              <a:ext uri="{FF2B5EF4-FFF2-40B4-BE49-F238E27FC236}">
                <a16:creationId xmlns:a16="http://schemas.microsoft.com/office/drawing/2014/main" id="{B0C79570-604F-4B83-988C-6FFC8922885B}"/>
              </a:ext>
            </a:extLst>
          </p:cNvPr>
          <p:cNvSpPr>
            <a:spLocks xmlns:a="http://schemas.openxmlformats.org/drawingml/2006/main" noGrp="1"/>
          </p:cNvSpPr>
          <p:nvPr/>
        </p:nvSpPr>
        <p:spPr>
          <a:xfrm xmlns:a="http://schemas.openxmlformats.org/drawingml/2006/main">
            <a:off x="7410450" y="186690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6" name="Rettangolo 25">
            <a:extLst xmlns:a="http://schemas.openxmlformats.org/drawingml/2006/main">
              <a:ext uri="{FF2B5EF4-FFF2-40B4-BE49-F238E27FC236}">
                <a16:creationId xmlns:a16="http://schemas.microsoft.com/office/drawing/2014/main" id="{F96F2BBD-EA80-4DB4-86CA-2A3F56F711DE}"/>
              </a:ext>
            </a:extLst>
          </p:cNvPr>
          <p:cNvSpPr>
            <a:spLocks xmlns:a="http://schemas.openxmlformats.org/drawingml/2006/main" noGrp="1"/>
          </p:cNvSpPr>
          <p:nvPr/>
        </p:nvSpPr>
        <p:spPr>
          <a:xfrm xmlns:a="http://schemas.openxmlformats.org/drawingml/2006/main">
            <a:off x="9239250" y="281940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7" name="Rettangolo 26">
            <a:extLst xmlns:a="http://schemas.openxmlformats.org/drawingml/2006/main">
              <a:ext uri="{FF2B5EF4-FFF2-40B4-BE49-F238E27FC236}">
                <a16:creationId xmlns:a16="http://schemas.microsoft.com/office/drawing/2014/main" id="{44084EFE-410F-44E2-89FE-E361686FEAB1}"/>
              </a:ext>
            </a:extLst>
          </p:cNvPr>
          <p:cNvSpPr>
            <a:spLocks xmlns:a="http://schemas.openxmlformats.org/drawingml/2006/main" noGrp="1"/>
          </p:cNvSpPr>
          <p:nvPr/>
        </p:nvSpPr>
        <p:spPr>
          <a:xfrm xmlns:a="http://schemas.openxmlformats.org/drawingml/2006/main">
            <a:off x="7410450" y="375285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8" name="Rettangolo 27">
            <a:extLst xmlns:a="http://schemas.openxmlformats.org/drawingml/2006/main">
              <a:ext uri="{FF2B5EF4-FFF2-40B4-BE49-F238E27FC236}">
                <a16:creationId xmlns:a16="http://schemas.microsoft.com/office/drawing/2014/main" id="{28D85B2B-3959-47A8-B720-64C081695514}"/>
              </a:ext>
            </a:extLst>
          </p:cNvPr>
          <p:cNvSpPr>
            <a:spLocks xmlns:a="http://schemas.openxmlformats.org/drawingml/2006/main" noGrp="1"/>
          </p:cNvSpPr>
          <p:nvPr/>
        </p:nvSpPr>
        <p:spPr>
          <a:xfrm xmlns:a="http://schemas.openxmlformats.org/drawingml/2006/main">
            <a:off x="3752850" y="375285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9" name="Rettangolo con angoli arrotondati 28">
            <a:extLst xmlns:a="http://schemas.openxmlformats.org/drawingml/2006/main">
              <a:ext uri="{FF2B5EF4-FFF2-40B4-BE49-F238E27FC236}">
                <a16:creationId xmlns:a16="http://schemas.microsoft.com/office/drawing/2014/main" id="{2A76AEB6-1FF2-487B-8819-3E7FBEC77FE1}"/>
              </a:ext>
            </a:extLst>
          </p:cNvPr>
          <p:cNvSpPr>
            <a:spLocks xmlns:a="http://schemas.openxmlformats.org/drawingml/2006/main" noGrp="1"/>
          </p:cNvSpPr>
          <p:nvPr/>
        </p:nvSpPr>
        <p:spPr>
          <a:xfrm xmlns:a="http://schemas.openxmlformats.org/drawingml/2006/main">
            <a:off x="1123950" y="5181600"/>
            <a:ext cx="9944100" cy="895350"/>
          </a:xfrm>
          <a:prstGeom xmlns:a="http://schemas.openxmlformats.org/drawingml/2006/main" prst="roundRect">
            <a:avLst>
              <a:gd name="adj" fmla="val 17021"/>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0" name="Rettangolo 29">
            <a:extLst xmlns:a="http://schemas.openxmlformats.org/drawingml/2006/main">
              <a:ext uri="{FF2B5EF4-FFF2-40B4-BE49-F238E27FC236}">
                <a16:creationId xmlns:a16="http://schemas.microsoft.com/office/drawing/2014/main" id="{E50CBE53-BF18-4A80-A29D-95B884CE3AAD}"/>
              </a:ext>
            </a:extLst>
          </p:cNvPr>
          <p:cNvSpPr>
            <a:spLocks xmlns:a="http://schemas.openxmlformats.org/drawingml/2006/main" noGrp="1"/>
          </p:cNvSpPr>
          <p:nvPr/>
        </p:nvSpPr>
        <p:spPr>
          <a:xfrm xmlns:a="http://schemas.openxmlformats.org/drawingml/2006/main">
            <a:off x="1524000" y="5314950"/>
            <a:ext cx="914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14B978"/>
                </a:solidFill>
                <a:latin typeface="Arial"/>
                <a:ea typeface="Arial"/>
                <a:cs typeface="Arial"/>
              </a:defRPr>
            </a:pPr>
            <a:r>
              <a:rPr sz="1350" b="1">
                <a:solidFill>
                  <a:srgbClr val="14B978"/>
                </a:solidFill>
                <a:latin typeface="Arial"/>
                <a:ea typeface="Arial"/>
                <a:cs typeface="Arial"/>
              </a:rPr>
              <a:t>TRACEABILITY THROUGHOUT</a:t>
            </a:r>
          </a:p>
        </p:txBody>
      </p:sp>
      <p:sp>
        <p:nvSpPr>
          <p:cNvPr id="31" name="Rettangolo 30">
            <a:extLst xmlns:a="http://schemas.openxmlformats.org/drawingml/2006/main">
              <a:ext uri="{FF2B5EF4-FFF2-40B4-BE49-F238E27FC236}">
                <a16:creationId xmlns:a16="http://schemas.microsoft.com/office/drawing/2014/main" id="{3A3D9C14-794F-4016-9A53-92CC5AA4F5CE}"/>
              </a:ext>
            </a:extLst>
          </p:cNvPr>
          <p:cNvSpPr>
            <a:spLocks xmlns:a="http://schemas.openxmlformats.org/drawingml/2006/main" noGrp="1"/>
          </p:cNvSpPr>
          <p:nvPr/>
        </p:nvSpPr>
        <p:spPr>
          <a:xfrm xmlns:a="http://schemas.openxmlformats.org/drawingml/2006/main">
            <a:off x="1381125" y="5676900"/>
            <a:ext cx="942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0">
                <a:solidFill>
                  <a:srgbClr val="FFFFFF"/>
                </a:solidFill>
                <a:latin typeface="Arial"/>
                <a:ea typeface="Arial"/>
                <a:cs typeface="Arial"/>
              </a:defRPr>
            </a:pPr>
            <a:r>
              <a:rPr sz="1425" b="0">
                <a:solidFill>
                  <a:srgbClr val="FFFFFF"/>
                </a:solidFill>
                <a:latin typeface="Arial"/>
                <a:ea typeface="Arial"/>
                <a:cs typeface="Arial"/>
              </a:rPr>
              <a:t>deterministic identifiers  ·  manifests  ·  checksums  ·  frozen configurations  ·  source-to-output links</a:t>
            </a:r>
          </a:p>
        </p:txBody>
      </p:sp>
    </p:spTree>
    <p:extLst>
      <p:ext uri="{BB962C8B-B14F-4D97-AF65-F5344CB8AC3E}">
        <p14:creationId xmlns:p14="http://schemas.microsoft.com/office/powerpoint/2010/main" val="485154544"/>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Rettangolo 23">
            <a:extLst xmlns:a="http://schemas.openxmlformats.org/drawingml/2006/main">
              <a:ext uri="{FF2B5EF4-FFF2-40B4-BE49-F238E27FC236}">
                <a16:creationId xmlns:a16="http://schemas.microsoft.com/office/drawing/2014/main" id="{8F233B7B-EA32-4CE0-BCAD-4A672232475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919E34FA-C1B9-47A3-8BA3-61812BD51E71}"/>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One population becomes 11,500 traceable files</a:t>
            </a:r>
          </a:p>
        </p:txBody>
      </p:sp>
      <p:sp>
        <p:nvSpPr>
          <p:cNvPr id="3" name="Rettangolo 2">
            <a:extLst xmlns:a="http://schemas.openxmlformats.org/drawingml/2006/main">
              <a:ext uri="{FF2B5EF4-FFF2-40B4-BE49-F238E27FC236}">
                <a16:creationId xmlns:a16="http://schemas.microsoft.com/office/drawing/2014/main" id="{0D8F709E-76E6-4E38-8E82-5BE12BAB1219}"/>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C66E610D-CF25-46AB-B840-2131076D741E}"/>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51A81E0D-402E-4998-85C6-567245A7304C}"/>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04</a:t>
            </a:r>
          </a:p>
        </p:txBody>
      </p:sp>
      <p:sp>
        <p:nvSpPr>
          <p:cNvPr id="6" name="Rettangolo 5">
            <a:extLst xmlns:a="http://schemas.openxmlformats.org/drawingml/2006/main">
              <a:ext uri="{FF2B5EF4-FFF2-40B4-BE49-F238E27FC236}">
                <a16:creationId xmlns:a16="http://schemas.microsoft.com/office/drawing/2014/main" id="{52FE96BF-C5D8-4EBB-ADFA-45DAE60C8A98}"/>
              </a:ext>
            </a:extLst>
          </p:cNvPr>
          <p:cNvSpPr>
            <a:spLocks xmlns:a="http://schemas.openxmlformats.org/drawingml/2006/main" noGrp="1"/>
          </p:cNvSpPr>
          <p:nvPr/>
        </p:nvSpPr>
        <p:spPr>
          <a:xfrm xmlns:a="http://schemas.openxmlformats.org/drawingml/2006/main">
            <a:off x="685800" y="1390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225" b="1">
                <a:solidFill>
                  <a:srgbClr val="233A70"/>
                </a:solidFill>
                <a:latin typeface="Arial"/>
                <a:ea typeface="Arial"/>
                <a:cs typeface="Arial"/>
              </a:defRPr>
            </a:pPr>
            <a:r>
              <a:rPr sz="3225" b="1">
                <a:solidFill>
                  <a:srgbClr val="233A70"/>
                </a:solidFill>
                <a:latin typeface="Arial"/>
                <a:ea typeface="Arial"/>
                <a:cs typeface="Arial"/>
              </a:rPr>
              <a:t>1,500 SOURCE IMAGES</a:t>
            </a:r>
          </a:p>
        </p:txBody>
      </p:sp>
      <p:sp>
        <p:nvSpPr>
          <p:cNvPr id="7" name="Rettangolo con angoli arrotondati 6">
            <a:extLst xmlns:a="http://schemas.openxmlformats.org/drawingml/2006/main">
              <a:ext uri="{FF2B5EF4-FFF2-40B4-BE49-F238E27FC236}">
                <a16:creationId xmlns:a16="http://schemas.microsoft.com/office/drawing/2014/main" id="{A8148055-D97E-4B5A-9B6A-F238DC4DBA1C}"/>
              </a:ext>
            </a:extLst>
          </p:cNvPr>
          <p:cNvSpPr>
            <a:spLocks xmlns:a="http://schemas.openxmlformats.org/drawingml/2006/main" noGrp="1"/>
          </p:cNvSpPr>
          <p:nvPr/>
        </p:nvSpPr>
        <p:spPr>
          <a:xfrm xmlns:a="http://schemas.openxmlformats.org/drawingml/2006/main">
            <a:off x="685800" y="2114550"/>
            <a:ext cx="3048000" cy="1181100"/>
          </a:xfrm>
          <a:prstGeom xmlns:a="http://schemas.openxmlformats.org/drawingml/2006/main" prst="roundRect">
            <a:avLst>
              <a:gd name="adj" fmla="val 12903"/>
            </a:avLst>
          </a:prstGeom>
          <a:solidFill xmlns:a="http://schemas.openxmlformats.org/drawingml/2006/main">
            <a:srgbClr val="FBEA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Rettangolo 7">
            <a:extLst xmlns:a="http://schemas.openxmlformats.org/drawingml/2006/main">
              <a:ext uri="{FF2B5EF4-FFF2-40B4-BE49-F238E27FC236}">
                <a16:creationId xmlns:a16="http://schemas.microsoft.com/office/drawing/2014/main" id="{67CF2057-B56B-4EF8-B891-1D8A8FB5D789}"/>
              </a:ext>
            </a:extLst>
          </p:cNvPr>
          <p:cNvSpPr>
            <a:spLocks xmlns:a="http://schemas.openxmlformats.org/drawingml/2006/main" noGrp="1"/>
          </p:cNvSpPr>
          <p:nvPr/>
        </p:nvSpPr>
        <p:spPr>
          <a:xfrm xmlns:a="http://schemas.openxmlformats.org/drawingml/2006/main">
            <a:off x="876300" y="22860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150" b="1">
                <a:solidFill>
                  <a:srgbClr val="BE3C37"/>
                </a:solidFill>
                <a:latin typeface="Arial"/>
                <a:ea typeface="Arial"/>
                <a:cs typeface="Arial"/>
              </a:defRPr>
            </a:pPr>
            <a:r>
              <a:rPr sz="3150" b="1">
                <a:solidFill>
                  <a:srgbClr val="BE3C37"/>
                </a:solidFill>
                <a:latin typeface="Arial"/>
                <a:ea typeface="Arial"/>
                <a:cs typeface="Arial"/>
              </a:rPr>
              <a:t>500</a:t>
            </a:r>
          </a:p>
        </p:txBody>
      </p:sp>
      <p:sp>
        <p:nvSpPr>
          <p:cNvPr id="9" name="Rettangolo 8">
            <a:extLst xmlns:a="http://schemas.openxmlformats.org/drawingml/2006/main">
              <a:ext uri="{FF2B5EF4-FFF2-40B4-BE49-F238E27FC236}">
                <a16:creationId xmlns:a16="http://schemas.microsoft.com/office/drawing/2014/main" id="{C91F0788-58B8-4BE5-B7B6-9DA31BD87AB9}"/>
              </a:ext>
            </a:extLst>
          </p:cNvPr>
          <p:cNvSpPr>
            <a:spLocks xmlns:a="http://schemas.openxmlformats.org/drawingml/2006/main" noGrp="1"/>
          </p:cNvSpPr>
          <p:nvPr/>
        </p:nvSpPr>
        <p:spPr>
          <a:xfrm xmlns:a="http://schemas.openxmlformats.org/drawingml/2006/main">
            <a:off x="876300" y="28575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172033"/>
                </a:solidFill>
                <a:latin typeface="Arial"/>
                <a:ea typeface="Arial"/>
                <a:cs typeface="Arial"/>
              </a:defRPr>
            </a:pPr>
            <a:r>
              <a:rPr sz="1575" b="1">
                <a:solidFill>
                  <a:srgbClr val="172033"/>
                </a:solidFill>
                <a:latin typeface="Arial"/>
                <a:ea typeface="Arial"/>
                <a:cs typeface="Arial"/>
              </a:rPr>
              <a:t>weapon</a:t>
            </a:r>
          </a:p>
        </p:txBody>
      </p:sp>
      <p:sp>
        <p:nvSpPr>
          <p:cNvPr id="10" name="Rettangolo con angoli arrotondati 9">
            <a:extLst xmlns:a="http://schemas.openxmlformats.org/drawingml/2006/main">
              <a:ext uri="{FF2B5EF4-FFF2-40B4-BE49-F238E27FC236}">
                <a16:creationId xmlns:a16="http://schemas.microsoft.com/office/drawing/2014/main" id="{DAD1981F-B9B3-4955-8E93-2C4366243B80}"/>
              </a:ext>
            </a:extLst>
          </p:cNvPr>
          <p:cNvSpPr>
            <a:spLocks xmlns:a="http://schemas.openxmlformats.org/drawingml/2006/main" noGrp="1"/>
          </p:cNvSpPr>
          <p:nvPr/>
        </p:nvSpPr>
        <p:spPr>
          <a:xfrm xmlns:a="http://schemas.openxmlformats.org/drawingml/2006/main">
            <a:off x="4343400" y="2114550"/>
            <a:ext cx="3048000" cy="1181100"/>
          </a:xfrm>
          <a:prstGeom xmlns:a="http://schemas.openxmlformats.org/drawingml/2006/main" prst="roundRect">
            <a:avLst>
              <a:gd name="adj" fmla="val 12903"/>
            </a:avLst>
          </a:prstGeom>
          <a:solidFill xmlns:a="http://schemas.openxmlformats.org/drawingml/2006/main">
            <a:srgbClr val="E7F8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Rettangolo 10">
            <a:extLst xmlns:a="http://schemas.openxmlformats.org/drawingml/2006/main">
              <a:ext uri="{FF2B5EF4-FFF2-40B4-BE49-F238E27FC236}">
                <a16:creationId xmlns:a16="http://schemas.microsoft.com/office/drawing/2014/main" id="{F51DE534-5451-426F-8C55-A3847300037B}"/>
              </a:ext>
            </a:extLst>
          </p:cNvPr>
          <p:cNvSpPr>
            <a:spLocks xmlns:a="http://schemas.openxmlformats.org/drawingml/2006/main" noGrp="1"/>
          </p:cNvSpPr>
          <p:nvPr/>
        </p:nvSpPr>
        <p:spPr>
          <a:xfrm xmlns:a="http://schemas.openxmlformats.org/drawingml/2006/main">
            <a:off x="4533900" y="22860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150" b="1">
                <a:solidFill>
                  <a:srgbClr val="087A50"/>
                </a:solidFill>
                <a:latin typeface="Arial"/>
                <a:ea typeface="Arial"/>
                <a:cs typeface="Arial"/>
              </a:defRPr>
            </a:pPr>
            <a:r>
              <a:rPr sz="3150" b="1">
                <a:solidFill>
                  <a:srgbClr val="087A50"/>
                </a:solidFill>
                <a:latin typeface="Arial"/>
                <a:ea typeface="Arial"/>
                <a:cs typeface="Arial"/>
              </a:rPr>
              <a:t>500</a:t>
            </a:r>
          </a:p>
        </p:txBody>
      </p:sp>
      <p:sp>
        <p:nvSpPr>
          <p:cNvPr id="12" name="Rettangolo 11">
            <a:extLst xmlns:a="http://schemas.openxmlformats.org/drawingml/2006/main">
              <a:ext uri="{FF2B5EF4-FFF2-40B4-BE49-F238E27FC236}">
                <a16:creationId xmlns:a16="http://schemas.microsoft.com/office/drawing/2014/main" id="{B95C25BE-E0AC-4211-88DD-AF36BE27D58C}"/>
              </a:ext>
            </a:extLst>
          </p:cNvPr>
          <p:cNvSpPr>
            <a:spLocks xmlns:a="http://schemas.openxmlformats.org/drawingml/2006/main" noGrp="1"/>
          </p:cNvSpPr>
          <p:nvPr/>
        </p:nvSpPr>
        <p:spPr>
          <a:xfrm xmlns:a="http://schemas.openxmlformats.org/drawingml/2006/main">
            <a:off x="4533900" y="28575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172033"/>
                </a:solidFill>
                <a:latin typeface="Arial"/>
                <a:ea typeface="Arial"/>
                <a:cs typeface="Arial"/>
              </a:defRPr>
            </a:pPr>
            <a:r>
              <a:rPr sz="1575" b="1">
                <a:solidFill>
                  <a:srgbClr val="172033"/>
                </a:solidFill>
                <a:latin typeface="Arial"/>
                <a:ea typeface="Arial"/>
                <a:cs typeface="Arial"/>
              </a:rPr>
              <a:t>non-weapon</a:t>
            </a:r>
          </a:p>
        </p:txBody>
      </p:sp>
      <p:sp>
        <p:nvSpPr>
          <p:cNvPr id="13" name="Rettangolo con angoli arrotondati 12">
            <a:extLst xmlns:a="http://schemas.openxmlformats.org/drawingml/2006/main">
              <a:ext uri="{FF2B5EF4-FFF2-40B4-BE49-F238E27FC236}">
                <a16:creationId xmlns:a16="http://schemas.microsoft.com/office/drawing/2014/main" id="{AA057755-0908-41EF-9861-B5B3136090A8}"/>
              </a:ext>
            </a:extLst>
          </p:cNvPr>
          <p:cNvSpPr>
            <a:spLocks xmlns:a="http://schemas.openxmlformats.org/drawingml/2006/main" noGrp="1"/>
          </p:cNvSpPr>
          <p:nvPr/>
        </p:nvSpPr>
        <p:spPr>
          <a:xfrm xmlns:a="http://schemas.openxmlformats.org/drawingml/2006/main">
            <a:off x="8001000" y="2114550"/>
            <a:ext cx="3048000" cy="1181100"/>
          </a:xfrm>
          <a:prstGeom xmlns:a="http://schemas.openxmlformats.org/drawingml/2006/main" prst="roundRect">
            <a:avLst>
              <a:gd name="adj" fmla="val 12903"/>
            </a:avLst>
          </a:prstGeom>
          <a:solidFill xmlns:a="http://schemas.openxmlformats.org/drawingml/2006/main">
            <a:srgbClr val="FFF4C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Rettangolo 13">
            <a:extLst xmlns:a="http://schemas.openxmlformats.org/drawingml/2006/main">
              <a:ext uri="{FF2B5EF4-FFF2-40B4-BE49-F238E27FC236}">
                <a16:creationId xmlns:a16="http://schemas.microsoft.com/office/drawing/2014/main" id="{FBF595D1-D2F2-4609-90AA-9836312F8BEA}"/>
              </a:ext>
            </a:extLst>
          </p:cNvPr>
          <p:cNvSpPr>
            <a:spLocks xmlns:a="http://schemas.openxmlformats.org/drawingml/2006/main" noGrp="1"/>
          </p:cNvSpPr>
          <p:nvPr/>
        </p:nvSpPr>
        <p:spPr>
          <a:xfrm xmlns:a="http://schemas.openxmlformats.org/drawingml/2006/main">
            <a:off x="8191500" y="22860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150" b="1">
                <a:solidFill>
                  <a:srgbClr val="C89B14"/>
                </a:solidFill>
                <a:latin typeface="Arial"/>
                <a:ea typeface="Arial"/>
                <a:cs typeface="Arial"/>
              </a:defRPr>
            </a:pPr>
            <a:r>
              <a:rPr sz="3150" b="1">
                <a:solidFill>
                  <a:srgbClr val="C89B14"/>
                </a:solidFill>
                <a:latin typeface="Arial"/>
                <a:ea typeface="Arial"/>
                <a:cs typeface="Arial"/>
              </a:rPr>
              <a:t>500</a:t>
            </a:r>
          </a:p>
        </p:txBody>
      </p:sp>
      <p:sp>
        <p:nvSpPr>
          <p:cNvPr id="15" name="Rettangolo 14">
            <a:extLst xmlns:a="http://schemas.openxmlformats.org/drawingml/2006/main">
              <a:ext uri="{FF2B5EF4-FFF2-40B4-BE49-F238E27FC236}">
                <a16:creationId xmlns:a16="http://schemas.microsoft.com/office/drawing/2014/main" id="{CA31140D-6563-486C-A3B6-00812F0790B5}"/>
              </a:ext>
            </a:extLst>
          </p:cNvPr>
          <p:cNvSpPr>
            <a:spLocks xmlns:a="http://schemas.openxmlformats.org/drawingml/2006/main" noGrp="1"/>
          </p:cNvSpPr>
          <p:nvPr/>
        </p:nvSpPr>
        <p:spPr>
          <a:xfrm xmlns:a="http://schemas.openxmlformats.org/drawingml/2006/main">
            <a:off x="8191500" y="28575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172033"/>
                </a:solidFill>
                <a:latin typeface="Arial"/>
                <a:ea typeface="Arial"/>
                <a:cs typeface="Arial"/>
              </a:defRPr>
            </a:pPr>
            <a:r>
              <a:rPr sz="1575" b="1">
                <a:solidFill>
                  <a:srgbClr val="172033"/>
                </a:solidFill>
                <a:latin typeface="Arial"/>
                <a:ea typeface="Arial"/>
                <a:cs typeface="Arial"/>
              </a:rPr>
              <a:t>separate OOD branch</a:t>
            </a:r>
          </a:p>
        </p:txBody>
      </p:sp>
      <p:sp>
        <p:nvSpPr>
          <p:cNvPr id="16" name="Rettangolo con angoli arrotondati 15">
            <a:extLst xmlns:a="http://schemas.openxmlformats.org/drawingml/2006/main">
              <a:ext uri="{FF2B5EF4-FFF2-40B4-BE49-F238E27FC236}">
                <a16:creationId xmlns:a16="http://schemas.microsoft.com/office/drawing/2014/main" id="{E8AE0E5F-D588-4518-BA59-676FC615A528}"/>
              </a:ext>
            </a:extLst>
          </p:cNvPr>
          <p:cNvSpPr>
            <a:spLocks xmlns:a="http://schemas.openxmlformats.org/drawingml/2006/main" noGrp="1"/>
          </p:cNvSpPr>
          <p:nvPr/>
        </p:nvSpPr>
        <p:spPr>
          <a:xfrm xmlns:a="http://schemas.openxmlformats.org/drawingml/2006/main">
            <a:off x="685800" y="3714750"/>
            <a:ext cx="6667500" cy="1352550"/>
          </a:xfrm>
          <a:prstGeom xmlns:a="http://schemas.openxmlformats.org/drawingml/2006/main" prst="roundRect">
            <a:avLst>
              <a:gd name="adj" fmla="val 12676"/>
            </a:avLst>
          </a:prstGeom>
          <a:solidFill xmlns:a="http://schemas.openxmlformats.org/drawingml/2006/main">
            <a:srgbClr val="E9EEF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7" name="Rettangolo 16">
            <a:extLst xmlns:a="http://schemas.openxmlformats.org/drawingml/2006/main">
              <a:ext uri="{FF2B5EF4-FFF2-40B4-BE49-F238E27FC236}">
                <a16:creationId xmlns:a16="http://schemas.microsoft.com/office/drawing/2014/main" id="{86E49BA0-1207-489F-96D4-25FAF47B2880}"/>
              </a:ext>
            </a:extLst>
          </p:cNvPr>
          <p:cNvSpPr>
            <a:spLocks xmlns:a="http://schemas.openxmlformats.org/drawingml/2006/main" noGrp="1"/>
          </p:cNvSpPr>
          <p:nvPr/>
        </p:nvSpPr>
        <p:spPr>
          <a:xfrm xmlns:a="http://schemas.openxmlformats.org/drawingml/2006/main">
            <a:off x="952500" y="3962400"/>
            <a:ext cx="613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233A70"/>
                </a:solidFill>
                <a:latin typeface="Arial"/>
                <a:ea typeface="Arial"/>
                <a:cs typeface="Arial"/>
              </a:defRPr>
            </a:pPr>
            <a:r>
              <a:rPr sz="2850" b="1">
                <a:solidFill>
                  <a:srgbClr val="233A70"/>
                </a:solidFill>
                <a:latin typeface="Arial"/>
                <a:ea typeface="Arial"/>
                <a:cs typeface="Arial"/>
              </a:rPr>
              <a:t>1,000 × 10 = 10,000</a:t>
            </a:r>
          </a:p>
        </p:txBody>
      </p:sp>
      <p:sp>
        <p:nvSpPr>
          <p:cNvPr id="18" name="Rettangolo 17">
            <a:extLst xmlns:a="http://schemas.openxmlformats.org/drawingml/2006/main">
              <a:ext uri="{FF2B5EF4-FFF2-40B4-BE49-F238E27FC236}">
                <a16:creationId xmlns:a16="http://schemas.microsoft.com/office/drawing/2014/main" id="{2E908EB8-C4F4-4547-90E0-2C16671F8D2D}"/>
              </a:ext>
            </a:extLst>
          </p:cNvPr>
          <p:cNvSpPr>
            <a:spLocks xmlns:a="http://schemas.openxmlformats.org/drawingml/2006/main" noGrp="1"/>
          </p:cNvSpPr>
          <p:nvPr/>
        </p:nvSpPr>
        <p:spPr>
          <a:xfrm xmlns:a="http://schemas.openxmlformats.org/drawingml/2006/main">
            <a:off x="952500" y="4572000"/>
            <a:ext cx="613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5B6577"/>
                </a:solidFill>
                <a:latin typeface="Arial"/>
                <a:ea typeface="Arial"/>
                <a:cs typeface="Arial"/>
              </a:defRPr>
            </a:pPr>
            <a:r>
              <a:rPr sz="1575" b="0">
                <a:solidFill>
                  <a:srgbClr val="5B6577"/>
                </a:solidFill>
                <a:latin typeface="Arial"/>
                <a:ea typeface="Arial"/>
                <a:cs typeface="Arial"/>
              </a:rPr>
              <a:t>linked adversarial and anti-forensic variants</a:t>
            </a:r>
          </a:p>
        </p:txBody>
      </p:sp>
      <p:sp>
        <p:nvSpPr>
          <p:cNvPr id="19" name="Rettangolo con angoli arrotondati 18">
            <a:extLst xmlns:a="http://schemas.openxmlformats.org/drawingml/2006/main">
              <a:ext uri="{FF2B5EF4-FFF2-40B4-BE49-F238E27FC236}">
                <a16:creationId xmlns:a16="http://schemas.microsoft.com/office/drawing/2014/main" id="{493E70C3-409B-43B7-A636-07BDD643C977}"/>
              </a:ext>
            </a:extLst>
          </p:cNvPr>
          <p:cNvSpPr>
            <a:spLocks xmlns:a="http://schemas.openxmlformats.org/drawingml/2006/main" noGrp="1"/>
          </p:cNvSpPr>
          <p:nvPr/>
        </p:nvSpPr>
        <p:spPr>
          <a:xfrm xmlns:a="http://schemas.openxmlformats.org/drawingml/2006/main">
            <a:off x="7734300" y="3714750"/>
            <a:ext cx="3771900" cy="1352550"/>
          </a:xfrm>
          <a:prstGeom xmlns:a="http://schemas.openxmlformats.org/drawingml/2006/main" prst="roundRect">
            <a:avLst>
              <a:gd name="adj" fmla="val 12676"/>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0" name="Rettangolo 19">
            <a:extLst xmlns:a="http://schemas.openxmlformats.org/drawingml/2006/main">
              <a:ext uri="{FF2B5EF4-FFF2-40B4-BE49-F238E27FC236}">
                <a16:creationId xmlns:a16="http://schemas.microsoft.com/office/drawing/2014/main" id="{CFA7B9EC-C8CD-4FB2-B247-F8C9592B3AAE}"/>
              </a:ext>
            </a:extLst>
          </p:cNvPr>
          <p:cNvSpPr>
            <a:spLocks xmlns:a="http://schemas.openxmlformats.org/drawingml/2006/main" noGrp="1"/>
          </p:cNvSpPr>
          <p:nvPr/>
        </p:nvSpPr>
        <p:spPr>
          <a:xfrm xmlns:a="http://schemas.openxmlformats.org/drawingml/2006/main">
            <a:off x="8001000" y="3924300"/>
            <a:ext cx="323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FFFFFF"/>
                </a:solidFill>
                <a:latin typeface="Arial"/>
                <a:ea typeface="Arial"/>
                <a:cs typeface="Arial"/>
              </a:defRPr>
            </a:pPr>
            <a:r>
              <a:rPr sz="3450" b="1">
                <a:solidFill>
                  <a:srgbClr val="FFFFFF"/>
                </a:solidFill>
                <a:latin typeface="Arial"/>
                <a:ea typeface="Arial"/>
                <a:cs typeface="Arial"/>
              </a:rPr>
              <a:t>11,500</a:t>
            </a:r>
          </a:p>
        </p:txBody>
      </p:sp>
      <p:sp>
        <p:nvSpPr>
          <p:cNvPr id="21" name="Rettangolo 20">
            <a:extLst xmlns:a="http://schemas.openxmlformats.org/drawingml/2006/main">
              <a:ext uri="{FF2B5EF4-FFF2-40B4-BE49-F238E27FC236}">
                <a16:creationId xmlns:a16="http://schemas.microsoft.com/office/drawing/2014/main" id="{C59CA103-07C3-4D93-ABAE-B985C7F5307B}"/>
              </a:ext>
            </a:extLst>
          </p:cNvPr>
          <p:cNvSpPr>
            <a:spLocks xmlns:a="http://schemas.openxmlformats.org/drawingml/2006/main" noGrp="1"/>
          </p:cNvSpPr>
          <p:nvPr/>
        </p:nvSpPr>
        <p:spPr>
          <a:xfrm xmlns:a="http://schemas.openxmlformats.org/drawingml/2006/main">
            <a:off x="8001000" y="45720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14B978"/>
                </a:solidFill>
                <a:latin typeface="Arial"/>
                <a:ea typeface="Arial"/>
                <a:cs typeface="Arial"/>
              </a:defRPr>
            </a:pPr>
            <a:r>
              <a:rPr sz="1650" b="1">
                <a:solidFill>
                  <a:srgbClr val="14B978"/>
                </a:solidFill>
                <a:latin typeface="Arial"/>
                <a:ea typeface="Arial"/>
                <a:cs typeface="Arial"/>
              </a:rPr>
              <a:t>tool-facing files</a:t>
            </a:r>
          </a:p>
        </p:txBody>
      </p:sp>
      <p:sp>
        <p:nvSpPr>
          <p:cNvPr id="22" name="Rettangolo 21">
            <a:extLst xmlns:a="http://schemas.openxmlformats.org/drawingml/2006/main">
              <a:ext uri="{FF2B5EF4-FFF2-40B4-BE49-F238E27FC236}">
                <a16:creationId xmlns:a16="http://schemas.microsoft.com/office/drawing/2014/main" id="{97064189-DD4E-40F9-A7D8-F52355D532F4}"/>
              </a:ext>
            </a:extLst>
          </p:cNvPr>
          <p:cNvSpPr>
            <a:spLocks xmlns:a="http://schemas.openxmlformats.org/drawingml/2006/main" noGrp="1"/>
          </p:cNvSpPr>
          <p:nvPr/>
        </p:nvSpPr>
        <p:spPr>
          <a:xfrm xmlns:a="http://schemas.openxmlformats.org/drawingml/2006/main">
            <a:off x="1428750" y="5448300"/>
            <a:ext cx="933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1">
                <a:solidFill>
                  <a:srgbClr val="5B6577"/>
                </a:solidFill>
                <a:latin typeface="Arial"/>
                <a:ea typeface="Arial"/>
                <a:cs typeface="Arial"/>
              </a:defRPr>
            </a:pPr>
            <a:r>
              <a:rPr sz="1500" b="1">
                <a:solidFill>
                  <a:srgbClr val="5B6577"/>
                </a:solidFill>
                <a:latin typeface="Arial"/>
                <a:ea typeface="Arial"/>
                <a:cs typeface="Arial"/>
              </a:rPr>
              <a:t>The manipulated files are linked source–condition variants—not 10,000 independent cases.</a:t>
            </a:r>
          </a:p>
        </p:txBody>
      </p:sp>
      <p:sp>
        <p:nvSpPr>
          <p:cNvPr id="23" name="Rettangolo 22">
            <a:extLst xmlns:a="http://schemas.openxmlformats.org/drawingml/2006/main">
              <a:ext uri="{FF2B5EF4-FFF2-40B4-BE49-F238E27FC236}">
                <a16:creationId xmlns:a16="http://schemas.microsoft.com/office/drawing/2014/main" id="{54B01487-7E01-457B-8FE5-D55CB28A858C}"/>
              </a:ext>
            </a:extLst>
          </p:cNvPr>
          <p:cNvSpPr>
            <a:spLocks xmlns:a="http://schemas.openxmlformats.org/drawingml/2006/main" noGrp="1"/>
          </p:cNvSpPr>
          <p:nvPr/>
        </p:nvSpPr>
        <p:spPr>
          <a:xfrm xmlns:a="http://schemas.openxmlformats.org/drawingml/2006/main">
            <a:off x="1714500" y="5829300"/>
            <a:ext cx="876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0">
                <a:solidFill>
                  <a:srgbClr val="5B6577"/>
                </a:solidFill>
                <a:latin typeface="Arial"/>
                <a:ea typeface="Arial"/>
                <a:cs typeface="Arial"/>
              </a:defRPr>
            </a:pPr>
            <a:r>
              <a:rPr sz="1350" b="0">
                <a:solidFill>
                  <a:srgbClr val="5B6577"/>
                </a:solidFill>
                <a:latin typeface="Arial"/>
                <a:ea typeface="Arial"/>
                <a:cs typeface="Arial"/>
              </a:rPr>
              <a:t>OOD is evaluated separately and is not a third supervised class.</a:t>
            </a:r>
          </a:p>
        </p:txBody>
      </p:sp>
    </p:spTree>
    <p:extLst>
      <p:ext uri="{BB962C8B-B14F-4D97-AF65-F5344CB8AC3E}">
        <p14:creationId xmlns:p14="http://schemas.microsoft.com/office/powerpoint/2010/main" val="714570909"/>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Rettangolo 23">
            <a:extLst xmlns:a="http://schemas.openxmlformats.org/drawingml/2006/main">
              <a:ext uri="{FF2B5EF4-FFF2-40B4-BE49-F238E27FC236}">
                <a16:creationId xmlns:a16="http://schemas.microsoft.com/office/drawing/2014/main" id="{8A9DF18E-4042-467C-97B9-4589B37E30B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913CC87C-9B72-4C2C-AD30-2FB203B46991}"/>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Two evidence levels, one experimental basis</a:t>
            </a:r>
          </a:p>
        </p:txBody>
      </p:sp>
      <p:sp>
        <p:nvSpPr>
          <p:cNvPr id="3" name="Rettangolo 2">
            <a:extLst xmlns:a="http://schemas.openxmlformats.org/drawingml/2006/main">
              <a:ext uri="{FF2B5EF4-FFF2-40B4-BE49-F238E27FC236}">
                <a16:creationId xmlns:a16="http://schemas.microsoft.com/office/drawing/2014/main" id="{BCB0685F-E48D-4052-8734-E6910A0E4C4F}"/>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04F4A7D0-C37E-4471-9B99-5FD96688AE1B}"/>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4A482C16-A30B-415B-84DE-F197B421E064}"/>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05</a:t>
            </a:r>
          </a:p>
        </p:txBody>
      </p:sp>
      <p:sp>
        <p:nvSpPr>
          <p:cNvPr id="6" name="Rettangolo con angoli arrotondati 5">
            <a:extLst xmlns:a="http://schemas.openxmlformats.org/drawingml/2006/main">
              <a:ext uri="{FF2B5EF4-FFF2-40B4-BE49-F238E27FC236}">
                <a16:creationId xmlns:a16="http://schemas.microsoft.com/office/drawing/2014/main" id="{19694DF6-BA12-4007-B98D-CE24074B6695}"/>
              </a:ext>
            </a:extLst>
          </p:cNvPr>
          <p:cNvSpPr>
            <a:spLocks xmlns:a="http://schemas.openxmlformats.org/drawingml/2006/main" noGrp="1"/>
          </p:cNvSpPr>
          <p:nvPr/>
        </p:nvSpPr>
        <p:spPr>
          <a:xfrm xmlns:a="http://schemas.openxmlformats.org/drawingml/2006/main">
            <a:off x="685800" y="1409700"/>
            <a:ext cx="5143500" cy="2705100"/>
          </a:xfrm>
          <a:prstGeom xmlns:a="http://schemas.openxmlformats.org/drawingml/2006/main" prst="roundRect">
            <a:avLst>
              <a:gd name="adj" fmla="val 6338"/>
            </a:avLst>
          </a:prstGeom>
          <a:solidFill xmlns:a="http://schemas.openxmlformats.org/drawingml/2006/main">
            <a:srgbClr val="E9EEF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6">
            <a:extLst xmlns:a="http://schemas.openxmlformats.org/drawingml/2006/main">
              <a:ext uri="{FF2B5EF4-FFF2-40B4-BE49-F238E27FC236}">
                <a16:creationId xmlns:a16="http://schemas.microsoft.com/office/drawing/2014/main" id="{C754D5C3-C7C7-47E3-B4A6-F28E654F1A1F}"/>
              </a:ext>
            </a:extLst>
          </p:cNvPr>
          <p:cNvSpPr>
            <a:spLocks xmlns:a="http://schemas.openxmlformats.org/drawingml/2006/main" noGrp="1"/>
          </p:cNvSpPr>
          <p:nvPr/>
        </p:nvSpPr>
        <p:spPr>
          <a:xfrm xmlns:a="http://schemas.openxmlformats.org/drawingml/2006/main">
            <a:off x="990600" y="1657350"/>
            <a:ext cx="453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233A70"/>
                </a:solidFill>
                <a:latin typeface="Arial"/>
                <a:ea typeface="Arial"/>
                <a:cs typeface="Arial"/>
              </a:defRPr>
            </a:pPr>
            <a:r>
              <a:rPr sz="1350" b="1">
                <a:solidFill>
                  <a:srgbClr val="233A70"/>
                </a:solidFill>
                <a:latin typeface="Arial"/>
                <a:ea typeface="Arial"/>
                <a:cs typeface="Arial"/>
              </a:rPr>
              <a:t>TRANSPARENT PROXIES</a:t>
            </a:r>
          </a:p>
        </p:txBody>
      </p:sp>
      <p:sp>
        <p:nvSpPr>
          <p:cNvPr id="8" name="Rettangolo 7">
            <a:extLst xmlns:a="http://schemas.openxmlformats.org/drawingml/2006/main">
              <a:ext uri="{FF2B5EF4-FFF2-40B4-BE49-F238E27FC236}">
                <a16:creationId xmlns:a16="http://schemas.microsoft.com/office/drawing/2014/main" id="{DFFB7302-4FE1-4F8C-B8DE-30ECA9608832}"/>
              </a:ext>
            </a:extLst>
          </p:cNvPr>
          <p:cNvSpPr>
            <a:spLocks xmlns:a="http://schemas.openxmlformats.org/drawingml/2006/main" noGrp="1"/>
          </p:cNvSpPr>
          <p:nvPr/>
        </p:nvSpPr>
        <p:spPr>
          <a:xfrm xmlns:a="http://schemas.openxmlformats.org/drawingml/2006/main">
            <a:off x="990600" y="2114550"/>
            <a:ext cx="2857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72033"/>
                </a:solidFill>
                <a:latin typeface="Arial"/>
                <a:ea typeface="Arial"/>
                <a:cs typeface="Arial"/>
              </a:defRPr>
            </a:pPr>
            <a:r>
              <a:rPr sz="2250" b="1">
                <a:solidFill>
                  <a:srgbClr val="172033"/>
                </a:solidFill>
                <a:latin typeface="Arial"/>
                <a:ea typeface="Arial"/>
                <a:cs typeface="Arial"/>
              </a:rPr>
              <a:t>EfficientNet-B0</a:t>
            </a:r>
          </a:p>
          <a:p xmlns:a="http://schemas.openxmlformats.org/drawingml/2006/main">
            <a:pPr algn="l">
              <a:buNone/>
              <a:defRPr sz="2250" b="1">
                <a:solidFill>
                  <a:srgbClr val="172033"/>
                </a:solidFill>
                <a:latin typeface="Arial"/>
                <a:ea typeface="Arial"/>
                <a:cs typeface="Arial"/>
              </a:defRPr>
            </a:pPr>
            <a:r>
              <a:rPr sz="2250" b="1">
                <a:solidFill>
                  <a:srgbClr val="172033"/>
                </a:solidFill>
                <a:latin typeface="Arial"/>
                <a:ea typeface="Arial"/>
                <a:cs typeface="Arial"/>
              </a:rPr>
              <a:t>ResNet18</a:t>
            </a:r>
          </a:p>
          <a:p xmlns:a="http://schemas.openxmlformats.org/drawingml/2006/main">
            <a:pPr algn="l">
              <a:buNone/>
              <a:defRPr sz="2250" b="1">
                <a:solidFill>
                  <a:srgbClr val="172033"/>
                </a:solidFill>
                <a:latin typeface="Arial"/>
                <a:ea typeface="Arial"/>
                <a:cs typeface="Arial"/>
              </a:defRPr>
            </a:pPr>
            <a:r>
              <a:rPr sz="2250" b="1">
                <a:solidFill>
                  <a:srgbClr val="172033"/>
                </a:solidFill>
                <a:latin typeface="Arial"/>
                <a:ea typeface="Arial"/>
                <a:cs typeface="Arial"/>
              </a:rPr>
              <a:t>CLIP-based proxy</a:t>
            </a:r>
          </a:p>
        </p:txBody>
      </p:sp>
      <p:sp>
        <p:nvSpPr>
          <p:cNvPr id="9" name="Rettangolo 8">
            <a:extLst xmlns:a="http://schemas.openxmlformats.org/drawingml/2006/main">
              <a:ext uri="{FF2B5EF4-FFF2-40B4-BE49-F238E27FC236}">
                <a16:creationId xmlns:a16="http://schemas.microsoft.com/office/drawing/2014/main" id="{2C5E08B1-D6FC-4045-B482-500474653204}"/>
              </a:ext>
            </a:extLst>
          </p:cNvPr>
          <p:cNvSpPr>
            <a:spLocks xmlns:a="http://schemas.openxmlformats.org/drawingml/2006/main" noGrp="1"/>
          </p:cNvSpPr>
          <p:nvPr/>
        </p:nvSpPr>
        <p:spPr>
          <a:xfrm xmlns:a="http://schemas.openxmlformats.org/drawingml/2006/main">
            <a:off x="990600" y="352425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B6577"/>
                </a:solidFill>
                <a:latin typeface="Arial"/>
                <a:ea typeface="Arial"/>
                <a:cs typeface="Arial"/>
              </a:defRPr>
            </a:pPr>
            <a:r>
              <a:rPr sz="1350" b="0">
                <a:solidFill>
                  <a:srgbClr val="5B6577"/>
                </a:solidFill>
                <a:latin typeface="Arial"/>
                <a:ea typeface="Arial"/>
                <a:cs typeface="Arial"/>
              </a:rPr>
              <a:t>Inspectable predictions · gradients · fold-aware checkpoints</a:t>
            </a:r>
          </a:p>
        </p:txBody>
      </p:sp>
      <p:sp>
        <p:nvSpPr>
          <p:cNvPr id="10" name="Rettangolo con angoli arrotondati 9">
            <a:extLst xmlns:a="http://schemas.openxmlformats.org/drawingml/2006/main">
              <a:ext uri="{FF2B5EF4-FFF2-40B4-BE49-F238E27FC236}">
                <a16:creationId xmlns:a16="http://schemas.microsoft.com/office/drawing/2014/main" id="{98A93300-E588-4524-BF87-E02F18B50A9D}"/>
              </a:ext>
            </a:extLst>
          </p:cNvPr>
          <p:cNvSpPr>
            <a:spLocks xmlns:a="http://schemas.openxmlformats.org/drawingml/2006/main" noGrp="1"/>
          </p:cNvSpPr>
          <p:nvPr/>
        </p:nvSpPr>
        <p:spPr>
          <a:xfrm xmlns:a="http://schemas.openxmlformats.org/drawingml/2006/main">
            <a:off x="6362700" y="1409700"/>
            <a:ext cx="5143500" cy="2705100"/>
          </a:xfrm>
          <a:prstGeom xmlns:a="http://schemas.openxmlformats.org/drawingml/2006/main" prst="roundRect">
            <a:avLst>
              <a:gd name="adj" fmla="val 6338"/>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ettangolo 10">
            <a:extLst xmlns:a="http://schemas.openxmlformats.org/drawingml/2006/main">
              <a:ext uri="{FF2B5EF4-FFF2-40B4-BE49-F238E27FC236}">
                <a16:creationId xmlns:a16="http://schemas.microsoft.com/office/drawing/2014/main" id="{56EC00C9-A240-4103-BF94-6EB97877400B}"/>
              </a:ext>
            </a:extLst>
          </p:cNvPr>
          <p:cNvSpPr>
            <a:spLocks xmlns:a="http://schemas.openxmlformats.org/drawingml/2006/main" noGrp="1"/>
          </p:cNvSpPr>
          <p:nvPr/>
        </p:nvSpPr>
        <p:spPr>
          <a:xfrm xmlns:a="http://schemas.openxmlformats.org/drawingml/2006/main">
            <a:off x="6667500" y="1657350"/>
            <a:ext cx="453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233A70"/>
                </a:solidFill>
                <a:latin typeface="Arial"/>
                <a:ea typeface="Arial"/>
                <a:cs typeface="Arial"/>
              </a:defRPr>
            </a:pPr>
            <a:r>
              <a:rPr sz="1350" b="1">
                <a:solidFill>
                  <a:srgbClr val="233A70"/>
                </a:solidFill>
                <a:latin typeface="Arial"/>
                <a:ea typeface="Arial"/>
                <a:cs typeface="Arial"/>
              </a:rPr>
              <a:t>BLACK-BOX SOFTWARE · 4 SYSTEMS / 6 CONFIGURATIONS</a:t>
            </a:r>
          </a:p>
        </p:txBody>
      </p:sp>
      <p:sp>
        <p:nvSpPr>
          <p:cNvPr id="12" name="Rettangolo 11">
            <a:extLst xmlns:a="http://schemas.openxmlformats.org/drawingml/2006/main">
              <a:ext uri="{FF2B5EF4-FFF2-40B4-BE49-F238E27FC236}">
                <a16:creationId xmlns:a16="http://schemas.microsoft.com/office/drawing/2014/main" id="{4EB6323D-5229-4FB7-99FB-3FC21DAEEEBD}"/>
              </a:ext>
            </a:extLst>
          </p:cNvPr>
          <p:cNvSpPr>
            <a:spLocks xmlns:a="http://schemas.openxmlformats.org/drawingml/2006/main" noGrp="1"/>
          </p:cNvSpPr>
          <p:nvPr/>
        </p:nvSpPr>
        <p:spPr>
          <a:xfrm xmlns:a="http://schemas.openxmlformats.org/drawingml/2006/main">
            <a:off x="6667500" y="2114550"/>
            <a:ext cx="43338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72033"/>
                </a:solidFill>
                <a:latin typeface="Arial"/>
                <a:ea typeface="Arial"/>
                <a:cs typeface="Arial"/>
              </a:defRPr>
            </a:pPr>
            <a:r>
              <a:rPr sz="1725" b="1">
                <a:solidFill>
                  <a:srgbClr val="172033"/>
                </a:solidFill>
                <a:latin typeface="Arial"/>
                <a:ea typeface="Arial"/>
                <a:cs typeface="Arial"/>
              </a:rPr>
              <a:t>Magnet AXIOM / Magnet.AI</a:t>
            </a:r>
          </a:p>
          <a:p xmlns:a="http://schemas.openxmlformats.org/drawingml/2006/main">
            <a:pPr algn="l">
              <a:buNone/>
              <a:defRPr sz="1725" b="1">
                <a:solidFill>
                  <a:srgbClr val="172033"/>
                </a:solidFill>
                <a:latin typeface="Arial"/>
                <a:ea typeface="Arial"/>
                <a:cs typeface="Arial"/>
              </a:defRPr>
            </a:pPr>
            <a:r>
              <a:rPr sz="1725" b="1">
                <a:solidFill>
                  <a:srgbClr val="172033"/>
                </a:solidFill>
                <a:latin typeface="Arial"/>
                <a:ea typeface="Arial"/>
                <a:cs typeface="Arial"/>
              </a:rPr>
              <a:t>Excire Foto 2025 · D20 / D50 / D80</a:t>
            </a:r>
          </a:p>
          <a:p xmlns:a="http://schemas.openxmlformats.org/drawingml/2006/main">
            <a:pPr algn="l">
              <a:buNone/>
              <a:defRPr sz="1725" b="1">
                <a:solidFill>
                  <a:srgbClr val="172033"/>
                </a:solidFill>
                <a:latin typeface="Arial"/>
                <a:ea typeface="Arial"/>
                <a:cs typeface="Arial"/>
              </a:defRPr>
            </a:pPr>
            <a:r>
              <a:rPr sz="1725" b="1">
                <a:solidFill>
                  <a:srgbClr val="172033"/>
                </a:solidFill>
                <a:latin typeface="Arial"/>
                <a:ea typeface="Arial"/>
                <a:cs typeface="Arial"/>
              </a:rPr>
              <a:t>Cellebrite Inseyets</a:t>
            </a:r>
          </a:p>
          <a:p xmlns:a="http://schemas.openxmlformats.org/drawingml/2006/main">
            <a:pPr algn="l">
              <a:buNone/>
              <a:defRPr sz="1725" b="1">
                <a:solidFill>
                  <a:srgbClr val="172033"/>
                </a:solidFill>
                <a:latin typeface="Arial"/>
                <a:ea typeface="Arial"/>
                <a:cs typeface="Arial"/>
              </a:defRPr>
            </a:pPr>
            <a:r>
              <a:rPr sz="1725" b="1">
                <a:solidFill>
                  <a:srgbClr val="172033"/>
                </a:solidFill>
                <a:latin typeface="Arial"/>
                <a:ea typeface="Arial"/>
                <a:cs typeface="Arial"/>
              </a:rPr>
              <a:t>Magnet Griffeye / T3K CORE</a:t>
            </a:r>
          </a:p>
        </p:txBody>
      </p:sp>
      <p:sp>
        <p:nvSpPr>
          <p:cNvPr id="13" name="Rettangolo 12">
            <a:extLst xmlns:a="http://schemas.openxmlformats.org/drawingml/2006/main">
              <a:ext uri="{FF2B5EF4-FFF2-40B4-BE49-F238E27FC236}">
                <a16:creationId xmlns:a16="http://schemas.microsoft.com/office/drawing/2014/main" id="{1940F821-DB94-4198-A67D-0F34539A9B01}"/>
              </a:ext>
            </a:extLst>
          </p:cNvPr>
          <p:cNvSpPr>
            <a:spLocks xmlns:a="http://schemas.openxmlformats.org/drawingml/2006/main" noGrp="1"/>
          </p:cNvSpPr>
          <p:nvPr/>
        </p:nvSpPr>
        <p:spPr>
          <a:xfrm xmlns:a="http://schemas.openxmlformats.org/drawingml/2006/main">
            <a:off x="6667500" y="36576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B6577"/>
                </a:solidFill>
                <a:latin typeface="Arial"/>
                <a:ea typeface="Arial"/>
                <a:cs typeface="Arial"/>
              </a:defRPr>
            </a:pPr>
            <a:r>
              <a:rPr sz="1350" b="0">
                <a:solidFill>
                  <a:srgbClr val="5B6577"/>
                </a:solidFill>
                <a:latin typeface="Arial"/>
                <a:ea typeface="Arial"/>
                <a:cs typeface="Arial"/>
              </a:rPr>
              <a:t>Observable tags · bookmarks · labels · semantic retrieval</a:t>
            </a:r>
          </a:p>
        </p:txBody>
      </p:sp>
      <p:sp>
        <p:nvSpPr>
          <p:cNvPr id="14" name="Rettangolo 13">
            <a:extLst xmlns:a="http://schemas.openxmlformats.org/drawingml/2006/main">
              <a:ext uri="{FF2B5EF4-FFF2-40B4-BE49-F238E27FC236}">
                <a16:creationId xmlns:a16="http://schemas.microsoft.com/office/drawing/2014/main" id="{88C109F7-273D-459C-BB14-90A9205313D4}"/>
              </a:ext>
            </a:extLst>
          </p:cNvPr>
          <p:cNvSpPr>
            <a:spLocks xmlns:a="http://schemas.openxmlformats.org/drawingml/2006/main" noGrp="1"/>
          </p:cNvSpPr>
          <p:nvPr/>
        </p:nvSpPr>
        <p:spPr>
          <a:xfrm xmlns:a="http://schemas.openxmlformats.org/drawingml/2006/main">
            <a:off x="685800" y="4457700"/>
            <a:ext cx="1082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233A70"/>
                </a:solidFill>
                <a:latin typeface="Arial"/>
                <a:ea typeface="Arial"/>
                <a:cs typeface="Arial"/>
              </a:defRPr>
            </a:pPr>
            <a:r>
              <a:rPr sz="1275" b="1">
                <a:solidFill>
                  <a:srgbClr val="233A70"/>
                </a:solidFill>
                <a:latin typeface="Arial"/>
                <a:ea typeface="Arial"/>
                <a:cs typeface="Arial"/>
              </a:rPr>
              <a:t>THREAT-MODEL PATHS</a:t>
            </a:r>
          </a:p>
        </p:txBody>
      </p:sp>
      <p:sp>
        <p:nvSpPr>
          <p:cNvPr id="15" name="Rettangolo con angoli arrotondati 14">
            <a:extLst xmlns:a="http://schemas.openxmlformats.org/drawingml/2006/main">
              <a:ext uri="{FF2B5EF4-FFF2-40B4-BE49-F238E27FC236}">
                <a16:creationId xmlns:a16="http://schemas.microsoft.com/office/drawing/2014/main" id="{D0FAD262-96F1-4338-83F7-F0766FE9CDD5}"/>
              </a:ext>
            </a:extLst>
          </p:cNvPr>
          <p:cNvSpPr>
            <a:spLocks xmlns:a="http://schemas.openxmlformats.org/drawingml/2006/main" noGrp="1"/>
          </p:cNvSpPr>
          <p:nvPr/>
        </p:nvSpPr>
        <p:spPr>
          <a:xfrm xmlns:a="http://schemas.openxmlformats.org/drawingml/2006/main">
            <a:off x="685800" y="4857750"/>
            <a:ext cx="3505200" cy="1104900"/>
          </a:xfrm>
          <a:prstGeom xmlns:a="http://schemas.openxmlformats.org/drawingml/2006/main" prst="roundRect">
            <a:avLst>
              <a:gd name="adj" fmla="val 12069"/>
            </a:avLst>
          </a:prstGeom>
          <a:solidFill xmlns:a="http://schemas.openxmlformats.org/drawingml/2006/main">
            <a:srgbClr val="FBEA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6" name="Rettangolo 15">
            <a:extLst xmlns:a="http://schemas.openxmlformats.org/drawingml/2006/main">
              <a:ext uri="{FF2B5EF4-FFF2-40B4-BE49-F238E27FC236}">
                <a16:creationId xmlns:a16="http://schemas.microsoft.com/office/drawing/2014/main" id="{A1BC2A9B-3EA3-421B-B9EF-D8552CAA31A6}"/>
              </a:ext>
            </a:extLst>
          </p:cNvPr>
          <p:cNvSpPr>
            <a:spLocks xmlns:a="http://schemas.openxmlformats.org/drawingml/2006/main" noGrp="1"/>
          </p:cNvSpPr>
          <p:nvPr/>
        </p:nvSpPr>
        <p:spPr>
          <a:xfrm xmlns:a="http://schemas.openxmlformats.org/drawingml/2006/main">
            <a:off x="857250" y="5029200"/>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BE3C37"/>
                </a:solidFill>
                <a:latin typeface="Arial"/>
                <a:ea typeface="Arial"/>
                <a:cs typeface="Arial"/>
              </a:defRPr>
            </a:pPr>
            <a:r>
              <a:rPr sz="1350" b="1">
                <a:solidFill>
                  <a:srgbClr val="BE3C37"/>
                </a:solidFill>
                <a:latin typeface="Arial"/>
                <a:ea typeface="Arial"/>
                <a:cs typeface="Arial"/>
              </a:rPr>
              <a:t>DIRECT TARGET</a:t>
            </a:r>
          </a:p>
        </p:txBody>
      </p:sp>
      <p:sp>
        <p:nvSpPr>
          <p:cNvPr id="17" name="Rettangolo 16">
            <a:extLst xmlns:a="http://schemas.openxmlformats.org/drawingml/2006/main">
              <a:ext uri="{FF2B5EF4-FFF2-40B4-BE49-F238E27FC236}">
                <a16:creationId xmlns:a16="http://schemas.microsoft.com/office/drawing/2014/main" id="{F37C7E16-C6EA-40E2-8936-26BD745EF6C6}"/>
              </a:ext>
            </a:extLst>
          </p:cNvPr>
          <p:cNvSpPr>
            <a:spLocks xmlns:a="http://schemas.openxmlformats.org/drawingml/2006/main" noGrp="1"/>
          </p:cNvSpPr>
          <p:nvPr/>
        </p:nvSpPr>
        <p:spPr>
          <a:xfrm xmlns:a="http://schemas.openxmlformats.org/drawingml/2006/main">
            <a:off x="914400" y="53911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350" b="0">
                <a:solidFill>
                  <a:srgbClr val="172033"/>
                </a:solidFill>
                <a:latin typeface="Arial"/>
                <a:ea typeface="Arial"/>
                <a:cs typeface="Arial"/>
              </a:defRPr>
            </a:pPr>
            <a:r>
              <a:rPr sz="1350" b="0">
                <a:solidFill>
                  <a:srgbClr val="172033"/>
                </a:solidFill>
                <a:latin typeface="Arial"/>
                <a:ea typeface="Arial"/>
                <a:cs typeface="Arial"/>
              </a:rPr>
              <a:t>Model-dependent attacks evaluated on EfficientNet-B0</a:t>
            </a:r>
          </a:p>
        </p:txBody>
      </p:sp>
      <p:sp>
        <p:nvSpPr>
          <p:cNvPr id="18" name="Rettangolo con angoli arrotondati 17">
            <a:extLst xmlns:a="http://schemas.openxmlformats.org/drawingml/2006/main">
              <a:ext uri="{FF2B5EF4-FFF2-40B4-BE49-F238E27FC236}">
                <a16:creationId xmlns:a16="http://schemas.microsoft.com/office/drawing/2014/main" id="{FC128AEF-92C5-4E35-BDB3-6D38879C6AD4}"/>
              </a:ext>
            </a:extLst>
          </p:cNvPr>
          <p:cNvSpPr>
            <a:spLocks xmlns:a="http://schemas.openxmlformats.org/drawingml/2006/main" noGrp="1"/>
          </p:cNvSpPr>
          <p:nvPr/>
        </p:nvSpPr>
        <p:spPr>
          <a:xfrm xmlns:a="http://schemas.openxmlformats.org/drawingml/2006/main">
            <a:off x="4343400" y="4857750"/>
            <a:ext cx="3505200" cy="1104900"/>
          </a:xfrm>
          <a:prstGeom xmlns:a="http://schemas.openxmlformats.org/drawingml/2006/main" prst="roundRect">
            <a:avLst>
              <a:gd name="adj" fmla="val 12069"/>
            </a:avLst>
          </a:prstGeom>
          <a:solidFill xmlns:a="http://schemas.openxmlformats.org/drawingml/2006/main">
            <a:srgbClr val="FFF4C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9" name="Rettangolo 18">
            <a:extLst xmlns:a="http://schemas.openxmlformats.org/drawingml/2006/main">
              <a:ext uri="{FF2B5EF4-FFF2-40B4-BE49-F238E27FC236}">
                <a16:creationId xmlns:a16="http://schemas.microsoft.com/office/drawing/2014/main" id="{2CE88DA7-3406-417C-9434-A21622865CD5}"/>
              </a:ext>
            </a:extLst>
          </p:cNvPr>
          <p:cNvSpPr>
            <a:spLocks xmlns:a="http://schemas.openxmlformats.org/drawingml/2006/main" noGrp="1"/>
          </p:cNvSpPr>
          <p:nvPr/>
        </p:nvSpPr>
        <p:spPr>
          <a:xfrm xmlns:a="http://schemas.openxmlformats.org/drawingml/2006/main">
            <a:off x="4514850" y="5029200"/>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C89B14"/>
                </a:solidFill>
                <a:latin typeface="Arial"/>
                <a:ea typeface="Arial"/>
                <a:cs typeface="Arial"/>
              </a:defRPr>
            </a:pPr>
            <a:r>
              <a:rPr sz="1350" b="1">
                <a:solidFill>
                  <a:srgbClr val="C89B14"/>
                </a:solidFill>
                <a:latin typeface="Arial"/>
                <a:ea typeface="Arial"/>
                <a:cs typeface="Arial"/>
              </a:rPr>
              <a:t>EMPIRICAL TRANSFER</a:t>
            </a:r>
          </a:p>
        </p:txBody>
      </p:sp>
      <p:sp>
        <p:nvSpPr>
          <p:cNvPr id="20" name="Rettangolo 19">
            <a:extLst xmlns:a="http://schemas.openxmlformats.org/drawingml/2006/main">
              <a:ext uri="{FF2B5EF4-FFF2-40B4-BE49-F238E27FC236}">
                <a16:creationId xmlns:a16="http://schemas.microsoft.com/office/drawing/2014/main" id="{3B11CD2C-E9E6-4F62-8369-743441D1FC5E}"/>
              </a:ext>
            </a:extLst>
          </p:cNvPr>
          <p:cNvSpPr>
            <a:spLocks xmlns:a="http://schemas.openxmlformats.org/drawingml/2006/main" noGrp="1"/>
          </p:cNvSpPr>
          <p:nvPr/>
        </p:nvSpPr>
        <p:spPr>
          <a:xfrm xmlns:a="http://schemas.openxmlformats.org/drawingml/2006/main">
            <a:off x="4572000" y="53911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350" b="0">
                <a:solidFill>
                  <a:srgbClr val="172033"/>
                </a:solidFill>
                <a:latin typeface="Arial"/>
                <a:ea typeface="Arial"/>
                <a:cs typeface="Arial"/>
              </a:defRPr>
            </a:pPr>
            <a:r>
              <a:rPr sz="1350" b="0">
                <a:solidFill>
                  <a:srgbClr val="172033"/>
                </a:solidFill>
                <a:latin typeface="Arial"/>
                <a:ea typeface="Arial"/>
                <a:cs typeface="Arial"/>
              </a:rPr>
              <a:t>The same artifacts applied to non-target systems</a:t>
            </a:r>
          </a:p>
        </p:txBody>
      </p:sp>
      <p:sp>
        <p:nvSpPr>
          <p:cNvPr id="21" name="Rettangolo con angoli arrotondati 20">
            <a:extLst xmlns:a="http://schemas.openxmlformats.org/drawingml/2006/main">
              <a:ext uri="{FF2B5EF4-FFF2-40B4-BE49-F238E27FC236}">
                <a16:creationId xmlns:a16="http://schemas.microsoft.com/office/drawing/2014/main" id="{67DA1114-C657-4C88-BA6D-0A11C4C0C09D}"/>
              </a:ext>
            </a:extLst>
          </p:cNvPr>
          <p:cNvSpPr>
            <a:spLocks xmlns:a="http://schemas.openxmlformats.org/drawingml/2006/main" noGrp="1"/>
          </p:cNvSpPr>
          <p:nvPr/>
        </p:nvSpPr>
        <p:spPr>
          <a:xfrm xmlns:a="http://schemas.openxmlformats.org/drawingml/2006/main">
            <a:off x="8001000" y="4857750"/>
            <a:ext cx="3505200" cy="1104900"/>
          </a:xfrm>
          <a:prstGeom xmlns:a="http://schemas.openxmlformats.org/drawingml/2006/main" prst="roundRect">
            <a:avLst>
              <a:gd name="adj" fmla="val 12069"/>
            </a:avLst>
          </a:prstGeom>
          <a:solidFill xmlns:a="http://schemas.openxmlformats.org/drawingml/2006/main">
            <a:srgbClr val="E7F8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2" name="Rettangolo 21">
            <a:extLst xmlns:a="http://schemas.openxmlformats.org/drawingml/2006/main">
              <a:ext uri="{FF2B5EF4-FFF2-40B4-BE49-F238E27FC236}">
                <a16:creationId xmlns:a16="http://schemas.microsoft.com/office/drawing/2014/main" id="{28CECFA8-8A49-4567-8CE6-BD12F2E08422}"/>
              </a:ext>
            </a:extLst>
          </p:cNvPr>
          <p:cNvSpPr>
            <a:spLocks xmlns:a="http://schemas.openxmlformats.org/drawingml/2006/main" noGrp="1"/>
          </p:cNvSpPr>
          <p:nvPr/>
        </p:nvSpPr>
        <p:spPr>
          <a:xfrm xmlns:a="http://schemas.openxmlformats.org/drawingml/2006/main">
            <a:off x="8172450" y="5029200"/>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087A50"/>
                </a:solidFill>
                <a:latin typeface="Arial"/>
                <a:ea typeface="Arial"/>
                <a:cs typeface="Arial"/>
              </a:defRPr>
            </a:pPr>
            <a:r>
              <a:rPr sz="1350" b="1">
                <a:solidFill>
                  <a:srgbClr val="087A50"/>
                </a:solidFill>
                <a:latin typeface="Arial"/>
                <a:ea typeface="Arial"/>
                <a:cs typeface="Arial"/>
              </a:rPr>
              <a:t>MODEL-AGNOSTIC</a:t>
            </a:r>
          </a:p>
        </p:txBody>
      </p:sp>
      <p:sp>
        <p:nvSpPr>
          <p:cNvPr id="23" name="Rettangolo 22">
            <a:extLst xmlns:a="http://schemas.openxmlformats.org/drawingml/2006/main">
              <a:ext uri="{FF2B5EF4-FFF2-40B4-BE49-F238E27FC236}">
                <a16:creationId xmlns:a16="http://schemas.microsoft.com/office/drawing/2014/main" id="{C604F757-AFD3-46F8-BFBF-FDE0793FAF4D}"/>
              </a:ext>
            </a:extLst>
          </p:cNvPr>
          <p:cNvSpPr>
            <a:spLocks xmlns:a="http://schemas.openxmlformats.org/drawingml/2006/main" noGrp="1"/>
          </p:cNvSpPr>
          <p:nvPr/>
        </p:nvSpPr>
        <p:spPr>
          <a:xfrm xmlns:a="http://schemas.openxmlformats.org/drawingml/2006/main">
            <a:off x="8229600" y="53911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350" b="0">
                <a:solidFill>
                  <a:srgbClr val="172033"/>
                </a:solidFill>
                <a:latin typeface="Arial"/>
                <a:ea typeface="Arial"/>
                <a:cs typeface="Arial"/>
              </a:defRPr>
            </a:pPr>
            <a:r>
              <a:rPr sz="1350" b="0">
                <a:solidFill>
                  <a:srgbClr val="172033"/>
                </a:solidFill>
                <a:latin typeface="Arial"/>
                <a:ea typeface="Arial"/>
                <a:cs typeface="Arial"/>
              </a:rPr>
              <a:t>Color Shift and five anti-forensic transformations</a:t>
            </a:r>
          </a:p>
        </p:txBody>
      </p:sp>
    </p:spTree>
    <p:extLst>
      <p:ext uri="{BB962C8B-B14F-4D97-AF65-F5344CB8AC3E}">
        <p14:creationId xmlns:p14="http://schemas.microsoft.com/office/powerpoint/2010/main" val="700163063"/>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7" name="Rettangolo 26">
            <a:extLst xmlns:a="http://schemas.openxmlformats.org/drawingml/2006/main">
              <a:ext uri="{FF2B5EF4-FFF2-40B4-BE49-F238E27FC236}">
                <a16:creationId xmlns:a16="http://schemas.microsoft.com/office/drawing/2014/main" id="{81E6EA5E-1BA3-4F66-A39C-B36EC754644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F030D2A4-C965-47CF-8557-481DDBF7BAD0}"/>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Explicit mappings enable comparison</a:t>
            </a:r>
          </a:p>
        </p:txBody>
      </p:sp>
      <p:sp>
        <p:nvSpPr>
          <p:cNvPr id="3" name="Rettangolo 2">
            <a:extLst xmlns:a="http://schemas.openxmlformats.org/drawingml/2006/main">
              <a:ext uri="{FF2B5EF4-FFF2-40B4-BE49-F238E27FC236}">
                <a16:creationId xmlns:a16="http://schemas.microsoft.com/office/drawing/2014/main" id="{574AC689-33AE-4188-BD30-A98CE3C1F13C}"/>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89D44508-8BE4-44DA-A23D-C69ABEFD1038}"/>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9874DB88-CD45-410D-B418-22DA962B98FC}"/>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06</a:t>
            </a:r>
          </a:p>
        </p:txBody>
      </p:sp>
      <p:sp>
        <p:nvSpPr>
          <p:cNvPr id="6" name="Rettangolo 5">
            <a:extLst xmlns:a="http://schemas.openxmlformats.org/drawingml/2006/main">
              <a:ext uri="{FF2B5EF4-FFF2-40B4-BE49-F238E27FC236}">
                <a16:creationId xmlns:a16="http://schemas.microsoft.com/office/drawing/2014/main" id="{C4E232F5-EA03-4FB1-8CD5-60017B2B3666}"/>
              </a:ext>
            </a:extLst>
          </p:cNvPr>
          <p:cNvSpPr>
            <a:spLocks xmlns:a="http://schemas.openxmlformats.org/drawingml/2006/main" noGrp="1"/>
          </p:cNvSpPr>
          <p:nvPr/>
        </p:nvSpPr>
        <p:spPr>
          <a:xfrm xmlns:a="http://schemas.openxmlformats.org/drawingml/2006/main">
            <a:off x="1733550" y="2266950"/>
            <a:ext cx="8724900" cy="571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con angoli arrotondati 6">
            <a:extLst xmlns:a="http://schemas.openxmlformats.org/drawingml/2006/main">
              <a:ext uri="{FF2B5EF4-FFF2-40B4-BE49-F238E27FC236}">
                <a16:creationId xmlns:a16="http://schemas.microsoft.com/office/drawing/2014/main" id="{A546D0B0-58E3-4310-ABD1-CC65AA1F65B9}"/>
              </a:ext>
            </a:extLst>
          </p:cNvPr>
          <p:cNvSpPr>
            <a:spLocks xmlns:a="http://schemas.openxmlformats.org/drawingml/2006/main" noGrp="1"/>
          </p:cNvSpPr>
          <p:nvPr/>
        </p:nvSpPr>
        <p:spPr>
          <a:xfrm xmlns:a="http://schemas.openxmlformats.org/drawingml/2006/main">
            <a:off x="685800" y="1657350"/>
            <a:ext cx="2667000" cy="125730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ettangolo 7">
            <a:extLst xmlns:a="http://schemas.openxmlformats.org/drawingml/2006/main">
              <a:ext uri="{FF2B5EF4-FFF2-40B4-BE49-F238E27FC236}">
                <a16:creationId xmlns:a16="http://schemas.microsoft.com/office/drawing/2014/main" id="{A81CFEC4-5E35-4C15-A807-197F3453E411}"/>
              </a:ext>
            </a:extLst>
          </p:cNvPr>
          <p:cNvSpPr>
            <a:spLocks xmlns:a="http://schemas.openxmlformats.org/drawingml/2006/main" noGrp="1"/>
          </p:cNvSpPr>
          <p:nvPr/>
        </p:nvSpPr>
        <p:spPr>
          <a:xfrm xmlns:a="http://schemas.openxmlformats.org/drawingml/2006/main">
            <a:off x="857250" y="1885950"/>
            <a:ext cx="2324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233A70"/>
                </a:solidFill>
                <a:latin typeface="Arial"/>
                <a:ea typeface="Arial"/>
                <a:cs typeface="Arial"/>
              </a:defRPr>
            </a:pPr>
            <a:r>
              <a:rPr sz="1650" b="1">
                <a:solidFill>
                  <a:srgbClr val="233A70"/>
                </a:solidFill>
                <a:latin typeface="Arial"/>
                <a:ea typeface="Arial"/>
                <a:cs typeface="Arial"/>
              </a:rPr>
              <a:t>Observable outputs</a:t>
            </a:r>
          </a:p>
        </p:txBody>
      </p:sp>
      <p:sp>
        <p:nvSpPr>
          <p:cNvPr id="9" name="Rettangolo 8">
            <a:extLst xmlns:a="http://schemas.openxmlformats.org/drawingml/2006/main">
              <a:ext uri="{FF2B5EF4-FFF2-40B4-BE49-F238E27FC236}">
                <a16:creationId xmlns:a16="http://schemas.microsoft.com/office/drawing/2014/main" id="{0C82864D-2992-412D-87C9-C8116242CB92}"/>
              </a:ext>
            </a:extLst>
          </p:cNvPr>
          <p:cNvSpPr>
            <a:spLocks xmlns:a="http://schemas.openxmlformats.org/drawingml/2006/main" noGrp="1"/>
          </p:cNvSpPr>
          <p:nvPr/>
        </p:nvSpPr>
        <p:spPr>
          <a:xfrm xmlns:a="http://schemas.openxmlformats.org/drawingml/2006/main">
            <a:off x="857250" y="2343150"/>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350" b="0">
                <a:solidFill>
                  <a:srgbClr val="5B6577"/>
                </a:solidFill>
                <a:latin typeface="Arial"/>
                <a:ea typeface="Arial"/>
                <a:cs typeface="Arial"/>
              </a:defRPr>
            </a:pPr>
            <a:r>
              <a:rPr sz="1350" b="0">
                <a:solidFill>
                  <a:srgbClr val="5B6577"/>
                </a:solidFill>
                <a:latin typeface="Arial"/>
                <a:ea typeface="Arial"/>
                <a:cs typeface="Arial"/>
              </a:rPr>
              <a:t>tags · bookmarks · labels · retrieval</a:t>
            </a:r>
          </a:p>
        </p:txBody>
      </p:sp>
      <p:sp>
        <p:nvSpPr>
          <p:cNvPr id="10" name="Rettangolo con angoli arrotondati 9">
            <a:extLst xmlns:a="http://schemas.openxmlformats.org/drawingml/2006/main">
              <a:ext uri="{FF2B5EF4-FFF2-40B4-BE49-F238E27FC236}">
                <a16:creationId xmlns:a16="http://schemas.microsoft.com/office/drawing/2014/main" id="{52BB320A-88DF-4212-9748-1A81E55A6509}"/>
              </a:ext>
            </a:extLst>
          </p:cNvPr>
          <p:cNvSpPr>
            <a:spLocks xmlns:a="http://schemas.openxmlformats.org/drawingml/2006/main" noGrp="1"/>
          </p:cNvSpPr>
          <p:nvPr/>
        </p:nvSpPr>
        <p:spPr>
          <a:xfrm xmlns:a="http://schemas.openxmlformats.org/drawingml/2006/main">
            <a:off x="4762500" y="1657350"/>
            <a:ext cx="2667000" cy="1257300"/>
          </a:xfrm>
          <a:prstGeom xmlns:a="http://schemas.openxmlformats.org/drawingml/2006/main" prst="roundRect">
            <a:avLst>
              <a:gd name="adj" fmla="val 12121"/>
            </a:avLst>
          </a:prstGeom>
          <a:solidFill xmlns:a="http://schemas.openxmlformats.org/drawingml/2006/main">
            <a:srgbClr val="E9EEF8"/>
          </a:solidFill>
          <a:ln xmlns:a="http://schemas.openxmlformats.org/drawingml/2006/main" w="9525">
            <a:solidFill>
              <a:srgbClr val="E9EEF8"/>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ettangolo 10">
            <a:extLst xmlns:a="http://schemas.openxmlformats.org/drawingml/2006/main">
              <a:ext uri="{FF2B5EF4-FFF2-40B4-BE49-F238E27FC236}">
                <a16:creationId xmlns:a16="http://schemas.microsoft.com/office/drawing/2014/main" id="{FD74F8E5-4D60-416B-B482-9CAE4E4D1E2F}"/>
              </a:ext>
            </a:extLst>
          </p:cNvPr>
          <p:cNvSpPr>
            <a:spLocks xmlns:a="http://schemas.openxmlformats.org/drawingml/2006/main" noGrp="1"/>
          </p:cNvSpPr>
          <p:nvPr/>
        </p:nvSpPr>
        <p:spPr>
          <a:xfrm xmlns:a="http://schemas.openxmlformats.org/drawingml/2006/main">
            <a:off x="4933950" y="1885950"/>
            <a:ext cx="2324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233A70"/>
                </a:solidFill>
                <a:latin typeface="Arial"/>
                <a:ea typeface="Arial"/>
                <a:cs typeface="Arial"/>
              </a:defRPr>
            </a:pPr>
            <a:r>
              <a:rPr sz="1650" b="1">
                <a:solidFill>
                  <a:srgbClr val="233A70"/>
                </a:solidFill>
                <a:latin typeface="Arial"/>
                <a:ea typeface="Arial"/>
                <a:cs typeface="Arial"/>
              </a:rPr>
              <a:t>Output mapping</a:t>
            </a:r>
          </a:p>
        </p:txBody>
      </p:sp>
      <p:sp>
        <p:nvSpPr>
          <p:cNvPr id="12" name="Rettangolo 11">
            <a:extLst xmlns:a="http://schemas.openxmlformats.org/drawingml/2006/main">
              <a:ext uri="{FF2B5EF4-FFF2-40B4-BE49-F238E27FC236}">
                <a16:creationId xmlns:a16="http://schemas.microsoft.com/office/drawing/2014/main" id="{6EB043F8-9E47-4F79-A3FB-61719463254C}"/>
              </a:ext>
            </a:extLst>
          </p:cNvPr>
          <p:cNvSpPr>
            <a:spLocks xmlns:a="http://schemas.openxmlformats.org/drawingml/2006/main" noGrp="1"/>
          </p:cNvSpPr>
          <p:nvPr/>
        </p:nvSpPr>
        <p:spPr>
          <a:xfrm xmlns:a="http://schemas.openxmlformats.org/drawingml/2006/main">
            <a:off x="4933950" y="2343150"/>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350" b="0">
                <a:solidFill>
                  <a:srgbClr val="5B6577"/>
                </a:solidFill>
                <a:latin typeface="Arial"/>
                <a:ea typeface="Arial"/>
                <a:cs typeface="Arial"/>
              </a:defRPr>
            </a:pPr>
            <a:r>
              <a:rPr sz="1350" b="0">
                <a:solidFill>
                  <a:srgbClr val="5B6577"/>
                </a:solidFill>
                <a:latin typeface="Arial"/>
                <a:ea typeface="Arial"/>
                <a:cs typeface="Arial"/>
              </a:rPr>
              <a:t>version + configuration + export semantics</a:t>
            </a:r>
          </a:p>
        </p:txBody>
      </p:sp>
      <p:sp>
        <p:nvSpPr>
          <p:cNvPr id="13" name="Rettangolo con angoli arrotondati 12">
            <a:extLst xmlns:a="http://schemas.openxmlformats.org/drawingml/2006/main">
              <a:ext uri="{FF2B5EF4-FFF2-40B4-BE49-F238E27FC236}">
                <a16:creationId xmlns:a16="http://schemas.microsoft.com/office/drawing/2014/main" id="{3BB1E76B-72A2-4DBC-842E-AEA144C0BA95}"/>
              </a:ext>
            </a:extLst>
          </p:cNvPr>
          <p:cNvSpPr>
            <a:spLocks xmlns:a="http://schemas.openxmlformats.org/drawingml/2006/main" noGrp="1"/>
          </p:cNvSpPr>
          <p:nvPr/>
        </p:nvSpPr>
        <p:spPr>
          <a:xfrm xmlns:a="http://schemas.openxmlformats.org/drawingml/2006/main">
            <a:off x="8839200" y="1657350"/>
            <a:ext cx="2667000" cy="125730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ttangolo 13">
            <a:extLst xmlns:a="http://schemas.openxmlformats.org/drawingml/2006/main">
              <a:ext uri="{FF2B5EF4-FFF2-40B4-BE49-F238E27FC236}">
                <a16:creationId xmlns:a16="http://schemas.microsoft.com/office/drawing/2014/main" id="{A556E7B6-FC90-493A-BF1D-397EFBDE7A22}"/>
              </a:ext>
            </a:extLst>
          </p:cNvPr>
          <p:cNvSpPr>
            <a:spLocks xmlns:a="http://schemas.openxmlformats.org/drawingml/2006/main" noGrp="1"/>
          </p:cNvSpPr>
          <p:nvPr/>
        </p:nvSpPr>
        <p:spPr>
          <a:xfrm xmlns:a="http://schemas.openxmlformats.org/drawingml/2006/main">
            <a:off x="9010650" y="1885950"/>
            <a:ext cx="2324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233A70"/>
                </a:solidFill>
                <a:latin typeface="Arial"/>
                <a:ea typeface="Arial"/>
                <a:cs typeface="Arial"/>
              </a:defRPr>
            </a:pPr>
            <a:r>
              <a:rPr sz="1650" b="1">
                <a:solidFill>
                  <a:srgbClr val="233A70"/>
                </a:solidFill>
                <a:latin typeface="Arial"/>
                <a:ea typeface="Arial"/>
                <a:cs typeface="Arial"/>
              </a:rPr>
              <a:t>Operational states</a:t>
            </a:r>
          </a:p>
        </p:txBody>
      </p:sp>
      <p:sp>
        <p:nvSpPr>
          <p:cNvPr id="15" name="Rettangolo 14">
            <a:extLst xmlns:a="http://schemas.openxmlformats.org/drawingml/2006/main">
              <a:ext uri="{FF2B5EF4-FFF2-40B4-BE49-F238E27FC236}">
                <a16:creationId xmlns:a16="http://schemas.microsoft.com/office/drawing/2014/main" id="{7D3EA51E-91B9-4C0F-9EBE-F9DF968A206F}"/>
              </a:ext>
            </a:extLst>
          </p:cNvPr>
          <p:cNvSpPr>
            <a:spLocks xmlns:a="http://schemas.openxmlformats.org/drawingml/2006/main" noGrp="1"/>
          </p:cNvSpPr>
          <p:nvPr/>
        </p:nvSpPr>
        <p:spPr>
          <a:xfrm xmlns:a="http://schemas.openxmlformats.org/drawingml/2006/main">
            <a:off x="9010650" y="2343150"/>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350" b="0">
                <a:solidFill>
                  <a:srgbClr val="5B6577"/>
                </a:solidFill>
                <a:latin typeface="Arial"/>
                <a:ea typeface="Arial"/>
                <a:cs typeface="Arial"/>
              </a:defRPr>
            </a:pPr>
            <a:r>
              <a:rPr sz="1350" b="0">
                <a:solidFill>
                  <a:srgbClr val="5B6577"/>
                </a:solidFill>
                <a:latin typeface="Arial"/>
                <a:ea typeface="Arial"/>
                <a:cs typeface="Arial"/>
              </a:rPr>
              <a:t>weapon · non_weapon · unknown</a:t>
            </a:r>
          </a:p>
        </p:txBody>
      </p:sp>
      <p:sp>
        <p:nvSpPr>
          <p:cNvPr id="16" name="Rettangolo 15">
            <a:extLst xmlns:a="http://schemas.openxmlformats.org/drawingml/2006/main">
              <a:ext uri="{FF2B5EF4-FFF2-40B4-BE49-F238E27FC236}">
                <a16:creationId xmlns:a16="http://schemas.microsoft.com/office/drawing/2014/main" id="{4063CCF0-7B01-49ED-91C7-126039BFBC3F}"/>
              </a:ext>
            </a:extLst>
          </p:cNvPr>
          <p:cNvSpPr>
            <a:spLocks xmlns:a="http://schemas.openxmlformats.org/drawingml/2006/main" noGrp="1"/>
          </p:cNvSpPr>
          <p:nvPr/>
        </p:nvSpPr>
        <p:spPr>
          <a:xfrm xmlns:a="http://schemas.openxmlformats.org/drawingml/2006/main">
            <a:off x="3590925" y="1943100"/>
            <a:ext cx="838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233A70"/>
                </a:solidFill>
                <a:latin typeface="Arial"/>
                <a:ea typeface="Arial"/>
                <a:cs typeface="Arial"/>
              </a:defRPr>
            </a:pPr>
            <a:r>
              <a:rPr sz="3450" b="1">
                <a:solidFill>
                  <a:srgbClr val="233A70"/>
                </a:solidFill>
                <a:latin typeface="Arial"/>
                <a:ea typeface="Arial"/>
                <a:cs typeface="Arial"/>
              </a:rPr>
              <a:t>→</a:t>
            </a:r>
          </a:p>
        </p:txBody>
      </p:sp>
      <p:sp>
        <p:nvSpPr>
          <p:cNvPr id="17" name="Rettangolo 16">
            <a:extLst xmlns:a="http://schemas.openxmlformats.org/drawingml/2006/main">
              <a:ext uri="{FF2B5EF4-FFF2-40B4-BE49-F238E27FC236}">
                <a16:creationId xmlns:a16="http://schemas.microsoft.com/office/drawing/2014/main" id="{2F1F406C-D78B-4AA1-80BA-9D9321429CEC}"/>
              </a:ext>
            </a:extLst>
          </p:cNvPr>
          <p:cNvSpPr>
            <a:spLocks xmlns:a="http://schemas.openxmlformats.org/drawingml/2006/main" noGrp="1"/>
          </p:cNvSpPr>
          <p:nvPr/>
        </p:nvSpPr>
        <p:spPr>
          <a:xfrm xmlns:a="http://schemas.openxmlformats.org/drawingml/2006/main">
            <a:off x="7667625" y="1943100"/>
            <a:ext cx="838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233A70"/>
                </a:solidFill>
                <a:latin typeface="Arial"/>
                <a:ea typeface="Arial"/>
                <a:cs typeface="Arial"/>
              </a:defRPr>
            </a:pPr>
            <a:r>
              <a:rPr sz="3450" b="1">
                <a:solidFill>
                  <a:srgbClr val="233A70"/>
                </a:solidFill>
                <a:latin typeface="Arial"/>
                <a:ea typeface="Arial"/>
                <a:cs typeface="Arial"/>
              </a:rPr>
              <a:t>→</a:t>
            </a:r>
          </a:p>
        </p:txBody>
      </p:sp>
      <p:sp>
        <p:nvSpPr>
          <p:cNvPr id="18" name="Rettangolo 17">
            <a:extLst xmlns:a="http://schemas.openxmlformats.org/drawingml/2006/main">
              <a:ext uri="{FF2B5EF4-FFF2-40B4-BE49-F238E27FC236}">
                <a16:creationId xmlns:a16="http://schemas.microsoft.com/office/drawing/2014/main" id="{91253F60-E8B5-495D-AEBF-8CC9D8FD6960}"/>
              </a:ext>
            </a:extLst>
          </p:cNvPr>
          <p:cNvSpPr>
            <a:spLocks xmlns:a="http://schemas.openxmlformats.org/drawingml/2006/main" noGrp="1"/>
          </p:cNvSpPr>
          <p:nvPr/>
        </p:nvSpPr>
        <p:spPr>
          <a:xfrm xmlns:a="http://schemas.openxmlformats.org/drawingml/2006/main">
            <a:off x="1066800" y="34290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BE3C37"/>
                </a:solidFill>
                <a:latin typeface="Arial"/>
                <a:ea typeface="Arial"/>
                <a:cs typeface="Arial"/>
              </a:defRPr>
            </a:pPr>
            <a:r>
              <a:rPr sz="1425" b="1">
                <a:solidFill>
                  <a:srgbClr val="BE3C37"/>
                </a:solidFill>
                <a:latin typeface="Arial"/>
                <a:ea typeface="Arial"/>
                <a:cs typeface="Arial"/>
              </a:rPr>
              <a:t>MISSED-TARGET RISK</a:t>
            </a:r>
          </a:p>
        </p:txBody>
      </p:sp>
      <p:sp>
        <p:nvSpPr>
          <p:cNvPr id="19" name="Rettangolo 18">
            <a:extLst xmlns:a="http://schemas.openxmlformats.org/drawingml/2006/main">
              <a:ext uri="{FF2B5EF4-FFF2-40B4-BE49-F238E27FC236}">
                <a16:creationId xmlns:a16="http://schemas.microsoft.com/office/drawing/2014/main" id="{BC8311FB-C066-4072-B667-B34AD4D0E420}"/>
              </a:ext>
            </a:extLst>
          </p:cNvPr>
          <p:cNvSpPr>
            <a:spLocks xmlns:a="http://schemas.openxmlformats.org/drawingml/2006/main" noGrp="1"/>
          </p:cNvSpPr>
          <p:nvPr/>
        </p:nvSpPr>
        <p:spPr>
          <a:xfrm xmlns:a="http://schemas.openxmlformats.org/drawingml/2006/main">
            <a:off x="1066800" y="3829050"/>
            <a:ext cx="4095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4050" b="1">
                <a:solidFill>
                  <a:srgbClr val="BE3C37"/>
                </a:solidFill>
                <a:latin typeface="Arial"/>
                <a:ea typeface="Arial"/>
                <a:cs typeface="Arial"/>
              </a:defRPr>
            </a:pPr>
            <a:r>
              <a:rPr sz="4050" b="1">
                <a:solidFill>
                  <a:srgbClr val="BE3C37"/>
                </a:solidFill>
                <a:latin typeface="Arial"/>
                <a:ea typeface="Arial"/>
                <a:cs typeface="Arial"/>
              </a:rPr>
              <a:t>FNR</a:t>
            </a:r>
          </a:p>
        </p:txBody>
      </p:sp>
      <p:sp>
        <p:nvSpPr>
          <p:cNvPr id="20" name="Rettangolo 19">
            <a:extLst xmlns:a="http://schemas.openxmlformats.org/drawingml/2006/main">
              <a:ext uri="{FF2B5EF4-FFF2-40B4-BE49-F238E27FC236}">
                <a16:creationId xmlns:a16="http://schemas.microsoft.com/office/drawing/2014/main" id="{97D0AD05-5F40-433E-89C0-32EEE5F2F868}"/>
              </a:ext>
            </a:extLst>
          </p:cNvPr>
          <p:cNvSpPr>
            <a:spLocks xmlns:a="http://schemas.openxmlformats.org/drawingml/2006/main" noGrp="1"/>
          </p:cNvSpPr>
          <p:nvPr/>
        </p:nvSpPr>
        <p:spPr>
          <a:xfrm xmlns:a="http://schemas.openxmlformats.org/drawingml/2006/main">
            <a:off x="1066800" y="45148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72033"/>
                </a:solidFill>
                <a:latin typeface="Arial"/>
                <a:ea typeface="Arial"/>
                <a:cs typeface="Arial"/>
              </a:defRPr>
            </a:pPr>
            <a:r>
              <a:rPr sz="1800" b="1">
                <a:solidFill>
                  <a:srgbClr val="172033"/>
                </a:solidFill>
                <a:latin typeface="Arial"/>
                <a:ea typeface="Arial"/>
                <a:cs typeface="Arial"/>
              </a:rPr>
              <a:t>weapon → non_weapon</a:t>
            </a:r>
          </a:p>
        </p:txBody>
      </p:sp>
      <p:sp>
        <p:nvSpPr>
          <p:cNvPr id="21" name="Rettangolo 20">
            <a:extLst xmlns:a="http://schemas.openxmlformats.org/drawingml/2006/main">
              <a:ext uri="{FF2B5EF4-FFF2-40B4-BE49-F238E27FC236}">
                <a16:creationId xmlns:a16="http://schemas.microsoft.com/office/drawing/2014/main" id="{5E474FE5-9B28-42E6-B688-9EA5D69086EE}"/>
              </a:ext>
            </a:extLst>
          </p:cNvPr>
          <p:cNvSpPr>
            <a:spLocks xmlns:a="http://schemas.openxmlformats.org/drawingml/2006/main" noGrp="1"/>
          </p:cNvSpPr>
          <p:nvPr/>
        </p:nvSpPr>
        <p:spPr>
          <a:xfrm xmlns:a="http://schemas.openxmlformats.org/drawingml/2006/main">
            <a:off x="6076950" y="3390900"/>
            <a:ext cx="28575" cy="18097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2" name="Rettangolo 21">
            <a:extLst xmlns:a="http://schemas.openxmlformats.org/drawingml/2006/main">
              <a:ext uri="{FF2B5EF4-FFF2-40B4-BE49-F238E27FC236}">
                <a16:creationId xmlns:a16="http://schemas.microsoft.com/office/drawing/2014/main" id="{A074807C-4784-4903-B750-5BECA1BD3546}"/>
              </a:ext>
            </a:extLst>
          </p:cNvPr>
          <p:cNvSpPr>
            <a:spLocks xmlns:a="http://schemas.openxmlformats.org/drawingml/2006/main" noGrp="1"/>
          </p:cNvSpPr>
          <p:nvPr/>
        </p:nvSpPr>
        <p:spPr>
          <a:xfrm xmlns:a="http://schemas.openxmlformats.org/drawingml/2006/main">
            <a:off x="7029450" y="34290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C89B14"/>
                </a:solidFill>
                <a:latin typeface="Arial"/>
                <a:ea typeface="Arial"/>
                <a:cs typeface="Arial"/>
              </a:defRPr>
            </a:pPr>
            <a:r>
              <a:rPr sz="1425" b="1">
                <a:solidFill>
                  <a:srgbClr val="C89B14"/>
                </a:solidFill>
                <a:latin typeface="Arial"/>
                <a:ea typeface="Arial"/>
                <a:cs typeface="Arial"/>
              </a:rPr>
              <a:t>REVIEW-WORKLOAD RISK</a:t>
            </a:r>
          </a:p>
        </p:txBody>
      </p:sp>
      <p:sp>
        <p:nvSpPr>
          <p:cNvPr id="23" name="Rettangolo 22">
            <a:extLst xmlns:a="http://schemas.openxmlformats.org/drawingml/2006/main">
              <a:ext uri="{FF2B5EF4-FFF2-40B4-BE49-F238E27FC236}">
                <a16:creationId xmlns:a16="http://schemas.microsoft.com/office/drawing/2014/main" id="{5FC9D189-EFC1-4DC8-81D2-005B26D5BFA5}"/>
              </a:ext>
            </a:extLst>
          </p:cNvPr>
          <p:cNvSpPr>
            <a:spLocks xmlns:a="http://schemas.openxmlformats.org/drawingml/2006/main" noGrp="1"/>
          </p:cNvSpPr>
          <p:nvPr/>
        </p:nvSpPr>
        <p:spPr>
          <a:xfrm xmlns:a="http://schemas.openxmlformats.org/drawingml/2006/main">
            <a:off x="7029450" y="3829050"/>
            <a:ext cx="4095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4050" b="1">
                <a:solidFill>
                  <a:srgbClr val="C89B14"/>
                </a:solidFill>
                <a:latin typeface="Arial"/>
                <a:ea typeface="Arial"/>
                <a:cs typeface="Arial"/>
              </a:defRPr>
            </a:pPr>
            <a:r>
              <a:rPr sz="4050" b="1">
                <a:solidFill>
                  <a:srgbClr val="C89B14"/>
                </a:solidFill>
                <a:latin typeface="Arial"/>
                <a:ea typeface="Arial"/>
                <a:cs typeface="Arial"/>
              </a:rPr>
              <a:t>FPR</a:t>
            </a:r>
          </a:p>
        </p:txBody>
      </p:sp>
      <p:sp>
        <p:nvSpPr>
          <p:cNvPr id="24" name="Rettangolo 23">
            <a:extLst xmlns:a="http://schemas.openxmlformats.org/drawingml/2006/main">
              <a:ext uri="{FF2B5EF4-FFF2-40B4-BE49-F238E27FC236}">
                <a16:creationId xmlns:a16="http://schemas.microsoft.com/office/drawing/2014/main" id="{C1CE03FA-0D68-42C1-89E8-C743E7BB7F52}"/>
              </a:ext>
            </a:extLst>
          </p:cNvPr>
          <p:cNvSpPr>
            <a:spLocks xmlns:a="http://schemas.openxmlformats.org/drawingml/2006/main" noGrp="1"/>
          </p:cNvSpPr>
          <p:nvPr/>
        </p:nvSpPr>
        <p:spPr>
          <a:xfrm xmlns:a="http://schemas.openxmlformats.org/drawingml/2006/main">
            <a:off x="7029450" y="45148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72033"/>
                </a:solidFill>
                <a:latin typeface="Arial"/>
                <a:ea typeface="Arial"/>
                <a:cs typeface="Arial"/>
              </a:defRPr>
            </a:pPr>
            <a:r>
              <a:rPr sz="1800" b="1">
                <a:solidFill>
                  <a:srgbClr val="172033"/>
                </a:solidFill>
                <a:latin typeface="Arial"/>
                <a:ea typeface="Arial"/>
                <a:cs typeface="Arial"/>
              </a:rPr>
              <a:t>non_weapon → weapon</a:t>
            </a:r>
          </a:p>
        </p:txBody>
      </p:sp>
      <p:sp>
        <p:nvSpPr>
          <p:cNvPr id="25" name="Rettangolo con angoli arrotondati 24">
            <a:extLst xmlns:a="http://schemas.openxmlformats.org/drawingml/2006/main">
              <a:ext uri="{FF2B5EF4-FFF2-40B4-BE49-F238E27FC236}">
                <a16:creationId xmlns:a16="http://schemas.microsoft.com/office/drawing/2014/main" id="{679C6CA1-E422-4B3D-A1C4-68A1B04782DB}"/>
              </a:ext>
            </a:extLst>
          </p:cNvPr>
          <p:cNvSpPr>
            <a:spLocks xmlns:a="http://schemas.openxmlformats.org/drawingml/2006/main" noGrp="1"/>
          </p:cNvSpPr>
          <p:nvPr/>
        </p:nvSpPr>
        <p:spPr>
          <a:xfrm xmlns:a="http://schemas.openxmlformats.org/drawingml/2006/main">
            <a:off x="1790700" y="5429250"/>
            <a:ext cx="8610600" cy="552450"/>
          </a:xfrm>
          <a:prstGeom xmlns:a="http://schemas.openxmlformats.org/drawingml/2006/main" prst="roundRect">
            <a:avLst>
              <a:gd name="adj" fmla="val 24138"/>
            </a:avLst>
          </a:prstGeom>
          <a:solidFill xmlns:a="http://schemas.openxmlformats.org/drawingml/2006/main">
            <a:srgbClr val="E7F8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6" name="Rettangolo 25">
            <a:extLst xmlns:a="http://schemas.openxmlformats.org/drawingml/2006/main">
              <a:ext uri="{FF2B5EF4-FFF2-40B4-BE49-F238E27FC236}">
                <a16:creationId xmlns:a16="http://schemas.microsoft.com/office/drawing/2014/main" id="{9AC02F13-9E37-4088-8708-E1F14BE825A7}"/>
              </a:ext>
            </a:extLst>
          </p:cNvPr>
          <p:cNvSpPr>
            <a:spLocks xmlns:a="http://schemas.openxmlformats.org/drawingml/2006/main" noGrp="1"/>
          </p:cNvSpPr>
          <p:nvPr/>
        </p:nvSpPr>
        <p:spPr>
          <a:xfrm xmlns:a="http://schemas.openxmlformats.org/drawingml/2006/main">
            <a:off x="2038350" y="5581650"/>
            <a:ext cx="811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087A50"/>
                </a:solidFill>
                <a:latin typeface="Arial"/>
                <a:ea typeface="Arial"/>
                <a:cs typeface="Arial"/>
              </a:defRPr>
            </a:pPr>
            <a:r>
              <a:rPr sz="1350" b="1">
                <a:solidFill>
                  <a:srgbClr val="087A50"/>
                </a:solidFill>
                <a:latin typeface="Arial"/>
                <a:ea typeface="Arial"/>
                <a:cs typeface="Arial"/>
              </a:rPr>
              <a:t>OOD weapon-assignment rate is reported separately; no unknown state occurred in 69,000 normalized decisions.</a:t>
            </a:r>
          </a:p>
        </p:txBody>
      </p:sp>
    </p:spTree>
    <p:extLst>
      <p:ext uri="{BB962C8B-B14F-4D97-AF65-F5344CB8AC3E}">
        <p14:creationId xmlns:p14="http://schemas.microsoft.com/office/powerpoint/2010/main" val="1623973294"/>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5" name="Rettangolo 34">
            <a:extLst xmlns:a="http://schemas.openxmlformats.org/drawingml/2006/main">
              <a:ext uri="{FF2B5EF4-FFF2-40B4-BE49-F238E27FC236}">
                <a16:creationId xmlns:a16="http://schemas.microsoft.com/office/drawing/2014/main" id="{B682DB6E-8EFB-4DA0-800D-68D826B1831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CC2FB14A-91A6-468C-9FBC-56EB8791369E}"/>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Direct-target collapse did not transfer uniformly</a:t>
            </a:r>
          </a:p>
        </p:txBody>
      </p:sp>
      <p:sp>
        <p:nvSpPr>
          <p:cNvPr id="3" name="Rettangolo 2">
            <a:extLst xmlns:a="http://schemas.openxmlformats.org/drawingml/2006/main">
              <a:ext uri="{FF2B5EF4-FFF2-40B4-BE49-F238E27FC236}">
                <a16:creationId xmlns:a16="http://schemas.microsoft.com/office/drawing/2014/main" id="{C191ECC7-CDAF-4D9F-AF0A-FC4F6D1F8648}"/>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44E86AFB-EC30-4BB1-A97A-884CD498C0D2}"/>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B1BC9993-142B-4F39-8B3D-F8FBFA603617}"/>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07</a:t>
            </a:r>
          </a:p>
        </p:txBody>
      </p:sp>
      <p:sp>
        <p:nvSpPr>
          <p:cNvPr id="6" name="Rettangolo 5">
            <a:extLst xmlns:a="http://schemas.openxmlformats.org/drawingml/2006/main">
              <a:ext uri="{FF2B5EF4-FFF2-40B4-BE49-F238E27FC236}">
                <a16:creationId xmlns:a16="http://schemas.microsoft.com/office/drawing/2014/main" id="{16658F52-9BE9-415C-BF14-A5CB15AB43AB}"/>
              </a:ext>
            </a:extLst>
          </p:cNvPr>
          <p:cNvSpPr>
            <a:spLocks xmlns:a="http://schemas.openxmlformats.org/drawingml/2006/main" noGrp="1"/>
          </p:cNvSpPr>
          <p:nvPr/>
        </p:nvSpPr>
        <p:spPr>
          <a:xfrm xmlns:a="http://schemas.openxmlformats.org/drawingml/2006/main">
            <a:off x="685800" y="1257300"/>
            <a:ext cx="1082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0">
                <a:solidFill>
                  <a:srgbClr val="5B6577"/>
                </a:solidFill>
                <a:latin typeface="Arial"/>
                <a:ea typeface="Arial"/>
                <a:cs typeface="Arial"/>
              </a:defRPr>
            </a:pPr>
            <a:r>
              <a:rPr sz="1350" b="0">
                <a:solidFill>
                  <a:srgbClr val="5B6577"/>
                </a:solidFill>
                <a:latin typeface="Arial"/>
                <a:ea typeface="Arial"/>
                <a:cs typeface="Arial"/>
              </a:rPr>
              <a:t>Worst observed adversarial condition per proxy; attacks were optimized only for EfficientNet-B0</a:t>
            </a:r>
          </a:p>
        </p:txBody>
      </p:sp>
      <p:sp>
        <p:nvSpPr>
          <p:cNvPr id="7" name="Rettangolo con angoli arrotondati 6">
            <a:extLst xmlns:a="http://schemas.openxmlformats.org/drawingml/2006/main">
              <a:ext uri="{FF2B5EF4-FFF2-40B4-BE49-F238E27FC236}">
                <a16:creationId xmlns:a16="http://schemas.microsoft.com/office/drawing/2014/main" id="{56AE85E9-0E8F-4E95-8EC0-7B131EEDAC00}"/>
              </a:ext>
            </a:extLst>
          </p:cNvPr>
          <p:cNvSpPr>
            <a:spLocks xmlns:a="http://schemas.openxmlformats.org/drawingml/2006/main" noGrp="1"/>
          </p:cNvSpPr>
          <p:nvPr/>
        </p:nvSpPr>
        <p:spPr>
          <a:xfrm xmlns:a="http://schemas.openxmlformats.org/drawingml/2006/main">
            <a:off x="685800" y="1676400"/>
            <a:ext cx="3333750" cy="3695700"/>
          </a:xfrm>
          <a:prstGeom xmlns:a="http://schemas.openxmlformats.org/drawingml/2006/main" prst="roundRect">
            <a:avLst>
              <a:gd name="adj" fmla="val 5143"/>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ettangolo 7">
            <a:extLst xmlns:a="http://schemas.openxmlformats.org/drawingml/2006/main">
              <a:ext uri="{FF2B5EF4-FFF2-40B4-BE49-F238E27FC236}">
                <a16:creationId xmlns:a16="http://schemas.microsoft.com/office/drawing/2014/main" id="{9577C2D9-78D1-4F27-ABC7-FD9633E30F4D}"/>
              </a:ext>
            </a:extLst>
          </p:cNvPr>
          <p:cNvSpPr>
            <a:spLocks xmlns:a="http://schemas.openxmlformats.org/drawingml/2006/main" noGrp="1"/>
          </p:cNvSpPr>
          <p:nvPr/>
        </p:nvSpPr>
        <p:spPr>
          <a:xfrm xmlns:a="http://schemas.openxmlformats.org/drawingml/2006/main">
            <a:off x="876300" y="19050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25" b="1">
                <a:solidFill>
                  <a:srgbClr val="233A70"/>
                </a:solidFill>
                <a:latin typeface="Arial"/>
                <a:ea typeface="Arial"/>
                <a:cs typeface="Arial"/>
              </a:defRPr>
            </a:pPr>
            <a:r>
              <a:rPr sz="1725" b="1">
                <a:solidFill>
                  <a:srgbClr val="233A70"/>
                </a:solidFill>
                <a:latin typeface="Arial"/>
                <a:ea typeface="Arial"/>
                <a:cs typeface="Arial"/>
              </a:rPr>
              <a:t>EfficientNet-B0</a:t>
            </a:r>
          </a:p>
        </p:txBody>
      </p:sp>
      <p:sp>
        <p:nvSpPr>
          <p:cNvPr id="9" name="Rettangolo 8">
            <a:extLst xmlns:a="http://schemas.openxmlformats.org/drawingml/2006/main">
              <a:ext uri="{FF2B5EF4-FFF2-40B4-BE49-F238E27FC236}">
                <a16:creationId xmlns:a16="http://schemas.microsoft.com/office/drawing/2014/main" id="{2E82C4FA-E336-46EA-9A84-371A09CA3AEA}"/>
              </a:ext>
            </a:extLst>
          </p:cNvPr>
          <p:cNvSpPr>
            <a:spLocks xmlns:a="http://schemas.openxmlformats.org/drawingml/2006/main" noGrp="1"/>
          </p:cNvSpPr>
          <p:nvPr/>
        </p:nvSpPr>
        <p:spPr>
          <a:xfrm xmlns:a="http://schemas.openxmlformats.org/drawingml/2006/main">
            <a:off x="876300" y="24384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10" name="Rettangolo 9">
            <a:extLst xmlns:a="http://schemas.openxmlformats.org/drawingml/2006/main">
              <a:ext uri="{FF2B5EF4-FFF2-40B4-BE49-F238E27FC236}">
                <a16:creationId xmlns:a16="http://schemas.microsoft.com/office/drawing/2014/main" id="{70F2D2A0-02D8-4A6B-9903-BE856DE2D296}"/>
              </a:ext>
            </a:extLst>
          </p:cNvPr>
          <p:cNvSpPr>
            <a:spLocks xmlns:a="http://schemas.openxmlformats.org/drawingml/2006/main" noGrp="1"/>
          </p:cNvSpPr>
          <p:nvPr/>
        </p:nvSpPr>
        <p:spPr>
          <a:xfrm xmlns:a="http://schemas.openxmlformats.org/drawingml/2006/main">
            <a:off x="876300" y="272415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150" b="1">
                <a:solidFill>
                  <a:srgbClr val="233A70"/>
                </a:solidFill>
                <a:latin typeface="Arial"/>
                <a:ea typeface="Arial"/>
                <a:cs typeface="Arial"/>
              </a:defRPr>
            </a:pPr>
            <a:r>
              <a:rPr sz="3150" b="1">
                <a:solidFill>
                  <a:srgbClr val="233A70"/>
                </a:solidFill>
                <a:latin typeface="Arial"/>
                <a:ea typeface="Arial"/>
                <a:cs typeface="Arial"/>
              </a:rPr>
              <a:t>97.8%</a:t>
            </a:r>
          </a:p>
        </p:txBody>
      </p:sp>
      <p:sp>
        <p:nvSpPr>
          <p:cNvPr id="11" name="Rettangolo 10">
            <a:extLst xmlns:a="http://schemas.openxmlformats.org/drawingml/2006/main">
              <a:ext uri="{FF2B5EF4-FFF2-40B4-BE49-F238E27FC236}">
                <a16:creationId xmlns:a16="http://schemas.microsoft.com/office/drawing/2014/main" id="{49D9FAB2-354F-4D6E-AEB6-D07E9821938A}"/>
              </a:ext>
            </a:extLst>
          </p:cNvPr>
          <p:cNvSpPr>
            <a:spLocks xmlns:a="http://schemas.openxmlformats.org/drawingml/2006/main" noGrp="1"/>
          </p:cNvSpPr>
          <p:nvPr/>
        </p:nvSpPr>
        <p:spPr>
          <a:xfrm xmlns:a="http://schemas.openxmlformats.org/drawingml/2006/main">
            <a:off x="1905000" y="3257550"/>
            <a:ext cx="895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BE3C37"/>
                </a:solidFill>
                <a:latin typeface="Arial"/>
                <a:ea typeface="Arial"/>
                <a:cs typeface="Arial"/>
              </a:defRPr>
            </a:pPr>
            <a:r>
              <a:rPr sz="2850" b="1">
                <a:solidFill>
                  <a:srgbClr val="BE3C37"/>
                </a:solidFill>
                <a:latin typeface="Arial"/>
                <a:ea typeface="Arial"/>
                <a:cs typeface="Arial"/>
              </a:rPr>
              <a:t>↓</a:t>
            </a:r>
          </a:p>
        </p:txBody>
      </p:sp>
      <p:sp>
        <p:nvSpPr>
          <p:cNvPr id="12" name="Rettangolo 11">
            <a:extLst xmlns:a="http://schemas.openxmlformats.org/drawingml/2006/main">
              <a:ext uri="{FF2B5EF4-FFF2-40B4-BE49-F238E27FC236}">
                <a16:creationId xmlns:a16="http://schemas.microsoft.com/office/drawing/2014/main" id="{F996CD3D-5C3A-40B2-A13D-7A62926E9BE4}"/>
              </a:ext>
            </a:extLst>
          </p:cNvPr>
          <p:cNvSpPr>
            <a:spLocks xmlns:a="http://schemas.openxmlformats.org/drawingml/2006/main" noGrp="1"/>
          </p:cNvSpPr>
          <p:nvPr/>
        </p:nvSpPr>
        <p:spPr>
          <a:xfrm xmlns:a="http://schemas.openxmlformats.org/drawingml/2006/main">
            <a:off x="2762250" y="3333750"/>
            <a:ext cx="106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BE3C37"/>
                </a:solidFill>
                <a:latin typeface="Arial"/>
                <a:ea typeface="Arial"/>
                <a:cs typeface="Arial"/>
              </a:defRPr>
            </a:pPr>
            <a:r>
              <a:rPr sz="1275" b="1">
                <a:solidFill>
                  <a:srgbClr val="BE3C37"/>
                </a:solidFill>
                <a:latin typeface="Arial"/>
                <a:ea typeface="Arial"/>
                <a:cs typeface="Arial"/>
              </a:rPr>
              <a:t>−96.3 pp</a:t>
            </a:r>
          </a:p>
        </p:txBody>
      </p:sp>
      <p:sp>
        <p:nvSpPr>
          <p:cNvPr id="13" name="Rettangolo 12">
            <a:extLst xmlns:a="http://schemas.openxmlformats.org/drawingml/2006/main">
              <a:ext uri="{FF2B5EF4-FFF2-40B4-BE49-F238E27FC236}">
                <a16:creationId xmlns:a16="http://schemas.microsoft.com/office/drawing/2014/main" id="{A0E55963-0CB1-4969-8E2A-F4EB81ADF8D4}"/>
              </a:ext>
            </a:extLst>
          </p:cNvPr>
          <p:cNvSpPr>
            <a:spLocks xmlns:a="http://schemas.openxmlformats.org/drawingml/2006/main" noGrp="1"/>
          </p:cNvSpPr>
          <p:nvPr/>
        </p:nvSpPr>
        <p:spPr>
          <a:xfrm xmlns:a="http://schemas.openxmlformats.org/drawingml/2006/main">
            <a:off x="876300" y="375285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225" b="1">
                <a:solidFill>
                  <a:srgbClr val="BE3C37"/>
                </a:solidFill>
                <a:latin typeface="Arial"/>
                <a:ea typeface="Arial"/>
                <a:cs typeface="Arial"/>
              </a:defRPr>
            </a:pPr>
            <a:r>
              <a:rPr sz="3225" b="1">
                <a:solidFill>
                  <a:srgbClr val="BE3C37"/>
                </a:solidFill>
                <a:latin typeface="Arial"/>
                <a:ea typeface="Arial"/>
                <a:cs typeface="Arial"/>
              </a:rPr>
              <a:t>1.5%</a:t>
            </a:r>
          </a:p>
        </p:txBody>
      </p:sp>
      <p:sp>
        <p:nvSpPr>
          <p:cNvPr id="14" name="Rettangolo con angoli arrotondati 13">
            <a:extLst xmlns:a="http://schemas.openxmlformats.org/drawingml/2006/main">
              <a:ext uri="{FF2B5EF4-FFF2-40B4-BE49-F238E27FC236}">
                <a16:creationId xmlns:a16="http://schemas.microsoft.com/office/drawing/2014/main" id="{BF5BB6F7-3575-4024-AC7F-C44206587777}"/>
              </a:ext>
            </a:extLst>
          </p:cNvPr>
          <p:cNvSpPr>
            <a:spLocks xmlns:a="http://schemas.openxmlformats.org/drawingml/2006/main" noGrp="1"/>
          </p:cNvSpPr>
          <p:nvPr/>
        </p:nvSpPr>
        <p:spPr>
          <a:xfrm xmlns:a="http://schemas.openxmlformats.org/drawingml/2006/main">
            <a:off x="1019175" y="4514850"/>
            <a:ext cx="2667000" cy="552450"/>
          </a:xfrm>
          <a:prstGeom xmlns:a="http://schemas.openxmlformats.org/drawingml/2006/main" prst="roundRect">
            <a:avLst>
              <a:gd name="adj" fmla="val 20690"/>
            </a:avLst>
          </a:prstGeom>
          <a:solidFill xmlns:a="http://schemas.openxmlformats.org/drawingml/2006/main">
            <a:srgbClr val="FBEA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Rettangolo 14">
            <a:extLst xmlns:a="http://schemas.openxmlformats.org/drawingml/2006/main">
              <a:ext uri="{FF2B5EF4-FFF2-40B4-BE49-F238E27FC236}">
                <a16:creationId xmlns:a16="http://schemas.microsoft.com/office/drawing/2014/main" id="{AE6018B9-C8AD-41A8-89CA-38D39F49C678}"/>
              </a:ext>
            </a:extLst>
          </p:cNvPr>
          <p:cNvSpPr>
            <a:spLocks xmlns:a="http://schemas.openxmlformats.org/drawingml/2006/main" noGrp="1"/>
          </p:cNvSpPr>
          <p:nvPr/>
        </p:nvSpPr>
        <p:spPr>
          <a:xfrm xmlns:a="http://schemas.openxmlformats.org/drawingml/2006/main">
            <a:off x="1190625" y="4667250"/>
            <a:ext cx="2324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BE3C37"/>
                </a:solidFill>
                <a:latin typeface="Arial"/>
                <a:ea typeface="Arial"/>
                <a:cs typeface="Arial"/>
              </a:defRPr>
            </a:pPr>
            <a:r>
              <a:rPr sz="1350" b="1">
                <a:solidFill>
                  <a:srgbClr val="BE3C37"/>
                </a:solidFill>
                <a:latin typeface="Arial"/>
                <a:ea typeface="Arial"/>
                <a:cs typeface="Arial"/>
              </a:rPr>
              <a:t>Sigma Zero · direct</a:t>
            </a:r>
          </a:p>
        </p:txBody>
      </p:sp>
      <p:sp>
        <p:nvSpPr>
          <p:cNvPr id="16" name="Rettangolo con angoli arrotondati 15">
            <a:extLst xmlns:a="http://schemas.openxmlformats.org/drawingml/2006/main">
              <a:ext uri="{FF2B5EF4-FFF2-40B4-BE49-F238E27FC236}">
                <a16:creationId xmlns:a16="http://schemas.microsoft.com/office/drawing/2014/main" id="{9E2BCEBA-C7B6-438A-99BD-F49CB0486D2F}"/>
              </a:ext>
            </a:extLst>
          </p:cNvPr>
          <p:cNvSpPr>
            <a:spLocks xmlns:a="http://schemas.openxmlformats.org/drawingml/2006/main" noGrp="1"/>
          </p:cNvSpPr>
          <p:nvPr/>
        </p:nvSpPr>
        <p:spPr>
          <a:xfrm xmlns:a="http://schemas.openxmlformats.org/drawingml/2006/main">
            <a:off x="4429125" y="1676400"/>
            <a:ext cx="3333750" cy="3695700"/>
          </a:xfrm>
          <a:prstGeom xmlns:a="http://schemas.openxmlformats.org/drawingml/2006/main" prst="roundRect">
            <a:avLst>
              <a:gd name="adj" fmla="val 5143"/>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Rettangolo 16">
            <a:extLst xmlns:a="http://schemas.openxmlformats.org/drawingml/2006/main">
              <a:ext uri="{FF2B5EF4-FFF2-40B4-BE49-F238E27FC236}">
                <a16:creationId xmlns:a16="http://schemas.microsoft.com/office/drawing/2014/main" id="{394FB914-142B-4176-B281-5AF8EAC4DD42}"/>
              </a:ext>
            </a:extLst>
          </p:cNvPr>
          <p:cNvSpPr>
            <a:spLocks xmlns:a="http://schemas.openxmlformats.org/drawingml/2006/main" noGrp="1"/>
          </p:cNvSpPr>
          <p:nvPr/>
        </p:nvSpPr>
        <p:spPr>
          <a:xfrm xmlns:a="http://schemas.openxmlformats.org/drawingml/2006/main">
            <a:off x="4619625" y="19050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25" b="1">
                <a:solidFill>
                  <a:srgbClr val="233A70"/>
                </a:solidFill>
                <a:latin typeface="Arial"/>
                <a:ea typeface="Arial"/>
                <a:cs typeface="Arial"/>
              </a:defRPr>
            </a:pPr>
            <a:r>
              <a:rPr sz="1725" b="1">
                <a:solidFill>
                  <a:srgbClr val="233A70"/>
                </a:solidFill>
                <a:latin typeface="Arial"/>
                <a:ea typeface="Arial"/>
                <a:cs typeface="Arial"/>
              </a:rPr>
              <a:t>ResNet18</a:t>
            </a:r>
          </a:p>
        </p:txBody>
      </p:sp>
      <p:sp>
        <p:nvSpPr>
          <p:cNvPr id="18" name="Rettangolo 17">
            <a:extLst xmlns:a="http://schemas.openxmlformats.org/drawingml/2006/main">
              <a:ext uri="{FF2B5EF4-FFF2-40B4-BE49-F238E27FC236}">
                <a16:creationId xmlns:a16="http://schemas.microsoft.com/office/drawing/2014/main" id="{90C27F24-DDCD-4476-BEE6-9730E13D6F09}"/>
              </a:ext>
            </a:extLst>
          </p:cNvPr>
          <p:cNvSpPr>
            <a:spLocks xmlns:a="http://schemas.openxmlformats.org/drawingml/2006/main" noGrp="1"/>
          </p:cNvSpPr>
          <p:nvPr/>
        </p:nvSpPr>
        <p:spPr>
          <a:xfrm xmlns:a="http://schemas.openxmlformats.org/drawingml/2006/main">
            <a:off x="4619625" y="24384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19" name="Rettangolo 18">
            <a:extLst xmlns:a="http://schemas.openxmlformats.org/drawingml/2006/main">
              <a:ext uri="{FF2B5EF4-FFF2-40B4-BE49-F238E27FC236}">
                <a16:creationId xmlns:a16="http://schemas.microsoft.com/office/drawing/2014/main" id="{D2EDF698-9BB1-43E3-85CA-2599EF772F95}"/>
              </a:ext>
            </a:extLst>
          </p:cNvPr>
          <p:cNvSpPr>
            <a:spLocks xmlns:a="http://schemas.openxmlformats.org/drawingml/2006/main" noGrp="1"/>
          </p:cNvSpPr>
          <p:nvPr/>
        </p:nvSpPr>
        <p:spPr>
          <a:xfrm xmlns:a="http://schemas.openxmlformats.org/drawingml/2006/main">
            <a:off x="4619625" y="272415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150" b="1">
                <a:solidFill>
                  <a:srgbClr val="233A70"/>
                </a:solidFill>
                <a:latin typeface="Arial"/>
                <a:ea typeface="Arial"/>
                <a:cs typeface="Arial"/>
              </a:defRPr>
            </a:pPr>
            <a:r>
              <a:rPr sz="3150" b="1">
                <a:solidFill>
                  <a:srgbClr val="233A70"/>
                </a:solidFill>
                <a:latin typeface="Arial"/>
                <a:ea typeface="Arial"/>
                <a:cs typeface="Arial"/>
              </a:rPr>
              <a:t>96.4%</a:t>
            </a:r>
          </a:p>
        </p:txBody>
      </p:sp>
      <p:sp>
        <p:nvSpPr>
          <p:cNvPr id="20" name="Rettangolo 19">
            <a:extLst xmlns:a="http://schemas.openxmlformats.org/drawingml/2006/main">
              <a:ext uri="{FF2B5EF4-FFF2-40B4-BE49-F238E27FC236}">
                <a16:creationId xmlns:a16="http://schemas.microsoft.com/office/drawing/2014/main" id="{D1C64AAB-74DE-49AE-9C87-6178540E0BD2}"/>
              </a:ext>
            </a:extLst>
          </p:cNvPr>
          <p:cNvSpPr>
            <a:spLocks xmlns:a="http://schemas.openxmlformats.org/drawingml/2006/main" noGrp="1"/>
          </p:cNvSpPr>
          <p:nvPr/>
        </p:nvSpPr>
        <p:spPr>
          <a:xfrm xmlns:a="http://schemas.openxmlformats.org/drawingml/2006/main">
            <a:off x="5648325" y="3257550"/>
            <a:ext cx="895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C89B14"/>
                </a:solidFill>
                <a:latin typeface="Arial"/>
                <a:ea typeface="Arial"/>
                <a:cs typeface="Arial"/>
              </a:defRPr>
            </a:pPr>
            <a:r>
              <a:rPr sz="2850" b="1">
                <a:solidFill>
                  <a:srgbClr val="C89B14"/>
                </a:solidFill>
                <a:latin typeface="Arial"/>
                <a:ea typeface="Arial"/>
                <a:cs typeface="Arial"/>
              </a:rPr>
              <a:t>↓</a:t>
            </a:r>
          </a:p>
        </p:txBody>
      </p:sp>
      <p:sp>
        <p:nvSpPr>
          <p:cNvPr id="21" name="Rettangolo 20">
            <a:extLst xmlns:a="http://schemas.openxmlformats.org/drawingml/2006/main">
              <a:ext uri="{FF2B5EF4-FFF2-40B4-BE49-F238E27FC236}">
                <a16:creationId xmlns:a16="http://schemas.microsoft.com/office/drawing/2014/main" id="{2DF9C9FD-68A9-4B40-AB58-34AD20B34583}"/>
              </a:ext>
            </a:extLst>
          </p:cNvPr>
          <p:cNvSpPr>
            <a:spLocks xmlns:a="http://schemas.openxmlformats.org/drawingml/2006/main" noGrp="1"/>
          </p:cNvSpPr>
          <p:nvPr/>
        </p:nvSpPr>
        <p:spPr>
          <a:xfrm xmlns:a="http://schemas.openxmlformats.org/drawingml/2006/main">
            <a:off x="6505575" y="3333750"/>
            <a:ext cx="106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C89B14"/>
                </a:solidFill>
                <a:latin typeface="Arial"/>
                <a:ea typeface="Arial"/>
                <a:cs typeface="Arial"/>
              </a:defRPr>
            </a:pPr>
            <a:r>
              <a:rPr sz="1275" b="1">
                <a:solidFill>
                  <a:srgbClr val="C89B14"/>
                </a:solidFill>
                <a:latin typeface="Arial"/>
                <a:ea typeface="Arial"/>
                <a:cs typeface="Arial"/>
              </a:rPr>
              <a:t>−4.6 pp</a:t>
            </a:r>
          </a:p>
        </p:txBody>
      </p:sp>
      <p:sp>
        <p:nvSpPr>
          <p:cNvPr id="22" name="Rettangolo 21">
            <a:extLst xmlns:a="http://schemas.openxmlformats.org/drawingml/2006/main">
              <a:ext uri="{FF2B5EF4-FFF2-40B4-BE49-F238E27FC236}">
                <a16:creationId xmlns:a16="http://schemas.microsoft.com/office/drawing/2014/main" id="{492EA1CA-E94D-4529-9473-680D6960283D}"/>
              </a:ext>
            </a:extLst>
          </p:cNvPr>
          <p:cNvSpPr>
            <a:spLocks xmlns:a="http://schemas.openxmlformats.org/drawingml/2006/main" noGrp="1"/>
          </p:cNvSpPr>
          <p:nvPr/>
        </p:nvSpPr>
        <p:spPr>
          <a:xfrm xmlns:a="http://schemas.openxmlformats.org/drawingml/2006/main">
            <a:off x="4619625" y="375285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225" b="1">
                <a:solidFill>
                  <a:srgbClr val="C89B14"/>
                </a:solidFill>
                <a:latin typeface="Arial"/>
                <a:ea typeface="Arial"/>
                <a:cs typeface="Arial"/>
              </a:defRPr>
            </a:pPr>
            <a:r>
              <a:rPr sz="3225" b="1">
                <a:solidFill>
                  <a:srgbClr val="C89B14"/>
                </a:solidFill>
                <a:latin typeface="Arial"/>
                <a:ea typeface="Arial"/>
                <a:cs typeface="Arial"/>
              </a:rPr>
              <a:t>91.8%</a:t>
            </a:r>
          </a:p>
        </p:txBody>
      </p:sp>
      <p:sp>
        <p:nvSpPr>
          <p:cNvPr id="23" name="Rettangolo con angoli arrotondati 22">
            <a:extLst xmlns:a="http://schemas.openxmlformats.org/drawingml/2006/main">
              <a:ext uri="{FF2B5EF4-FFF2-40B4-BE49-F238E27FC236}">
                <a16:creationId xmlns:a16="http://schemas.microsoft.com/office/drawing/2014/main" id="{96FF0273-DED0-4DE2-8AA8-75586A24899D}"/>
              </a:ext>
            </a:extLst>
          </p:cNvPr>
          <p:cNvSpPr>
            <a:spLocks xmlns:a="http://schemas.openxmlformats.org/drawingml/2006/main" noGrp="1"/>
          </p:cNvSpPr>
          <p:nvPr/>
        </p:nvSpPr>
        <p:spPr>
          <a:xfrm xmlns:a="http://schemas.openxmlformats.org/drawingml/2006/main">
            <a:off x="4762500" y="4514850"/>
            <a:ext cx="2667000" cy="552450"/>
          </a:xfrm>
          <a:prstGeom xmlns:a="http://schemas.openxmlformats.org/drawingml/2006/main" prst="roundRect">
            <a:avLst>
              <a:gd name="adj" fmla="val 20690"/>
            </a:avLst>
          </a:prstGeom>
          <a:solidFill xmlns:a="http://schemas.openxmlformats.org/drawingml/2006/main">
            <a:srgbClr val="FFF4C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4" name="Rettangolo 23">
            <a:extLst xmlns:a="http://schemas.openxmlformats.org/drawingml/2006/main">
              <a:ext uri="{FF2B5EF4-FFF2-40B4-BE49-F238E27FC236}">
                <a16:creationId xmlns:a16="http://schemas.microsoft.com/office/drawing/2014/main" id="{7F13BBE7-F396-45EB-8CD4-E163172E1B3A}"/>
              </a:ext>
            </a:extLst>
          </p:cNvPr>
          <p:cNvSpPr>
            <a:spLocks xmlns:a="http://schemas.openxmlformats.org/drawingml/2006/main" noGrp="1"/>
          </p:cNvSpPr>
          <p:nvPr/>
        </p:nvSpPr>
        <p:spPr>
          <a:xfrm xmlns:a="http://schemas.openxmlformats.org/drawingml/2006/main">
            <a:off x="4933950" y="4667250"/>
            <a:ext cx="2324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C89B14"/>
                </a:solidFill>
                <a:latin typeface="Arial"/>
                <a:ea typeface="Arial"/>
                <a:cs typeface="Arial"/>
              </a:defRPr>
            </a:pPr>
            <a:r>
              <a:rPr sz="1350" b="1">
                <a:solidFill>
                  <a:srgbClr val="C89B14"/>
                </a:solidFill>
                <a:latin typeface="Arial"/>
                <a:ea typeface="Arial"/>
                <a:cs typeface="Arial"/>
              </a:rPr>
              <a:t>FGSM · transfer</a:t>
            </a:r>
          </a:p>
        </p:txBody>
      </p:sp>
      <p:sp>
        <p:nvSpPr>
          <p:cNvPr id="25" name="Rettangolo con angoli arrotondati 24">
            <a:extLst xmlns:a="http://schemas.openxmlformats.org/drawingml/2006/main">
              <a:ext uri="{FF2B5EF4-FFF2-40B4-BE49-F238E27FC236}">
                <a16:creationId xmlns:a16="http://schemas.microsoft.com/office/drawing/2014/main" id="{C70A0BA2-8F3B-41DC-9592-4F623D651E86}"/>
              </a:ext>
            </a:extLst>
          </p:cNvPr>
          <p:cNvSpPr>
            <a:spLocks xmlns:a="http://schemas.openxmlformats.org/drawingml/2006/main" noGrp="1"/>
          </p:cNvSpPr>
          <p:nvPr/>
        </p:nvSpPr>
        <p:spPr>
          <a:xfrm xmlns:a="http://schemas.openxmlformats.org/drawingml/2006/main">
            <a:off x="8172450" y="1676400"/>
            <a:ext cx="3333750" cy="3695700"/>
          </a:xfrm>
          <a:prstGeom xmlns:a="http://schemas.openxmlformats.org/drawingml/2006/main" prst="roundRect">
            <a:avLst>
              <a:gd name="adj" fmla="val 5143"/>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Rettangolo 25">
            <a:extLst xmlns:a="http://schemas.openxmlformats.org/drawingml/2006/main">
              <a:ext uri="{FF2B5EF4-FFF2-40B4-BE49-F238E27FC236}">
                <a16:creationId xmlns:a16="http://schemas.microsoft.com/office/drawing/2014/main" id="{A98C1D30-9BE6-4F8C-9D4A-F416452798D5}"/>
              </a:ext>
            </a:extLst>
          </p:cNvPr>
          <p:cNvSpPr>
            <a:spLocks xmlns:a="http://schemas.openxmlformats.org/drawingml/2006/main" noGrp="1"/>
          </p:cNvSpPr>
          <p:nvPr/>
        </p:nvSpPr>
        <p:spPr>
          <a:xfrm xmlns:a="http://schemas.openxmlformats.org/drawingml/2006/main">
            <a:off x="8362950" y="19050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25" b="1">
                <a:solidFill>
                  <a:srgbClr val="233A70"/>
                </a:solidFill>
                <a:latin typeface="Arial"/>
                <a:ea typeface="Arial"/>
                <a:cs typeface="Arial"/>
              </a:defRPr>
            </a:pPr>
            <a:r>
              <a:rPr sz="1725" b="1">
                <a:solidFill>
                  <a:srgbClr val="233A70"/>
                </a:solidFill>
                <a:latin typeface="Arial"/>
                <a:ea typeface="Arial"/>
                <a:cs typeface="Arial"/>
              </a:rPr>
              <a:t>CLIP proxy</a:t>
            </a:r>
          </a:p>
        </p:txBody>
      </p:sp>
      <p:sp>
        <p:nvSpPr>
          <p:cNvPr id="27" name="Rettangolo 26">
            <a:extLst xmlns:a="http://schemas.openxmlformats.org/drawingml/2006/main">
              <a:ext uri="{FF2B5EF4-FFF2-40B4-BE49-F238E27FC236}">
                <a16:creationId xmlns:a16="http://schemas.microsoft.com/office/drawing/2014/main" id="{FA9C149E-EE01-4E65-8446-3CDAC9015D72}"/>
              </a:ext>
            </a:extLst>
          </p:cNvPr>
          <p:cNvSpPr>
            <a:spLocks xmlns:a="http://schemas.openxmlformats.org/drawingml/2006/main" noGrp="1"/>
          </p:cNvSpPr>
          <p:nvPr/>
        </p:nvSpPr>
        <p:spPr>
          <a:xfrm xmlns:a="http://schemas.openxmlformats.org/drawingml/2006/main">
            <a:off x="8362950" y="24384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28" name="Rettangolo 27">
            <a:extLst xmlns:a="http://schemas.openxmlformats.org/drawingml/2006/main">
              <a:ext uri="{FF2B5EF4-FFF2-40B4-BE49-F238E27FC236}">
                <a16:creationId xmlns:a16="http://schemas.microsoft.com/office/drawing/2014/main" id="{980272C0-9E9C-4040-9C6C-D012524091C6}"/>
              </a:ext>
            </a:extLst>
          </p:cNvPr>
          <p:cNvSpPr>
            <a:spLocks xmlns:a="http://schemas.openxmlformats.org/drawingml/2006/main" noGrp="1"/>
          </p:cNvSpPr>
          <p:nvPr/>
        </p:nvSpPr>
        <p:spPr>
          <a:xfrm xmlns:a="http://schemas.openxmlformats.org/drawingml/2006/main">
            <a:off x="8362950" y="272415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150" b="1">
                <a:solidFill>
                  <a:srgbClr val="233A70"/>
                </a:solidFill>
                <a:latin typeface="Arial"/>
                <a:ea typeface="Arial"/>
                <a:cs typeface="Arial"/>
              </a:defRPr>
            </a:pPr>
            <a:r>
              <a:rPr sz="3150" b="1">
                <a:solidFill>
                  <a:srgbClr val="233A70"/>
                </a:solidFill>
                <a:latin typeface="Arial"/>
                <a:ea typeface="Arial"/>
                <a:cs typeface="Arial"/>
              </a:rPr>
              <a:t>92.7%</a:t>
            </a:r>
          </a:p>
        </p:txBody>
      </p:sp>
      <p:sp>
        <p:nvSpPr>
          <p:cNvPr id="29" name="Rettangolo 28">
            <a:extLst xmlns:a="http://schemas.openxmlformats.org/drawingml/2006/main">
              <a:ext uri="{FF2B5EF4-FFF2-40B4-BE49-F238E27FC236}">
                <a16:creationId xmlns:a16="http://schemas.microsoft.com/office/drawing/2014/main" id="{B0237A4F-5EE2-4F91-A719-5C9D999C0C17}"/>
              </a:ext>
            </a:extLst>
          </p:cNvPr>
          <p:cNvSpPr>
            <a:spLocks xmlns:a="http://schemas.openxmlformats.org/drawingml/2006/main" noGrp="1"/>
          </p:cNvSpPr>
          <p:nvPr/>
        </p:nvSpPr>
        <p:spPr>
          <a:xfrm xmlns:a="http://schemas.openxmlformats.org/drawingml/2006/main">
            <a:off x="9391650" y="3257550"/>
            <a:ext cx="895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C89B14"/>
                </a:solidFill>
                <a:latin typeface="Arial"/>
                <a:ea typeface="Arial"/>
                <a:cs typeface="Arial"/>
              </a:defRPr>
            </a:pPr>
            <a:r>
              <a:rPr sz="2850" b="1">
                <a:solidFill>
                  <a:srgbClr val="C89B14"/>
                </a:solidFill>
                <a:latin typeface="Arial"/>
                <a:ea typeface="Arial"/>
                <a:cs typeface="Arial"/>
              </a:rPr>
              <a:t>↓</a:t>
            </a:r>
          </a:p>
        </p:txBody>
      </p:sp>
      <p:sp>
        <p:nvSpPr>
          <p:cNvPr id="30" name="Rettangolo 29">
            <a:extLst xmlns:a="http://schemas.openxmlformats.org/drawingml/2006/main">
              <a:ext uri="{FF2B5EF4-FFF2-40B4-BE49-F238E27FC236}">
                <a16:creationId xmlns:a16="http://schemas.microsoft.com/office/drawing/2014/main" id="{E068C5AC-6F4C-4F36-A557-12E2AE1E13C0}"/>
              </a:ext>
            </a:extLst>
          </p:cNvPr>
          <p:cNvSpPr>
            <a:spLocks xmlns:a="http://schemas.openxmlformats.org/drawingml/2006/main" noGrp="1"/>
          </p:cNvSpPr>
          <p:nvPr/>
        </p:nvSpPr>
        <p:spPr>
          <a:xfrm xmlns:a="http://schemas.openxmlformats.org/drawingml/2006/main">
            <a:off x="10248900" y="3333750"/>
            <a:ext cx="106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C89B14"/>
                </a:solidFill>
                <a:latin typeface="Arial"/>
                <a:ea typeface="Arial"/>
                <a:cs typeface="Arial"/>
              </a:defRPr>
            </a:pPr>
            <a:r>
              <a:rPr sz="1275" b="1">
                <a:solidFill>
                  <a:srgbClr val="C89B14"/>
                </a:solidFill>
                <a:latin typeface="Arial"/>
                <a:ea typeface="Arial"/>
                <a:cs typeface="Arial"/>
              </a:rPr>
              <a:t>−1.3 pp</a:t>
            </a:r>
          </a:p>
        </p:txBody>
      </p:sp>
      <p:sp>
        <p:nvSpPr>
          <p:cNvPr id="31" name="Rettangolo 30">
            <a:extLst xmlns:a="http://schemas.openxmlformats.org/drawingml/2006/main">
              <a:ext uri="{FF2B5EF4-FFF2-40B4-BE49-F238E27FC236}">
                <a16:creationId xmlns:a16="http://schemas.microsoft.com/office/drawing/2014/main" id="{B7F6DC36-2570-45E5-AFD1-8D49B963DBCB}"/>
              </a:ext>
            </a:extLst>
          </p:cNvPr>
          <p:cNvSpPr>
            <a:spLocks xmlns:a="http://schemas.openxmlformats.org/drawingml/2006/main" noGrp="1"/>
          </p:cNvSpPr>
          <p:nvPr/>
        </p:nvSpPr>
        <p:spPr>
          <a:xfrm xmlns:a="http://schemas.openxmlformats.org/drawingml/2006/main">
            <a:off x="8362950" y="375285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225" b="1">
                <a:solidFill>
                  <a:srgbClr val="C89B14"/>
                </a:solidFill>
                <a:latin typeface="Arial"/>
                <a:ea typeface="Arial"/>
                <a:cs typeface="Arial"/>
              </a:defRPr>
            </a:pPr>
            <a:r>
              <a:rPr sz="3225" b="1">
                <a:solidFill>
                  <a:srgbClr val="C89B14"/>
                </a:solidFill>
                <a:latin typeface="Arial"/>
                <a:ea typeface="Arial"/>
                <a:cs typeface="Arial"/>
              </a:rPr>
              <a:t>91.4%</a:t>
            </a:r>
          </a:p>
        </p:txBody>
      </p:sp>
      <p:sp>
        <p:nvSpPr>
          <p:cNvPr id="32" name="Rettangolo con angoli arrotondati 31">
            <a:extLst xmlns:a="http://schemas.openxmlformats.org/drawingml/2006/main">
              <a:ext uri="{FF2B5EF4-FFF2-40B4-BE49-F238E27FC236}">
                <a16:creationId xmlns:a16="http://schemas.microsoft.com/office/drawing/2014/main" id="{E0EF1A65-1CB2-42B0-B44F-2F0165D59CB8}"/>
              </a:ext>
            </a:extLst>
          </p:cNvPr>
          <p:cNvSpPr>
            <a:spLocks xmlns:a="http://schemas.openxmlformats.org/drawingml/2006/main" noGrp="1"/>
          </p:cNvSpPr>
          <p:nvPr/>
        </p:nvSpPr>
        <p:spPr>
          <a:xfrm xmlns:a="http://schemas.openxmlformats.org/drawingml/2006/main">
            <a:off x="8505825" y="4514850"/>
            <a:ext cx="2667000" cy="552450"/>
          </a:xfrm>
          <a:prstGeom xmlns:a="http://schemas.openxmlformats.org/drawingml/2006/main" prst="roundRect">
            <a:avLst>
              <a:gd name="adj" fmla="val 20690"/>
            </a:avLst>
          </a:prstGeom>
          <a:solidFill xmlns:a="http://schemas.openxmlformats.org/drawingml/2006/main">
            <a:srgbClr val="FFF4C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3" name="Rettangolo 32">
            <a:extLst xmlns:a="http://schemas.openxmlformats.org/drawingml/2006/main">
              <a:ext uri="{FF2B5EF4-FFF2-40B4-BE49-F238E27FC236}">
                <a16:creationId xmlns:a16="http://schemas.microsoft.com/office/drawing/2014/main" id="{C72A86F9-3076-4133-A78E-82EB41F3A1D6}"/>
              </a:ext>
            </a:extLst>
          </p:cNvPr>
          <p:cNvSpPr>
            <a:spLocks xmlns:a="http://schemas.openxmlformats.org/drawingml/2006/main" noGrp="1"/>
          </p:cNvSpPr>
          <p:nvPr/>
        </p:nvSpPr>
        <p:spPr>
          <a:xfrm xmlns:a="http://schemas.openxmlformats.org/drawingml/2006/main">
            <a:off x="8677275" y="4667250"/>
            <a:ext cx="2324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C89B14"/>
                </a:solidFill>
                <a:latin typeface="Arial"/>
                <a:ea typeface="Arial"/>
                <a:cs typeface="Arial"/>
              </a:defRPr>
            </a:pPr>
            <a:r>
              <a:rPr sz="1350" b="1">
                <a:solidFill>
                  <a:srgbClr val="C89B14"/>
                </a:solidFill>
                <a:latin typeface="Arial"/>
                <a:ea typeface="Arial"/>
                <a:cs typeface="Arial"/>
              </a:rPr>
              <a:t>FGSM · transfer</a:t>
            </a:r>
          </a:p>
        </p:txBody>
      </p:sp>
      <p:sp>
        <p:nvSpPr>
          <p:cNvPr id="34" name="Rettangolo 33">
            <a:extLst xmlns:a="http://schemas.openxmlformats.org/drawingml/2006/main">
              <a:ext uri="{FF2B5EF4-FFF2-40B4-BE49-F238E27FC236}">
                <a16:creationId xmlns:a16="http://schemas.microsoft.com/office/drawing/2014/main" id="{83A62D01-9A99-4444-A378-62E9EAECF82E}"/>
              </a:ext>
            </a:extLst>
          </p:cNvPr>
          <p:cNvSpPr>
            <a:spLocks xmlns:a="http://schemas.openxmlformats.org/drawingml/2006/main" noGrp="1"/>
          </p:cNvSpPr>
          <p:nvPr/>
        </p:nvSpPr>
        <p:spPr>
          <a:xfrm xmlns:a="http://schemas.openxmlformats.org/drawingml/2006/main">
            <a:off x="1428750" y="57531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1">
                <a:solidFill>
                  <a:srgbClr val="233A70"/>
                </a:solidFill>
                <a:latin typeface="Arial"/>
                <a:ea typeface="Arial"/>
                <a:cs typeface="Arial"/>
              </a:defRPr>
            </a:pPr>
            <a:r>
              <a:rPr sz="1500" b="1">
                <a:solidFill>
                  <a:srgbClr val="233A70"/>
                </a:solidFill>
                <a:latin typeface="Arial"/>
                <a:ea typeface="Arial"/>
                <a:cs typeface="Arial"/>
              </a:rPr>
              <a:t>Largest anti-forensic proxy drop: 3.0 pp · ResNet18, histogram modification</a:t>
            </a:r>
          </a:p>
        </p:txBody>
      </p:sp>
    </p:spTree>
    <p:extLst>
      <p:ext uri="{BB962C8B-B14F-4D97-AF65-F5344CB8AC3E}">
        <p14:creationId xmlns:p14="http://schemas.microsoft.com/office/powerpoint/2010/main" val="602715099"/>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Rettangolo 9">
            <a:extLst xmlns:a="http://schemas.openxmlformats.org/drawingml/2006/main">
              <a:ext uri="{FF2B5EF4-FFF2-40B4-BE49-F238E27FC236}">
                <a16:creationId xmlns:a16="http://schemas.microsoft.com/office/drawing/2014/main" id="{CBFBE0B0-4196-49D2-816F-6775E02BA4B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31AF1709-E0A2-40EF-88E7-6DDA26F6CFFD}"/>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Black-box transfer was configuration-dependent</a:t>
            </a:r>
          </a:p>
        </p:txBody>
      </p:sp>
      <p:sp>
        <p:nvSpPr>
          <p:cNvPr id="3" name="Rettangolo 2">
            <a:extLst xmlns:a="http://schemas.openxmlformats.org/drawingml/2006/main">
              <a:ext uri="{FF2B5EF4-FFF2-40B4-BE49-F238E27FC236}">
                <a16:creationId xmlns:a16="http://schemas.microsoft.com/office/drawing/2014/main" id="{3291F0CF-6083-4E3B-9AC2-0305E98F368E}"/>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565A18C7-FE67-4009-89BB-E8C6FE7C319D}"/>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BC8DA42D-E2E5-4441-9FF6-841AA3906BA7}"/>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08</a:t>
            </a:r>
          </a:p>
        </p:txBody>
      </p:sp>
      <p:pic>
        <p:nvPicPr>
          <p:cNvPr id="17" name="Picture 10"/>
          <p:cNvPicPr>
            <a:picLocks xmlns:a="http://schemas.openxmlformats.org/drawingml/2006/main" noChangeAspect="1"/>
          </p:cNvPicPr>
          <p:nvPr/>
        </p:nvPicPr>
        <p:blipFill>
          <a:blip xmlns:r="http://schemas.openxmlformats.org/officeDocument/2006/relationships" xmlns:a="http://schemas.openxmlformats.org/drawingml/2006/main" r:embed="Rd4cd7f18883642bd"/>
          <a:srcRect xmlns:a="http://schemas.openxmlformats.org/drawingml/2006/main" l="0" t="0" r="0" b="0"/>
          <a:stretch xmlns:a="http://schemas.openxmlformats.org/drawingml/2006/main">
            <a:fillRect l="0" t="0" r="0" b="0"/>
          </a:stretch>
        </p:blipFill>
        <p:spPr>
          <a:xfrm xmlns:a="http://schemas.openxmlformats.org/drawingml/2006/main">
            <a:off x="944113" y="1257300"/>
            <a:ext cx="10303774" cy="4095750"/>
          </a:xfrm>
          <a:prstGeom xmlns:a="http://schemas.openxmlformats.org/drawingml/2006/main" prst="rect">
            <a:avLst/>
          </a:prstGeom>
        </p:spPr>
      </p:pic>
      <p:sp>
        <p:nvSpPr>
          <p:cNvPr id="7" name="Rettangolo con angoli arrotondati 6">
            <a:extLst xmlns:a="http://schemas.openxmlformats.org/drawingml/2006/main">
              <a:ext uri="{FF2B5EF4-FFF2-40B4-BE49-F238E27FC236}">
                <a16:creationId xmlns:a16="http://schemas.microsoft.com/office/drawing/2014/main" id="{AF37DDE1-913C-46CF-A2F3-12C536DDA446}"/>
              </a:ext>
            </a:extLst>
          </p:cNvPr>
          <p:cNvSpPr>
            <a:spLocks xmlns:a="http://schemas.openxmlformats.org/drawingml/2006/main" noGrp="1"/>
          </p:cNvSpPr>
          <p:nvPr/>
        </p:nvSpPr>
        <p:spPr>
          <a:xfrm xmlns:a="http://schemas.openxmlformats.org/drawingml/2006/main">
            <a:off x="1123950" y="5467350"/>
            <a:ext cx="9944100" cy="590550"/>
          </a:xfrm>
          <a:prstGeom xmlns:a="http://schemas.openxmlformats.org/drawingml/2006/main" prst="roundRect">
            <a:avLst>
              <a:gd name="adj" fmla="val 22581"/>
            </a:avLst>
          </a:prstGeom>
          <a:solidFill xmlns:a="http://schemas.openxmlformats.org/drawingml/2006/main">
            <a:srgbClr val="FBEA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Rettangolo 7">
            <a:extLst xmlns:a="http://schemas.openxmlformats.org/drawingml/2006/main">
              <a:ext uri="{FF2B5EF4-FFF2-40B4-BE49-F238E27FC236}">
                <a16:creationId xmlns:a16="http://schemas.microsoft.com/office/drawing/2014/main" id="{30C38F54-5C1E-4ADD-809B-B0B819F1C798}"/>
              </a:ext>
            </a:extLst>
          </p:cNvPr>
          <p:cNvSpPr>
            <a:spLocks xmlns:a="http://schemas.openxmlformats.org/drawingml/2006/main" noGrp="1"/>
          </p:cNvSpPr>
          <p:nvPr/>
        </p:nvSpPr>
        <p:spPr>
          <a:xfrm xmlns:a="http://schemas.openxmlformats.org/drawingml/2006/main">
            <a:off x="1409700" y="5619750"/>
            <a:ext cx="937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BE3C37"/>
                </a:solidFill>
                <a:latin typeface="Arial"/>
                <a:ea typeface="Arial"/>
                <a:cs typeface="Arial"/>
              </a:defRPr>
            </a:pPr>
            <a:r>
              <a:rPr sz="1575" b="1">
                <a:solidFill>
                  <a:srgbClr val="BE3C37"/>
                </a:solidFill>
                <a:latin typeface="Arial"/>
                <a:ea typeface="Arial"/>
                <a:cs typeface="Arial"/>
              </a:rPr>
              <a:t>Largest transfer effects: Sigma Zero · Excire D50 −20.2 pp · D80 −25.8 pp</a:t>
            </a:r>
          </a:p>
        </p:txBody>
      </p:sp>
      <p:sp>
        <p:nvSpPr>
          <p:cNvPr id="9" name="Rettangolo 8">
            <a:extLst xmlns:a="http://schemas.openxmlformats.org/drawingml/2006/main">
              <a:ext uri="{FF2B5EF4-FFF2-40B4-BE49-F238E27FC236}">
                <a16:creationId xmlns:a16="http://schemas.microsoft.com/office/drawing/2014/main" id="{25396EEC-0BD8-400F-A539-2C244EEA8DC5}"/>
              </a:ext>
            </a:extLst>
          </p:cNvPr>
          <p:cNvSpPr>
            <a:spLocks xmlns:a="http://schemas.openxmlformats.org/drawingml/2006/main" noGrp="1"/>
          </p:cNvSpPr>
          <p:nvPr/>
        </p:nvSpPr>
        <p:spPr>
          <a:xfrm xmlns:a="http://schemas.openxmlformats.org/drawingml/2006/main">
            <a:off x="1524000" y="6115050"/>
            <a:ext cx="914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233A70"/>
                </a:solidFill>
                <a:latin typeface="Arial"/>
                <a:ea typeface="Arial"/>
                <a:cs typeface="Arial"/>
              </a:defRPr>
            </a:pPr>
            <a:r>
              <a:rPr sz="1275" b="1">
                <a:solidFill>
                  <a:srgbClr val="233A70"/>
                </a:solidFill>
                <a:latin typeface="Arial"/>
                <a:ea typeface="Arial"/>
                <a:cs typeface="Arial"/>
              </a:rPr>
              <a:t>Transfer from EfficientNet-B0 artifacts—not direct attacks · Source: FAIRLab manuscript</a:t>
            </a:r>
          </a:p>
        </p:txBody>
      </p:sp>
    </p:spTree>
    <p:extLst>
      <p:ext uri="{BB962C8B-B14F-4D97-AF65-F5344CB8AC3E}">
        <p14:creationId xmlns:p14="http://schemas.microsoft.com/office/powerpoint/2010/main" val="1506196103"/>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9" name="Rettangolo 18">
            <a:extLst xmlns:a="http://schemas.openxmlformats.org/drawingml/2006/main">
              <a:ext uri="{FF2B5EF4-FFF2-40B4-BE49-F238E27FC236}">
                <a16:creationId xmlns:a16="http://schemas.microsoft.com/office/drawing/2014/main" id="{99C5F556-E43B-4D5C-87AA-60CC7C8B790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A2E59AA1-F424-40FD-9085-E34E23AA9D98}"/>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A lower miss rate can create a larger review burden</a:t>
            </a:r>
          </a:p>
        </p:txBody>
      </p:sp>
      <p:sp>
        <p:nvSpPr>
          <p:cNvPr id="3" name="Rettangolo 2">
            <a:extLst xmlns:a="http://schemas.openxmlformats.org/drawingml/2006/main">
              <a:ext uri="{FF2B5EF4-FFF2-40B4-BE49-F238E27FC236}">
                <a16:creationId xmlns:a16="http://schemas.microsoft.com/office/drawing/2014/main" id="{36849F68-D7D6-4111-82DC-6F4B34B72431}"/>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336AF14B-E51D-40CF-BE63-CFC5A20414BF}"/>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1BEF75CF-FB0D-4A83-BC3D-ED743ECD5377}"/>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09</a:t>
            </a:r>
          </a:p>
        </p:txBody>
      </p:sp>
      <p:sp>
        <p:nvSpPr>
          <p:cNvPr id="6" name="Rettangolo 5">
            <a:extLst xmlns:a="http://schemas.openxmlformats.org/drawingml/2006/main">
              <a:ext uri="{FF2B5EF4-FFF2-40B4-BE49-F238E27FC236}">
                <a16:creationId xmlns:a16="http://schemas.microsoft.com/office/drawing/2014/main" id="{F4EDF8AC-4E92-461B-895C-53D1DB7355BF}"/>
              </a:ext>
            </a:extLst>
          </p:cNvPr>
          <p:cNvSpPr>
            <a:spLocks xmlns:a="http://schemas.openxmlformats.org/drawingml/2006/main" noGrp="1"/>
          </p:cNvSpPr>
          <p:nvPr/>
        </p:nvSpPr>
        <p:spPr>
          <a:xfrm xmlns:a="http://schemas.openxmlformats.org/drawingml/2006/main">
            <a:off x="685800" y="1257300"/>
            <a:ext cx="752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0">
                <a:solidFill>
                  <a:srgbClr val="5B6577"/>
                </a:solidFill>
                <a:latin typeface="Arial"/>
                <a:ea typeface="Arial"/>
                <a:cs typeface="Arial"/>
              </a:defRPr>
            </a:pPr>
            <a:r>
              <a:rPr sz="1350" b="0">
                <a:solidFill>
                  <a:srgbClr val="5B6577"/>
                </a:solidFill>
                <a:latin typeface="Arial"/>
                <a:ea typeface="Arial"/>
                <a:cs typeface="Arial"/>
              </a:rPr>
              <a:t>Clean-condition directional error rates</a:t>
            </a:r>
          </a:p>
        </p:txBody>
      </p:sp>
      <p:graphicFrame>
        <p:nvGraphicFramePr>
          <p:cNvPr id="27" name="Chart"/>
          <p:cNvGraphicFramePr/>
          <p:nvPr/>
        </p:nvGraphicFramePr>
        <p:xfrm>
          <a:off xmlns:a="http://schemas.openxmlformats.org/drawingml/2006/main" x="533400" y="1504950"/>
          <a:ext xmlns:a="http://schemas.openxmlformats.org/drawingml/2006/main" cx="7810500" cy="4400550"/>
        </p:xfrm>
        <a:graphic xmlns:a="http://schemas.openxmlformats.org/drawingml/2006/main">
          <a:graphicData uri="http://schemas.openxmlformats.org/drawingml/2006/chart">
            <c:chart xmlns:r="http://schemas.openxmlformats.org/officeDocument/2006/relationships" xmlns:c="http://schemas.openxmlformats.org/drawingml/2006/chart" r:id="Rbb6542035daa473f"/>
          </a:graphicData>
        </a:graphic>
      </p:graphicFrame>
      <p:sp>
        <p:nvSpPr>
          <p:cNvPr id="8" name="Rettangolo con angoli arrotondati 7">
            <a:extLst xmlns:a="http://schemas.openxmlformats.org/drawingml/2006/main">
              <a:ext uri="{FF2B5EF4-FFF2-40B4-BE49-F238E27FC236}">
                <a16:creationId xmlns:a16="http://schemas.microsoft.com/office/drawing/2014/main" id="{B32211CA-359B-48C3-B5B4-E09B47E32F88}"/>
              </a:ext>
            </a:extLst>
          </p:cNvPr>
          <p:cNvSpPr>
            <a:spLocks xmlns:a="http://schemas.openxmlformats.org/drawingml/2006/main" noGrp="1"/>
          </p:cNvSpPr>
          <p:nvPr/>
        </p:nvSpPr>
        <p:spPr>
          <a:xfrm xmlns:a="http://schemas.openxmlformats.org/drawingml/2006/main">
            <a:off x="8648700" y="1524000"/>
            <a:ext cx="2857500" cy="3829050"/>
          </a:xfrm>
          <a:prstGeom xmlns:a="http://schemas.openxmlformats.org/drawingml/2006/main" prst="roundRect">
            <a:avLst>
              <a:gd name="adj" fmla="val 6000"/>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Rettangolo 8">
            <a:extLst xmlns:a="http://schemas.openxmlformats.org/drawingml/2006/main">
              <a:ext uri="{FF2B5EF4-FFF2-40B4-BE49-F238E27FC236}">
                <a16:creationId xmlns:a16="http://schemas.microsoft.com/office/drawing/2014/main" id="{AA5CA415-7615-47D2-9D36-55A55C537A04}"/>
              </a:ext>
            </a:extLst>
          </p:cNvPr>
          <p:cNvSpPr>
            <a:spLocks xmlns:a="http://schemas.openxmlformats.org/drawingml/2006/main" noGrp="1"/>
          </p:cNvSpPr>
          <p:nvPr/>
        </p:nvSpPr>
        <p:spPr>
          <a:xfrm xmlns:a="http://schemas.openxmlformats.org/drawingml/2006/main">
            <a:off x="8877300" y="18097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14B978"/>
                </a:solidFill>
                <a:latin typeface="Arial"/>
                <a:ea typeface="Arial"/>
                <a:cs typeface="Arial"/>
              </a:defRPr>
            </a:pPr>
            <a:r>
              <a:rPr sz="1350" b="1">
                <a:solidFill>
                  <a:srgbClr val="14B978"/>
                </a:solidFill>
                <a:latin typeface="Arial"/>
                <a:ea typeface="Arial"/>
                <a:cs typeface="Arial"/>
              </a:rPr>
              <a:t>EXCIRE D20 → D80</a:t>
            </a:r>
          </a:p>
        </p:txBody>
      </p:sp>
      <p:sp>
        <p:nvSpPr>
          <p:cNvPr id="10" name="Rettangolo 9">
            <a:extLst xmlns:a="http://schemas.openxmlformats.org/drawingml/2006/main">
              <a:ext uri="{FF2B5EF4-FFF2-40B4-BE49-F238E27FC236}">
                <a16:creationId xmlns:a16="http://schemas.microsoft.com/office/drawing/2014/main" id="{650148F9-8ED3-4F66-9B1A-1A6CE4A7D735}"/>
              </a:ext>
            </a:extLst>
          </p:cNvPr>
          <p:cNvSpPr>
            <a:spLocks xmlns:a="http://schemas.openxmlformats.org/drawingml/2006/main" noGrp="1"/>
          </p:cNvSpPr>
          <p:nvPr/>
        </p:nvSpPr>
        <p:spPr>
          <a:xfrm xmlns:a="http://schemas.openxmlformats.org/drawingml/2006/main">
            <a:off x="8877300" y="2362200"/>
            <a:ext cx="2400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175" b="1">
                <a:solidFill>
                  <a:srgbClr val="FFFFFF"/>
                </a:solidFill>
                <a:latin typeface="Arial"/>
                <a:ea typeface="Arial"/>
                <a:cs typeface="Arial"/>
              </a:defRPr>
            </a:pPr>
            <a:r>
              <a:rPr sz="2175" b="1">
                <a:solidFill>
                  <a:srgbClr val="FFFFFF"/>
                </a:solidFill>
                <a:latin typeface="Arial"/>
                <a:ea typeface="Arial"/>
                <a:cs typeface="Arial"/>
              </a:rPr>
              <a:t>12.0%  →  1.4%</a:t>
            </a:r>
          </a:p>
        </p:txBody>
      </p:sp>
      <p:sp>
        <p:nvSpPr>
          <p:cNvPr id="11" name="Rettangolo 10">
            <a:extLst xmlns:a="http://schemas.openxmlformats.org/drawingml/2006/main">
              <a:ext uri="{FF2B5EF4-FFF2-40B4-BE49-F238E27FC236}">
                <a16:creationId xmlns:a16="http://schemas.microsoft.com/office/drawing/2014/main" id="{8A701E2C-D64D-4975-A8E0-8B4746B56A04}"/>
              </a:ext>
            </a:extLst>
          </p:cNvPr>
          <p:cNvSpPr>
            <a:spLocks xmlns:a="http://schemas.openxmlformats.org/drawingml/2006/main" noGrp="1"/>
          </p:cNvSpPr>
          <p:nvPr/>
        </p:nvSpPr>
        <p:spPr>
          <a:xfrm xmlns:a="http://schemas.openxmlformats.org/drawingml/2006/main">
            <a:off x="8877300" y="2781300"/>
            <a:ext cx="2400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0">
                <a:solidFill>
                  <a:srgbClr val="DCE4F3"/>
                </a:solidFill>
                <a:latin typeface="Arial"/>
                <a:ea typeface="Arial"/>
                <a:cs typeface="Arial"/>
              </a:defRPr>
            </a:pPr>
            <a:r>
              <a:rPr sz="1275" b="0">
                <a:solidFill>
                  <a:srgbClr val="DCE4F3"/>
                </a:solidFill>
                <a:latin typeface="Arial"/>
                <a:ea typeface="Arial"/>
                <a:cs typeface="Arial"/>
              </a:rPr>
              <a:t>missed-target rate</a:t>
            </a:r>
          </a:p>
        </p:txBody>
      </p:sp>
      <p:sp>
        <p:nvSpPr>
          <p:cNvPr id="12" name="Rettangolo 11">
            <a:extLst xmlns:a="http://schemas.openxmlformats.org/drawingml/2006/main">
              <a:ext uri="{FF2B5EF4-FFF2-40B4-BE49-F238E27FC236}">
                <a16:creationId xmlns:a16="http://schemas.microsoft.com/office/drawing/2014/main" id="{005DAFCB-DAF8-45AC-A897-4BF08C50F272}"/>
              </a:ext>
            </a:extLst>
          </p:cNvPr>
          <p:cNvSpPr>
            <a:spLocks xmlns:a="http://schemas.openxmlformats.org/drawingml/2006/main" noGrp="1"/>
          </p:cNvSpPr>
          <p:nvPr/>
        </p:nvSpPr>
        <p:spPr>
          <a:xfrm xmlns:a="http://schemas.openxmlformats.org/drawingml/2006/main">
            <a:off x="9163050" y="3219450"/>
            <a:ext cx="1828800" cy="19050"/>
          </a:xfrm>
          <a:prstGeom xmlns:a="http://schemas.openxmlformats.org/drawingml/2006/main" prst="rect">
            <a:avLst/>
          </a:prstGeom>
          <a:solidFill xmlns:a="http://schemas.openxmlformats.org/drawingml/2006/main">
            <a:srgbClr val="536A9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3" name="Rettangolo 12">
            <a:extLst xmlns:a="http://schemas.openxmlformats.org/drawingml/2006/main">
              <a:ext uri="{FF2B5EF4-FFF2-40B4-BE49-F238E27FC236}">
                <a16:creationId xmlns:a16="http://schemas.microsoft.com/office/drawing/2014/main" id="{16BAF519-5148-4A1A-B484-7B42D432C6F0}"/>
              </a:ext>
            </a:extLst>
          </p:cNvPr>
          <p:cNvSpPr>
            <a:spLocks xmlns:a="http://schemas.openxmlformats.org/drawingml/2006/main" noGrp="1"/>
          </p:cNvSpPr>
          <p:nvPr/>
        </p:nvSpPr>
        <p:spPr>
          <a:xfrm xmlns:a="http://schemas.openxmlformats.org/drawingml/2006/main">
            <a:off x="8877300" y="3448050"/>
            <a:ext cx="2400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175" b="1">
                <a:solidFill>
                  <a:srgbClr val="FFFFFF"/>
                </a:solidFill>
                <a:latin typeface="Arial"/>
                <a:ea typeface="Arial"/>
                <a:cs typeface="Arial"/>
              </a:defRPr>
            </a:pPr>
            <a:r>
              <a:rPr sz="2175" b="1">
                <a:solidFill>
                  <a:srgbClr val="FFFFFF"/>
                </a:solidFill>
                <a:latin typeface="Arial"/>
                <a:ea typeface="Arial"/>
                <a:cs typeface="Arial"/>
              </a:rPr>
              <a:t>2.6%  →  15.6%</a:t>
            </a:r>
          </a:p>
        </p:txBody>
      </p:sp>
      <p:sp>
        <p:nvSpPr>
          <p:cNvPr id="14" name="Rettangolo 13">
            <a:extLst xmlns:a="http://schemas.openxmlformats.org/drawingml/2006/main">
              <a:ext uri="{FF2B5EF4-FFF2-40B4-BE49-F238E27FC236}">
                <a16:creationId xmlns:a16="http://schemas.microsoft.com/office/drawing/2014/main" id="{F911A9A3-7270-4526-9632-3EC112625EF3}"/>
              </a:ext>
            </a:extLst>
          </p:cNvPr>
          <p:cNvSpPr>
            <a:spLocks xmlns:a="http://schemas.openxmlformats.org/drawingml/2006/main" noGrp="1"/>
          </p:cNvSpPr>
          <p:nvPr/>
        </p:nvSpPr>
        <p:spPr>
          <a:xfrm xmlns:a="http://schemas.openxmlformats.org/drawingml/2006/main">
            <a:off x="8877300" y="3867150"/>
            <a:ext cx="2400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0">
                <a:solidFill>
                  <a:srgbClr val="DCE4F3"/>
                </a:solidFill>
                <a:latin typeface="Arial"/>
                <a:ea typeface="Arial"/>
                <a:cs typeface="Arial"/>
              </a:defRPr>
            </a:pPr>
            <a:r>
              <a:rPr sz="1275" b="0">
                <a:solidFill>
                  <a:srgbClr val="DCE4F3"/>
                </a:solidFill>
                <a:latin typeface="Arial"/>
                <a:ea typeface="Arial"/>
                <a:cs typeface="Arial"/>
              </a:rPr>
              <a:t>false-positive rate</a:t>
            </a:r>
          </a:p>
        </p:txBody>
      </p:sp>
      <p:sp>
        <p:nvSpPr>
          <p:cNvPr id="15" name="Rettangolo 14">
            <a:extLst xmlns:a="http://schemas.openxmlformats.org/drawingml/2006/main">
              <a:ext uri="{FF2B5EF4-FFF2-40B4-BE49-F238E27FC236}">
                <a16:creationId xmlns:a16="http://schemas.microsoft.com/office/drawing/2014/main" id="{39F04AF7-B86E-4DE5-B20C-93E90631CB11}"/>
              </a:ext>
            </a:extLst>
          </p:cNvPr>
          <p:cNvSpPr>
            <a:spLocks xmlns:a="http://schemas.openxmlformats.org/drawingml/2006/main" noGrp="1"/>
          </p:cNvSpPr>
          <p:nvPr/>
        </p:nvSpPr>
        <p:spPr>
          <a:xfrm xmlns:a="http://schemas.openxmlformats.org/drawingml/2006/main">
            <a:off x="9163050" y="4305300"/>
            <a:ext cx="1828800" cy="19050"/>
          </a:xfrm>
          <a:prstGeom xmlns:a="http://schemas.openxmlformats.org/drawingml/2006/main" prst="rect">
            <a:avLst/>
          </a:prstGeom>
          <a:solidFill xmlns:a="http://schemas.openxmlformats.org/drawingml/2006/main">
            <a:srgbClr val="536A9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6" name="Rettangolo 15">
            <a:extLst xmlns:a="http://schemas.openxmlformats.org/drawingml/2006/main">
              <a:ext uri="{FF2B5EF4-FFF2-40B4-BE49-F238E27FC236}">
                <a16:creationId xmlns:a16="http://schemas.microsoft.com/office/drawing/2014/main" id="{EAAD1828-F238-4BA2-BD2C-60615842DC5B}"/>
              </a:ext>
            </a:extLst>
          </p:cNvPr>
          <p:cNvSpPr>
            <a:spLocks xmlns:a="http://schemas.openxmlformats.org/drawingml/2006/main" noGrp="1"/>
          </p:cNvSpPr>
          <p:nvPr/>
        </p:nvSpPr>
        <p:spPr>
          <a:xfrm xmlns:a="http://schemas.openxmlformats.org/drawingml/2006/main">
            <a:off x="8877300" y="4533900"/>
            <a:ext cx="2400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175" b="1">
                <a:solidFill>
                  <a:srgbClr val="FFFFFF"/>
                </a:solidFill>
                <a:latin typeface="Arial"/>
                <a:ea typeface="Arial"/>
                <a:cs typeface="Arial"/>
              </a:defRPr>
            </a:pPr>
            <a:r>
              <a:rPr sz="2175" b="1">
                <a:solidFill>
                  <a:srgbClr val="FFFFFF"/>
                </a:solidFill>
                <a:latin typeface="Arial"/>
                <a:ea typeface="Arial"/>
                <a:cs typeface="Arial"/>
              </a:rPr>
              <a:t>23.8%  →  52.2%</a:t>
            </a:r>
          </a:p>
        </p:txBody>
      </p:sp>
      <p:sp>
        <p:nvSpPr>
          <p:cNvPr id="17" name="Rettangolo 16">
            <a:extLst xmlns:a="http://schemas.openxmlformats.org/drawingml/2006/main">
              <a:ext uri="{FF2B5EF4-FFF2-40B4-BE49-F238E27FC236}">
                <a16:creationId xmlns:a16="http://schemas.microsoft.com/office/drawing/2014/main" id="{ABC4CE77-AF49-48BF-981A-8A6598910C9D}"/>
              </a:ext>
            </a:extLst>
          </p:cNvPr>
          <p:cNvSpPr>
            <a:spLocks xmlns:a="http://schemas.openxmlformats.org/drawingml/2006/main" noGrp="1"/>
          </p:cNvSpPr>
          <p:nvPr/>
        </p:nvSpPr>
        <p:spPr>
          <a:xfrm xmlns:a="http://schemas.openxmlformats.org/drawingml/2006/main">
            <a:off x="8877300" y="4953000"/>
            <a:ext cx="2400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0">
                <a:solidFill>
                  <a:srgbClr val="DCE4F3"/>
                </a:solidFill>
                <a:latin typeface="Arial"/>
                <a:ea typeface="Arial"/>
                <a:cs typeface="Arial"/>
              </a:defRPr>
            </a:pPr>
            <a:r>
              <a:rPr sz="1275" b="0">
                <a:solidFill>
                  <a:srgbClr val="DCE4F3"/>
                </a:solidFill>
                <a:latin typeface="Arial"/>
                <a:ea typeface="Arial"/>
                <a:cs typeface="Arial"/>
              </a:rPr>
              <a:t>OOD weapon assignment</a:t>
            </a:r>
          </a:p>
        </p:txBody>
      </p:sp>
      <p:sp>
        <p:nvSpPr>
          <p:cNvPr id="18" name="Rettangolo 17">
            <a:extLst xmlns:a="http://schemas.openxmlformats.org/drawingml/2006/main">
              <a:ext uri="{FF2B5EF4-FFF2-40B4-BE49-F238E27FC236}">
                <a16:creationId xmlns:a16="http://schemas.microsoft.com/office/drawing/2014/main" id="{AA7ACF6B-58A7-4567-977D-A10198E44E94}"/>
              </a:ext>
            </a:extLst>
          </p:cNvPr>
          <p:cNvSpPr>
            <a:spLocks xmlns:a="http://schemas.openxmlformats.org/drawingml/2006/main" noGrp="1"/>
          </p:cNvSpPr>
          <p:nvPr/>
        </p:nvSpPr>
        <p:spPr>
          <a:xfrm xmlns:a="http://schemas.openxmlformats.org/drawingml/2006/main">
            <a:off x="1333500" y="6076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1">
                <a:solidFill>
                  <a:srgbClr val="233A70"/>
                </a:solidFill>
                <a:latin typeface="Arial"/>
                <a:ea typeface="Arial"/>
                <a:cs typeface="Arial"/>
              </a:defRPr>
            </a:pPr>
            <a:r>
              <a:rPr sz="1500" b="1">
                <a:solidFill>
                  <a:srgbClr val="233A70"/>
                </a:solidFill>
                <a:latin typeface="Arial"/>
                <a:ea typeface="Arial"/>
                <a:cs typeface="Arial"/>
              </a:rPr>
              <a:t>No configuration minimizes missed targets, review workload and OOD assignments simultaneously.</a:t>
            </a:r>
          </a:p>
        </p:txBody>
      </p:sp>
    </p:spTree>
    <p:extLst>
      <p:ext uri="{BB962C8B-B14F-4D97-AF65-F5344CB8AC3E}">
        <p14:creationId xmlns:p14="http://schemas.microsoft.com/office/powerpoint/2010/main" val="18034984"/>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5" name="Rettangolo 14">
            <a:extLst xmlns:a="http://schemas.openxmlformats.org/drawingml/2006/main">
              <a:ext uri="{FF2B5EF4-FFF2-40B4-BE49-F238E27FC236}">
                <a16:creationId xmlns:a16="http://schemas.microsoft.com/office/drawing/2014/main" id="{DED6D724-FE30-49AE-997C-C1887C78417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5EA681E0-927A-45B2-8337-239E5FF9E121}"/>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OOD images were still routed to weapon</a:t>
            </a:r>
          </a:p>
        </p:txBody>
      </p:sp>
      <p:sp>
        <p:nvSpPr>
          <p:cNvPr id="3" name="Rettangolo 2">
            <a:extLst xmlns:a="http://schemas.openxmlformats.org/drawingml/2006/main">
              <a:ext uri="{FF2B5EF4-FFF2-40B4-BE49-F238E27FC236}">
                <a16:creationId xmlns:a16="http://schemas.microsoft.com/office/drawing/2014/main" id="{02E27C31-8D1E-4BD3-8929-482DDDC7B9EB}"/>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B23CCABE-2638-4044-8CC3-F8BDA96C8E52}"/>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32AC8A4D-2588-4B15-8350-592248936756}"/>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10</a:t>
            </a:r>
          </a:p>
        </p:txBody>
      </p:sp>
      <p:sp>
        <p:nvSpPr>
          <p:cNvPr id="6" name="Rettangolo 5">
            <a:extLst xmlns:a="http://schemas.openxmlformats.org/drawingml/2006/main">
              <a:ext uri="{FF2B5EF4-FFF2-40B4-BE49-F238E27FC236}">
                <a16:creationId xmlns:a16="http://schemas.microsoft.com/office/drawing/2014/main" id="{C8C57C77-6DBD-44DA-9192-A78EE4E2B07D}"/>
              </a:ext>
            </a:extLst>
          </p:cNvPr>
          <p:cNvSpPr>
            <a:spLocks xmlns:a="http://schemas.openxmlformats.org/drawingml/2006/main" noGrp="1"/>
          </p:cNvSpPr>
          <p:nvPr/>
        </p:nvSpPr>
        <p:spPr>
          <a:xfrm xmlns:a="http://schemas.openxmlformats.org/drawingml/2006/main">
            <a:off x="685800" y="1257300"/>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0">
                <a:solidFill>
                  <a:srgbClr val="5B6577"/>
                </a:solidFill>
                <a:latin typeface="Arial"/>
                <a:ea typeface="Arial"/>
                <a:cs typeface="Arial"/>
              </a:defRPr>
            </a:pPr>
            <a:r>
              <a:rPr sz="1350" b="0">
                <a:solidFill>
                  <a:srgbClr val="5B6577"/>
                </a:solidFill>
                <a:latin typeface="Arial"/>
                <a:ea typeface="Arial"/>
                <a:cs typeface="Arial"/>
              </a:rPr>
              <a:t>Weapon-assignment rate on the separate 500-image OOD branch</a:t>
            </a:r>
          </a:p>
        </p:txBody>
      </p:sp>
      <p:graphicFrame>
        <p:nvGraphicFramePr>
          <p:cNvPr id="23" name="Chart"/>
          <p:cNvGraphicFramePr/>
          <p:nvPr/>
        </p:nvGraphicFramePr>
        <p:xfrm>
          <a:off xmlns:a="http://schemas.openxmlformats.org/drawingml/2006/main" x="533400" y="1466850"/>
          <a:ext xmlns:a="http://schemas.openxmlformats.org/drawingml/2006/main" cx="8001000" cy="4648200"/>
        </p:xfrm>
        <a:graphic xmlns:a="http://schemas.openxmlformats.org/drawingml/2006/main">
          <a:graphicData uri="http://schemas.openxmlformats.org/drawingml/2006/chart">
            <c:chart xmlns:r="http://schemas.openxmlformats.org/officeDocument/2006/relationships" xmlns:c="http://schemas.openxmlformats.org/drawingml/2006/chart" r:id="Rd96b7ba956794228"/>
          </a:graphicData>
        </a:graphic>
      </p:graphicFrame>
      <p:sp>
        <p:nvSpPr>
          <p:cNvPr id="8" name="Rettangolo con angoli arrotondati 7">
            <a:extLst xmlns:a="http://schemas.openxmlformats.org/drawingml/2006/main">
              <a:ext uri="{FF2B5EF4-FFF2-40B4-BE49-F238E27FC236}">
                <a16:creationId xmlns:a16="http://schemas.microsoft.com/office/drawing/2014/main" id="{162DD1E9-B02D-4444-9572-E8249CCCA93D}"/>
              </a:ext>
            </a:extLst>
          </p:cNvPr>
          <p:cNvSpPr>
            <a:spLocks xmlns:a="http://schemas.openxmlformats.org/drawingml/2006/main" noGrp="1"/>
          </p:cNvSpPr>
          <p:nvPr/>
        </p:nvSpPr>
        <p:spPr>
          <a:xfrm xmlns:a="http://schemas.openxmlformats.org/drawingml/2006/main">
            <a:off x="8858250" y="1619250"/>
            <a:ext cx="2647950" cy="1428750"/>
          </a:xfrm>
          <a:prstGeom xmlns:a="http://schemas.openxmlformats.org/drawingml/2006/main" prst="roundRect">
            <a:avLst>
              <a:gd name="adj" fmla="val 12000"/>
            </a:avLst>
          </a:prstGeom>
          <a:solidFill xmlns:a="http://schemas.openxmlformats.org/drawingml/2006/main">
            <a:srgbClr val="FBEA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Rettangolo 8">
            <a:extLst xmlns:a="http://schemas.openxmlformats.org/drawingml/2006/main">
              <a:ext uri="{FF2B5EF4-FFF2-40B4-BE49-F238E27FC236}">
                <a16:creationId xmlns:a16="http://schemas.microsoft.com/office/drawing/2014/main" id="{C66F82BF-F8CF-4914-8747-DF7B49329C5C}"/>
              </a:ext>
            </a:extLst>
          </p:cNvPr>
          <p:cNvSpPr>
            <a:spLocks xmlns:a="http://schemas.openxmlformats.org/drawingml/2006/main" noGrp="1"/>
          </p:cNvSpPr>
          <p:nvPr/>
        </p:nvSpPr>
        <p:spPr>
          <a:xfrm xmlns:a="http://schemas.openxmlformats.org/drawingml/2006/main">
            <a:off x="9048750" y="1943100"/>
            <a:ext cx="2266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675" b="1">
                <a:solidFill>
                  <a:srgbClr val="BE3C37"/>
                </a:solidFill>
                <a:latin typeface="Arial"/>
                <a:ea typeface="Arial"/>
                <a:cs typeface="Arial"/>
              </a:defRPr>
            </a:pPr>
            <a:r>
              <a:rPr sz="3675" b="1">
                <a:solidFill>
                  <a:srgbClr val="BE3C37"/>
                </a:solidFill>
                <a:latin typeface="Arial"/>
                <a:ea typeface="Arial"/>
                <a:cs typeface="Arial"/>
              </a:rPr>
              <a:t>83.6%</a:t>
            </a:r>
          </a:p>
        </p:txBody>
      </p:sp>
      <p:sp>
        <p:nvSpPr>
          <p:cNvPr id="10" name="Rettangolo 9">
            <a:extLst xmlns:a="http://schemas.openxmlformats.org/drawingml/2006/main">
              <a:ext uri="{FF2B5EF4-FFF2-40B4-BE49-F238E27FC236}">
                <a16:creationId xmlns:a16="http://schemas.microsoft.com/office/drawing/2014/main" id="{FB8121E6-B232-4F7B-975D-38945AFE3309}"/>
              </a:ext>
            </a:extLst>
          </p:cNvPr>
          <p:cNvSpPr>
            <a:spLocks xmlns:a="http://schemas.openxmlformats.org/drawingml/2006/main" noGrp="1"/>
          </p:cNvSpPr>
          <p:nvPr/>
        </p:nvSpPr>
        <p:spPr>
          <a:xfrm xmlns:a="http://schemas.openxmlformats.org/drawingml/2006/main">
            <a:off x="9048750" y="25908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1">
                <a:solidFill>
                  <a:srgbClr val="172033"/>
                </a:solidFill>
                <a:latin typeface="Arial"/>
                <a:ea typeface="Arial"/>
                <a:cs typeface="Arial"/>
              </a:defRPr>
            </a:pPr>
            <a:r>
              <a:rPr sz="1500" b="1">
                <a:solidFill>
                  <a:srgbClr val="172033"/>
                </a:solidFill>
                <a:latin typeface="Arial"/>
                <a:ea typeface="Arial"/>
                <a:cs typeface="Arial"/>
              </a:rPr>
              <a:t>CLIP proxy</a:t>
            </a:r>
          </a:p>
        </p:txBody>
      </p:sp>
      <p:sp>
        <p:nvSpPr>
          <p:cNvPr id="11" name="Rettangolo con angoli arrotondati 10">
            <a:extLst xmlns:a="http://schemas.openxmlformats.org/drawingml/2006/main">
              <a:ext uri="{FF2B5EF4-FFF2-40B4-BE49-F238E27FC236}">
                <a16:creationId xmlns:a16="http://schemas.microsoft.com/office/drawing/2014/main" id="{C227376D-1F4B-4368-B470-3C3C554720A1}"/>
              </a:ext>
            </a:extLst>
          </p:cNvPr>
          <p:cNvSpPr>
            <a:spLocks xmlns:a="http://schemas.openxmlformats.org/drawingml/2006/main" noGrp="1"/>
          </p:cNvSpPr>
          <p:nvPr/>
        </p:nvSpPr>
        <p:spPr>
          <a:xfrm xmlns:a="http://schemas.openxmlformats.org/drawingml/2006/main">
            <a:off x="8858250" y="3314700"/>
            <a:ext cx="2647950" cy="1428750"/>
          </a:xfrm>
          <a:prstGeom xmlns:a="http://schemas.openxmlformats.org/drawingml/2006/main" prst="roundRect">
            <a:avLst>
              <a:gd name="adj" fmla="val 12000"/>
            </a:avLst>
          </a:prstGeom>
          <a:solidFill xmlns:a="http://schemas.openxmlformats.org/drawingml/2006/main">
            <a:srgbClr val="FFF4C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Rettangolo 11">
            <a:extLst xmlns:a="http://schemas.openxmlformats.org/drawingml/2006/main">
              <a:ext uri="{FF2B5EF4-FFF2-40B4-BE49-F238E27FC236}">
                <a16:creationId xmlns:a16="http://schemas.microsoft.com/office/drawing/2014/main" id="{F2B5D134-0109-4C0B-83F0-6B3FC048A3AC}"/>
              </a:ext>
            </a:extLst>
          </p:cNvPr>
          <p:cNvSpPr>
            <a:spLocks xmlns:a="http://schemas.openxmlformats.org/drawingml/2006/main" noGrp="1"/>
          </p:cNvSpPr>
          <p:nvPr/>
        </p:nvSpPr>
        <p:spPr>
          <a:xfrm xmlns:a="http://schemas.openxmlformats.org/drawingml/2006/main">
            <a:off x="9048750" y="3638550"/>
            <a:ext cx="2266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700" b="1">
                <a:solidFill>
                  <a:srgbClr val="C89B14"/>
                </a:solidFill>
                <a:latin typeface="Arial"/>
                <a:ea typeface="Arial"/>
                <a:cs typeface="Arial"/>
              </a:defRPr>
            </a:pPr>
            <a:r>
              <a:rPr sz="2700" b="1">
                <a:solidFill>
                  <a:srgbClr val="C89B14"/>
                </a:solidFill>
                <a:latin typeface="Arial"/>
                <a:ea typeface="Arial"/>
                <a:cs typeface="Arial"/>
              </a:rPr>
              <a:t>23.8–52.2%</a:t>
            </a:r>
          </a:p>
        </p:txBody>
      </p:sp>
      <p:sp>
        <p:nvSpPr>
          <p:cNvPr id="13" name="Rettangolo 12">
            <a:extLst xmlns:a="http://schemas.openxmlformats.org/drawingml/2006/main">
              <a:ext uri="{FF2B5EF4-FFF2-40B4-BE49-F238E27FC236}">
                <a16:creationId xmlns:a16="http://schemas.microsoft.com/office/drawing/2014/main" id="{6C367E04-4539-48B7-95FD-25BE3AFE42D3}"/>
              </a:ext>
            </a:extLst>
          </p:cNvPr>
          <p:cNvSpPr>
            <a:spLocks xmlns:a="http://schemas.openxmlformats.org/drawingml/2006/main" noGrp="1"/>
          </p:cNvSpPr>
          <p:nvPr/>
        </p:nvSpPr>
        <p:spPr>
          <a:xfrm xmlns:a="http://schemas.openxmlformats.org/drawingml/2006/main">
            <a:off x="9048750" y="42862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1">
                <a:solidFill>
                  <a:srgbClr val="172033"/>
                </a:solidFill>
                <a:latin typeface="Arial"/>
                <a:ea typeface="Arial"/>
                <a:cs typeface="Arial"/>
              </a:defRPr>
            </a:pPr>
            <a:r>
              <a:rPr sz="1500" b="1">
                <a:solidFill>
                  <a:srgbClr val="172033"/>
                </a:solidFill>
                <a:latin typeface="Arial"/>
                <a:ea typeface="Arial"/>
                <a:cs typeface="Arial"/>
              </a:rPr>
              <a:t>black-box range</a:t>
            </a:r>
          </a:p>
        </p:txBody>
      </p:sp>
      <p:sp>
        <p:nvSpPr>
          <p:cNvPr id="14" name="Rettangolo 13">
            <a:extLst xmlns:a="http://schemas.openxmlformats.org/drawingml/2006/main">
              <a:ext uri="{FF2B5EF4-FFF2-40B4-BE49-F238E27FC236}">
                <a16:creationId xmlns:a16="http://schemas.microsoft.com/office/drawing/2014/main" id="{ED55BAD6-5F50-4762-AA30-51DEBFC8C1C5}"/>
              </a:ext>
            </a:extLst>
          </p:cNvPr>
          <p:cNvSpPr>
            <a:spLocks xmlns:a="http://schemas.openxmlformats.org/drawingml/2006/main" noGrp="1"/>
          </p:cNvSpPr>
          <p:nvPr/>
        </p:nvSpPr>
        <p:spPr>
          <a:xfrm xmlns:a="http://schemas.openxmlformats.org/drawingml/2006/main">
            <a:off x="8820150" y="5143500"/>
            <a:ext cx="2724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500" b="1">
                <a:solidFill>
                  <a:srgbClr val="233A70"/>
                </a:solidFill>
                <a:latin typeface="Arial"/>
                <a:ea typeface="Arial"/>
                <a:cs typeface="Arial"/>
              </a:defRPr>
            </a:pPr>
            <a:r>
              <a:rPr sz="1500" b="1">
                <a:solidFill>
                  <a:srgbClr val="233A70"/>
                </a:solidFill>
                <a:latin typeface="Arial"/>
                <a:ea typeface="Arial"/>
                <a:cs typeface="Arial"/>
              </a:rPr>
              <a:t>These are closed-set operating behaviors—not supervised false positives.</a:t>
            </a:r>
          </a:p>
        </p:txBody>
      </p:sp>
    </p:spTree>
    <p:extLst>
      <p:ext uri="{BB962C8B-B14F-4D97-AF65-F5344CB8AC3E}">
        <p14:creationId xmlns:p14="http://schemas.microsoft.com/office/powerpoint/2010/main" val="937685469"/>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Rettangolo 25">
            <a:extLst xmlns:a="http://schemas.openxmlformats.org/drawingml/2006/main">
              <a:ext uri="{FF2B5EF4-FFF2-40B4-BE49-F238E27FC236}">
                <a16:creationId xmlns:a16="http://schemas.microsoft.com/office/drawing/2014/main" id="{5645DA4D-5BF9-4953-8433-9A7E419FF06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E4F3758C-2532-486E-A04E-E3D13E2CDF8A}"/>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A maximally concentrated output can still be wrong</a:t>
            </a:r>
          </a:p>
        </p:txBody>
      </p:sp>
      <p:sp>
        <p:nvSpPr>
          <p:cNvPr id="3" name="Rettangolo 2">
            <a:extLst xmlns:a="http://schemas.openxmlformats.org/drawingml/2006/main">
              <a:ext uri="{FF2B5EF4-FFF2-40B4-BE49-F238E27FC236}">
                <a16:creationId xmlns:a16="http://schemas.microsoft.com/office/drawing/2014/main" id="{CA526874-FE39-4860-AE76-8FB19350DF74}"/>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0A090AA1-0FBA-403D-B515-3D72E084FF70}"/>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E694E014-2838-430B-BED6-5AAAE1012DAB}"/>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11</a:t>
            </a:r>
          </a:p>
        </p:txBody>
      </p:sp>
      <p:pic>
        <p:nvPicPr>
          <p:cNvPr id="35" name="Picture 26"/>
          <p:cNvPicPr>
            <a:picLocks xmlns:a="http://schemas.openxmlformats.org/drawingml/2006/main" noChangeAspect="1"/>
          </p:cNvPicPr>
          <p:nvPr/>
        </p:nvPicPr>
        <p:blipFill>
          <a:blip xmlns:r="http://schemas.openxmlformats.org/officeDocument/2006/relationships" xmlns:a="http://schemas.openxmlformats.org/drawingml/2006/main" r:embed="Re6aa1eb694604975"/>
          <a:srcRect xmlns:a="http://schemas.openxmlformats.org/drawingml/2006/main" l="0" t="0" r="0" b="0"/>
          <a:stretch xmlns:a="http://schemas.openxmlformats.org/drawingml/2006/main">
            <a:fillRect l="0" t="0" r="0" b="0"/>
          </a:stretch>
        </p:blipFill>
        <p:spPr>
          <a:xfrm xmlns:a="http://schemas.openxmlformats.org/drawingml/2006/main">
            <a:off x="685800" y="1638300"/>
            <a:ext cx="2000250" cy="2000250"/>
          </a:xfrm>
          <a:prstGeom xmlns:a="http://schemas.openxmlformats.org/drawingml/2006/main" prst="rect">
            <a:avLst/>
          </a:prstGeom>
        </p:spPr>
      </p:pic>
      <p:sp>
        <p:nvSpPr>
          <p:cNvPr id="7" name="Rettangolo 6">
            <a:extLst xmlns:a="http://schemas.openxmlformats.org/drawingml/2006/main">
              <a:ext uri="{FF2B5EF4-FFF2-40B4-BE49-F238E27FC236}">
                <a16:creationId xmlns:a16="http://schemas.microsoft.com/office/drawing/2014/main" id="{F435B978-2CD2-4500-A3CA-AAC78EA22718}"/>
              </a:ext>
            </a:extLst>
          </p:cNvPr>
          <p:cNvSpPr>
            <a:spLocks xmlns:a="http://schemas.openxmlformats.org/drawingml/2006/main" noGrp="1"/>
          </p:cNvSpPr>
          <p:nvPr/>
        </p:nvSpPr>
        <p:spPr>
          <a:xfrm xmlns:a="http://schemas.openxmlformats.org/drawingml/2006/main">
            <a:off x="685800" y="3771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172033"/>
                </a:solidFill>
                <a:latin typeface="Arial"/>
                <a:ea typeface="Arial"/>
                <a:cs typeface="Arial"/>
              </a:defRPr>
            </a:pPr>
            <a:r>
              <a:rPr sz="1425" b="1">
                <a:solidFill>
                  <a:srgbClr val="172033"/>
                </a:solidFill>
                <a:latin typeface="Arial"/>
                <a:ea typeface="Arial"/>
                <a:cs typeface="Arial"/>
              </a:rPr>
              <a:t>Perturbed input</a:t>
            </a:r>
          </a:p>
        </p:txBody>
      </p:sp>
      <p:sp>
        <p:nvSpPr>
          <p:cNvPr id="8" name="Rettangolo 7">
            <a:extLst xmlns:a="http://schemas.openxmlformats.org/drawingml/2006/main">
              <a:ext uri="{FF2B5EF4-FFF2-40B4-BE49-F238E27FC236}">
                <a16:creationId xmlns:a16="http://schemas.microsoft.com/office/drawing/2014/main" id="{B1989978-C8F3-45F2-99A5-CA65821A908A}"/>
              </a:ext>
            </a:extLst>
          </p:cNvPr>
          <p:cNvSpPr>
            <a:spLocks xmlns:a="http://schemas.openxmlformats.org/drawingml/2006/main" noGrp="1"/>
          </p:cNvSpPr>
          <p:nvPr/>
        </p:nvSpPr>
        <p:spPr>
          <a:xfrm xmlns:a="http://schemas.openxmlformats.org/drawingml/2006/main">
            <a:off x="685800" y="40576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0">
                <a:solidFill>
                  <a:srgbClr val="5B6577"/>
                </a:solidFill>
                <a:latin typeface="Arial"/>
                <a:ea typeface="Arial"/>
                <a:cs typeface="Arial"/>
              </a:defRPr>
            </a:pPr>
            <a:r>
              <a:rPr sz="1200" b="0">
                <a:solidFill>
                  <a:srgbClr val="5B6577"/>
                </a:solidFill>
                <a:latin typeface="Arial"/>
                <a:ea typeface="Arial"/>
                <a:cs typeface="Arial"/>
              </a:rPr>
              <a:t>Sigma Zero</a:t>
            </a:r>
          </a:p>
        </p:txBody>
      </p:sp>
      <p:pic>
        <p:nvPicPr>
          <p:cNvPr id="38" name="Picture 27"/>
          <p:cNvPicPr>
            <a:picLocks xmlns:a="http://schemas.openxmlformats.org/drawingml/2006/main" noChangeAspect="1"/>
          </p:cNvPicPr>
          <p:nvPr/>
        </p:nvPicPr>
        <p:blipFill>
          <a:blip xmlns:r="http://schemas.openxmlformats.org/officeDocument/2006/relationships" xmlns:a="http://schemas.openxmlformats.org/drawingml/2006/main" r:embed="R06c303a7496343b2"/>
          <a:srcRect xmlns:a="http://schemas.openxmlformats.org/drawingml/2006/main" l="0" t="0" r="0" b="0"/>
          <a:stretch xmlns:a="http://schemas.openxmlformats.org/drawingml/2006/main">
            <a:fillRect l="0" t="0" r="0" b="0"/>
          </a:stretch>
        </p:blipFill>
        <p:spPr>
          <a:xfrm xmlns:a="http://schemas.openxmlformats.org/drawingml/2006/main">
            <a:off x="2990850" y="1638300"/>
            <a:ext cx="2000250" cy="2000250"/>
          </a:xfrm>
          <a:prstGeom xmlns:a="http://schemas.openxmlformats.org/drawingml/2006/main" prst="rect">
            <a:avLst/>
          </a:prstGeom>
        </p:spPr>
      </p:pic>
      <p:sp>
        <p:nvSpPr>
          <p:cNvPr id="10" name="Rettangolo 9">
            <a:extLst xmlns:a="http://schemas.openxmlformats.org/drawingml/2006/main">
              <a:ext uri="{FF2B5EF4-FFF2-40B4-BE49-F238E27FC236}">
                <a16:creationId xmlns:a16="http://schemas.microsoft.com/office/drawing/2014/main" id="{E91D850F-EA38-4FEE-BE99-2BC2EB72ECB5}"/>
              </a:ext>
            </a:extLst>
          </p:cNvPr>
          <p:cNvSpPr>
            <a:spLocks xmlns:a="http://schemas.openxmlformats.org/drawingml/2006/main" noGrp="1"/>
          </p:cNvSpPr>
          <p:nvPr/>
        </p:nvSpPr>
        <p:spPr>
          <a:xfrm xmlns:a="http://schemas.openxmlformats.org/drawingml/2006/main">
            <a:off x="2990850" y="3771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172033"/>
                </a:solidFill>
                <a:latin typeface="Arial"/>
                <a:ea typeface="Arial"/>
                <a:cs typeface="Arial"/>
              </a:defRPr>
            </a:pPr>
            <a:r>
              <a:rPr sz="1425" b="1">
                <a:solidFill>
                  <a:srgbClr val="172033"/>
                </a:solidFill>
                <a:latin typeface="Arial"/>
                <a:ea typeface="Arial"/>
                <a:cs typeface="Arial"/>
              </a:rPr>
              <a:t>IG magnitude</a:t>
            </a:r>
          </a:p>
        </p:txBody>
      </p:sp>
      <p:sp>
        <p:nvSpPr>
          <p:cNvPr id="11" name="Rettangolo 10">
            <a:extLst xmlns:a="http://schemas.openxmlformats.org/drawingml/2006/main">
              <a:ext uri="{FF2B5EF4-FFF2-40B4-BE49-F238E27FC236}">
                <a16:creationId xmlns:a16="http://schemas.microsoft.com/office/drawing/2014/main" id="{8491799F-BA10-4AA0-9BE0-C7F292FCB7FE}"/>
              </a:ext>
            </a:extLst>
          </p:cNvPr>
          <p:cNvSpPr>
            <a:spLocks xmlns:a="http://schemas.openxmlformats.org/drawingml/2006/main" noGrp="1"/>
          </p:cNvSpPr>
          <p:nvPr/>
        </p:nvSpPr>
        <p:spPr>
          <a:xfrm xmlns:a="http://schemas.openxmlformats.org/drawingml/2006/main">
            <a:off x="2990850" y="40576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0">
                <a:solidFill>
                  <a:srgbClr val="5B6577"/>
                </a:solidFill>
                <a:latin typeface="Arial"/>
                <a:ea typeface="Arial"/>
                <a:cs typeface="Arial"/>
              </a:defRPr>
            </a:pPr>
            <a:r>
              <a:rPr sz="1200" b="0">
                <a:solidFill>
                  <a:srgbClr val="5B6577"/>
                </a:solidFill>
                <a:latin typeface="Arial"/>
                <a:ea typeface="Arial"/>
                <a:cs typeface="Arial"/>
              </a:rPr>
              <a:t>predicted class</a:t>
            </a:r>
          </a:p>
        </p:txBody>
      </p:sp>
      <p:pic>
        <p:nvPicPr>
          <p:cNvPr id="41" name="Picture 28"/>
          <p:cNvPicPr>
            <a:picLocks xmlns:a="http://schemas.openxmlformats.org/drawingml/2006/main" noChangeAspect="1"/>
          </p:cNvPicPr>
          <p:nvPr/>
        </p:nvPicPr>
        <p:blipFill>
          <a:blip xmlns:r="http://schemas.openxmlformats.org/officeDocument/2006/relationships" xmlns:a="http://schemas.openxmlformats.org/drawingml/2006/main" r:embed="R7a67b91edf434c27"/>
          <a:srcRect xmlns:a="http://schemas.openxmlformats.org/drawingml/2006/main" l="0" t="0" r="0" b="0"/>
          <a:stretch xmlns:a="http://schemas.openxmlformats.org/drawingml/2006/main">
            <a:fillRect l="0" t="0" r="0" b="0"/>
          </a:stretch>
        </p:blipFill>
        <p:spPr>
          <a:xfrm xmlns:a="http://schemas.openxmlformats.org/drawingml/2006/main">
            <a:off x="5295900" y="1638300"/>
            <a:ext cx="2000250" cy="2000250"/>
          </a:xfrm>
          <a:prstGeom xmlns:a="http://schemas.openxmlformats.org/drawingml/2006/main" prst="rect">
            <a:avLst/>
          </a:prstGeom>
        </p:spPr>
      </p:pic>
      <p:sp>
        <p:nvSpPr>
          <p:cNvPr id="13" name="Rettangolo 12">
            <a:extLst xmlns:a="http://schemas.openxmlformats.org/drawingml/2006/main">
              <a:ext uri="{FF2B5EF4-FFF2-40B4-BE49-F238E27FC236}">
                <a16:creationId xmlns:a16="http://schemas.microsoft.com/office/drawing/2014/main" id="{BD18B2E2-966E-4B84-B33C-A64D6FBBD8E2}"/>
              </a:ext>
            </a:extLst>
          </p:cNvPr>
          <p:cNvSpPr>
            <a:spLocks xmlns:a="http://schemas.openxmlformats.org/drawingml/2006/main" noGrp="1"/>
          </p:cNvSpPr>
          <p:nvPr/>
        </p:nvSpPr>
        <p:spPr>
          <a:xfrm xmlns:a="http://schemas.openxmlformats.org/drawingml/2006/main">
            <a:off x="5295900" y="3771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172033"/>
                </a:solidFill>
                <a:latin typeface="Arial"/>
                <a:ea typeface="Arial"/>
                <a:cs typeface="Arial"/>
              </a:defRPr>
            </a:pPr>
            <a:r>
              <a:rPr sz="1425" b="1">
                <a:solidFill>
                  <a:srgbClr val="172033"/>
                </a:solidFill>
                <a:latin typeface="Arial"/>
                <a:ea typeface="Arial"/>
                <a:cs typeface="Arial"/>
              </a:rPr>
              <a:t>Attribution overlay</a:t>
            </a:r>
          </a:p>
        </p:txBody>
      </p:sp>
      <p:sp>
        <p:nvSpPr>
          <p:cNvPr id="14" name="Rettangolo 13">
            <a:extLst xmlns:a="http://schemas.openxmlformats.org/drawingml/2006/main">
              <a:ext uri="{FF2B5EF4-FFF2-40B4-BE49-F238E27FC236}">
                <a16:creationId xmlns:a16="http://schemas.microsoft.com/office/drawing/2014/main" id="{F42CFE87-0CE4-4FBF-BED1-B5868165BBDA}"/>
              </a:ext>
            </a:extLst>
          </p:cNvPr>
          <p:cNvSpPr>
            <a:spLocks xmlns:a="http://schemas.openxmlformats.org/drawingml/2006/main" noGrp="1"/>
          </p:cNvSpPr>
          <p:nvPr/>
        </p:nvSpPr>
        <p:spPr>
          <a:xfrm xmlns:a="http://schemas.openxmlformats.org/drawingml/2006/main">
            <a:off x="5295900" y="40576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0">
                <a:solidFill>
                  <a:srgbClr val="5B6577"/>
                </a:solidFill>
                <a:latin typeface="Arial"/>
                <a:ea typeface="Arial"/>
                <a:cs typeface="Arial"/>
              </a:defRPr>
            </a:pPr>
            <a:r>
              <a:rPr sz="1200" b="0">
                <a:solidFill>
                  <a:srgbClr val="5B6577"/>
                </a:solidFill>
                <a:latin typeface="Arial"/>
                <a:ea typeface="Arial"/>
                <a:cs typeface="Arial"/>
              </a:rPr>
              <a:t>qualitative only</a:t>
            </a:r>
          </a:p>
        </p:txBody>
      </p:sp>
      <p:sp>
        <p:nvSpPr>
          <p:cNvPr id="15" name="Rettangolo con angoli arrotondati 14">
            <a:extLst xmlns:a="http://schemas.openxmlformats.org/drawingml/2006/main">
              <a:ext uri="{FF2B5EF4-FFF2-40B4-BE49-F238E27FC236}">
                <a16:creationId xmlns:a16="http://schemas.microsoft.com/office/drawing/2014/main" id="{FA069229-F17B-4C8B-BB46-930BCC99CC7F}"/>
              </a:ext>
            </a:extLst>
          </p:cNvPr>
          <p:cNvSpPr>
            <a:spLocks xmlns:a="http://schemas.openxmlformats.org/drawingml/2006/main" noGrp="1"/>
          </p:cNvSpPr>
          <p:nvPr/>
        </p:nvSpPr>
        <p:spPr>
          <a:xfrm xmlns:a="http://schemas.openxmlformats.org/drawingml/2006/main">
            <a:off x="7810500" y="1562100"/>
            <a:ext cx="3695700" cy="2857500"/>
          </a:xfrm>
          <a:prstGeom xmlns:a="http://schemas.openxmlformats.org/drawingml/2006/main" prst="roundRect">
            <a:avLst>
              <a:gd name="adj" fmla="val 6667"/>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6" name="Rettangolo 15">
            <a:extLst xmlns:a="http://schemas.openxmlformats.org/drawingml/2006/main">
              <a:ext uri="{FF2B5EF4-FFF2-40B4-BE49-F238E27FC236}">
                <a16:creationId xmlns:a16="http://schemas.microsoft.com/office/drawing/2014/main" id="{7D25BA6B-1106-4A33-832D-36A979EC83DB}"/>
              </a:ext>
            </a:extLst>
          </p:cNvPr>
          <p:cNvSpPr>
            <a:spLocks xmlns:a="http://schemas.openxmlformats.org/drawingml/2006/main" noGrp="1"/>
          </p:cNvSpPr>
          <p:nvPr/>
        </p:nvSpPr>
        <p:spPr>
          <a:xfrm xmlns:a="http://schemas.openxmlformats.org/drawingml/2006/main">
            <a:off x="8096250" y="1828800"/>
            <a:ext cx="3124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14B978"/>
                </a:solidFill>
                <a:latin typeface="Arial"/>
                <a:ea typeface="Arial"/>
                <a:cs typeface="Arial"/>
              </a:defRPr>
            </a:pPr>
            <a:r>
              <a:rPr sz="1275" b="1">
                <a:solidFill>
                  <a:srgbClr val="14B978"/>
                </a:solidFill>
                <a:latin typeface="Arial"/>
                <a:ea typeface="Arial"/>
                <a:cs typeface="Arial"/>
              </a:rPr>
              <a:t>xai_case_0015</a:t>
            </a:r>
          </a:p>
        </p:txBody>
      </p:sp>
      <p:sp>
        <p:nvSpPr>
          <p:cNvPr id="17" name="Rettangolo 16">
            <a:extLst xmlns:a="http://schemas.openxmlformats.org/drawingml/2006/main">
              <a:ext uri="{FF2B5EF4-FFF2-40B4-BE49-F238E27FC236}">
                <a16:creationId xmlns:a16="http://schemas.microsoft.com/office/drawing/2014/main" id="{3EAB3D39-A4EA-43CB-9D21-A6855C38A875}"/>
              </a:ext>
            </a:extLst>
          </p:cNvPr>
          <p:cNvSpPr>
            <a:spLocks xmlns:a="http://schemas.openxmlformats.org/drawingml/2006/main" noGrp="1"/>
          </p:cNvSpPr>
          <p:nvPr/>
        </p:nvSpPr>
        <p:spPr>
          <a:xfrm xmlns:a="http://schemas.openxmlformats.org/drawingml/2006/main">
            <a:off x="8096250" y="23050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a:solidFill>
                  <a:srgbClr val="DCE4F3"/>
                </a:solidFill>
                <a:latin typeface="Arial"/>
                <a:ea typeface="Arial"/>
                <a:cs typeface="Arial"/>
              </a:defRPr>
            </a:pPr>
            <a:r>
              <a:rPr sz="1200" b="1">
                <a:solidFill>
                  <a:srgbClr val="DCE4F3"/>
                </a:solidFill>
                <a:latin typeface="Arial"/>
                <a:ea typeface="Arial"/>
                <a:cs typeface="Arial"/>
              </a:rPr>
              <a:t>REFERENCE</a:t>
            </a:r>
          </a:p>
        </p:txBody>
      </p:sp>
      <p:sp>
        <p:nvSpPr>
          <p:cNvPr id="18" name="Rettangolo 17">
            <a:extLst xmlns:a="http://schemas.openxmlformats.org/drawingml/2006/main">
              <a:ext uri="{FF2B5EF4-FFF2-40B4-BE49-F238E27FC236}">
                <a16:creationId xmlns:a16="http://schemas.microsoft.com/office/drawing/2014/main" id="{C1C5FAD1-3F30-4059-A516-5B8394AAE46E}"/>
              </a:ext>
            </a:extLst>
          </p:cNvPr>
          <p:cNvSpPr>
            <a:spLocks xmlns:a="http://schemas.openxmlformats.org/drawingml/2006/main" noGrp="1"/>
          </p:cNvSpPr>
          <p:nvPr/>
        </p:nvSpPr>
        <p:spPr>
          <a:xfrm xmlns:a="http://schemas.openxmlformats.org/drawingml/2006/main">
            <a:off x="8096250" y="25908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non_weapon</a:t>
            </a:r>
          </a:p>
        </p:txBody>
      </p:sp>
      <p:sp>
        <p:nvSpPr>
          <p:cNvPr id="19" name="Rettangolo 18">
            <a:extLst xmlns:a="http://schemas.openxmlformats.org/drawingml/2006/main">
              <a:ext uri="{FF2B5EF4-FFF2-40B4-BE49-F238E27FC236}">
                <a16:creationId xmlns:a16="http://schemas.microsoft.com/office/drawing/2014/main" id="{535795A5-21C9-4CC4-AF05-3AA3207A1EC2}"/>
              </a:ext>
            </a:extLst>
          </p:cNvPr>
          <p:cNvSpPr>
            <a:spLocks xmlns:a="http://schemas.openxmlformats.org/drawingml/2006/main" noGrp="1"/>
          </p:cNvSpPr>
          <p:nvPr/>
        </p:nvSpPr>
        <p:spPr>
          <a:xfrm xmlns:a="http://schemas.openxmlformats.org/drawingml/2006/main">
            <a:off x="9886950" y="23050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a:solidFill>
                  <a:srgbClr val="DCE4F3"/>
                </a:solidFill>
                <a:latin typeface="Arial"/>
                <a:ea typeface="Arial"/>
                <a:cs typeface="Arial"/>
              </a:defRPr>
            </a:pPr>
            <a:r>
              <a:rPr sz="1200" b="1">
                <a:solidFill>
                  <a:srgbClr val="DCE4F3"/>
                </a:solidFill>
                <a:latin typeface="Arial"/>
                <a:ea typeface="Arial"/>
                <a:cs typeface="Arial"/>
              </a:rPr>
              <a:t>PREDICTION</a:t>
            </a:r>
          </a:p>
        </p:txBody>
      </p:sp>
      <p:sp>
        <p:nvSpPr>
          <p:cNvPr id="20" name="Rettangolo 19">
            <a:extLst xmlns:a="http://schemas.openxmlformats.org/drawingml/2006/main">
              <a:ext uri="{FF2B5EF4-FFF2-40B4-BE49-F238E27FC236}">
                <a16:creationId xmlns:a16="http://schemas.microsoft.com/office/drawing/2014/main" id="{9864EAE4-9F0E-4EF8-8279-3D124BC4010B}"/>
              </a:ext>
            </a:extLst>
          </p:cNvPr>
          <p:cNvSpPr>
            <a:spLocks xmlns:a="http://schemas.openxmlformats.org/drawingml/2006/main" noGrp="1"/>
          </p:cNvSpPr>
          <p:nvPr/>
        </p:nvSpPr>
        <p:spPr>
          <a:xfrm xmlns:a="http://schemas.openxmlformats.org/drawingml/2006/main">
            <a:off x="9886950" y="25908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weapon</a:t>
            </a:r>
          </a:p>
        </p:txBody>
      </p:sp>
      <p:sp>
        <p:nvSpPr>
          <p:cNvPr id="21" name="Rettangolo 20">
            <a:extLst xmlns:a="http://schemas.openxmlformats.org/drawingml/2006/main">
              <a:ext uri="{FF2B5EF4-FFF2-40B4-BE49-F238E27FC236}">
                <a16:creationId xmlns:a16="http://schemas.microsoft.com/office/drawing/2014/main" id="{471C4D3D-721D-4498-8EFA-1BF90F405B30}"/>
              </a:ext>
            </a:extLst>
          </p:cNvPr>
          <p:cNvSpPr>
            <a:spLocks xmlns:a="http://schemas.openxmlformats.org/drawingml/2006/main" noGrp="1"/>
          </p:cNvSpPr>
          <p:nvPr/>
        </p:nvSpPr>
        <p:spPr>
          <a:xfrm xmlns:a="http://schemas.openxmlformats.org/drawingml/2006/main">
            <a:off x="8172450" y="3124200"/>
            <a:ext cx="2971800" cy="19050"/>
          </a:xfrm>
          <a:prstGeom xmlns:a="http://schemas.openxmlformats.org/drawingml/2006/main" prst="rect">
            <a:avLst/>
          </a:prstGeom>
          <a:solidFill xmlns:a="http://schemas.openxmlformats.org/drawingml/2006/main">
            <a:srgbClr val="536A9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2" name="Rettangolo 21">
            <a:extLst xmlns:a="http://schemas.openxmlformats.org/drawingml/2006/main">
              <a:ext uri="{FF2B5EF4-FFF2-40B4-BE49-F238E27FC236}">
                <a16:creationId xmlns:a16="http://schemas.microsoft.com/office/drawing/2014/main" id="{A2E0B2CD-9A4A-41BF-8D83-9380D61CA4D4}"/>
              </a:ext>
            </a:extLst>
          </p:cNvPr>
          <p:cNvSpPr>
            <a:spLocks xmlns:a="http://schemas.openxmlformats.org/drawingml/2006/main" noGrp="1"/>
          </p:cNvSpPr>
          <p:nvPr/>
        </p:nvSpPr>
        <p:spPr>
          <a:xfrm xmlns:a="http://schemas.openxmlformats.org/drawingml/2006/main">
            <a:off x="8096250" y="33718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a:solidFill>
                  <a:srgbClr val="14B978"/>
                </a:solidFill>
                <a:latin typeface="Arial"/>
                <a:ea typeface="Arial"/>
                <a:cs typeface="Arial"/>
              </a:defRPr>
            </a:pPr>
            <a:r>
              <a:rPr sz="1200" b="1">
                <a:solidFill>
                  <a:srgbClr val="14B978"/>
                </a:solidFill>
                <a:latin typeface="Arial"/>
                <a:ea typeface="Arial"/>
                <a:cs typeface="Arial"/>
              </a:rPr>
              <a:t>MAX-P</a:t>
            </a:r>
          </a:p>
        </p:txBody>
      </p:sp>
      <p:sp>
        <p:nvSpPr>
          <p:cNvPr id="23" name="Rettangolo 22">
            <a:extLst xmlns:a="http://schemas.openxmlformats.org/drawingml/2006/main">
              <a:ext uri="{FF2B5EF4-FFF2-40B4-BE49-F238E27FC236}">
                <a16:creationId xmlns:a16="http://schemas.microsoft.com/office/drawing/2014/main" id="{09EB84B4-E40A-4FB5-A6A0-847175A7A7AD}"/>
              </a:ext>
            </a:extLst>
          </p:cNvPr>
          <p:cNvSpPr>
            <a:spLocks xmlns:a="http://schemas.openxmlformats.org/drawingml/2006/main" noGrp="1"/>
          </p:cNvSpPr>
          <p:nvPr/>
        </p:nvSpPr>
        <p:spPr>
          <a:xfrm xmlns:a="http://schemas.openxmlformats.org/drawingml/2006/main">
            <a:off x="8096250" y="3638550"/>
            <a:ext cx="3124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375" b="1">
                <a:solidFill>
                  <a:srgbClr val="FFFFFF"/>
                </a:solidFill>
                <a:latin typeface="Arial"/>
                <a:ea typeface="Arial"/>
                <a:cs typeface="Arial"/>
              </a:defRPr>
            </a:pPr>
            <a:r>
              <a:rPr sz="3375" b="1">
                <a:solidFill>
                  <a:srgbClr val="FFFFFF"/>
                </a:solidFill>
                <a:latin typeface="Arial"/>
                <a:ea typeface="Arial"/>
                <a:cs typeface="Arial"/>
              </a:rPr>
              <a:t>1.000</a:t>
            </a:r>
          </a:p>
        </p:txBody>
      </p:sp>
      <p:sp>
        <p:nvSpPr>
          <p:cNvPr id="24" name="Rettangolo con angoli arrotondati 23">
            <a:extLst xmlns:a="http://schemas.openxmlformats.org/drawingml/2006/main">
              <a:ext uri="{FF2B5EF4-FFF2-40B4-BE49-F238E27FC236}">
                <a16:creationId xmlns:a16="http://schemas.microsoft.com/office/drawing/2014/main" id="{18A2F9C9-4D34-4737-8B90-8118C124B94E}"/>
              </a:ext>
            </a:extLst>
          </p:cNvPr>
          <p:cNvSpPr>
            <a:spLocks xmlns:a="http://schemas.openxmlformats.org/drawingml/2006/main" noGrp="1"/>
          </p:cNvSpPr>
          <p:nvPr/>
        </p:nvSpPr>
        <p:spPr>
          <a:xfrm xmlns:a="http://schemas.openxmlformats.org/drawingml/2006/main">
            <a:off x="1123950" y="4762500"/>
            <a:ext cx="9944100" cy="1104900"/>
          </a:xfrm>
          <a:prstGeom xmlns:a="http://schemas.openxmlformats.org/drawingml/2006/main" prst="roundRect">
            <a:avLst>
              <a:gd name="adj" fmla="val 15517"/>
            </a:avLst>
          </a:prstGeom>
          <a:solidFill xmlns:a="http://schemas.openxmlformats.org/drawingml/2006/main">
            <a:srgbClr val="E7F8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5" name="Rettangolo 24">
            <a:extLst xmlns:a="http://schemas.openxmlformats.org/drawingml/2006/main">
              <a:ext uri="{FF2B5EF4-FFF2-40B4-BE49-F238E27FC236}">
                <a16:creationId xmlns:a16="http://schemas.microsoft.com/office/drawing/2014/main" id="{F063FFD0-1294-4279-B46B-EF1D1D3EB627}"/>
              </a:ext>
            </a:extLst>
          </p:cNvPr>
          <p:cNvSpPr>
            <a:spLocks xmlns:a="http://schemas.openxmlformats.org/drawingml/2006/main" noGrp="1"/>
          </p:cNvSpPr>
          <p:nvPr/>
        </p:nvSpPr>
        <p:spPr>
          <a:xfrm xmlns:a="http://schemas.openxmlformats.org/drawingml/2006/main">
            <a:off x="1466850" y="5010150"/>
            <a:ext cx="92583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1">
                <a:solidFill>
                  <a:srgbClr val="087A50"/>
                </a:solidFill>
                <a:latin typeface="Arial"/>
                <a:ea typeface="Arial"/>
                <a:cs typeface="Arial"/>
              </a:defRPr>
            </a:pPr>
            <a:r>
              <a:rPr sz="1650" b="1">
                <a:solidFill>
                  <a:srgbClr val="087A50"/>
                </a:solidFill>
                <a:latin typeface="Arial"/>
                <a:ea typeface="Arial"/>
                <a:cs typeface="Arial"/>
              </a:rPr>
              <a:t>Integrated Gradients supports diagnosis of selected proxy outputs.</a:t>
            </a:r>
          </a:p>
          <a:p xmlns:a="http://schemas.openxmlformats.org/drawingml/2006/main">
            <a:pPr algn="ctr">
              <a:buNone/>
              <a:defRPr sz="1650" b="1">
                <a:solidFill>
                  <a:srgbClr val="087A50"/>
                </a:solidFill>
                <a:latin typeface="Arial"/>
                <a:ea typeface="Arial"/>
                <a:cs typeface="Arial"/>
              </a:defRPr>
            </a:pPr>
            <a:r>
              <a:rPr sz="1650" b="1">
                <a:solidFill>
                  <a:srgbClr val="087A50"/>
                </a:solidFill>
                <a:latin typeface="Arial"/>
                <a:ea typeface="Arial"/>
                <a:cs typeface="Arial"/>
              </a:rPr>
              <a:t>It does not certify correctness, calibrate confidence, or explain proprietary black-box systems.</a:t>
            </a:r>
          </a:p>
        </p:txBody>
      </p:sp>
    </p:spTree>
    <p:extLst>
      <p:ext uri="{BB962C8B-B14F-4D97-AF65-F5344CB8AC3E}">
        <p14:creationId xmlns:p14="http://schemas.microsoft.com/office/powerpoint/2010/main" val="816023308"/>
      </p:ext>
    </p:extLst>
  </p:cSld>
</p:sld>
</file>

<file path=ppt/slides/slide1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3" name="Rettangolo 32">
            <a:extLst xmlns:a="http://schemas.openxmlformats.org/drawingml/2006/main">
              <a:ext uri="{FF2B5EF4-FFF2-40B4-BE49-F238E27FC236}">
                <a16:creationId xmlns:a16="http://schemas.microsoft.com/office/drawing/2014/main" id="{AFCF59B5-683B-474F-989A-FBD69F45330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784007D6-2081-4930-A389-03D64A1A2382}"/>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Human review remains the final decision gate</a:t>
            </a:r>
          </a:p>
        </p:txBody>
      </p:sp>
      <p:sp>
        <p:nvSpPr>
          <p:cNvPr id="3" name="Rettangolo 2">
            <a:extLst xmlns:a="http://schemas.openxmlformats.org/drawingml/2006/main">
              <a:ext uri="{FF2B5EF4-FFF2-40B4-BE49-F238E27FC236}">
                <a16:creationId xmlns:a16="http://schemas.microsoft.com/office/drawing/2014/main" id="{68493C46-8133-4462-86DB-466B3708A87B}"/>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20FCC7E3-0B4D-4701-98B4-D33EB2D8663F}"/>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FCFAFCCB-405C-47A7-B90B-CEB46F98CC33}"/>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12</a:t>
            </a:r>
          </a:p>
        </p:txBody>
      </p:sp>
      <p:sp>
        <p:nvSpPr>
          <p:cNvPr id="6" name="Rettangolo 5">
            <a:extLst xmlns:a="http://schemas.openxmlformats.org/drawingml/2006/main">
              <a:ext uri="{FF2B5EF4-FFF2-40B4-BE49-F238E27FC236}">
                <a16:creationId xmlns:a16="http://schemas.microsoft.com/office/drawing/2014/main" id="{6E42C77A-5BF7-4B4F-ACB6-2B4A6D08B6F7}"/>
              </a:ext>
            </a:extLst>
          </p:cNvPr>
          <p:cNvSpPr>
            <a:spLocks xmlns:a="http://schemas.openxmlformats.org/drawingml/2006/main" noGrp="1"/>
          </p:cNvSpPr>
          <p:nvPr/>
        </p:nvSpPr>
        <p:spPr>
          <a:xfrm xmlns:a="http://schemas.openxmlformats.org/drawingml/2006/main">
            <a:off x="1695450" y="2800350"/>
            <a:ext cx="8801100" cy="7620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6">
            <a:extLst xmlns:a="http://schemas.openxmlformats.org/drawingml/2006/main">
              <a:ext uri="{FF2B5EF4-FFF2-40B4-BE49-F238E27FC236}">
                <a16:creationId xmlns:a16="http://schemas.microsoft.com/office/drawing/2014/main" id="{CC497960-5D6A-401D-938B-E77E37B954DF}"/>
              </a:ext>
            </a:extLst>
          </p:cNvPr>
          <p:cNvSpPr>
            <a:spLocks xmlns:a="http://schemas.openxmlformats.org/drawingml/2006/main" noGrp="1"/>
          </p:cNvSpPr>
          <p:nvPr/>
        </p:nvSpPr>
        <p:spPr>
          <a:xfrm xmlns:a="http://schemas.openxmlformats.org/drawingml/2006/main">
            <a:off x="685800" y="16764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233A70"/>
                </a:solidFill>
                <a:latin typeface="Arial"/>
                <a:ea typeface="Arial"/>
                <a:cs typeface="Arial"/>
              </a:defRPr>
            </a:pPr>
            <a:r>
              <a:rPr sz="1350" b="1">
                <a:solidFill>
                  <a:srgbClr val="233A70"/>
                </a:solidFill>
                <a:latin typeface="Arial"/>
                <a:ea typeface="Arial"/>
                <a:cs typeface="Arial"/>
              </a:rPr>
              <a:t>01</a:t>
            </a:r>
          </a:p>
        </p:txBody>
      </p:sp>
      <p:sp>
        <p:nvSpPr>
          <p:cNvPr id="8" name="Rettangolo con angoli arrotondati 7">
            <a:extLst xmlns:a="http://schemas.openxmlformats.org/drawingml/2006/main">
              <a:ext uri="{FF2B5EF4-FFF2-40B4-BE49-F238E27FC236}">
                <a16:creationId xmlns:a16="http://schemas.microsoft.com/office/drawing/2014/main" id="{9D4C1FD3-F2E8-481B-B8A3-6FDAC352E8B5}"/>
              </a:ext>
            </a:extLst>
          </p:cNvPr>
          <p:cNvSpPr>
            <a:spLocks xmlns:a="http://schemas.openxmlformats.org/drawingml/2006/main" noGrp="1"/>
          </p:cNvSpPr>
          <p:nvPr/>
        </p:nvSpPr>
        <p:spPr>
          <a:xfrm xmlns:a="http://schemas.openxmlformats.org/drawingml/2006/main">
            <a:off x="685800" y="2076450"/>
            <a:ext cx="2190750" cy="1466850"/>
          </a:xfrm>
          <a:prstGeom xmlns:a="http://schemas.openxmlformats.org/drawingml/2006/main" prst="roundRect">
            <a:avLst>
              <a:gd name="adj" fmla="val 11688"/>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ttangolo 8">
            <a:extLst xmlns:a="http://schemas.openxmlformats.org/drawingml/2006/main">
              <a:ext uri="{FF2B5EF4-FFF2-40B4-BE49-F238E27FC236}">
                <a16:creationId xmlns:a16="http://schemas.microsoft.com/office/drawing/2014/main" id="{A4596393-8F9B-4AB8-B9FA-12DDC5FEB621}"/>
              </a:ext>
            </a:extLst>
          </p:cNvPr>
          <p:cNvSpPr>
            <a:spLocks xmlns:a="http://schemas.openxmlformats.org/drawingml/2006/main" noGrp="1"/>
          </p:cNvSpPr>
          <p:nvPr/>
        </p:nvSpPr>
        <p:spPr>
          <a:xfrm xmlns:a="http://schemas.openxmlformats.org/drawingml/2006/main">
            <a:off x="857250" y="232410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233A70"/>
                </a:solidFill>
                <a:latin typeface="Arial"/>
                <a:ea typeface="Arial"/>
                <a:cs typeface="Arial"/>
              </a:defRPr>
            </a:pPr>
            <a:r>
              <a:rPr sz="1800" b="1">
                <a:solidFill>
                  <a:srgbClr val="233A70"/>
                </a:solidFill>
                <a:latin typeface="Arial"/>
                <a:ea typeface="Arial"/>
                <a:cs typeface="Arial"/>
              </a:rPr>
              <a:t>AI outputs</a:t>
            </a:r>
          </a:p>
        </p:txBody>
      </p:sp>
      <p:sp>
        <p:nvSpPr>
          <p:cNvPr id="10" name="Rettangolo 9">
            <a:extLst xmlns:a="http://schemas.openxmlformats.org/drawingml/2006/main">
              <a:ext uri="{FF2B5EF4-FFF2-40B4-BE49-F238E27FC236}">
                <a16:creationId xmlns:a16="http://schemas.microsoft.com/office/drawing/2014/main" id="{7AA4D259-8252-49D2-AC66-8CEBF46905A6}"/>
              </a:ext>
            </a:extLst>
          </p:cNvPr>
          <p:cNvSpPr>
            <a:spLocks xmlns:a="http://schemas.openxmlformats.org/drawingml/2006/main" noGrp="1"/>
          </p:cNvSpPr>
          <p:nvPr/>
        </p:nvSpPr>
        <p:spPr>
          <a:xfrm xmlns:a="http://schemas.openxmlformats.org/drawingml/2006/main">
            <a:off x="857250" y="281940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0">
                <a:solidFill>
                  <a:srgbClr val="5B6577"/>
                </a:solidFill>
                <a:latin typeface="Arial"/>
                <a:ea typeface="Arial"/>
                <a:cs typeface="Arial"/>
              </a:defRPr>
            </a:pPr>
            <a:r>
              <a:rPr sz="1425" b="0">
                <a:solidFill>
                  <a:srgbClr val="5B6577"/>
                </a:solidFill>
                <a:latin typeface="Arial"/>
                <a:ea typeface="Arial"/>
                <a:cs typeface="Arial"/>
              </a:rPr>
              <a:t>tags · labels</a:t>
            </a:r>
          </a:p>
          <a:p xmlns:a="http://schemas.openxmlformats.org/drawingml/2006/main">
            <a:pPr algn="ctr">
              <a:buNone/>
              <a:defRPr sz="1425" b="0">
                <a:solidFill>
                  <a:srgbClr val="5B6577"/>
                </a:solidFill>
                <a:latin typeface="Arial"/>
                <a:ea typeface="Arial"/>
                <a:cs typeface="Arial"/>
              </a:defRPr>
            </a:pPr>
            <a:r>
              <a:rPr sz="1425" b="0">
                <a:solidFill>
                  <a:srgbClr val="5B6577"/>
                </a:solidFill>
                <a:latin typeface="Arial"/>
                <a:ea typeface="Arial"/>
                <a:cs typeface="Arial"/>
              </a:rPr>
              <a:t>semantic matches</a:t>
            </a:r>
          </a:p>
        </p:txBody>
      </p:sp>
      <p:sp>
        <p:nvSpPr>
          <p:cNvPr id="11" name="Rettangolo 10">
            <a:extLst xmlns:a="http://schemas.openxmlformats.org/drawingml/2006/main">
              <a:ext uri="{FF2B5EF4-FFF2-40B4-BE49-F238E27FC236}">
                <a16:creationId xmlns:a16="http://schemas.microsoft.com/office/drawing/2014/main" id="{B875C228-D2D2-4ED0-AE89-A0F4D270CE44}"/>
              </a:ext>
            </a:extLst>
          </p:cNvPr>
          <p:cNvSpPr>
            <a:spLocks xmlns:a="http://schemas.openxmlformats.org/drawingml/2006/main" noGrp="1"/>
          </p:cNvSpPr>
          <p:nvPr/>
        </p:nvSpPr>
        <p:spPr>
          <a:xfrm xmlns:a="http://schemas.openxmlformats.org/drawingml/2006/main">
            <a:off x="3467100" y="16764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233A70"/>
                </a:solidFill>
                <a:latin typeface="Arial"/>
                <a:ea typeface="Arial"/>
                <a:cs typeface="Arial"/>
              </a:defRPr>
            </a:pPr>
            <a:r>
              <a:rPr sz="1350" b="1">
                <a:solidFill>
                  <a:srgbClr val="233A70"/>
                </a:solidFill>
                <a:latin typeface="Arial"/>
                <a:ea typeface="Arial"/>
                <a:cs typeface="Arial"/>
              </a:rPr>
              <a:t>02</a:t>
            </a:r>
          </a:p>
        </p:txBody>
      </p:sp>
      <p:sp>
        <p:nvSpPr>
          <p:cNvPr id="12" name="Rettangolo con angoli arrotondati 11">
            <a:extLst xmlns:a="http://schemas.openxmlformats.org/drawingml/2006/main">
              <a:ext uri="{FF2B5EF4-FFF2-40B4-BE49-F238E27FC236}">
                <a16:creationId xmlns:a16="http://schemas.microsoft.com/office/drawing/2014/main" id="{F27AA906-E5AF-40DB-9F2E-5E5C26E8C25A}"/>
              </a:ext>
            </a:extLst>
          </p:cNvPr>
          <p:cNvSpPr>
            <a:spLocks xmlns:a="http://schemas.openxmlformats.org/drawingml/2006/main" noGrp="1"/>
          </p:cNvSpPr>
          <p:nvPr/>
        </p:nvSpPr>
        <p:spPr>
          <a:xfrm xmlns:a="http://schemas.openxmlformats.org/drawingml/2006/main">
            <a:off x="3467100" y="2076450"/>
            <a:ext cx="2190750" cy="1466850"/>
          </a:xfrm>
          <a:prstGeom xmlns:a="http://schemas.openxmlformats.org/drawingml/2006/main" prst="roundRect">
            <a:avLst>
              <a:gd name="adj" fmla="val 11688"/>
            </a:avLst>
          </a:prstGeom>
          <a:solidFill xmlns:a="http://schemas.openxmlformats.org/drawingml/2006/main">
            <a:srgbClr val="E9EEF8"/>
          </a:solidFill>
          <a:ln xmlns:a="http://schemas.openxmlformats.org/drawingml/2006/main" w="9525">
            <a:solidFill>
              <a:srgbClr val="E9EEF8"/>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Rettangolo 12">
            <a:extLst xmlns:a="http://schemas.openxmlformats.org/drawingml/2006/main">
              <a:ext uri="{FF2B5EF4-FFF2-40B4-BE49-F238E27FC236}">
                <a16:creationId xmlns:a16="http://schemas.microsoft.com/office/drawing/2014/main" id="{10A088F2-59B9-41DB-B22F-C8A142756290}"/>
              </a:ext>
            </a:extLst>
          </p:cNvPr>
          <p:cNvSpPr>
            <a:spLocks xmlns:a="http://schemas.openxmlformats.org/drawingml/2006/main" noGrp="1"/>
          </p:cNvSpPr>
          <p:nvPr/>
        </p:nvSpPr>
        <p:spPr>
          <a:xfrm xmlns:a="http://schemas.openxmlformats.org/drawingml/2006/main">
            <a:off x="3638550" y="232410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233A70"/>
                </a:solidFill>
                <a:latin typeface="Arial"/>
                <a:ea typeface="Arial"/>
                <a:cs typeface="Arial"/>
              </a:defRPr>
            </a:pPr>
            <a:r>
              <a:rPr sz="1800" b="1">
                <a:solidFill>
                  <a:srgbClr val="233A70"/>
                </a:solidFill>
                <a:latin typeface="Arial"/>
                <a:ea typeface="Arial"/>
                <a:cs typeface="Arial"/>
              </a:rPr>
              <a:t>Prioritized queue</a:t>
            </a:r>
          </a:p>
        </p:txBody>
      </p:sp>
      <p:sp>
        <p:nvSpPr>
          <p:cNvPr id="14" name="Rettangolo 13">
            <a:extLst xmlns:a="http://schemas.openxmlformats.org/drawingml/2006/main">
              <a:ext uri="{FF2B5EF4-FFF2-40B4-BE49-F238E27FC236}">
                <a16:creationId xmlns:a16="http://schemas.microsoft.com/office/drawing/2014/main" id="{27D139E3-0991-49D9-9C28-1A63AF4F9EAD}"/>
              </a:ext>
            </a:extLst>
          </p:cNvPr>
          <p:cNvSpPr>
            <a:spLocks xmlns:a="http://schemas.openxmlformats.org/drawingml/2006/main" noGrp="1"/>
          </p:cNvSpPr>
          <p:nvPr/>
        </p:nvSpPr>
        <p:spPr>
          <a:xfrm xmlns:a="http://schemas.openxmlformats.org/drawingml/2006/main">
            <a:off x="3638550" y="281940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0">
                <a:solidFill>
                  <a:srgbClr val="5B6577"/>
                </a:solidFill>
                <a:latin typeface="Arial"/>
                <a:ea typeface="Arial"/>
                <a:cs typeface="Arial"/>
              </a:defRPr>
            </a:pPr>
            <a:r>
              <a:rPr sz="1425" b="0">
                <a:solidFill>
                  <a:srgbClr val="5B6577"/>
                </a:solidFill>
                <a:latin typeface="Arial"/>
                <a:ea typeface="Arial"/>
                <a:cs typeface="Arial"/>
              </a:rPr>
              <a:t>workload</a:t>
            </a:r>
          </a:p>
          <a:p xmlns:a="http://schemas.openxmlformats.org/drawingml/2006/main">
            <a:pPr algn="ctr">
              <a:buNone/>
              <a:defRPr sz="1425" b="0">
                <a:solidFill>
                  <a:srgbClr val="5B6577"/>
                </a:solidFill>
                <a:latin typeface="Arial"/>
                <a:ea typeface="Arial"/>
                <a:cs typeface="Arial"/>
              </a:defRPr>
            </a:pPr>
            <a:r>
              <a:rPr sz="1425" b="0">
                <a:solidFill>
                  <a:srgbClr val="5B6577"/>
                </a:solidFill>
                <a:latin typeface="Arial"/>
                <a:ea typeface="Arial"/>
                <a:cs typeface="Arial"/>
              </a:rPr>
              <a:t>reduction</a:t>
            </a:r>
          </a:p>
        </p:txBody>
      </p:sp>
      <p:sp>
        <p:nvSpPr>
          <p:cNvPr id="15" name="Rettangolo 14">
            <a:extLst xmlns:a="http://schemas.openxmlformats.org/drawingml/2006/main">
              <a:ext uri="{FF2B5EF4-FFF2-40B4-BE49-F238E27FC236}">
                <a16:creationId xmlns:a16="http://schemas.microsoft.com/office/drawing/2014/main" id="{7F193325-1128-438B-B217-138A67DDF676}"/>
              </a:ext>
            </a:extLst>
          </p:cNvPr>
          <p:cNvSpPr>
            <a:spLocks xmlns:a="http://schemas.openxmlformats.org/drawingml/2006/main" noGrp="1"/>
          </p:cNvSpPr>
          <p:nvPr/>
        </p:nvSpPr>
        <p:spPr>
          <a:xfrm xmlns:a="http://schemas.openxmlformats.org/drawingml/2006/main">
            <a:off x="6248400" y="16764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087A50"/>
                </a:solidFill>
                <a:latin typeface="Arial"/>
                <a:ea typeface="Arial"/>
                <a:cs typeface="Arial"/>
              </a:defRPr>
            </a:pPr>
            <a:r>
              <a:rPr sz="1350" b="1">
                <a:solidFill>
                  <a:srgbClr val="087A50"/>
                </a:solidFill>
                <a:latin typeface="Arial"/>
                <a:ea typeface="Arial"/>
                <a:cs typeface="Arial"/>
              </a:rPr>
              <a:t>03</a:t>
            </a:r>
          </a:p>
        </p:txBody>
      </p:sp>
      <p:sp>
        <p:nvSpPr>
          <p:cNvPr id="16" name="Rettangolo con angoli arrotondati 15">
            <a:extLst xmlns:a="http://schemas.openxmlformats.org/drawingml/2006/main">
              <a:ext uri="{FF2B5EF4-FFF2-40B4-BE49-F238E27FC236}">
                <a16:creationId xmlns:a16="http://schemas.microsoft.com/office/drawing/2014/main" id="{E8C8212D-5123-48C7-8465-CE6674A3EAFA}"/>
              </a:ext>
            </a:extLst>
          </p:cNvPr>
          <p:cNvSpPr>
            <a:spLocks xmlns:a="http://schemas.openxmlformats.org/drawingml/2006/main" noGrp="1"/>
          </p:cNvSpPr>
          <p:nvPr/>
        </p:nvSpPr>
        <p:spPr>
          <a:xfrm xmlns:a="http://schemas.openxmlformats.org/drawingml/2006/main">
            <a:off x="6248400" y="2076450"/>
            <a:ext cx="2190750" cy="1466850"/>
          </a:xfrm>
          <a:prstGeom xmlns:a="http://schemas.openxmlformats.org/drawingml/2006/main" prst="roundRect">
            <a:avLst>
              <a:gd name="adj" fmla="val 11688"/>
            </a:avLst>
          </a:prstGeom>
          <a:solidFill xmlns:a="http://schemas.openxmlformats.org/drawingml/2006/main">
            <a:srgbClr val="E7F8F0"/>
          </a:solidFill>
          <a:ln xmlns:a="http://schemas.openxmlformats.org/drawingml/2006/main" w="9525">
            <a:solidFill>
              <a:srgbClr val="E7F8F0"/>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Rettangolo 16">
            <a:extLst xmlns:a="http://schemas.openxmlformats.org/drawingml/2006/main">
              <a:ext uri="{FF2B5EF4-FFF2-40B4-BE49-F238E27FC236}">
                <a16:creationId xmlns:a16="http://schemas.microsoft.com/office/drawing/2014/main" id="{688DB260-266F-461B-B69D-7D7802AF0D5C}"/>
              </a:ext>
            </a:extLst>
          </p:cNvPr>
          <p:cNvSpPr>
            <a:spLocks xmlns:a="http://schemas.openxmlformats.org/drawingml/2006/main" noGrp="1"/>
          </p:cNvSpPr>
          <p:nvPr/>
        </p:nvSpPr>
        <p:spPr>
          <a:xfrm xmlns:a="http://schemas.openxmlformats.org/drawingml/2006/main">
            <a:off x="6419850" y="232410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087A50"/>
                </a:solidFill>
                <a:latin typeface="Arial"/>
                <a:ea typeface="Arial"/>
                <a:cs typeface="Arial"/>
              </a:defRPr>
            </a:pPr>
            <a:r>
              <a:rPr sz="1800" b="1">
                <a:solidFill>
                  <a:srgbClr val="087A50"/>
                </a:solidFill>
                <a:latin typeface="Arial"/>
                <a:ea typeface="Arial"/>
                <a:cs typeface="Arial"/>
              </a:rPr>
              <a:t>Human review</a:t>
            </a:r>
          </a:p>
        </p:txBody>
      </p:sp>
      <p:sp>
        <p:nvSpPr>
          <p:cNvPr id="18" name="Rettangolo 17">
            <a:extLst xmlns:a="http://schemas.openxmlformats.org/drawingml/2006/main">
              <a:ext uri="{FF2B5EF4-FFF2-40B4-BE49-F238E27FC236}">
                <a16:creationId xmlns:a16="http://schemas.microsoft.com/office/drawing/2014/main" id="{0D32C62D-AD61-47FC-9DF3-3D1D755CC850}"/>
              </a:ext>
            </a:extLst>
          </p:cNvPr>
          <p:cNvSpPr>
            <a:spLocks xmlns:a="http://schemas.openxmlformats.org/drawingml/2006/main" noGrp="1"/>
          </p:cNvSpPr>
          <p:nvPr/>
        </p:nvSpPr>
        <p:spPr>
          <a:xfrm xmlns:a="http://schemas.openxmlformats.org/drawingml/2006/main">
            <a:off x="6419850" y="281940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0">
                <a:solidFill>
                  <a:srgbClr val="5B6577"/>
                </a:solidFill>
                <a:latin typeface="Arial"/>
                <a:ea typeface="Arial"/>
                <a:cs typeface="Arial"/>
              </a:defRPr>
            </a:pPr>
            <a:r>
              <a:rPr sz="1425" b="0">
                <a:solidFill>
                  <a:srgbClr val="5B6577"/>
                </a:solidFill>
                <a:latin typeface="Arial"/>
                <a:ea typeface="Arial"/>
                <a:cs typeface="Arial"/>
              </a:rPr>
              <a:t>contextual</a:t>
            </a:r>
          </a:p>
          <a:p xmlns:a="http://schemas.openxmlformats.org/drawingml/2006/main">
            <a:pPr algn="ctr">
              <a:buNone/>
              <a:defRPr sz="1425" b="0">
                <a:solidFill>
                  <a:srgbClr val="5B6577"/>
                </a:solidFill>
                <a:latin typeface="Arial"/>
                <a:ea typeface="Arial"/>
                <a:cs typeface="Arial"/>
              </a:defRPr>
            </a:pPr>
            <a:r>
              <a:rPr sz="1425" b="0">
                <a:solidFill>
                  <a:srgbClr val="5B6577"/>
                </a:solidFill>
                <a:latin typeface="Arial"/>
                <a:ea typeface="Arial"/>
                <a:cs typeface="Arial"/>
              </a:rPr>
              <a:t>validation</a:t>
            </a:r>
          </a:p>
        </p:txBody>
      </p:sp>
      <p:sp>
        <p:nvSpPr>
          <p:cNvPr id="19" name="Rettangolo 18">
            <a:extLst xmlns:a="http://schemas.openxmlformats.org/drawingml/2006/main">
              <a:ext uri="{FF2B5EF4-FFF2-40B4-BE49-F238E27FC236}">
                <a16:creationId xmlns:a16="http://schemas.microsoft.com/office/drawing/2014/main" id="{9D03034B-8F88-418E-9635-E3411B5DDEBC}"/>
              </a:ext>
            </a:extLst>
          </p:cNvPr>
          <p:cNvSpPr>
            <a:spLocks xmlns:a="http://schemas.openxmlformats.org/drawingml/2006/main" noGrp="1"/>
          </p:cNvSpPr>
          <p:nvPr/>
        </p:nvSpPr>
        <p:spPr>
          <a:xfrm xmlns:a="http://schemas.openxmlformats.org/drawingml/2006/main">
            <a:off x="9029700" y="16764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233A70"/>
                </a:solidFill>
                <a:latin typeface="Arial"/>
                <a:ea typeface="Arial"/>
                <a:cs typeface="Arial"/>
              </a:defRPr>
            </a:pPr>
            <a:r>
              <a:rPr sz="1350" b="1">
                <a:solidFill>
                  <a:srgbClr val="233A70"/>
                </a:solidFill>
                <a:latin typeface="Arial"/>
                <a:ea typeface="Arial"/>
                <a:cs typeface="Arial"/>
              </a:rPr>
              <a:t>04</a:t>
            </a:r>
          </a:p>
        </p:txBody>
      </p:sp>
      <p:sp>
        <p:nvSpPr>
          <p:cNvPr id="20" name="Rettangolo con angoli arrotondati 19">
            <a:extLst xmlns:a="http://schemas.openxmlformats.org/drawingml/2006/main">
              <a:ext uri="{FF2B5EF4-FFF2-40B4-BE49-F238E27FC236}">
                <a16:creationId xmlns:a16="http://schemas.microsoft.com/office/drawing/2014/main" id="{0A7F9A2F-8B4C-4A62-8D51-C8AC9213FEC9}"/>
              </a:ext>
            </a:extLst>
          </p:cNvPr>
          <p:cNvSpPr>
            <a:spLocks xmlns:a="http://schemas.openxmlformats.org/drawingml/2006/main" noGrp="1"/>
          </p:cNvSpPr>
          <p:nvPr/>
        </p:nvSpPr>
        <p:spPr>
          <a:xfrm xmlns:a="http://schemas.openxmlformats.org/drawingml/2006/main">
            <a:off x="9029700" y="2076450"/>
            <a:ext cx="2190750" cy="1466850"/>
          </a:xfrm>
          <a:prstGeom xmlns:a="http://schemas.openxmlformats.org/drawingml/2006/main" prst="roundRect">
            <a:avLst>
              <a:gd name="adj" fmla="val 11688"/>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Rettangolo 20">
            <a:extLst xmlns:a="http://schemas.openxmlformats.org/drawingml/2006/main">
              <a:ext uri="{FF2B5EF4-FFF2-40B4-BE49-F238E27FC236}">
                <a16:creationId xmlns:a16="http://schemas.microsoft.com/office/drawing/2014/main" id="{DC68B587-3821-4278-A721-BE8076578B8C}"/>
              </a:ext>
            </a:extLst>
          </p:cNvPr>
          <p:cNvSpPr>
            <a:spLocks xmlns:a="http://schemas.openxmlformats.org/drawingml/2006/main" noGrp="1"/>
          </p:cNvSpPr>
          <p:nvPr/>
        </p:nvSpPr>
        <p:spPr>
          <a:xfrm xmlns:a="http://schemas.openxmlformats.org/drawingml/2006/main">
            <a:off x="9201150" y="232410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233A70"/>
                </a:solidFill>
                <a:latin typeface="Arial"/>
                <a:ea typeface="Arial"/>
                <a:cs typeface="Arial"/>
              </a:defRPr>
            </a:pPr>
            <a:r>
              <a:rPr sz="1800" b="1">
                <a:solidFill>
                  <a:srgbClr val="233A70"/>
                </a:solidFill>
                <a:latin typeface="Arial"/>
                <a:ea typeface="Arial"/>
                <a:cs typeface="Arial"/>
              </a:rPr>
              <a:t>Documented action</a:t>
            </a:r>
          </a:p>
        </p:txBody>
      </p:sp>
      <p:sp>
        <p:nvSpPr>
          <p:cNvPr id="22" name="Rettangolo 21">
            <a:extLst xmlns:a="http://schemas.openxmlformats.org/drawingml/2006/main">
              <a:ext uri="{FF2B5EF4-FFF2-40B4-BE49-F238E27FC236}">
                <a16:creationId xmlns:a16="http://schemas.microsoft.com/office/drawing/2014/main" id="{F2ED8D5E-2422-4B92-867E-DD3CA4ACD7CB}"/>
              </a:ext>
            </a:extLst>
          </p:cNvPr>
          <p:cNvSpPr>
            <a:spLocks xmlns:a="http://schemas.openxmlformats.org/drawingml/2006/main" noGrp="1"/>
          </p:cNvSpPr>
          <p:nvPr/>
        </p:nvSpPr>
        <p:spPr>
          <a:xfrm xmlns:a="http://schemas.openxmlformats.org/drawingml/2006/main">
            <a:off x="9201150" y="281940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0">
                <a:solidFill>
                  <a:srgbClr val="5B6577"/>
                </a:solidFill>
                <a:latin typeface="Arial"/>
                <a:ea typeface="Arial"/>
                <a:cs typeface="Arial"/>
              </a:defRPr>
            </a:pPr>
            <a:r>
              <a:rPr sz="1425" b="0">
                <a:solidFill>
                  <a:srgbClr val="5B6577"/>
                </a:solidFill>
                <a:latin typeface="Arial"/>
                <a:ea typeface="Arial"/>
                <a:cs typeface="Arial"/>
              </a:rPr>
              <a:t>defensible</a:t>
            </a:r>
          </a:p>
          <a:p xmlns:a="http://schemas.openxmlformats.org/drawingml/2006/main">
            <a:pPr algn="ctr">
              <a:buNone/>
              <a:defRPr sz="1425" b="0">
                <a:solidFill>
                  <a:srgbClr val="5B6577"/>
                </a:solidFill>
                <a:latin typeface="Arial"/>
                <a:ea typeface="Arial"/>
                <a:cs typeface="Arial"/>
              </a:defRPr>
            </a:pPr>
            <a:r>
              <a:rPr sz="1425" b="0">
                <a:solidFill>
                  <a:srgbClr val="5B6577"/>
                </a:solidFill>
                <a:latin typeface="Arial"/>
                <a:ea typeface="Arial"/>
                <a:cs typeface="Arial"/>
              </a:rPr>
              <a:t>forensic workflow</a:t>
            </a:r>
          </a:p>
        </p:txBody>
      </p:sp>
      <p:sp>
        <p:nvSpPr>
          <p:cNvPr id="23" name="Rettangolo 22">
            <a:extLst xmlns:a="http://schemas.openxmlformats.org/drawingml/2006/main">
              <a:ext uri="{FF2B5EF4-FFF2-40B4-BE49-F238E27FC236}">
                <a16:creationId xmlns:a16="http://schemas.microsoft.com/office/drawing/2014/main" id="{04339118-F714-4CF4-9531-D2EFDA073425}"/>
              </a:ext>
            </a:extLst>
          </p:cNvPr>
          <p:cNvSpPr>
            <a:spLocks xmlns:a="http://schemas.openxmlformats.org/drawingml/2006/main" noGrp="1"/>
          </p:cNvSpPr>
          <p:nvPr/>
        </p:nvSpPr>
        <p:spPr>
          <a:xfrm xmlns:a="http://schemas.openxmlformats.org/drawingml/2006/main">
            <a:off x="685800" y="4095750"/>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233A70"/>
                </a:solidFill>
                <a:latin typeface="Arial"/>
                <a:ea typeface="Arial"/>
                <a:cs typeface="Arial"/>
              </a:defRPr>
            </a:pPr>
            <a:r>
              <a:rPr sz="1350" b="1">
                <a:solidFill>
                  <a:srgbClr val="233A70"/>
                </a:solidFill>
                <a:latin typeface="Arial"/>
                <a:ea typeface="Arial"/>
                <a:cs typeface="Arial"/>
              </a:rPr>
              <a:t>TRACE EVERY DECISION</a:t>
            </a:r>
          </a:p>
        </p:txBody>
      </p:sp>
      <p:sp>
        <p:nvSpPr>
          <p:cNvPr id="24" name="Rettangolo 23">
            <a:extLst xmlns:a="http://schemas.openxmlformats.org/drawingml/2006/main">
              <a:ext uri="{FF2B5EF4-FFF2-40B4-BE49-F238E27FC236}">
                <a16:creationId xmlns:a16="http://schemas.microsoft.com/office/drawing/2014/main" id="{6DE606BC-E4EE-43D8-A10A-D6AF9A28A5DE}"/>
              </a:ext>
            </a:extLst>
          </p:cNvPr>
          <p:cNvSpPr>
            <a:spLocks xmlns:a="http://schemas.openxmlformats.org/drawingml/2006/main" noGrp="1"/>
          </p:cNvSpPr>
          <p:nvPr/>
        </p:nvSpPr>
        <p:spPr>
          <a:xfrm xmlns:a="http://schemas.openxmlformats.org/drawingml/2006/main">
            <a:off x="838200" y="45339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172033"/>
                </a:solidFill>
                <a:latin typeface="Arial"/>
                <a:ea typeface="Arial"/>
                <a:cs typeface="Arial"/>
              </a:defRPr>
            </a:pPr>
            <a:r>
              <a:rPr sz="1575" b="1">
                <a:solidFill>
                  <a:srgbClr val="172033"/>
                </a:solidFill>
                <a:latin typeface="Arial"/>
                <a:ea typeface="Arial"/>
                <a:cs typeface="Arial"/>
              </a:rPr>
              <a:t>tool version</a:t>
            </a:r>
          </a:p>
        </p:txBody>
      </p:sp>
      <p:sp>
        <p:nvSpPr>
          <p:cNvPr id="25" name="Rettangolo 24">
            <a:extLst xmlns:a="http://schemas.openxmlformats.org/drawingml/2006/main">
              <a:ext uri="{FF2B5EF4-FFF2-40B4-BE49-F238E27FC236}">
                <a16:creationId xmlns:a16="http://schemas.microsoft.com/office/drawing/2014/main" id="{E60E196D-BF02-4A60-AA11-C25A1BD1FBCA}"/>
              </a:ext>
            </a:extLst>
          </p:cNvPr>
          <p:cNvSpPr>
            <a:spLocks xmlns:a="http://schemas.openxmlformats.org/drawingml/2006/main" noGrp="1"/>
          </p:cNvSpPr>
          <p:nvPr/>
        </p:nvSpPr>
        <p:spPr>
          <a:xfrm xmlns:a="http://schemas.openxmlformats.org/drawingml/2006/main">
            <a:off x="3333750" y="4533900"/>
            <a:ext cx="19050" cy="400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6" name="Rettangolo 25">
            <a:extLst xmlns:a="http://schemas.openxmlformats.org/drawingml/2006/main">
              <a:ext uri="{FF2B5EF4-FFF2-40B4-BE49-F238E27FC236}">
                <a16:creationId xmlns:a16="http://schemas.microsoft.com/office/drawing/2014/main" id="{03F90BFD-8FC5-496D-B2BD-090EFE986347}"/>
              </a:ext>
            </a:extLst>
          </p:cNvPr>
          <p:cNvSpPr>
            <a:spLocks xmlns:a="http://schemas.openxmlformats.org/drawingml/2006/main" noGrp="1"/>
          </p:cNvSpPr>
          <p:nvPr/>
        </p:nvSpPr>
        <p:spPr>
          <a:xfrm xmlns:a="http://schemas.openxmlformats.org/drawingml/2006/main">
            <a:off x="3543300" y="45339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172033"/>
                </a:solidFill>
                <a:latin typeface="Arial"/>
                <a:ea typeface="Arial"/>
                <a:cs typeface="Arial"/>
              </a:defRPr>
            </a:pPr>
            <a:r>
              <a:rPr sz="1575" b="1">
                <a:solidFill>
                  <a:srgbClr val="172033"/>
                </a:solidFill>
                <a:latin typeface="Arial"/>
                <a:ea typeface="Arial"/>
                <a:cs typeface="Arial"/>
              </a:rPr>
              <a:t>configuration</a:t>
            </a:r>
          </a:p>
        </p:txBody>
      </p:sp>
      <p:sp>
        <p:nvSpPr>
          <p:cNvPr id="27" name="Rettangolo 26">
            <a:extLst xmlns:a="http://schemas.openxmlformats.org/drawingml/2006/main">
              <a:ext uri="{FF2B5EF4-FFF2-40B4-BE49-F238E27FC236}">
                <a16:creationId xmlns:a16="http://schemas.microsoft.com/office/drawing/2014/main" id="{B2B38D1D-5BC1-489F-8CEC-BF5FD0E6DF1A}"/>
              </a:ext>
            </a:extLst>
          </p:cNvPr>
          <p:cNvSpPr>
            <a:spLocks xmlns:a="http://schemas.openxmlformats.org/drawingml/2006/main" noGrp="1"/>
          </p:cNvSpPr>
          <p:nvPr/>
        </p:nvSpPr>
        <p:spPr>
          <a:xfrm xmlns:a="http://schemas.openxmlformats.org/drawingml/2006/main">
            <a:off x="6038850" y="4533900"/>
            <a:ext cx="19050" cy="400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8" name="Rettangolo 27">
            <a:extLst xmlns:a="http://schemas.openxmlformats.org/drawingml/2006/main">
              <a:ext uri="{FF2B5EF4-FFF2-40B4-BE49-F238E27FC236}">
                <a16:creationId xmlns:a16="http://schemas.microsoft.com/office/drawing/2014/main" id="{8CBE62AC-4860-455E-BD3B-688579D32233}"/>
              </a:ext>
            </a:extLst>
          </p:cNvPr>
          <p:cNvSpPr>
            <a:spLocks xmlns:a="http://schemas.openxmlformats.org/drawingml/2006/main" noGrp="1"/>
          </p:cNvSpPr>
          <p:nvPr/>
        </p:nvSpPr>
        <p:spPr>
          <a:xfrm xmlns:a="http://schemas.openxmlformats.org/drawingml/2006/main">
            <a:off x="6248400" y="45339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172033"/>
                </a:solidFill>
                <a:latin typeface="Arial"/>
                <a:ea typeface="Arial"/>
                <a:cs typeface="Arial"/>
              </a:defRPr>
            </a:pPr>
            <a:r>
              <a:rPr sz="1575" b="1">
                <a:solidFill>
                  <a:srgbClr val="172033"/>
                </a:solidFill>
                <a:latin typeface="Arial"/>
                <a:ea typeface="Arial"/>
                <a:cs typeface="Arial"/>
              </a:rPr>
              <a:t>output mapping</a:t>
            </a:r>
          </a:p>
        </p:txBody>
      </p:sp>
      <p:sp>
        <p:nvSpPr>
          <p:cNvPr id="29" name="Rettangolo 28">
            <a:extLst xmlns:a="http://schemas.openxmlformats.org/drawingml/2006/main">
              <a:ext uri="{FF2B5EF4-FFF2-40B4-BE49-F238E27FC236}">
                <a16:creationId xmlns:a16="http://schemas.microsoft.com/office/drawing/2014/main" id="{DAD0FA6E-44BA-4057-A6E5-205E1EA40B06}"/>
              </a:ext>
            </a:extLst>
          </p:cNvPr>
          <p:cNvSpPr>
            <a:spLocks xmlns:a="http://schemas.openxmlformats.org/drawingml/2006/main" noGrp="1"/>
          </p:cNvSpPr>
          <p:nvPr/>
        </p:nvSpPr>
        <p:spPr>
          <a:xfrm xmlns:a="http://schemas.openxmlformats.org/drawingml/2006/main">
            <a:off x="8743950" y="4533900"/>
            <a:ext cx="19050" cy="400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0" name="Rettangolo 29">
            <a:extLst xmlns:a="http://schemas.openxmlformats.org/drawingml/2006/main">
              <a:ext uri="{FF2B5EF4-FFF2-40B4-BE49-F238E27FC236}">
                <a16:creationId xmlns:a16="http://schemas.microsoft.com/office/drawing/2014/main" id="{EB7B099E-18FB-4F61-A001-312CD23DFDB3}"/>
              </a:ext>
            </a:extLst>
          </p:cNvPr>
          <p:cNvSpPr>
            <a:spLocks xmlns:a="http://schemas.openxmlformats.org/drawingml/2006/main" noGrp="1"/>
          </p:cNvSpPr>
          <p:nvPr/>
        </p:nvSpPr>
        <p:spPr>
          <a:xfrm xmlns:a="http://schemas.openxmlformats.org/drawingml/2006/main">
            <a:off x="8953500" y="45339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172033"/>
                </a:solidFill>
                <a:latin typeface="Arial"/>
                <a:ea typeface="Arial"/>
                <a:cs typeface="Arial"/>
              </a:defRPr>
            </a:pPr>
            <a:r>
              <a:rPr sz="1575" b="1">
                <a:solidFill>
                  <a:srgbClr val="172033"/>
                </a:solidFill>
                <a:latin typeface="Arial"/>
                <a:ea typeface="Arial"/>
                <a:cs typeface="Arial"/>
              </a:rPr>
              <a:t>validation context</a:t>
            </a:r>
          </a:p>
        </p:txBody>
      </p:sp>
      <p:sp>
        <p:nvSpPr>
          <p:cNvPr id="31" name="Rettangolo con angoli arrotondati 30">
            <a:extLst xmlns:a="http://schemas.openxmlformats.org/drawingml/2006/main">
              <a:ext uri="{FF2B5EF4-FFF2-40B4-BE49-F238E27FC236}">
                <a16:creationId xmlns:a16="http://schemas.microsoft.com/office/drawing/2014/main" id="{61341085-EF38-4412-9246-C812DAAA179E}"/>
              </a:ext>
            </a:extLst>
          </p:cNvPr>
          <p:cNvSpPr>
            <a:spLocks xmlns:a="http://schemas.openxmlformats.org/drawingml/2006/main" noGrp="1"/>
          </p:cNvSpPr>
          <p:nvPr/>
        </p:nvSpPr>
        <p:spPr>
          <a:xfrm xmlns:a="http://schemas.openxmlformats.org/drawingml/2006/main">
            <a:off x="1123950" y="5391150"/>
            <a:ext cx="9944100" cy="723900"/>
          </a:xfrm>
          <a:prstGeom xmlns:a="http://schemas.openxmlformats.org/drawingml/2006/main" prst="roundRect">
            <a:avLst>
              <a:gd name="adj" fmla="val 21053"/>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2" name="Rettangolo 31">
            <a:extLst xmlns:a="http://schemas.openxmlformats.org/drawingml/2006/main">
              <a:ext uri="{FF2B5EF4-FFF2-40B4-BE49-F238E27FC236}">
                <a16:creationId xmlns:a16="http://schemas.microsoft.com/office/drawing/2014/main" id="{C6444606-31CF-4954-A94E-256FA6870834}"/>
              </a:ext>
            </a:extLst>
          </p:cNvPr>
          <p:cNvSpPr>
            <a:spLocks xmlns:a="http://schemas.openxmlformats.org/drawingml/2006/main" noGrp="1"/>
          </p:cNvSpPr>
          <p:nvPr/>
        </p:nvSpPr>
        <p:spPr>
          <a:xfrm xmlns:a="http://schemas.openxmlformats.org/drawingml/2006/main">
            <a:off x="1466850" y="5581650"/>
            <a:ext cx="9258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25" b="1">
                <a:solidFill>
                  <a:srgbClr val="FFFFFF"/>
                </a:solidFill>
                <a:latin typeface="Arial"/>
                <a:ea typeface="Arial"/>
                <a:cs typeface="Arial"/>
              </a:defRPr>
            </a:pPr>
            <a:r>
              <a:rPr sz="2025" b="1">
                <a:solidFill>
                  <a:srgbClr val="FFFFFF"/>
                </a:solidFill>
                <a:latin typeface="Arial"/>
                <a:ea typeface="Arial"/>
                <a:cs typeface="Arial"/>
              </a:rPr>
              <a:t>Use AI to prioritize evidence review—never to silently exclude it.</a:t>
            </a:r>
          </a:p>
        </p:txBody>
      </p:sp>
    </p:spTree>
    <p:extLst>
      <p:ext uri="{BB962C8B-B14F-4D97-AF65-F5344CB8AC3E}">
        <p14:creationId xmlns:p14="http://schemas.microsoft.com/office/powerpoint/2010/main" val="1400809082"/>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1" name="Rettangolo 30">
            <a:extLst xmlns:a="http://schemas.openxmlformats.org/drawingml/2006/main">
              <a:ext uri="{FF2B5EF4-FFF2-40B4-BE49-F238E27FC236}">
                <a16:creationId xmlns:a16="http://schemas.microsoft.com/office/drawing/2014/main" id="{450EE9F5-CABF-434E-8232-BDF46C2B08C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FEC59691-266B-4DB0-8057-0406222D320A}"/>
              </a:ext>
            </a:extLst>
          </p:cNvPr>
          <p:cNvSpPr>
            <a:spLocks xmlns:a="http://schemas.openxmlformats.org/drawingml/2006/main" noGrp="1"/>
          </p:cNvSpPr>
          <p:nvPr/>
        </p:nvSpPr>
        <p:spPr>
          <a:xfrm xmlns:a="http://schemas.openxmlformats.org/drawingml/2006/main">
            <a:off x="685800" y="7048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Claim boundaries keep the result defensible</a:t>
            </a:r>
          </a:p>
        </p:txBody>
      </p:sp>
      <p:sp>
        <p:nvSpPr>
          <p:cNvPr id="3" name="Rettangolo 2">
            <a:extLst xmlns:a="http://schemas.openxmlformats.org/drawingml/2006/main">
              <a:ext uri="{FF2B5EF4-FFF2-40B4-BE49-F238E27FC236}">
                <a16:creationId xmlns:a16="http://schemas.microsoft.com/office/drawing/2014/main" id="{79089BD1-B305-48BE-BA26-09870B601124}"/>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42C6706B-ACDF-4666-A54A-86FD9DBD5392}"/>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0D079A16-C2FC-4182-B67E-51370D40AE49}"/>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13</a:t>
            </a:r>
          </a:p>
        </p:txBody>
      </p:sp>
      <p:sp>
        <p:nvSpPr>
          <p:cNvPr id="6" name="Rettangolo con angoli arrotondati 5">
            <a:extLst xmlns:a="http://schemas.openxmlformats.org/drawingml/2006/main">
              <a:ext uri="{FF2B5EF4-FFF2-40B4-BE49-F238E27FC236}">
                <a16:creationId xmlns:a16="http://schemas.microsoft.com/office/drawing/2014/main" id="{A958CF67-914D-4A36-B2C0-CBFE18A07BAD}"/>
              </a:ext>
            </a:extLst>
          </p:cNvPr>
          <p:cNvSpPr>
            <a:spLocks xmlns:a="http://schemas.openxmlformats.org/drawingml/2006/main" noGrp="1"/>
          </p:cNvSpPr>
          <p:nvPr/>
        </p:nvSpPr>
        <p:spPr>
          <a:xfrm xmlns:a="http://schemas.openxmlformats.org/drawingml/2006/main">
            <a:off x="685800" y="1581150"/>
            <a:ext cx="4095750" cy="4171950"/>
          </a:xfrm>
          <a:prstGeom xmlns:a="http://schemas.openxmlformats.org/drawingml/2006/main" prst="roundRect">
            <a:avLst>
              <a:gd name="adj" fmla="val 4651"/>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6">
            <a:extLst xmlns:a="http://schemas.openxmlformats.org/drawingml/2006/main">
              <a:ext uri="{FF2B5EF4-FFF2-40B4-BE49-F238E27FC236}">
                <a16:creationId xmlns:a16="http://schemas.microsoft.com/office/drawing/2014/main" id="{E5DDE80D-F491-4EDB-A777-AC5174C65059}"/>
              </a:ext>
            </a:extLst>
          </p:cNvPr>
          <p:cNvSpPr>
            <a:spLocks xmlns:a="http://schemas.openxmlformats.org/drawingml/2006/main" noGrp="1"/>
          </p:cNvSpPr>
          <p:nvPr/>
        </p:nvSpPr>
        <p:spPr>
          <a:xfrm xmlns:a="http://schemas.openxmlformats.org/drawingml/2006/main">
            <a:off x="971550" y="1847850"/>
            <a:ext cx="3524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14B978"/>
                </a:solidFill>
                <a:latin typeface="Arial"/>
                <a:ea typeface="Arial"/>
                <a:cs typeface="Arial"/>
              </a:defRPr>
            </a:pPr>
            <a:r>
              <a:rPr sz="1350" b="1">
                <a:solidFill>
                  <a:srgbClr val="14B978"/>
                </a:solidFill>
                <a:latin typeface="Arial"/>
                <a:ea typeface="Arial"/>
                <a:cs typeface="Arial"/>
              </a:rPr>
              <a:t>METADATA SENSITIVITY</a:t>
            </a:r>
          </a:p>
        </p:txBody>
      </p:sp>
      <p:sp>
        <p:nvSpPr>
          <p:cNvPr id="8" name="Rettangolo 7">
            <a:extLst xmlns:a="http://schemas.openxmlformats.org/drawingml/2006/main">
              <a:ext uri="{FF2B5EF4-FFF2-40B4-BE49-F238E27FC236}">
                <a16:creationId xmlns:a16="http://schemas.microsoft.com/office/drawing/2014/main" id="{9CE8CE40-2313-4751-AC3A-75251D60271B}"/>
              </a:ext>
            </a:extLst>
          </p:cNvPr>
          <p:cNvSpPr>
            <a:spLocks xmlns:a="http://schemas.openxmlformats.org/drawingml/2006/main" noGrp="1"/>
          </p:cNvSpPr>
          <p:nvPr/>
        </p:nvSpPr>
        <p:spPr>
          <a:xfrm xmlns:a="http://schemas.openxmlformats.org/drawingml/2006/main">
            <a:off x="971550" y="2286000"/>
            <a:ext cx="352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4200" b="1">
                <a:solidFill>
                  <a:srgbClr val="FFFFFF"/>
                </a:solidFill>
                <a:latin typeface="Arial"/>
                <a:ea typeface="Arial"/>
                <a:cs typeface="Arial"/>
              </a:defRPr>
            </a:pPr>
            <a:r>
              <a:rPr sz="4200" b="1">
                <a:solidFill>
                  <a:srgbClr val="FFFFFF"/>
                </a:solidFill>
                <a:latin typeface="Arial"/>
                <a:ea typeface="Arial"/>
                <a:cs typeface="Arial"/>
              </a:rPr>
              <a:t>15</a:t>
            </a:r>
          </a:p>
        </p:txBody>
      </p:sp>
      <p:sp>
        <p:nvSpPr>
          <p:cNvPr id="9" name="Rettangolo 8">
            <a:extLst xmlns:a="http://schemas.openxmlformats.org/drawingml/2006/main">
              <a:ext uri="{FF2B5EF4-FFF2-40B4-BE49-F238E27FC236}">
                <a16:creationId xmlns:a16="http://schemas.microsoft.com/office/drawing/2014/main" id="{32443789-E78D-482B-9842-1CE14508CB7C}"/>
              </a:ext>
            </a:extLst>
          </p:cNvPr>
          <p:cNvSpPr>
            <a:spLocks xmlns:a="http://schemas.openxmlformats.org/drawingml/2006/main" noGrp="1"/>
          </p:cNvSpPr>
          <p:nvPr/>
        </p:nvSpPr>
        <p:spPr>
          <a:xfrm xmlns:a="http://schemas.openxmlformats.org/drawingml/2006/main">
            <a:off x="971550" y="2952750"/>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of 11,500 files</a:t>
            </a:r>
          </a:p>
        </p:txBody>
      </p:sp>
      <p:sp>
        <p:nvSpPr>
          <p:cNvPr id="10" name="Rettangolo 9">
            <a:extLst xmlns:a="http://schemas.openxmlformats.org/drawingml/2006/main">
              <a:ext uri="{FF2B5EF4-FFF2-40B4-BE49-F238E27FC236}">
                <a16:creationId xmlns:a16="http://schemas.microsoft.com/office/drawing/2014/main" id="{68FF4B46-61D2-46B2-A3F1-741BE38718F5}"/>
              </a:ext>
            </a:extLst>
          </p:cNvPr>
          <p:cNvSpPr>
            <a:spLocks xmlns:a="http://schemas.openxmlformats.org/drawingml/2006/main" noGrp="1"/>
          </p:cNvSpPr>
          <p:nvPr/>
        </p:nvSpPr>
        <p:spPr>
          <a:xfrm xmlns:a="http://schemas.openxmlformats.org/drawingml/2006/main">
            <a:off x="1066800" y="33909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0">
                <a:solidFill>
                  <a:srgbClr val="DCE4F3"/>
                </a:solidFill>
                <a:latin typeface="Arial"/>
                <a:ea typeface="Arial"/>
                <a:cs typeface="Arial"/>
              </a:defRPr>
            </a:pPr>
            <a:r>
              <a:rPr sz="1425" b="0">
                <a:solidFill>
                  <a:srgbClr val="DCE4F3"/>
                </a:solidFill>
                <a:latin typeface="Arial"/>
                <a:ea typeface="Arial"/>
                <a:cs typeface="Arial"/>
              </a:rPr>
              <a:t>matched a predefined sensitive metadata term</a:t>
            </a:r>
          </a:p>
        </p:txBody>
      </p:sp>
      <p:sp>
        <p:nvSpPr>
          <p:cNvPr id="11" name="Rettangolo 10">
            <a:extLst xmlns:a="http://schemas.openxmlformats.org/drawingml/2006/main">
              <a:ext uri="{FF2B5EF4-FFF2-40B4-BE49-F238E27FC236}">
                <a16:creationId xmlns:a16="http://schemas.microsoft.com/office/drawing/2014/main" id="{1C420481-7C8E-4DDB-BC91-67D78A171A6C}"/>
              </a:ext>
            </a:extLst>
          </p:cNvPr>
          <p:cNvSpPr>
            <a:spLocks xmlns:a="http://schemas.openxmlformats.org/drawingml/2006/main" noGrp="1"/>
          </p:cNvSpPr>
          <p:nvPr/>
        </p:nvSpPr>
        <p:spPr>
          <a:xfrm xmlns:a="http://schemas.openxmlformats.org/drawingml/2006/main">
            <a:off x="1257300" y="4133850"/>
            <a:ext cx="2952750" cy="19050"/>
          </a:xfrm>
          <a:prstGeom xmlns:a="http://schemas.openxmlformats.org/drawingml/2006/main" prst="rect">
            <a:avLst/>
          </a:prstGeom>
          <a:solidFill xmlns:a="http://schemas.openxmlformats.org/drawingml/2006/main">
            <a:srgbClr val="536A9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Rettangolo 11">
            <a:extLst xmlns:a="http://schemas.openxmlformats.org/drawingml/2006/main">
              <a:ext uri="{FF2B5EF4-FFF2-40B4-BE49-F238E27FC236}">
                <a16:creationId xmlns:a16="http://schemas.microsoft.com/office/drawing/2014/main" id="{F3249D90-455B-4447-9E26-B2ADC594CFFC}"/>
              </a:ext>
            </a:extLst>
          </p:cNvPr>
          <p:cNvSpPr>
            <a:spLocks xmlns:a="http://schemas.openxmlformats.org/drawingml/2006/main" noGrp="1"/>
          </p:cNvSpPr>
          <p:nvPr/>
        </p:nvSpPr>
        <p:spPr>
          <a:xfrm xmlns:a="http://schemas.openxmlformats.org/drawingml/2006/main">
            <a:off x="1066800" y="44196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Leave-out differences were small</a:t>
            </a:r>
          </a:p>
        </p:txBody>
      </p:sp>
      <p:sp>
        <p:nvSpPr>
          <p:cNvPr id="13" name="Rettangolo 12">
            <a:extLst xmlns:a="http://schemas.openxmlformats.org/drawingml/2006/main">
              <a:ext uri="{FF2B5EF4-FFF2-40B4-BE49-F238E27FC236}">
                <a16:creationId xmlns:a16="http://schemas.microsoft.com/office/drawing/2014/main" id="{A91E40B1-43F4-44AE-B4D8-392C565EFA1E}"/>
              </a:ext>
            </a:extLst>
          </p:cNvPr>
          <p:cNvSpPr>
            <a:spLocks xmlns:a="http://schemas.openxmlformats.org/drawingml/2006/main" noGrp="1"/>
          </p:cNvSpPr>
          <p:nvPr/>
        </p:nvSpPr>
        <p:spPr>
          <a:xfrm xmlns:a="http://schemas.openxmlformats.org/drawingml/2006/main">
            <a:off x="1066800" y="4953000"/>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350" b="0">
                <a:solidFill>
                  <a:srgbClr val="FFF4CD"/>
                </a:solidFill>
                <a:latin typeface="Arial"/>
                <a:ea typeface="Arial"/>
                <a:cs typeface="Arial"/>
              </a:defRPr>
            </a:pPr>
            <a:r>
              <a:rPr sz="1350" b="0">
                <a:solidFill>
                  <a:srgbClr val="FFF4CD"/>
                </a:solidFill>
                <a:latin typeface="Arial"/>
                <a:ea typeface="Arial"/>
                <a:cs typeface="Arial"/>
              </a:rPr>
              <a:t>This does not prove causal irrelevance for every decision.</a:t>
            </a:r>
          </a:p>
        </p:txBody>
      </p:sp>
      <p:sp>
        <p:nvSpPr>
          <p:cNvPr id="14" name="Rettangolo 13">
            <a:extLst xmlns:a="http://schemas.openxmlformats.org/drawingml/2006/main">
              <a:ext uri="{FF2B5EF4-FFF2-40B4-BE49-F238E27FC236}">
                <a16:creationId xmlns:a16="http://schemas.microsoft.com/office/drawing/2014/main" id="{271950E5-9AE8-4624-8836-A98073AC06EB}"/>
              </a:ext>
            </a:extLst>
          </p:cNvPr>
          <p:cNvSpPr>
            <a:spLocks xmlns:a="http://schemas.openxmlformats.org/drawingml/2006/main" noGrp="1"/>
          </p:cNvSpPr>
          <p:nvPr/>
        </p:nvSpPr>
        <p:spPr>
          <a:xfrm xmlns:a="http://schemas.openxmlformats.org/drawingml/2006/main">
            <a:off x="5334000" y="1657350"/>
            <a:ext cx="6172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a:solidFill>
                  <a:srgbClr val="233A70"/>
                </a:solidFill>
                <a:latin typeface="Arial"/>
                <a:ea typeface="Arial"/>
                <a:cs typeface="Arial"/>
              </a:defRPr>
            </a:pPr>
            <a:r>
              <a:rPr sz="1425" b="1">
                <a:solidFill>
                  <a:srgbClr val="233A70"/>
                </a:solidFill>
                <a:latin typeface="Arial"/>
                <a:ea typeface="Arial"/>
                <a:cs typeface="Arial"/>
              </a:rPr>
              <a:t>CLAIM BOUNDARIES</a:t>
            </a:r>
          </a:p>
        </p:txBody>
      </p:sp>
      <p:sp>
        <p:nvSpPr>
          <p:cNvPr id="15" name="Rettangolo 14">
            <a:extLst xmlns:a="http://schemas.openxmlformats.org/drawingml/2006/main">
              <a:ext uri="{FF2B5EF4-FFF2-40B4-BE49-F238E27FC236}">
                <a16:creationId xmlns:a16="http://schemas.microsoft.com/office/drawing/2014/main" id="{9B35F04A-8C1A-4D02-A7D5-B5388F8EBAA1}"/>
              </a:ext>
            </a:extLst>
          </p:cNvPr>
          <p:cNvSpPr>
            <a:spLocks xmlns:a="http://schemas.openxmlformats.org/drawingml/2006/main" noGrp="1"/>
          </p:cNvSpPr>
          <p:nvPr/>
        </p:nvSpPr>
        <p:spPr>
          <a:xfrm xmlns:a="http://schemas.openxmlformats.org/drawingml/2006/main">
            <a:off x="5334000" y="2133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33A70"/>
                </a:solidFill>
                <a:latin typeface="Arial"/>
                <a:ea typeface="Arial"/>
                <a:cs typeface="Arial"/>
              </a:defRPr>
            </a:pPr>
            <a:r>
              <a:rPr sz="1500" b="1">
                <a:solidFill>
                  <a:srgbClr val="233A70"/>
                </a:solidFill>
                <a:latin typeface="Arial"/>
                <a:ea typeface="Arial"/>
                <a:cs typeface="Arial"/>
              </a:rPr>
              <a:t>Corpus</a:t>
            </a:r>
          </a:p>
        </p:txBody>
      </p:sp>
      <p:sp>
        <p:nvSpPr>
          <p:cNvPr id="16" name="Rettangolo 15">
            <a:extLst xmlns:a="http://schemas.openxmlformats.org/drawingml/2006/main">
              <a:ext uri="{FF2B5EF4-FFF2-40B4-BE49-F238E27FC236}">
                <a16:creationId xmlns:a16="http://schemas.microsoft.com/office/drawing/2014/main" id="{383BA1E7-4180-41B6-8C72-60ACF49C3748}"/>
              </a:ext>
            </a:extLst>
          </p:cNvPr>
          <p:cNvSpPr>
            <a:spLocks xmlns:a="http://schemas.openxmlformats.org/drawingml/2006/main" noGrp="1"/>
          </p:cNvSpPr>
          <p:nvPr/>
        </p:nvSpPr>
        <p:spPr>
          <a:xfrm xmlns:a="http://schemas.openxmlformats.org/drawingml/2006/main">
            <a:off x="7467600" y="2133600"/>
            <a:ext cx="403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425" b="0">
                <a:solidFill>
                  <a:srgbClr val="172033"/>
                </a:solidFill>
                <a:latin typeface="Arial"/>
                <a:ea typeface="Arial"/>
                <a:cs typeface="Arial"/>
              </a:defRPr>
            </a:pPr>
            <a:r>
              <a:rPr sz="1425" b="0">
                <a:solidFill>
                  <a:srgbClr val="172033"/>
                </a:solidFill>
                <a:latin typeface="Arial"/>
                <a:ea typeface="Arial"/>
                <a:cs typeface="Arial"/>
              </a:rPr>
              <a:t>1,500 images; one reviewer</a:t>
            </a:r>
          </a:p>
        </p:txBody>
      </p:sp>
      <p:sp>
        <p:nvSpPr>
          <p:cNvPr id="17" name="Rettangolo 16">
            <a:extLst xmlns:a="http://schemas.openxmlformats.org/drawingml/2006/main">
              <a:ext uri="{FF2B5EF4-FFF2-40B4-BE49-F238E27FC236}">
                <a16:creationId xmlns:a16="http://schemas.microsoft.com/office/drawing/2014/main" id="{1E912AF9-D85C-4977-969E-906B3A4C3311}"/>
              </a:ext>
            </a:extLst>
          </p:cNvPr>
          <p:cNvSpPr>
            <a:spLocks xmlns:a="http://schemas.openxmlformats.org/drawingml/2006/main" noGrp="1"/>
          </p:cNvSpPr>
          <p:nvPr/>
        </p:nvSpPr>
        <p:spPr>
          <a:xfrm xmlns:a="http://schemas.openxmlformats.org/drawingml/2006/main">
            <a:off x="5334000" y="2609850"/>
            <a:ext cx="617220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8" name="Rettangolo 17">
            <a:extLst xmlns:a="http://schemas.openxmlformats.org/drawingml/2006/main">
              <a:ext uri="{FF2B5EF4-FFF2-40B4-BE49-F238E27FC236}">
                <a16:creationId xmlns:a16="http://schemas.microsoft.com/office/drawing/2014/main" id="{1FEB3410-F8F5-45C3-B8A9-72E8CC0B13F9}"/>
              </a:ext>
            </a:extLst>
          </p:cNvPr>
          <p:cNvSpPr>
            <a:spLocks xmlns:a="http://schemas.openxmlformats.org/drawingml/2006/main" noGrp="1"/>
          </p:cNvSpPr>
          <p:nvPr/>
        </p:nvSpPr>
        <p:spPr>
          <a:xfrm xmlns:a="http://schemas.openxmlformats.org/drawingml/2006/main">
            <a:off x="5334000" y="28194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33A70"/>
                </a:solidFill>
                <a:latin typeface="Arial"/>
                <a:ea typeface="Arial"/>
                <a:cs typeface="Arial"/>
              </a:defRPr>
            </a:pPr>
            <a:r>
              <a:rPr sz="1500" b="1">
                <a:solidFill>
                  <a:srgbClr val="233A70"/>
                </a:solidFill>
                <a:latin typeface="Arial"/>
                <a:ea typeface="Arial"/>
                <a:cs typeface="Arial"/>
              </a:rPr>
              <a:t>Perturbations</a:t>
            </a:r>
          </a:p>
        </p:txBody>
      </p:sp>
      <p:sp>
        <p:nvSpPr>
          <p:cNvPr id="19" name="Rettangolo 18">
            <a:extLst xmlns:a="http://schemas.openxmlformats.org/drawingml/2006/main">
              <a:ext uri="{FF2B5EF4-FFF2-40B4-BE49-F238E27FC236}">
                <a16:creationId xmlns:a16="http://schemas.microsoft.com/office/drawing/2014/main" id="{528555C9-5DFF-4894-9FE6-D4333953FC88}"/>
              </a:ext>
            </a:extLst>
          </p:cNvPr>
          <p:cNvSpPr>
            <a:spLocks xmlns:a="http://schemas.openxmlformats.org/drawingml/2006/main" noGrp="1"/>
          </p:cNvSpPr>
          <p:nvPr/>
        </p:nvSpPr>
        <p:spPr>
          <a:xfrm xmlns:a="http://schemas.openxmlformats.org/drawingml/2006/main">
            <a:off x="7467600" y="2819400"/>
            <a:ext cx="403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425" b="0">
                <a:solidFill>
                  <a:srgbClr val="172033"/>
                </a:solidFill>
                <a:latin typeface="Arial"/>
                <a:ea typeface="Arial"/>
                <a:cs typeface="Arial"/>
              </a:defRPr>
            </a:pPr>
            <a:r>
              <a:rPr sz="1425" b="0">
                <a:solidFill>
                  <a:srgbClr val="172033"/>
                </a:solidFill>
                <a:latin typeface="Arial"/>
                <a:ea typeface="Arial"/>
                <a:cs typeface="Arial"/>
              </a:rPr>
              <a:t>one frozen setting per condition</a:t>
            </a:r>
          </a:p>
        </p:txBody>
      </p:sp>
      <p:sp>
        <p:nvSpPr>
          <p:cNvPr id="20" name="Rettangolo 19">
            <a:extLst xmlns:a="http://schemas.openxmlformats.org/drawingml/2006/main">
              <a:ext uri="{FF2B5EF4-FFF2-40B4-BE49-F238E27FC236}">
                <a16:creationId xmlns:a16="http://schemas.microsoft.com/office/drawing/2014/main" id="{F89CB595-C0E8-481C-B956-C19F8CDD3C85}"/>
              </a:ext>
            </a:extLst>
          </p:cNvPr>
          <p:cNvSpPr>
            <a:spLocks xmlns:a="http://schemas.openxmlformats.org/drawingml/2006/main" noGrp="1"/>
          </p:cNvSpPr>
          <p:nvPr/>
        </p:nvSpPr>
        <p:spPr>
          <a:xfrm xmlns:a="http://schemas.openxmlformats.org/drawingml/2006/main">
            <a:off x="5334000" y="3295650"/>
            <a:ext cx="617220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1" name="Rettangolo 20">
            <a:extLst xmlns:a="http://schemas.openxmlformats.org/drawingml/2006/main">
              <a:ext uri="{FF2B5EF4-FFF2-40B4-BE49-F238E27FC236}">
                <a16:creationId xmlns:a16="http://schemas.microsoft.com/office/drawing/2014/main" id="{6CF52DE5-B776-4B1D-800C-73C4E4A5C8F6}"/>
              </a:ext>
            </a:extLst>
          </p:cNvPr>
          <p:cNvSpPr>
            <a:spLocks xmlns:a="http://schemas.openxmlformats.org/drawingml/2006/main" noGrp="1"/>
          </p:cNvSpPr>
          <p:nvPr/>
        </p:nvSpPr>
        <p:spPr>
          <a:xfrm xmlns:a="http://schemas.openxmlformats.org/drawingml/2006/main">
            <a:off x="5334000" y="35052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33A70"/>
                </a:solidFill>
                <a:latin typeface="Arial"/>
                <a:ea typeface="Arial"/>
                <a:cs typeface="Arial"/>
              </a:defRPr>
            </a:pPr>
            <a:r>
              <a:rPr sz="1500" b="1">
                <a:solidFill>
                  <a:srgbClr val="233A70"/>
                </a:solidFill>
                <a:latin typeface="Arial"/>
                <a:ea typeface="Arial"/>
                <a:cs typeface="Arial"/>
              </a:rPr>
              <a:t>Attack target</a:t>
            </a:r>
          </a:p>
        </p:txBody>
      </p:sp>
      <p:sp>
        <p:nvSpPr>
          <p:cNvPr id="22" name="Rettangolo 21">
            <a:extLst xmlns:a="http://schemas.openxmlformats.org/drawingml/2006/main">
              <a:ext uri="{FF2B5EF4-FFF2-40B4-BE49-F238E27FC236}">
                <a16:creationId xmlns:a16="http://schemas.microsoft.com/office/drawing/2014/main" id="{CFA73A27-E6D0-47E7-ADA5-8D98B5FD3677}"/>
              </a:ext>
            </a:extLst>
          </p:cNvPr>
          <p:cNvSpPr>
            <a:spLocks xmlns:a="http://schemas.openxmlformats.org/drawingml/2006/main" noGrp="1"/>
          </p:cNvSpPr>
          <p:nvPr/>
        </p:nvSpPr>
        <p:spPr>
          <a:xfrm xmlns:a="http://schemas.openxmlformats.org/drawingml/2006/main">
            <a:off x="7467600" y="3505200"/>
            <a:ext cx="403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425" b="0">
                <a:solidFill>
                  <a:srgbClr val="172033"/>
                </a:solidFill>
                <a:latin typeface="Arial"/>
                <a:ea typeface="Arial"/>
                <a:cs typeface="Arial"/>
              </a:defRPr>
            </a:pPr>
            <a:r>
              <a:rPr sz="1425" b="0">
                <a:solidFill>
                  <a:srgbClr val="172033"/>
                </a:solidFill>
                <a:latin typeface="Arial"/>
                <a:ea typeface="Arial"/>
                <a:cs typeface="Arial"/>
              </a:rPr>
              <a:t>direct attacks only on EfficientNet-B0</a:t>
            </a:r>
          </a:p>
        </p:txBody>
      </p:sp>
      <p:sp>
        <p:nvSpPr>
          <p:cNvPr id="23" name="Rettangolo 22">
            <a:extLst xmlns:a="http://schemas.openxmlformats.org/drawingml/2006/main">
              <a:ext uri="{FF2B5EF4-FFF2-40B4-BE49-F238E27FC236}">
                <a16:creationId xmlns:a16="http://schemas.microsoft.com/office/drawing/2014/main" id="{6730AD67-EBD7-4FFB-A38A-B32B95B85FDA}"/>
              </a:ext>
            </a:extLst>
          </p:cNvPr>
          <p:cNvSpPr>
            <a:spLocks xmlns:a="http://schemas.openxmlformats.org/drawingml/2006/main" noGrp="1"/>
          </p:cNvSpPr>
          <p:nvPr/>
        </p:nvSpPr>
        <p:spPr>
          <a:xfrm xmlns:a="http://schemas.openxmlformats.org/drawingml/2006/main">
            <a:off x="5334000" y="3981450"/>
            <a:ext cx="617220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4" name="Rettangolo 23">
            <a:extLst xmlns:a="http://schemas.openxmlformats.org/drawingml/2006/main">
              <a:ext uri="{FF2B5EF4-FFF2-40B4-BE49-F238E27FC236}">
                <a16:creationId xmlns:a16="http://schemas.microsoft.com/office/drawing/2014/main" id="{297D8C7E-D048-4389-B744-C095380C76FF}"/>
              </a:ext>
            </a:extLst>
          </p:cNvPr>
          <p:cNvSpPr>
            <a:spLocks xmlns:a="http://schemas.openxmlformats.org/drawingml/2006/main" noGrp="1"/>
          </p:cNvSpPr>
          <p:nvPr/>
        </p:nvSpPr>
        <p:spPr>
          <a:xfrm xmlns:a="http://schemas.openxmlformats.org/drawingml/2006/main">
            <a:off x="5334000" y="41910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33A70"/>
                </a:solidFill>
                <a:latin typeface="Arial"/>
                <a:ea typeface="Arial"/>
                <a:cs typeface="Arial"/>
              </a:defRPr>
            </a:pPr>
            <a:r>
              <a:rPr sz="1500" b="1">
                <a:solidFill>
                  <a:srgbClr val="233A70"/>
                </a:solidFill>
                <a:latin typeface="Arial"/>
                <a:ea typeface="Arial"/>
                <a:cs typeface="Arial"/>
              </a:rPr>
              <a:t>Black-box</a:t>
            </a:r>
          </a:p>
        </p:txBody>
      </p:sp>
      <p:sp>
        <p:nvSpPr>
          <p:cNvPr id="25" name="Rettangolo 24">
            <a:extLst xmlns:a="http://schemas.openxmlformats.org/drawingml/2006/main">
              <a:ext uri="{FF2B5EF4-FFF2-40B4-BE49-F238E27FC236}">
                <a16:creationId xmlns:a16="http://schemas.microsoft.com/office/drawing/2014/main" id="{FB545777-3A93-46AD-B3E0-2631B388AFF4}"/>
              </a:ext>
            </a:extLst>
          </p:cNvPr>
          <p:cNvSpPr>
            <a:spLocks xmlns:a="http://schemas.openxmlformats.org/drawingml/2006/main" noGrp="1"/>
          </p:cNvSpPr>
          <p:nvPr/>
        </p:nvSpPr>
        <p:spPr>
          <a:xfrm xmlns:a="http://schemas.openxmlformats.org/drawingml/2006/main">
            <a:off x="7467600" y="4191000"/>
            <a:ext cx="403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425" b="0">
                <a:solidFill>
                  <a:srgbClr val="172033"/>
                </a:solidFill>
                <a:latin typeface="Arial"/>
                <a:ea typeface="Arial"/>
                <a:cs typeface="Arial"/>
              </a:defRPr>
            </a:pPr>
            <a:r>
              <a:rPr sz="1425" b="0">
                <a:solidFill>
                  <a:srgbClr val="172033"/>
                </a:solidFill>
                <a:latin typeface="Arial"/>
                <a:ea typeface="Arial"/>
                <a:cs typeface="Arial"/>
              </a:rPr>
              <a:t>tool version + settings + output mapping</a:t>
            </a:r>
          </a:p>
        </p:txBody>
      </p:sp>
      <p:sp>
        <p:nvSpPr>
          <p:cNvPr id="26" name="Rettangolo 25">
            <a:extLst xmlns:a="http://schemas.openxmlformats.org/drawingml/2006/main">
              <a:ext uri="{FF2B5EF4-FFF2-40B4-BE49-F238E27FC236}">
                <a16:creationId xmlns:a16="http://schemas.microsoft.com/office/drawing/2014/main" id="{3C77DA9F-A647-486F-87C1-3A6BA389185F}"/>
              </a:ext>
            </a:extLst>
          </p:cNvPr>
          <p:cNvSpPr>
            <a:spLocks xmlns:a="http://schemas.openxmlformats.org/drawingml/2006/main" noGrp="1"/>
          </p:cNvSpPr>
          <p:nvPr/>
        </p:nvSpPr>
        <p:spPr>
          <a:xfrm xmlns:a="http://schemas.openxmlformats.org/drawingml/2006/main">
            <a:off x="5334000" y="4667250"/>
            <a:ext cx="617220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7" name="Rettangolo 26">
            <a:extLst xmlns:a="http://schemas.openxmlformats.org/drawingml/2006/main">
              <a:ext uri="{FF2B5EF4-FFF2-40B4-BE49-F238E27FC236}">
                <a16:creationId xmlns:a16="http://schemas.microsoft.com/office/drawing/2014/main" id="{8E6250E2-E927-4F06-BBD5-AC880A4A2AFA}"/>
              </a:ext>
            </a:extLst>
          </p:cNvPr>
          <p:cNvSpPr>
            <a:spLocks xmlns:a="http://schemas.openxmlformats.org/drawingml/2006/main" noGrp="1"/>
          </p:cNvSpPr>
          <p:nvPr/>
        </p:nvSpPr>
        <p:spPr>
          <a:xfrm xmlns:a="http://schemas.openxmlformats.org/drawingml/2006/main">
            <a:off x="5334000" y="48768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BE3C37"/>
                </a:solidFill>
                <a:latin typeface="Arial"/>
                <a:ea typeface="Arial"/>
                <a:cs typeface="Arial"/>
              </a:defRPr>
            </a:pPr>
            <a:r>
              <a:rPr sz="1500" b="1">
                <a:solidFill>
                  <a:srgbClr val="BE3C37"/>
                </a:solidFill>
                <a:latin typeface="Arial"/>
                <a:ea typeface="Arial"/>
                <a:cs typeface="Arial"/>
              </a:rPr>
              <a:t>Legal scope</a:t>
            </a:r>
          </a:p>
        </p:txBody>
      </p:sp>
      <p:sp>
        <p:nvSpPr>
          <p:cNvPr id="28" name="Rettangolo 27">
            <a:extLst xmlns:a="http://schemas.openxmlformats.org/drawingml/2006/main">
              <a:ext uri="{FF2B5EF4-FFF2-40B4-BE49-F238E27FC236}">
                <a16:creationId xmlns:a16="http://schemas.microsoft.com/office/drawing/2014/main" id="{096B4D8D-5682-4A6A-9047-F2FEEF48A8B7}"/>
              </a:ext>
            </a:extLst>
          </p:cNvPr>
          <p:cNvSpPr>
            <a:spLocks xmlns:a="http://schemas.openxmlformats.org/drawingml/2006/main" noGrp="1"/>
          </p:cNvSpPr>
          <p:nvPr/>
        </p:nvSpPr>
        <p:spPr>
          <a:xfrm xmlns:a="http://schemas.openxmlformats.org/drawingml/2006/main">
            <a:off x="7467600" y="4876800"/>
            <a:ext cx="403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425" b="0">
                <a:solidFill>
                  <a:srgbClr val="172033"/>
                </a:solidFill>
                <a:latin typeface="Arial"/>
                <a:ea typeface="Arial"/>
                <a:cs typeface="Arial"/>
              </a:defRPr>
            </a:pPr>
            <a:r>
              <a:rPr sz="1425" b="0">
                <a:solidFill>
                  <a:srgbClr val="172033"/>
                </a:solidFill>
                <a:latin typeface="Arial"/>
                <a:ea typeface="Arial"/>
                <a:cs typeface="Arial"/>
              </a:rPr>
              <a:t>operational triage only; no legal claim</a:t>
            </a:r>
          </a:p>
        </p:txBody>
      </p:sp>
      <p:sp>
        <p:nvSpPr>
          <p:cNvPr id="29" name="Rettangolo con angoli arrotondati 28">
            <a:extLst xmlns:a="http://schemas.openxmlformats.org/drawingml/2006/main">
              <a:ext uri="{FF2B5EF4-FFF2-40B4-BE49-F238E27FC236}">
                <a16:creationId xmlns:a16="http://schemas.microsoft.com/office/drawing/2014/main" id="{61709ABF-C6C7-4CB5-B2B9-481AE4E3DAC9}"/>
              </a:ext>
            </a:extLst>
          </p:cNvPr>
          <p:cNvSpPr>
            <a:spLocks xmlns:a="http://schemas.openxmlformats.org/drawingml/2006/main" noGrp="1"/>
          </p:cNvSpPr>
          <p:nvPr/>
        </p:nvSpPr>
        <p:spPr>
          <a:xfrm xmlns:a="http://schemas.openxmlformats.org/drawingml/2006/main">
            <a:off x="5334000" y="5676900"/>
            <a:ext cx="6172200" cy="457200"/>
          </a:xfrm>
          <a:prstGeom xmlns:a="http://schemas.openxmlformats.org/drawingml/2006/main" prst="roundRect">
            <a:avLst>
              <a:gd name="adj" fmla="val 25000"/>
            </a:avLst>
          </a:prstGeom>
          <a:solidFill xmlns:a="http://schemas.openxmlformats.org/drawingml/2006/main">
            <a:srgbClr val="E9EEF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0" name="Rettangolo 29">
            <a:extLst xmlns:a="http://schemas.openxmlformats.org/drawingml/2006/main">
              <a:ext uri="{FF2B5EF4-FFF2-40B4-BE49-F238E27FC236}">
                <a16:creationId xmlns:a16="http://schemas.microsoft.com/office/drawing/2014/main" id="{9FA4F0A5-3312-4D65-952B-9A4883F78124}"/>
              </a:ext>
            </a:extLst>
          </p:cNvPr>
          <p:cNvSpPr>
            <a:spLocks xmlns:a="http://schemas.openxmlformats.org/drawingml/2006/main" noGrp="1"/>
          </p:cNvSpPr>
          <p:nvPr/>
        </p:nvSpPr>
        <p:spPr>
          <a:xfrm xmlns:a="http://schemas.openxmlformats.org/drawingml/2006/main">
            <a:off x="5562600" y="58007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233A70"/>
                </a:solidFill>
                <a:latin typeface="Arial"/>
                <a:ea typeface="Arial"/>
                <a:cs typeface="Arial"/>
              </a:defRPr>
            </a:pPr>
            <a:r>
              <a:rPr sz="1350" b="1">
                <a:solidFill>
                  <a:srgbClr val="233A70"/>
                </a:solidFill>
                <a:latin typeface="Arial"/>
                <a:ea typeface="Arial"/>
                <a:cs typeface="Arial"/>
              </a:rPr>
              <a:t>Protocol-specific assessment—not certification or universal ranking.</a:t>
            </a:r>
          </a:p>
        </p:txBody>
      </p:sp>
    </p:spTree>
    <p:extLst>
      <p:ext uri="{BB962C8B-B14F-4D97-AF65-F5344CB8AC3E}">
        <p14:creationId xmlns:p14="http://schemas.microsoft.com/office/powerpoint/2010/main" val="1308217473"/>
      </p:ext>
    </p:extLst>
  </p:cSld>
</p:sld>
</file>

<file path=ppt/slides/slide14.xml><?xml version="1.0" encoding="utf-8"?>
<p:sld xmlns:p="http://schemas.openxmlformats.org/presentationml/2006/main">
  <p:cSld>
    <p:bg>
      <p:bgPr>
        <a:solidFill xmlns:a="http://schemas.openxmlformats.org/drawingml/2006/main">
          <a:srgbClr val="233A70"/>
        </a:solidFill>
      </p:bgPr>
    </p:bg>
    <p:spTree>
      <p:nvGrpSpPr>
        <p:cNvPr id="1" name=""/>
        <p:cNvGrpSpPr/>
        <p:nvPr/>
      </p:nvGrpSpPr>
      <p:grpSpPr>
        <a:xfrm xmlns:a="http://schemas.openxmlformats.org/drawingml/2006/main"/>
      </p:grpSpPr>
      <p:pic>
        <p:nvPicPr>
          <p:cNvPr id="15" name="Picture 1"/>
          <p:cNvPicPr>
            <a:picLocks xmlns:a="http://schemas.openxmlformats.org/drawingml/2006/main" noChangeAspect="1"/>
          </p:cNvPicPr>
          <p:nvPr/>
        </p:nvPicPr>
        <p:blipFill>
          <a:blip xmlns:r="http://schemas.openxmlformats.org/officeDocument/2006/relationships" xmlns:a="http://schemas.openxmlformats.org/drawingml/2006/main" r:embed="R1d3d8843ca174db9"/>
          <a:srcRect xmlns:a="http://schemas.openxmlformats.org/drawingml/2006/main" l="0" t="0" r="0" b="0"/>
          <a:stretch xmlns:a="http://schemas.openxmlformats.org/drawingml/2006/main">
            <a:fillRect l="0" t="0" r="0" b="0"/>
          </a:stretch>
        </p:blipFill>
        <p:spPr>
          <a:xfrm xmlns:a="http://schemas.openxmlformats.org/drawingml/2006/main">
            <a:off x="9812751" y="400050"/>
            <a:ext cx="1424748" cy="1695450"/>
          </a:xfrm>
          <a:prstGeom xmlns:a="http://schemas.openxmlformats.org/drawingml/2006/main" prst="rect">
            <a:avLst/>
          </a:prstGeom>
        </p:spPr>
      </p:pic>
      <p:sp>
        <p:nvSpPr>
          <p:cNvPr id="2" name="Rettangolo 1">
            <a:extLst xmlns:a="http://schemas.openxmlformats.org/drawingml/2006/main">
              <a:ext uri="{FF2B5EF4-FFF2-40B4-BE49-F238E27FC236}">
                <a16:creationId xmlns:a16="http://schemas.microsoft.com/office/drawing/2014/main" id="{96233C98-1682-4713-96AF-301D7793CFAD}"/>
              </a:ext>
            </a:extLst>
          </p:cNvPr>
          <p:cNvSpPr>
            <a:spLocks xmlns:a="http://schemas.openxmlformats.org/drawingml/2006/main" noGrp="1"/>
          </p:cNvSpPr>
          <p:nvPr/>
        </p:nvSpPr>
        <p:spPr>
          <a:xfrm xmlns:a="http://schemas.openxmlformats.org/drawingml/2006/main">
            <a:off x="685800" y="685800"/>
            <a:ext cx="8763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4200" b="1">
                <a:solidFill>
                  <a:srgbClr val="FFFFFF"/>
                </a:solidFill>
                <a:latin typeface="Arial"/>
                <a:ea typeface="Arial"/>
                <a:cs typeface="Arial"/>
              </a:defRPr>
            </a:pPr>
            <a:r>
              <a:rPr sz="4200" b="1">
                <a:solidFill>
                  <a:srgbClr val="FFFFFF"/>
                </a:solidFill>
                <a:latin typeface="Arial"/>
                <a:ea typeface="Arial"/>
                <a:cs typeface="Arial"/>
              </a:rPr>
              <a:t>AI can prioritize evidence;</a:t>
            </a:r>
          </a:p>
          <a:p xmlns:a="http://schemas.openxmlformats.org/drawingml/2006/main">
            <a:pPr algn="l">
              <a:buNone/>
              <a:defRPr sz="4200" b="1">
                <a:solidFill>
                  <a:srgbClr val="FFFFFF"/>
                </a:solidFill>
                <a:latin typeface="Arial"/>
                <a:ea typeface="Arial"/>
                <a:cs typeface="Arial"/>
              </a:defRPr>
            </a:pPr>
            <a:r>
              <a:rPr sz="4200" b="1">
                <a:solidFill>
                  <a:srgbClr val="FFFFFF"/>
                </a:solidFill>
                <a:latin typeface="Arial"/>
                <a:ea typeface="Arial"/>
                <a:cs typeface="Arial"/>
              </a:rPr>
              <a:t>it must not silently exclude it.</a:t>
            </a:r>
          </a:p>
        </p:txBody>
      </p:sp>
      <p:sp>
        <p:nvSpPr>
          <p:cNvPr id="3" name="Rettangolo 2">
            <a:extLst xmlns:a="http://schemas.openxmlformats.org/drawingml/2006/main">
              <a:ext uri="{FF2B5EF4-FFF2-40B4-BE49-F238E27FC236}">
                <a16:creationId xmlns:a16="http://schemas.microsoft.com/office/drawing/2014/main" id="{406CEE45-9954-4129-B4CC-8763B90B9FE7}"/>
              </a:ext>
            </a:extLst>
          </p:cNvPr>
          <p:cNvSpPr>
            <a:spLocks xmlns:a="http://schemas.openxmlformats.org/drawingml/2006/main" noGrp="1"/>
          </p:cNvSpPr>
          <p:nvPr/>
        </p:nvSpPr>
        <p:spPr>
          <a:xfrm xmlns:a="http://schemas.openxmlformats.org/drawingml/2006/main">
            <a:off x="685800" y="2381250"/>
            <a:ext cx="2000250" cy="66675"/>
          </a:xfrm>
          <a:prstGeom xmlns:a="http://schemas.openxmlformats.org/drawingml/2006/main" prst="rect">
            <a:avLst/>
          </a:prstGeom>
          <a:solidFill xmlns:a="http://schemas.openxmlformats.org/drawingml/2006/main">
            <a:srgbClr val="14B97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A87ACFBC-5913-4A14-A572-7C43C4E614CE}"/>
              </a:ext>
            </a:extLst>
          </p:cNvPr>
          <p:cNvSpPr>
            <a:spLocks xmlns:a="http://schemas.openxmlformats.org/drawingml/2006/main" noGrp="1"/>
          </p:cNvSpPr>
          <p:nvPr/>
        </p:nvSpPr>
        <p:spPr>
          <a:xfrm xmlns:a="http://schemas.openxmlformats.org/drawingml/2006/main">
            <a:off x="685800" y="28575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14B978"/>
                </a:solidFill>
                <a:latin typeface="Arial"/>
                <a:ea typeface="Arial"/>
                <a:cs typeface="Arial"/>
              </a:defRPr>
            </a:pPr>
            <a:r>
              <a:rPr sz="1575" b="1">
                <a:solidFill>
                  <a:srgbClr val="14B978"/>
                </a:solidFill>
                <a:latin typeface="Arial"/>
                <a:ea typeface="Arial"/>
                <a:cs typeface="Arial"/>
              </a:rPr>
              <a:t>01</a:t>
            </a:r>
          </a:p>
        </p:txBody>
      </p:sp>
      <p:sp>
        <p:nvSpPr>
          <p:cNvPr id="5" name="Rettangolo 4">
            <a:extLst xmlns:a="http://schemas.openxmlformats.org/drawingml/2006/main">
              <a:ext uri="{FF2B5EF4-FFF2-40B4-BE49-F238E27FC236}">
                <a16:creationId xmlns:a16="http://schemas.microsoft.com/office/drawing/2014/main" id="{A7447639-7A70-4861-8213-2179225B1DA5}"/>
              </a:ext>
            </a:extLst>
          </p:cNvPr>
          <p:cNvSpPr>
            <a:spLocks xmlns:a="http://schemas.openxmlformats.org/drawingml/2006/main" noGrp="1"/>
          </p:cNvSpPr>
          <p:nvPr/>
        </p:nvSpPr>
        <p:spPr>
          <a:xfrm xmlns:a="http://schemas.openxmlformats.org/drawingml/2006/main">
            <a:off x="1428750" y="283845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1">
                <a:solidFill>
                  <a:srgbClr val="FFFFFF"/>
                </a:solidFill>
                <a:latin typeface="Arial"/>
                <a:ea typeface="Arial"/>
                <a:cs typeface="Arial"/>
              </a:defRPr>
            </a:pPr>
            <a:r>
              <a:rPr sz="1875" b="1">
                <a:solidFill>
                  <a:srgbClr val="FFFFFF"/>
                </a:solidFill>
                <a:latin typeface="Arial"/>
                <a:ea typeface="Arial"/>
                <a:cs typeface="Arial"/>
              </a:rPr>
              <a:t>Clean performance is only the baseline; robustness is condition-dependent.</a:t>
            </a:r>
          </a:p>
        </p:txBody>
      </p:sp>
      <p:sp>
        <p:nvSpPr>
          <p:cNvPr id="6" name="Rettangolo 5">
            <a:extLst xmlns:a="http://schemas.openxmlformats.org/drawingml/2006/main">
              <a:ext uri="{FF2B5EF4-FFF2-40B4-BE49-F238E27FC236}">
                <a16:creationId xmlns:a16="http://schemas.microsoft.com/office/drawing/2014/main" id="{1450CA5E-FC35-430A-9031-A11896E280CD}"/>
              </a:ext>
            </a:extLst>
          </p:cNvPr>
          <p:cNvSpPr>
            <a:spLocks xmlns:a="http://schemas.openxmlformats.org/drawingml/2006/main" noGrp="1"/>
          </p:cNvSpPr>
          <p:nvPr/>
        </p:nvSpPr>
        <p:spPr>
          <a:xfrm xmlns:a="http://schemas.openxmlformats.org/drawingml/2006/main">
            <a:off x="1428750" y="3524250"/>
            <a:ext cx="8858250" cy="9525"/>
          </a:xfrm>
          <a:prstGeom xmlns:a="http://schemas.openxmlformats.org/drawingml/2006/main" prst="rect">
            <a:avLst/>
          </a:prstGeom>
          <a:solidFill xmlns:a="http://schemas.openxmlformats.org/drawingml/2006/main">
            <a:srgbClr val="536A9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6">
            <a:extLst xmlns:a="http://schemas.openxmlformats.org/drawingml/2006/main">
              <a:ext uri="{FF2B5EF4-FFF2-40B4-BE49-F238E27FC236}">
                <a16:creationId xmlns:a16="http://schemas.microsoft.com/office/drawing/2014/main" id="{84B48416-48C8-47F4-8298-4F17F973B71A}"/>
              </a:ext>
            </a:extLst>
          </p:cNvPr>
          <p:cNvSpPr>
            <a:spLocks xmlns:a="http://schemas.openxmlformats.org/drawingml/2006/main" noGrp="1"/>
          </p:cNvSpPr>
          <p:nvPr/>
        </p:nvSpPr>
        <p:spPr>
          <a:xfrm xmlns:a="http://schemas.openxmlformats.org/drawingml/2006/main">
            <a:off x="685800" y="3752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14B978"/>
                </a:solidFill>
                <a:latin typeface="Arial"/>
                <a:ea typeface="Arial"/>
                <a:cs typeface="Arial"/>
              </a:defRPr>
            </a:pPr>
            <a:r>
              <a:rPr sz="1575" b="1">
                <a:solidFill>
                  <a:srgbClr val="14B978"/>
                </a:solidFill>
                <a:latin typeface="Arial"/>
                <a:ea typeface="Arial"/>
                <a:cs typeface="Arial"/>
              </a:rPr>
              <a:t>02</a:t>
            </a:r>
          </a:p>
        </p:txBody>
      </p:sp>
      <p:sp>
        <p:nvSpPr>
          <p:cNvPr id="8" name="Rettangolo 7">
            <a:extLst xmlns:a="http://schemas.openxmlformats.org/drawingml/2006/main">
              <a:ext uri="{FF2B5EF4-FFF2-40B4-BE49-F238E27FC236}">
                <a16:creationId xmlns:a16="http://schemas.microsoft.com/office/drawing/2014/main" id="{988D7614-8FE3-475C-B612-F8C4E0C42486}"/>
              </a:ext>
            </a:extLst>
          </p:cNvPr>
          <p:cNvSpPr>
            <a:spLocks xmlns:a="http://schemas.openxmlformats.org/drawingml/2006/main" noGrp="1"/>
          </p:cNvSpPr>
          <p:nvPr/>
        </p:nvSpPr>
        <p:spPr>
          <a:xfrm xmlns:a="http://schemas.openxmlformats.org/drawingml/2006/main">
            <a:off x="1428750" y="373380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1">
                <a:solidFill>
                  <a:srgbClr val="FFFFFF"/>
                </a:solidFill>
                <a:latin typeface="Arial"/>
                <a:ea typeface="Arial"/>
                <a:cs typeface="Arial"/>
              </a:defRPr>
            </a:pPr>
            <a:r>
              <a:rPr sz="1875" b="1">
                <a:solidFill>
                  <a:srgbClr val="FFFFFF"/>
                </a:solidFill>
                <a:latin typeface="Arial"/>
                <a:ea typeface="Arial"/>
                <a:cs typeface="Arial"/>
              </a:rPr>
              <a:t>Direct attacks, transfer and OOD behavior are distinct from configuration trade-offs.</a:t>
            </a:r>
          </a:p>
        </p:txBody>
      </p:sp>
      <p:sp>
        <p:nvSpPr>
          <p:cNvPr id="9" name="Rettangolo 8">
            <a:extLst xmlns:a="http://schemas.openxmlformats.org/drawingml/2006/main">
              <a:ext uri="{FF2B5EF4-FFF2-40B4-BE49-F238E27FC236}">
                <a16:creationId xmlns:a16="http://schemas.microsoft.com/office/drawing/2014/main" id="{9FD6AFD3-88FF-4DC9-A60E-DD29C11BBE0F}"/>
              </a:ext>
            </a:extLst>
          </p:cNvPr>
          <p:cNvSpPr>
            <a:spLocks xmlns:a="http://schemas.openxmlformats.org/drawingml/2006/main" noGrp="1"/>
          </p:cNvSpPr>
          <p:nvPr/>
        </p:nvSpPr>
        <p:spPr>
          <a:xfrm xmlns:a="http://schemas.openxmlformats.org/drawingml/2006/main">
            <a:off x="1428750" y="4419600"/>
            <a:ext cx="8858250" cy="9525"/>
          </a:xfrm>
          <a:prstGeom xmlns:a="http://schemas.openxmlformats.org/drawingml/2006/main" prst="rect">
            <a:avLst/>
          </a:prstGeom>
          <a:solidFill xmlns:a="http://schemas.openxmlformats.org/drawingml/2006/main">
            <a:srgbClr val="536A9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Rettangolo 9">
            <a:extLst xmlns:a="http://schemas.openxmlformats.org/drawingml/2006/main">
              <a:ext uri="{FF2B5EF4-FFF2-40B4-BE49-F238E27FC236}">
                <a16:creationId xmlns:a16="http://schemas.microsoft.com/office/drawing/2014/main" id="{82DD1464-6B69-4824-9D72-F6913E53C22E}"/>
              </a:ext>
            </a:extLst>
          </p:cNvPr>
          <p:cNvSpPr>
            <a:spLocks xmlns:a="http://schemas.openxmlformats.org/drawingml/2006/main" noGrp="1"/>
          </p:cNvSpPr>
          <p:nvPr/>
        </p:nvSpPr>
        <p:spPr>
          <a:xfrm xmlns:a="http://schemas.openxmlformats.org/drawingml/2006/main">
            <a:off x="685800" y="46482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14B978"/>
                </a:solidFill>
                <a:latin typeface="Arial"/>
                <a:ea typeface="Arial"/>
                <a:cs typeface="Arial"/>
              </a:defRPr>
            </a:pPr>
            <a:r>
              <a:rPr sz="1575" b="1">
                <a:solidFill>
                  <a:srgbClr val="14B978"/>
                </a:solidFill>
                <a:latin typeface="Arial"/>
                <a:ea typeface="Arial"/>
                <a:cs typeface="Arial"/>
              </a:rPr>
              <a:t>03</a:t>
            </a:r>
          </a:p>
        </p:txBody>
      </p:sp>
      <p:sp>
        <p:nvSpPr>
          <p:cNvPr id="11" name="Rettangolo 10">
            <a:extLst xmlns:a="http://schemas.openxmlformats.org/drawingml/2006/main">
              <a:ext uri="{FF2B5EF4-FFF2-40B4-BE49-F238E27FC236}">
                <a16:creationId xmlns:a16="http://schemas.microsoft.com/office/drawing/2014/main" id="{CE069915-8C7F-4D66-A75C-DE9F676A9B58}"/>
              </a:ext>
            </a:extLst>
          </p:cNvPr>
          <p:cNvSpPr>
            <a:spLocks xmlns:a="http://schemas.openxmlformats.org/drawingml/2006/main" noGrp="1"/>
          </p:cNvSpPr>
          <p:nvPr/>
        </p:nvSpPr>
        <p:spPr>
          <a:xfrm xmlns:a="http://schemas.openxmlformats.org/drawingml/2006/main">
            <a:off x="1428750" y="462915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1">
                <a:solidFill>
                  <a:srgbClr val="FFFFFF"/>
                </a:solidFill>
                <a:latin typeface="Arial"/>
                <a:ea typeface="Arial"/>
                <a:cs typeface="Arial"/>
              </a:defRPr>
            </a:pPr>
            <a:r>
              <a:rPr sz="1875" b="1">
                <a:solidFill>
                  <a:srgbClr val="FFFFFF"/>
                </a:solidFill>
                <a:latin typeface="Arial"/>
                <a:ea typeface="Arial"/>
                <a:cs typeface="Arial"/>
              </a:rPr>
              <a:t>FAIRLab makes those dimensions traceable, auditable and reviewable by a forensic expert.</a:t>
            </a:r>
          </a:p>
        </p:txBody>
      </p:sp>
      <p:sp>
        <p:nvSpPr>
          <p:cNvPr id="12" name="Rettangolo 11">
            <a:extLst xmlns:a="http://schemas.openxmlformats.org/drawingml/2006/main">
              <a:ext uri="{FF2B5EF4-FFF2-40B4-BE49-F238E27FC236}">
                <a16:creationId xmlns:a16="http://schemas.microsoft.com/office/drawing/2014/main" id="{C5DB9022-7C6B-4FD6-BD9F-B0933F2FF931}"/>
              </a:ext>
            </a:extLst>
          </p:cNvPr>
          <p:cNvSpPr>
            <a:spLocks xmlns:a="http://schemas.openxmlformats.org/drawingml/2006/main" noGrp="1"/>
          </p:cNvSpPr>
          <p:nvPr/>
        </p:nvSpPr>
        <p:spPr>
          <a:xfrm xmlns:a="http://schemas.openxmlformats.org/drawingml/2006/main">
            <a:off x="685800" y="596265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p:txBody>
      </p:sp>
      <p:sp>
        <p:nvSpPr>
          <p:cNvPr id="13" name="Rettangolo 12">
            <a:extLst xmlns:a="http://schemas.openxmlformats.org/drawingml/2006/main">
              <a:ext uri="{FF2B5EF4-FFF2-40B4-BE49-F238E27FC236}">
                <a16:creationId xmlns:a16="http://schemas.microsoft.com/office/drawing/2014/main" id="{E270C321-849E-4038-B40F-9F6AE5428309}"/>
              </a:ext>
            </a:extLst>
          </p:cNvPr>
          <p:cNvSpPr>
            <a:spLocks xmlns:a="http://schemas.openxmlformats.org/drawingml/2006/main" noGrp="1"/>
          </p:cNvSpPr>
          <p:nvPr/>
        </p:nvSpPr>
        <p:spPr>
          <a:xfrm xmlns:a="http://schemas.openxmlformats.org/drawingml/2006/main">
            <a:off x="8972550" y="60388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p:txBody>
      </p:sp>
    </p:spTree>
    <p:extLst>
      <p:ext uri="{BB962C8B-B14F-4D97-AF65-F5344CB8AC3E}">
        <p14:creationId xmlns:p14="http://schemas.microsoft.com/office/powerpoint/2010/main" val="1025552198"/>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9" name="Rettangolo 18">
            <a:extLst xmlns:a="http://schemas.openxmlformats.org/drawingml/2006/main">
              <a:ext uri="{FF2B5EF4-FFF2-40B4-BE49-F238E27FC236}">
                <a16:creationId xmlns:a16="http://schemas.microsoft.com/office/drawing/2014/main" id="{84FC9E0B-46E5-4605-AE89-120F1A80974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CE9CEC47-2C9E-4DEB-B3A5-380688C3D463}"/>
              </a:ext>
            </a:extLst>
          </p:cNvPr>
          <p:cNvSpPr>
            <a:spLocks xmlns:a="http://schemas.openxmlformats.org/drawingml/2006/main" noGrp="1"/>
          </p:cNvSpPr>
          <p:nvPr/>
        </p:nvSpPr>
        <p:spPr>
          <a:xfrm xmlns:a="http://schemas.openxmlformats.org/drawingml/2006/main">
            <a:off x="685800" y="7048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Research questions and claim scope</a:t>
            </a:r>
          </a:p>
        </p:txBody>
      </p:sp>
      <p:sp>
        <p:nvSpPr>
          <p:cNvPr id="3" name="Rettangolo 2">
            <a:extLst xmlns:a="http://schemas.openxmlformats.org/drawingml/2006/main">
              <a:ext uri="{FF2B5EF4-FFF2-40B4-BE49-F238E27FC236}">
                <a16:creationId xmlns:a16="http://schemas.microsoft.com/office/drawing/2014/main" id="{3671D975-C3C7-4CFA-BB40-CDE2E47A6DBB}"/>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0E5654D2-637C-43AD-B298-14213A7CA3D8}"/>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8439A926-BBAF-40CB-B5E7-23C236A118D8}"/>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B1</a:t>
            </a:r>
          </a:p>
        </p:txBody>
      </p:sp>
      <p:sp>
        <p:nvSpPr>
          <p:cNvPr id="6" name="Rettangolo 5">
            <a:extLst xmlns:a="http://schemas.openxmlformats.org/drawingml/2006/main">
              <a:ext uri="{FF2B5EF4-FFF2-40B4-BE49-F238E27FC236}">
                <a16:creationId xmlns:a16="http://schemas.microsoft.com/office/drawing/2014/main" id="{C0C9D87E-20DC-47FA-8CCE-629AA967F5EB}"/>
              </a:ext>
            </a:extLst>
          </p:cNvPr>
          <p:cNvSpPr>
            <a:spLocks xmlns:a="http://schemas.openxmlformats.org/drawingml/2006/main" noGrp="1"/>
          </p:cNvSpPr>
          <p:nvPr/>
        </p:nvSpPr>
        <p:spPr>
          <a:xfrm xmlns:a="http://schemas.openxmlformats.org/drawingml/2006/main">
            <a:off x="685800" y="146685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233A70"/>
                </a:solidFill>
                <a:latin typeface="Arial"/>
                <a:ea typeface="Arial"/>
                <a:cs typeface="Arial"/>
              </a:defRPr>
            </a:pPr>
            <a:r>
              <a:rPr sz="2100" b="1">
                <a:solidFill>
                  <a:srgbClr val="233A70"/>
                </a:solidFill>
                <a:latin typeface="Arial"/>
                <a:ea typeface="Arial"/>
                <a:cs typeface="Arial"/>
              </a:rPr>
              <a:t>RQ1</a:t>
            </a:r>
          </a:p>
        </p:txBody>
      </p:sp>
      <p:sp>
        <p:nvSpPr>
          <p:cNvPr id="7" name="Rettangolo 6">
            <a:extLst xmlns:a="http://schemas.openxmlformats.org/drawingml/2006/main">
              <a:ext uri="{FF2B5EF4-FFF2-40B4-BE49-F238E27FC236}">
                <a16:creationId xmlns:a16="http://schemas.microsoft.com/office/drawing/2014/main" id="{2CE69233-BFB9-41EB-979C-EA89A8DFDF59}"/>
              </a:ext>
            </a:extLst>
          </p:cNvPr>
          <p:cNvSpPr>
            <a:spLocks xmlns:a="http://schemas.openxmlformats.org/drawingml/2006/main" noGrp="1"/>
          </p:cNvSpPr>
          <p:nvPr/>
        </p:nvSpPr>
        <p:spPr>
          <a:xfrm xmlns:a="http://schemas.openxmlformats.org/drawingml/2006/main">
            <a:off x="2000250" y="1466850"/>
            <a:ext cx="950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172033"/>
                </a:solidFill>
                <a:latin typeface="Arial"/>
                <a:ea typeface="Arial"/>
                <a:cs typeface="Arial"/>
              </a:defRPr>
            </a:pPr>
            <a:r>
              <a:rPr sz="1650" b="0">
                <a:solidFill>
                  <a:srgbClr val="172033"/>
                </a:solidFill>
                <a:latin typeface="Arial"/>
                <a:ea typeface="Arial"/>
                <a:cs typeface="Arial"/>
              </a:rPr>
              <a:t>To what extent do the proxy models retain clean-baseline performance across separate OOD, adversarial and anti-forensic conditions?</a:t>
            </a:r>
          </a:p>
        </p:txBody>
      </p:sp>
      <p:sp>
        <p:nvSpPr>
          <p:cNvPr id="8" name="Rettangolo 7">
            <a:extLst xmlns:a="http://schemas.openxmlformats.org/drawingml/2006/main">
              <a:ext uri="{FF2B5EF4-FFF2-40B4-BE49-F238E27FC236}">
                <a16:creationId xmlns:a16="http://schemas.microsoft.com/office/drawing/2014/main" id="{21C60FC9-62A2-4C61-8FF4-834622D26C25}"/>
              </a:ext>
            </a:extLst>
          </p:cNvPr>
          <p:cNvSpPr>
            <a:spLocks xmlns:a="http://schemas.openxmlformats.org/drawingml/2006/main" noGrp="1"/>
          </p:cNvSpPr>
          <p:nvPr/>
        </p:nvSpPr>
        <p:spPr>
          <a:xfrm xmlns:a="http://schemas.openxmlformats.org/drawingml/2006/main">
            <a:off x="2000250" y="2247900"/>
            <a:ext cx="950595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Rettangolo 8">
            <a:extLst xmlns:a="http://schemas.openxmlformats.org/drawingml/2006/main">
              <a:ext uri="{FF2B5EF4-FFF2-40B4-BE49-F238E27FC236}">
                <a16:creationId xmlns:a16="http://schemas.microsoft.com/office/drawing/2014/main" id="{5E6437C9-09C1-42B9-9D92-FAEBBDA67E6F}"/>
              </a:ext>
            </a:extLst>
          </p:cNvPr>
          <p:cNvSpPr>
            <a:spLocks xmlns:a="http://schemas.openxmlformats.org/drawingml/2006/main" noGrp="1"/>
          </p:cNvSpPr>
          <p:nvPr/>
        </p:nvSpPr>
        <p:spPr>
          <a:xfrm xmlns:a="http://schemas.openxmlformats.org/drawingml/2006/main">
            <a:off x="685800" y="2466975"/>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233A70"/>
                </a:solidFill>
                <a:latin typeface="Arial"/>
                <a:ea typeface="Arial"/>
                <a:cs typeface="Arial"/>
              </a:defRPr>
            </a:pPr>
            <a:r>
              <a:rPr sz="2100" b="1">
                <a:solidFill>
                  <a:srgbClr val="233A70"/>
                </a:solidFill>
                <a:latin typeface="Arial"/>
                <a:ea typeface="Arial"/>
                <a:cs typeface="Arial"/>
              </a:rPr>
              <a:t>RQ2</a:t>
            </a:r>
          </a:p>
        </p:txBody>
      </p:sp>
      <p:sp>
        <p:nvSpPr>
          <p:cNvPr id="10" name="Rettangolo 9">
            <a:extLst xmlns:a="http://schemas.openxmlformats.org/drawingml/2006/main">
              <a:ext uri="{FF2B5EF4-FFF2-40B4-BE49-F238E27FC236}">
                <a16:creationId xmlns:a16="http://schemas.microsoft.com/office/drawing/2014/main" id="{D47212FC-48F3-41EC-9CC7-4DD7E3283F95}"/>
              </a:ext>
            </a:extLst>
          </p:cNvPr>
          <p:cNvSpPr>
            <a:spLocks xmlns:a="http://schemas.openxmlformats.org/drawingml/2006/main" noGrp="1"/>
          </p:cNvSpPr>
          <p:nvPr/>
        </p:nvSpPr>
        <p:spPr>
          <a:xfrm xmlns:a="http://schemas.openxmlformats.org/drawingml/2006/main">
            <a:off x="2000250" y="2466975"/>
            <a:ext cx="950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172033"/>
                </a:solidFill>
                <a:latin typeface="Arial"/>
                <a:ea typeface="Arial"/>
                <a:cs typeface="Arial"/>
              </a:defRPr>
            </a:pPr>
            <a:r>
              <a:rPr sz="1650" b="0">
                <a:solidFill>
                  <a:srgbClr val="172033"/>
                </a:solidFill>
                <a:latin typeface="Arial"/>
                <a:ea typeface="Arial"/>
                <a:cs typeface="Arial"/>
              </a:rPr>
              <a:t>How do direct source-model attacks, cross-architecture transfer and model-agnostic Color Shift differ?</a:t>
            </a:r>
          </a:p>
        </p:txBody>
      </p:sp>
      <p:sp>
        <p:nvSpPr>
          <p:cNvPr id="11" name="Rettangolo 10">
            <a:extLst xmlns:a="http://schemas.openxmlformats.org/drawingml/2006/main">
              <a:ext uri="{FF2B5EF4-FFF2-40B4-BE49-F238E27FC236}">
                <a16:creationId xmlns:a16="http://schemas.microsoft.com/office/drawing/2014/main" id="{4C1C58C5-07A3-4CA4-BB48-B55541E160B0}"/>
              </a:ext>
            </a:extLst>
          </p:cNvPr>
          <p:cNvSpPr>
            <a:spLocks xmlns:a="http://schemas.openxmlformats.org/drawingml/2006/main" noGrp="1"/>
          </p:cNvSpPr>
          <p:nvPr/>
        </p:nvSpPr>
        <p:spPr>
          <a:xfrm xmlns:a="http://schemas.openxmlformats.org/drawingml/2006/main">
            <a:off x="2000250" y="3248025"/>
            <a:ext cx="950595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Rettangolo 11">
            <a:extLst xmlns:a="http://schemas.openxmlformats.org/drawingml/2006/main">
              <a:ext uri="{FF2B5EF4-FFF2-40B4-BE49-F238E27FC236}">
                <a16:creationId xmlns:a16="http://schemas.microsoft.com/office/drawing/2014/main" id="{16756826-4AF4-44E9-AEA3-B34F4931B102}"/>
              </a:ext>
            </a:extLst>
          </p:cNvPr>
          <p:cNvSpPr>
            <a:spLocks xmlns:a="http://schemas.openxmlformats.org/drawingml/2006/main" noGrp="1"/>
          </p:cNvSpPr>
          <p:nvPr/>
        </p:nvSpPr>
        <p:spPr>
          <a:xfrm xmlns:a="http://schemas.openxmlformats.org/drawingml/2006/main">
            <a:off x="685800" y="346710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233A70"/>
                </a:solidFill>
                <a:latin typeface="Arial"/>
                <a:ea typeface="Arial"/>
                <a:cs typeface="Arial"/>
              </a:defRPr>
            </a:pPr>
            <a:r>
              <a:rPr sz="2100" b="1">
                <a:solidFill>
                  <a:srgbClr val="233A70"/>
                </a:solidFill>
                <a:latin typeface="Arial"/>
                <a:ea typeface="Arial"/>
                <a:cs typeface="Arial"/>
              </a:rPr>
              <a:t>RQ3</a:t>
            </a:r>
          </a:p>
        </p:txBody>
      </p:sp>
      <p:sp>
        <p:nvSpPr>
          <p:cNvPr id="13" name="Rettangolo 12">
            <a:extLst xmlns:a="http://schemas.openxmlformats.org/drawingml/2006/main">
              <a:ext uri="{FF2B5EF4-FFF2-40B4-BE49-F238E27FC236}">
                <a16:creationId xmlns:a16="http://schemas.microsoft.com/office/drawing/2014/main" id="{346DA074-5DB2-4080-A017-58881045F2EB}"/>
              </a:ext>
            </a:extLst>
          </p:cNvPr>
          <p:cNvSpPr>
            <a:spLocks xmlns:a="http://schemas.openxmlformats.org/drawingml/2006/main" noGrp="1"/>
          </p:cNvSpPr>
          <p:nvPr/>
        </p:nvSpPr>
        <p:spPr>
          <a:xfrm xmlns:a="http://schemas.openxmlformats.org/drawingml/2006/main">
            <a:off x="2000250" y="3467100"/>
            <a:ext cx="950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172033"/>
                </a:solidFill>
                <a:latin typeface="Arial"/>
                <a:ea typeface="Arial"/>
                <a:cs typeface="Arial"/>
              </a:defRPr>
            </a:pPr>
            <a:r>
              <a:rPr sz="1650" b="0">
                <a:solidFill>
                  <a:srgbClr val="172033"/>
                </a:solidFill>
                <a:latin typeface="Arial"/>
                <a:ea typeface="Arial"/>
                <a:cs typeface="Arial"/>
              </a:rPr>
              <a:t>How do black-box outputs and configuration choices shape the observed operational profiles?</a:t>
            </a:r>
          </a:p>
        </p:txBody>
      </p:sp>
      <p:sp>
        <p:nvSpPr>
          <p:cNvPr id="14" name="Rettangolo 13">
            <a:extLst xmlns:a="http://schemas.openxmlformats.org/drawingml/2006/main">
              <a:ext uri="{FF2B5EF4-FFF2-40B4-BE49-F238E27FC236}">
                <a16:creationId xmlns:a16="http://schemas.microsoft.com/office/drawing/2014/main" id="{889BFF6A-0AC6-41F8-ACE2-0A4C4610C426}"/>
              </a:ext>
            </a:extLst>
          </p:cNvPr>
          <p:cNvSpPr>
            <a:spLocks xmlns:a="http://schemas.openxmlformats.org/drawingml/2006/main" noGrp="1"/>
          </p:cNvSpPr>
          <p:nvPr/>
        </p:nvSpPr>
        <p:spPr>
          <a:xfrm xmlns:a="http://schemas.openxmlformats.org/drawingml/2006/main">
            <a:off x="2000250" y="4248150"/>
            <a:ext cx="950595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Rettangolo 14">
            <a:extLst xmlns:a="http://schemas.openxmlformats.org/drawingml/2006/main">
              <a:ext uri="{FF2B5EF4-FFF2-40B4-BE49-F238E27FC236}">
                <a16:creationId xmlns:a16="http://schemas.microsoft.com/office/drawing/2014/main" id="{66853AED-6463-4B5B-A2DD-E44819CAF7D8}"/>
              </a:ext>
            </a:extLst>
          </p:cNvPr>
          <p:cNvSpPr>
            <a:spLocks xmlns:a="http://schemas.openxmlformats.org/drawingml/2006/main" noGrp="1"/>
          </p:cNvSpPr>
          <p:nvPr/>
        </p:nvSpPr>
        <p:spPr>
          <a:xfrm xmlns:a="http://schemas.openxmlformats.org/drawingml/2006/main">
            <a:off x="685800" y="4467225"/>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233A70"/>
                </a:solidFill>
                <a:latin typeface="Arial"/>
                <a:ea typeface="Arial"/>
                <a:cs typeface="Arial"/>
              </a:defRPr>
            </a:pPr>
            <a:r>
              <a:rPr sz="2100" b="1">
                <a:solidFill>
                  <a:srgbClr val="233A70"/>
                </a:solidFill>
                <a:latin typeface="Arial"/>
                <a:ea typeface="Arial"/>
                <a:cs typeface="Arial"/>
              </a:rPr>
              <a:t>RQ4</a:t>
            </a:r>
          </a:p>
        </p:txBody>
      </p:sp>
      <p:sp>
        <p:nvSpPr>
          <p:cNvPr id="16" name="Rettangolo 15">
            <a:extLst xmlns:a="http://schemas.openxmlformats.org/drawingml/2006/main">
              <a:ext uri="{FF2B5EF4-FFF2-40B4-BE49-F238E27FC236}">
                <a16:creationId xmlns:a16="http://schemas.microsoft.com/office/drawing/2014/main" id="{6524EA49-2AAE-4745-B332-0434260C06F8}"/>
              </a:ext>
            </a:extLst>
          </p:cNvPr>
          <p:cNvSpPr>
            <a:spLocks xmlns:a="http://schemas.openxmlformats.org/drawingml/2006/main" noGrp="1"/>
          </p:cNvSpPr>
          <p:nvPr/>
        </p:nvSpPr>
        <p:spPr>
          <a:xfrm xmlns:a="http://schemas.openxmlformats.org/drawingml/2006/main">
            <a:off x="2000250" y="4467225"/>
            <a:ext cx="950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172033"/>
                </a:solidFill>
                <a:latin typeface="Arial"/>
                <a:ea typeface="Arial"/>
                <a:cs typeface="Arial"/>
              </a:defRPr>
            </a:pPr>
            <a:r>
              <a:rPr sz="1650" b="0">
                <a:solidFill>
                  <a:srgbClr val="172033"/>
                </a:solidFill>
                <a:latin typeface="Arial"/>
                <a:ea typeface="Arial"/>
                <a:cs typeface="Arial"/>
              </a:rPr>
              <a:t>Which directional errors, degradations, OOD assignments and unknown states matter for continued human review?</a:t>
            </a:r>
          </a:p>
        </p:txBody>
      </p:sp>
      <p:sp>
        <p:nvSpPr>
          <p:cNvPr id="17" name="Rettangolo con angoli arrotondati 16">
            <a:extLst xmlns:a="http://schemas.openxmlformats.org/drawingml/2006/main">
              <a:ext uri="{FF2B5EF4-FFF2-40B4-BE49-F238E27FC236}">
                <a16:creationId xmlns:a16="http://schemas.microsoft.com/office/drawing/2014/main" id="{A2A1A18D-89F3-4B35-9E6B-FF22B6E99FEB}"/>
              </a:ext>
            </a:extLst>
          </p:cNvPr>
          <p:cNvSpPr>
            <a:spLocks xmlns:a="http://schemas.openxmlformats.org/drawingml/2006/main" noGrp="1"/>
          </p:cNvSpPr>
          <p:nvPr/>
        </p:nvSpPr>
        <p:spPr>
          <a:xfrm xmlns:a="http://schemas.openxmlformats.org/drawingml/2006/main">
            <a:off x="1695450" y="5657850"/>
            <a:ext cx="8801100" cy="552450"/>
          </a:xfrm>
          <a:prstGeom xmlns:a="http://schemas.openxmlformats.org/drawingml/2006/main" prst="roundRect">
            <a:avLst>
              <a:gd name="adj" fmla="val 24138"/>
            </a:avLst>
          </a:prstGeom>
          <a:solidFill xmlns:a="http://schemas.openxmlformats.org/drawingml/2006/main">
            <a:srgbClr val="E9EEF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8" name="Rettangolo 17">
            <a:extLst xmlns:a="http://schemas.openxmlformats.org/drawingml/2006/main">
              <a:ext uri="{FF2B5EF4-FFF2-40B4-BE49-F238E27FC236}">
                <a16:creationId xmlns:a16="http://schemas.microsoft.com/office/drawing/2014/main" id="{073F03E5-3A3D-4C28-AB4A-460511D330F5}"/>
              </a:ext>
            </a:extLst>
          </p:cNvPr>
          <p:cNvSpPr>
            <a:spLocks xmlns:a="http://schemas.openxmlformats.org/drawingml/2006/main" noGrp="1"/>
          </p:cNvSpPr>
          <p:nvPr/>
        </p:nvSpPr>
        <p:spPr>
          <a:xfrm xmlns:a="http://schemas.openxmlformats.org/drawingml/2006/main">
            <a:off x="1943100" y="5810250"/>
            <a:ext cx="830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233A70"/>
                </a:solidFill>
                <a:latin typeface="Arial"/>
                <a:ea typeface="Arial"/>
                <a:cs typeface="Arial"/>
              </a:defRPr>
            </a:pPr>
            <a:r>
              <a:rPr sz="1350" b="1">
                <a:solidFill>
                  <a:srgbClr val="233A70"/>
                </a:solidFill>
                <a:latin typeface="Arial"/>
                <a:ea typeface="Arial"/>
                <a:cs typeface="Arial"/>
              </a:rPr>
              <a:t>Scope: operational robustness under the frozen protocol—not certification, legal admissibility or universal ranking.</a:t>
            </a:r>
          </a:p>
        </p:txBody>
      </p:sp>
    </p:spTree>
    <p:extLst>
      <p:ext uri="{BB962C8B-B14F-4D97-AF65-F5344CB8AC3E}">
        <p14:creationId xmlns:p14="http://schemas.microsoft.com/office/powerpoint/2010/main" val="1631516006"/>
      </p:ext>
    </p:extLst>
  </p:cSld>
</p:sld>
</file>

<file path=ppt/slides/slide1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4" name="Rettangolo 13">
            <a:extLst xmlns:a="http://schemas.openxmlformats.org/drawingml/2006/main">
              <a:ext uri="{FF2B5EF4-FFF2-40B4-BE49-F238E27FC236}">
                <a16:creationId xmlns:a16="http://schemas.microsoft.com/office/drawing/2014/main" id="{CA8BCD57-59D3-4186-B677-2B942AA426C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A664D4C8-DB63-4397-A1DC-38A731E7A802}"/>
              </a:ext>
            </a:extLst>
          </p:cNvPr>
          <p:cNvSpPr>
            <a:spLocks xmlns:a="http://schemas.openxmlformats.org/drawingml/2006/main" noGrp="1"/>
          </p:cNvSpPr>
          <p:nvPr/>
        </p:nvSpPr>
        <p:spPr>
          <a:xfrm xmlns:a="http://schemas.openxmlformats.org/drawingml/2006/main">
            <a:off x="685800" y="7048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Perturbation suite and threat paths</a:t>
            </a:r>
          </a:p>
        </p:txBody>
      </p:sp>
      <p:sp>
        <p:nvSpPr>
          <p:cNvPr id="3" name="Rettangolo 2">
            <a:extLst xmlns:a="http://schemas.openxmlformats.org/drawingml/2006/main">
              <a:ext uri="{FF2B5EF4-FFF2-40B4-BE49-F238E27FC236}">
                <a16:creationId xmlns:a16="http://schemas.microsoft.com/office/drawing/2014/main" id="{050033A1-00F7-455E-B3DC-9BB2071622D8}"/>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AFF74B47-9C30-488E-854C-6081B30E2431}"/>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0F11E95E-70A3-42C7-A98E-2E58DEE52D6D}"/>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B2</a:t>
            </a:r>
          </a:p>
        </p:txBody>
      </p:sp>
      <p:sp>
        <p:nvSpPr>
          <p:cNvPr id="6" name="Rettangolo con angoli arrotondati 5">
            <a:extLst xmlns:a="http://schemas.openxmlformats.org/drawingml/2006/main">
              <a:ext uri="{FF2B5EF4-FFF2-40B4-BE49-F238E27FC236}">
                <a16:creationId xmlns:a16="http://schemas.microsoft.com/office/drawing/2014/main" id="{A0B79341-B31C-49EA-9E0A-6023304E20C5}"/>
              </a:ext>
            </a:extLst>
          </p:cNvPr>
          <p:cNvSpPr>
            <a:spLocks xmlns:a="http://schemas.openxmlformats.org/drawingml/2006/main" noGrp="1"/>
          </p:cNvSpPr>
          <p:nvPr/>
        </p:nvSpPr>
        <p:spPr>
          <a:xfrm xmlns:a="http://schemas.openxmlformats.org/drawingml/2006/main">
            <a:off x="685800" y="1409700"/>
            <a:ext cx="5143500" cy="3257550"/>
          </a:xfrm>
          <a:prstGeom xmlns:a="http://schemas.openxmlformats.org/drawingml/2006/main" prst="roundRect">
            <a:avLst>
              <a:gd name="adj" fmla="val 5263"/>
            </a:avLst>
          </a:prstGeom>
          <a:solidFill xmlns:a="http://schemas.openxmlformats.org/drawingml/2006/main">
            <a:srgbClr val="FBEA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6">
            <a:extLst xmlns:a="http://schemas.openxmlformats.org/drawingml/2006/main">
              <a:ext uri="{FF2B5EF4-FFF2-40B4-BE49-F238E27FC236}">
                <a16:creationId xmlns:a16="http://schemas.microsoft.com/office/drawing/2014/main" id="{876C10F7-B22F-4E20-B37B-5B6B6D900D7F}"/>
              </a:ext>
            </a:extLst>
          </p:cNvPr>
          <p:cNvSpPr>
            <a:spLocks xmlns:a="http://schemas.openxmlformats.org/drawingml/2006/main" noGrp="1"/>
          </p:cNvSpPr>
          <p:nvPr/>
        </p:nvSpPr>
        <p:spPr>
          <a:xfrm xmlns:a="http://schemas.openxmlformats.org/drawingml/2006/main">
            <a:off x="990600" y="1695450"/>
            <a:ext cx="453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BE3C37"/>
                </a:solidFill>
                <a:latin typeface="Arial"/>
                <a:ea typeface="Arial"/>
                <a:cs typeface="Arial"/>
              </a:defRPr>
            </a:pPr>
            <a:r>
              <a:rPr sz="1425" b="1">
                <a:solidFill>
                  <a:srgbClr val="BE3C37"/>
                </a:solidFill>
                <a:latin typeface="Arial"/>
                <a:ea typeface="Arial"/>
                <a:cs typeface="Arial"/>
              </a:rPr>
              <a:t>ADVERSARIAL / ADVERSARIAL-STYLE</a:t>
            </a:r>
          </a:p>
        </p:txBody>
      </p:sp>
      <p:sp>
        <p:nvSpPr>
          <p:cNvPr id="8" name="Rettangolo 7">
            <a:extLst xmlns:a="http://schemas.openxmlformats.org/drawingml/2006/main">
              <a:ext uri="{FF2B5EF4-FFF2-40B4-BE49-F238E27FC236}">
                <a16:creationId xmlns:a16="http://schemas.microsoft.com/office/drawing/2014/main" id="{447AD97F-196E-4136-B002-B51E79441679}"/>
              </a:ext>
            </a:extLst>
          </p:cNvPr>
          <p:cNvSpPr>
            <a:spLocks xmlns:a="http://schemas.openxmlformats.org/drawingml/2006/main" noGrp="1"/>
          </p:cNvSpPr>
          <p:nvPr/>
        </p:nvSpPr>
        <p:spPr>
          <a:xfrm xmlns:a="http://schemas.openxmlformats.org/drawingml/2006/main">
            <a:off x="1181100" y="2209800"/>
            <a:ext cx="40957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FGSM</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One Pixel</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Sigma Zero</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SuperDeepFool</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Color Shift · deterministic, model-agnostic</a:t>
            </a:r>
          </a:p>
        </p:txBody>
      </p:sp>
      <p:sp>
        <p:nvSpPr>
          <p:cNvPr id="9" name="Rettangolo con angoli arrotondati 8">
            <a:extLst xmlns:a="http://schemas.openxmlformats.org/drawingml/2006/main">
              <a:ext uri="{FF2B5EF4-FFF2-40B4-BE49-F238E27FC236}">
                <a16:creationId xmlns:a16="http://schemas.microsoft.com/office/drawing/2014/main" id="{0CD6EE3C-FCAC-4DB0-A388-5E60E7E7628B}"/>
              </a:ext>
            </a:extLst>
          </p:cNvPr>
          <p:cNvSpPr>
            <a:spLocks xmlns:a="http://schemas.openxmlformats.org/drawingml/2006/main" noGrp="1"/>
          </p:cNvSpPr>
          <p:nvPr/>
        </p:nvSpPr>
        <p:spPr>
          <a:xfrm xmlns:a="http://schemas.openxmlformats.org/drawingml/2006/main">
            <a:off x="6362700" y="1409700"/>
            <a:ext cx="5143500" cy="3257550"/>
          </a:xfrm>
          <a:prstGeom xmlns:a="http://schemas.openxmlformats.org/drawingml/2006/main" prst="roundRect">
            <a:avLst>
              <a:gd name="adj" fmla="val 5263"/>
            </a:avLst>
          </a:prstGeom>
          <a:solidFill xmlns:a="http://schemas.openxmlformats.org/drawingml/2006/main">
            <a:srgbClr val="E7F8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Rettangolo 9">
            <a:extLst xmlns:a="http://schemas.openxmlformats.org/drawingml/2006/main">
              <a:ext uri="{FF2B5EF4-FFF2-40B4-BE49-F238E27FC236}">
                <a16:creationId xmlns:a16="http://schemas.microsoft.com/office/drawing/2014/main" id="{5A293CCE-1472-41B6-8448-5C544B376364}"/>
              </a:ext>
            </a:extLst>
          </p:cNvPr>
          <p:cNvSpPr>
            <a:spLocks xmlns:a="http://schemas.openxmlformats.org/drawingml/2006/main" noGrp="1"/>
          </p:cNvSpPr>
          <p:nvPr/>
        </p:nvSpPr>
        <p:spPr>
          <a:xfrm xmlns:a="http://schemas.openxmlformats.org/drawingml/2006/main">
            <a:off x="6667500" y="1695450"/>
            <a:ext cx="453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087A50"/>
                </a:solidFill>
                <a:latin typeface="Arial"/>
                <a:ea typeface="Arial"/>
                <a:cs typeface="Arial"/>
              </a:defRPr>
            </a:pPr>
            <a:r>
              <a:rPr sz="1425" b="1">
                <a:solidFill>
                  <a:srgbClr val="087A50"/>
                </a:solidFill>
                <a:latin typeface="Arial"/>
                <a:ea typeface="Arial"/>
                <a:cs typeface="Arial"/>
              </a:rPr>
              <a:t>ANTI-FORENSIC TRANSFORMATIONS</a:t>
            </a:r>
          </a:p>
        </p:txBody>
      </p:sp>
      <p:sp>
        <p:nvSpPr>
          <p:cNvPr id="11" name="Rettangolo 10">
            <a:extLst xmlns:a="http://schemas.openxmlformats.org/drawingml/2006/main">
              <a:ext uri="{FF2B5EF4-FFF2-40B4-BE49-F238E27FC236}">
                <a16:creationId xmlns:a16="http://schemas.microsoft.com/office/drawing/2014/main" id="{B8E10F48-906E-437E-B425-B1CDC1DAE933}"/>
              </a:ext>
            </a:extLst>
          </p:cNvPr>
          <p:cNvSpPr>
            <a:spLocks xmlns:a="http://schemas.openxmlformats.org/drawingml/2006/main" noGrp="1"/>
          </p:cNvSpPr>
          <p:nvPr/>
        </p:nvSpPr>
        <p:spPr>
          <a:xfrm xmlns:a="http://schemas.openxmlformats.org/drawingml/2006/main">
            <a:off x="6858000" y="2209800"/>
            <a:ext cx="40957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JPEG recompression</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Resample / resize</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Gaussian blur</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Histogram modification</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Contrast stretching</a:t>
            </a:r>
          </a:p>
        </p:txBody>
      </p:sp>
      <p:sp>
        <p:nvSpPr>
          <p:cNvPr id="12" name="Rettangolo con angoli arrotondati 11">
            <a:extLst xmlns:a="http://schemas.openxmlformats.org/drawingml/2006/main">
              <a:ext uri="{FF2B5EF4-FFF2-40B4-BE49-F238E27FC236}">
                <a16:creationId xmlns:a16="http://schemas.microsoft.com/office/drawing/2014/main" id="{CE895620-102C-4121-BF90-C416D624A75E}"/>
              </a:ext>
            </a:extLst>
          </p:cNvPr>
          <p:cNvSpPr>
            <a:spLocks xmlns:a="http://schemas.openxmlformats.org/drawingml/2006/main" noGrp="1"/>
          </p:cNvSpPr>
          <p:nvPr/>
        </p:nvSpPr>
        <p:spPr>
          <a:xfrm xmlns:a="http://schemas.openxmlformats.org/drawingml/2006/main">
            <a:off x="1123950" y="5067300"/>
            <a:ext cx="9944100" cy="914400"/>
          </a:xfrm>
          <a:prstGeom xmlns:a="http://schemas.openxmlformats.org/drawingml/2006/main" prst="roundRect">
            <a:avLst>
              <a:gd name="adj" fmla="val 16667"/>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3" name="Rettangolo 12">
            <a:extLst xmlns:a="http://schemas.openxmlformats.org/drawingml/2006/main">
              <a:ext uri="{FF2B5EF4-FFF2-40B4-BE49-F238E27FC236}">
                <a16:creationId xmlns:a16="http://schemas.microsoft.com/office/drawing/2014/main" id="{C9987658-DB36-4069-BD7C-3C01444A007E}"/>
              </a:ext>
            </a:extLst>
          </p:cNvPr>
          <p:cNvSpPr>
            <a:spLocks xmlns:a="http://schemas.openxmlformats.org/drawingml/2006/main" noGrp="1"/>
          </p:cNvSpPr>
          <p:nvPr/>
        </p:nvSpPr>
        <p:spPr>
          <a:xfrm xmlns:a="http://schemas.openxmlformats.org/drawingml/2006/main">
            <a:off x="1428750" y="5276850"/>
            <a:ext cx="933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Model-dependent attacks: direct on EfficientNet-B0  |  empirical transfer elsewhere</a:t>
            </a:r>
          </a:p>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Color Shift and anti-forensic transformations: model-agnostic conditions</a:t>
            </a:r>
          </a:p>
        </p:txBody>
      </p:sp>
    </p:spTree>
    <p:extLst>
      <p:ext uri="{BB962C8B-B14F-4D97-AF65-F5344CB8AC3E}">
        <p14:creationId xmlns:p14="http://schemas.microsoft.com/office/powerpoint/2010/main" val="98046221"/>
      </p:ext>
    </p:extLst>
  </p:cSld>
</p:sld>
</file>

<file path=ppt/slides/slide1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Rettangolo 23">
            <a:extLst xmlns:a="http://schemas.openxmlformats.org/drawingml/2006/main">
              <a:ext uri="{FF2B5EF4-FFF2-40B4-BE49-F238E27FC236}">
                <a16:creationId xmlns:a16="http://schemas.microsoft.com/office/drawing/2014/main" id="{132C68E0-F7BB-4D84-B514-2E0F71B3B1B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7D20E475-2A5D-459D-8AAB-9F303C543F6A}"/>
              </a:ext>
            </a:extLst>
          </p:cNvPr>
          <p:cNvSpPr>
            <a:spLocks xmlns:a="http://schemas.openxmlformats.org/drawingml/2006/main" noGrp="1"/>
          </p:cNvSpPr>
          <p:nvPr/>
        </p:nvSpPr>
        <p:spPr>
          <a:xfrm xmlns:a="http://schemas.openxmlformats.org/drawingml/2006/main">
            <a:off x="685800" y="7048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Traceability links sources to reported figures</a:t>
            </a:r>
          </a:p>
        </p:txBody>
      </p:sp>
      <p:sp>
        <p:nvSpPr>
          <p:cNvPr id="3" name="Rettangolo 2">
            <a:extLst xmlns:a="http://schemas.openxmlformats.org/drawingml/2006/main">
              <a:ext uri="{FF2B5EF4-FFF2-40B4-BE49-F238E27FC236}">
                <a16:creationId xmlns:a16="http://schemas.microsoft.com/office/drawing/2014/main" id="{5B5396AA-6D1B-4946-9C6D-8D0F818A01C1}"/>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AA3F1E25-2383-4EC9-B6D0-9445F682B414}"/>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49F56C24-1E99-42B1-9770-88B2B95F402B}"/>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B3</a:t>
            </a:r>
          </a:p>
        </p:txBody>
      </p:sp>
      <p:sp>
        <p:nvSpPr>
          <p:cNvPr id="6" name="Rettangolo 5">
            <a:extLst xmlns:a="http://schemas.openxmlformats.org/drawingml/2006/main">
              <a:ext uri="{FF2B5EF4-FFF2-40B4-BE49-F238E27FC236}">
                <a16:creationId xmlns:a16="http://schemas.microsoft.com/office/drawing/2014/main" id="{7C39DB82-1F28-4EF9-B5A0-94D0168F6F0D}"/>
              </a:ext>
            </a:extLst>
          </p:cNvPr>
          <p:cNvSpPr>
            <a:spLocks xmlns:a="http://schemas.openxmlformats.org/drawingml/2006/main" noGrp="1"/>
          </p:cNvSpPr>
          <p:nvPr/>
        </p:nvSpPr>
        <p:spPr>
          <a:xfrm xmlns:a="http://schemas.openxmlformats.org/drawingml/2006/main">
            <a:off x="1657350" y="2609850"/>
            <a:ext cx="8877300" cy="6667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con angoli arrotondati 6">
            <a:extLst xmlns:a="http://schemas.openxmlformats.org/drawingml/2006/main">
              <a:ext uri="{FF2B5EF4-FFF2-40B4-BE49-F238E27FC236}">
                <a16:creationId xmlns:a16="http://schemas.microsoft.com/office/drawing/2014/main" id="{DD3F15EF-FC7C-4F92-836B-00742035B3B5}"/>
              </a:ext>
            </a:extLst>
          </p:cNvPr>
          <p:cNvSpPr>
            <a:spLocks xmlns:a="http://schemas.openxmlformats.org/drawingml/2006/main" noGrp="1"/>
          </p:cNvSpPr>
          <p:nvPr/>
        </p:nvSpPr>
        <p:spPr>
          <a:xfrm xmlns:a="http://schemas.openxmlformats.org/drawingml/2006/main">
            <a:off x="685800" y="1885950"/>
            <a:ext cx="171450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ettangolo 7">
            <a:extLst xmlns:a="http://schemas.openxmlformats.org/drawingml/2006/main">
              <a:ext uri="{FF2B5EF4-FFF2-40B4-BE49-F238E27FC236}">
                <a16:creationId xmlns:a16="http://schemas.microsoft.com/office/drawing/2014/main" id="{31A8BB3B-F18E-4303-80A6-E7E762AD1EB3}"/>
              </a:ext>
            </a:extLst>
          </p:cNvPr>
          <p:cNvSpPr>
            <a:spLocks xmlns:a="http://schemas.openxmlformats.org/drawingml/2006/main" noGrp="1"/>
          </p:cNvSpPr>
          <p:nvPr/>
        </p:nvSpPr>
        <p:spPr>
          <a:xfrm xmlns:a="http://schemas.openxmlformats.org/drawingml/2006/main">
            <a:off x="800100" y="211455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233A70"/>
                </a:solidFill>
                <a:latin typeface="Arial"/>
                <a:ea typeface="Arial"/>
                <a:cs typeface="Arial"/>
              </a:defRPr>
            </a:pPr>
            <a:r>
              <a:rPr sz="1275" b="1">
                <a:solidFill>
                  <a:srgbClr val="233A70"/>
                </a:solidFill>
                <a:latin typeface="Arial"/>
                <a:ea typeface="Arial"/>
                <a:cs typeface="Arial"/>
              </a:rPr>
              <a:t>SOURCE</a:t>
            </a:r>
          </a:p>
        </p:txBody>
      </p:sp>
      <p:sp>
        <p:nvSpPr>
          <p:cNvPr id="9" name="Rettangolo 8">
            <a:extLst xmlns:a="http://schemas.openxmlformats.org/drawingml/2006/main">
              <a:ext uri="{FF2B5EF4-FFF2-40B4-BE49-F238E27FC236}">
                <a16:creationId xmlns:a16="http://schemas.microsoft.com/office/drawing/2014/main" id="{9DD03EAC-F71C-40B3-80E5-2DA59F31F6F8}"/>
              </a:ext>
            </a:extLst>
          </p:cNvPr>
          <p:cNvSpPr>
            <a:spLocks xmlns:a="http://schemas.openxmlformats.org/drawingml/2006/main" noGrp="1"/>
          </p:cNvSpPr>
          <p:nvPr/>
        </p:nvSpPr>
        <p:spPr>
          <a:xfrm xmlns:a="http://schemas.openxmlformats.org/drawingml/2006/main">
            <a:off x="800100" y="2533650"/>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275" b="0">
                <a:solidFill>
                  <a:srgbClr val="5B6577"/>
                </a:solidFill>
                <a:latin typeface="Arial"/>
                <a:ea typeface="Arial"/>
                <a:cs typeface="Arial"/>
              </a:defRPr>
            </a:pPr>
            <a:r>
              <a:rPr sz="1275" b="0">
                <a:solidFill>
                  <a:srgbClr val="5B6577"/>
                </a:solidFill>
                <a:latin typeface="Arial"/>
                <a:ea typeface="Arial"/>
                <a:cs typeface="Arial"/>
              </a:rPr>
              <a:t>dataset manifests</a:t>
            </a:r>
          </a:p>
          <a:p xmlns:a="http://schemas.openxmlformats.org/drawingml/2006/main">
            <a:pPr algn="ctr">
              <a:buNone/>
              <a:defRPr sz="1275" b="0">
                <a:solidFill>
                  <a:srgbClr val="5B6577"/>
                </a:solidFill>
                <a:latin typeface="Arial"/>
                <a:ea typeface="Arial"/>
                <a:cs typeface="Arial"/>
              </a:defRPr>
            </a:pPr>
            <a:r>
              <a:rPr sz="1275" b="0">
                <a:solidFill>
                  <a:srgbClr val="5B6577"/>
                </a:solidFill>
                <a:latin typeface="Arial"/>
                <a:ea typeface="Arial"/>
                <a:cs typeface="Arial"/>
              </a:rPr>
              <a:t>manual review</a:t>
            </a:r>
          </a:p>
        </p:txBody>
      </p:sp>
      <p:sp>
        <p:nvSpPr>
          <p:cNvPr id="10" name="Rettangolo con angoli arrotondati 9">
            <a:extLst xmlns:a="http://schemas.openxmlformats.org/drawingml/2006/main">
              <a:ext uri="{FF2B5EF4-FFF2-40B4-BE49-F238E27FC236}">
                <a16:creationId xmlns:a16="http://schemas.microsoft.com/office/drawing/2014/main" id="{2B26A88D-1776-4876-8181-037F2371B042}"/>
              </a:ext>
            </a:extLst>
          </p:cNvPr>
          <p:cNvSpPr>
            <a:spLocks xmlns:a="http://schemas.openxmlformats.org/drawingml/2006/main" noGrp="1"/>
          </p:cNvSpPr>
          <p:nvPr/>
        </p:nvSpPr>
        <p:spPr>
          <a:xfrm xmlns:a="http://schemas.openxmlformats.org/drawingml/2006/main">
            <a:off x="2876550" y="1885950"/>
            <a:ext cx="171450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ettangolo 10">
            <a:extLst xmlns:a="http://schemas.openxmlformats.org/drawingml/2006/main">
              <a:ext uri="{FF2B5EF4-FFF2-40B4-BE49-F238E27FC236}">
                <a16:creationId xmlns:a16="http://schemas.microsoft.com/office/drawing/2014/main" id="{9D87A7A1-41E2-4A42-8309-D39020B20FA2}"/>
              </a:ext>
            </a:extLst>
          </p:cNvPr>
          <p:cNvSpPr>
            <a:spLocks xmlns:a="http://schemas.openxmlformats.org/drawingml/2006/main" noGrp="1"/>
          </p:cNvSpPr>
          <p:nvPr/>
        </p:nvSpPr>
        <p:spPr>
          <a:xfrm xmlns:a="http://schemas.openxmlformats.org/drawingml/2006/main">
            <a:off x="2990850" y="211455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233A70"/>
                </a:solidFill>
                <a:latin typeface="Arial"/>
                <a:ea typeface="Arial"/>
                <a:cs typeface="Arial"/>
              </a:defRPr>
            </a:pPr>
            <a:r>
              <a:rPr sz="1275" b="1">
                <a:solidFill>
                  <a:srgbClr val="233A70"/>
                </a:solidFill>
                <a:latin typeface="Arial"/>
                <a:ea typeface="Arial"/>
                <a:cs typeface="Arial"/>
              </a:rPr>
              <a:t>DERIVATION</a:t>
            </a:r>
          </a:p>
        </p:txBody>
      </p:sp>
      <p:sp>
        <p:nvSpPr>
          <p:cNvPr id="12" name="Rettangolo 11">
            <a:extLst xmlns:a="http://schemas.openxmlformats.org/drawingml/2006/main">
              <a:ext uri="{FF2B5EF4-FFF2-40B4-BE49-F238E27FC236}">
                <a16:creationId xmlns:a16="http://schemas.microsoft.com/office/drawing/2014/main" id="{7C0978C2-178E-484C-97FD-18E4D03A80D0}"/>
              </a:ext>
            </a:extLst>
          </p:cNvPr>
          <p:cNvSpPr>
            <a:spLocks xmlns:a="http://schemas.openxmlformats.org/drawingml/2006/main" noGrp="1"/>
          </p:cNvSpPr>
          <p:nvPr/>
        </p:nvSpPr>
        <p:spPr>
          <a:xfrm xmlns:a="http://schemas.openxmlformats.org/drawingml/2006/main">
            <a:off x="2990850" y="2533650"/>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275" b="0">
                <a:solidFill>
                  <a:srgbClr val="5B6577"/>
                </a:solidFill>
                <a:latin typeface="Arial"/>
                <a:ea typeface="Arial"/>
                <a:cs typeface="Arial"/>
              </a:defRPr>
            </a:pPr>
            <a:r>
              <a:rPr sz="1275" b="0">
                <a:solidFill>
                  <a:srgbClr val="5B6577"/>
                </a:solidFill>
                <a:latin typeface="Arial"/>
                <a:ea typeface="Arial"/>
                <a:cs typeface="Arial"/>
              </a:rPr>
              <a:t>split + attack manifests</a:t>
            </a:r>
          </a:p>
          <a:p xmlns:a="http://schemas.openxmlformats.org/drawingml/2006/main">
            <a:pPr algn="ctr">
              <a:buNone/>
              <a:defRPr sz="1275" b="0">
                <a:solidFill>
                  <a:srgbClr val="5B6577"/>
                </a:solidFill>
                <a:latin typeface="Arial"/>
                <a:ea typeface="Arial"/>
                <a:cs typeface="Arial"/>
              </a:defRPr>
            </a:pPr>
            <a:r>
              <a:rPr sz="1275" b="0">
                <a:solidFill>
                  <a:srgbClr val="5B6577"/>
                </a:solidFill>
                <a:latin typeface="Arial"/>
                <a:ea typeface="Arial"/>
                <a:cs typeface="Arial"/>
              </a:rPr>
              <a:t>source–condition IDs</a:t>
            </a:r>
          </a:p>
        </p:txBody>
      </p:sp>
      <p:sp>
        <p:nvSpPr>
          <p:cNvPr id="13" name="Rettangolo con angoli arrotondati 12">
            <a:extLst xmlns:a="http://schemas.openxmlformats.org/drawingml/2006/main">
              <a:ext uri="{FF2B5EF4-FFF2-40B4-BE49-F238E27FC236}">
                <a16:creationId xmlns:a16="http://schemas.microsoft.com/office/drawing/2014/main" id="{13E5A335-8E9A-4904-877C-CEBA763E0F88}"/>
              </a:ext>
            </a:extLst>
          </p:cNvPr>
          <p:cNvSpPr>
            <a:spLocks xmlns:a="http://schemas.openxmlformats.org/drawingml/2006/main" noGrp="1"/>
          </p:cNvSpPr>
          <p:nvPr/>
        </p:nvSpPr>
        <p:spPr>
          <a:xfrm xmlns:a="http://schemas.openxmlformats.org/drawingml/2006/main">
            <a:off x="5067300" y="1885950"/>
            <a:ext cx="1714500" cy="1428750"/>
          </a:xfrm>
          <a:prstGeom xmlns:a="http://schemas.openxmlformats.org/drawingml/2006/main" prst="roundRect">
            <a:avLst>
              <a:gd name="adj" fmla="val 10667"/>
            </a:avLst>
          </a:prstGeom>
          <a:solidFill xmlns:a="http://schemas.openxmlformats.org/drawingml/2006/main">
            <a:srgbClr val="E7F8F0"/>
          </a:solidFill>
          <a:ln xmlns:a="http://schemas.openxmlformats.org/drawingml/2006/main" w="9525">
            <a:solidFill>
              <a:srgbClr val="E7F8F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ttangolo 13">
            <a:extLst xmlns:a="http://schemas.openxmlformats.org/drawingml/2006/main">
              <a:ext uri="{FF2B5EF4-FFF2-40B4-BE49-F238E27FC236}">
                <a16:creationId xmlns:a16="http://schemas.microsoft.com/office/drawing/2014/main" id="{6933333C-7762-40B6-A335-488B04D01FE9}"/>
              </a:ext>
            </a:extLst>
          </p:cNvPr>
          <p:cNvSpPr>
            <a:spLocks xmlns:a="http://schemas.openxmlformats.org/drawingml/2006/main" noGrp="1"/>
          </p:cNvSpPr>
          <p:nvPr/>
        </p:nvSpPr>
        <p:spPr>
          <a:xfrm xmlns:a="http://schemas.openxmlformats.org/drawingml/2006/main">
            <a:off x="5181600" y="211455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087A50"/>
                </a:solidFill>
                <a:latin typeface="Arial"/>
                <a:ea typeface="Arial"/>
                <a:cs typeface="Arial"/>
              </a:defRPr>
            </a:pPr>
            <a:r>
              <a:rPr sz="1275" b="1">
                <a:solidFill>
                  <a:srgbClr val="087A50"/>
                </a:solidFill>
                <a:latin typeface="Arial"/>
                <a:ea typeface="Arial"/>
                <a:cs typeface="Arial"/>
              </a:rPr>
              <a:t>DECISION</a:t>
            </a:r>
          </a:p>
        </p:txBody>
      </p:sp>
      <p:sp>
        <p:nvSpPr>
          <p:cNvPr id="15" name="Rettangolo 14">
            <a:extLst xmlns:a="http://schemas.openxmlformats.org/drawingml/2006/main">
              <a:ext uri="{FF2B5EF4-FFF2-40B4-BE49-F238E27FC236}">
                <a16:creationId xmlns:a16="http://schemas.microsoft.com/office/drawing/2014/main" id="{D6C7E621-5366-4ADA-9F42-14FFFBD21670}"/>
              </a:ext>
            </a:extLst>
          </p:cNvPr>
          <p:cNvSpPr>
            <a:spLocks xmlns:a="http://schemas.openxmlformats.org/drawingml/2006/main" noGrp="1"/>
          </p:cNvSpPr>
          <p:nvPr/>
        </p:nvSpPr>
        <p:spPr>
          <a:xfrm xmlns:a="http://schemas.openxmlformats.org/drawingml/2006/main">
            <a:off x="5181600" y="2533650"/>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275" b="0">
                <a:solidFill>
                  <a:srgbClr val="5B6577"/>
                </a:solidFill>
                <a:latin typeface="Arial"/>
                <a:ea typeface="Arial"/>
                <a:cs typeface="Arial"/>
              </a:defRPr>
            </a:pPr>
            <a:r>
              <a:rPr sz="1275" b="0">
                <a:solidFill>
                  <a:srgbClr val="5B6577"/>
                </a:solidFill>
                <a:latin typeface="Arial"/>
                <a:ea typeface="Arial"/>
                <a:cs typeface="Arial"/>
              </a:rPr>
              <a:t>proxy predictions</a:t>
            </a:r>
          </a:p>
          <a:p xmlns:a="http://schemas.openxmlformats.org/drawingml/2006/main">
            <a:pPr algn="ctr">
              <a:buNone/>
              <a:defRPr sz="1275" b="0">
                <a:solidFill>
                  <a:srgbClr val="5B6577"/>
                </a:solidFill>
                <a:latin typeface="Arial"/>
                <a:ea typeface="Arial"/>
                <a:cs typeface="Arial"/>
              </a:defRPr>
            </a:pPr>
            <a:r>
              <a:rPr sz="1275" b="0">
                <a:solidFill>
                  <a:srgbClr val="5B6577"/>
                </a:solidFill>
                <a:latin typeface="Arial"/>
                <a:ea typeface="Arial"/>
                <a:cs typeface="Arial"/>
              </a:rPr>
              <a:t>normalized tool outputs</a:t>
            </a:r>
          </a:p>
        </p:txBody>
      </p:sp>
      <p:sp>
        <p:nvSpPr>
          <p:cNvPr id="16" name="Rettangolo con angoli arrotondati 15">
            <a:extLst xmlns:a="http://schemas.openxmlformats.org/drawingml/2006/main">
              <a:ext uri="{FF2B5EF4-FFF2-40B4-BE49-F238E27FC236}">
                <a16:creationId xmlns:a16="http://schemas.microsoft.com/office/drawing/2014/main" id="{00315F4D-4D0F-46DA-8343-DC26FB1BF534}"/>
              </a:ext>
            </a:extLst>
          </p:cNvPr>
          <p:cNvSpPr>
            <a:spLocks xmlns:a="http://schemas.openxmlformats.org/drawingml/2006/main" noGrp="1"/>
          </p:cNvSpPr>
          <p:nvPr/>
        </p:nvSpPr>
        <p:spPr>
          <a:xfrm xmlns:a="http://schemas.openxmlformats.org/drawingml/2006/main">
            <a:off x="7258050" y="1885950"/>
            <a:ext cx="171450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Rettangolo 16">
            <a:extLst xmlns:a="http://schemas.openxmlformats.org/drawingml/2006/main">
              <a:ext uri="{FF2B5EF4-FFF2-40B4-BE49-F238E27FC236}">
                <a16:creationId xmlns:a16="http://schemas.microsoft.com/office/drawing/2014/main" id="{0EF42E65-D8F5-4F54-9D14-D8F427D0CFD4}"/>
              </a:ext>
            </a:extLst>
          </p:cNvPr>
          <p:cNvSpPr>
            <a:spLocks xmlns:a="http://schemas.openxmlformats.org/drawingml/2006/main" noGrp="1"/>
          </p:cNvSpPr>
          <p:nvPr/>
        </p:nvSpPr>
        <p:spPr>
          <a:xfrm xmlns:a="http://schemas.openxmlformats.org/drawingml/2006/main">
            <a:off x="7372350" y="211455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233A70"/>
                </a:solidFill>
                <a:latin typeface="Arial"/>
                <a:ea typeface="Arial"/>
                <a:cs typeface="Arial"/>
              </a:defRPr>
            </a:pPr>
            <a:r>
              <a:rPr sz="1275" b="1">
                <a:solidFill>
                  <a:srgbClr val="233A70"/>
                </a:solidFill>
                <a:latin typeface="Arial"/>
                <a:ea typeface="Arial"/>
                <a:cs typeface="Arial"/>
              </a:rPr>
              <a:t>METRIC</a:t>
            </a:r>
          </a:p>
        </p:txBody>
      </p:sp>
      <p:sp>
        <p:nvSpPr>
          <p:cNvPr id="18" name="Rettangolo 17">
            <a:extLst xmlns:a="http://schemas.openxmlformats.org/drawingml/2006/main">
              <a:ext uri="{FF2B5EF4-FFF2-40B4-BE49-F238E27FC236}">
                <a16:creationId xmlns:a16="http://schemas.microsoft.com/office/drawing/2014/main" id="{8C403EC8-1210-44A7-826A-A435B28EDA3E}"/>
              </a:ext>
            </a:extLst>
          </p:cNvPr>
          <p:cNvSpPr>
            <a:spLocks xmlns:a="http://schemas.openxmlformats.org/drawingml/2006/main" noGrp="1"/>
          </p:cNvSpPr>
          <p:nvPr/>
        </p:nvSpPr>
        <p:spPr>
          <a:xfrm xmlns:a="http://schemas.openxmlformats.org/drawingml/2006/main">
            <a:off x="7372350" y="2533650"/>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275" b="0">
                <a:solidFill>
                  <a:srgbClr val="5B6577"/>
                </a:solidFill>
                <a:latin typeface="Arial"/>
                <a:ea typeface="Arial"/>
                <a:cs typeface="Arial"/>
              </a:defRPr>
            </a:pPr>
            <a:r>
              <a:rPr sz="1275" b="0">
                <a:solidFill>
                  <a:srgbClr val="5B6577"/>
                </a:solidFill>
                <a:latin typeface="Arial"/>
                <a:ea typeface="Arial"/>
                <a:cs typeface="Arial"/>
              </a:rPr>
              <a:t>condition tables</a:t>
            </a:r>
          </a:p>
          <a:p xmlns:a="http://schemas.openxmlformats.org/drawingml/2006/main">
            <a:pPr algn="ctr">
              <a:buNone/>
              <a:defRPr sz="1275" b="0">
                <a:solidFill>
                  <a:srgbClr val="5B6577"/>
                </a:solidFill>
                <a:latin typeface="Arial"/>
                <a:ea typeface="Arial"/>
                <a:cs typeface="Arial"/>
              </a:defRPr>
            </a:pPr>
            <a:r>
              <a:rPr sz="1275" b="0">
                <a:solidFill>
                  <a:srgbClr val="5B6577"/>
                </a:solidFill>
                <a:latin typeface="Arial"/>
                <a:ea typeface="Arial"/>
                <a:cs typeface="Arial"/>
              </a:rPr>
              <a:t>directional errors</a:t>
            </a:r>
          </a:p>
        </p:txBody>
      </p:sp>
      <p:sp>
        <p:nvSpPr>
          <p:cNvPr id="19" name="Rettangolo con angoli arrotondati 18">
            <a:extLst xmlns:a="http://schemas.openxmlformats.org/drawingml/2006/main">
              <a:ext uri="{FF2B5EF4-FFF2-40B4-BE49-F238E27FC236}">
                <a16:creationId xmlns:a16="http://schemas.microsoft.com/office/drawing/2014/main" id="{44A407A9-0C70-42CE-96D8-4F4090679635}"/>
              </a:ext>
            </a:extLst>
          </p:cNvPr>
          <p:cNvSpPr>
            <a:spLocks xmlns:a="http://schemas.openxmlformats.org/drawingml/2006/main" noGrp="1"/>
          </p:cNvSpPr>
          <p:nvPr/>
        </p:nvSpPr>
        <p:spPr>
          <a:xfrm xmlns:a="http://schemas.openxmlformats.org/drawingml/2006/main">
            <a:off x="9448800" y="1885950"/>
            <a:ext cx="171450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Rettangolo 19">
            <a:extLst xmlns:a="http://schemas.openxmlformats.org/drawingml/2006/main">
              <a:ext uri="{FF2B5EF4-FFF2-40B4-BE49-F238E27FC236}">
                <a16:creationId xmlns:a16="http://schemas.microsoft.com/office/drawing/2014/main" id="{F11B0350-76FB-4DB6-9B42-178EBF016A42}"/>
              </a:ext>
            </a:extLst>
          </p:cNvPr>
          <p:cNvSpPr>
            <a:spLocks xmlns:a="http://schemas.openxmlformats.org/drawingml/2006/main" noGrp="1"/>
          </p:cNvSpPr>
          <p:nvPr/>
        </p:nvSpPr>
        <p:spPr>
          <a:xfrm xmlns:a="http://schemas.openxmlformats.org/drawingml/2006/main">
            <a:off x="9563100" y="211455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233A70"/>
                </a:solidFill>
                <a:latin typeface="Arial"/>
                <a:ea typeface="Arial"/>
                <a:cs typeface="Arial"/>
              </a:defRPr>
            </a:pPr>
            <a:r>
              <a:rPr sz="1275" b="1">
                <a:solidFill>
                  <a:srgbClr val="233A70"/>
                </a:solidFill>
                <a:latin typeface="Arial"/>
                <a:ea typeface="Arial"/>
                <a:cs typeface="Arial"/>
              </a:rPr>
              <a:t>REPORT</a:t>
            </a:r>
          </a:p>
        </p:txBody>
      </p:sp>
      <p:sp>
        <p:nvSpPr>
          <p:cNvPr id="21" name="Rettangolo 20">
            <a:extLst xmlns:a="http://schemas.openxmlformats.org/drawingml/2006/main">
              <a:ext uri="{FF2B5EF4-FFF2-40B4-BE49-F238E27FC236}">
                <a16:creationId xmlns:a16="http://schemas.microsoft.com/office/drawing/2014/main" id="{208868E6-4BF0-404D-BA6B-3AACD3C9C49D}"/>
              </a:ext>
            </a:extLst>
          </p:cNvPr>
          <p:cNvSpPr>
            <a:spLocks xmlns:a="http://schemas.openxmlformats.org/drawingml/2006/main" noGrp="1"/>
          </p:cNvSpPr>
          <p:nvPr/>
        </p:nvSpPr>
        <p:spPr>
          <a:xfrm xmlns:a="http://schemas.openxmlformats.org/drawingml/2006/main">
            <a:off x="9563100" y="2533650"/>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275" b="0">
                <a:solidFill>
                  <a:srgbClr val="5B6577"/>
                </a:solidFill>
                <a:latin typeface="Arial"/>
                <a:ea typeface="Arial"/>
                <a:cs typeface="Arial"/>
              </a:defRPr>
            </a:pPr>
            <a:r>
              <a:rPr sz="1275" b="0">
                <a:solidFill>
                  <a:srgbClr val="5B6577"/>
                </a:solidFill>
                <a:latin typeface="Arial"/>
                <a:ea typeface="Arial"/>
                <a:cs typeface="Arial"/>
              </a:rPr>
              <a:t>thesis figures</a:t>
            </a:r>
          </a:p>
          <a:p xmlns:a="http://schemas.openxmlformats.org/drawingml/2006/main">
            <a:pPr algn="ctr">
              <a:buNone/>
              <a:defRPr sz="1275" b="0">
                <a:solidFill>
                  <a:srgbClr val="5B6577"/>
                </a:solidFill>
                <a:latin typeface="Arial"/>
                <a:ea typeface="Arial"/>
                <a:cs typeface="Arial"/>
              </a:defRPr>
            </a:pPr>
            <a:r>
              <a:rPr sz="1275" b="0">
                <a:solidFill>
                  <a:srgbClr val="5B6577"/>
                </a:solidFill>
                <a:latin typeface="Arial"/>
                <a:ea typeface="Arial"/>
                <a:cs typeface="Arial"/>
              </a:rPr>
              <a:t>conclusion tables</a:t>
            </a:r>
          </a:p>
        </p:txBody>
      </p:sp>
      <p:sp>
        <p:nvSpPr>
          <p:cNvPr id="22" name="Rettangolo 21">
            <a:extLst xmlns:a="http://schemas.openxmlformats.org/drawingml/2006/main">
              <a:ext uri="{FF2B5EF4-FFF2-40B4-BE49-F238E27FC236}">
                <a16:creationId xmlns:a16="http://schemas.microsoft.com/office/drawing/2014/main" id="{143CDE96-C95C-4603-8D8F-39D3E4C03054}"/>
              </a:ext>
            </a:extLst>
          </p:cNvPr>
          <p:cNvSpPr>
            <a:spLocks xmlns:a="http://schemas.openxmlformats.org/drawingml/2006/main" noGrp="1"/>
          </p:cNvSpPr>
          <p:nvPr/>
        </p:nvSpPr>
        <p:spPr>
          <a:xfrm xmlns:a="http://schemas.openxmlformats.org/drawingml/2006/main">
            <a:off x="685800" y="39052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233A70"/>
                </a:solidFill>
                <a:latin typeface="Arial"/>
                <a:ea typeface="Arial"/>
                <a:cs typeface="Arial"/>
              </a:defRPr>
            </a:pPr>
            <a:r>
              <a:rPr sz="1650" b="1">
                <a:solidFill>
                  <a:srgbClr val="233A70"/>
                </a:solidFill>
                <a:latin typeface="Arial"/>
                <a:ea typeface="Arial"/>
                <a:cs typeface="Arial"/>
              </a:rPr>
              <a:t>Integrity and audit controls</a:t>
            </a:r>
          </a:p>
        </p:txBody>
      </p:sp>
      <p:sp>
        <p:nvSpPr>
          <p:cNvPr id="23" name="Rettangolo 22">
            <a:extLst xmlns:a="http://schemas.openxmlformats.org/drawingml/2006/main">
              <a:ext uri="{FF2B5EF4-FFF2-40B4-BE49-F238E27FC236}">
                <a16:creationId xmlns:a16="http://schemas.microsoft.com/office/drawing/2014/main" id="{11FB0154-B506-4357-9ADE-0DC5A01E2B7D}"/>
              </a:ext>
            </a:extLst>
          </p:cNvPr>
          <p:cNvSpPr>
            <a:spLocks xmlns:a="http://schemas.openxmlformats.org/drawingml/2006/main" noGrp="1"/>
          </p:cNvSpPr>
          <p:nvPr/>
        </p:nvSpPr>
        <p:spPr>
          <a:xfrm xmlns:a="http://schemas.openxmlformats.org/drawingml/2006/main">
            <a:off x="1714500" y="4438650"/>
            <a:ext cx="87630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SHA-256 digests for datasets, bundles, checkpoints and controlled artifacts</a:t>
            </a:r>
          </a:p>
          <a:p xmlns:a="http://schemas.openxmlformats.org/drawingml/2006/main">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Frozen model, tool-version and configuration registries</a:t>
            </a:r>
          </a:p>
          <a:p xmlns:a="http://schemas.openxmlformats.org/drawingml/2006/main">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Explicit output-normalization rules and unmatched/unknown handling</a:t>
            </a:r>
          </a:p>
          <a:p xmlns:a="http://schemas.openxmlformats.org/drawingml/2006/main">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Repository scripts regenerate metrics and thesis-ready reporting assets</a:t>
            </a:r>
          </a:p>
        </p:txBody>
      </p:sp>
    </p:spTree>
    <p:extLst>
      <p:ext uri="{BB962C8B-B14F-4D97-AF65-F5344CB8AC3E}">
        <p14:creationId xmlns:p14="http://schemas.microsoft.com/office/powerpoint/2010/main" val="2007090762"/>
      </p:ext>
    </p:extLst>
  </p:cSld>
</p:sld>
</file>

<file path=ppt/slides/slide1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Rettangolo 8">
            <a:extLst xmlns:a="http://schemas.openxmlformats.org/drawingml/2006/main">
              <a:ext uri="{FF2B5EF4-FFF2-40B4-BE49-F238E27FC236}">
                <a16:creationId xmlns:a16="http://schemas.microsoft.com/office/drawing/2014/main" id="{ECFD6A99-8731-4DCC-8B9C-3FAB62ADD79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CFE25CF9-76BA-4D25-BF65-031D10FFFE1E}"/>
              </a:ext>
            </a:extLst>
          </p:cNvPr>
          <p:cNvSpPr>
            <a:spLocks xmlns:a="http://schemas.openxmlformats.org/drawingml/2006/main" noGrp="1"/>
          </p:cNvSpPr>
          <p:nvPr/>
        </p:nvSpPr>
        <p:spPr>
          <a:xfrm xmlns:a="http://schemas.openxmlformats.org/drawingml/2006/main">
            <a:off x="685800" y="7048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Commercial clean metrics and OOD behavior</a:t>
            </a:r>
          </a:p>
        </p:txBody>
      </p:sp>
      <p:sp>
        <p:nvSpPr>
          <p:cNvPr id="3" name="Rettangolo 2">
            <a:extLst xmlns:a="http://schemas.openxmlformats.org/drawingml/2006/main">
              <a:ext uri="{FF2B5EF4-FFF2-40B4-BE49-F238E27FC236}">
                <a16:creationId xmlns:a16="http://schemas.microsoft.com/office/drawing/2014/main" id="{03D51E79-6B75-4622-885E-0AED5A111134}"/>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EE5EC74C-F846-4BB6-8F06-9C6093748B65}"/>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949061C5-1369-434C-85B4-B0C4550B3089}"/>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B4</a:t>
            </a:r>
          </a:p>
        </p:txBody>
      </p:sp>
      <p:graphicFrame>
        <p:nvGraphicFramePr>
          <p:cNvPr id="16" name="Tabella 15"/>
          <p:cNvGraphicFramePr/>
          <p:nvPr/>
        </p:nvGraphicFramePr>
        <p:xfrm>
          <a:off xmlns:a="http://schemas.openxmlformats.org/drawingml/2006/main" x="685800" y="1485900"/>
          <a:ext xmlns:a="http://schemas.openxmlformats.org/drawingml/2006/main" cx="10820399" cy="3714750"/>
        </p:xfrm>
        <a:graphic xmlns:a="http://schemas.openxmlformats.org/drawingml/2006/main">
          <a:graphicData uri="http://schemas.openxmlformats.org/drawingml/2006/table">
            <a:tbl>
              <a:tblPr/>
              <a:tblGrid>
                <a:gridCol w="3216876"/>
                <a:gridCol w="1462216"/>
                <a:gridCol w="1462216"/>
                <a:gridCol w="1462216"/>
                <a:gridCol w="1462216"/>
                <a:gridCol w="1754659"/>
              </a:tblGrid>
              <a:tr h="514350">
                <a:tc>
                  <a:txBody>
                    <a:bodyPr/>
                    <a:lstStyle/>
                    <a:p>
                      <a:pPr algn="l">
                        <a:buNone/>
                      </a:pPr>
                      <a:r>
                        <a:rPr sz="1425" b="1">
                          <a:solidFill>
                            <a:srgbClr val="FFFFFF"/>
                          </a:solidFill>
                        </a:rPr>
                        <a:t>Configuration</a:t>
                      </a:r>
                    </a:p>
                  </a:txBody>
                  <a:tcPr marL="91440" marR="91440" marT="45720" marB="45720" anchor="ctr">
                    <a:solidFill>
                      <a:srgbClr val="233A70"/>
                    </a:solidFill>
                  </a:tcPr>
                </a:tc>
                <a:tc>
                  <a:txBody>
                    <a:bodyPr/>
                    <a:lstStyle/>
                    <a:p>
                      <a:pPr algn="ctr">
                        <a:buNone/>
                      </a:pPr>
                      <a:r>
                        <a:rPr sz="1425" b="1">
                          <a:solidFill>
                            <a:srgbClr val="FFFFFF"/>
                          </a:solidFill>
                        </a:rPr>
                        <a:t>Accuracy</a:t>
                      </a:r>
                    </a:p>
                  </a:txBody>
                  <a:tcPr marL="91440" marR="91440" marT="45720" marB="45720" anchor="ctr">
                    <a:solidFill>
                      <a:srgbClr val="233A70"/>
                    </a:solidFill>
                  </a:tcPr>
                </a:tc>
                <a:tc>
                  <a:txBody>
                    <a:bodyPr/>
                    <a:lstStyle/>
                    <a:p>
                      <a:pPr algn="ctr">
                        <a:buNone/>
                      </a:pPr>
                      <a:r>
                        <a:rPr sz="1425" b="1">
                          <a:solidFill>
                            <a:srgbClr val="FFFFFF"/>
                          </a:solidFill>
                        </a:rPr>
                        <a:t>Recall</a:t>
                      </a:r>
                    </a:p>
                  </a:txBody>
                  <a:tcPr marL="91440" marR="91440" marT="45720" marB="45720" anchor="ctr">
                    <a:solidFill>
                      <a:srgbClr val="233A70"/>
                    </a:solidFill>
                  </a:tcPr>
                </a:tc>
                <a:tc>
                  <a:txBody>
                    <a:bodyPr/>
                    <a:lstStyle/>
                    <a:p>
                      <a:pPr algn="ctr">
                        <a:buNone/>
                      </a:pPr>
                      <a:r>
                        <a:rPr sz="1425" b="1">
                          <a:solidFill>
                            <a:srgbClr val="FFFFFF"/>
                          </a:solidFill>
                        </a:rPr>
                        <a:t>FNR</a:t>
                      </a:r>
                    </a:p>
                  </a:txBody>
                  <a:tcPr marL="91440" marR="91440" marT="45720" marB="45720" anchor="ctr">
                    <a:solidFill>
                      <a:srgbClr val="233A70"/>
                    </a:solidFill>
                  </a:tcPr>
                </a:tc>
                <a:tc>
                  <a:txBody>
                    <a:bodyPr/>
                    <a:lstStyle/>
                    <a:p>
                      <a:pPr algn="ctr">
                        <a:buNone/>
                      </a:pPr>
                      <a:r>
                        <a:rPr sz="1425" b="1">
                          <a:solidFill>
                            <a:srgbClr val="FFFFFF"/>
                          </a:solidFill>
                        </a:rPr>
                        <a:t>FPR</a:t>
                      </a:r>
                    </a:p>
                  </a:txBody>
                  <a:tcPr marL="91440" marR="91440" marT="45720" marB="45720" anchor="ctr">
                    <a:solidFill>
                      <a:srgbClr val="233A70"/>
                    </a:solidFill>
                  </a:tcPr>
                </a:tc>
                <a:tc>
                  <a:txBody>
                    <a:bodyPr/>
                    <a:lstStyle/>
                    <a:p>
                      <a:pPr algn="ctr">
                        <a:buNone/>
                      </a:pPr>
                      <a:r>
                        <a:rPr sz="1425" b="1">
                          <a:solidFill>
                            <a:srgbClr val="FFFFFF"/>
                          </a:solidFill>
                        </a:rPr>
                        <a:t>OOD W-rate</a:t>
                      </a:r>
                    </a:p>
                  </a:txBody>
                  <a:tcPr marL="91440" marR="91440" marT="45720" marB="45720" anchor="ctr">
                    <a:solidFill>
                      <a:srgbClr val="233A70"/>
                    </a:solidFill>
                  </a:tcPr>
                </a:tc>
              </a:tr>
              <a:tr h="533400">
                <a:tc>
                  <a:txBody>
                    <a:bodyPr/>
                    <a:lstStyle/>
                    <a:p>
                      <a:pPr algn="l">
                        <a:buNone/>
                      </a:pPr>
                      <a:r>
                        <a:rPr sz="1425" b="1">
                          <a:solidFill>
                            <a:srgbClr val="172033"/>
                          </a:solidFill>
                        </a:rPr>
                        <a:t>Magnet.AI</a:t>
                      </a:r>
                    </a:p>
                  </a:txBody>
                  <a:tcPr marL="91440" marR="91440" marT="45720" marB="45720" anchor="ctr">
                    <a:solidFill>
                      <a:srgbClr val="FFFFFF"/>
                    </a:solidFill>
                  </a:tcPr>
                </a:tc>
                <a:tc>
                  <a:txBody>
                    <a:bodyPr/>
                    <a:lstStyle/>
                    <a:p>
                      <a:pPr algn="ctr">
                        <a:buNone/>
                      </a:pPr>
                      <a:r>
                        <a:rPr sz="1425" b="0">
                          <a:solidFill>
                            <a:srgbClr val="172033"/>
                          </a:solidFill>
                        </a:rPr>
                        <a:t>95.0%</a:t>
                      </a:r>
                    </a:p>
                  </a:txBody>
                  <a:tcPr marL="91440" marR="91440" marT="45720" marB="45720" anchor="ctr">
                    <a:solidFill>
                      <a:srgbClr val="FFFFFF"/>
                    </a:solidFill>
                  </a:tcPr>
                </a:tc>
                <a:tc>
                  <a:txBody>
                    <a:bodyPr/>
                    <a:lstStyle/>
                    <a:p>
                      <a:pPr algn="ctr">
                        <a:buNone/>
                      </a:pPr>
                      <a:r>
                        <a:rPr sz="1425" b="0">
                          <a:solidFill>
                            <a:srgbClr val="172033"/>
                          </a:solidFill>
                        </a:rPr>
                        <a:t>93.0%</a:t>
                      </a:r>
                    </a:p>
                  </a:txBody>
                  <a:tcPr marL="91440" marR="91440" marT="45720" marB="45720" anchor="ctr">
                    <a:solidFill>
                      <a:srgbClr val="FFFFFF"/>
                    </a:solidFill>
                  </a:tcPr>
                </a:tc>
                <a:tc>
                  <a:txBody>
                    <a:bodyPr/>
                    <a:lstStyle/>
                    <a:p>
                      <a:pPr algn="ctr">
                        <a:buNone/>
                      </a:pPr>
                      <a:r>
                        <a:rPr sz="1425" b="0">
                          <a:solidFill>
                            <a:srgbClr val="172033"/>
                          </a:solidFill>
                        </a:rPr>
                        <a:t>7.0%</a:t>
                      </a:r>
                    </a:p>
                  </a:txBody>
                  <a:tcPr marL="91440" marR="91440" marT="45720" marB="45720" anchor="ctr">
                    <a:solidFill>
                      <a:srgbClr val="FFFFFF"/>
                    </a:solidFill>
                  </a:tcPr>
                </a:tc>
                <a:tc>
                  <a:txBody>
                    <a:bodyPr/>
                    <a:lstStyle/>
                    <a:p>
                      <a:pPr algn="ctr">
                        <a:buNone/>
                      </a:pPr>
                      <a:r>
                        <a:rPr sz="1425" b="0">
                          <a:solidFill>
                            <a:srgbClr val="172033"/>
                          </a:solidFill>
                        </a:rPr>
                        <a:t>3.0%</a:t>
                      </a:r>
                    </a:p>
                  </a:txBody>
                  <a:tcPr marL="91440" marR="91440" marT="45720" marB="45720" anchor="ctr">
                    <a:solidFill>
                      <a:srgbClr val="FFFFFF"/>
                    </a:solidFill>
                  </a:tcPr>
                </a:tc>
                <a:tc>
                  <a:txBody>
                    <a:bodyPr/>
                    <a:lstStyle/>
                    <a:p>
                      <a:pPr algn="ctr">
                        <a:buNone/>
                      </a:pPr>
                      <a:r>
                        <a:rPr sz="1425" b="0">
                          <a:solidFill>
                            <a:srgbClr val="172033"/>
                          </a:solidFill>
                        </a:rPr>
                        <a:t>36.0%</a:t>
                      </a:r>
                    </a:p>
                  </a:txBody>
                  <a:tcPr marL="91440" marR="91440" marT="45720" marB="45720" anchor="ctr">
                    <a:solidFill>
                      <a:srgbClr val="FFFFFF"/>
                    </a:solidFill>
                  </a:tcPr>
                </a:tc>
              </a:tr>
              <a:tr h="533400">
                <a:tc>
                  <a:txBody>
                    <a:bodyPr/>
                    <a:lstStyle/>
                    <a:p>
                      <a:pPr algn="l">
                        <a:buNone/>
                      </a:pPr>
                      <a:r>
                        <a:rPr sz="1425" b="1">
                          <a:solidFill>
                            <a:srgbClr val="172033"/>
                          </a:solidFill>
                        </a:rPr>
                        <a:t>Excire D20</a:t>
                      </a:r>
                    </a:p>
                  </a:txBody>
                  <a:tcPr marL="91440" marR="91440" marT="45720" marB="45720" anchor="ctr">
                    <a:solidFill>
                      <a:srgbClr val="E9EEF8"/>
                    </a:solidFill>
                  </a:tcPr>
                </a:tc>
                <a:tc>
                  <a:txBody>
                    <a:bodyPr/>
                    <a:lstStyle/>
                    <a:p>
                      <a:pPr algn="ctr">
                        <a:buNone/>
                      </a:pPr>
                      <a:r>
                        <a:rPr sz="1425" b="0">
                          <a:solidFill>
                            <a:srgbClr val="172033"/>
                          </a:solidFill>
                        </a:rPr>
                        <a:t>92.7%</a:t>
                      </a:r>
                    </a:p>
                  </a:txBody>
                  <a:tcPr marL="91440" marR="91440" marT="45720" marB="45720" anchor="ctr">
                    <a:solidFill>
                      <a:srgbClr val="E9EEF8"/>
                    </a:solidFill>
                  </a:tcPr>
                </a:tc>
                <a:tc>
                  <a:txBody>
                    <a:bodyPr/>
                    <a:lstStyle/>
                    <a:p>
                      <a:pPr algn="ctr">
                        <a:buNone/>
                      </a:pPr>
                      <a:r>
                        <a:rPr sz="1425" b="0">
                          <a:solidFill>
                            <a:srgbClr val="172033"/>
                          </a:solidFill>
                        </a:rPr>
                        <a:t>88.0%</a:t>
                      </a:r>
                    </a:p>
                  </a:txBody>
                  <a:tcPr marL="91440" marR="91440" marT="45720" marB="45720" anchor="ctr">
                    <a:solidFill>
                      <a:srgbClr val="E9EEF8"/>
                    </a:solidFill>
                  </a:tcPr>
                </a:tc>
                <a:tc>
                  <a:txBody>
                    <a:bodyPr/>
                    <a:lstStyle/>
                    <a:p>
                      <a:pPr algn="ctr">
                        <a:buNone/>
                      </a:pPr>
                      <a:r>
                        <a:rPr sz="1425" b="0">
                          <a:solidFill>
                            <a:srgbClr val="172033"/>
                          </a:solidFill>
                        </a:rPr>
                        <a:t>12.0%</a:t>
                      </a:r>
                    </a:p>
                  </a:txBody>
                  <a:tcPr marL="91440" marR="91440" marT="45720" marB="45720" anchor="ctr">
                    <a:solidFill>
                      <a:srgbClr val="E9EEF8"/>
                    </a:solidFill>
                  </a:tcPr>
                </a:tc>
                <a:tc>
                  <a:txBody>
                    <a:bodyPr/>
                    <a:lstStyle/>
                    <a:p>
                      <a:pPr algn="ctr">
                        <a:buNone/>
                      </a:pPr>
                      <a:r>
                        <a:rPr sz="1425" b="0">
                          <a:solidFill>
                            <a:srgbClr val="172033"/>
                          </a:solidFill>
                        </a:rPr>
                        <a:t>2.6%</a:t>
                      </a:r>
                    </a:p>
                  </a:txBody>
                  <a:tcPr marL="91440" marR="91440" marT="45720" marB="45720" anchor="ctr">
                    <a:solidFill>
                      <a:srgbClr val="E9EEF8"/>
                    </a:solidFill>
                  </a:tcPr>
                </a:tc>
                <a:tc>
                  <a:txBody>
                    <a:bodyPr/>
                    <a:lstStyle/>
                    <a:p>
                      <a:pPr algn="ctr">
                        <a:buNone/>
                      </a:pPr>
                      <a:r>
                        <a:rPr sz="1425" b="0">
                          <a:solidFill>
                            <a:srgbClr val="172033"/>
                          </a:solidFill>
                        </a:rPr>
                        <a:t>23.8%</a:t>
                      </a:r>
                    </a:p>
                  </a:txBody>
                  <a:tcPr marL="91440" marR="91440" marT="45720" marB="45720" anchor="ctr">
                    <a:solidFill>
                      <a:srgbClr val="E9EEF8"/>
                    </a:solidFill>
                  </a:tcPr>
                </a:tc>
              </a:tr>
              <a:tr h="533400">
                <a:tc>
                  <a:txBody>
                    <a:bodyPr/>
                    <a:lstStyle/>
                    <a:p>
                      <a:pPr algn="l">
                        <a:buNone/>
                      </a:pPr>
                      <a:r>
                        <a:rPr sz="1425" b="1">
                          <a:solidFill>
                            <a:srgbClr val="172033"/>
                          </a:solidFill>
                        </a:rPr>
                        <a:t>Excire D50</a:t>
                      </a:r>
                    </a:p>
                  </a:txBody>
                  <a:tcPr marL="91440" marR="91440" marT="45720" marB="45720" anchor="ctr">
                    <a:solidFill>
                      <a:srgbClr val="FFFFFF"/>
                    </a:solidFill>
                  </a:tcPr>
                </a:tc>
                <a:tc>
                  <a:txBody>
                    <a:bodyPr/>
                    <a:lstStyle/>
                    <a:p>
                      <a:pPr algn="ctr">
                        <a:buNone/>
                      </a:pPr>
                      <a:r>
                        <a:rPr sz="1425" b="0">
                          <a:solidFill>
                            <a:srgbClr val="172033"/>
                          </a:solidFill>
                        </a:rPr>
                        <a:t>94.4%</a:t>
                      </a:r>
                    </a:p>
                  </a:txBody>
                  <a:tcPr marL="91440" marR="91440" marT="45720" marB="45720" anchor="ctr">
                    <a:solidFill>
                      <a:srgbClr val="FFFFFF"/>
                    </a:solidFill>
                  </a:tcPr>
                </a:tc>
                <a:tc>
                  <a:txBody>
                    <a:bodyPr/>
                    <a:lstStyle/>
                    <a:p>
                      <a:pPr algn="ctr">
                        <a:buNone/>
                      </a:pPr>
                      <a:r>
                        <a:rPr sz="1425" b="0">
                          <a:solidFill>
                            <a:srgbClr val="172033"/>
                          </a:solidFill>
                        </a:rPr>
                        <a:t>95.8%</a:t>
                      </a:r>
                    </a:p>
                  </a:txBody>
                  <a:tcPr marL="91440" marR="91440" marT="45720" marB="45720" anchor="ctr">
                    <a:solidFill>
                      <a:srgbClr val="FFFFFF"/>
                    </a:solidFill>
                  </a:tcPr>
                </a:tc>
                <a:tc>
                  <a:txBody>
                    <a:bodyPr/>
                    <a:lstStyle/>
                    <a:p>
                      <a:pPr algn="ctr">
                        <a:buNone/>
                      </a:pPr>
                      <a:r>
                        <a:rPr sz="1425" b="0">
                          <a:solidFill>
                            <a:srgbClr val="172033"/>
                          </a:solidFill>
                        </a:rPr>
                        <a:t>4.2%</a:t>
                      </a:r>
                    </a:p>
                  </a:txBody>
                  <a:tcPr marL="91440" marR="91440" marT="45720" marB="45720" anchor="ctr">
                    <a:solidFill>
                      <a:srgbClr val="FFFFFF"/>
                    </a:solidFill>
                  </a:tcPr>
                </a:tc>
                <a:tc>
                  <a:txBody>
                    <a:bodyPr/>
                    <a:lstStyle/>
                    <a:p>
                      <a:pPr algn="ctr">
                        <a:buNone/>
                      </a:pPr>
                      <a:r>
                        <a:rPr sz="1425" b="0">
                          <a:solidFill>
                            <a:srgbClr val="172033"/>
                          </a:solidFill>
                        </a:rPr>
                        <a:t>7.0%</a:t>
                      </a:r>
                    </a:p>
                  </a:txBody>
                  <a:tcPr marL="91440" marR="91440" marT="45720" marB="45720" anchor="ctr">
                    <a:solidFill>
                      <a:srgbClr val="FFFFFF"/>
                    </a:solidFill>
                  </a:tcPr>
                </a:tc>
                <a:tc>
                  <a:txBody>
                    <a:bodyPr/>
                    <a:lstStyle/>
                    <a:p>
                      <a:pPr algn="ctr">
                        <a:buNone/>
                      </a:pPr>
                      <a:r>
                        <a:rPr sz="1425" b="0">
                          <a:solidFill>
                            <a:srgbClr val="172033"/>
                          </a:solidFill>
                        </a:rPr>
                        <a:t>34.0%</a:t>
                      </a:r>
                    </a:p>
                  </a:txBody>
                  <a:tcPr marL="91440" marR="91440" marT="45720" marB="45720" anchor="ctr">
                    <a:solidFill>
                      <a:srgbClr val="FFFFFF"/>
                    </a:solidFill>
                  </a:tcPr>
                </a:tc>
              </a:tr>
              <a:tr h="533400">
                <a:tc>
                  <a:txBody>
                    <a:bodyPr/>
                    <a:lstStyle/>
                    <a:p>
                      <a:pPr algn="l">
                        <a:buNone/>
                      </a:pPr>
                      <a:r>
                        <a:rPr sz="1425" b="1">
                          <a:solidFill>
                            <a:srgbClr val="172033"/>
                          </a:solidFill>
                        </a:rPr>
                        <a:t>Excire D80</a:t>
                      </a:r>
                    </a:p>
                  </a:txBody>
                  <a:tcPr marL="91440" marR="91440" marT="45720" marB="45720" anchor="ctr">
                    <a:solidFill>
                      <a:srgbClr val="E9EEF8"/>
                    </a:solidFill>
                  </a:tcPr>
                </a:tc>
                <a:tc>
                  <a:txBody>
                    <a:bodyPr/>
                    <a:lstStyle/>
                    <a:p>
                      <a:pPr algn="ctr">
                        <a:buNone/>
                      </a:pPr>
                      <a:r>
                        <a:rPr sz="1425" b="0">
                          <a:solidFill>
                            <a:srgbClr val="172033"/>
                          </a:solidFill>
                        </a:rPr>
                        <a:t>91.5%</a:t>
                      </a:r>
                    </a:p>
                  </a:txBody>
                  <a:tcPr marL="91440" marR="91440" marT="45720" marB="45720" anchor="ctr">
                    <a:solidFill>
                      <a:srgbClr val="E9EEF8"/>
                    </a:solidFill>
                  </a:tcPr>
                </a:tc>
                <a:tc>
                  <a:txBody>
                    <a:bodyPr/>
                    <a:lstStyle/>
                    <a:p>
                      <a:pPr algn="ctr">
                        <a:buNone/>
                      </a:pPr>
                      <a:r>
                        <a:rPr sz="1425" b="0">
                          <a:solidFill>
                            <a:srgbClr val="172033"/>
                          </a:solidFill>
                        </a:rPr>
                        <a:t>98.6%</a:t>
                      </a:r>
                    </a:p>
                  </a:txBody>
                  <a:tcPr marL="91440" marR="91440" marT="45720" marB="45720" anchor="ctr">
                    <a:solidFill>
                      <a:srgbClr val="E9EEF8"/>
                    </a:solidFill>
                  </a:tcPr>
                </a:tc>
                <a:tc>
                  <a:txBody>
                    <a:bodyPr/>
                    <a:lstStyle/>
                    <a:p>
                      <a:pPr algn="ctr">
                        <a:buNone/>
                      </a:pPr>
                      <a:r>
                        <a:rPr sz="1425" b="0">
                          <a:solidFill>
                            <a:srgbClr val="172033"/>
                          </a:solidFill>
                        </a:rPr>
                        <a:t>1.4%</a:t>
                      </a:r>
                    </a:p>
                  </a:txBody>
                  <a:tcPr marL="91440" marR="91440" marT="45720" marB="45720" anchor="ctr">
                    <a:solidFill>
                      <a:srgbClr val="E9EEF8"/>
                    </a:solidFill>
                  </a:tcPr>
                </a:tc>
                <a:tc>
                  <a:txBody>
                    <a:bodyPr/>
                    <a:lstStyle/>
                    <a:p>
                      <a:pPr algn="ctr">
                        <a:buNone/>
                      </a:pPr>
                      <a:r>
                        <a:rPr sz="1425" b="0">
                          <a:solidFill>
                            <a:srgbClr val="172033"/>
                          </a:solidFill>
                        </a:rPr>
                        <a:t>15.6%</a:t>
                      </a:r>
                    </a:p>
                  </a:txBody>
                  <a:tcPr marL="91440" marR="91440" marT="45720" marB="45720" anchor="ctr">
                    <a:solidFill>
                      <a:srgbClr val="E9EEF8"/>
                    </a:solidFill>
                  </a:tcPr>
                </a:tc>
                <a:tc>
                  <a:txBody>
                    <a:bodyPr/>
                    <a:lstStyle/>
                    <a:p>
                      <a:pPr algn="ctr">
                        <a:buNone/>
                      </a:pPr>
                      <a:r>
                        <a:rPr sz="1425" b="0">
                          <a:solidFill>
                            <a:srgbClr val="172033"/>
                          </a:solidFill>
                        </a:rPr>
                        <a:t>52.2%</a:t>
                      </a:r>
                    </a:p>
                  </a:txBody>
                  <a:tcPr marL="91440" marR="91440" marT="45720" marB="45720" anchor="ctr">
                    <a:solidFill>
                      <a:srgbClr val="E9EEF8"/>
                    </a:solidFill>
                  </a:tcPr>
                </a:tc>
              </a:tr>
              <a:tr h="533400">
                <a:tc>
                  <a:txBody>
                    <a:bodyPr/>
                    <a:lstStyle/>
                    <a:p>
                      <a:pPr algn="l">
                        <a:buNone/>
                      </a:pPr>
                      <a:r>
                        <a:rPr sz="1425" b="1">
                          <a:solidFill>
                            <a:srgbClr val="172033"/>
                          </a:solidFill>
                        </a:rPr>
                        <a:t>Cellebrite Inseyets</a:t>
                      </a:r>
                    </a:p>
                  </a:txBody>
                  <a:tcPr marL="91440" marR="91440" marT="45720" marB="45720" anchor="ctr">
                    <a:solidFill>
                      <a:srgbClr val="FFFFFF"/>
                    </a:solidFill>
                  </a:tcPr>
                </a:tc>
                <a:tc>
                  <a:txBody>
                    <a:bodyPr/>
                    <a:lstStyle/>
                    <a:p>
                      <a:pPr algn="ctr">
                        <a:buNone/>
                      </a:pPr>
                      <a:r>
                        <a:rPr sz="1425" b="0">
                          <a:solidFill>
                            <a:srgbClr val="172033"/>
                          </a:solidFill>
                        </a:rPr>
                        <a:t>96.4%</a:t>
                      </a:r>
                    </a:p>
                  </a:txBody>
                  <a:tcPr marL="91440" marR="91440" marT="45720" marB="45720" anchor="ctr">
                    <a:solidFill>
                      <a:srgbClr val="FFFFFF"/>
                    </a:solidFill>
                  </a:tcPr>
                </a:tc>
                <a:tc>
                  <a:txBody>
                    <a:bodyPr/>
                    <a:lstStyle/>
                    <a:p>
                      <a:pPr algn="ctr">
                        <a:buNone/>
                      </a:pPr>
                      <a:r>
                        <a:rPr sz="1425" b="0">
                          <a:solidFill>
                            <a:srgbClr val="172033"/>
                          </a:solidFill>
                        </a:rPr>
                        <a:t>96.8%</a:t>
                      </a:r>
                    </a:p>
                  </a:txBody>
                  <a:tcPr marL="91440" marR="91440" marT="45720" marB="45720" anchor="ctr">
                    <a:solidFill>
                      <a:srgbClr val="FFFFFF"/>
                    </a:solidFill>
                  </a:tcPr>
                </a:tc>
                <a:tc>
                  <a:txBody>
                    <a:bodyPr/>
                    <a:lstStyle/>
                    <a:p>
                      <a:pPr algn="ctr">
                        <a:buNone/>
                      </a:pPr>
                      <a:r>
                        <a:rPr sz="1425" b="0">
                          <a:solidFill>
                            <a:srgbClr val="172033"/>
                          </a:solidFill>
                        </a:rPr>
                        <a:t>3.2%</a:t>
                      </a:r>
                    </a:p>
                  </a:txBody>
                  <a:tcPr marL="91440" marR="91440" marT="45720" marB="45720" anchor="ctr">
                    <a:solidFill>
                      <a:srgbClr val="FFFFFF"/>
                    </a:solidFill>
                  </a:tcPr>
                </a:tc>
                <a:tc>
                  <a:txBody>
                    <a:bodyPr/>
                    <a:lstStyle/>
                    <a:p>
                      <a:pPr algn="ctr">
                        <a:buNone/>
                      </a:pPr>
                      <a:r>
                        <a:rPr sz="1425" b="0">
                          <a:solidFill>
                            <a:srgbClr val="172033"/>
                          </a:solidFill>
                        </a:rPr>
                        <a:t>4.0%</a:t>
                      </a:r>
                    </a:p>
                  </a:txBody>
                  <a:tcPr marL="91440" marR="91440" marT="45720" marB="45720" anchor="ctr">
                    <a:solidFill>
                      <a:srgbClr val="FFFFFF"/>
                    </a:solidFill>
                  </a:tcPr>
                </a:tc>
                <a:tc>
                  <a:txBody>
                    <a:bodyPr/>
                    <a:lstStyle/>
                    <a:p>
                      <a:pPr algn="ctr">
                        <a:buNone/>
                      </a:pPr>
                      <a:r>
                        <a:rPr sz="1425" b="0">
                          <a:solidFill>
                            <a:srgbClr val="172033"/>
                          </a:solidFill>
                        </a:rPr>
                        <a:t>29.2%</a:t>
                      </a:r>
                    </a:p>
                  </a:txBody>
                  <a:tcPr marL="91440" marR="91440" marT="45720" marB="45720" anchor="ctr">
                    <a:solidFill>
                      <a:srgbClr val="FFFFFF"/>
                    </a:solidFill>
                  </a:tcPr>
                </a:tc>
              </a:tr>
              <a:tr h="533400">
                <a:tc>
                  <a:txBody>
                    <a:bodyPr/>
                    <a:lstStyle/>
                    <a:p>
                      <a:pPr algn="l">
                        <a:buNone/>
                      </a:pPr>
                      <a:r>
                        <a:rPr sz="1425" b="1">
                          <a:solidFill>
                            <a:srgbClr val="172033"/>
                          </a:solidFill>
                        </a:rPr>
                        <a:t>Griffeye / T3K</a:t>
                      </a:r>
                    </a:p>
                  </a:txBody>
                  <a:tcPr marL="91440" marR="91440" marT="45720" marB="45720" anchor="ctr">
                    <a:solidFill>
                      <a:srgbClr val="E9EEF8"/>
                    </a:solidFill>
                  </a:tcPr>
                </a:tc>
                <a:tc>
                  <a:txBody>
                    <a:bodyPr/>
                    <a:lstStyle/>
                    <a:p>
                      <a:pPr algn="ctr">
                        <a:buNone/>
                      </a:pPr>
                      <a:r>
                        <a:rPr sz="1425" b="0">
                          <a:solidFill>
                            <a:srgbClr val="172033"/>
                          </a:solidFill>
                        </a:rPr>
                        <a:t>97.8%</a:t>
                      </a:r>
                    </a:p>
                  </a:txBody>
                  <a:tcPr marL="91440" marR="91440" marT="45720" marB="45720" anchor="ctr">
                    <a:solidFill>
                      <a:srgbClr val="E9EEF8"/>
                    </a:solidFill>
                  </a:tcPr>
                </a:tc>
                <a:tc>
                  <a:txBody>
                    <a:bodyPr/>
                    <a:lstStyle/>
                    <a:p>
                      <a:pPr algn="ctr">
                        <a:buNone/>
                      </a:pPr>
                      <a:r>
                        <a:rPr sz="1425" b="0">
                          <a:solidFill>
                            <a:srgbClr val="172033"/>
                          </a:solidFill>
                        </a:rPr>
                        <a:t>96.4%</a:t>
                      </a:r>
                    </a:p>
                  </a:txBody>
                  <a:tcPr marL="91440" marR="91440" marT="45720" marB="45720" anchor="ctr">
                    <a:solidFill>
                      <a:srgbClr val="E9EEF8"/>
                    </a:solidFill>
                  </a:tcPr>
                </a:tc>
                <a:tc>
                  <a:txBody>
                    <a:bodyPr/>
                    <a:lstStyle/>
                    <a:p>
                      <a:pPr algn="ctr">
                        <a:buNone/>
                      </a:pPr>
                      <a:r>
                        <a:rPr sz="1425" b="0">
                          <a:solidFill>
                            <a:srgbClr val="172033"/>
                          </a:solidFill>
                        </a:rPr>
                        <a:t>3.6%</a:t>
                      </a:r>
                    </a:p>
                  </a:txBody>
                  <a:tcPr marL="91440" marR="91440" marT="45720" marB="45720" anchor="ctr">
                    <a:solidFill>
                      <a:srgbClr val="E9EEF8"/>
                    </a:solidFill>
                  </a:tcPr>
                </a:tc>
                <a:tc>
                  <a:txBody>
                    <a:bodyPr/>
                    <a:lstStyle/>
                    <a:p>
                      <a:pPr algn="ctr">
                        <a:buNone/>
                      </a:pPr>
                      <a:r>
                        <a:rPr sz="1425" b="0">
                          <a:solidFill>
                            <a:srgbClr val="172033"/>
                          </a:solidFill>
                        </a:rPr>
                        <a:t>0.8%</a:t>
                      </a:r>
                    </a:p>
                  </a:txBody>
                  <a:tcPr marL="91440" marR="91440" marT="45720" marB="45720" anchor="ctr">
                    <a:solidFill>
                      <a:srgbClr val="E9EEF8"/>
                    </a:solidFill>
                  </a:tcPr>
                </a:tc>
                <a:tc>
                  <a:txBody>
                    <a:bodyPr/>
                    <a:lstStyle/>
                    <a:p>
                      <a:pPr algn="ctr">
                        <a:buNone/>
                      </a:pPr>
                      <a:r>
                        <a:rPr sz="1425" b="0">
                          <a:solidFill>
                            <a:srgbClr val="172033"/>
                          </a:solidFill>
                        </a:rPr>
                        <a:t>26.0%</a:t>
                      </a:r>
                    </a:p>
                  </a:txBody>
                  <a:tcPr marL="91440" marR="91440" marT="45720" marB="45720" anchor="ctr">
                    <a:solidFill>
                      <a:srgbClr val="E9EEF8"/>
                    </a:solidFill>
                  </a:tcPr>
                </a:tc>
              </a:tr>
            </a:tbl>
          </a:graphicData>
        </a:graphic>
      </p:graphicFrame>
      <p:sp>
        <p:nvSpPr>
          <p:cNvPr id="7" name="Rettangolo con angoli arrotondati 6">
            <a:extLst xmlns:a="http://schemas.openxmlformats.org/drawingml/2006/main">
              <a:ext uri="{FF2B5EF4-FFF2-40B4-BE49-F238E27FC236}">
                <a16:creationId xmlns:a16="http://schemas.microsoft.com/office/drawing/2014/main" id="{D32727B6-06C1-49D9-947E-5CF838C2A296}"/>
              </a:ext>
            </a:extLst>
          </p:cNvPr>
          <p:cNvSpPr>
            <a:spLocks xmlns:a="http://schemas.openxmlformats.org/drawingml/2006/main" noGrp="1"/>
          </p:cNvSpPr>
          <p:nvPr/>
        </p:nvSpPr>
        <p:spPr>
          <a:xfrm xmlns:a="http://schemas.openxmlformats.org/drawingml/2006/main">
            <a:off x="1123950" y="5505450"/>
            <a:ext cx="9944100" cy="609600"/>
          </a:xfrm>
          <a:prstGeom xmlns:a="http://schemas.openxmlformats.org/drawingml/2006/main" prst="roundRect">
            <a:avLst>
              <a:gd name="adj" fmla="val 21875"/>
            </a:avLst>
          </a:prstGeom>
          <a:solidFill xmlns:a="http://schemas.openxmlformats.org/drawingml/2006/main">
            <a:srgbClr val="FFF4C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Rettangolo 7">
            <a:extLst xmlns:a="http://schemas.openxmlformats.org/drawingml/2006/main">
              <a:ext uri="{FF2B5EF4-FFF2-40B4-BE49-F238E27FC236}">
                <a16:creationId xmlns:a16="http://schemas.microsoft.com/office/drawing/2014/main" id="{075FA7FD-80D1-4D89-BDEE-5525A60E4810}"/>
              </a:ext>
            </a:extLst>
          </p:cNvPr>
          <p:cNvSpPr>
            <a:spLocks xmlns:a="http://schemas.openxmlformats.org/drawingml/2006/main" noGrp="1"/>
          </p:cNvSpPr>
          <p:nvPr/>
        </p:nvSpPr>
        <p:spPr>
          <a:xfrm xmlns:a="http://schemas.openxmlformats.org/drawingml/2006/main">
            <a:off x="1428750" y="5676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172033"/>
                </a:solidFill>
                <a:latin typeface="Arial"/>
                <a:ea typeface="Arial"/>
                <a:cs typeface="Arial"/>
              </a:defRPr>
            </a:pPr>
            <a:r>
              <a:rPr sz="1425" b="1">
                <a:solidFill>
                  <a:srgbClr val="172033"/>
                </a:solidFill>
                <a:latin typeface="Arial"/>
                <a:ea typeface="Arial"/>
                <a:cs typeface="Arial"/>
              </a:rPr>
              <a:t>Interpret the rows as frozen operating profiles; the metrics do not establish a universal product ranking.</a:t>
            </a:r>
          </a:p>
        </p:txBody>
      </p:sp>
    </p:spTree>
    <p:extLst>
      <p:ext uri="{BB962C8B-B14F-4D97-AF65-F5344CB8AC3E}">
        <p14:creationId xmlns:p14="http://schemas.microsoft.com/office/powerpoint/2010/main" val="1255541542"/>
      </p:ext>
    </p:extLst>
  </p:cSld>
</p:sld>
</file>

<file path=ppt/slides/slide1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4" name="Rettangolo 13">
            <a:extLst xmlns:a="http://schemas.openxmlformats.org/drawingml/2006/main">
              <a:ext uri="{FF2B5EF4-FFF2-40B4-BE49-F238E27FC236}">
                <a16:creationId xmlns:a16="http://schemas.microsoft.com/office/drawing/2014/main" id="{CA8BCD57-59D3-4186-B677-2B942AA426C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A664D4C8-DB63-4397-A1DC-38A731E7A802}"/>
              </a:ext>
            </a:extLst>
          </p:cNvPr>
          <p:cNvSpPr>
            <a:spLocks xmlns:a="http://schemas.openxmlformats.org/drawingml/2006/main" noGrp="1"/>
          </p:cNvSpPr>
          <p:nvPr/>
        </p:nvSpPr>
        <p:spPr>
          <a:xfrm xmlns:a="http://schemas.openxmlformats.org/drawingml/2006/main">
            <a:off x="685800" y="7048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Adversarial settings were frozen before evaluation</a:t>
            </a:r>
          </a:p>
        </p:txBody>
      </p:sp>
      <p:sp>
        <p:nvSpPr>
          <p:cNvPr id="3" name="Rettangolo 2">
            <a:extLst xmlns:a="http://schemas.openxmlformats.org/drawingml/2006/main">
              <a:ext uri="{FF2B5EF4-FFF2-40B4-BE49-F238E27FC236}">
                <a16:creationId xmlns:a16="http://schemas.microsoft.com/office/drawing/2014/main" id="{050033A1-00F7-455E-B3DC-9BB2071622D8}"/>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AFF74B47-9C30-488E-854C-6081B30E2431}"/>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0F11E95E-70A3-42C7-A98E-2E58DEE52D6D}"/>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B5</a:t>
            </a:r>
          </a:p>
        </p:txBody>
      </p:sp>
      <p:sp>
        <p:nvSpPr>
          <p:cNvPr id="6" name="Rettangolo con angoli arrotondati 5">
            <a:extLst xmlns:a="http://schemas.openxmlformats.org/drawingml/2006/main">
              <a:ext uri="{FF2B5EF4-FFF2-40B4-BE49-F238E27FC236}">
                <a16:creationId xmlns:a16="http://schemas.microsoft.com/office/drawing/2014/main" id="{A0B79341-B31C-49EA-9E0A-6023304E20C5}"/>
              </a:ext>
            </a:extLst>
          </p:cNvPr>
          <p:cNvSpPr>
            <a:spLocks xmlns:a="http://schemas.openxmlformats.org/drawingml/2006/main" noGrp="1"/>
          </p:cNvSpPr>
          <p:nvPr/>
        </p:nvSpPr>
        <p:spPr>
          <a:xfrm xmlns:a="http://schemas.openxmlformats.org/drawingml/2006/main">
            <a:off x="685800" y="1409700"/>
            <a:ext cx="5143500" cy="3257550"/>
          </a:xfrm>
          <a:prstGeom xmlns:a="http://schemas.openxmlformats.org/drawingml/2006/main" prst="roundRect">
            <a:avLst>
              <a:gd name="adj" fmla="val 5263"/>
            </a:avLst>
          </a:prstGeom>
          <a:solidFill xmlns:a="http://schemas.openxmlformats.org/drawingml/2006/main">
            <a:srgbClr val="FBEA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6">
            <a:extLst xmlns:a="http://schemas.openxmlformats.org/drawingml/2006/main">
              <a:ext uri="{FF2B5EF4-FFF2-40B4-BE49-F238E27FC236}">
                <a16:creationId xmlns:a16="http://schemas.microsoft.com/office/drawing/2014/main" id="{876C10F7-B22F-4E20-B37B-5B6B6D900D7F}"/>
              </a:ext>
            </a:extLst>
          </p:cNvPr>
          <p:cNvSpPr>
            <a:spLocks xmlns:a="http://schemas.openxmlformats.org/drawingml/2006/main" noGrp="1"/>
          </p:cNvSpPr>
          <p:nvPr/>
        </p:nvSpPr>
        <p:spPr>
          <a:xfrm xmlns:a="http://schemas.openxmlformats.org/drawingml/2006/main">
            <a:off x="990600" y="1695450"/>
            <a:ext cx="453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BE3C37"/>
                </a:solidFill>
                <a:latin typeface="Arial"/>
                <a:ea typeface="Arial"/>
                <a:cs typeface="Arial"/>
              </a:defRPr>
            </a:pPr>
            <a:r>
              <a:rPr sz="1425" b="1">
                <a:solidFill>
                  <a:srgbClr val="BE3C37"/>
                </a:solidFill>
                <a:latin typeface="Arial"/>
                <a:ea typeface="Arial"/>
                <a:cs typeface="Arial"/>
              </a:rPr>
              <a:t>GRADIENT / SCORE-BASED</a:t>
            </a:r>
          </a:p>
        </p:txBody>
      </p:sp>
      <p:sp>
        <p:nvSpPr>
          <p:cNvPr id="8" name="Rettangolo 7">
            <a:extLst xmlns:a="http://schemas.openxmlformats.org/drawingml/2006/main">
              <a:ext uri="{FF2B5EF4-FFF2-40B4-BE49-F238E27FC236}">
                <a16:creationId xmlns:a16="http://schemas.microsoft.com/office/drawing/2014/main" id="{447AD97F-196E-4136-B002-B51E79441679}"/>
              </a:ext>
            </a:extLst>
          </p:cNvPr>
          <p:cNvSpPr>
            <a:spLocks xmlns:a="http://schemas.openxmlformats.org/drawingml/2006/main" noGrp="1"/>
          </p:cNvSpPr>
          <p:nvPr/>
        </p:nvSpPr>
        <p:spPr>
          <a:xfrm xmlns:a="http://schemas.openxmlformats.org/drawingml/2006/main">
            <a:off x="1181100" y="2209800"/>
            <a:ext cx="40957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FGSM · ε = 8/255 · untargeted</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fold-aware white-box checkpoint</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One Pixel · one-pixel DE</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50 iters · pop. ≈100 · seed 42</a:t>
            </a:r>
          </a:p>
        </p:txBody>
      </p:sp>
      <p:sp>
        <p:nvSpPr>
          <p:cNvPr id="9" name="Rettangolo con angoli arrotondati 8">
            <a:extLst xmlns:a="http://schemas.openxmlformats.org/drawingml/2006/main">
              <a:ext uri="{FF2B5EF4-FFF2-40B4-BE49-F238E27FC236}">
                <a16:creationId xmlns:a16="http://schemas.microsoft.com/office/drawing/2014/main" id="{0CD6EE3C-FCAC-4DB0-A388-5E60E7E7628B}"/>
              </a:ext>
            </a:extLst>
          </p:cNvPr>
          <p:cNvSpPr>
            <a:spLocks xmlns:a="http://schemas.openxmlformats.org/drawingml/2006/main" noGrp="1"/>
          </p:cNvSpPr>
          <p:nvPr/>
        </p:nvSpPr>
        <p:spPr>
          <a:xfrm xmlns:a="http://schemas.openxmlformats.org/drawingml/2006/main">
            <a:off x="6362700" y="1409700"/>
            <a:ext cx="5143500" cy="3257550"/>
          </a:xfrm>
          <a:prstGeom xmlns:a="http://schemas.openxmlformats.org/drawingml/2006/main" prst="roundRect">
            <a:avLst>
              <a:gd name="adj" fmla="val 5263"/>
            </a:avLst>
          </a:prstGeom>
          <a:solidFill xmlns:a="http://schemas.openxmlformats.org/drawingml/2006/main">
            <a:srgbClr val="E7F8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Rettangolo 9">
            <a:extLst xmlns:a="http://schemas.openxmlformats.org/drawingml/2006/main">
              <a:ext uri="{FF2B5EF4-FFF2-40B4-BE49-F238E27FC236}">
                <a16:creationId xmlns:a16="http://schemas.microsoft.com/office/drawing/2014/main" id="{5A293CCE-1472-41B6-8448-5C544B376364}"/>
              </a:ext>
            </a:extLst>
          </p:cNvPr>
          <p:cNvSpPr>
            <a:spLocks xmlns:a="http://schemas.openxmlformats.org/drawingml/2006/main" noGrp="1"/>
          </p:cNvSpPr>
          <p:nvPr/>
        </p:nvSpPr>
        <p:spPr>
          <a:xfrm xmlns:a="http://schemas.openxmlformats.org/drawingml/2006/main">
            <a:off x="6667500" y="1695450"/>
            <a:ext cx="453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087A50"/>
                </a:solidFill>
                <a:latin typeface="Arial"/>
                <a:ea typeface="Arial"/>
                <a:cs typeface="Arial"/>
              </a:defRPr>
            </a:pPr>
            <a:r>
              <a:rPr sz="1425" b="1">
                <a:solidFill>
                  <a:srgbClr val="087A50"/>
                </a:solidFill>
                <a:latin typeface="Arial"/>
                <a:ea typeface="Arial"/>
                <a:cs typeface="Arial"/>
              </a:rPr>
              <a:t>SPARSE / BOUNDARY-BASED</a:t>
            </a:r>
          </a:p>
        </p:txBody>
      </p:sp>
      <p:sp>
        <p:nvSpPr>
          <p:cNvPr id="11" name="Rettangolo 10">
            <a:extLst xmlns:a="http://schemas.openxmlformats.org/drawingml/2006/main">
              <a:ext uri="{FF2B5EF4-FFF2-40B4-BE49-F238E27FC236}">
                <a16:creationId xmlns:a16="http://schemas.microsoft.com/office/drawing/2014/main" id="{B8E10F48-906E-437E-B425-B1CDC1DAE933}"/>
              </a:ext>
            </a:extLst>
          </p:cNvPr>
          <p:cNvSpPr>
            <a:spLocks xmlns:a="http://schemas.openxmlformats.org/drawingml/2006/main" noGrp="1"/>
          </p:cNvSpPr>
          <p:nvPr/>
        </p:nvSpPr>
        <p:spPr>
          <a:xfrm xmlns:a="http://schemas.openxmlformats.org/drawingml/2006/main">
            <a:off x="6858000" y="2209800"/>
            <a:ext cx="40957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Sigma Zero · 1,000 steps</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η₀ = 1.0 · σ = .001 · τ₀ = .3</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SuperDeepFool · SDF(∞,1)</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20 outer · 50 inner · 1 projection</a:t>
            </a:r>
          </a:p>
        </p:txBody>
      </p:sp>
      <p:sp>
        <p:nvSpPr>
          <p:cNvPr id="12" name="Rettangolo con angoli arrotondati 11">
            <a:extLst xmlns:a="http://schemas.openxmlformats.org/drawingml/2006/main">
              <a:ext uri="{FF2B5EF4-FFF2-40B4-BE49-F238E27FC236}">
                <a16:creationId xmlns:a16="http://schemas.microsoft.com/office/drawing/2014/main" id="{CE895620-102C-4121-BF90-C416D624A75E}"/>
              </a:ext>
            </a:extLst>
          </p:cNvPr>
          <p:cNvSpPr>
            <a:spLocks xmlns:a="http://schemas.openxmlformats.org/drawingml/2006/main" noGrp="1"/>
          </p:cNvSpPr>
          <p:nvPr/>
        </p:nvSpPr>
        <p:spPr>
          <a:xfrm xmlns:a="http://schemas.openxmlformats.org/drawingml/2006/main">
            <a:off x="1123950" y="5067300"/>
            <a:ext cx="9944100" cy="914400"/>
          </a:xfrm>
          <a:prstGeom xmlns:a="http://schemas.openxmlformats.org/drawingml/2006/main" prst="roundRect">
            <a:avLst>
              <a:gd name="adj" fmla="val 16667"/>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3" name="Rettangolo 12">
            <a:extLst xmlns:a="http://schemas.openxmlformats.org/drawingml/2006/main">
              <a:ext uri="{FF2B5EF4-FFF2-40B4-BE49-F238E27FC236}">
                <a16:creationId xmlns:a16="http://schemas.microsoft.com/office/drawing/2014/main" id="{C9987658-DB36-4069-BD7C-3C01444A007E}"/>
              </a:ext>
            </a:extLst>
          </p:cNvPr>
          <p:cNvSpPr>
            <a:spLocks xmlns:a="http://schemas.openxmlformats.org/drawingml/2006/main" noGrp="1"/>
          </p:cNvSpPr>
          <p:nvPr/>
        </p:nvSpPr>
        <p:spPr>
          <a:xfrm xmlns:a="http://schemas.openxmlformats.org/drawingml/2006/main">
            <a:off x="1428750" y="5276850"/>
            <a:ext cx="933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Primary target: EfficientNet-B0 · PNG outputs</a:t>
            </a:r>
          </a:p>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Color Shift: R +12 / G 0 / B −12 · saturation 1.10 · JPEG quality 95</a:t>
            </a:r>
          </a:p>
        </p:txBody>
      </p:sp>
    </p:spTree>
    <p:extLst>
      <p:ext uri="{BB962C8B-B14F-4D97-AF65-F5344CB8AC3E}">
        <p14:creationId xmlns:p14="http://schemas.microsoft.com/office/powerpoint/2010/main" val="98046221"/>
      </p:ext>
    </p:extLst>
  </p:cSld>
</p:sld>
</file>

<file path=ppt/slides/slide2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4" name="Rettangolo 13">
            <a:extLst xmlns:a="http://schemas.openxmlformats.org/drawingml/2006/main">
              <a:ext uri="{FF2B5EF4-FFF2-40B4-BE49-F238E27FC236}">
                <a16:creationId xmlns:a16="http://schemas.microsoft.com/office/drawing/2014/main" id="{CA8BCD57-59D3-4186-B677-2B942AA426C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A664D4C8-DB63-4397-A1DC-38A731E7A802}"/>
              </a:ext>
            </a:extLst>
          </p:cNvPr>
          <p:cNvSpPr>
            <a:spLocks xmlns:a="http://schemas.openxmlformats.org/drawingml/2006/main" noGrp="1"/>
          </p:cNvSpPr>
          <p:nvPr/>
        </p:nvSpPr>
        <p:spPr>
          <a:xfrm xmlns:a="http://schemas.openxmlformats.org/drawingml/2006/main">
            <a:off x="685800" y="7048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Frozen anti-forensic settings</a:t>
            </a:r>
          </a:p>
        </p:txBody>
      </p:sp>
      <p:sp>
        <p:nvSpPr>
          <p:cNvPr id="3" name="Rettangolo 2">
            <a:extLst xmlns:a="http://schemas.openxmlformats.org/drawingml/2006/main">
              <a:ext uri="{FF2B5EF4-FFF2-40B4-BE49-F238E27FC236}">
                <a16:creationId xmlns:a16="http://schemas.microsoft.com/office/drawing/2014/main" id="{050033A1-00F7-455E-B3DC-9BB2071622D8}"/>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AFF74B47-9C30-488E-854C-6081B30E2431}"/>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0F11E95E-70A3-42C7-A98E-2E58DEE52D6D}"/>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B6</a:t>
            </a:r>
          </a:p>
        </p:txBody>
      </p:sp>
      <p:sp>
        <p:nvSpPr>
          <p:cNvPr id="6" name="Rettangolo con angoli arrotondati 5">
            <a:extLst xmlns:a="http://schemas.openxmlformats.org/drawingml/2006/main">
              <a:ext uri="{FF2B5EF4-FFF2-40B4-BE49-F238E27FC236}">
                <a16:creationId xmlns:a16="http://schemas.microsoft.com/office/drawing/2014/main" id="{A0B79341-B31C-49EA-9E0A-6023304E20C5}"/>
              </a:ext>
            </a:extLst>
          </p:cNvPr>
          <p:cNvSpPr>
            <a:spLocks xmlns:a="http://schemas.openxmlformats.org/drawingml/2006/main" noGrp="1"/>
          </p:cNvSpPr>
          <p:nvPr/>
        </p:nvSpPr>
        <p:spPr>
          <a:xfrm xmlns:a="http://schemas.openxmlformats.org/drawingml/2006/main">
            <a:off x="685800" y="1409700"/>
            <a:ext cx="5143500" cy="3257550"/>
          </a:xfrm>
          <a:prstGeom xmlns:a="http://schemas.openxmlformats.org/drawingml/2006/main" prst="roundRect">
            <a:avLst>
              <a:gd name="adj" fmla="val 5263"/>
            </a:avLst>
          </a:prstGeom>
          <a:solidFill xmlns:a="http://schemas.openxmlformats.org/drawingml/2006/main">
            <a:srgbClr val="FBEA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6">
            <a:extLst xmlns:a="http://schemas.openxmlformats.org/drawingml/2006/main">
              <a:ext uri="{FF2B5EF4-FFF2-40B4-BE49-F238E27FC236}">
                <a16:creationId xmlns:a16="http://schemas.microsoft.com/office/drawing/2014/main" id="{876C10F7-B22F-4E20-B37B-5B6B6D900D7F}"/>
              </a:ext>
            </a:extLst>
          </p:cNvPr>
          <p:cNvSpPr>
            <a:spLocks xmlns:a="http://schemas.openxmlformats.org/drawingml/2006/main" noGrp="1"/>
          </p:cNvSpPr>
          <p:nvPr/>
        </p:nvSpPr>
        <p:spPr>
          <a:xfrm xmlns:a="http://schemas.openxmlformats.org/drawingml/2006/main">
            <a:off x="990600" y="1695450"/>
            <a:ext cx="453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BE3C37"/>
                </a:solidFill>
                <a:latin typeface="Arial"/>
                <a:ea typeface="Arial"/>
                <a:cs typeface="Arial"/>
              </a:defRPr>
            </a:pPr>
            <a:r>
              <a:rPr sz="1425" b="1">
                <a:solidFill>
                  <a:srgbClr val="BE3C37"/>
                </a:solidFill>
                <a:latin typeface="Arial"/>
                <a:ea typeface="Arial"/>
                <a:cs typeface="Arial"/>
              </a:rPr>
              <a:t>SPATIAL / COMPRESSION</a:t>
            </a:r>
          </a:p>
        </p:txBody>
      </p:sp>
      <p:sp>
        <p:nvSpPr>
          <p:cNvPr id="8" name="Rettangolo 7">
            <a:extLst xmlns:a="http://schemas.openxmlformats.org/drawingml/2006/main">
              <a:ext uri="{FF2B5EF4-FFF2-40B4-BE49-F238E27FC236}">
                <a16:creationId xmlns:a16="http://schemas.microsoft.com/office/drawing/2014/main" id="{447AD97F-196E-4136-B002-B51E79441679}"/>
              </a:ext>
            </a:extLst>
          </p:cNvPr>
          <p:cNvSpPr>
            <a:spLocks xmlns:a="http://schemas.openxmlformats.org/drawingml/2006/main" noGrp="1"/>
          </p:cNvSpPr>
          <p:nvPr/>
        </p:nvSpPr>
        <p:spPr>
          <a:xfrm xmlns:a="http://schemas.openxmlformats.org/drawingml/2006/main">
            <a:off x="1181100" y="2209800"/>
            <a:ext cx="40957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JPEG · q70 · dimensions unchanged</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Resize · 50% down/up · bicubic</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Gaussian blur · radius 1.5</a:t>
            </a:r>
          </a:p>
        </p:txBody>
      </p:sp>
      <p:sp>
        <p:nvSpPr>
          <p:cNvPr id="9" name="Rettangolo con angoli arrotondati 8">
            <a:extLst xmlns:a="http://schemas.openxmlformats.org/drawingml/2006/main">
              <a:ext uri="{FF2B5EF4-FFF2-40B4-BE49-F238E27FC236}">
                <a16:creationId xmlns:a16="http://schemas.microsoft.com/office/drawing/2014/main" id="{0CD6EE3C-FCAC-4DB0-A388-5E60E7E7628B}"/>
              </a:ext>
            </a:extLst>
          </p:cNvPr>
          <p:cNvSpPr>
            <a:spLocks xmlns:a="http://schemas.openxmlformats.org/drawingml/2006/main" noGrp="1"/>
          </p:cNvSpPr>
          <p:nvPr/>
        </p:nvSpPr>
        <p:spPr>
          <a:xfrm xmlns:a="http://schemas.openxmlformats.org/drawingml/2006/main">
            <a:off x="6362700" y="1409700"/>
            <a:ext cx="5143500" cy="3257550"/>
          </a:xfrm>
          <a:prstGeom xmlns:a="http://schemas.openxmlformats.org/drawingml/2006/main" prst="roundRect">
            <a:avLst>
              <a:gd name="adj" fmla="val 5263"/>
            </a:avLst>
          </a:prstGeom>
          <a:solidFill xmlns:a="http://schemas.openxmlformats.org/drawingml/2006/main">
            <a:srgbClr val="E7F8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Rettangolo 9">
            <a:extLst xmlns:a="http://schemas.openxmlformats.org/drawingml/2006/main">
              <a:ext uri="{FF2B5EF4-FFF2-40B4-BE49-F238E27FC236}">
                <a16:creationId xmlns:a16="http://schemas.microsoft.com/office/drawing/2014/main" id="{5A293CCE-1472-41B6-8448-5C544B376364}"/>
              </a:ext>
            </a:extLst>
          </p:cNvPr>
          <p:cNvSpPr>
            <a:spLocks xmlns:a="http://schemas.openxmlformats.org/drawingml/2006/main" noGrp="1"/>
          </p:cNvSpPr>
          <p:nvPr/>
        </p:nvSpPr>
        <p:spPr>
          <a:xfrm xmlns:a="http://schemas.openxmlformats.org/drawingml/2006/main">
            <a:off x="6667500" y="1695450"/>
            <a:ext cx="453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087A50"/>
                </a:solidFill>
                <a:latin typeface="Arial"/>
                <a:ea typeface="Arial"/>
                <a:cs typeface="Arial"/>
              </a:defRPr>
            </a:pPr>
            <a:r>
              <a:rPr sz="1425" b="1">
                <a:solidFill>
                  <a:srgbClr val="087A50"/>
                </a:solidFill>
                <a:latin typeface="Arial"/>
                <a:ea typeface="Arial"/>
                <a:cs typeface="Arial"/>
              </a:rPr>
              <a:t>TONAL</a:t>
            </a:r>
          </a:p>
        </p:txBody>
      </p:sp>
      <p:sp>
        <p:nvSpPr>
          <p:cNvPr id="11" name="Rettangolo 10">
            <a:extLst xmlns:a="http://schemas.openxmlformats.org/drawingml/2006/main">
              <a:ext uri="{FF2B5EF4-FFF2-40B4-BE49-F238E27FC236}">
                <a16:creationId xmlns:a16="http://schemas.microsoft.com/office/drawing/2014/main" id="{B8E10F48-906E-437E-B425-B1CDC1DAE933}"/>
              </a:ext>
            </a:extLst>
          </p:cNvPr>
          <p:cNvSpPr>
            <a:spLocks xmlns:a="http://schemas.openxmlformats.org/drawingml/2006/main" noGrp="1"/>
          </p:cNvSpPr>
          <p:nvPr/>
        </p:nvSpPr>
        <p:spPr>
          <a:xfrm xmlns:a="http://schemas.openxmlformats.org/drawingml/2006/main">
            <a:off x="6858000" y="2209800"/>
            <a:ext cx="40957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Histogram · per-channel equalization</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Contrast · autocontrast · 1% cutoff</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Other outputs · JPEG q95</a:t>
            </a:r>
          </a:p>
        </p:txBody>
      </p:sp>
      <p:sp>
        <p:nvSpPr>
          <p:cNvPr id="12" name="Rettangolo con angoli arrotondati 11">
            <a:extLst xmlns:a="http://schemas.openxmlformats.org/drawingml/2006/main">
              <a:ext uri="{FF2B5EF4-FFF2-40B4-BE49-F238E27FC236}">
                <a16:creationId xmlns:a16="http://schemas.microsoft.com/office/drawing/2014/main" id="{CE895620-102C-4121-BF90-C416D624A75E}"/>
              </a:ext>
            </a:extLst>
          </p:cNvPr>
          <p:cNvSpPr>
            <a:spLocks xmlns:a="http://schemas.openxmlformats.org/drawingml/2006/main" noGrp="1"/>
          </p:cNvSpPr>
          <p:nvPr/>
        </p:nvSpPr>
        <p:spPr>
          <a:xfrm xmlns:a="http://schemas.openxmlformats.org/drawingml/2006/main">
            <a:off x="1123950" y="5067300"/>
            <a:ext cx="9944100" cy="914400"/>
          </a:xfrm>
          <a:prstGeom xmlns:a="http://schemas.openxmlformats.org/drawingml/2006/main" prst="roundRect">
            <a:avLst>
              <a:gd name="adj" fmla="val 16667"/>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3" name="Rettangolo 12">
            <a:extLst xmlns:a="http://schemas.openxmlformats.org/drawingml/2006/main">
              <a:ext uri="{FF2B5EF4-FFF2-40B4-BE49-F238E27FC236}">
                <a16:creationId xmlns:a16="http://schemas.microsoft.com/office/drawing/2014/main" id="{C9987658-DB36-4069-BD7C-3C01444A007E}"/>
              </a:ext>
            </a:extLst>
          </p:cNvPr>
          <p:cNvSpPr>
            <a:spLocks xmlns:a="http://schemas.openxmlformats.org/drawingml/2006/main" noGrp="1"/>
          </p:cNvSpPr>
          <p:nvPr/>
        </p:nvSpPr>
        <p:spPr>
          <a:xfrm xmlns:a="http://schemas.openxmlformats.org/drawingml/2006/main">
            <a:off x="1428750" y="5276850"/>
            <a:ext cx="933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Model-agnostic · 1,000 source-linked artifacts per condition</a:t>
            </a:r>
          </a:p>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One frozen setting per condition</a:t>
            </a:r>
          </a:p>
        </p:txBody>
      </p:sp>
    </p:spTree>
    <p:extLst>
      <p:ext uri="{BB962C8B-B14F-4D97-AF65-F5344CB8AC3E}">
        <p14:creationId xmlns:p14="http://schemas.microsoft.com/office/powerpoint/2010/main" val="98046221"/>
      </p:ext>
    </p:extLst>
  </p:cSld>
</p:sld>
</file>

<file path=ppt/slides/slide2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9" name="Rettangolo 18">
            <a:extLst xmlns:a="http://schemas.openxmlformats.org/drawingml/2006/main">
              <a:ext uri="{FF2B5EF4-FFF2-40B4-BE49-F238E27FC236}">
                <a16:creationId xmlns:a16="http://schemas.microsoft.com/office/drawing/2014/main" id="{84FC9E0B-46E5-4605-AE89-120F1A80974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CE9CEC47-2C9E-4DEB-B3A5-380688C3D463}"/>
              </a:ext>
            </a:extLst>
          </p:cNvPr>
          <p:cNvSpPr>
            <a:spLocks xmlns:a="http://schemas.openxmlformats.org/drawingml/2006/main" noGrp="1"/>
          </p:cNvSpPr>
          <p:nvPr/>
        </p:nvSpPr>
        <p:spPr>
          <a:xfrm xmlns:a="http://schemas.openxmlformats.org/drawingml/2006/main">
            <a:off x="685800" y="7048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How heterogeneous outputs became comparable</a:t>
            </a:r>
          </a:p>
        </p:txBody>
      </p:sp>
      <p:sp>
        <p:nvSpPr>
          <p:cNvPr id="3" name="Rettangolo 2">
            <a:extLst xmlns:a="http://schemas.openxmlformats.org/drawingml/2006/main">
              <a:ext uri="{FF2B5EF4-FFF2-40B4-BE49-F238E27FC236}">
                <a16:creationId xmlns:a16="http://schemas.microsoft.com/office/drawing/2014/main" id="{3671D975-C3C7-4CFA-BB40-CDE2E47A6DBB}"/>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0E5654D2-637C-43AD-B298-14213A7CA3D8}"/>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8439A926-BBAF-40CB-B5E7-23C236A118D8}"/>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B7</a:t>
            </a:r>
          </a:p>
        </p:txBody>
      </p:sp>
      <p:sp>
        <p:nvSpPr>
          <p:cNvPr id="6" name="Rettangolo 5">
            <a:extLst xmlns:a="http://schemas.openxmlformats.org/drawingml/2006/main">
              <a:ext uri="{FF2B5EF4-FFF2-40B4-BE49-F238E27FC236}">
                <a16:creationId xmlns:a16="http://schemas.microsoft.com/office/drawing/2014/main" id="{C0C9D87E-20DC-47FA-8CCE-629AA967F5EB}"/>
              </a:ext>
            </a:extLst>
          </p:cNvPr>
          <p:cNvSpPr>
            <a:spLocks xmlns:a="http://schemas.openxmlformats.org/drawingml/2006/main" noGrp="1"/>
          </p:cNvSpPr>
          <p:nvPr/>
        </p:nvSpPr>
        <p:spPr>
          <a:xfrm xmlns:a="http://schemas.openxmlformats.org/drawingml/2006/main">
            <a:off x="685800" y="1466850"/>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233A70"/>
                </a:solidFill>
                <a:latin typeface="Arial"/>
                <a:ea typeface="Arial"/>
                <a:cs typeface="Arial"/>
              </a:defRPr>
            </a:pPr>
            <a:r>
              <a:rPr sz="2100" b="1">
                <a:solidFill>
                  <a:srgbClr val="233A70"/>
                </a:solidFill>
                <a:latin typeface="Arial"/>
                <a:ea typeface="Arial"/>
                <a:cs typeface="Arial"/>
              </a:rPr>
              <a:t>MAGNET</a:t>
            </a:r>
          </a:p>
        </p:txBody>
      </p:sp>
      <p:sp>
        <p:nvSpPr>
          <p:cNvPr id="7" name="Rettangolo 6">
            <a:extLst xmlns:a="http://schemas.openxmlformats.org/drawingml/2006/main">
              <a:ext uri="{FF2B5EF4-FFF2-40B4-BE49-F238E27FC236}">
                <a16:creationId xmlns:a16="http://schemas.microsoft.com/office/drawing/2014/main" id="{2CE69233-BFB9-41EB-979C-EA89A8DFDF59}"/>
              </a:ext>
            </a:extLst>
          </p:cNvPr>
          <p:cNvSpPr>
            <a:spLocks xmlns:a="http://schemas.openxmlformats.org/drawingml/2006/main" noGrp="1"/>
          </p:cNvSpPr>
          <p:nvPr/>
        </p:nvSpPr>
        <p:spPr>
          <a:xfrm xmlns:a="http://schemas.openxmlformats.org/drawingml/2006/main">
            <a:off x="2476500" y="1466850"/>
            <a:ext cx="9029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172033"/>
                </a:solidFill>
                <a:latin typeface="Arial"/>
                <a:ea typeface="Arial"/>
                <a:cs typeface="Arial"/>
              </a:defRPr>
            </a:pPr>
            <a:r>
              <a:rPr sz="1650" b="0">
                <a:solidFill>
                  <a:srgbClr val="172033"/>
                </a:solidFill>
                <a:latin typeface="Arial"/>
                <a:ea typeface="Arial"/>
                <a:cs typeface="Arial"/>
              </a:rPr>
              <a:t>‘Possible weapons’ tag → weapon</a:t>
            </a:r>
          </a:p>
        </p:txBody>
      </p:sp>
      <p:sp>
        <p:nvSpPr>
          <p:cNvPr id="8" name="Rettangolo 7">
            <a:extLst xmlns:a="http://schemas.openxmlformats.org/drawingml/2006/main">
              <a:ext uri="{FF2B5EF4-FFF2-40B4-BE49-F238E27FC236}">
                <a16:creationId xmlns:a16="http://schemas.microsoft.com/office/drawing/2014/main" id="{21C60FC9-62A2-4C61-8FF4-834622D26C25}"/>
              </a:ext>
            </a:extLst>
          </p:cNvPr>
          <p:cNvSpPr>
            <a:spLocks xmlns:a="http://schemas.openxmlformats.org/drawingml/2006/main" noGrp="1"/>
          </p:cNvSpPr>
          <p:nvPr/>
        </p:nvSpPr>
        <p:spPr>
          <a:xfrm xmlns:a="http://schemas.openxmlformats.org/drawingml/2006/main">
            <a:off x="2000250" y="2247900"/>
            <a:ext cx="950595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Rettangolo 8">
            <a:extLst xmlns:a="http://schemas.openxmlformats.org/drawingml/2006/main">
              <a:ext uri="{FF2B5EF4-FFF2-40B4-BE49-F238E27FC236}">
                <a16:creationId xmlns:a16="http://schemas.microsoft.com/office/drawing/2014/main" id="{5E6437C9-09C1-42B9-9D92-FAEBBDA67E6F}"/>
              </a:ext>
            </a:extLst>
          </p:cNvPr>
          <p:cNvSpPr>
            <a:spLocks xmlns:a="http://schemas.openxmlformats.org/drawingml/2006/main" noGrp="1"/>
          </p:cNvSpPr>
          <p:nvPr/>
        </p:nvSpPr>
        <p:spPr>
          <a:xfrm xmlns:a="http://schemas.openxmlformats.org/drawingml/2006/main">
            <a:off x="685800" y="2466975"/>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233A70"/>
                </a:solidFill>
                <a:latin typeface="Arial"/>
                <a:ea typeface="Arial"/>
                <a:cs typeface="Arial"/>
              </a:defRPr>
            </a:pPr>
            <a:r>
              <a:rPr sz="2100" b="1">
                <a:solidFill>
                  <a:srgbClr val="233A70"/>
                </a:solidFill>
                <a:latin typeface="Arial"/>
                <a:ea typeface="Arial"/>
                <a:cs typeface="Arial"/>
              </a:rPr>
              <a:t>GRIFFEYE</a:t>
            </a:r>
          </a:p>
        </p:txBody>
      </p:sp>
      <p:sp>
        <p:nvSpPr>
          <p:cNvPr id="10" name="Rettangolo 9">
            <a:extLst xmlns:a="http://schemas.openxmlformats.org/drawingml/2006/main">
              <a:ext uri="{FF2B5EF4-FFF2-40B4-BE49-F238E27FC236}">
                <a16:creationId xmlns:a16="http://schemas.microsoft.com/office/drawing/2014/main" id="{D47212FC-48F3-41EC-9CC7-4DD7E3283F95}"/>
              </a:ext>
            </a:extLst>
          </p:cNvPr>
          <p:cNvSpPr>
            <a:spLocks xmlns:a="http://schemas.openxmlformats.org/drawingml/2006/main" noGrp="1"/>
          </p:cNvSpPr>
          <p:nvPr/>
        </p:nvSpPr>
        <p:spPr>
          <a:xfrm xmlns:a="http://schemas.openxmlformats.org/drawingml/2006/main">
            <a:off x="2476500" y="2466975"/>
            <a:ext cx="9029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172033"/>
                </a:solidFill>
                <a:latin typeface="Arial"/>
                <a:ea typeface="Arial"/>
                <a:cs typeface="Arial"/>
              </a:defRPr>
            </a:pPr>
            <a:r>
              <a:rPr sz="1650" b="0">
                <a:solidFill>
                  <a:srgbClr val="172033"/>
                </a:solidFill>
                <a:latin typeface="Arial"/>
                <a:ea typeface="Arial"/>
                <a:cs typeface="Arial"/>
              </a:rPr>
              <a:t>T3K ‘CORE/Violence/Firearm’ bookmark → weapon</a:t>
            </a:r>
          </a:p>
        </p:txBody>
      </p:sp>
      <p:sp>
        <p:nvSpPr>
          <p:cNvPr id="11" name="Rettangolo 10">
            <a:extLst xmlns:a="http://schemas.openxmlformats.org/drawingml/2006/main">
              <a:ext uri="{FF2B5EF4-FFF2-40B4-BE49-F238E27FC236}">
                <a16:creationId xmlns:a16="http://schemas.microsoft.com/office/drawing/2014/main" id="{4C1C58C5-07A3-4CA4-BB48-B55541E160B0}"/>
              </a:ext>
            </a:extLst>
          </p:cNvPr>
          <p:cNvSpPr>
            <a:spLocks xmlns:a="http://schemas.openxmlformats.org/drawingml/2006/main" noGrp="1"/>
          </p:cNvSpPr>
          <p:nvPr/>
        </p:nvSpPr>
        <p:spPr>
          <a:xfrm xmlns:a="http://schemas.openxmlformats.org/drawingml/2006/main">
            <a:off x="2000250" y="3248025"/>
            <a:ext cx="950595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Rettangolo 11">
            <a:extLst xmlns:a="http://schemas.openxmlformats.org/drawingml/2006/main">
              <a:ext uri="{FF2B5EF4-FFF2-40B4-BE49-F238E27FC236}">
                <a16:creationId xmlns:a16="http://schemas.microsoft.com/office/drawing/2014/main" id="{16756826-4AF4-44E9-AEA3-B34F4931B102}"/>
              </a:ext>
            </a:extLst>
          </p:cNvPr>
          <p:cNvSpPr>
            <a:spLocks xmlns:a="http://schemas.openxmlformats.org/drawingml/2006/main" noGrp="1"/>
          </p:cNvSpPr>
          <p:nvPr/>
        </p:nvSpPr>
        <p:spPr>
          <a:xfrm xmlns:a="http://schemas.openxmlformats.org/drawingml/2006/main">
            <a:off x="685800" y="3467100"/>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233A70"/>
                </a:solidFill>
                <a:latin typeface="Arial"/>
                <a:ea typeface="Arial"/>
                <a:cs typeface="Arial"/>
              </a:defRPr>
            </a:pPr>
            <a:r>
              <a:rPr sz="2100" b="1">
                <a:solidFill>
                  <a:srgbClr val="233A70"/>
                </a:solidFill>
                <a:latin typeface="Arial"/>
                <a:ea typeface="Arial"/>
                <a:cs typeface="Arial"/>
              </a:rPr>
              <a:t>EXCIRE</a:t>
            </a:r>
          </a:p>
        </p:txBody>
      </p:sp>
      <p:sp>
        <p:nvSpPr>
          <p:cNvPr id="13" name="Rettangolo 12">
            <a:extLst xmlns:a="http://schemas.openxmlformats.org/drawingml/2006/main">
              <a:ext uri="{FF2B5EF4-FFF2-40B4-BE49-F238E27FC236}">
                <a16:creationId xmlns:a16="http://schemas.microsoft.com/office/drawing/2014/main" id="{346DA074-5DB2-4080-A017-58881045F2EB}"/>
              </a:ext>
            </a:extLst>
          </p:cNvPr>
          <p:cNvSpPr>
            <a:spLocks xmlns:a="http://schemas.openxmlformats.org/drawingml/2006/main" noGrp="1"/>
          </p:cNvSpPr>
          <p:nvPr/>
        </p:nvSpPr>
        <p:spPr>
          <a:xfrm xmlns:a="http://schemas.openxmlformats.org/drawingml/2006/main">
            <a:off x="2476500" y="3467100"/>
            <a:ext cx="9029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172033"/>
                </a:solidFill>
                <a:latin typeface="Arial"/>
                <a:ea typeface="Arial"/>
                <a:cs typeface="Arial"/>
              </a:defRPr>
            </a:pPr>
            <a:r>
              <a:rPr sz="1650" b="0">
                <a:solidFill>
                  <a:srgbClr val="172033"/>
                </a:solidFill>
                <a:latin typeface="Arial"/>
                <a:ea typeface="Arial"/>
                <a:cs typeface="Arial"/>
              </a:rPr>
              <a:t>Hit in ≥1 of eight firearm-prompt lists → weapon · D20 / D50 / D80 kept separate</a:t>
            </a:r>
          </a:p>
        </p:txBody>
      </p:sp>
      <p:sp>
        <p:nvSpPr>
          <p:cNvPr id="14" name="Rettangolo 13">
            <a:extLst xmlns:a="http://schemas.openxmlformats.org/drawingml/2006/main">
              <a:ext uri="{FF2B5EF4-FFF2-40B4-BE49-F238E27FC236}">
                <a16:creationId xmlns:a16="http://schemas.microsoft.com/office/drawing/2014/main" id="{889BFF6A-0AC6-41F8-ACE2-0A4C4610C426}"/>
              </a:ext>
            </a:extLst>
          </p:cNvPr>
          <p:cNvSpPr>
            <a:spLocks xmlns:a="http://schemas.openxmlformats.org/drawingml/2006/main" noGrp="1"/>
          </p:cNvSpPr>
          <p:nvPr/>
        </p:nvSpPr>
        <p:spPr>
          <a:xfrm xmlns:a="http://schemas.openxmlformats.org/drawingml/2006/main">
            <a:off x="2000250" y="4248150"/>
            <a:ext cx="950595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Rettangolo 14">
            <a:extLst xmlns:a="http://schemas.openxmlformats.org/drawingml/2006/main">
              <a:ext uri="{FF2B5EF4-FFF2-40B4-BE49-F238E27FC236}">
                <a16:creationId xmlns:a16="http://schemas.microsoft.com/office/drawing/2014/main" id="{66853AED-6463-4B5B-A2DD-E44819CAF7D8}"/>
              </a:ext>
            </a:extLst>
          </p:cNvPr>
          <p:cNvSpPr>
            <a:spLocks xmlns:a="http://schemas.openxmlformats.org/drawingml/2006/main" noGrp="1"/>
          </p:cNvSpPr>
          <p:nvPr/>
        </p:nvSpPr>
        <p:spPr>
          <a:xfrm xmlns:a="http://schemas.openxmlformats.org/drawingml/2006/main">
            <a:off x="685800" y="4467225"/>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233A70"/>
                </a:solidFill>
                <a:latin typeface="Arial"/>
                <a:ea typeface="Arial"/>
                <a:cs typeface="Arial"/>
              </a:defRPr>
            </a:pPr>
            <a:r>
              <a:rPr sz="2100" b="1">
                <a:solidFill>
                  <a:srgbClr val="233A70"/>
                </a:solidFill>
                <a:latin typeface="Arial"/>
                <a:ea typeface="Arial"/>
                <a:cs typeface="Arial"/>
              </a:rPr>
              <a:t>INSEYETS</a:t>
            </a:r>
          </a:p>
        </p:txBody>
      </p:sp>
      <p:sp>
        <p:nvSpPr>
          <p:cNvPr id="16" name="Rettangolo 15">
            <a:extLst xmlns:a="http://schemas.openxmlformats.org/drawingml/2006/main">
              <a:ext uri="{FF2B5EF4-FFF2-40B4-BE49-F238E27FC236}">
                <a16:creationId xmlns:a16="http://schemas.microsoft.com/office/drawing/2014/main" id="{6524EA49-2AAE-4745-B332-0434260C06F8}"/>
              </a:ext>
            </a:extLst>
          </p:cNvPr>
          <p:cNvSpPr>
            <a:spLocks xmlns:a="http://schemas.openxmlformats.org/drawingml/2006/main" noGrp="1"/>
          </p:cNvSpPr>
          <p:nvPr/>
        </p:nvSpPr>
        <p:spPr>
          <a:xfrm xmlns:a="http://schemas.openxmlformats.org/drawingml/2006/main">
            <a:off x="2476500" y="4467225"/>
            <a:ext cx="9029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172033"/>
                </a:solidFill>
                <a:latin typeface="Arial"/>
                <a:ea typeface="Arial"/>
                <a:cs typeface="Arial"/>
              </a:defRPr>
            </a:pPr>
            <a:r>
              <a:rPr sz="1650" b="0">
                <a:solidFill>
                  <a:srgbClr val="172033"/>
                </a:solidFill>
                <a:latin typeface="Arial"/>
                <a:ea typeface="Arial"/>
                <a:cs typeface="Arial"/>
              </a:rPr>
              <a:t>Cellebrite: ‘Armi’, ‘Pistola’ or ‘Fucile’ classification → weapon</a:t>
            </a:r>
          </a:p>
        </p:txBody>
      </p:sp>
      <p:sp>
        <p:nvSpPr>
          <p:cNvPr id="17" name="Rettangolo con angoli arrotondati 16">
            <a:extLst xmlns:a="http://schemas.openxmlformats.org/drawingml/2006/main">
              <a:ext uri="{FF2B5EF4-FFF2-40B4-BE49-F238E27FC236}">
                <a16:creationId xmlns:a16="http://schemas.microsoft.com/office/drawing/2014/main" id="{A2A1A18D-89F3-4B35-9E6B-FF22B6E99FEB}"/>
              </a:ext>
            </a:extLst>
          </p:cNvPr>
          <p:cNvSpPr>
            <a:spLocks xmlns:a="http://schemas.openxmlformats.org/drawingml/2006/main" noGrp="1"/>
          </p:cNvSpPr>
          <p:nvPr/>
        </p:nvSpPr>
        <p:spPr>
          <a:xfrm xmlns:a="http://schemas.openxmlformats.org/drawingml/2006/main">
            <a:off x="1695450" y="5657850"/>
            <a:ext cx="8801100" cy="552450"/>
          </a:xfrm>
          <a:prstGeom xmlns:a="http://schemas.openxmlformats.org/drawingml/2006/main" prst="roundRect">
            <a:avLst>
              <a:gd name="adj" fmla="val 24138"/>
            </a:avLst>
          </a:prstGeom>
          <a:solidFill xmlns:a="http://schemas.openxmlformats.org/drawingml/2006/main">
            <a:srgbClr val="E9EEF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8" name="Rettangolo 17">
            <a:extLst xmlns:a="http://schemas.openxmlformats.org/drawingml/2006/main">
              <a:ext uri="{FF2B5EF4-FFF2-40B4-BE49-F238E27FC236}">
                <a16:creationId xmlns:a16="http://schemas.microsoft.com/office/drawing/2014/main" id="{073F03E5-3A3D-4C28-AB4A-460511D330F5}"/>
              </a:ext>
            </a:extLst>
          </p:cNvPr>
          <p:cNvSpPr>
            <a:spLocks xmlns:a="http://schemas.openxmlformats.org/drawingml/2006/main" noGrp="1"/>
          </p:cNvSpPr>
          <p:nvPr/>
        </p:nvSpPr>
        <p:spPr>
          <a:xfrm xmlns:a="http://schemas.openxmlformats.org/drawingml/2006/main">
            <a:off x="1943100" y="5810250"/>
            <a:ext cx="830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233A70"/>
                </a:solidFill>
                <a:latin typeface="Arial"/>
                <a:ea typeface="Arial"/>
                <a:cs typeface="Arial"/>
              </a:defRPr>
            </a:pPr>
            <a:r>
              <a:rPr sz="1350" b="1">
                <a:solidFill>
                  <a:srgbClr val="233A70"/>
                </a:solidFill>
                <a:latin typeface="Arial"/>
                <a:ea typeface="Arial"/>
                <a:cs typeface="Arial"/>
              </a:rPr>
              <a:t>true → weapon · false → non_weapon · unsupported → unknown · 0 unknown in 69,000 decisions</a:t>
            </a:r>
          </a:p>
        </p:txBody>
      </p:sp>
    </p:spTree>
    <p:extLst>
      <p:ext uri="{BB962C8B-B14F-4D97-AF65-F5344CB8AC3E}">
        <p14:creationId xmlns:p14="http://schemas.microsoft.com/office/powerpoint/2010/main" val="1631516006"/>
      </p:ext>
    </p:extLst>
  </p:cSld>
</p:sld>
</file>

<file path=ppt/slides/slide2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9" name="Rettangolo 18">
            <a:extLst xmlns:a="http://schemas.openxmlformats.org/drawingml/2006/main">
              <a:ext uri="{FF2B5EF4-FFF2-40B4-BE49-F238E27FC236}">
                <a16:creationId xmlns:a16="http://schemas.microsoft.com/office/drawing/2014/main" id="{84FC9E0B-46E5-4605-AE89-120F1A80974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CE9CEC47-2C9E-4DEB-B3A5-380688C3D463}"/>
              </a:ext>
            </a:extLst>
          </p:cNvPr>
          <p:cNvSpPr>
            <a:spLocks xmlns:a="http://schemas.openxmlformats.org/drawingml/2006/main" noGrp="1"/>
          </p:cNvSpPr>
          <p:nvPr/>
        </p:nvSpPr>
        <p:spPr>
          <a:xfrm xmlns:a="http://schemas.openxmlformats.org/drawingml/2006/main">
            <a:off x="685800" y="7048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Metric denominators keep comparisons honest</a:t>
            </a:r>
          </a:p>
        </p:txBody>
      </p:sp>
      <p:sp>
        <p:nvSpPr>
          <p:cNvPr id="3" name="Rettangolo 2">
            <a:extLst xmlns:a="http://schemas.openxmlformats.org/drawingml/2006/main">
              <a:ext uri="{FF2B5EF4-FFF2-40B4-BE49-F238E27FC236}">
                <a16:creationId xmlns:a16="http://schemas.microsoft.com/office/drawing/2014/main" id="{3671D975-C3C7-4CFA-BB40-CDE2E47A6DBB}"/>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0E5654D2-637C-43AD-B298-14213A7CA3D8}"/>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8439A926-BBAF-40CB-B5E7-23C236A118D8}"/>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B8</a:t>
            </a:r>
          </a:p>
        </p:txBody>
      </p:sp>
      <p:sp>
        <p:nvSpPr>
          <p:cNvPr id="6" name="Rettangolo 5">
            <a:extLst xmlns:a="http://schemas.openxmlformats.org/drawingml/2006/main">
              <a:ext uri="{FF2B5EF4-FFF2-40B4-BE49-F238E27FC236}">
                <a16:creationId xmlns:a16="http://schemas.microsoft.com/office/drawing/2014/main" id="{C0C9D87E-20DC-47FA-8CCE-629AA967F5EB}"/>
              </a:ext>
            </a:extLst>
          </p:cNvPr>
          <p:cNvSpPr>
            <a:spLocks xmlns:a="http://schemas.openxmlformats.org/drawingml/2006/main" noGrp="1"/>
          </p:cNvSpPr>
          <p:nvPr/>
        </p:nvSpPr>
        <p:spPr>
          <a:xfrm xmlns:a="http://schemas.openxmlformats.org/drawingml/2006/main">
            <a:off x="685800" y="146685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233A70"/>
                </a:solidFill>
                <a:latin typeface="Arial"/>
                <a:ea typeface="Arial"/>
                <a:cs typeface="Arial"/>
              </a:defRPr>
            </a:pPr>
            <a:r>
              <a:rPr sz="2100" b="1">
                <a:solidFill>
                  <a:srgbClr val="233A70"/>
                </a:solidFill>
                <a:latin typeface="Arial"/>
                <a:ea typeface="Arial"/>
                <a:cs typeface="Arial"/>
              </a:rPr>
              <a:t>ACC</a:t>
            </a:r>
          </a:p>
        </p:txBody>
      </p:sp>
      <p:sp>
        <p:nvSpPr>
          <p:cNvPr id="7" name="Rettangolo 6">
            <a:extLst xmlns:a="http://schemas.openxmlformats.org/drawingml/2006/main">
              <a:ext uri="{FF2B5EF4-FFF2-40B4-BE49-F238E27FC236}">
                <a16:creationId xmlns:a16="http://schemas.microsoft.com/office/drawing/2014/main" id="{2CE69233-BFB9-41EB-979C-EA89A8DFDF59}"/>
              </a:ext>
            </a:extLst>
          </p:cNvPr>
          <p:cNvSpPr>
            <a:spLocks xmlns:a="http://schemas.openxmlformats.org/drawingml/2006/main" noGrp="1"/>
          </p:cNvSpPr>
          <p:nvPr/>
        </p:nvSpPr>
        <p:spPr>
          <a:xfrm xmlns:a="http://schemas.openxmlformats.org/drawingml/2006/main">
            <a:off x="2000250" y="1466850"/>
            <a:ext cx="950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172033"/>
                </a:solidFill>
                <a:latin typeface="Arial"/>
                <a:ea typeface="Arial"/>
                <a:cs typeface="Arial"/>
              </a:defRPr>
            </a:pPr>
            <a:r>
              <a:rPr sz="1650" b="0">
                <a:solidFill>
                  <a:srgbClr val="172033"/>
                </a:solidFill>
                <a:latin typeface="Arial"/>
                <a:ea typeface="Arial"/>
                <a:cs typeface="Arial"/>
              </a:rPr>
              <a:t>Correct decisions / evaluated binary outputs</a:t>
            </a:r>
          </a:p>
        </p:txBody>
      </p:sp>
      <p:sp>
        <p:nvSpPr>
          <p:cNvPr id="8" name="Rettangolo 7">
            <a:extLst xmlns:a="http://schemas.openxmlformats.org/drawingml/2006/main">
              <a:ext uri="{FF2B5EF4-FFF2-40B4-BE49-F238E27FC236}">
                <a16:creationId xmlns:a16="http://schemas.microsoft.com/office/drawing/2014/main" id="{21C60FC9-62A2-4C61-8FF4-834622D26C25}"/>
              </a:ext>
            </a:extLst>
          </p:cNvPr>
          <p:cNvSpPr>
            <a:spLocks xmlns:a="http://schemas.openxmlformats.org/drawingml/2006/main" noGrp="1"/>
          </p:cNvSpPr>
          <p:nvPr/>
        </p:nvSpPr>
        <p:spPr>
          <a:xfrm xmlns:a="http://schemas.openxmlformats.org/drawingml/2006/main">
            <a:off x="2000250" y="2247900"/>
            <a:ext cx="950595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Rettangolo 8">
            <a:extLst xmlns:a="http://schemas.openxmlformats.org/drawingml/2006/main">
              <a:ext uri="{FF2B5EF4-FFF2-40B4-BE49-F238E27FC236}">
                <a16:creationId xmlns:a16="http://schemas.microsoft.com/office/drawing/2014/main" id="{5E6437C9-09C1-42B9-9D92-FAEBBDA67E6F}"/>
              </a:ext>
            </a:extLst>
          </p:cNvPr>
          <p:cNvSpPr>
            <a:spLocks xmlns:a="http://schemas.openxmlformats.org/drawingml/2006/main" noGrp="1"/>
          </p:cNvSpPr>
          <p:nvPr/>
        </p:nvSpPr>
        <p:spPr>
          <a:xfrm xmlns:a="http://schemas.openxmlformats.org/drawingml/2006/main">
            <a:off x="685800" y="2466975"/>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233A70"/>
                </a:solidFill>
                <a:latin typeface="Arial"/>
                <a:ea typeface="Arial"/>
                <a:cs typeface="Arial"/>
              </a:defRPr>
            </a:pPr>
            <a:r>
              <a:rPr sz="2100" b="1">
                <a:solidFill>
                  <a:srgbClr val="233A70"/>
                </a:solidFill>
                <a:latin typeface="Arial"/>
                <a:ea typeface="Arial"/>
                <a:cs typeface="Arial"/>
              </a:rPr>
              <a:t>FNR</a:t>
            </a:r>
          </a:p>
        </p:txBody>
      </p:sp>
      <p:sp>
        <p:nvSpPr>
          <p:cNvPr id="10" name="Rettangolo 9">
            <a:extLst xmlns:a="http://schemas.openxmlformats.org/drawingml/2006/main">
              <a:ext uri="{FF2B5EF4-FFF2-40B4-BE49-F238E27FC236}">
                <a16:creationId xmlns:a16="http://schemas.microsoft.com/office/drawing/2014/main" id="{D47212FC-48F3-41EC-9CC7-4DD7E3283F95}"/>
              </a:ext>
            </a:extLst>
          </p:cNvPr>
          <p:cNvSpPr>
            <a:spLocks xmlns:a="http://schemas.openxmlformats.org/drawingml/2006/main" noGrp="1"/>
          </p:cNvSpPr>
          <p:nvPr/>
        </p:nvSpPr>
        <p:spPr>
          <a:xfrm xmlns:a="http://schemas.openxmlformats.org/drawingml/2006/main">
            <a:off x="2000250" y="2466975"/>
            <a:ext cx="950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172033"/>
                </a:solidFill>
                <a:latin typeface="Arial"/>
                <a:ea typeface="Arial"/>
                <a:cs typeface="Arial"/>
              </a:defRPr>
            </a:pPr>
            <a:r>
              <a:rPr sz="1650" b="0">
                <a:solidFill>
                  <a:srgbClr val="172033"/>
                </a:solidFill>
                <a:latin typeface="Arial"/>
                <a:ea typeface="Arial"/>
                <a:cs typeface="Arial"/>
              </a:rPr>
              <a:t>FN / (TP + FN) = 1 − recall · missed-target risk</a:t>
            </a:r>
          </a:p>
        </p:txBody>
      </p:sp>
      <p:sp>
        <p:nvSpPr>
          <p:cNvPr id="11" name="Rettangolo 10">
            <a:extLst xmlns:a="http://schemas.openxmlformats.org/drawingml/2006/main">
              <a:ext uri="{FF2B5EF4-FFF2-40B4-BE49-F238E27FC236}">
                <a16:creationId xmlns:a16="http://schemas.microsoft.com/office/drawing/2014/main" id="{4C1C58C5-07A3-4CA4-BB48-B55541E160B0}"/>
              </a:ext>
            </a:extLst>
          </p:cNvPr>
          <p:cNvSpPr>
            <a:spLocks xmlns:a="http://schemas.openxmlformats.org/drawingml/2006/main" noGrp="1"/>
          </p:cNvSpPr>
          <p:nvPr/>
        </p:nvSpPr>
        <p:spPr>
          <a:xfrm xmlns:a="http://schemas.openxmlformats.org/drawingml/2006/main">
            <a:off x="2000250" y="3248025"/>
            <a:ext cx="950595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Rettangolo 11">
            <a:extLst xmlns:a="http://schemas.openxmlformats.org/drawingml/2006/main">
              <a:ext uri="{FF2B5EF4-FFF2-40B4-BE49-F238E27FC236}">
                <a16:creationId xmlns:a16="http://schemas.microsoft.com/office/drawing/2014/main" id="{16756826-4AF4-44E9-AEA3-B34F4931B102}"/>
              </a:ext>
            </a:extLst>
          </p:cNvPr>
          <p:cNvSpPr>
            <a:spLocks xmlns:a="http://schemas.openxmlformats.org/drawingml/2006/main" noGrp="1"/>
          </p:cNvSpPr>
          <p:nvPr/>
        </p:nvSpPr>
        <p:spPr>
          <a:xfrm xmlns:a="http://schemas.openxmlformats.org/drawingml/2006/main">
            <a:off x="685800" y="346710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233A70"/>
                </a:solidFill>
                <a:latin typeface="Arial"/>
                <a:ea typeface="Arial"/>
                <a:cs typeface="Arial"/>
              </a:defRPr>
            </a:pPr>
            <a:r>
              <a:rPr sz="2100" b="1">
                <a:solidFill>
                  <a:srgbClr val="233A70"/>
                </a:solidFill>
                <a:latin typeface="Arial"/>
                <a:ea typeface="Arial"/>
                <a:cs typeface="Arial"/>
              </a:rPr>
              <a:t>FPR</a:t>
            </a:r>
          </a:p>
        </p:txBody>
      </p:sp>
      <p:sp>
        <p:nvSpPr>
          <p:cNvPr id="13" name="Rettangolo 12">
            <a:extLst xmlns:a="http://schemas.openxmlformats.org/drawingml/2006/main">
              <a:ext uri="{FF2B5EF4-FFF2-40B4-BE49-F238E27FC236}">
                <a16:creationId xmlns:a16="http://schemas.microsoft.com/office/drawing/2014/main" id="{346DA074-5DB2-4080-A017-58881045F2EB}"/>
              </a:ext>
            </a:extLst>
          </p:cNvPr>
          <p:cNvSpPr>
            <a:spLocks xmlns:a="http://schemas.openxmlformats.org/drawingml/2006/main" noGrp="1"/>
          </p:cNvSpPr>
          <p:nvPr/>
        </p:nvSpPr>
        <p:spPr>
          <a:xfrm xmlns:a="http://schemas.openxmlformats.org/drawingml/2006/main">
            <a:off x="2000250" y="3467100"/>
            <a:ext cx="950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172033"/>
                </a:solidFill>
                <a:latin typeface="Arial"/>
                <a:ea typeface="Arial"/>
                <a:cs typeface="Arial"/>
              </a:defRPr>
            </a:pPr>
            <a:r>
              <a:rPr sz="1650" b="0">
                <a:solidFill>
                  <a:srgbClr val="172033"/>
                </a:solidFill>
                <a:latin typeface="Arial"/>
                <a:ea typeface="Arial"/>
                <a:cs typeface="Arial"/>
              </a:rPr>
              <a:t>FP / (FP + TN) · review-workload risk</a:t>
            </a:r>
          </a:p>
        </p:txBody>
      </p:sp>
      <p:sp>
        <p:nvSpPr>
          <p:cNvPr id="14" name="Rettangolo 13">
            <a:extLst xmlns:a="http://schemas.openxmlformats.org/drawingml/2006/main">
              <a:ext uri="{FF2B5EF4-FFF2-40B4-BE49-F238E27FC236}">
                <a16:creationId xmlns:a16="http://schemas.microsoft.com/office/drawing/2014/main" id="{889BFF6A-0AC6-41F8-ACE2-0A4C4610C426}"/>
              </a:ext>
            </a:extLst>
          </p:cNvPr>
          <p:cNvSpPr>
            <a:spLocks xmlns:a="http://schemas.openxmlformats.org/drawingml/2006/main" noGrp="1"/>
          </p:cNvSpPr>
          <p:nvPr/>
        </p:nvSpPr>
        <p:spPr>
          <a:xfrm xmlns:a="http://schemas.openxmlformats.org/drawingml/2006/main">
            <a:off x="2000250" y="4248150"/>
            <a:ext cx="950595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Rettangolo 14">
            <a:extLst xmlns:a="http://schemas.openxmlformats.org/drawingml/2006/main">
              <a:ext uri="{FF2B5EF4-FFF2-40B4-BE49-F238E27FC236}">
                <a16:creationId xmlns:a16="http://schemas.microsoft.com/office/drawing/2014/main" id="{66853AED-6463-4B5B-A2DD-E44819CAF7D8}"/>
              </a:ext>
            </a:extLst>
          </p:cNvPr>
          <p:cNvSpPr>
            <a:spLocks xmlns:a="http://schemas.openxmlformats.org/drawingml/2006/main" noGrp="1"/>
          </p:cNvSpPr>
          <p:nvPr/>
        </p:nvSpPr>
        <p:spPr>
          <a:xfrm xmlns:a="http://schemas.openxmlformats.org/drawingml/2006/main">
            <a:off x="685800" y="4467225"/>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233A70"/>
                </a:solidFill>
                <a:latin typeface="Arial"/>
                <a:ea typeface="Arial"/>
                <a:cs typeface="Arial"/>
              </a:defRPr>
            </a:pPr>
            <a:r>
              <a:rPr sz="2100" b="1">
                <a:solidFill>
                  <a:srgbClr val="233A70"/>
                </a:solidFill>
                <a:latin typeface="Arial"/>
                <a:ea typeface="Arial"/>
                <a:cs typeface="Arial"/>
              </a:rPr>
              <a:t>OOD</a:t>
            </a:r>
          </a:p>
        </p:txBody>
      </p:sp>
      <p:sp>
        <p:nvSpPr>
          <p:cNvPr id="16" name="Rettangolo 15">
            <a:extLst xmlns:a="http://schemas.openxmlformats.org/drawingml/2006/main">
              <a:ext uri="{FF2B5EF4-FFF2-40B4-BE49-F238E27FC236}">
                <a16:creationId xmlns:a16="http://schemas.microsoft.com/office/drawing/2014/main" id="{6524EA49-2AAE-4745-B332-0434260C06F8}"/>
              </a:ext>
            </a:extLst>
          </p:cNvPr>
          <p:cNvSpPr>
            <a:spLocks xmlns:a="http://schemas.openxmlformats.org/drawingml/2006/main" noGrp="1"/>
          </p:cNvSpPr>
          <p:nvPr/>
        </p:nvSpPr>
        <p:spPr>
          <a:xfrm xmlns:a="http://schemas.openxmlformats.org/drawingml/2006/main">
            <a:off x="2000250" y="4467225"/>
            <a:ext cx="950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172033"/>
                </a:solidFill>
                <a:latin typeface="Arial"/>
                <a:ea typeface="Arial"/>
                <a:cs typeface="Arial"/>
              </a:defRPr>
            </a:pPr>
            <a:r>
              <a:rPr sz="1650" b="0">
                <a:solidFill>
                  <a:srgbClr val="172033"/>
                </a:solidFill>
                <a:latin typeface="Arial"/>
                <a:ea typeface="Arial"/>
                <a:cs typeface="Arial"/>
              </a:rPr>
              <a:t>Weapon assignments / OOD responses · reported separately</a:t>
            </a:r>
          </a:p>
        </p:txBody>
      </p:sp>
      <p:sp>
        <p:nvSpPr>
          <p:cNvPr id="17" name="Rettangolo con angoli arrotondati 16">
            <a:extLst xmlns:a="http://schemas.openxmlformats.org/drawingml/2006/main">
              <a:ext uri="{FF2B5EF4-FFF2-40B4-BE49-F238E27FC236}">
                <a16:creationId xmlns:a16="http://schemas.microsoft.com/office/drawing/2014/main" id="{A2A1A18D-89F3-4B35-9E6B-FF22B6E99FEB}"/>
              </a:ext>
            </a:extLst>
          </p:cNvPr>
          <p:cNvSpPr>
            <a:spLocks xmlns:a="http://schemas.openxmlformats.org/drawingml/2006/main" noGrp="1"/>
          </p:cNvSpPr>
          <p:nvPr/>
        </p:nvSpPr>
        <p:spPr>
          <a:xfrm xmlns:a="http://schemas.openxmlformats.org/drawingml/2006/main">
            <a:off x="1695450" y="5657850"/>
            <a:ext cx="8801100" cy="552450"/>
          </a:xfrm>
          <a:prstGeom xmlns:a="http://schemas.openxmlformats.org/drawingml/2006/main" prst="roundRect">
            <a:avLst>
              <a:gd name="adj" fmla="val 24138"/>
            </a:avLst>
          </a:prstGeom>
          <a:solidFill xmlns:a="http://schemas.openxmlformats.org/drawingml/2006/main">
            <a:srgbClr val="E9EEF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8" name="Rettangolo 17">
            <a:extLst xmlns:a="http://schemas.openxmlformats.org/drawingml/2006/main">
              <a:ext uri="{FF2B5EF4-FFF2-40B4-BE49-F238E27FC236}">
                <a16:creationId xmlns:a16="http://schemas.microsoft.com/office/drawing/2014/main" id="{073F03E5-3A3D-4C28-AB4A-460511D330F5}"/>
              </a:ext>
            </a:extLst>
          </p:cNvPr>
          <p:cNvSpPr>
            <a:spLocks xmlns:a="http://schemas.openxmlformats.org/drawingml/2006/main" noGrp="1"/>
          </p:cNvSpPr>
          <p:nvPr/>
        </p:nvSpPr>
        <p:spPr>
          <a:xfrm xmlns:a="http://schemas.openxmlformats.org/drawingml/2006/main">
            <a:off x="1943100" y="5810250"/>
            <a:ext cx="830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233A70"/>
                </a:solidFill>
                <a:latin typeface="Arial"/>
                <a:ea typeface="Arial"/>
                <a:cs typeface="Arial"/>
              </a:defRPr>
            </a:pPr>
            <a:r>
              <a:rPr sz="1350" b="1">
                <a:solidFill>
                  <a:srgbClr val="233A70"/>
                </a:solidFill>
                <a:latin typeface="Arial"/>
                <a:ea typeface="Arial"/>
                <a:cs typeface="Arial"/>
              </a:rPr>
              <a:t>Proxy OOD: 5 folds × 500 = 2,500 responses · commercial OOD: 500 decisions/configuration</a:t>
            </a:r>
          </a:p>
        </p:txBody>
      </p:sp>
    </p:spTree>
    <p:extLst>
      <p:ext uri="{BB962C8B-B14F-4D97-AF65-F5344CB8AC3E}">
        <p14:creationId xmlns:p14="http://schemas.microsoft.com/office/powerpoint/2010/main" val="1631516006"/>
      </p:ext>
    </p:extLst>
  </p:cSld>
</p:sld>
</file>

<file path=ppt/slides/slide2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1" name="Rettangolo 30">
            <a:extLst xmlns:a="http://schemas.openxmlformats.org/drawingml/2006/main">
              <a:ext uri="{FF2B5EF4-FFF2-40B4-BE49-F238E27FC236}">
                <a16:creationId xmlns:a16="http://schemas.microsoft.com/office/drawing/2014/main" id="{450EE9F5-CABF-434E-8232-BDF46C2B08C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FEC59691-266B-4DB0-8057-0406222D320A}"/>
              </a:ext>
            </a:extLst>
          </p:cNvPr>
          <p:cNvSpPr>
            <a:spLocks xmlns:a="http://schemas.openxmlformats.org/drawingml/2006/main" noGrp="1"/>
          </p:cNvSpPr>
          <p:nvPr/>
        </p:nvSpPr>
        <p:spPr>
          <a:xfrm xmlns:a="http://schemas.openxmlformats.org/drawingml/2006/main">
            <a:off x="685800" y="7048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Limitations define the next validation steps</a:t>
            </a:r>
          </a:p>
        </p:txBody>
      </p:sp>
      <p:sp>
        <p:nvSpPr>
          <p:cNvPr id="3" name="Rettangolo 2">
            <a:extLst xmlns:a="http://schemas.openxmlformats.org/drawingml/2006/main">
              <a:ext uri="{FF2B5EF4-FFF2-40B4-BE49-F238E27FC236}">
                <a16:creationId xmlns:a16="http://schemas.microsoft.com/office/drawing/2014/main" id="{79089BD1-B305-48BE-BA26-09870B601124}"/>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42C6706B-ACDF-4666-A54A-86FD9DBD5392}"/>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0D079A16-C2FC-4182-B67E-51370D40AE49}"/>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B9</a:t>
            </a:r>
          </a:p>
        </p:txBody>
      </p:sp>
      <p:sp>
        <p:nvSpPr>
          <p:cNvPr id="6" name="Rettangolo con angoli arrotondati 5">
            <a:extLst xmlns:a="http://schemas.openxmlformats.org/drawingml/2006/main">
              <a:ext uri="{FF2B5EF4-FFF2-40B4-BE49-F238E27FC236}">
                <a16:creationId xmlns:a16="http://schemas.microsoft.com/office/drawing/2014/main" id="{A958CF67-914D-4A36-B2C0-CBFE18A07BAD}"/>
              </a:ext>
            </a:extLst>
          </p:cNvPr>
          <p:cNvSpPr>
            <a:spLocks xmlns:a="http://schemas.openxmlformats.org/drawingml/2006/main" noGrp="1"/>
          </p:cNvSpPr>
          <p:nvPr/>
        </p:nvSpPr>
        <p:spPr>
          <a:xfrm xmlns:a="http://schemas.openxmlformats.org/drawingml/2006/main">
            <a:off x="685800" y="1581150"/>
            <a:ext cx="4095750" cy="4171950"/>
          </a:xfrm>
          <a:prstGeom xmlns:a="http://schemas.openxmlformats.org/drawingml/2006/main" prst="roundRect">
            <a:avLst>
              <a:gd name="adj" fmla="val 4651"/>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6">
            <a:extLst xmlns:a="http://schemas.openxmlformats.org/drawingml/2006/main">
              <a:ext uri="{FF2B5EF4-FFF2-40B4-BE49-F238E27FC236}">
                <a16:creationId xmlns:a16="http://schemas.microsoft.com/office/drawing/2014/main" id="{E5DDE80D-F491-4EDB-A777-AC5174C65059}"/>
              </a:ext>
            </a:extLst>
          </p:cNvPr>
          <p:cNvSpPr>
            <a:spLocks xmlns:a="http://schemas.openxmlformats.org/drawingml/2006/main" noGrp="1"/>
          </p:cNvSpPr>
          <p:nvPr/>
        </p:nvSpPr>
        <p:spPr>
          <a:xfrm xmlns:a="http://schemas.openxmlformats.org/drawingml/2006/main">
            <a:off x="971550" y="1847850"/>
            <a:ext cx="3524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14B978"/>
                </a:solidFill>
                <a:latin typeface="Arial"/>
                <a:ea typeface="Arial"/>
                <a:cs typeface="Arial"/>
              </a:defRPr>
            </a:pPr>
            <a:r>
              <a:rPr sz="1350" b="1">
                <a:solidFill>
                  <a:srgbClr val="14B978"/>
                </a:solidFill>
                <a:latin typeface="Arial"/>
                <a:ea typeface="Arial"/>
                <a:cs typeface="Arial"/>
              </a:rPr>
              <a:t>FUTURE VALIDATION</a:t>
            </a:r>
          </a:p>
        </p:txBody>
      </p:sp>
      <p:sp>
        <p:nvSpPr>
          <p:cNvPr id="8" name="Rettangolo 7">
            <a:extLst xmlns:a="http://schemas.openxmlformats.org/drawingml/2006/main">
              <a:ext uri="{FF2B5EF4-FFF2-40B4-BE49-F238E27FC236}">
                <a16:creationId xmlns:a16="http://schemas.microsoft.com/office/drawing/2014/main" id="{9CE8CE40-2313-4751-AC3A-75251D60271B}"/>
              </a:ext>
            </a:extLst>
          </p:cNvPr>
          <p:cNvSpPr>
            <a:spLocks xmlns:a="http://schemas.openxmlformats.org/drawingml/2006/main" noGrp="1"/>
          </p:cNvSpPr>
          <p:nvPr/>
        </p:nvSpPr>
        <p:spPr>
          <a:xfrm xmlns:a="http://schemas.openxmlformats.org/drawingml/2006/main">
            <a:off x="971550" y="2286000"/>
            <a:ext cx="352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4200" b="1">
                <a:solidFill>
                  <a:srgbClr val="FFFFFF"/>
                </a:solidFill>
                <a:latin typeface="Arial"/>
                <a:ea typeface="Arial"/>
                <a:cs typeface="Arial"/>
              </a:defRPr>
            </a:pPr>
            <a:r>
              <a:rPr sz="4200" b="1">
                <a:solidFill>
                  <a:srgbClr val="FFFFFF"/>
                </a:solidFill>
                <a:latin typeface="Arial"/>
                <a:ea typeface="Arial"/>
                <a:cs typeface="Arial"/>
              </a:rPr>
              <a:t>5</a:t>
            </a:r>
          </a:p>
        </p:txBody>
      </p:sp>
      <p:sp>
        <p:nvSpPr>
          <p:cNvPr id="9" name="Rettangolo 8">
            <a:extLst xmlns:a="http://schemas.openxmlformats.org/drawingml/2006/main">
              <a:ext uri="{FF2B5EF4-FFF2-40B4-BE49-F238E27FC236}">
                <a16:creationId xmlns:a16="http://schemas.microsoft.com/office/drawing/2014/main" id="{32443789-E78D-482B-9842-1CE14508CB7C}"/>
              </a:ext>
            </a:extLst>
          </p:cNvPr>
          <p:cNvSpPr>
            <a:spLocks xmlns:a="http://schemas.openxmlformats.org/drawingml/2006/main" noGrp="1"/>
          </p:cNvSpPr>
          <p:nvPr/>
        </p:nvSpPr>
        <p:spPr>
          <a:xfrm xmlns:a="http://schemas.openxmlformats.org/drawingml/2006/main">
            <a:off x="971550" y="2952750"/>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next steps</a:t>
            </a:r>
          </a:p>
        </p:txBody>
      </p:sp>
      <p:sp>
        <p:nvSpPr>
          <p:cNvPr id="10" name="Rettangolo 9">
            <a:extLst xmlns:a="http://schemas.openxmlformats.org/drawingml/2006/main">
              <a:ext uri="{FF2B5EF4-FFF2-40B4-BE49-F238E27FC236}">
                <a16:creationId xmlns:a16="http://schemas.microsoft.com/office/drawing/2014/main" id="{68FF4B46-61D2-46B2-A3F1-741BE38718F5}"/>
              </a:ext>
            </a:extLst>
          </p:cNvPr>
          <p:cNvSpPr>
            <a:spLocks xmlns:a="http://schemas.openxmlformats.org/drawingml/2006/main" noGrp="1"/>
          </p:cNvSpPr>
          <p:nvPr/>
        </p:nvSpPr>
        <p:spPr>
          <a:xfrm xmlns:a="http://schemas.openxmlformats.org/drawingml/2006/main">
            <a:off x="1066800" y="33909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0">
                <a:solidFill>
                  <a:srgbClr val="DCE4F3"/>
                </a:solidFill>
                <a:latin typeface="Arial"/>
                <a:ea typeface="Arial"/>
                <a:cs typeface="Arial"/>
              </a:defRPr>
            </a:pPr>
            <a:r>
              <a:rPr sz="1425" b="0">
                <a:solidFill>
                  <a:srgbClr val="DCE4F3"/>
                </a:solidFill>
                <a:latin typeface="Arial"/>
                <a:ea typeface="Arial"/>
                <a:cs typeface="Arial"/>
              </a:rPr>
              <a:t>across data, tools and time</a:t>
            </a:r>
          </a:p>
        </p:txBody>
      </p:sp>
      <p:sp>
        <p:nvSpPr>
          <p:cNvPr id="11" name="Rettangolo 10">
            <a:extLst xmlns:a="http://schemas.openxmlformats.org/drawingml/2006/main">
              <a:ext uri="{FF2B5EF4-FFF2-40B4-BE49-F238E27FC236}">
                <a16:creationId xmlns:a16="http://schemas.microsoft.com/office/drawing/2014/main" id="{1C420481-7C8E-4DDB-BC91-67D78A171A6C}"/>
              </a:ext>
            </a:extLst>
          </p:cNvPr>
          <p:cNvSpPr>
            <a:spLocks xmlns:a="http://schemas.openxmlformats.org/drawingml/2006/main" noGrp="1"/>
          </p:cNvSpPr>
          <p:nvPr/>
        </p:nvSpPr>
        <p:spPr>
          <a:xfrm xmlns:a="http://schemas.openxmlformats.org/drawingml/2006/main">
            <a:off x="1257300" y="4133850"/>
            <a:ext cx="2952750" cy="19050"/>
          </a:xfrm>
          <a:prstGeom xmlns:a="http://schemas.openxmlformats.org/drawingml/2006/main" prst="rect">
            <a:avLst/>
          </a:prstGeom>
          <a:solidFill xmlns:a="http://schemas.openxmlformats.org/drawingml/2006/main">
            <a:srgbClr val="536A9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Rettangolo 11">
            <a:extLst xmlns:a="http://schemas.openxmlformats.org/drawingml/2006/main">
              <a:ext uri="{FF2B5EF4-FFF2-40B4-BE49-F238E27FC236}">
                <a16:creationId xmlns:a16="http://schemas.microsoft.com/office/drawing/2014/main" id="{F3249D90-455B-4447-9E26-B2ADC594CFFC}"/>
              </a:ext>
            </a:extLst>
          </p:cNvPr>
          <p:cNvSpPr>
            <a:spLocks xmlns:a="http://schemas.openxmlformats.org/drawingml/2006/main" noGrp="1"/>
          </p:cNvSpPr>
          <p:nvPr/>
        </p:nvSpPr>
        <p:spPr>
          <a:xfrm xmlns:a="http://schemas.openxmlformats.org/drawingml/2006/main">
            <a:off x="1066800" y="44196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Generalizability must be tested</a:t>
            </a:r>
          </a:p>
        </p:txBody>
      </p:sp>
      <p:sp>
        <p:nvSpPr>
          <p:cNvPr id="13" name="Rettangolo 12">
            <a:extLst xmlns:a="http://schemas.openxmlformats.org/drawingml/2006/main">
              <a:ext uri="{FF2B5EF4-FFF2-40B4-BE49-F238E27FC236}">
                <a16:creationId xmlns:a16="http://schemas.microsoft.com/office/drawing/2014/main" id="{A91E40B1-43F4-44AE-B4D8-392C565EFA1E}"/>
              </a:ext>
            </a:extLst>
          </p:cNvPr>
          <p:cNvSpPr>
            <a:spLocks xmlns:a="http://schemas.openxmlformats.org/drawingml/2006/main" noGrp="1"/>
          </p:cNvSpPr>
          <p:nvPr/>
        </p:nvSpPr>
        <p:spPr>
          <a:xfrm xmlns:a="http://schemas.openxmlformats.org/drawingml/2006/main">
            <a:off x="1066800" y="4953000"/>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350" b="0">
                <a:solidFill>
                  <a:srgbClr val="FFF4CD"/>
                </a:solidFill>
                <a:latin typeface="Arial"/>
                <a:ea typeface="Arial"/>
                <a:cs typeface="Arial"/>
              </a:defRPr>
            </a:pPr>
            <a:r>
              <a:rPr sz="1350" b="0">
                <a:solidFill>
                  <a:srgbClr val="FFF4CD"/>
                </a:solidFill>
                <a:latin typeface="Arial"/>
                <a:ea typeface="Arial"/>
                <a:cs typeface="Arial"/>
              </a:rPr>
              <a:t>not assumed from one frozen protocol.</a:t>
            </a:r>
          </a:p>
        </p:txBody>
      </p:sp>
      <p:sp>
        <p:nvSpPr>
          <p:cNvPr id="14" name="Rettangolo 13">
            <a:extLst xmlns:a="http://schemas.openxmlformats.org/drawingml/2006/main">
              <a:ext uri="{FF2B5EF4-FFF2-40B4-BE49-F238E27FC236}">
                <a16:creationId xmlns:a16="http://schemas.microsoft.com/office/drawing/2014/main" id="{271950E5-9AE8-4624-8836-A98073AC06EB}"/>
              </a:ext>
            </a:extLst>
          </p:cNvPr>
          <p:cNvSpPr>
            <a:spLocks xmlns:a="http://schemas.openxmlformats.org/drawingml/2006/main" noGrp="1"/>
          </p:cNvSpPr>
          <p:nvPr/>
        </p:nvSpPr>
        <p:spPr>
          <a:xfrm xmlns:a="http://schemas.openxmlformats.org/drawingml/2006/main">
            <a:off x="5334000" y="1657350"/>
            <a:ext cx="6172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a:solidFill>
                  <a:srgbClr val="233A70"/>
                </a:solidFill>
                <a:latin typeface="Arial"/>
                <a:ea typeface="Arial"/>
                <a:cs typeface="Arial"/>
              </a:defRPr>
            </a:pPr>
            <a:r>
              <a:rPr sz="1425" b="1">
                <a:solidFill>
                  <a:srgbClr val="233A70"/>
                </a:solidFill>
                <a:latin typeface="Arial"/>
                <a:ea typeface="Arial"/>
                <a:cs typeface="Arial"/>
              </a:rPr>
              <a:t>BOUNDARY → NEXT STEP</a:t>
            </a:r>
          </a:p>
        </p:txBody>
      </p:sp>
      <p:sp>
        <p:nvSpPr>
          <p:cNvPr id="15" name="Rettangolo 14">
            <a:extLst xmlns:a="http://schemas.openxmlformats.org/drawingml/2006/main">
              <a:ext uri="{FF2B5EF4-FFF2-40B4-BE49-F238E27FC236}">
                <a16:creationId xmlns:a16="http://schemas.microsoft.com/office/drawing/2014/main" id="{9B35F04A-8C1A-4D02-A7D5-B5388F8EBAA1}"/>
              </a:ext>
            </a:extLst>
          </p:cNvPr>
          <p:cNvSpPr>
            <a:spLocks xmlns:a="http://schemas.openxmlformats.org/drawingml/2006/main" noGrp="1"/>
          </p:cNvSpPr>
          <p:nvPr/>
        </p:nvSpPr>
        <p:spPr>
          <a:xfrm xmlns:a="http://schemas.openxmlformats.org/drawingml/2006/main">
            <a:off x="5334000" y="2133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33A70"/>
                </a:solidFill>
                <a:latin typeface="Arial"/>
                <a:ea typeface="Arial"/>
                <a:cs typeface="Arial"/>
              </a:defRPr>
            </a:pPr>
            <a:r>
              <a:rPr sz="1500" b="1">
                <a:solidFill>
                  <a:srgbClr val="233A70"/>
                </a:solidFill>
                <a:latin typeface="Arial"/>
                <a:ea typeface="Arial"/>
                <a:cs typeface="Arial"/>
              </a:rPr>
              <a:t>Corpus</a:t>
            </a:r>
          </a:p>
        </p:txBody>
      </p:sp>
      <p:sp>
        <p:nvSpPr>
          <p:cNvPr id="16" name="Rettangolo 15">
            <a:extLst xmlns:a="http://schemas.openxmlformats.org/drawingml/2006/main">
              <a:ext uri="{FF2B5EF4-FFF2-40B4-BE49-F238E27FC236}">
                <a16:creationId xmlns:a16="http://schemas.microsoft.com/office/drawing/2014/main" id="{383BA1E7-4180-41B6-8C72-60ACF49C3748}"/>
              </a:ext>
            </a:extLst>
          </p:cNvPr>
          <p:cNvSpPr>
            <a:spLocks xmlns:a="http://schemas.openxmlformats.org/drawingml/2006/main" noGrp="1"/>
          </p:cNvSpPr>
          <p:nvPr/>
        </p:nvSpPr>
        <p:spPr>
          <a:xfrm xmlns:a="http://schemas.openxmlformats.org/drawingml/2006/main">
            <a:off x="7467600" y="2133600"/>
            <a:ext cx="403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425" b="0">
                <a:solidFill>
                  <a:srgbClr val="172033"/>
                </a:solidFill>
                <a:latin typeface="Arial"/>
                <a:ea typeface="Arial"/>
                <a:cs typeface="Arial"/>
              </a:defRPr>
            </a:pPr>
            <a:r>
              <a:rPr sz="1425" b="0">
                <a:solidFill>
                  <a:srgbClr val="172033"/>
                </a:solidFill>
                <a:latin typeface="Arial"/>
                <a:ea typeface="Arial"/>
                <a:cs typeface="Arial"/>
              </a:rPr>
              <a:t>larger, heterogeneous, multi-reviewer sets</a:t>
            </a:r>
          </a:p>
        </p:txBody>
      </p:sp>
      <p:sp>
        <p:nvSpPr>
          <p:cNvPr id="17" name="Rettangolo 16">
            <a:extLst xmlns:a="http://schemas.openxmlformats.org/drawingml/2006/main">
              <a:ext uri="{FF2B5EF4-FFF2-40B4-BE49-F238E27FC236}">
                <a16:creationId xmlns:a16="http://schemas.microsoft.com/office/drawing/2014/main" id="{1E912AF9-D85C-4977-969E-906B3A4C3311}"/>
              </a:ext>
            </a:extLst>
          </p:cNvPr>
          <p:cNvSpPr>
            <a:spLocks xmlns:a="http://schemas.openxmlformats.org/drawingml/2006/main" noGrp="1"/>
          </p:cNvSpPr>
          <p:nvPr/>
        </p:nvSpPr>
        <p:spPr>
          <a:xfrm xmlns:a="http://schemas.openxmlformats.org/drawingml/2006/main">
            <a:off x="5334000" y="2609850"/>
            <a:ext cx="617220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8" name="Rettangolo 17">
            <a:extLst xmlns:a="http://schemas.openxmlformats.org/drawingml/2006/main">
              <a:ext uri="{FF2B5EF4-FFF2-40B4-BE49-F238E27FC236}">
                <a16:creationId xmlns:a16="http://schemas.microsoft.com/office/drawing/2014/main" id="{1FEB3410-F8F5-45C3-B8A9-72E8CC0B13F9}"/>
              </a:ext>
            </a:extLst>
          </p:cNvPr>
          <p:cNvSpPr>
            <a:spLocks xmlns:a="http://schemas.openxmlformats.org/drawingml/2006/main" noGrp="1"/>
          </p:cNvSpPr>
          <p:nvPr/>
        </p:nvSpPr>
        <p:spPr>
          <a:xfrm xmlns:a="http://schemas.openxmlformats.org/drawingml/2006/main">
            <a:off x="5334000" y="28194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33A70"/>
                </a:solidFill>
                <a:latin typeface="Arial"/>
                <a:ea typeface="Arial"/>
                <a:cs typeface="Arial"/>
              </a:defRPr>
            </a:pPr>
            <a:r>
              <a:rPr sz="1500" b="1">
                <a:solidFill>
                  <a:srgbClr val="233A70"/>
                </a:solidFill>
                <a:latin typeface="Arial"/>
                <a:ea typeface="Arial"/>
                <a:cs typeface="Arial"/>
              </a:rPr>
              <a:t>Conditions</a:t>
            </a:r>
          </a:p>
        </p:txBody>
      </p:sp>
      <p:sp>
        <p:nvSpPr>
          <p:cNvPr id="19" name="Rettangolo 18">
            <a:extLst xmlns:a="http://schemas.openxmlformats.org/drawingml/2006/main">
              <a:ext uri="{FF2B5EF4-FFF2-40B4-BE49-F238E27FC236}">
                <a16:creationId xmlns:a16="http://schemas.microsoft.com/office/drawing/2014/main" id="{528555C9-5DFF-4894-9FE6-D4333953FC88}"/>
              </a:ext>
            </a:extLst>
          </p:cNvPr>
          <p:cNvSpPr>
            <a:spLocks xmlns:a="http://schemas.openxmlformats.org/drawingml/2006/main" noGrp="1"/>
          </p:cNvSpPr>
          <p:nvPr/>
        </p:nvSpPr>
        <p:spPr>
          <a:xfrm xmlns:a="http://schemas.openxmlformats.org/drawingml/2006/main">
            <a:off x="7467600" y="2819400"/>
            <a:ext cx="403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425" b="0">
                <a:solidFill>
                  <a:srgbClr val="172033"/>
                </a:solidFill>
                <a:latin typeface="Arial"/>
                <a:ea typeface="Arial"/>
                <a:cs typeface="Arial"/>
              </a:defRPr>
            </a:pPr>
            <a:r>
              <a:rPr sz="1425" b="0">
                <a:solidFill>
                  <a:srgbClr val="172033"/>
                </a:solidFill>
                <a:latin typeface="Arial"/>
                <a:ea typeface="Arial"/>
                <a:cs typeface="Arial"/>
              </a:rPr>
              <a:t>parameter sweeps; adaptive attacks</a:t>
            </a:r>
          </a:p>
        </p:txBody>
      </p:sp>
      <p:sp>
        <p:nvSpPr>
          <p:cNvPr id="20" name="Rettangolo 19">
            <a:extLst xmlns:a="http://schemas.openxmlformats.org/drawingml/2006/main">
              <a:ext uri="{FF2B5EF4-FFF2-40B4-BE49-F238E27FC236}">
                <a16:creationId xmlns:a16="http://schemas.microsoft.com/office/drawing/2014/main" id="{F89CB595-C0E8-481C-B956-C19F8CDD3C85}"/>
              </a:ext>
            </a:extLst>
          </p:cNvPr>
          <p:cNvSpPr>
            <a:spLocks xmlns:a="http://schemas.openxmlformats.org/drawingml/2006/main" noGrp="1"/>
          </p:cNvSpPr>
          <p:nvPr/>
        </p:nvSpPr>
        <p:spPr>
          <a:xfrm xmlns:a="http://schemas.openxmlformats.org/drawingml/2006/main">
            <a:off x="5334000" y="3295650"/>
            <a:ext cx="617220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1" name="Rettangolo 20">
            <a:extLst xmlns:a="http://schemas.openxmlformats.org/drawingml/2006/main">
              <a:ext uri="{FF2B5EF4-FFF2-40B4-BE49-F238E27FC236}">
                <a16:creationId xmlns:a16="http://schemas.microsoft.com/office/drawing/2014/main" id="{6CF52DE5-B776-4B1D-800C-73C4E4A5C8F6}"/>
              </a:ext>
            </a:extLst>
          </p:cNvPr>
          <p:cNvSpPr>
            <a:spLocks xmlns:a="http://schemas.openxmlformats.org/drawingml/2006/main" noGrp="1"/>
          </p:cNvSpPr>
          <p:nvPr/>
        </p:nvSpPr>
        <p:spPr>
          <a:xfrm xmlns:a="http://schemas.openxmlformats.org/drawingml/2006/main">
            <a:off x="5334000" y="35052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33A70"/>
                </a:solidFill>
                <a:latin typeface="Arial"/>
                <a:ea typeface="Arial"/>
                <a:cs typeface="Arial"/>
              </a:defRPr>
            </a:pPr>
            <a:r>
              <a:rPr sz="1500" b="1">
                <a:solidFill>
                  <a:srgbClr val="233A70"/>
                </a:solidFill>
                <a:latin typeface="Arial"/>
                <a:ea typeface="Arial"/>
                <a:cs typeface="Arial"/>
              </a:rPr>
              <a:t>Tools</a:t>
            </a:r>
          </a:p>
        </p:txBody>
      </p:sp>
      <p:sp>
        <p:nvSpPr>
          <p:cNvPr id="22" name="Rettangolo 21">
            <a:extLst xmlns:a="http://schemas.openxmlformats.org/drawingml/2006/main">
              <a:ext uri="{FF2B5EF4-FFF2-40B4-BE49-F238E27FC236}">
                <a16:creationId xmlns:a16="http://schemas.microsoft.com/office/drawing/2014/main" id="{CFA73A27-E6D0-47E7-ADA5-8D98B5FD3677}"/>
              </a:ext>
            </a:extLst>
          </p:cNvPr>
          <p:cNvSpPr>
            <a:spLocks xmlns:a="http://schemas.openxmlformats.org/drawingml/2006/main" noGrp="1"/>
          </p:cNvSpPr>
          <p:nvPr/>
        </p:nvSpPr>
        <p:spPr>
          <a:xfrm xmlns:a="http://schemas.openxmlformats.org/drawingml/2006/main">
            <a:off x="7467600" y="3505200"/>
            <a:ext cx="403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425" b="0">
                <a:solidFill>
                  <a:srgbClr val="172033"/>
                </a:solidFill>
                <a:latin typeface="Arial"/>
                <a:ea typeface="Arial"/>
                <a:cs typeface="Arial"/>
              </a:defRPr>
            </a:pPr>
            <a:r>
              <a:rPr sz="1425" b="0">
                <a:solidFill>
                  <a:srgbClr val="172033"/>
                </a:solidFill>
                <a:latin typeface="Arial"/>
                <a:ea typeface="Arial"/>
                <a:cs typeface="Arial"/>
              </a:rPr>
              <a:t>repeat across versions; track drift</a:t>
            </a:r>
          </a:p>
        </p:txBody>
      </p:sp>
      <p:sp>
        <p:nvSpPr>
          <p:cNvPr id="23" name="Rettangolo 22">
            <a:extLst xmlns:a="http://schemas.openxmlformats.org/drawingml/2006/main">
              <a:ext uri="{FF2B5EF4-FFF2-40B4-BE49-F238E27FC236}">
                <a16:creationId xmlns:a16="http://schemas.microsoft.com/office/drawing/2014/main" id="{6730AD67-EBD7-4FFB-A38A-B32B95B85FDA}"/>
              </a:ext>
            </a:extLst>
          </p:cNvPr>
          <p:cNvSpPr>
            <a:spLocks xmlns:a="http://schemas.openxmlformats.org/drawingml/2006/main" noGrp="1"/>
          </p:cNvSpPr>
          <p:nvPr/>
        </p:nvSpPr>
        <p:spPr>
          <a:xfrm xmlns:a="http://schemas.openxmlformats.org/drawingml/2006/main">
            <a:off x="5334000" y="3981450"/>
            <a:ext cx="617220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4" name="Rettangolo 23">
            <a:extLst xmlns:a="http://schemas.openxmlformats.org/drawingml/2006/main">
              <a:ext uri="{FF2B5EF4-FFF2-40B4-BE49-F238E27FC236}">
                <a16:creationId xmlns:a16="http://schemas.microsoft.com/office/drawing/2014/main" id="{297D8C7E-D048-4389-B744-C095380C76FF}"/>
              </a:ext>
            </a:extLst>
          </p:cNvPr>
          <p:cNvSpPr>
            <a:spLocks xmlns:a="http://schemas.openxmlformats.org/drawingml/2006/main" noGrp="1"/>
          </p:cNvSpPr>
          <p:nvPr/>
        </p:nvSpPr>
        <p:spPr>
          <a:xfrm xmlns:a="http://schemas.openxmlformats.org/drawingml/2006/main">
            <a:off x="5334000" y="41910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33A70"/>
                </a:solidFill>
                <a:latin typeface="Arial"/>
                <a:ea typeface="Arial"/>
                <a:cs typeface="Arial"/>
              </a:defRPr>
            </a:pPr>
            <a:r>
              <a:rPr sz="1500" b="1">
                <a:solidFill>
                  <a:srgbClr val="233A70"/>
                </a:solidFill>
                <a:latin typeface="Arial"/>
                <a:ea typeface="Arial"/>
                <a:cs typeface="Arial"/>
              </a:rPr>
              <a:t>Modalities</a:t>
            </a:r>
          </a:p>
        </p:txBody>
      </p:sp>
      <p:sp>
        <p:nvSpPr>
          <p:cNvPr id="25" name="Rettangolo 24">
            <a:extLst xmlns:a="http://schemas.openxmlformats.org/drawingml/2006/main">
              <a:ext uri="{FF2B5EF4-FFF2-40B4-BE49-F238E27FC236}">
                <a16:creationId xmlns:a16="http://schemas.microsoft.com/office/drawing/2014/main" id="{FB545777-3A93-46AD-B3E0-2631B388AFF4}"/>
              </a:ext>
            </a:extLst>
          </p:cNvPr>
          <p:cNvSpPr>
            <a:spLocks xmlns:a="http://schemas.openxmlformats.org/drawingml/2006/main" noGrp="1"/>
          </p:cNvSpPr>
          <p:nvPr/>
        </p:nvSpPr>
        <p:spPr>
          <a:xfrm xmlns:a="http://schemas.openxmlformats.org/drawingml/2006/main">
            <a:off x="7467600" y="4191000"/>
            <a:ext cx="403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425" b="0">
                <a:solidFill>
                  <a:srgbClr val="172033"/>
                </a:solidFill>
                <a:latin typeface="Arial"/>
                <a:ea typeface="Arial"/>
                <a:cs typeface="Arial"/>
              </a:defRPr>
            </a:pPr>
            <a:r>
              <a:rPr sz="1425" b="0">
                <a:solidFill>
                  <a:srgbClr val="172033"/>
                </a:solidFill>
                <a:latin typeface="Arial"/>
                <a:ea typeface="Arial"/>
                <a:cs typeface="Arial"/>
              </a:rPr>
              <a:t>extend beyond still images</a:t>
            </a:r>
          </a:p>
        </p:txBody>
      </p:sp>
      <p:sp>
        <p:nvSpPr>
          <p:cNvPr id="26" name="Rettangolo 25">
            <a:extLst xmlns:a="http://schemas.openxmlformats.org/drawingml/2006/main">
              <a:ext uri="{FF2B5EF4-FFF2-40B4-BE49-F238E27FC236}">
                <a16:creationId xmlns:a16="http://schemas.microsoft.com/office/drawing/2014/main" id="{3C77DA9F-A647-486F-87C1-3A6BA389185F}"/>
              </a:ext>
            </a:extLst>
          </p:cNvPr>
          <p:cNvSpPr>
            <a:spLocks xmlns:a="http://schemas.openxmlformats.org/drawingml/2006/main" noGrp="1"/>
          </p:cNvSpPr>
          <p:nvPr/>
        </p:nvSpPr>
        <p:spPr>
          <a:xfrm xmlns:a="http://schemas.openxmlformats.org/drawingml/2006/main">
            <a:off x="5334000" y="4667250"/>
            <a:ext cx="617220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7" name="Rettangolo 26">
            <a:extLst xmlns:a="http://schemas.openxmlformats.org/drawingml/2006/main">
              <a:ext uri="{FF2B5EF4-FFF2-40B4-BE49-F238E27FC236}">
                <a16:creationId xmlns:a16="http://schemas.microsoft.com/office/drawing/2014/main" id="{8E6250E2-E927-4F06-BBD5-AC880A4A2AFA}"/>
              </a:ext>
            </a:extLst>
          </p:cNvPr>
          <p:cNvSpPr>
            <a:spLocks xmlns:a="http://schemas.openxmlformats.org/drawingml/2006/main" noGrp="1"/>
          </p:cNvSpPr>
          <p:nvPr/>
        </p:nvSpPr>
        <p:spPr>
          <a:xfrm xmlns:a="http://schemas.openxmlformats.org/drawingml/2006/main">
            <a:off x="5334000" y="48768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BE3C37"/>
                </a:solidFill>
                <a:latin typeface="Arial"/>
                <a:ea typeface="Arial"/>
                <a:cs typeface="Arial"/>
              </a:defRPr>
            </a:pPr>
            <a:r>
              <a:rPr sz="1500" b="1">
                <a:solidFill>
                  <a:srgbClr val="BE3C37"/>
                </a:solidFill>
                <a:latin typeface="Arial"/>
                <a:ea typeface="Arial"/>
                <a:cs typeface="Arial"/>
              </a:rPr>
              <a:t>Governance</a:t>
            </a:r>
          </a:p>
        </p:txBody>
      </p:sp>
      <p:sp>
        <p:nvSpPr>
          <p:cNvPr id="28" name="Rettangolo 27">
            <a:extLst xmlns:a="http://schemas.openxmlformats.org/drawingml/2006/main">
              <a:ext uri="{FF2B5EF4-FFF2-40B4-BE49-F238E27FC236}">
                <a16:creationId xmlns:a16="http://schemas.microsoft.com/office/drawing/2014/main" id="{096B4D8D-5682-4A6A-9047-F2FEEF48A8B7}"/>
              </a:ext>
            </a:extLst>
          </p:cNvPr>
          <p:cNvSpPr>
            <a:spLocks xmlns:a="http://schemas.openxmlformats.org/drawingml/2006/main" noGrp="1"/>
          </p:cNvSpPr>
          <p:nvPr/>
        </p:nvSpPr>
        <p:spPr>
          <a:xfrm xmlns:a="http://schemas.openxmlformats.org/drawingml/2006/main">
            <a:off x="7467600" y="4876800"/>
            <a:ext cx="403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425" b="0">
                <a:solidFill>
                  <a:srgbClr val="172033"/>
                </a:solidFill>
                <a:latin typeface="Arial"/>
                <a:ea typeface="Arial"/>
                <a:cs typeface="Arial"/>
              </a:defRPr>
            </a:pPr>
            <a:r>
              <a:rPr sz="1425" b="0">
                <a:solidFill>
                  <a:srgbClr val="172033"/>
                </a:solidFill>
                <a:latin typeface="Arial"/>
                <a:ea typeface="Arial"/>
                <a:cs typeface="Arial"/>
              </a:rPr>
              <a:t>stronger audit and review controls</a:t>
            </a:r>
          </a:p>
        </p:txBody>
      </p:sp>
      <p:sp>
        <p:nvSpPr>
          <p:cNvPr id="29" name="Rettangolo con angoli arrotondati 28">
            <a:extLst xmlns:a="http://schemas.openxmlformats.org/drawingml/2006/main">
              <a:ext uri="{FF2B5EF4-FFF2-40B4-BE49-F238E27FC236}">
                <a16:creationId xmlns:a16="http://schemas.microsoft.com/office/drawing/2014/main" id="{61709ABF-C6C7-4CB5-B2B9-481AE4E3DAC9}"/>
              </a:ext>
            </a:extLst>
          </p:cNvPr>
          <p:cNvSpPr>
            <a:spLocks xmlns:a="http://schemas.openxmlformats.org/drawingml/2006/main" noGrp="1"/>
          </p:cNvSpPr>
          <p:nvPr/>
        </p:nvSpPr>
        <p:spPr>
          <a:xfrm xmlns:a="http://schemas.openxmlformats.org/drawingml/2006/main">
            <a:off x="5334000" y="5676900"/>
            <a:ext cx="6172200" cy="457200"/>
          </a:xfrm>
          <a:prstGeom xmlns:a="http://schemas.openxmlformats.org/drawingml/2006/main" prst="roundRect">
            <a:avLst>
              <a:gd name="adj" fmla="val 25000"/>
            </a:avLst>
          </a:prstGeom>
          <a:solidFill xmlns:a="http://schemas.openxmlformats.org/drawingml/2006/main">
            <a:srgbClr val="E9EEF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0" name="Rettangolo 29">
            <a:extLst xmlns:a="http://schemas.openxmlformats.org/drawingml/2006/main">
              <a:ext uri="{FF2B5EF4-FFF2-40B4-BE49-F238E27FC236}">
                <a16:creationId xmlns:a16="http://schemas.microsoft.com/office/drawing/2014/main" id="{9FA4F0A5-3312-4D65-952B-9A4883F78124}"/>
              </a:ext>
            </a:extLst>
          </p:cNvPr>
          <p:cNvSpPr>
            <a:spLocks xmlns:a="http://schemas.openxmlformats.org/drawingml/2006/main" noGrp="1"/>
          </p:cNvSpPr>
          <p:nvPr/>
        </p:nvSpPr>
        <p:spPr>
          <a:xfrm xmlns:a="http://schemas.openxmlformats.org/drawingml/2006/main">
            <a:off x="5562600" y="58007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233A70"/>
                </a:solidFill>
                <a:latin typeface="Arial"/>
                <a:ea typeface="Arial"/>
                <a:cs typeface="Arial"/>
              </a:defRPr>
            </a:pPr>
            <a:r>
              <a:rPr sz="1350" b="1">
                <a:solidFill>
                  <a:srgbClr val="233A70"/>
                </a:solidFill>
                <a:latin typeface="Arial"/>
                <a:ea typeface="Arial"/>
                <a:cs typeface="Arial"/>
              </a:rPr>
              <a:t>Expand the protocol without weakening traceability.</a:t>
            </a:r>
          </a:p>
        </p:txBody>
      </p:sp>
    </p:spTree>
    <p:extLst>
      <p:ext uri="{BB962C8B-B14F-4D97-AF65-F5344CB8AC3E}">
        <p14:creationId xmlns:p14="http://schemas.microsoft.com/office/powerpoint/2010/main" val="130821747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2026-09-06T08:00:34.7210000Z</dcterms:created>
  <dcterms:modified xsi:type="dcterms:W3CDTF">2026-09-06T08:00:34.7210000Z</dcterms:modified>
</coreProperties>
</file>