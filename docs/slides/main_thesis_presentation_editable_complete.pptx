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4" r:id="rId14"/>
    <p:sldId id="296" r:id="rId27"/>
    <p:sldId id="261" r:id="rId4"/>
    <p:sldId id="285" r:id="rId16"/>
    <p:sldId id="264" r:id="rId5"/>
    <p:sldId id="286" r:id="rId17"/>
    <p:sldId id="287" r:id="rId18"/>
    <p:sldId id="297" r:id="rId28"/>
    <p:sldId id="270" r:id="rId6"/>
    <p:sldId id="288" r:id="rId19"/>
    <p:sldId id="299" r:id="rId30"/>
    <p:sldId id="273" r:id="rId7"/>
    <p:sldId id="289" r:id="rId20"/>
    <p:sldId id="290" r:id="rId21"/>
    <p:sldId id="291" r:id="rId22"/>
    <p:sldId id="292" r:id="rId23"/>
    <p:sldId id="293" r:id="rId24"/>
    <p:sldId id="278" r:id="rId8"/>
    <p:sldId id="294" r:id="rId25"/>
    <p:sldId id="300" r:id="rId31"/>
    <p:sldId id="295" r:id="rId26"/>
    <p:sldId id="283" r:id="rId9"/>
    <p:sldId id="29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1" d="100"/>
          <a:sy n="101" d="100"/>
        </p:scale>
        <p:origin x="87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9.xml"/><Relationship Id="rId15" Type="http://schemas.openxmlformats.org/officeDocument/2006/relationships/notesMaster" Target="notesMasters/notesMaster1.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FNR · missed-target risk</c:v>
          </c:tx>
          <c:spPr>
            <a:solidFill>
              <a:srgbClr val="BE3C37"/>
            </a:solidFill>
          </c:spPr>
          <c:invertIfNegative val="1"/>
          <c:dLbls>
            <c:spPr>
              <a:noFill/>
              <a:ln>
                <a:noFill/>
              </a:ln>
              <a:effectLst/>
            </c:spPr>
            <c:txPr>
              <a:bodyPr anchorCtr="1"/>
              <a:lstStyle/>
              <a:p>
                <a:pPr>
                  <a:defRPr sz="1125"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7.0000000000000007E-2</c:v>
              </c:pt>
              <c:pt idx="1">
                <c:v>0.12</c:v>
              </c:pt>
              <c:pt idx="2">
                <c:v>4.2000000000000003E-2</c:v>
              </c:pt>
              <c:pt idx="3">
                <c:v>1.4E-2</c:v>
              </c:pt>
              <c:pt idx="4">
                <c:v>3.2000000000000001E-2</c:v>
              </c:pt>
              <c:pt idx="5">
                <c:v>3.5999999999999997E-2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AC0-4D2E-9B8A-1CB8AE8F6731}"/>
            </c:ext>
          </c:extLst>
        </c:ser>
        <c:ser>
          <c:idx val="1"/>
          <c:order val="1"/>
          <c:tx>
            <c:v>FPR · review workload</c:v>
          </c:tx>
          <c:spPr>
            <a:solidFill>
              <a:srgbClr val="C89B14"/>
            </a:solidFill>
          </c:spPr>
          <c:invertIfNegative val="1"/>
          <c:dLbls>
            <c:spPr>
              <a:noFill/>
              <a:ln>
                <a:noFill/>
              </a:ln>
              <a:effectLst/>
            </c:spPr>
            <c:txPr>
              <a:bodyPr anchorCtr="1"/>
              <a:lstStyle/>
              <a:p>
                <a:pPr>
                  <a:defRPr sz="1125"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Magnet.AI</c:v>
              </c:pt>
              <c:pt idx="1">
                <c:v>Excire D20</c:v>
              </c:pt>
              <c:pt idx="2">
                <c:v>Excire D50</c:v>
              </c:pt>
              <c:pt idx="3">
                <c:v>Excire D80</c:v>
              </c:pt>
              <c:pt idx="4">
                <c:v>Cellebrite</c:v>
              </c:pt>
              <c:pt idx="5">
                <c:v>Griffeye / T3K</c:v>
              </c:pt>
            </c:strLit>
          </c:cat>
          <c:val>
            <c:numLit>
              <c:formatCode>0.0%</c:formatCode>
              <c:ptCount val="6"/>
              <c:pt idx="0">
                <c:v>0.03</c:v>
              </c:pt>
              <c:pt idx="1">
                <c:v>2.5999999999999999E-2</c:v>
              </c:pt>
              <c:pt idx="2">
                <c:v>7.0000000000000007E-2</c:v>
              </c:pt>
              <c:pt idx="3">
                <c:v>0.156</c:v>
              </c:pt>
              <c:pt idx="4">
                <c:v>0.04</c:v>
              </c:pt>
              <c:pt idx="5">
                <c:v>8.0000000000000002E-3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AC0-4D2E-9B8A-1CB8AE8F6731}"/>
            </c:ext>
          </c:extLst>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l"/>
        <c:majorGridlines>
          <c:spPr>
            <a:ln w="9525">
              <a:solidFill>
                <a:srgbClr val="D9DEE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5B6577"/>
                </a:solidFill>
              </a:defRPr>
            </a:pPr>
            <a:endParaRPr lang="it-IT"/>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9DEE8"/>
            </a:solidFill>
            <a:prstDash val="solid"/>
          </a:ln>
        </c:spPr>
        <c:txPr>
          <a:bodyPr anchorCtr="1"/>
          <a:lstStyle/>
          <a:p>
            <a:pPr>
              <a:defRPr sz="1275">
                <a:solidFill>
                  <a:srgbClr val="172033"/>
                </a:solidFill>
              </a:defRPr>
            </a:pPr>
            <a:endParaRPr lang="it-IT"/>
          </a:p>
        </c:txPr>
        <c:crossAx val="48650112"/>
        <c:crosses val="autoZero"/>
        <c:crossBetween val="between"/>
      </c:valAx>
      <c:spPr>
        <a:solidFill>
          <a:srgbClr val="F7F8FA"/>
        </a:solidFill>
        <a:ln w="0">
          <a:noFill/>
          <a:prstDash val="solid"/>
        </a:ln>
      </c:spPr>
    </c:plotArea>
    <c:legend>
      <c:legendPos val="b"/>
      <c:overlay val="0"/>
      <c:txPr>
        <a:bodyPr anchorCtr="1"/>
        <a:lstStyle/>
        <a:p>
          <a:pPr>
            <a:defRPr sz="1200">
              <a:solidFill>
                <a:srgbClr val="5B6577"/>
              </a:solidFill>
            </a:defRPr>
          </a:pPr>
          <a:endParaRPr lang="it-IT"/>
        </a:p>
      </c:txPr>
    </c:legend>
    <c:plotVisOnly val="1"/>
    <c:dispBlanksAs val="zero"/>
    <c:showDLblsOverMax val="1"/>
  </c:chart>
  <c:spPr>
    <a:solidFill>
      <a:srgbClr val="F7F8FA"/>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OOD weapon-assignment rate</c:v>
          </c:tx>
          <c:spPr>
            <a:solidFill>
              <a:srgbClr val="233A70"/>
            </a:solidFill>
          </c:spPr>
          <c:invertIfNegative val="1"/>
          <c:dPt>
            <c:idx val="2"/>
            <c:invertIfNegative val="0"/>
            <c:bubble3D val="0"/>
            <c:spPr>
              <a:solidFill>
                <a:srgbClr val="BE3C37"/>
              </a:solidFill>
            </c:spPr>
            <c:extLst>
              <c:ext xmlns:c16="http://schemas.microsoft.com/office/drawing/2014/chart" uri="{C3380CC4-5D6E-409C-BE32-E72D297353CC}">
                <c16:uniqueId val="{00000001-8831-478F-961B-D61EBE509212}"/>
              </c:ext>
            </c:extLst>
          </c:dPt>
          <c:dPt>
            <c:idx val="3"/>
            <c:invertIfNegative val="0"/>
            <c:bubble3D val="0"/>
            <c:spPr>
              <a:solidFill>
                <a:srgbClr val="087A50"/>
              </a:solidFill>
            </c:spPr>
            <c:extLst>
              <c:ext xmlns:c16="http://schemas.microsoft.com/office/drawing/2014/chart" uri="{C3380CC4-5D6E-409C-BE32-E72D297353CC}">
                <c16:uniqueId val="{00000005-8831-478F-961B-D61EBE509212}"/>
              </c:ext>
            </c:extLst>
          </c:dPt>
          <c:dPt>
            <c:idx val="4"/>
            <c:invertIfNegative val="0"/>
            <c:bubble3D val="0"/>
            <c:spPr>
              <a:solidFill>
                <a:srgbClr val="087A50"/>
              </a:solidFill>
            </c:spPr>
            <c:extLst>
              <c:ext xmlns:c16="http://schemas.microsoft.com/office/drawing/2014/chart" uri="{C3380CC4-5D6E-409C-BE32-E72D297353CC}">
                <c16:uniqueId val="{00000007-8831-478F-961B-D61EBE509212}"/>
              </c:ext>
            </c:extLst>
          </c:dPt>
          <c:dPt>
            <c:idx val="5"/>
            <c:invertIfNegative val="0"/>
            <c:bubble3D val="0"/>
            <c:spPr>
              <a:solidFill>
                <a:srgbClr val="087A50"/>
              </a:solidFill>
            </c:spPr>
            <c:extLst>
              <c:ext xmlns:c16="http://schemas.microsoft.com/office/drawing/2014/chart" uri="{C3380CC4-5D6E-409C-BE32-E72D297353CC}">
                <c16:uniqueId val="{00000009-8831-478F-961B-D61EBE509212}"/>
              </c:ext>
            </c:extLst>
          </c:dPt>
          <c:dPt>
            <c:idx val="6"/>
            <c:invertIfNegative val="0"/>
            <c:bubble3D val="0"/>
            <c:spPr>
              <a:solidFill>
                <a:srgbClr val="C89B14"/>
              </a:solidFill>
            </c:spPr>
            <c:extLst>
              <c:ext xmlns:c16="http://schemas.microsoft.com/office/drawing/2014/chart" uri="{C3380CC4-5D6E-409C-BE32-E72D297353CC}">
                <c16:uniqueId val="{00000003-8831-478F-961B-D61EBE509212}"/>
              </c:ext>
            </c:extLst>
          </c:dPt>
          <c:dPt>
            <c:idx val="7"/>
            <c:invertIfNegative val="0"/>
            <c:bubble3D val="0"/>
            <c:spPr>
              <a:solidFill>
                <a:srgbClr val="087A50"/>
              </a:solidFill>
            </c:spPr>
            <c:extLst>
              <c:ext xmlns:c16="http://schemas.microsoft.com/office/drawing/2014/chart" uri="{C3380CC4-5D6E-409C-BE32-E72D297353CC}">
                <c16:uniqueId val="{0000000B-8831-478F-961B-D61EBE509212}"/>
              </c:ext>
            </c:extLst>
          </c:dPt>
          <c:dPt>
            <c:idx val="8"/>
            <c:invertIfNegative val="0"/>
            <c:bubble3D val="0"/>
            <c:spPr>
              <a:solidFill>
                <a:srgbClr val="087A50"/>
              </a:solidFill>
            </c:spPr>
            <c:extLst>
              <c:ext xmlns:c16="http://schemas.microsoft.com/office/drawing/2014/chart" uri="{C3380CC4-5D6E-409C-BE32-E72D297353CC}">
                <c16:uniqueId val="{0000000D-8831-478F-961B-D61EBE509212}"/>
              </c:ext>
            </c:extLst>
          </c:dPt>
          <c:dLbls>
            <c:spPr>
              <a:noFill/>
              <a:ln>
                <a:noFill/>
              </a:ln>
              <a:effectLst/>
            </c:spPr>
            <c:txPr>
              <a:bodyPr anchorCtr="1"/>
              <a:lstStyle/>
              <a:p>
                <a:pPr>
                  <a:defRPr sz="1050" b="1">
                    <a:solidFill>
                      <a:srgbClr val="172033"/>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9"/>
              <c:pt idx="0">
                <c:v>EfficientNet-B0</c:v>
              </c:pt>
              <c:pt idx="1">
                <c:v>ResNet18</c:v>
              </c:pt>
              <c:pt idx="2">
                <c:v>CLIP proxy</c:v>
              </c:pt>
              <c:pt idx="3">
                <c:v>Magnet.AI</c:v>
              </c:pt>
              <c:pt idx="4">
                <c:v>Excire D20</c:v>
              </c:pt>
              <c:pt idx="5">
                <c:v>Excire D50</c:v>
              </c:pt>
              <c:pt idx="6">
                <c:v>Excire D80</c:v>
              </c:pt>
              <c:pt idx="7">
                <c:v>Cellebrite</c:v>
              </c:pt>
              <c:pt idx="8">
                <c:v>Griffeye / T3K</c:v>
              </c:pt>
            </c:strLit>
          </c:cat>
          <c:val>
            <c:numLit>
              <c:formatCode>0.0%</c:formatCode>
              <c:ptCount val="9"/>
              <c:pt idx="0">
                <c:v>0.36959999999999998</c:v>
              </c:pt>
              <c:pt idx="1">
                <c:v>0.43759999999999999</c:v>
              </c:pt>
              <c:pt idx="2">
                <c:v>0.83560000000000001</c:v>
              </c:pt>
              <c:pt idx="3">
                <c:v>0.36</c:v>
              </c:pt>
              <c:pt idx="4">
                <c:v>0.23799999999999999</c:v>
              </c:pt>
              <c:pt idx="5">
                <c:v>0.34</c:v>
              </c:pt>
              <c:pt idx="6">
                <c:v>0.52200000000000002</c:v>
              </c:pt>
              <c:pt idx="7">
                <c:v>0.29199999999999998</c:v>
              </c:pt>
              <c:pt idx="8">
                <c:v>0.26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E-8831-478F-961B-D61EBE509212}"/>
            </c:ext>
          </c:extLst>
        </c:ser>
        <c:dLbls>
          <c:dLblPos val="outEnd"/>
          <c:showLegendKey val="0"/>
          <c:showVal val="1"/>
          <c:showCatName val="0"/>
          <c:showSerName val="0"/>
          <c:showPercent val="0"/>
          <c:showBubbleSize val="0"/>
        </c:dLbls>
        <c:gapWidth val="38"/>
        <c:axId val="48650112"/>
        <c:axId val="48672768"/>
      </c:barChart>
      <c:catAx>
        <c:axId val="48650112"/>
        <c:scaling>
          <c:orientation val="minMax"/>
        </c:scaling>
        <c:delete val="0"/>
        <c:axPos val="l"/>
        <c:majorGridlines>
          <c:spPr>
            <a:ln w="9525">
              <a:solidFill>
                <a:srgbClr val="D9DEE8"/>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050">
                <a:solidFill>
                  <a:srgbClr val="5B6577"/>
                </a:solidFill>
              </a:defRPr>
            </a:pPr>
            <a:endParaRPr lang="it-IT"/>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9DEE8"/>
            </a:solidFill>
            <a:prstDash val="solid"/>
          </a:ln>
        </c:spPr>
        <c:txPr>
          <a:bodyPr anchorCtr="1"/>
          <a:lstStyle/>
          <a:p>
            <a:pPr>
              <a:defRPr sz="1200">
                <a:solidFill>
                  <a:srgbClr val="172033"/>
                </a:solidFill>
              </a:defRPr>
            </a:pPr>
            <a:endParaRPr lang="it-IT"/>
          </a:p>
        </c:txPr>
        <c:crossAx val="48650112"/>
        <c:crosses val="autoZero"/>
        <c:crossBetween val="between"/>
      </c:valAx>
      <c:spPr>
        <a:solidFill>
          <a:srgbClr val="F7F8FA"/>
        </a:solidFill>
        <a:ln w="0">
          <a:noFill/>
          <a:prstDash val="solid"/>
        </a:ln>
      </c:spPr>
    </c:plotArea>
    <c:plotVisOnly val="1"/>
    <c:dispBlanksAs val="zero"/>
    <c:showDLblsOverMax val="1"/>
  </c:chart>
  <c:spPr>
    <a:solidFill>
      <a:srgbClr val="F7F8FA"/>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0:30–1:25</a:t>
            </a:r>
          </a:p>
          <a:p>
            <a:r>
              <a:t>Digital investigations may contain very large image collections, so AI can help prioritize what an analyst reviews first. The risk is asymmetric: a false positive creates extra work, but a false negative can quietly move relevant evidence out of the priority queue. This leads to my central question: how does image triage behave under adversarial, anti-forensic and out-of-distribution inputs? My contribution is an auditable robustness assessment, not a new classifier.</a:t>
            </a:r>
          </a:p>
          <a:p>
            <a:r>
              <a:t>Transition: To answer this question, I designed the FAIRLab protocol.</a:t>
            </a:r>
          </a:p>
          <a:p/>
          <a:p>
            <a:r>
              <a:t>[Sources]</a:t>
            </a:r>
          </a:p>
          <a:p>
            <a:r>
              <a:t>- docs/LatexThesis/sections/01_introduction.tex</a:t>
            </a:r>
          </a:p>
          <a:p>
            <a:r>
              <a:t>- docs/LatexThesis/sections/04_methodology.tex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1:25–2:25</a:t>
            </a:r>
          </a:p>
          <a:p>
            <a:r>
              <a:t>FAIRLab connects six stages. I start from a heterogeneous image pool, validate and deduplicate it, and freeze 1,500 source images. I then generate controlled perturbations, evaluate three transparent proxies and six commercial configurations, normalize the observable outputs, and interpret the result in forensic terms. Traceability runs through the complete process using deterministic identifiers, manifests, checksums, frozen configurations and source-to-output links.</a:t>
            </a:r>
          </a:p>
          <a:p>
            <a:r>
              <a:t>Transition: The next slide shows the exact experimental population behind every comparison.</a:t>
            </a:r>
          </a:p>
          <a:p/>
          <a:p>
            <a:r>
              <a:t>[Sources]</a:t>
            </a:r>
          </a:p>
          <a:p>
            <a:r>
              <a:t>- docs/LatexThesis/sections/04_methodology.tex</a:t>
            </a:r>
          </a:p>
          <a:p>
            <a:r>
              <a:t>- docs/LatexThesis/sections/05_implementation.tex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2:25–3:20</a:t>
            </a:r>
          </a:p>
          <a:p>
            <a:r>
              <a:t>The frozen population contains 1,500 source images: 500 weapon, 500 non-weapon and 500 images in a separate OOD branch. The 1,000 binary images produce ten linked manipulated variants each, for 10,000 adversarial and anti-forensic files. Together with the clean sources, the tool-facing bundle contains 11,500 files. The important point is that the variants are linked to their sources; they are not 10,000 independent cases. OOD is also evaluated separately, not as a third supervised class.</a:t>
            </a:r>
          </a:p>
          <a:p>
            <a:r>
              <a:t>Transition: I used the same frozen corpus at two complementary evidence levels.</a:t>
            </a:r>
          </a:p>
          <a:p/>
          <a:p>
            <a:r>
              <a:t>[Sources]</a:t>
            </a:r>
          </a:p>
          <a:p>
            <a:r>
              <a:t>- docs/LatexThesis/sections/04_methodology.tex</a:t>
            </a:r>
          </a:p>
          <a:p>
            <a:r>
              <a:t>- docs/LatexThesis/sections/05_implementation.tex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3:20–4:20</a:t>
            </a:r>
          </a:p>
          <a:p>
            <a:r>
              <a:t>The first level uses transparent proxy models: EfficientNet-B0, ResNet18 and a CLIP-based proxy. Here I can inspect predictions, gradients and checkpoints. The second level uses four commercial black-box systems in six configurations, where only analyst-visible outputs are available. The threat model matters: model-dependent attacks are direct only on EfficientNet-B0. On the other systems, the same files measure empirical transfer. Color Shift and the anti-forensic transformations are model-agnostic conditions.</a:t>
            </a:r>
          </a:p>
          <a:p>
            <a:r>
              <a:t>Transition: Because these systems expose different outputs, they must be normalized explicitly.</a:t>
            </a:r>
          </a:p>
          <a:p/>
          <a:p>
            <a:r>
              <a:t>[Sources]</a:t>
            </a:r>
          </a:p>
          <a:p>
            <a:r>
              <a:t>- docs/LatexThesis/sections/00_abstract.tex</a:t>
            </a:r>
          </a:p>
          <a:p>
            <a:r>
              <a:t>- docs/LatexThesis/sections/04_methodology.tex — evaluated systems and attack pathways</a:t>
            </a:r>
          </a:p>
          <a:p>
            <a:r>
              <a:t>- evaluation/forensic_tools/tool_version_log.csv</a:t>
            </a:r>
          </a:p>
          <a:p>
            <a:r>
              <a:t>- models/model_registry.json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4:20–5:15</a:t>
            </a:r>
          </a:p>
          <a:p>
            <a:r>
              <a:t>Commercial tools expose tags, bookmarks, labels or retrieval results rather than a common prediction interface. I therefore freeze a mapping for each tool version and configuration and convert the observable output into weapon, non-weapon or unknown. This makes directional errors comparable. The false-negative rate represents missed-target risk, while the false-positive rate represents additional review workload. OOD weapon assignment is reported separately. No unknown state occurred in the 69,000 normalized commercial decisions, but the state remains part of the protocol.</a:t>
            </a:r>
          </a:p>
          <a:p>
            <a:r>
              <a:t>Transition: With these definitions in place, I can show the main robustness result.</a:t>
            </a:r>
          </a:p>
          <a:p/>
          <a:p>
            <a:r>
              <a:t>[Sources]</a:t>
            </a:r>
          </a:p>
          <a:p>
            <a:r>
              <a:t>- docs/LatexThesis/sections/05_implementation.tex — output normalization</a:t>
            </a:r>
          </a:p>
          <a:p>
            <a:r>
              <a:t>- docs/LatexThesis/sections/06_results.tex — metric definitions and normalized decision counts</a:t>
            </a:r>
          </a:p>
          <a:p>
            <a:r>
              <a:t>- evaluation/forensic_tools/normalized_predictions_public_summary.json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5:15–6:25</a:t>
            </a:r>
          </a:p>
          <a:p>
            <a:r>
              <a:t>EfficientNet-B0 has the highest clean accuracy, 97.8 percent, but under the strongest direct Sigma Zero condition it falls to 1.5 percent: a drop of 96.3 percentage points. The same generated artifacts do not transfer uniformly. The worst transferred accuracy is 91.8 percent for ResNet18 and 91.4 percent for CLIP. These are different claims: the first is direct-target vulnerability; the others are empirical transfer. Anti-forensic effects are smaller in aggregate, with a largest proxy drop of 3.0 points, although individual directional errors still matter.</a:t>
            </a:r>
          </a:p>
          <a:p>
            <a:r>
              <a:t>Transition: The publication heatmap extends this transfer analysis to the commercial tools.</a:t>
            </a:r>
          </a:p>
          <a:p/>
          <a:p>
            <a:r>
              <a:t>[Sources]</a:t>
            </a:r>
          </a:p>
          <a:p>
            <a:r>
              <a:t>- results/metrics/proxy_model_clean_metrics.csv</a:t>
            </a:r>
          </a:p>
          <a:p>
            <a:r>
              <a:t>- results/metrics/proxy_model_adversarial_metrics.csv</a:t>
            </a:r>
          </a:p>
          <a:p>
            <a:r>
              <a:t>- results/metrics/proxy_model_anti_forensic_metrics.csv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6:25–7:35</a:t>
            </a:r>
          </a:p>
          <a:p>
            <a:r>
              <a:t>This heatmap is taken from the publication analysis and shows the accuracy drop for each attack family and commercial configuration. I would not read every cell. The main message is heterogeneity: the same EfficientNet-generated artifacts can have very different effects across tools and even across settings of the same tool. The largest observed effects are Sigma Zero transfers on Excire D50 and D80, with drops of 20.2 and 25.8 percentage points. These remain transfer results, not direct attacks on proprietary models, and they do not create a product ranking.</a:t>
            </a:r>
          </a:p>
          <a:p>
            <a:r>
              <a:t>Transition: Configuration also changes the ordinary clean-condition error trade-off.</a:t>
            </a:r>
          </a:p>
          <a:p/>
          <a:p>
            <a:r>
              <a:t>[Sources]</a:t>
            </a:r>
          </a:p>
          <a:p>
            <a:r>
              <a:t>- results/figures/chapter_5/fig_forensic_tools_adversarial_accuracy_drop_heatmap.png</a:t>
            </a:r>
          </a:p>
          <a:p>
            <a:r>
              <a:t>- results/figures/chapter_5/tab_forensic_tools_worst_cases.csv</a:t>
            </a:r>
          </a:p>
          <a:p>
            <a:r>
              <a:t>- “FAIRLab: Evaluating the Operational Robustness of AI-Assisted Forensic Image Triage”, black-box heatmap (DFRWS_27/sections/images/heatmap_blackbox.png)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7:35–8:45</a:t>
            </a:r>
          </a:p>
          <a:p>
            <a:r>
              <a:t>The clean results show why one accuracy value is not enough. For Excire, moving from distance 20 to distance 80 reduces the missed-target rate from 12.0 to 1.4 percent. However, the false-positive rate increases from 2.6 to 15.6 percent, and the OOD weapon-assignment rate increases from 23.8 to 52.2 percent. A configuration can therefore reduce silent misses while creating much more review work and more OOD routing. I interpret these rows as frozen operating profiles, not as a universal ranking of commercial products.</a:t>
            </a:r>
          </a:p>
          <a:p>
            <a:r>
              <a:t>Transition: The separate OOD branch makes that third behavior visible.</a:t>
            </a:r>
          </a:p>
          <a:p/>
          <a:p>
            <a:r>
              <a:t>[Sources]</a:t>
            </a:r>
          </a:p>
          <a:p>
            <a:r>
              <a:t>- results/figures/chapter_5/tab_forensic_tools_clean_metrics.csv</a:t>
            </a:r>
          </a:p>
          <a:p>
            <a:r>
              <a:t>- results/figures/chapter_5/tab_forensic_tools_ood_metrics.csv</a:t>
            </a:r>
          </a:p>
          <a:p>
            <a:r>
              <a:t>- docs/LatexThesis/sections/07_conclusions.tex — RQ3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8:45–9:40</a:t>
            </a:r>
          </a:p>
          <a:p>
            <a:r>
              <a:t>Every evaluated system assigns at least some OOD images to the weapon-oriented state. The CLIP proxy reaches 83.6 percent, while the commercial configurations range from 23.8 to 52.2 percent. For CLIP, the 500 OOD images are evaluated by five fold-specific checkpoints, so 83.6 percent refers to 2,500 responses; each commercial rate uses one normalized decision per image. These values are not ordinary false-positive rates because the OOD images have no supervised weapon or non-weapon role in this analysis. They describe closed-set operating behavior and show why clean binary accuracy alone cannot characterize a forensic triage system.</a:t>
            </a:r>
          </a:p>
          <a:p>
            <a:r>
              <a:t>Transition: A single explainability case illustrates why a high output score is also not a guarantee.</a:t>
            </a:r>
          </a:p>
          <a:p/>
          <a:p>
            <a:r>
              <a:t>[Sources]</a:t>
            </a:r>
          </a:p>
          <a:p>
            <a:r>
              <a:t>- results/metrics/proxy_model_ood_metrics.csv</a:t>
            </a:r>
          </a:p>
          <a:p>
            <a:r>
              <a:t>- results/figures/chapter_5/tab_forensic_tools_ood_metrics.csv</a:t>
            </a:r>
          </a:p>
          <a:p>
            <a:r>
              <a:t>- docs/LatexThesis/sections/05_implementation.tex — OOD denominator rule</a:t>
            </a:r>
          </a:p>
          <a:p>
            <a:r>
              <a:t>- docs/LatexThesis/sections/07_conclusions.tex — RQ1, RQ3 and RQ4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9:40–10:35</a:t>
            </a:r>
          </a:p>
          <a:p>
            <a:r>
              <a:t>In case 0015, the reference class is non-weapon. After Sigma Zero, the proxy predicts weapon with a maximum predicted-class probability of 1.000. The Integrated Gradients views help inspect where the proxy response is concentrated, but the claim is deliberately limited. The attribution is a qualitative diagnostic for this selected proxy output. It does not certify correctness, calibrate confidence, or explain the internal behavior of a proprietary tool.</a:t>
            </a:r>
          </a:p>
          <a:p>
            <a:r>
              <a:t>Transition: These findings suggest a clear rule for operational use.</a:t>
            </a:r>
          </a:p>
          <a:p/>
          <a:p>
            <a:r>
              <a:t>[Sources]</a:t>
            </a:r>
          </a:p>
          <a:p>
            <a:r>
              <a:t>- docs/LatexThesis/sections/06_results.tex — Maximum-probability adversarial false positive</a:t>
            </a:r>
          </a:p>
          <a:p>
            <a:r>
              <a:t>- docs/LatexThesis/images/fig_xai_case5_adversarial_high_conf_failure_input.png</a:t>
            </a:r>
          </a:p>
          <a:p>
            <a:r>
              <a:t>- docs/LatexThesis/images/fig_xai_case5_adversarial_high_conf_failure_heatmap.png</a:t>
            </a:r>
          </a:p>
          <a:p>
            <a:r>
              <a:t>- docs/LatexThesis/images/fig_xai_case5_adversarial_high_conf_failure_overlay.png</a:t>
            </a:r>
          </a:p>
          <a:p>
            <a:r>
              <a:t>- explainability/manifests/chapter5/thesis_selection.csv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10:35–11:35</a:t>
            </a:r>
          </a:p>
          <a:p>
            <a:r>
              <a:t>AI can still be useful, but it should create a prioritized queue rather than an irreversible exclusion. The analyst must review the context and make the final decision. For every action, the workflow should preserve the tool version, configuration, output mapping and validation context. This keeps efficiency benefits while making the process reviewable and defensible. The practical rule is simple: use AI to prioritize evidence review, never to silently exclude evidence.</a:t>
            </a:r>
          </a:p>
          <a:p>
            <a:r>
              <a:t>Transition: I will close with the three conclusions I want you to remember.</a:t>
            </a:r>
          </a:p>
          <a:p/>
          <a:p>
            <a:r>
              <a:t>[Sources]</a:t>
            </a:r>
          </a:p>
          <a:p>
            <a:r>
              <a:t>- docs/LatexThesis/sections/07_conclusions.tex — Operational Implications and Recommendations</a:t>
            </a:r>
          </a:p>
          <a:p>
            <a:r>
              <a:t>- docs/LatexThesis/sections/00_abstract.tex — concluding paragraph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11:35–12:25</a:t>
            </a:r>
          </a:p>
          <a:p>
            <a:r>
              <a:t>First, clean performance is only a baseline; robustness depends on the condition. Second, direct attacks, empirical transfer, OOD behavior and configuration trade-offs must be interpreted as distinct dimensions. Third, FAIRLab makes these dimensions traceable and auditable for a forensic expert. The final message is that AI can prioritize evidence, but it must not silently exclude it.</a:t>
            </a:r>
          </a:p>
          <a:p>
            <a:r>
              <a:t>Transition: move to the final thank-you slide and stop there unless the commission asks for backup material.</a:t>
            </a:r>
          </a:p>
          <a:p/>
          <a:p>
            <a:r>
              <a:t>[Sources]</a:t>
            </a:r>
          </a:p>
          <a:p>
            <a:r>
              <a:t>- docs/LatexThesis/sections/07_conclusions.tex</a:t>
            </a:r>
          </a:p>
          <a:p>
            <a:r>
              <a:t>- docs/LatexSlides/assets/logo_RGB.png; theme license in docs/LatexSlides/LICENSE.txt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questions and claim scope</a:t>
            </a:r>
          </a:p>
          <a:p>
            <a:r>
              <a:t>This slide formalizes the four research questions and fixes the scope of the claims. The assessment concerns operational robustness under the frozen protocol: it is not a certification, a legal-admissibility assessment, or a universal ranking of tools.</a:t>
            </a:r>
          </a:p>
          <a:p>
            <a:r>
              <a:t>Transition: the next section presents FAIRLab as the methodological contribution.</a:t>
            </a:r>
          </a:p>
          <a:p/>
          <a:p>
            <a:r>
              <a:t>[Sources]</a:t>
            </a:r>
          </a:p>
          <a:p>
            <a:r>
              <a:t>- docs/LatexThesis/sections/01_introduction.tex — Research Questions</a:t>
            </a:r>
          </a:p>
          <a:p>
            <a:r>
              <a:t>- docs/LatexThesis/sections/07_conclusions.tex — Answers to the Research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Perturbation suite and evaluation paths</a:t>
            </a:r>
          </a:p>
          <a:p>
            <a:r>
              <a:t>The perturbation suite combines model-dependent attacks, deterministic model-agnostic Color Shift, and five anti-forensic transformations. Model-dependent attacks are direct only on EfficientNet-B0; the same generated artifacts are evaluated as empirical transfer on the other systems.</a:t>
            </a:r>
          </a:p>
          <a:p>
            <a:r>
              <a:t>Transition: I will now explain how heterogeneous tool outputs are normalized for comparison.</a:t>
            </a:r>
          </a:p>
          <a:p/>
          <a:p>
            <a:r>
              <a:t>[Sources]</a:t>
            </a:r>
          </a:p>
          <a:p>
            <a:r>
              <a:t>- docs/LatexThesis/sections/04_methodology.tex — perturbation definitions</a:t>
            </a:r>
          </a:p>
          <a:p>
            <a:r>
              <a:t>- attacks/manifests/README.md</a:t>
            </a:r>
          </a:p>
          <a:p>
            <a:r>
              <a:t>- docs/LatexThesis/sections/07_conclusions.tex — RQ2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exact commercial metrics</a:t>
            </a:r>
          </a:p>
          <a:p>
            <a:r>
              <a:t>Use the table for a numerical question about a specific configuration. Keep clean binary metrics and OOD routing separate. The strongest clean accuracy in this frozen comparison is 97.8 percent for Griffeye/T3K, but the rows are operating profiles under specific versions and settings; they do not establish a general product ranking.</a:t>
            </a:r>
          </a:p>
          <a:p/>
          <a:p>
            <a:r>
              <a:t>[Sources]</a:t>
            </a:r>
          </a:p>
          <a:p>
            <a:r>
              <a:t>- results/figures/chapter_5/tab_forensic_tools_clean_metrics.csv</a:t>
            </a:r>
          </a:p>
          <a:p>
            <a:r>
              <a:t>- results/figures/chapter_5/tab_forensic_tools_ood_metrics.csv</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Traceability links sources to reported figures</a:t>
            </a:r>
          </a:p>
          <a:p>
            <a:r>
              <a:t>A reported figure can be traced from the source manifest through the derived variant, model or tool decision, normalized state, metric table and final report. SHA-256 digests, frozen registries and explicit mapping rules make the evaluation auditable and reproducible.</a:t>
            </a:r>
          </a:p>
          <a:p>
            <a:r>
              <a:t>Transition: with this evaluation logic in place, I can move to the results.</a:t>
            </a:r>
          </a:p>
          <a:p/>
          <a:p>
            <a:r>
              <a:t>[Sources]</a:t>
            </a:r>
          </a:p>
          <a:p>
            <a:r>
              <a:t>- docs/artifact/THESIS_ARTIFACT.md</a:t>
            </a:r>
          </a:p>
          <a:p>
            <a:r>
              <a:t>- docs/artifact/REPRODUCIBILITY.md</a:t>
            </a:r>
          </a:p>
          <a:p>
            <a:r>
              <a:t>- docs/artifact/CONTROLLED_ARTIFACT_CHECKSUMS.sha256</a:t>
            </a:r>
          </a:p>
          <a:p>
            <a:r>
              <a:t>- docs/LatexThesis/sections/05_implementation.tex — traceability and integrity controls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Claim boundaries keep the result defensible</a:t>
            </a:r>
          </a:p>
          <a:p>
            <a:r>
              <a:t>The strongest limitations are the 1,500-image single-reviewer corpus, one frozen parameter setting per perturbation, direct attacks only on EfficientNet-B0, and version-dependent black-box outputs. Fifteen of 11,500 files matched a predefined sensitive metadata term; leave-out differences were small, but this does not prove causal irrelevance. The work makes no legal-admissibility or certification claim.</a:t>
            </a:r>
          </a:p>
          <a:p>
            <a:r>
              <a:t>Transition: I will close with the three conclusions to retain.</a:t>
            </a:r>
          </a:p>
          <a:p/>
          <a:p>
            <a:r>
              <a:t>[Sources]</a:t>
            </a:r>
          </a:p>
          <a:p>
            <a:r>
              <a:t>- results/figures/chapter_5/embedded_metadata_sensitivity_summary.json</a:t>
            </a:r>
          </a:p>
          <a:p>
            <a:r>
              <a:t>- docs/LatexThesis/sections/06_results.tex</a:t>
            </a:r>
          </a:p>
          <a:p>
            <a:r>
              <a:t>- docs/LatexThesis/sections/07_conclusions.tex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1"/>
          <p:cNvSpPr/>
          <p:nvPr/>
        </p:nvSpPr>
        <p:spPr>
          <a:xfrm>
            <a:off x="6830568" y="0"/>
            <a:ext cx="5361431" cy="6858000"/>
          </a:xfrm>
          <a:custGeom>
            <a:avLst/>
            <a:gdLst/>
            <a:ahLst/>
            <a:cxnLst/>
            <a:rect l="l" t="t" r="r" b="b"/>
            <a:pathLst>
              <a:path w="5361431" h="6858000">
                <a:moveTo>
                  <a:pt x="2496312" y="0"/>
                </a:moveTo>
                <a:lnTo>
                  <a:pt x="5361431" y="0"/>
                </a:lnTo>
                <a:lnTo>
                  <a:pt x="5361431" y="6858000"/>
                </a:lnTo>
                <a:lnTo>
                  <a:pt x="0" y="6858000"/>
                </a:lnTo>
                <a:close/>
              </a:path>
            </a:pathLst>
          </a:cu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ca_horizontal_crop.png"/>
          <p:cNvPicPr>
            <a:picLocks noChangeAspect="1"/>
          </p:cNvPicPr>
          <p:nvPr/>
        </p:nvPicPr>
        <p:blipFill>
          <a:blip r:embed="rId2"/>
          <a:stretch>
            <a:fillRect/>
          </a:stretch>
        </p:blipFill>
        <p:spPr>
          <a:xfrm>
            <a:off x="7699248" y="4572000"/>
            <a:ext cx="4370832" cy="1170432"/>
          </a:xfrm>
          <a:prstGeom prst="rect">
            <a:avLst/>
          </a:prstGeom>
        </p:spPr>
      </p:pic>
      <p:sp>
        <p:nvSpPr>
          <p:cNvPr id="4" name="TextBox 3"/>
          <p:cNvSpPr txBox="1"/>
          <p:nvPr/>
        </p:nvSpPr>
        <p:spPr>
          <a:xfrm>
            <a:off x="1245455" y="1092127"/>
            <a:ext cx="6234784" cy="559192"/>
          </a:xfrm>
          <a:prstGeom prst="rect">
            <a:avLst/>
          </a:prstGeom>
          <a:noFill/>
        </p:spPr>
        <p:txBody>
          <a:bodyPr wrap="none" lIns="0" tIns="0" rIns="0" bIns="0" anchor="t">
            <a:noAutofit/>
          </a:bodyPr>
          <a:lstStyle/>
          <a:p>
            <a:pPr algn="l">
              <a:lnSpc>
                <a:spcPct val="100000"/>
              </a:lnSpc>
              <a:spcBef>
                <a:spcPts val="0"/>
              </a:spcBef>
              <a:spcAft>
                <a:spcPts val="0"/>
              </a:spcAft>
            </a:pPr>
            <a:r>
              <a:rPr sz="3036" b="1" i="0">
                <a:solidFill>
                  <a:srgbClr val="233A70"/>
                </a:solidFill>
                <a:latin typeface="Carlito"/>
              </a:rPr>
              <a:t>Evaluating the Robustness of AI-Based</a:t>
            </a:r>
          </a:p>
        </p:txBody>
      </p:sp>
      <p:sp>
        <p:nvSpPr>
          <p:cNvPr id="5" name="TextBox 4"/>
          <p:cNvSpPr txBox="1"/>
          <p:nvPr/>
        </p:nvSpPr>
        <p:spPr>
          <a:xfrm>
            <a:off x="1369406" y="1574169"/>
            <a:ext cx="5987582" cy="559192"/>
          </a:xfrm>
          <a:prstGeom prst="rect">
            <a:avLst/>
          </a:prstGeom>
          <a:noFill/>
        </p:spPr>
        <p:txBody>
          <a:bodyPr wrap="none" lIns="0" tIns="0" rIns="0" bIns="0" anchor="t">
            <a:noAutofit/>
          </a:bodyPr>
          <a:lstStyle/>
          <a:p>
            <a:pPr algn="l">
              <a:lnSpc>
                <a:spcPct val="100000"/>
              </a:lnSpc>
              <a:spcBef>
                <a:spcPts val="0"/>
              </a:spcBef>
              <a:spcAft>
                <a:spcPts val="0"/>
              </a:spcAft>
            </a:pPr>
            <a:r>
              <a:rPr sz="3036" b="1" i="0" dirty="0">
                <a:solidFill>
                  <a:srgbClr val="233A70"/>
                </a:solidFill>
                <a:latin typeface="Carlito"/>
              </a:rPr>
              <a:t>Forensic Tools under Adversarial and</a:t>
            </a:r>
          </a:p>
        </p:txBody>
      </p:sp>
      <p:sp>
        <p:nvSpPr>
          <p:cNvPr id="6" name="TextBox 5"/>
          <p:cNvSpPr txBox="1"/>
          <p:nvPr/>
        </p:nvSpPr>
        <p:spPr>
          <a:xfrm>
            <a:off x="2616367" y="2056238"/>
            <a:ext cx="3492427" cy="559192"/>
          </a:xfrm>
          <a:prstGeom prst="rect">
            <a:avLst/>
          </a:prstGeom>
          <a:noFill/>
        </p:spPr>
        <p:txBody>
          <a:bodyPr wrap="none" lIns="0" tIns="0" rIns="0" bIns="0" anchor="t">
            <a:noAutofit/>
          </a:bodyPr>
          <a:lstStyle/>
          <a:p>
            <a:pPr algn="l">
              <a:lnSpc>
                <a:spcPct val="100000"/>
              </a:lnSpc>
              <a:spcBef>
                <a:spcPts val="0"/>
              </a:spcBef>
              <a:spcAft>
                <a:spcPts val="0"/>
              </a:spcAft>
            </a:pPr>
            <a:r>
              <a:rPr sz="3036" b="1" i="0">
                <a:solidFill>
                  <a:srgbClr val="233A70"/>
                </a:solidFill>
                <a:latin typeface="Carlito"/>
              </a:rPr>
              <a:t>Anti-Forensic Attacks</a:t>
            </a:r>
          </a:p>
        </p:txBody>
      </p:sp>
      <p:sp>
        <p:nvSpPr>
          <p:cNvPr id="7" name="TextBox 6"/>
          <p:cNvSpPr txBox="1"/>
          <p:nvPr/>
        </p:nvSpPr>
        <p:spPr>
          <a:xfrm>
            <a:off x="879299" y="2816605"/>
            <a:ext cx="6966577" cy="349496"/>
          </a:xfrm>
          <a:prstGeom prst="rect">
            <a:avLst/>
          </a:prstGeom>
          <a:noFill/>
        </p:spPr>
        <p:txBody>
          <a:bodyPr wrap="none" lIns="0" tIns="0" rIns="0" bIns="0" anchor="t">
            <a:noAutofit/>
          </a:bodyPr>
          <a:lstStyle/>
          <a:p>
            <a:pPr algn="l">
              <a:lnSpc>
                <a:spcPct val="100000"/>
              </a:lnSpc>
              <a:spcBef>
                <a:spcPts val="0"/>
              </a:spcBef>
              <a:spcAft>
                <a:spcPts val="0"/>
              </a:spcAft>
            </a:pPr>
            <a:r>
              <a:rPr sz="1897" b="0" i="0">
                <a:solidFill>
                  <a:srgbClr val="404040"/>
                </a:solidFill>
                <a:latin typeface="Carlito"/>
              </a:rPr>
              <a:t>Master’s Degree in Computer Engineering, Cybersecurity and Artificial</a:t>
            </a:r>
          </a:p>
        </p:txBody>
      </p:sp>
      <p:sp>
        <p:nvSpPr>
          <p:cNvPr id="8" name="TextBox 7"/>
          <p:cNvSpPr txBox="1"/>
          <p:nvPr/>
        </p:nvSpPr>
        <p:spPr>
          <a:xfrm>
            <a:off x="3733140" y="3111201"/>
            <a:ext cx="1257732" cy="349496"/>
          </a:xfrm>
          <a:prstGeom prst="rect">
            <a:avLst/>
          </a:prstGeom>
          <a:noFill/>
        </p:spPr>
        <p:txBody>
          <a:bodyPr wrap="none" lIns="0" tIns="0" rIns="0" bIns="0" anchor="t">
            <a:noAutofit/>
          </a:bodyPr>
          <a:lstStyle/>
          <a:p>
            <a:pPr algn="l">
              <a:lnSpc>
                <a:spcPct val="100000"/>
              </a:lnSpc>
              <a:spcBef>
                <a:spcPts val="0"/>
              </a:spcBef>
              <a:spcAft>
                <a:spcPts val="0"/>
              </a:spcAft>
            </a:pPr>
            <a:r>
              <a:rPr sz="1897" b="0" i="0">
                <a:solidFill>
                  <a:srgbClr val="404040"/>
                </a:solidFill>
                <a:latin typeface="Carlito"/>
              </a:rPr>
              <a:t>Intelligence</a:t>
            </a:r>
          </a:p>
        </p:txBody>
      </p:sp>
      <p:sp>
        <p:nvSpPr>
          <p:cNvPr id="9" name="TextBox 8"/>
          <p:cNvSpPr txBox="1"/>
          <p:nvPr/>
        </p:nvSpPr>
        <p:spPr>
          <a:xfrm>
            <a:off x="761986" y="3996866"/>
            <a:ext cx="803973" cy="310662"/>
          </a:xfrm>
          <a:prstGeom prst="rect">
            <a:avLst/>
          </a:prstGeom>
          <a:noFill/>
        </p:spPr>
        <p:txBody>
          <a:bodyPr wrap="none" lIns="0" tIns="0" rIns="0" bIns="0" anchor="t">
            <a:noAutofit/>
          </a:bodyPr>
          <a:lstStyle/>
          <a:p>
            <a:pPr algn="l">
              <a:lnSpc>
                <a:spcPct val="100000"/>
              </a:lnSpc>
              <a:spcBef>
                <a:spcPts val="0"/>
              </a:spcBef>
              <a:spcAft>
                <a:spcPts val="0"/>
              </a:spcAft>
            </a:pPr>
            <a:r>
              <a:rPr sz="1687" b="1" i="0">
                <a:solidFill>
                  <a:srgbClr val="000000"/>
                </a:solidFill>
                <a:latin typeface="Carlito"/>
              </a:rPr>
              <a:t>Advisor</a:t>
            </a:r>
          </a:p>
        </p:txBody>
      </p:sp>
      <p:sp>
        <p:nvSpPr>
          <p:cNvPr id="10" name="TextBox 9"/>
          <p:cNvSpPr txBox="1"/>
          <p:nvPr/>
        </p:nvSpPr>
        <p:spPr>
          <a:xfrm>
            <a:off x="761986" y="4224775"/>
            <a:ext cx="1940354" cy="310662"/>
          </a:xfrm>
          <a:prstGeom prst="rect">
            <a:avLst/>
          </a:prstGeom>
          <a:noFill/>
        </p:spPr>
        <p:txBody>
          <a:bodyPr wrap="none" lIns="0" tIns="0" rIns="0" bIns="0" anchor="t">
            <a:noAutofit/>
          </a:bodyPr>
          <a:lstStyle/>
          <a:p>
            <a:pPr algn="l">
              <a:lnSpc>
                <a:spcPct val="100000"/>
              </a:lnSpc>
              <a:spcBef>
                <a:spcPts val="0"/>
              </a:spcBef>
              <a:spcAft>
                <a:spcPts val="0"/>
              </a:spcAft>
            </a:pPr>
            <a:r>
              <a:rPr sz="1687" b="0" i="0">
                <a:solidFill>
                  <a:srgbClr val="000000"/>
                </a:solidFill>
                <a:latin typeface="Carlito"/>
              </a:rPr>
              <a:t>Prof. Davide Maiorca</a:t>
            </a:r>
          </a:p>
        </p:txBody>
      </p:sp>
      <p:sp>
        <p:nvSpPr>
          <p:cNvPr id="11" name="TextBox 10"/>
          <p:cNvSpPr txBox="1"/>
          <p:nvPr/>
        </p:nvSpPr>
        <p:spPr>
          <a:xfrm>
            <a:off x="761986" y="4627618"/>
            <a:ext cx="1091282" cy="310662"/>
          </a:xfrm>
          <a:prstGeom prst="rect">
            <a:avLst/>
          </a:prstGeom>
          <a:noFill/>
        </p:spPr>
        <p:txBody>
          <a:bodyPr wrap="none" lIns="0" tIns="0" rIns="0" bIns="0" anchor="t">
            <a:noAutofit/>
          </a:bodyPr>
          <a:lstStyle/>
          <a:p>
            <a:pPr algn="l">
              <a:lnSpc>
                <a:spcPct val="100000"/>
              </a:lnSpc>
              <a:spcBef>
                <a:spcPts val="0"/>
              </a:spcBef>
              <a:spcAft>
                <a:spcPts val="0"/>
              </a:spcAft>
            </a:pPr>
            <a:r>
              <a:rPr sz="1687" b="1" i="0">
                <a:solidFill>
                  <a:srgbClr val="000000"/>
                </a:solidFill>
                <a:latin typeface="Carlito"/>
              </a:rPr>
              <a:t>Co-Advisor</a:t>
            </a:r>
          </a:p>
        </p:txBody>
      </p:sp>
      <p:sp>
        <p:nvSpPr>
          <p:cNvPr id="12" name="TextBox 11"/>
          <p:cNvSpPr txBox="1"/>
          <p:nvPr/>
        </p:nvSpPr>
        <p:spPr>
          <a:xfrm>
            <a:off x="761986" y="4855554"/>
            <a:ext cx="2204524" cy="310662"/>
          </a:xfrm>
          <a:prstGeom prst="rect">
            <a:avLst/>
          </a:prstGeom>
          <a:noFill/>
        </p:spPr>
        <p:txBody>
          <a:bodyPr wrap="none" lIns="0" tIns="0" rIns="0" bIns="0" anchor="t">
            <a:noAutofit/>
          </a:bodyPr>
          <a:lstStyle/>
          <a:p>
            <a:pPr algn="l">
              <a:lnSpc>
                <a:spcPct val="100000"/>
              </a:lnSpc>
              <a:spcBef>
                <a:spcPts val="0"/>
              </a:spcBef>
              <a:spcAft>
                <a:spcPts val="0"/>
              </a:spcAft>
            </a:pPr>
            <a:r>
              <a:rPr sz="1687" b="0" i="0">
                <a:solidFill>
                  <a:srgbClr val="000000"/>
                </a:solidFill>
                <a:latin typeface="Carlito"/>
              </a:rPr>
              <a:t>Silvia Lucia Sanna, Ph.D.</a:t>
            </a:r>
          </a:p>
        </p:txBody>
      </p:sp>
      <p:sp>
        <p:nvSpPr>
          <p:cNvPr id="13" name="TextBox 12"/>
          <p:cNvSpPr txBox="1"/>
          <p:nvPr/>
        </p:nvSpPr>
        <p:spPr>
          <a:xfrm>
            <a:off x="6201901" y="3971544"/>
            <a:ext cx="1028293" cy="310662"/>
          </a:xfrm>
          <a:prstGeom prst="rect">
            <a:avLst/>
          </a:prstGeom>
          <a:noFill/>
        </p:spPr>
        <p:txBody>
          <a:bodyPr wrap="none" lIns="0" tIns="0" rIns="0" bIns="0" anchor="t">
            <a:noAutofit/>
          </a:bodyPr>
          <a:lstStyle/>
          <a:p>
            <a:pPr algn="l">
              <a:lnSpc>
                <a:spcPct val="100000"/>
              </a:lnSpc>
              <a:spcBef>
                <a:spcPts val="0"/>
              </a:spcBef>
              <a:spcAft>
                <a:spcPts val="0"/>
              </a:spcAft>
            </a:pPr>
            <a:r>
              <a:rPr sz="1687" b="1" i="0">
                <a:solidFill>
                  <a:srgbClr val="000000"/>
                </a:solidFill>
                <a:latin typeface="Carlito"/>
              </a:rPr>
              <a:t>Candidate</a:t>
            </a:r>
          </a:p>
        </p:txBody>
      </p:sp>
      <p:sp>
        <p:nvSpPr>
          <p:cNvPr id="14" name="TextBox 13"/>
          <p:cNvSpPr txBox="1"/>
          <p:nvPr/>
        </p:nvSpPr>
        <p:spPr>
          <a:xfrm>
            <a:off x="5798944" y="4229963"/>
            <a:ext cx="1431297" cy="310662"/>
          </a:xfrm>
          <a:prstGeom prst="rect">
            <a:avLst/>
          </a:prstGeom>
          <a:noFill/>
        </p:spPr>
        <p:txBody>
          <a:bodyPr wrap="none" lIns="0" tIns="0" rIns="0" bIns="0" anchor="t">
            <a:noAutofit/>
          </a:bodyPr>
          <a:lstStyle/>
          <a:p>
            <a:pPr algn="l">
              <a:lnSpc>
                <a:spcPct val="100000"/>
              </a:lnSpc>
              <a:spcBef>
                <a:spcPts val="0"/>
              </a:spcBef>
              <a:spcAft>
                <a:spcPts val="0"/>
              </a:spcAft>
            </a:pPr>
            <a:r>
              <a:rPr sz="1687" b="0" i="0">
                <a:solidFill>
                  <a:srgbClr val="000000"/>
                </a:solidFill>
                <a:latin typeface="Carlito"/>
              </a:rPr>
              <a:t>Lello Molinario</a:t>
            </a:r>
          </a:p>
        </p:txBody>
      </p:sp>
      <p:sp>
        <p:nvSpPr>
          <p:cNvPr id="15" name="TextBox 14"/>
          <p:cNvSpPr txBox="1"/>
          <p:nvPr/>
        </p:nvSpPr>
        <p:spPr>
          <a:xfrm>
            <a:off x="4833354" y="4685635"/>
            <a:ext cx="2347428" cy="310662"/>
          </a:xfrm>
          <a:prstGeom prst="rect">
            <a:avLst/>
          </a:prstGeom>
          <a:noFill/>
        </p:spPr>
        <p:txBody>
          <a:bodyPr wrap="none" lIns="0" tIns="0" rIns="0" bIns="0" anchor="t">
            <a:noAutofit/>
          </a:bodyPr>
          <a:lstStyle/>
          <a:p>
            <a:pPr algn="l">
              <a:lnSpc>
                <a:spcPct val="100000"/>
              </a:lnSpc>
              <a:spcBef>
                <a:spcPts val="0"/>
              </a:spcBef>
              <a:spcAft>
                <a:spcPts val="0"/>
              </a:spcAft>
            </a:pPr>
            <a:r>
              <a:rPr sz="1687" b="0" i="0">
                <a:solidFill>
                  <a:srgbClr val="000000"/>
                </a:solidFill>
                <a:latin typeface="Carlito"/>
              </a:rPr>
              <a:t>Student ID: 70/90/00369</a:t>
            </a:r>
          </a:p>
        </p:txBody>
      </p:sp>
      <p:sp>
        <p:nvSpPr>
          <p:cNvPr id="16" name="TextBox 15"/>
          <p:cNvSpPr txBox="1"/>
          <p:nvPr/>
        </p:nvSpPr>
        <p:spPr>
          <a:xfrm>
            <a:off x="2372525" y="5618318"/>
            <a:ext cx="3246783"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000000"/>
                </a:solidFill>
                <a:latin typeface="Carlito"/>
              </a:rPr>
              <a:t>Academic Year 2025/2026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0170" cy="6856171"/>
          </a:xfrm>
          <a:prstGeom prst="rect">
            <a:avLst/>
          </a:pr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ca_light.png"/>
          <p:cNvPicPr>
            <a:picLocks noChangeAspect="1"/>
          </p:cNvPicPr>
          <p:nvPr/>
        </p:nvPicPr>
        <p:blipFill>
          <a:blip r:embed="rId2"/>
          <a:stretch>
            <a:fillRect/>
          </a:stretch>
        </p:blipFill>
        <p:spPr>
          <a:xfrm>
            <a:off x="731477" y="7"/>
            <a:ext cx="1097235" cy="1306092"/>
          </a:xfrm>
          <a:prstGeom prst="rect">
            <a:avLst/>
          </a:prstGeom>
        </p:spPr>
      </p:pic>
      <p:sp>
        <p:nvSpPr>
          <p:cNvPr id="4" name="TextBox 3"/>
          <p:cNvSpPr txBox="1"/>
          <p:nvPr/>
        </p:nvSpPr>
        <p:spPr>
          <a:xfrm>
            <a:off x="2285991" y="637692"/>
            <a:ext cx="2909324" cy="559192"/>
          </a:xfrm>
          <a:prstGeom prst="rect">
            <a:avLst/>
          </a:prstGeom>
          <a:noFill/>
        </p:spPr>
        <p:txBody>
          <a:bodyPr wrap="none" lIns="0" tIns="0" rIns="0" bIns="0" anchor="t">
            <a:noAutofit/>
          </a:bodyPr>
          <a:lstStyle/>
          <a:p>
            <a:pPr algn="l">
              <a:lnSpc>
                <a:spcPct val="100000"/>
              </a:lnSpc>
              <a:spcBef>
                <a:spcPts val="0"/>
              </a:spcBef>
              <a:spcAft>
                <a:spcPts val="0"/>
              </a:spcAft>
            </a:pPr>
            <a:r>
              <a:rPr sz="3036" b="1" i="0">
                <a:solidFill>
                  <a:srgbClr val="FFFFFF"/>
                </a:solidFill>
                <a:latin typeface="Carlito"/>
              </a:rPr>
              <a:t>Table of Contents</a:t>
            </a:r>
          </a:p>
        </p:txBody>
      </p:sp>
      <p:sp>
        <p:nvSpPr>
          <p:cNvPr id="5" name="TextBox 4"/>
          <p:cNvSpPr txBox="1"/>
          <p:nvPr/>
        </p:nvSpPr>
        <p:spPr>
          <a:xfrm>
            <a:off x="2285991" y="1055156"/>
            <a:ext cx="3628524" cy="349496"/>
          </a:xfrm>
          <a:prstGeom prst="rect">
            <a:avLst/>
          </a:prstGeom>
          <a:noFill/>
        </p:spPr>
        <p:txBody>
          <a:bodyPr wrap="none" lIns="0" tIns="0" rIns="0" bIns="0" anchor="t">
            <a:noAutofit/>
          </a:bodyPr>
          <a:lstStyle/>
          <a:p>
            <a:pPr algn="l">
              <a:lnSpc>
                <a:spcPct val="100000"/>
              </a:lnSpc>
              <a:spcBef>
                <a:spcPts val="0"/>
              </a:spcBef>
              <a:spcAft>
                <a:spcPts val="0"/>
              </a:spcAft>
            </a:pPr>
            <a:r>
              <a:rPr sz="1897" b="0" i="0">
                <a:solidFill>
                  <a:srgbClr val="FFFFFF"/>
                </a:solidFill>
                <a:latin typeface="Carlito"/>
              </a:rPr>
              <a:t>1 Motivation and Research Problem</a:t>
            </a:r>
          </a:p>
        </p:txBody>
      </p:sp>
      <p:sp>
        <p:nvSpPr>
          <p:cNvPr id="6" name="TextBox 5"/>
          <p:cNvSpPr txBox="1"/>
          <p:nvPr/>
        </p:nvSpPr>
        <p:spPr>
          <a:xfrm>
            <a:off x="761986" y="1822630"/>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FFFFFF"/>
                </a:solidFill>
                <a:latin typeface="DejaVu Sans"/>
              </a:rPr>
              <a:t>▶</a:t>
            </a:r>
          </a:p>
        </p:txBody>
      </p:sp>
      <p:sp>
        <p:nvSpPr>
          <p:cNvPr id="7" name="TextBox 6"/>
          <p:cNvSpPr txBox="1"/>
          <p:nvPr/>
        </p:nvSpPr>
        <p:spPr>
          <a:xfrm>
            <a:off x="1056414" y="1881281"/>
            <a:ext cx="4169363"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FFFFFF"/>
                </a:solidFill>
                <a:latin typeface="Carlito"/>
              </a:rPr>
              <a:t>Motivation and Research Problem</a:t>
            </a:r>
          </a:p>
        </p:txBody>
      </p:sp>
      <p:sp>
        <p:nvSpPr>
          <p:cNvPr id="8" name="TextBox 7"/>
          <p:cNvSpPr txBox="1"/>
          <p:nvPr/>
        </p:nvSpPr>
        <p:spPr>
          <a:xfrm>
            <a:off x="761986" y="2474484"/>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9" name="TextBox 8"/>
          <p:cNvSpPr txBox="1"/>
          <p:nvPr/>
        </p:nvSpPr>
        <p:spPr>
          <a:xfrm>
            <a:off x="1056414" y="2533135"/>
            <a:ext cx="1640332"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Contribution</a:t>
            </a:r>
          </a:p>
        </p:txBody>
      </p:sp>
      <p:sp>
        <p:nvSpPr>
          <p:cNvPr id="10" name="TextBox 9"/>
          <p:cNvSpPr txBox="1"/>
          <p:nvPr/>
        </p:nvSpPr>
        <p:spPr>
          <a:xfrm>
            <a:off x="761986" y="3126338"/>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1" name="TextBox 10"/>
          <p:cNvSpPr txBox="1"/>
          <p:nvPr/>
        </p:nvSpPr>
        <p:spPr>
          <a:xfrm>
            <a:off x="1056414" y="3184989"/>
            <a:ext cx="2569070"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Experimental Design</a:t>
            </a:r>
          </a:p>
        </p:txBody>
      </p:sp>
      <p:sp>
        <p:nvSpPr>
          <p:cNvPr id="12" name="TextBox 11"/>
          <p:cNvSpPr txBox="1"/>
          <p:nvPr/>
        </p:nvSpPr>
        <p:spPr>
          <a:xfrm>
            <a:off x="761986" y="3778192"/>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3" name="TextBox 12"/>
          <p:cNvSpPr txBox="1"/>
          <p:nvPr/>
        </p:nvSpPr>
        <p:spPr>
          <a:xfrm>
            <a:off x="1056414" y="3836843"/>
            <a:ext cx="204003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Evaluation Logic</a:t>
            </a:r>
          </a:p>
        </p:txBody>
      </p:sp>
      <p:sp>
        <p:nvSpPr>
          <p:cNvPr id="14" name="TextBox 13"/>
          <p:cNvSpPr txBox="1"/>
          <p:nvPr/>
        </p:nvSpPr>
        <p:spPr>
          <a:xfrm>
            <a:off x="761986" y="4430045"/>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5" name="TextBox 14"/>
          <p:cNvSpPr txBox="1"/>
          <p:nvPr/>
        </p:nvSpPr>
        <p:spPr>
          <a:xfrm>
            <a:off x="1056414" y="4488696"/>
            <a:ext cx="3230360"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Results and Interpretation</a:t>
            </a:r>
          </a:p>
        </p:txBody>
      </p:sp>
      <p:sp>
        <p:nvSpPr>
          <p:cNvPr id="16" name="TextBox 15"/>
          <p:cNvSpPr txBox="1"/>
          <p:nvPr/>
        </p:nvSpPr>
        <p:spPr>
          <a:xfrm>
            <a:off x="761986" y="5081899"/>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7" name="TextBox 16"/>
          <p:cNvSpPr txBox="1"/>
          <p:nvPr/>
        </p:nvSpPr>
        <p:spPr>
          <a:xfrm>
            <a:off x="1056414" y="5140550"/>
            <a:ext cx="2629774"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Forensic Implications</a:t>
            </a:r>
          </a:p>
        </p:txBody>
      </p:sp>
      <p:sp>
        <p:nvSpPr>
          <p:cNvPr id="18" name="TextBox 17"/>
          <p:cNvSpPr txBox="1"/>
          <p:nvPr/>
        </p:nvSpPr>
        <p:spPr>
          <a:xfrm>
            <a:off x="761986" y="6458000"/>
            <a:ext cx="485813" cy="310662"/>
          </a:xfrm>
          <a:prstGeom prst="rect">
            <a:avLst/>
          </a:prstGeom>
          <a:noFill/>
        </p:spPr>
        <p:txBody>
          <a:bodyPr wrap="none" lIns="0" tIns="0" rIns="0" bIns="0" anchor="t">
            <a:noAutofit/>
          </a:bodyPr>
          <a:lstStyle/>
          <a:p>
            <a:r>
              <a:t>1/23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0170" cy="6856171"/>
          </a:xfrm>
          <a:prstGeom prst="rect">
            <a:avLst/>
          </a:pr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ca_light.png"/>
          <p:cNvPicPr>
            <a:picLocks noChangeAspect="1"/>
          </p:cNvPicPr>
          <p:nvPr/>
        </p:nvPicPr>
        <p:blipFill>
          <a:blip r:embed="rId2"/>
          <a:stretch>
            <a:fillRect/>
          </a:stretch>
        </p:blipFill>
        <p:spPr>
          <a:xfrm>
            <a:off x="731477" y="7"/>
            <a:ext cx="1097235" cy="1306092"/>
          </a:xfrm>
          <a:prstGeom prst="rect">
            <a:avLst/>
          </a:prstGeom>
        </p:spPr>
      </p:pic>
      <p:sp>
        <p:nvSpPr>
          <p:cNvPr id="4" name="TextBox 3"/>
          <p:cNvSpPr txBox="1"/>
          <p:nvPr/>
        </p:nvSpPr>
        <p:spPr>
          <a:xfrm>
            <a:off x="2285991" y="637692"/>
            <a:ext cx="2909324" cy="559192"/>
          </a:xfrm>
          <a:prstGeom prst="rect">
            <a:avLst/>
          </a:prstGeom>
          <a:noFill/>
        </p:spPr>
        <p:txBody>
          <a:bodyPr wrap="none" lIns="0" tIns="0" rIns="0" bIns="0" anchor="t">
            <a:noAutofit/>
          </a:bodyPr>
          <a:lstStyle/>
          <a:p>
            <a:pPr algn="l">
              <a:lnSpc>
                <a:spcPct val="100000"/>
              </a:lnSpc>
              <a:spcBef>
                <a:spcPts val="0"/>
              </a:spcBef>
              <a:spcAft>
                <a:spcPts val="0"/>
              </a:spcAft>
            </a:pPr>
            <a:r>
              <a:rPr sz="3036" b="1" i="0">
                <a:solidFill>
                  <a:srgbClr val="FFFFFF"/>
                </a:solidFill>
                <a:latin typeface="Carlito"/>
              </a:rPr>
              <a:t>Table of Contents</a:t>
            </a:r>
          </a:p>
        </p:txBody>
      </p:sp>
      <p:sp>
        <p:nvSpPr>
          <p:cNvPr id="5" name="TextBox 4"/>
          <p:cNvSpPr txBox="1"/>
          <p:nvPr/>
        </p:nvSpPr>
        <p:spPr>
          <a:xfrm>
            <a:off x="2285991" y="1055156"/>
            <a:ext cx="1583849" cy="349496"/>
          </a:xfrm>
          <a:prstGeom prst="rect">
            <a:avLst/>
          </a:prstGeom>
          <a:noFill/>
        </p:spPr>
        <p:txBody>
          <a:bodyPr wrap="none" lIns="0" tIns="0" rIns="0" bIns="0" anchor="t">
            <a:noAutofit/>
          </a:bodyPr>
          <a:lstStyle/>
          <a:p>
            <a:pPr algn="l">
              <a:lnSpc>
                <a:spcPct val="100000"/>
              </a:lnSpc>
              <a:spcBef>
                <a:spcPts val="0"/>
              </a:spcBef>
              <a:spcAft>
                <a:spcPts val="0"/>
              </a:spcAft>
            </a:pPr>
            <a:r>
              <a:rPr sz="1897" b="0" i="0">
                <a:solidFill>
                  <a:srgbClr val="FFFFFF"/>
                </a:solidFill>
                <a:latin typeface="Carlito"/>
              </a:rPr>
              <a:t>2 Contribution</a:t>
            </a:r>
          </a:p>
        </p:txBody>
      </p:sp>
      <p:sp>
        <p:nvSpPr>
          <p:cNvPr id="6" name="TextBox 5"/>
          <p:cNvSpPr txBox="1"/>
          <p:nvPr/>
        </p:nvSpPr>
        <p:spPr>
          <a:xfrm>
            <a:off x="761986" y="1822630"/>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7" name="TextBox 6"/>
          <p:cNvSpPr txBox="1"/>
          <p:nvPr/>
        </p:nvSpPr>
        <p:spPr>
          <a:xfrm>
            <a:off x="1056414" y="1881281"/>
            <a:ext cx="4169363"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Motivation and Research Problem</a:t>
            </a:r>
          </a:p>
        </p:txBody>
      </p:sp>
      <p:sp>
        <p:nvSpPr>
          <p:cNvPr id="8" name="TextBox 7"/>
          <p:cNvSpPr txBox="1"/>
          <p:nvPr/>
        </p:nvSpPr>
        <p:spPr>
          <a:xfrm>
            <a:off x="761986" y="2474484"/>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FFFFFF"/>
                </a:solidFill>
                <a:latin typeface="DejaVu Sans"/>
              </a:rPr>
              <a:t>▶</a:t>
            </a:r>
          </a:p>
        </p:txBody>
      </p:sp>
      <p:sp>
        <p:nvSpPr>
          <p:cNvPr id="9" name="TextBox 8"/>
          <p:cNvSpPr txBox="1"/>
          <p:nvPr/>
        </p:nvSpPr>
        <p:spPr>
          <a:xfrm>
            <a:off x="1056414" y="2533135"/>
            <a:ext cx="1640332"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FFFFFF"/>
                </a:solidFill>
                <a:latin typeface="Carlito"/>
              </a:rPr>
              <a:t>Contribution</a:t>
            </a:r>
          </a:p>
        </p:txBody>
      </p:sp>
      <p:sp>
        <p:nvSpPr>
          <p:cNvPr id="10" name="TextBox 9"/>
          <p:cNvSpPr txBox="1"/>
          <p:nvPr/>
        </p:nvSpPr>
        <p:spPr>
          <a:xfrm>
            <a:off x="761986" y="3126338"/>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1" name="TextBox 10"/>
          <p:cNvSpPr txBox="1"/>
          <p:nvPr/>
        </p:nvSpPr>
        <p:spPr>
          <a:xfrm>
            <a:off x="1056414" y="3184989"/>
            <a:ext cx="2569070"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Experimental Design</a:t>
            </a:r>
          </a:p>
        </p:txBody>
      </p:sp>
      <p:sp>
        <p:nvSpPr>
          <p:cNvPr id="12" name="TextBox 11"/>
          <p:cNvSpPr txBox="1"/>
          <p:nvPr/>
        </p:nvSpPr>
        <p:spPr>
          <a:xfrm>
            <a:off x="761986" y="3778192"/>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3" name="TextBox 12"/>
          <p:cNvSpPr txBox="1"/>
          <p:nvPr/>
        </p:nvSpPr>
        <p:spPr>
          <a:xfrm>
            <a:off x="1056414" y="3836843"/>
            <a:ext cx="204003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Evaluation Logic</a:t>
            </a:r>
          </a:p>
        </p:txBody>
      </p:sp>
      <p:sp>
        <p:nvSpPr>
          <p:cNvPr id="14" name="TextBox 13"/>
          <p:cNvSpPr txBox="1"/>
          <p:nvPr/>
        </p:nvSpPr>
        <p:spPr>
          <a:xfrm>
            <a:off x="761986" y="4430045"/>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5" name="TextBox 14"/>
          <p:cNvSpPr txBox="1"/>
          <p:nvPr/>
        </p:nvSpPr>
        <p:spPr>
          <a:xfrm>
            <a:off x="1056414" y="4488696"/>
            <a:ext cx="3230360"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Results and Interpretation</a:t>
            </a:r>
          </a:p>
        </p:txBody>
      </p:sp>
      <p:sp>
        <p:nvSpPr>
          <p:cNvPr id="16" name="TextBox 15"/>
          <p:cNvSpPr txBox="1"/>
          <p:nvPr/>
        </p:nvSpPr>
        <p:spPr>
          <a:xfrm>
            <a:off x="761986" y="5081899"/>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7" name="TextBox 16"/>
          <p:cNvSpPr txBox="1"/>
          <p:nvPr/>
        </p:nvSpPr>
        <p:spPr>
          <a:xfrm>
            <a:off x="1056414" y="5140550"/>
            <a:ext cx="2629774"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Forensic Implications</a:t>
            </a:r>
          </a:p>
        </p:txBody>
      </p:sp>
      <p:sp>
        <p:nvSpPr>
          <p:cNvPr id="18" name="TextBox 17"/>
          <p:cNvSpPr txBox="1"/>
          <p:nvPr/>
        </p:nvSpPr>
        <p:spPr>
          <a:xfrm>
            <a:off x="761986" y="6458000"/>
            <a:ext cx="515165" cy="310662"/>
          </a:xfrm>
          <a:prstGeom prst="rect">
            <a:avLst/>
          </a:prstGeom>
          <a:noFill/>
        </p:spPr>
        <p:txBody>
          <a:bodyPr wrap="none" lIns="0" tIns="0" rIns="0" bIns="0" anchor="t">
            <a:noAutofit/>
          </a:bodyPr>
          <a:lstStyle/>
          <a:p>
            <a:r>
              <a:t>4/23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0170" cy="6856171"/>
          </a:xfrm>
          <a:prstGeom prst="rect">
            <a:avLst/>
          </a:pr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ca_light.png"/>
          <p:cNvPicPr>
            <a:picLocks noChangeAspect="1"/>
          </p:cNvPicPr>
          <p:nvPr/>
        </p:nvPicPr>
        <p:blipFill>
          <a:blip r:embed="rId2"/>
          <a:stretch>
            <a:fillRect/>
          </a:stretch>
        </p:blipFill>
        <p:spPr>
          <a:xfrm>
            <a:off x="731477" y="7"/>
            <a:ext cx="1097235" cy="1306092"/>
          </a:xfrm>
          <a:prstGeom prst="rect">
            <a:avLst/>
          </a:prstGeom>
        </p:spPr>
      </p:pic>
      <p:sp>
        <p:nvSpPr>
          <p:cNvPr id="4" name="TextBox 3"/>
          <p:cNvSpPr txBox="1"/>
          <p:nvPr/>
        </p:nvSpPr>
        <p:spPr>
          <a:xfrm>
            <a:off x="2285991" y="637692"/>
            <a:ext cx="2909324" cy="559192"/>
          </a:xfrm>
          <a:prstGeom prst="rect">
            <a:avLst/>
          </a:prstGeom>
          <a:noFill/>
        </p:spPr>
        <p:txBody>
          <a:bodyPr wrap="none" lIns="0" tIns="0" rIns="0" bIns="0" anchor="t">
            <a:noAutofit/>
          </a:bodyPr>
          <a:lstStyle/>
          <a:p>
            <a:pPr algn="l">
              <a:lnSpc>
                <a:spcPct val="100000"/>
              </a:lnSpc>
              <a:spcBef>
                <a:spcPts val="0"/>
              </a:spcBef>
              <a:spcAft>
                <a:spcPts val="0"/>
              </a:spcAft>
            </a:pPr>
            <a:r>
              <a:rPr sz="3036" b="1" i="0">
                <a:solidFill>
                  <a:srgbClr val="FFFFFF"/>
                </a:solidFill>
                <a:latin typeface="Carlito"/>
              </a:rPr>
              <a:t>Table of Contents</a:t>
            </a:r>
          </a:p>
        </p:txBody>
      </p:sp>
      <p:sp>
        <p:nvSpPr>
          <p:cNvPr id="5" name="TextBox 4"/>
          <p:cNvSpPr txBox="1"/>
          <p:nvPr/>
        </p:nvSpPr>
        <p:spPr>
          <a:xfrm>
            <a:off x="2285991" y="1055156"/>
            <a:ext cx="2346956" cy="349496"/>
          </a:xfrm>
          <a:prstGeom prst="rect">
            <a:avLst/>
          </a:prstGeom>
          <a:noFill/>
        </p:spPr>
        <p:txBody>
          <a:bodyPr wrap="none" lIns="0" tIns="0" rIns="0" bIns="0" anchor="t">
            <a:noAutofit/>
          </a:bodyPr>
          <a:lstStyle/>
          <a:p>
            <a:pPr algn="l">
              <a:lnSpc>
                <a:spcPct val="100000"/>
              </a:lnSpc>
              <a:spcBef>
                <a:spcPts val="0"/>
              </a:spcBef>
              <a:spcAft>
                <a:spcPts val="0"/>
              </a:spcAft>
            </a:pPr>
            <a:r>
              <a:rPr sz="1897" b="0" i="0">
                <a:solidFill>
                  <a:srgbClr val="FFFFFF"/>
                </a:solidFill>
                <a:latin typeface="Carlito"/>
              </a:rPr>
              <a:t>3 Experimental Design</a:t>
            </a:r>
          </a:p>
        </p:txBody>
      </p:sp>
      <p:sp>
        <p:nvSpPr>
          <p:cNvPr id="6" name="TextBox 5"/>
          <p:cNvSpPr txBox="1"/>
          <p:nvPr/>
        </p:nvSpPr>
        <p:spPr>
          <a:xfrm>
            <a:off x="761986" y="1853918"/>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7" name="TextBox 6"/>
          <p:cNvSpPr txBox="1"/>
          <p:nvPr/>
        </p:nvSpPr>
        <p:spPr>
          <a:xfrm>
            <a:off x="1056414" y="1912569"/>
            <a:ext cx="4169363"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Motivation and Research Problem</a:t>
            </a:r>
          </a:p>
        </p:txBody>
      </p:sp>
      <p:sp>
        <p:nvSpPr>
          <p:cNvPr id="8" name="TextBox 7"/>
          <p:cNvSpPr txBox="1"/>
          <p:nvPr/>
        </p:nvSpPr>
        <p:spPr>
          <a:xfrm>
            <a:off x="761986" y="2501605"/>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9" name="TextBox 8"/>
          <p:cNvSpPr txBox="1"/>
          <p:nvPr/>
        </p:nvSpPr>
        <p:spPr>
          <a:xfrm>
            <a:off x="1056414" y="2560256"/>
            <a:ext cx="1640332"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Contribution</a:t>
            </a:r>
          </a:p>
        </p:txBody>
      </p:sp>
      <p:sp>
        <p:nvSpPr>
          <p:cNvPr id="10" name="TextBox 9"/>
          <p:cNvSpPr txBox="1"/>
          <p:nvPr/>
        </p:nvSpPr>
        <p:spPr>
          <a:xfrm>
            <a:off x="761986" y="3149293"/>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FFFFFF"/>
                </a:solidFill>
                <a:latin typeface="DejaVu Sans"/>
              </a:rPr>
              <a:t>▶</a:t>
            </a:r>
          </a:p>
        </p:txBody>
      </p:sp>
      <p:sp>
        <p:nvSpPr>
          <p:cNvPr id="11" name="TextBox 10"/>
          <p:cNvSpPr txBox="1"/>
          <p:nvPr/>
        </p:nvSpPr>
        <p:spPr>
          <a:xfrm>
            <a:off x="1056414" y="3207944"/>
            <a:ext cx="2569070"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FFFFFF"/>
                </a:solidFill>
                <a:latin typeface="Carlito"/>
              </a:rPr>
              <a:t>Experimental Design</a:t>
            </a:r>
          </a:p>
        </p:txBody>
      </p:sp>
      <p:sp>
        <p:nvSpPr>
          <p:cNvPr id="12" name="TextBox 11"/>
          <p:cNvSpPr txBox="1"/>
          <p:nvPr/>
        </p:nvSpPr>
        <p:spPr>
          <a:xfrm>
            <a:off x="761986" y="3796980"/>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3" name="TextBox 12"/>
          <p:cNvSpPr txBox="1"/>
          <p:nvPr/>
        </p:nvSpPr>
        <p:spPr>
          <a:xfrm>
            <a:off x="1056414" y="3855631"/>
            <a:ext cx="204003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Evaluation Logic</a:t>
            </a:r>
          </a:p>
        </p:txBody>
      </p:sp>
      <p:sp>
        <p:nvSpPr>
          <p:cNvPr id="14" name="TextBox 13"/>
          <p:cNvSpPr txBox="1"/>
          <p:nvPr/>
        </p:nvSpPr>
        <p:spPr>
          <a:xfrm>
            <a:off x="761986" y="4444667"/>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5" name="TextBox 14"/>
          <p:cNvSpPr txBox="1"/>
          <p:nvPr/>
        </p:nvSpPr>
        <p:spPr>
          <a:xfrm>
            <a:off x="1056414" y="4503318"/>
            <a:ext cx="3230360"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Results and Interpretation</a:t>
            </a:r>
          </a:p>
        </p:txBody>
      </p:sp>
      <p:sp>
        <p:nvSpPr>
          <p:cNvPr id="16" name="TextBox 15"/>
          <p:cNvSpPr txBox="1"/>
          <p:nvPr/>
        </p:nvSpPr>
        <p:spPr>
          <a:xfrm>
            <a:off x="761986" y="5092327"/>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7" name="TextBox 16"/>
          <p:cNvSpPr txBox="1"/>
          <p:nvPr/>
        </p:nvSpPr>
        <p:spPr>
          <a:xfrm>
            <a:off x="1056414" y="5150978"/>
            <a:ext cx="2629774"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Forensic Implications</a:t>
            </a:r>
          </a:p>
        </p:txBody>
      </p:sp>
      <p:sp>
        <p:nvSpPr>
          <p:cNvPr id="18" name="TextBox 17"/>
          <p:cNvSpPr txBox="1"/>
          <p:nvPr/>
        </p:nvSpPr>
        <p:spPr>
          <a:xfrm>
            <a:off x="761986" y="6457998"/>
            <a:ext cx="523735" cy="310662"/>
          </a:xfrm>
          <a:prstGeom prst="rect">
            <a:avLst/>
          </a:prstGeom>
          <a:noFill/>
        </p:spPr>
        <p:txBody>
          <a:bodyPr wrap="none" lIns="0" tIns="0" rIns="0" bIns="0" anchor="t">
            <a:noAutofit/>
          </a:bodyPr>
          <a:lstStyle/>
          <a:p>
            <a:r>
              <a:t>6/23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0170" cy="6856171"/>
          </a:xfrm>
          <a:prstGeom prst="rect">
            <a:avLst/>
          </a:pr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ca_light.png"/>
          <p:cNvPicPr>
            <a:picLocks noChangeAspect="1"/>
          </p:cNvPicPr>
          <p:nvPr/>
        </p:nvPicPr>
        <p:blipFill>
          <a:blip r:embed="rId2"/>
          <a:stretch>
            <a:fillRect/>
          </a:stretch>
        </p:blipFill>
        <p:spPr>
          <a:xfrm>
            <a:off x="731477" y="7"/>
            <a:ext cx="1097235" cy="1306092"/>
          </a:xfrm>
          <a:prstGeom prst="rect">
            <a:avLst/>
          </a:prstGeom>
        </p:spPr>
      </p:pic>
      <p:sp>
        <p:nvSpPr>
          <p:cNvPr id="4" name="TextBox 3"/>
          <p:cNvSpPr txBox="1"/>
          <p:nvPr/>
        </p:nvSpPr>
        <p:spPr>
          <a:xfrm>
            <a:off x="2285991" y="637692"/>
            <a:ext cx="2909324" cy="559192"/>
          </a:xfrm>
          <a:prstGeom prst="rect">
            <a:avLst/>
          </a:prstGeom>
          <a:noFill/>
        </p:spPr>
        <p:txBody>
          <a:bodyPr wrap="none" lIns="0" tIns="0" rIns="0" bIns="0" anchor="t">
            <a:noAutofit/>
          </a:bodyPr>
          <a:lstStyle/>
          <a:p>
            <a:pPr algn="l">
              <a:lnSpc>
                <a:spcPct val="100000"/>
              </a:lnSpc>
              <a:spcBef>
                <a:spcPts val="0"/>
              </a:spcBef>
              <a:spcAft>
                <a:spcPts val="0"/>
              </a:spcAft>
            </a:pPr>
            <a:r>
              <a:rPr sz="3036" b="1" i="0">
                <a:solidFill>
                  <a:srgbClr val="FFFFFF"/>
                </a:solidFill>
                <a:latin typeface="Carlito"/>
              </a:rPr>
              <a:t>Table of Contents</a:t>
            </a:r>
          </a:p>
        </p:txBody>
      </p:sp>
      <p:sp>
        <p:nvSpPr>
          <p:cNvPr id="5" name="TextBox 4"/>
          <p:cNvSpPr txBox="1"/>
          <p:nvPr/>
        </p:nvSpPr>
        <p:spPr>
          <a:xfrm>
            <a:off x="2285991" y="1055156"/>
            <a:ext cx="1924909" cy="349496"/>
          </a:xfrm>
          <a:prstGeom prst="rect">
            <a:avLst/>
          </a:prstGeom>
          <a:noFill/>
        </p:spPr>
        <p:txBody>
          <a:bodyPr wrap="none" lIns="0" tIns="0" rIns="0" bIns="0" anchor="t">
            <a:noAutofit/>
          </a:bodyPr>
          <a:lstStyle/>
          <a:p>
            <a:pPr algn="l">
              <a:lnSpc>
                <a:spcPct val="100000"/>
              </a:lnSpc>
              <a:spcBef>
                <a:spcPts val="0"/>
              </a:spcBef>
              <a:spcAft>
                <a:spcPts val="0"/>
              </a:spcAft>
            </a:pPr>
            <a:r>
              <a:rPr sz="1897" b="0" i="0">
                <a:solidFill>
                  <a:srgbClr val="FFFFFF"/>
                </a:solidFill>
                <a:latin typeface="Carlito"/>
              </a:rPr>
              <a:t>4 Evaluation Logic</a:t>
            </a:r>
          </a:p>
        </p:txBody>
      </p:sp>
      <p:sp>
        <p:nvSpPr>
          <p:cNvPr id="6" name="TextBox 5"/>
          <p:cNvSpPr txBox="1"/>
          <p:nvPr/>
        </p:nvSpPr>
        <p:spPr>
          <a:xfrm>
            <a:off x="761986" y="1853918"/>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7" name="TextBox 6"/>
          <p:cNvSpPr txBox="1"/>
          <p:nvPr/>
        </p:nvSpPr>
        <p:spPr>
          <a:xfrm>
            <a:off x="1056414" y="1912569"/>
            <a:ext cx="4169363"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Motivation and Research Problem</a:t>
            </a:r>
          </a:p>
        </p:txBody>
      </p:sp>
      <p:sp>
        <p:nvSpPr>
          <p:cNvPr id="8" name="TextBox 7"/>
          <p:cNvSpPr txBox="1"/>
          <p:nvPr/>
        </p:nvSpPr>
        <p:spPr>
          <a:xfrm>
            <a:off x="761986" y="2501605"/>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9" name="TextBox 8"/>
          <p:cNvSpPr txBox="1"/>
          <p:nvPr/>
        </p:nvSpPr>
        <p:spPr>
          <a:xfrm>
            <a:off x="1056414" y="2560256"/>
            <a:ext cx="1640332"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Contribution</a:t>
            </a:r>
          </a:p>
        </p:txBody>
      </p:sp>
      <p:sp>
        <p:nvSpPr>
          <p:cNvPr id="10" name="TextBox 9"/>
          <p:cNvSpPr txBox="1"/>
          <p:nvPr/>
        </p:nvSpPr>
        <p:spPr>
          <a:xfrm>
            <a:off x="761986" y="3149293"/>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1" name="TextBox 10"/>
          <p:cNvSpPr txBox="1"/>
          <p:nvPr/>
        </p:nvSpPr>
        <p:spPr>
          <a:xfrm>
            <a:off x="1056414" y="3207944"/>
            <a:ext cx="2569070"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Experimental Design</a:t>
            </a:r>
          </a:p>
        </p:txBody>
      </p:sp>
      <p:sp>
        <p:nvSpPr>
          <p:cNvPr id="12" name="TextBox 11"/>
          <p:cNvSpPr txBox="1"/>
          <p:nvPr/>
        </p:nvSpPr>
        <p:spPr>
          <a:xfrm>
            <a:off x="761986" y="3796980"/>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FFFFFF"/>
                </a:solidFill>
                <a:latin typeface="DejaVu Sans"/>
              </a:rPr>
              <a:t>▶</a:t>
            </a:r>
          </a:p>
        </p:txBody>
      </p:sp>
      <p:sp>
        <p:nvSpPr>
          <p:cNvPr id="13" name="TextBox 12"/>
          <p:cNvSpPr txBox="1"/>
          <p:nvPr/>
        </p:nvSpPr>
        <p:spPr>
          <a:xfrm>
            <a:off x="1056414" y="3855631"/>
            <a:ext cx="204003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FFFFFF"/>
                </a:solidFill>
                <a:latin typeface="Carlito"/>
              </a:rPr>
              <a:t>Evaluation Logic</a:t>
            </a:r>
          </a:p>
        </p:txBody>
      </p:sp>
      <p:sp>
        <p:nvSpPr>
          <p:cNvPr id="14" name="TextBox 13"/>
          <p:cNvSpPr txBox="1"/>
          <p:nvPr/>
        </p:nvSpPr>
        <p:spPr>
          <a:xfrm>
            <a:off x="761986" y="4444667"/>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5" name="TextBox 14"/>
          <p:cNvSpPr txBox="1"/>
          <p:nvPr/>
        </p:nvSpPr>
        <p:spPr>
          <a:xfrm>
            <a:off x="1056414" y="4503318"/>
            <a:ext cx="3230360"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Results and Interpretation</a:t>
            </a:r>
          </a:p>
        </p:txBody>
      </p:sp>
      <p:sp>
        <p:nvSpPr>
          <p:cNvPr id="16" name="TextBox 15"/>
          <p:cNvSpPr txBox="1"/>
          <p:nvPr/>
        </p:nvSpPr>
        <p:spPr>
          <a:xfrm>
            <a:off x="761986" y="5092327"/>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7" name="TextBox 16"/>
          <p:cNvSpPr txBox="1"/>
          <p:nvPr/>
        </p:nvSpPr>
        <p:spPr>
          <a:xfrm>
            <a:off x="1056414" y="5150978"/>
            <a:ext cx="2629774"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Forensic Implications</a:t>
            </a:r>
          </a:p>
        </p:txBody>
      </p:sp>
      <p:sp>
        <p:nvSpPr>
          <p:cNvPr id="18" name="TextBox 17"/>
          <p:cNvSpPr txBox="1"/>
          <p:nvPr/>
        </p:nvSpPr>
        <p:spPr>
          <a:xfrm>
            <a:off x="761986" y="6457998"/>
            <a:ext cx="608149" cy="310662"/>
          </a:xfrm>
          <a:prstGeom prst="rect">
            <a:avLst/>
          </a:prstGeom>
          <a:noFill/>
        </p:spPr>
        <p:txBody>
          <a:bodyPr wrap="none" lIns="0" tIns="0" rIns="0" bIns="0" anchor="t">
            <a:noAutofit/>
          </a:bodyPr>
          <a:lstStyle/>
          <a:p>
            <a:r>
              <a:t>10/23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0170" cy="6856171"/>
          </a:xfrm>
          <a:prstGeom prst="rect">
            <a:avLst/>
          </a:pr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ca_light.png"/>
          <p:cNvPicPr>
            <a:picLocks noChangeAspect="1"/>
          </p:cNvPicPr>
          <p:nvPr/>
        </p:nvPicPr>
        <p:blipFill>
          <a:blip r:embed="rId2"/>
          <a:stretch>
            <a:fillRect/>
          </a:stretch>
        </p:blipFill>
        <p:spPr>
          <a:xfrm>
            <a:off x="731477" y="7"/>
            <a:ext cx="1097235" cy="1306092"/>
          </a:xfrm>
          <a:prstGeom prst="rect">
            <a:avLst/>
          </a:prstGeom>
        </p:spPr>
      </p:pic>
      <p:sp>
        <p:nvSpPr>
          <p:cNvPr id="4" name="TextBox 3"/>
          <p:cNvSpPr txBox="1"/>
          <p:nvPr/>
        </p:nvSpPr>
        <p:spPr>
          <a:xfrm>
            <a:off x="2285991" y="637692"/>
            <a:ext cx="2909324" cy="559192"/>
          </a:xfrm>
          <a:prstGeom prst="rect">
            <a:avLst/>
          </a:prstGeom>
          <a:noFill/>
        </p:spPr>
        <p:txBody>
          <a:bodyPr wrap="none" lIns="0" tIns="0" rIns="0" bIns="0" anchor="t">
            <a:noAutofit/>
          </a:bodyPr>
          <a:lstStyle/>
          <a:p>
            <a:pPr algn="l">
              <a:lnSpc>
                <a:spcPct val="100000"/>
              </a:lnSpc>
              <a:spcBef>
                <a:spcPts val="0"/>
              </a:spcBef>
              <a:spcAft>
                <a:spcPts val="0"/>
              </a:spcAft>
            </a:pPr>
            <a:r>
              <a:rPr sz="3036" b="1" i="0">
                <a:solidFill>
                  <a:srgbClr val="FFFFFF"/>
                </a:solidFill>
                <a:latin typeface="Carlito"/>
              </a:rPr>
              <a:t>Table of Contents</a:t>
            </a:r>
          </a:p>
        </p:txBody>
      </p:sp>
      <p:sp>
        <p:nvSpPr>
          <p:cNvPr id="5" name="TextBox 4"/>
          <p:cNvSpPr txBox="1"/>
          <p:nvPr/>
        </p:nvSpPr>
        <p:spPr>
          <a:xfrm>
            <a:off x="2285991" y="1055156"/>
            <a:ext cx="2888073" cy="349496"/>
          </a:xfrm>
          <a:prstGeom prst="rect">
            <a:avLst/>
          </a:prstGeom>
          <a:noFill/>
        </p:spPr>
        <p:txBody>
          <a:bodyPr wrap="none" lIns="0" tIns="0" rIns="0" bIns="0" anchor="t">
            <a:noAutofit/>
          </a:bodyPr>
          <a:lstStyle/>
          <a:p>
            <a:pPr algn="l">
              <a:lnSpc>
                <a:spcPct val="100000"/>
              </a:lnSpc>
              <a:spcBef>
                <a:spcPts val="0"/>
              </a:spcBef>
              <a:spcAft>
                <a:spcPts val="0"/>
              </a:spcAft>
            </a:pPr>
            <a:r>
              <a:rPr sz="1897" b="0" i="0">
                <a:solidFill>
                  <a:srgbClr val="FFFFFF"/>
                </a:solidFill>
                <a:latin typeface="Carlito"/>
              </a:rPr>
              <a:t>5 Results and Interpretation</a:t>
            </a:r>
          </a:p>
        </p:txBody>
      </p:sp>
      <p:sp>
        <p:nvSpPr>
          <p:cNvPr id="6" name="TextBox 5"/>
          <p:cNvSpPr txBox="1"/>
          <p:nvPr/>
        </p:nvSpPr>
        <p:spPr>
          <a:xfrm>
            <a:off x="761986" y="1851796"/>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7" name="TextBox 6"/>
          <p:cNvSpPr txBox="1"/>
          <p:nvPr/>
        </p:nvSpPr>
        <p:spPr>
          <a:xfrm>
            <a:off x="1056414" y="1910447"/>
            <a:ext cx="4169363"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Motivation and Research Problem</a:t>
            </a:r>
          </a:p>
        </p:txBody>
      </p:sp>
      <p:sp>
        <p:nvSpPr>
          <p:cNvPr id="8" name="TextBox 7"/>
          <p:cNvSpPr txBox="1"/>
          <p:nvPr/>
        </p:nvSpPr>
        <p:spPr>
          <a:xfrm>
            <a:off x="761986" y="2499752"/>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9" name="TextBox 8"/>
          <p:cNvSpPr txBox="1"/>
          <p:nvPr/>
        </p:nvSpPr>
        <p:spPr>
          <a:xfrm>
            <a:off x="1056414" y="2558403"/>
            <a:ext cx="1640332"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Contribution</a:t>
            </a:r>
          </a:p>
        </p:txBody>
      </p:sp>
      <p:sp>
        <p:nvSpPr>
          <p:cNvPr id="10" name="TextBox 9"/>
          <p:cNvSpPr txBox="1"/>
          <p:nvPr/>
        </p:nvSpPr>
        <p:spPr>
          <a:xfrm>
            <a:off x="761986" y="3147735"/>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1" name="TextBox 10"/>
          <p:cNvSpPr txBox="1"/>
          <p:nvPr/>
        </p:nvSpPr>
        <p:spPr>
          <a:xfrm>
            <a:off x="1056414" y="3206386"/>
            <a:ext cx="2569070"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Experimental Design</a:t>
            </a:r>
          </a:p>
        </p:txBody>
      </p:sp>
      <p:sp>
        <p:nvSpPr>
          <p:cNvPr id="12" name="TextBox 11"/>
          <p:cNvSpPr txBox="1"/>
          <p:nvPr/>
        </p:nvSpPr>
        <p:spPr>
          <a:xfrm>
            <a:off x="761986" y="3795691"/>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3" name="TextBox 12"/>
          <p:cNvSpPr txBox="1"/>
          <p:nvPr/>
        </p:nvSpPr>
        <p:spPr>
          <a:xfrm>
            <a:off x="1056414" y="3854342"/>
            <a:ext cx="204003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Evaluation Logic</a:t>
            </a:r>
          </a:p>
        </p:txBody>
      </p:sp>
      <p:sp>
        <p:nvSpPr>
          <p:cNvPr id="14" name="TextBox 13"/>
          <p:cNvSpPr txBox="1"/>
          <p:nvPr/>
        </p:nvSpPr>
        <p:spPr>
          <a:xfrm>
            <a:off x="761986" y="4443647"/>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FFFFFF"/>
                </a:solidFill>
                <a:latin typeface="DejaVu Sans"/>
              </a:rPr>
              <a:t>▶</a:t>
            </a:r>
          </a:p>
        </p:txBody>
      </p:sp>
      <p:sp>
        <p:nvSpPr>
          <p:cNvPr id="15" name="TextBox 14"/>
          <p:cNvSpPr txBox="1"/>
          <p:nvPr/>
        </p:nvSpPr>
        <p:spPr>
          <a:xfrm>
            <a:off x="1056414" y="4502298"/>
            <a:ext cx="3230360"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FFFFFF"/>
                </a:solidFill>
                <a:latin typeface="Carlito"/>
              </a:rPr>
              <a:t>Results and Interpretation</a:t>
            </a:r>
          </a:p>
        </p:txBody>
      </p:sp>
      <p:sp>
        <p:nvSpPr>
          <p:cNvPr id="16" name="TextBox 15"/>
          <p:cNvSpPr txBox="1"/>
          <p:nvPr/>
        </p:nvSpPr>
        <p:spPr>
          <a:xfrm>
            <a:off x="761986" y="5091630"/>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7" name="TextBox 16"/>
          <p:cNvSpPr txBox="1"/>
          <p:nvPr/>
        </p:nvSpPr>
        <p:spPr>
          <a:xfrm>
            <a:off x="1056414" y="5150281"/>
            <a:ext cx="2629774"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Forensic Implications</a:t>
            </a:r>
          </a:p>
        </p:txBody>
      </p:sp>
      <p:sp>
        <p:nvSpPr>
          <p:cNvPr id="18" name="TextBox 17"/>
          <p:cNvSpPr txBox="1"/>
          <p:nvPr/>
        </p:nvSpPr>
        <p:spPr>
          <a:xfrm>
            <a:off x="761986" y="6457998"/>
            <a:ext cx="572584" cy="310662"/>
          </a:xfrm>
          <a:prstGeom prst="rect">
            <a:avLst/>
          </a:prstGeom>
          <a:noFill/>
        </p:spPr>
        <p:txBody>
          <a:bodyPr wrap="none" lIns="0" tIns="0" rIns="0" bIns="0" anchor="t">
            <a:noAutofit/>
          </a:bodyPr>
          <a:lstStyle/>
          <a:p>
            <a:r>
              <a:t>13/23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0170" cy="6856171"/>
          </a:xfrm>
          <a:prstGeom prst="rect">
            <a:avLst/>
          </a:pr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ca_light.png"/>
          <p:cNvPicPr>
            <a:picLocks noChangeAspect="1"/>
          </p:cNvPicPr>
          <p:nvPr/>
        </p:nvPicPr>
        <p:blipFill>
          <a:blip r:embed="rId2"/>
          <a:stretch>
            <a:fillRect/>
          </a:stretch>
        </p:blipFill>
        <p:spPr>
          <a:xfrm>
            <a:off x="731477" y="7"/>
            <a:ext cx="1097235" cy="1306092"/>
          </a:xfrm>
          <a:prstGeom prst="rect">
            <a:avLst/>
          </a:prstGeom>
        </p:spPr>
      </p:pic>
      <p:sp>
        <p:nvSpPr>
          <p:cNvPr id="4" name="TextBox 3"/>
          <p:cNvSpPr txBox="1"/>
          <p:nvPr/>
        </p:nvSpPr>
        <p:spPr>
          <a:xfrm>
            <a:off x="2285991" y="637692"/>
            <a:ext cx="2909324" cy="559192"/>
          </a:xfrm>
          <a:prstGeom prst="rect">
            <a:avLst/>
          </a:prstGeom>
          <a:noFill/>
        </p:spPr>
        <p:txBody>
          <a:bodyPr wrap="none" lIns="0" tIns="0" rIns="0" bIns="0" anchor="t">
            <a:noAutofit/>
          </a:bodyPr>
          <a:lstStyle/>
          <a:p>
            <a:pPr algn="l">
              <a:lnSpc>
                <a:spcPct val="100000"/>
              </a:lnSpc>
              <a:spcBef>
                <a:spcPts val="0"/>
              </a:spcBef>
              <a:spcAft>
                <a:spcPts val="0"/>
              </a:spcAft>
            </a:pPr>
            <a:r>
              <a:rPr sz="3036" b="1" i="0">
                <a:solidFill>
                  <a:srgbClr val="FFFFFF"/>
                </a:solidFill>
                <a:latin typeface="Carlito"/>
              </a:rPr>
              <a:t>Table of Contents</a:t>
            </a:r>
          </a:p>
        </p:txBody>
      </p:sp>
      <p:sp>
        <p:nvSpPr>
          <p:cNvPr id="5" name="TextBox 4"/>
          <p:cNvSpPr txBox="1"/>
          <p:nvPr/>
        </p:nvSpPr>
        <p:spPr>
          <a:xfrm>
            <a:off x="2285991" y="1055156"/>
            <a:ext cx="2405527" cy="349496"/>
          </a:xfrm>
          <a:prstGeom prst="rect">
            <a:avLst/>
          </a:prstGeom>
          <a:noFill/>
        </p:spPr>
        <p:txBody>
          <a:bodyPr wrap="none" lIns="0" tIns="0" rIns="0" bIns="0" anchor="t">
            <a:noAutofit/>
          </a:bodyPr>
          <a:lstStyle/>
          <a:p>
            <a:pPr algn="l">
              <a:lnSpc>
                <a:spcPct val="100000"/>
              </a:lnSpc>
              <a:spcBef>
                <a:spcPts val="0"/>
              </a:spcBef>
              <a:spcAft>
                <a:spcPts val="0"/>
              </a:spcAft>
            </a:pPr>
            <a:r>
              <a:rPr sz="1897" b="0" i="0">
                <a:solidFill>
                  <a:srgbClr val="FFFFFF"/>
                </a:solidFill>
                <a:latin typeface="Carlito"/>
              </a:rPr>
              <a:t>6 Forensic Implications</a:t>
            </a:r>
          </a:p>
        </p:txBody>
      </p:sp>
      <p:sp>
        <p:nvSpPr>
          <p:cNvPr id="6" name="TextBox 5"/>
          <p:cNvSpPr txBox="1"/>
          <p:nvPr/>
        </p:nvSpPr>
        <p:spPr>
          <a:xfrm>
            <a:off x="761986" y="1851796"/>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7" name="TextBox 6"/>
          <p:cNvSpPr txBox="1"/>
          <p:nvPr/>
        </p:nvSpPr>
        <p:spPr>
          <a:xfrm>
            <a:off x="1056414" y="1910447"/>
            <a:ext cx="4169363"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Motivation and Research Problem</a:t>
            </a:r>
          </a:p>
        </p:txBody>
      </p:sp>
      <p:sp>
        <p:nvSpPr>
          <p:cNvPr id="8" name="TextBox 7"/>
          <p:cNvSpPr txBox="1"/>
          <p:nvPr/>
        </p:nvSpPr>
        <p:spPr>
          <a:xfrm>
            <a:off x="761986" y="2499752"/>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9" name="TextBox 8"/>
          <p:cNvSpPr txBox="1"/>
          <p:nvPr/>
        </p:nvSpPr>
        <p:spPr>
          <a:xfrm>
            <a:off x="1056414" y="2558403"/>
            <a:ext cx="1640332"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Contribution</a:t>
            </a:r>
          </a:p>
        </p:txBody>
      </p:sp>
      <p:sp>
        <p:nvSpPr>
          <p:cNvPr id="10" name="TextBox 9"/>
          <p:cNvSpPr txBox="1"/>
          <p:nvPr/>
        </p:nvSpPr>
        <p:spPr>
          <a:xfrm>
            <a:off x="761986" y="3147735"/>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1" name="TextBox 10"/>
          <p:cNvSpPr txBox="1"/>
          <p:nvPr/>
        </p:nvSpPr>
        <p:spPr>
          <a:xfrm>
            <a:off x="1056414" y="3206386"/>
            <a:ext cx="2569070"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Experimental Design</a:t>
            </a:r>
          </a:p>
        </p:txBody>
      </p:sp>
      <p:sp>
        <p:nvSpPr>
          <p:cNvPr id="12" name="TextBox 11"/>
          <p:cNvSpPr txBox="1"/>
          <p:nvPr/>
        </p:nvSpPr>
        <p:spPr>
          <a:xfrm>
            <a:off x="761986" y="3795691"/>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3" name="TextBox 12"/>
          <p:cNvSpPr txBox="1"/>
          <p:nvPr/>
        </p:nvSpPr>
        <p:spPr>
          <a:xfrm>
            <a:off x="1056414" y="3854342"/>
            <a:ext cx="204003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Evaluation Logic</a:t>
            </a:r>
          </a:p>
        </p:txBody>
      </p:sp>
      <p:sp>
        <p:nvSpPr>
          <p:cNvPr id="14" name="TextBox 13"/>
          <p:cNvSpPr txBox="1"/>
          <p:nvPr/>
        </p:nvSpPr>
        <p:spPr>
          <a:xfrm>
            <a:off x="761986" y="4443647"/>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DejaVu Sans"/>
              </a:rPr>
              <a:t>▶</a:t>
            </a:r>
          </a:p>
        </p:txBody>
      </p:sp>
      <p:sp>
        <p:nvSpPr>
          <p:cNvPr id="15" name="TextBox 14"/>
          <p:cNvSpPr txBox="1"/>
          <p:nvPr/>
        </p:nvSpPr>
        <p:spPr>
          <a:xfrm>
            <a:off x="1056414" y="4502298"/>
            <a:ext cx="3230360"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4F618D"/>
                </a:solidFill>
                <a:latin typeface="Carlito"/>
              </a:rPr>
              <a:t>Results and Interpretation</a:t>
            </a:r>
          </a:p>
        </p:txBody>
      </p:sp>
      <p:sp>
        <p:nvSpPr>
          <p:cNvPr id="16" name="TextBox 15"/>
          <p:cNvSpPr txBox="1"/>
          <p:nvPr/>
        </p:nvSpPr>
        <p:spPr>
          <a:xfrm>
            <a:off x="761986" y="5091630"/>
            <a:ext cx="356168"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FFFFFF"/>
                </a:solidFill>
                <a:latin typeface="DejaVu Sans"/>
              </a:rPr>
              <a:t>▶</a:t>
            </a:r>
          </a:p>
        </p:txBody>
      </p:sp>
      <p:sp>
        <p:nvSpPr>
          <p:cNvPr id="17" name="TextBox 16"/>
          <p:cNvSpPr txBox="1"/>
          <p:nvPr/>
        </p:nvSpPr>
        <p:spPr>
          <a:xfrm>
            <a:off x="1056414" y="5150281"/>
            <a:ext cx="2629774" cy="425219"/>
          </a:xfrm>
          <a:prstGeom prst="rect">
            <a:avLst/>
          </a:prstGeom>
          <a:noFill/>
        </p:spPr>
        <p:txBody>
          <a:bodyPr wrap="none" lIns="0" tIns="0" rIns="0" bIns="0" anchor="t">
            <a:noAutofit/>
          </a:bodyPr>
          <a:lstStyle/>
          <a:p>
            <a:pPr algn="l">
              <a:lnSpc>
                <a:spcPct val="100000"/>
              </a:lnSpc>
              <a:spcBef>
                <a:spcPts val="0"/>
              </a:spcBef>
              <a:spcAft>
                <a:spcPts val="0"/>
              </a:spcAft>
            </a:pPr>
            <a:r>
              <a:rPr sz="2309" b="0" i="0">
                <a:solidFill>
                  <a:srgbClr val="FFFFFF"/>
                </a:solidFill>
                <a:latin typeface="Carlito"/>
              </a:rPr>
              <a:t>Forensic Implications</a:t>
            </a:r>
          </a:p>
        </p:txBody>
      </p:sp>
      <p:sp>
        <p:nvSpPr>
          <p:cNvPr id="18" name="TextBox 17"/>
          <p:cNvSpPr txBox="1"/>
          <p:nvPr/>
        </p:nvSpPr>
        <p:spPr>
          <a:xfrm>
            <a:off x="761986" y="6457998"/>
            <a:ext cx="621004" cy="310662"/>
          </a:xfrm>
          <a:prstGeom prst="rect">
            <a:avLst/>
          </a:prstGeom>
          <a:noFill/>
        </p:spPr>
        <p:txBody>
          <a:bodyPr wrap="none" lIns="0" tIns="0" rIns="0" bIns="0" anchor="t">
            <a:noAutofit/>
          </a:bodyPr>
          <a:lstStyle/>
          <a:p>
            <a:r>
              <a:t>19/23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0170" cy="6856171"/>
          </a:xfrm>
          <a:prstGeom prst="rect">
            <a:avLst/>
          </a:prstGeom>
          <a:solidFill>
            <a:srgbClr val="233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unica_light.png"/>
          <p:cNvPicPr>
            <a:picLocks noChangeAspect="1"/>
          </p:cNvPicPr>
          <p:nvPr/>
        </p:nvPicPr>
        <p:blipFill>
          <a:blip r:embed="rId2"/>
          <a:stretch>
            <a:fillRect/>
          </a:stretch>
        </p:blipFill>
        <p:spPr>
          <a:xfrm>
            <a:off x="731477" y="7"/>
            <a:ext cx="1097235" cy="1306092"/>
          </a:xfrm>
          <a:prstGeom prst="rect">
            <a:avLst/>
          </a:prstGeom>
        </p:spPr>
      </p:pic>
      <p:sp>
        <p:nvSpPr>
          <p:cNvPr id="4" name="TextBox 3"/>
          <p:cNvSpPr txBox="1"/>
          <p:nvPr/>
        </p:nvSpPr>
        <p:spPr>
          <a:xfrm>
            <a:off x="946826" y="2001618"/>
            <a:ext cx="10425310"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a:solidFill>
                  <a:srgbClr val="FFFFFF"/>
                </a:solidFill>
                <a:latin typeface="Carlito"/>
              </a:rPr>
              <a:t>Evaluating the Robustness of AI-Based</a:t>
            </a:r>
          </a:p>
        </p:txBody>
      </p:sp>
      <p:sp>
        <p:nvSpPr>
          <p:cNvPr id="5" name="TextBox 4"/>
          <p:cNvSpPr txBox="1"/>
          <p:nvPr/>
        </p:nvSpPr>
        <p:spPr>
          <a:xfrm>
            <a:off x="1152955" y="2596456"/>
            <a:ext cx="10015521"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a:solidFill>
                  <a:srgbClr val="FFFFFF"/>
                </a:solidFill>
                <a:latin typeface="Carlito"/>
              </a:rPr>
              <a:t>Forensic Tools under Adversarial and</a:t>
            </a:r>
          </a:p>
        </p:txBody>
      </p:sp>
      <p:sp>
        <p:nvSpPr>
          <p:cNvPr id="6" name="TextBox 5"/>
          <p:cNvSpPr txBox="1"/>
          <p:nvPr/>
        </p:nvSpPr>
        <p:spPr>
          <a:xfrm>
            <a:off x="3263624" y="3078525"/>
            <a:ext cx="5794393" cy="966162"/>
          </a:xfrm>
          <a:prstGeom prst="rect">
            <a:avLst/>
          </a:prstGeom>
          <a:noFill/>
        </p:spPr>
        <p:txBody>
          <a:bodyPr wrap="none" lIns="0" tIns="0" rIns="0" bIns="0" anchor="t">
            <a:noAutofit/>
          </a:bodyPr>
          <a:lstStyle/>
          <a:p>
            <a:pPr algn="l">
              <a:lnSpc>
                <a:spcPct val="100000"/>
              </a:lnSpc>
              <a:spcBef>
                <a:spcPts val="0"/>
              </a:spcBef>
              <a:spcAft>
                <a:spcPts val="0"/>
              </a:spcAft>
            </a:pPr>
            <a:r>
              <a:rPr sz="5246" b="0" i="0">
                <a:solidFill>
                  <a:srgbClr val="FFFFFF"/>
                </a:solidFill>
                <a:latin typeface="Carlito"/>
              </a:rPr>
              <a:t>Anti-Forensic Attacks</a:t>
            </a:r>
          </a:p>
        </p:txBody>
      </p:sp>
      <p:sp>
        <p:nvSpPr>
          <p:cNvPr id="7" name="TextBox 6"/>
          <p:cNvSpPr txBox="1"/>
          <p:nvPr/>
        </p:nvSpPr>
        <p:spPr>
          <a:xfrm>
            <a:off x="4259725" y="4161555"/>
            <a:ext cx="3800560" cy="559192"/>
          </a:xfrm>
          <a:prstGeom prst="rect">
            <a:avLst/>
          </a:prstGeom>
          <a:noFill/>
        </p:spPr>
        <p:txBody>
          <a:bodyPr wrap="none" lIns="0" tIns="0" rIns="0" bIns="0" anchor="t">
            <a:noAutofit/>
          </a:bodyPr>
          <a:lstStyle/>
          <a:p>
            <a:pPr algn="l">
              <a:lnSpc>
                <a:spcPct val="100000"/>
              </a:lnSpc>
              <a:spcBef>
                <a:spcPts val="0"/>
              </a:spcBef>
              <a:spcAft>
                <a:spcPts val="0"/>
              </a:spcAft>
            </a:pPr>
            <a:r>
              <a:rPr sz="3036" b="0" i="1">
                <a:solidFill>
                  <a:srgbClr val="FFFFFF"/>
                </a:solidFill>
                <a:latin typeface="Carlito"/>
              </a:rPr>
              <a:t>Thank you for listening!</a:t>
            </a:r>
          </a:p>
        </p:txBody>
      </p:sp>
      <p:sp>
        <p:nvSpPr>
          <p:cNvPr id="8" name="TextBox 7"/>
          <p:cNvSpPr txBox="1"/>
          <p:nvPr/>
        </p:nvSpPr>
        <p:spPr>
          <a:xfrm>
            <a:off x="4924294" y="4643597"/>
            <a:ext cx="2471225" cy="559192"/>
          </a:xfrm>
          <a:prstGeom prst="rect">
            <a:avLst/>
          </a:prstGeom>
          <a:noFill/>
        </p:spPr>
        <p:txBody>
          <a:bodyPr wrap="none" lIns="0" tIns="0" rIns="0" bIns="0" anchor="t">
            <a:noAutofit/>
          </a:bodyPr>
          <a:lstStyle/>
          <a:p>
            <a:pPr algn="l">
              <a:lnSpc>
                <a:spcPct val="100000"/>
              </a:lnSpc>
              <a:spcBef>
                <a:spcPts val="0"/>
              </a:spcBef>
              <a:spcAft>
                <a:spcPts val="0"/>
              </a:spcAft>
            </a:pPr>
            <a:r>
              <a:rPr sz="3036" b="0" i="1">
                <a:solidFill>
                  <a:srgbClr val="FFFFFF"/>
                </a:solidFill>
                <a:latin typeface="Carlito"/>
              </a:rPr>
              <a:t>Any questions?</a:t>
            </a:r>
          </a:p>
        </p:txBody>
      </p:sp>
      <p:sp>
        <p:nvSpPr>
          <p:cNvPr id="9" name="TextBox 8"/>
          <p:cNvSpPr txBox="1"/>
          <p:nvPr/>
        </p:nvSpPr>
        <p:spPr>
          <a:xfrm>
            <a:off x="761988" y="6457998"/>
            <a:ext cx="604721" cy="310662"/>
          </a:xfrm>
          <a:prstGeom prst="rect">
            <a:avLst/>
          </a:prstGeom>
          <a:noFill/>
        </p:spPr>
        <p:txBody>
          <a:bodyPr wrap="none" lIns="0" tIns="0" rIns="0" bIns="0" anchor="t">
            <a:noAutofit/>
          </a:bodyPr>
          <a:lstStyle/>
          <a:p>
            <a:r>
              <a:t>23/23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2" name="Rettangolo 21">
            <a:extLst>
              <a:ext uri="{FF2B5EF4-FFF2-40B4-BE49-F238E27FC236}">
                <a16:creationId xmlns:a16="http://schemas.microsoft.com/office/drawing/2014/main" id="{B8A7D5BD-3F8A-4BB6-975D-5266EF1DB7CC}"/>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F588B664-C98E-41C9-A1E0-71858EDC4002}"/>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The operational risk is silent exclusion</a:t>
            </a:r>
          </a:p>
        </p:txBody>
      </p:sp>
      <p:sp>
        <p:nvSpPr>
          <p:cNvPr id="3" name="Rettangolo 2">
            <a:extLst>
              <a:ext uri="{FF2B5EF4-FFF2-40B4-BE49-F238E27FC236}">
                <a16:creationId xmlns:a16="http://schemas.microsoft.com/office/drawing/2014/main" id="{8C61DB06-AF65-4B2C-AA7F-B35A9C8C91A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965599AD-B896-4974-A1A2-CBC1B2481DA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1E12A901-ED39-4DD2-822A-E7619785E99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02</a:t>
            </a:r>
          </a:p>
        </p:txBody>
      </p:sp>
      <p:sp>
        <p:nvSpPr>
          <p:cNvPr id="6" name="Rettangolo con angoli arrotondati 5">
            <a:extLst>
              <a:ext uri="{FF2B5EF4-FFF2-40B4-BE49-F238E27FC236}">
                <a16:creationId xmlns:a16="http://schemas.microsoft.com/office/drawing/2014/main" id="{295FDD48-F0EC-46C5-B827-2A805C95A516}"/>
              </a:ext>
            </a:extLst>
          </p:cNvPr>
          <p:cNvSpPr>
            <a:spLocks noGrp="1"/>
          </p:cNvSpPr>
          <p:nvPr/>
        </p:nvSpPr>
        <p:spPr>
          <a:xfrm>
            <a:off x="685800" y="1524000"/>
            <a:ext cx="3048000" cy="1200150"/>
          </a:xfrm>
          <a:prstGeom prst="roundRect">
            <a:avLst>
              <a:gd name="adj" fmla="val 14286"/>
            </a:avLst>
          </a:prstGeom>
          <a:solidFill>
            <a:srgbClr val="FFFFFF"/>
          </a:solidFill>
          <a:ln w="9525">
            <a:solidFill>
              <a:srgbClr val="D9DEE8"/>
            </a:solidFill>
            <a:prstDash val="solid"/>
          </a:ln>
        </p:spPr>
        <p:txBody>
          <a:bodyPr/>
          <a:lstStyle/>
          <a:p>
            <a:endParaRPr lang="it-IT"/>
          </a:p>
        </p:txBody>
      </p:sp>
      <p:sp>
        <p:nvSpPr>
          <p:cNvPr id="7" name="Rettangolo 6">
            <a:extLst>
              <a:ext uri="{FF2B5EF4-FFF2-40B4-BE49-F238E27FC236}">
                <a16:creationId xmlns:a16="http://schemas.microsoft.com/office/drawing/2014/main" id="{134106DB-7DBE-4BE2-AF47-E9B1070376D7}"/>
              </a:ext>
            </a:extLst>
          </p:cNvPr>
          <p:cNvSpPr>
            <a:spLocks noGrp="1"/>
          </p:cNvSpPr>
          <p:nvPr/>
        </p:nvSpPr>
        <p:spPr>
          <a:xfrm>
            <a:off x="8763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LARGE</a:t>
            </a:r>
          </a:p>
        </p:txBody>
      </p:sp>
      <p:sp>
        <p:nvSpPr>
          <p:cNvPr id="8" name="Rettangolo 7">
            <a:extLst>
              <a:ext uri="{FF2B5EF4-FFF2-40B4-BE49-F238E27FC236}">
                <a16:creationId xmlns:a16="http://schemas.microsoft.com/office/drawing/2014/main" id="{6866549D-9D17-463F-9BE9-DC9437B3FE8D}"/>
              </a:ext>
            </a:extLst>
          </p:cNvPr>
          <p:cNvSpPr>
            <a:spLocks noGrp="1"/>
          </p:cNvSpPr>
          <p:nvPr/>
        </p:nvSpPr>
        <p:spPr>
          <a:xfrm>
            <a:off x="8763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image collections</a:t>
            </a:r>
          </a:p>
        </p:txBody>
      </p:sp>
      <p:sp>
        <p:nvSpPr>
          <p:cNvPr id="9" name="Rettangolo con angoli arrotondati 8">
            <a:extLst>
              <a:ext uri="{FF2B5EF4-FFF2-40B4-BE49-F238E27FC236}">
                <a16:creationId xmlns:a16="http://schemas.microsoft.com/office/drawing/2014/main" id="{1B4F03EB-5A2C-471C-ABF0-97B8F80F2258}"/>
              </a:ext>
            </a:extLst>
          </p:cNvPr>
          <p:cNvSpPr>
            <a:spLocks noGrp="1"/>
          </p:cNvSpPr>
          <p:nvPr/>
        </p:nvSpPr>
        <p:spPr>
          <a:xfrm>
            <a:off x="4343400" y="1524000"/>
            <a:ext cx="3048000" cy="1200150"/>
          </a:xfrm>
          <a:prstGeom prst="roundRect">
            <a:avLst>
              <a:gd name="adj" fmla="val 14286"/>
            </a:avLst>
          </a:prstGeom>
          <a:solidFill>
            <a:srgbClr val="E9EEF8"/>
          </a:solidFill>
          <a:ln w="9525">
            <a:solidFill>
              <a:srgbClr val="E9EEF8"/>
            </a:solidFill>
            <a:prstDash val="solid"/>
          </a:ln>
        </p:spPr>
        <p:txBody>
          <a:bodyPr/>
          <a:lstStyle/>
          <a:p>
            <a:endParaRPr lang="it-IT"/>
          </a:p>
        </p:txBody>
      </p:sp>
      <p:sp>
        <p:nvSpPr>
          <p:cNvPr id="10" name="Rettangolo 9">
            <a:extLst>
              <a:ext uri="{FF2B5EF4-FFF2-40B4-BE49-F238E27FC236}">
                <a16:creationId xmlns:a16="http://schemas.microsoft.com/office/drawing/2014/main" id="{AFC8020C-45AE-4038-A8C9-738588A763B5}"/>
              </a:ext>
            </a:extLst>
          </p:cNvPr>
          <p:cNvSpPr>
            <a:spLocks noGrp="1"/>
          </p:cNvSpPr>
          <p:nvPr/>
        </p:nvSpPr>
        <p:spPr>
          <a:xfrm>
            <a:off x="45339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AI</a:t>
            </a:r>
          </a:p>
        </p:txBody>
      </p:sp>
      <p:sp>
        <p:nvSpPr>
          <p:cNvPr id="11" name="Rettangolo 10">
            <a:extLst>
              <a:ext uri="{FF2B5EF4-FFF2-40B4-BE49-F238E27FC236}">
                <a16:creationId xmlns:a16="http://schemas.microsoft.com/office/drawing/2014/main" id="{C33FDAE1-0BA9-4918-83D0-329C1792220C}"/>
              </a:ext>
            </a:extLst>
          </p:cNvPr>
          <p:cNvSpPr>
            <a:spLocks noGrp="1"/>
          </p:cNvSpPr>
          <p:nvPr/>
        </p:nvSpPr>
        <p:spPr>
          <a:xfrm>
            <a:off x="45339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assisted triage</a:t>
            </a:r>
          </a:p>
        </p:txBody>
      </p:sp>
      <p:sp>
        <p:nvSpPr>
          <p:cNvPr id="12" name="Rettangolo con angoli arrotondati 11">
            <a:extLst>
              <a:ext uri="{FF2B5EF4-FFF2-40B4-BE49-F238E27FC236}">
                <a16:creationId xmlns:a16="http://schemas.microsoft.com/office/drawing/2014/main" id="{4C845868-F781-47A9-940E-F0CDBB7371DC}"/>
              </a:ext>
            </a:extLst>
          </p:cNvPr>
          <p:cNvSpPr>
            <a:spLocks noGrp="1"/>
          </p:cNvSpPr>
          <p:nvPr/>
        </p:nvSpPr>
        <p:spPr>
          <a:xfrm>
            <a:off x="8001000" y="1524000"/>
            <a:ext cx="3048000" cy="1200150"/>
          </a:xfrm>
          <a:prstGeom prst="roundRect">
            <a:avLst>
              <a:gd name="adj" fmla="val 14286"/>
            </a:avLst>
          </a:prstGeom>
          <a:solidFill>
            <a:srgbClr val="FBEAEA"/>
          </a:solidFill>
          <a:ln w="9525">
            <a:solidFill>
              <a:srgbClr val="FBEAEA"/>
            </a:solidFill>
            <a:prstDash val="solid"/>
          </a:ln>
        </p:spPr>
        <p:txBody>
          <a:bodyPr/>
          <a:lstStyle/>
          <a:p>
            <a:endParaRPr lang="it-IT"/>
          </a:p>
        </p:txBody>
      </p:sp>
      <p:sp>
        <p:nvSpPr>
          <p:cNvPr id="13" name="Rettangolo 12">
            <a:extLst>
              <a:ext uri="{FF2B5EF4-FFF2-40B4-BE49-F238E27FC236}">
                <a16:creationId xmlns:a16="http://schemas.microsoft.com/office/drawing/2014/main" id="{E1D87471-E992-400B-8BA5-98A79A7C8C69}"/>
              </a:ext>
            </a:extLst>
          </p:cNvPr>
          <p:cNvSpPr>
            <a:spLocks noGrp="1"/>
          </p:cNvSpPr>
          <p:nvPr/>
        </p:nvSpPr>
        <p:spPr>
          <a:xfrm>
            <a:off x="8191500" y="1743075"/>
            <a:ext cx="2667000" cy="457200"/>
          </a:xfrm>
          <a:prstGeom prst="rect">
            <a:avLst/>
          </a:prstGeom>
          <a:noFill/>
          <a:ln w="0">
            <a:noFill/>
            <a:prstDash val="solid"/>
          </a:ln>
        </p:spPr>
        <p:txBody>
          <a:bodyPr wrap="square" lIns="0" tIns="0" rIns="0" bIns="0" anchor="t">
            <a:noAutofit/>
          </a:bodyPr>
          <a:lstStyle/>
          <a:p>
            <a:pPr algn="ctr">
              <a:buNone/>
              <a:defRPr sz="2850" b="1">
                <a:solidFill>
                  <a:srgbClr val="BE3C37"/>
                </a:solidFill>
                <a:latin typeface="Arial"/>
                <a:ea typeface="Arial"/>
                <a:cs typeface="Arial"/>
              </a:defRPr>
            </a:pPr>
            <a:r>
              <a:rPr sz="2850" b="1">
                <a:solidFill>
                  <a:srgbClr val="BE3C37"/>
                </a:solidFill>
                <a:latin typeface="Arial"/>
                <a:ea typeface="Arial"/>
                <a:cs typeface="Arial"/>
              </a:rPr>
              <a:t>MISS</a:t>
            </a:r>
          </a:p>
        </p:txBody>
      </p:sp>
      <p:sp>
        <p:nvSpPr>
          <p:cNvPr id="14" name="Rettangolo 13">
            <a:extLst>
              <a:ext uri="{FF2B5EF4-FFF2-40B4-BE49-F238E27FC236}">
                <a16:creationId xmlns:a16="http://schemas.microsoft.com/office/drawing/2014/main" id="{B0C05342-6D6D-4097-A670-5979C502D4B5}"/>
              </a:ext>
            </a:extLst>
          </p:cNvPr>
          <p:cNvSpPr>
            <a:spLocks noGrp="1"/>
          </p:cNvSpPr>
          <p:nvPr/>
        </p:nvSpPr>
        <p:spPr>
          <a:xfrm>
            <a:off x="8191500" y="2266950"/>
            <a:ext cx="2667000" cy="266700"/>
          </a:xfrm>
          <a:prstGeom prst="rect">
            <a:avLst/>
          </a:prstGeom>
          <a:noFill/>
          <a:ln w="0">
            <a:noFill/>
            <a:prstDash val="solid"/>
          </a:ln>
        </p:spPr>
        <p:txBody>
          <a:bodyPr wrap="square" lIns="0" tIns="0" rIns="0" bIns="0" anchor="t">
            <a:noAutofit/>
          </a:bodyPr>
          <a:lstStyle/>
          <a:p>
            <a:pPr algn="ctr">
              <a:buNone/>
              <a:defRPr sz="1500" b="0">
                <a:solidFill>
                  <a:srgbClr val="5B6577"/>
                </a:solidFill>
                <a:latin typeface="Arial"/>
                <a:ea typeface="Arial"/>
                <a:cs typeface="Arial"/>
              </a:defRPr>
            </a:pPr>
            <a:r>
              <a:rPr sz="1500" b="0">
                <a:solidFill>
                  <a:srgbClr val="5B6577"/>
                </a:solidFill>
                <a:latin typeface="Arial"/>
                <a:ea typeface="Arial"/>
                <a:cs typeface="Arial"/>
              </a:rPr>
              <a:t>relevant evidence</a:t>
            </a:r>
          </a:p>
        </p:txBody>
      </p:sp>
      <p:sp>
        <p:nvSpPr>
          <p:cNvPr id="15" name="Rettangolo 14">
            <a:extLst>
              <a:ext uri="{FF2B5EF4-FFF2-40B4-BE49-F238E27FC236}">
                <a16:creationId xmlns:a16="http://schemas.microsoft.com/office/drawing/2014/main" id="{BE95789F-29F4-458B-9109-B5F4176210EA}"/>
              </a:ext>
            </a:extLst>
          </p:cNvPr>
          <p:cNvSpPr>
            <a:spLocks noGrp="1"/>
          </p:cNvSpPr>
          <p:nvPr/>
        </p:nvSpPr>
        <p:spPr>
          <a:xfrm>
            <a:off x="3752850" y="1866900"/>
            <a:ext cx="571500" cy="47625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6" name="Rettangolo 15">
            <a:extLst>
              <a:ext uri="{FF2B5EF4-FFF2-40B4-BE49-F238E27FC236}">
                <a16:creationId xmlns:a16="http://schemas.microsoft.com/office/drawing/2014/main" id="{B813C1EC-E4C9-443B-9424-97804AB1F480}"/>
              </a:ext>
            </a:extLst>
          </p:cNvPr>
          <p:cNvSpPr>
            <a:spLocks noGrp="1"/>
          </p:cNvSpPr>
          <p:nvPr/>
        </p:nvSpPr>
        <p:spPr>
          <a:xfrm>
            <a:off x="7410450" y="1866900"/>
            <a:ext cx="571500" cy="47625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a:t>
            </a:r>
          </a:p>
        </p:txBody>
      </p:sp>
      <p:sp>
        <p:nvSpPr>
          <p:cNvPr id="17" name="Rettangolo con angoli arrotondati 16">
            <a:extLst>
              <a:ext uri="{FF2B5EF4-FFF2-40B4-BE49-F238E27FC236}">
                <a16:creationId xmlns:a16="http://schemas.microsoft.com/office/drawing/2014/main" id="{4EBFE33E-8979-4761-84B8-587E7AC16DD3}"/>
              </a:ext>
            </a:extLst>
          </p:cNvPr>
          <p:cNvSpPr>
            <a:spLocks noGrp="1"/>
          </p:cNvSpPr>
          <p:nvPr/>
        </p:nvSpPr>
        <p:spPr>
          <a:xfrm>
            <a:off x="1123950" y="3162300"/>
            <a:ext cx="9944100" cy="1352550"/>
          </a:xfrm>
          <a:prstGeom prst="roundRect">
            <a:avLst>
              <a:gd name="adj" fmla="val 12676"/>
            </a:avLst>
          </a:prstGeom>
          <a:solidFill>
            <a:srgbClr val="233A70"/>
          </a:solidFill>
          <a:ln w="0">
            <a:noFill/>
            <a:prstDash val="solid"/>
          </a:ln>
        </p:spPr>
        <p:txBody>
          <a:bodyPr/>
          <a:lstStyle/>
          <a:p>
            <a:endParaRPr lang="it-IT"/>
          </a:p>
        </p:txBody>
      </p:sp>
      <p:sp>
        <p:nvSpPr>
          <p:cNvPr id="18" name="Rettangolo 17">
            <a:extLst>
              <a:ext uri="{FF2B5EF4-FFF2-40B4-BE49-F238E27FC236}">
                <a16:creationId xmlns:a16="http://schemas.microsoft.com/office/drawing/2014/main" id="{77611C6C-126C-490B-8FFB-2004E5871B70}"/>
              </a:ext>
            </a:extLst>
          </p:cNvPr>
          <p:cNvSpPr>
            <a:spLocks noGrp="1"/>
          </p:cNvSpPr>
          <p:nvPr/>
        </p:nvSpPr>
        <p:spPr>
          <a:xfrm>
            <a:off x="1504950" y="3429000"/>
            <a:ext cx="9182100" cy="800100"/>
          </a:xfrm>
          <a:prstGeom prst="rect">
            <a:avLst/>
          </a:prstGeom>
          <a:noFill/>
          <a:ln w="0">
            <a:noFill/>
            <a:prstDash val="solid"/>
          </a:ln>
        </p:spPr>
        <p:txBody>
          <a:bodyPr wrap="square" lIns="0" tIns="0" rIns="0" bIns="0" anchor="ctr">
            <a:noAutofit/>
          </a:bodyPr>
          <a:lstStyle/>
          <a:p>
            <a:pPr algn="ctr">
              <a:buNone/>
              <a:defRPr sz="2400" b="1">
                <a:solidFill>
                  <a:srgbClr val="FFFFFF"/>
                </a:solidFill>
                <a:latin typeface="Arial"/>
                <a:ea typeface="Arial"/>
                <a:cs typeface="Arial"/>
              </a:defRPr>
            </a:pPr>
            <a:r>
              <a:rPr sz="2400" b="1">
                <a:solidFill>
                  <a:srgbClr val="FFFFFF"/>
                </a:solidFill>
                <a:latin typeface="Arial"/>
                <a:ea typeface="Arial"/>
                <a:cs typeface="Arial"/>
              </a:rPr>
              <a:t>How does forensic image triage behave under</a:t>
            </a:r>
          </a:p>
          <a:p>
            <a:pPr algn="ctr">
              <a:buNone/>
              <a:defRPr sz="2400" b="1">
                <a:solidFill>
                  <a:srgbClr val="FFFFFF"/>
                </a:solidFill>
                <a:latin typeface="Arial"/>
                <a:ea typeface="Arial"/>
                <a:cs typeface="Arial"/>
              </a:defRPr>
            </a:pPr>
            <a:r>
              <a:rPr sz="2400" b="1">
                <a:solidFill>
                  <a:srgbClr val="FFFFFF"/>
                </a:solidFill>
                <a:latin typeface="Arial"/>
                <a:ea typeface="Arial"/>
                <a:cs typeface="Arial"/>
              </a:rPr>
              <a:t>adversarial, anti-forensic and OOD inputs?</a:t>
            </a:r>
          </a:p>
        </p:txBody>
      </p:sp>
      <p:sp>
        <p:nvSpPr>
          <p:cNvPr id="19" name="Rettangolo 18">
            <a:extLst>
              <a:ext uri="{FF2B5EF4-FFF2-40B4-BE49-F238E27FC236}">
                <a16:creationId xmlns:a16="http://schemas.microsoft.com/office/drawing/2014/main" id="{DDA7D3C5-CB47-4C4D-BA38-0571EC45CEF8}"/>
              </a:ext>
            </a:extLst>
          </p:cNvPr>
          <p:cNvSpPr>
            <a:spLocks noGrp="1"/>
          </p:cNvSpPr>
          <p:nvPr/>
        </p:nvSpPr>
        <p:spPr>
          <a:xfrm>
            <a:off x="876300" y="4857750"/>
            <a:ext cx="9982200" cy="476250"/>
          </a:xfrm>
          <a:prstGeom prst="rect">
            <a:avLst/>
          </a:prstGeom>
          <a:noFill/>
          <a:ln w="0">
            <a:noFill/>
            <a:prstDash val="solid"/>
          </a:ln>
        </p:spPr>
        <p:txBody>
          <a:bodyPr wrap="square" lIns="0" tIns="0" rIns="0" bIns="0" anchor="ctr">
            <a:noAutofit/>
          </a:bodyPr>
          <a:lstStyle/>
          <a:p>
            <a:pPr algn="ctr">
              <a:buNone/>
              <a:defRPr sz="1575" b="0">
                <a:solidFill>
                  <a:srgbClr val="5B6577"/>
                </a:solidFill>
                <a:latin typeface="Arial"/>
                <a:ea typeface="Arial"/>
                <a:cs typeface="Arial"/>
              </a:defRPr>
            </a:pPr>
            <a:r>
              <a:rPr sz="1575" b="0" dirty="0">
                <a:solidFill>
                  <a:srgbClr val="5B6577"/>
                </a:solidFill>
                <a:latin typeface="Arial"/>
                <a:ea typeface="Arial"/>
                <a:cs typeface="Arial"/>
              </a:rPr>
              <a:t>Clean accuracy may look reassuring while a relevant item is quietly moved out of the analyst’s priority queue.</a:t>
            </a:r>
          </a:p>
        </p:txBody>
      </p:sp>
      <p:sp>
        <p:nvSpPr>
          <p:cNvPr id="20" name="Rettangolo con angoli arrotondati 19">
            <a:extLst>
              <a:ext uri="{FF2B5EF4-FFF2-40B4-BE49-F238E27FC236}">
                <a16:creationId xmlns:a16="http://schemas.microsoft.com/office/drawing/2014/main" id="{59855B48-B64C-42AD-8C97-0C65B6AAAAF3}"/>
              </a:ext>
            </a:extLst>
          </p:cNvPr>
          <p:cNvSpPr>
            <a:spLocks noGrp="1"/>
          </p:cNvSpPr>
          <p:nvPr/>
        </p:nvSpPr>
        <p:spPr>
          <a:xfrm>
            <a:off x="2000250" y="5600700"/>
            <a:ext cx="8191500" cy="514350"/>
          </a:xfrm>
          <a:prstGeom prst="roundRect">
            <a:avLst>
              <a:gd name="adj" fmla="val 25926"/>
            </a:avLst>
          </a:prstGeom>
          <a:solidFill>
            <a:srgbClr val="E7F8F0"/>
          </a:solidFill>
          <a:ln w="0">
            <a:noFill/>
            <a:prstDash val="solid"/>
          </a:ln>
        </p:spPr>
        <p:txBody>
          <a:bodyPr/>
          <a:lstStyle/>
          <a:p>
            <a:endParaRPr lang="it-IT"/>
          </a:p>
        </p:txBody>
      </p:sp>
      <p:sp>
        <p:nvSpPr>
          <p:cNvPr id="21" name="Rettangolo 20">
            <a:extLst>
              <a:ext uri="{FF2B5EF4-FFF2-40B4-BE49-F238E27FC236}">
                <a16:creationId xmlns:a16="http://schemas.microsoft.com/office/drawing/2014/main" id="{C5A6713C-2452-4272-91E6-86D11A7F5573}"/>
              </a:ext>
            </a:extLst>
          </p:cNvPr>
          <p:cNvSpPr>
            <a:spLocks noGrp="1"/>
          </p:cNvSpPr>
          <p:nvPr/>
        </p:nvSpPr>
        <p:spPr>
          <a:xfrm>
            <a:off x="2266950" y="5743575"/>
            <a:ext cx="7658100" cy="2476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Contribution: auditable robustness assessment—not a new firearm classifier.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32" name="Rettangolo 31">
            <a:extLst>
              <a:ext uri="{FF2B5EF4-FFF2-40B4-BE49-F238E27FC236}">
                <a16:creationId xmlns:a16="http://schemas.microsoft.com/office/drawing/2014/main" id="{6C0B1A53-D25B-4A63-AC3D-8F73AF1B454A}"/>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9BB695DD-AE95-440C-B8F5-952448E18C0F}"/>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FAIRLab makes robustness auditable</a:t>
            </a:r>
          </a:p>
        </p:txBody>
      </p:sp>
      <p:sp>
        <p:nvSpPr>
          <p:cNvPr id="3" name="Rettangolo 2">
            <a:extLst>
              <a:ext uri="{FF2B5EF4-FFF2-40B4-BE49-F238E27FC236}">
                <a16:creationId xmlns:a16="http://schemas.microsoft.com/office/drawing/2014/main" id="{043FF31C-DB46-4E33-817A-CBBE738643F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D319FC2A-5C48-4679-98E3-D8A119AEE97E}"/>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3B214099-1E39-4983-88F2-9CF7A1ED2504}"/>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05</a:t>
            </a:r>
          </a:p>
        </p:txBody>
      </p:sp>
      <p:sp>
        <p:nvSpPr>
          <p:cNvPr id="6" name="Rettangolo con angoli arrotondati 5">
            <a:extLst>
              <a:ext uri="{FF2B5EF4-FFF2-40B4-BE49-F238E27FC236}">
                <a16:creationId xmlns:a16="http://schemas.microsoft.com/office/drawing/2014/main" id="{F91845BA-A49A-4FC8-8C94-20F23A40393D}"/>
              </a:ext>
            </a:extLst>
          </p:cNvPr>
          <p:cNvSpPr>
            <a:spLocks noGrp="1"/>
          </p:cNvSpPr>
          <p:nvPr/>
        </p:nvSpPr>
        <p:spPr>
          <a:xfrm>
            <a:off x="685800" y="1524000"/>
            <a:ext cx="3048000" cy="1200150"/>
          </a:xfrm>
          <a:prstGeom prst="roundRect">
            <a:avLst>
              <a:gd name="adj" fmla="val 12698"/>
            </a:avLst>
          </a:prstGeom>
          <a:solidFill>
            <a:srgbClr val="FFFFFF"/>
          </a:solidFill>
          <a:ln w="9525">
            <a:solidFill>
              <a:srgbClr val="D9DEE8"/>
            </a:solidFill>
            <a:prstDash val="solid"/>
          </a:ln>
        </p:spPr>
        <p:txBody>
          <a:bodyPr/>
          <a:lstStyle/>
          <a:p>
            <a:endParaRPr lang="it-IT"/>
          </a:p>
        </p:txBody>
      </p:sp>
      <p:sp>
        <p:nvSpPr>
          <p:cNvPr id="7" name="Rettangolo 6">
            <a:extLst>
              <a:ext uri="{FF2B5EF4-FFF2-40B4-BE49-F238E27FC236}">
                <a16:creationId xmlns:a16="http://schemas.microsoft.com/office/drawing/2014/main" id="{4B2F791D-898D-4C09-88CD-BCF8DAF22C9B}"/>
              </a:ext>
            </a:extLst>
          </p:cNvPr>
          <p:cNvSpPr>
            <a:spLocks noGrp="1"/>
          </p:cNvSpPr>
          <p:nvPr/>
        </p:nvSpPr>
        <p:spPr>
          <a:xfrm>
            <a:off x="8763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01 · SOURCE</a:t>
            </a:r>
          </a:p>
        </p:txBody>
      </p:sp>
      <p:sp>
        <p:nvSpPr>
          <p:cNvPr id="8" name="Rettangolo 7">
            <a:extLst>
              <a:ext uri="{FF2B5EF4-FFF2-40B4-BE49-F238E27FC236}">
                <a16:creationId xmlns:a16="http://schemas.microsoft.com/office/drawing/2014/main" id="{DD23DB3C-604D-4EEA-A4FA-3C66E44C8E4F}"/>
              </a:ext>
            </a:extLst>
          </p:cNvPr>
          <p:cNvSpPr>
            <a:spLocks noGrp="1"/>
          </p:cNvSpPr>
          <p:nvPr/>
        </p:nvSpPr>
        <p:spPr>
          <a:xfrm>
            <a:off x="8763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heterogeneous pool</a:t>
            </a:r>
          </a:p>
        </p:txBody>
      </p:sp>
      <p:sp>
        <p:nvSpPr>
          <p:cNvPr id="9" name="Rettangolo con angoli arrotondati 8">
            <a:extLst>
              <a:ext uri="{FF2B5EF4-FFF2-40B4-BE49-F238E27FC236}">
                <a16:creationId xmlns:a16="http://schemas.microsoft.com/office/drawing/2014/main" id="{99A661A2-1646-46C8-B23D-CEAE1DEB18C1}"/>
              </a:ext>
            </a:extLst>
          </p:cNvPr>
          <p:cNvSpPr>
            <a:spLocks noGrp="1"/>
          </p:cNvSpPr>
          <p:nvPr/>
        </p:nvSpPr>
        <p:spPr>
          <a:xfrm>
            <a:off x="4343400" y="1524000"/>
            <a:ext cx="3048000" cy="1200150"/>
          </a:xfrm>
          <a:prstGeom prst="roundRect">
            <a:avLst>
              <a:gd name="adj" fmla="val 12698"/>
            </a:avLst>
          </a:prstGeom>
          <a:solidFill>
            <a:srgbClr val="E7F8F0"/>
          </a:solidFill>
          <a:ln w="9525">
            <a:solidFill>
              <a:srgbClr val="E7F8F0"/>
            </a:solidFill>
            <a:prstDash val="solid"/>
          </a:ln>
        </p:spPr>
        <p:txBody>
          <a:bodyPr/>
          <a:lstStyle/>
          <a:p>
            <a:endParaRPr lang="it-IT"/>
          </a:p>
        </p:txBody>
      </p:sp>
      <p:sp>
        <p:nvSpPr>
          <p:cNvPr id="10" name="Rettangolo 9">
            <a:extLst>
              <a:ext uri="{FF2B5EF4-FFF2-40B4-BE49-F238E27FC236}">
                <a16:creationId xmlns:a16="http://schemas.microsoft.com/office/drawing/2014/main" id="{AFED12D9-FF88-4E60-BD67-EFEB869BA78A}"/>
              </a:ext>
            </a:extLst>
          </p:cNvPr>
          <p:cNvSpPr>
            <a:spLocks noGrp="1"/>
          </p:cNvSpPr>
          <p:nvPr/>
        </p:nvSpPr>
        <p:spPr>
          <a:xfrm>
            <a:off x="45339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02 · VALIDATE</a:t>
            </a:r>
          </a:p>
        </p:txBody>
      </p:sp>
      <p:sp>
        <p:nvSpPr>
          <p:cNvPr id="11" name="Rettangolo 10">
            <a:extLst>
              <a:ext uri="{FF2B5EF4-FFF2-40B4-BE49-F238E27FC236}">
                <a16:creationId xmlns:a16="http://schemas.microsoft.com/office/drawing/2014/main" id="{3160162F-71B4-4503-94D0-C14C526A20C3}"/>
              </a:ext>
            </a:extLst>
          </p:cNvPr>
          <p:cNvSpPr>
            <a:spLocks noGrp="1"/>
          </p:cNvSpPr>
          <p:nvPr/>
        </p:nvSpPr>
        <p:spPr>
          <a:xfrm>
            <a:off x="45339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review + dedup</a:t>
            </a:r>
          </a:p>
        </p:txBody>
      </p:sp>
      <p:sp>
        <p:nvSpPr>
          <p:cNvPr id="12" name="Rettangolo con angoli arrotondati 11">
            <a:extLst>
              <a:ext uri="{FF2B5EF4-FFF2-40B4-BE49-F238E27FC236}">
                <a16:creationId xmlns:a16="http://schemas.microsoft.com/office/drawing/2014/main" id="{4441295A-C9D9-4A2C-BE6D-DA5D40668718}"/>
              </a:ext>
            </a:extLst>
          </p:cNvPr>
          <p:cNvSpPr>
            <a:spLocks noGrp="1"/>
          </p:cNvSpPr>
          <p:nvPr/>
        </p:nvSpPr>
        <p:spPr>
          <a:xfrm>
            <a:off x="8001000" y="1524000"/>
            <a:ext cx="3048000" cy="1200150"/>
          </a:xfrm>
          <a:prstGeom prst="roundRect">
            <a:avLst>
              <a:gd name="adj" fmla="val 12698"/>
            </a:avLst>
          </a:prstGeom>
          <a:solidFill>
            <a:srgbClr val="E9EEF8"/>
          </a:solidFill>
          <a:ln w="9525">
            <a:solidFill>
              <a:srgbClr val="E9EEF8"/>
            </a:solidFill>
            <a:prstDash val="solid"/>
          </a:ln>
        </p:spPr>
        <p:txBody>
          <a:bodyPr/>
          <a:lstStyle/>
          <a:p>
            <a:endParaRPr lang="it-IT"/>
          </a:p>
        </p:txBody>
      </p:sp>
      <p:sp>
        <p:nvSpPr>
          <p:cNvPr id="13" name="Rettangolo 12">
            <a:extLst>
              <a:ext uri="{FF2B5EF4-FFF2-40B4-BE49-F238E27FC236}">
                <a16:creationId xmlns:a16="http://schemas.microsoft.com/office/drawing/2014/main" id="{338253A6-A215-4512-91B2-D613B8843D99}"/>
              </a:ext>
            </a:extLst>
          </p:cNvPr>
          <p:cNvSpPr>
            <a:spLocks noGrp="1"/>
          </p:cNvSpPr>
          <p:nvPr/>
        </p:nvSpPr>
        <p:spPr>
          <a:xfrm>
            <a:off x="8191500" y="175260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03 · FREEZE</a:t>
            </a:r>
          </a:p>
        </p:txBody>
      </p:sp>
      <p:sp>
        <p:nvSpPr>
          <p:cNvPr id="14" name="Rettangolo 13">
            <a:extLst>
              <a:ext uri="{FF2B5EF4-FFF2-40B4-BE49-F238E27FC236}">
                <a16:creationId xmlns:a16="http://schemas.microsoft.com/office/drawing/2014/main" id="{2E74B2CF-06EF-494C-B330-0AB6D414FA74}"/>
              </a:ext>
            </a:extLst>
          </p:cNvPr>
          <p:cNvSpPr>
            <a:spLocks noGrp="1"/>
          </p:cNvSpPr>
          <p:nvPr/>
        </p:nvSpPr>
        <p:spPr>
          <a:xfrm>
            <a:off x="8191500" y="219075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1,500 sources</a:t>
            </a:r>
          </a:p>
        </p:txBody>
      </p:sp>
      <p:sp>
        <p:nvSpPr>
          <p:cNvPr id="15" name="Rettangolo con angoli arrotondati 14">
            <a:extLst>
              <a:ext uri="{FF2B5EF4-FFF2-40B4-BE49-F238E27FC236}">
                <a16:creationId xmlns:a16="http://schemas.microsoft.com/office/drawing/2014/main" id="{D680E11F-9529-4EA7-B8B2-3E7934F1DACD}"/>
              </a:ext>
            </a:extLst>
          </p:cNvPr>
          <p:cNvSpPr>
            <a:spLocks noGrp="1"/>
          </p:cNvSpPr>
          <p:nvPr/>
        </p:nvSpPr>
        <p:spPr>
          <a:xfrm>
            <a:off x="8001000" y="3409950"/>
            <a:ext cx="3048000" cy="1200150"/>
          </a:xfrm>
          <a:prstGeom prst="roundRect">
            <a:avLst>
              <a:gd name="adj" fmla="val 12698"/>
            </a:avLst>
          </a:prstGeom>
          <a:solidFill>
            <a:srgbClr val="FFF4CD"/>
          </a:solidFill>
          <a:ln w="9525">
            <a:solidFill>
              <a:srgbClr val="FFF4CD"/>
            </a:solidFill>
            <a:prstDash val="solid"/>
          </a:ln>
        </p:spPr>
        <p:txBody>
          <a:bodyPr/>
          <a:lstStyle/>
          <a:p>
            <a:endParaRPr lang="it-IT"/>
          </a:p>
        </p:txBody>
      </p:sp>
      <p:sp>
        <p:nvSpPr>
          <p:cNvPr id="16" name="Rettangolo 15">
            <a:extLst>
              <a:ext uri="{FF2B5EF4-FFF2-40B4-BE49-F238E27FC236}">
                <a16:creationId xmlns:a16="http://schemas.microsoft.com/office/drawing/2014/main" id="{2EEF2A37-33E3-4CAF-8CCD-8C45ED364321}"/>
              </a:ext>
            </a:extLst>
          </p:cNvPr>
          <p:cNvSpPr>
            <a:spLocks noGrp="1"/>
          </p:cNvSpPr>
          <p:nvPr/>
        </p:nvSpPr>
        <p:spPr>
          <a:xfrm>
            <a:off x="81915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04 · PERTURB</a:t>
            </a:r>
          </a:p>
        </p:txBody>
      </p:sp>
      <p:sp>
        <p:nvSpPr>
          <p:cNvPr id="17" name="Rettangolo 16">
            <a:extLst>
              <a:ext uri="{FF2B5EF4-FFF2-40B4-BE49-F238E27FC236}">
                <a16:creationId xmlns:a16="http://schemas.microsoft.com/office/drawing/2014/main" id="{BE58FD48-63A5-43A4-AE2D-68109E9A97B5}"/>
              </a:ext>
            </a:extLst>
          </p:cNvPr>
          <p:cNvSpPr>
            <a:spLocks noGrp="1"/>
          </p:cNvSpPr>
          <p:nvPr/>
        </p:nvSpPr>
        <p:spPr>
          <a:xfrm>
            <a:off x="81915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10,000 variants</a:t>
            </a:r>
          </a:p>
        </p:txBody>
      </p:sp>
      <p:sp>
        <p:nvSpPr>
          <p:cNvPr id="18" name="Rettangolo con angoli arrotondati 17">
            <a:extLst>
              <a:ext uri="{FF2B5EF4-FFF2-40B4-BE49-F238E27FC236}">
                <a16:creationId xmlns:a16="http://schemas.microsoft.com/office/drawing/2014/main" id="{6D80ED9B-D274-464D-8DFA-5D4EB141CE12}"/>
              </a:ext>
            </a:extLst>
          </p:cNvPr>
          <p:cNvSpPr>
            <a:spLocks noGrp="1"/>
          </p:cNvSpPr>
          <p:nvPr/>
        </p:nvSpPr>
        <p:spPr>
          <a:xfrm>
            <a:off x="4343400" y="3409950"/>
            <a:ext cx="3048000" cy="1200150"/>
          </a:xfrm>
          <a:prstGeom prst="roundRect">
            <a:avLst>
              <a:gd name="adj" fmla="val 12698"/>
            </a:avLst>
          </a:prstGeom>
          <a:solidFill>
            <a:srgbClr val="FFFFFF"/>
          </a:solidFill>
          <a:ln w="9525">
            <a:solidFill>
              <a:srgbClr val="D9DEE8"/>
            </a:solidFill>
            <a:prstDash val="solid"/>
          </a:ln>
        </p:spPr>
        <p:txBody>
          <a:bodyPr/>
          <a:lstStyle/>
          <a:p>
            <a:endParaRPr lang="it-IT"/>
          </a:p>
        </p:txBody>
      </p:sp>
      <p:sp>
        <p:nvSpPr>
          <p:cNvPr id="19" name="Rettangolo 18">
            <a:extLst>
              <a:ext uri="{FF2B5EF4-FFF2-40B4-BE49-F238E27FC236}">
                <a16:creationId xmlns:a16="http://schemas.microsoft.com/office/drawing/2014/main" id="{8C00595D-2E4C-4798-9AFA-918EB03D6CE1}"/>
              </a:ext>
            </a:extLst>
          </p:cNvPr>
          <p:cNvSpPr>
            <a:spLocks noGrp="1"/>
          </p:cNvSpPr>
          <p:nvPr/>
        </p:nvSpPr>
        <p:spPr>
          <a:xfrm>
            <a:off x="45339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05 · EVALUATE</a:t>
            </a:r>
          </a:p>
        </p:txBody>
      </p:sp>
      <p:sp>
        <p:nvSpPr>
          <p:cNvPr id="20" name="Rettangolo 19">
            <a:extLst>
              <a:ext uri="{FF2B5EF4-FFF2-40B4-BE49-F238E27FC236}">
                <a16:creationId xmlns:a16="http://schemas.microsoft.com/office/drawing/2014/main" id="{25CC8402-52F3-415B-8334-9D28329B23A7}"/>
              </a:ext>
            </a:extLst>
          </p:cNvPr>
          <p:cNvSpPr>
            <a:spLocks noGrp="1"/>
          </p:cNvSpPr>
          <p:nvPr/>
        </p:nvSpPr>
        <p:spPr>
          <a:xfrm>
            <a:off x="45339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3 proxies + 6 configs</a:t>
            </a:r>
          </a:p>
        </p:txBody>
      </p:sp>
      <p:sp>
        <p:nvSpPr>
          <p:cNvPr id="21" name="Rettangolo con angoli arrotondati 20">
            <a:extLst>
              <a:ext uri="{FF2B5EF4-FFF2-40B4-BE49-F238E27FC236}">
                <a16:creationId xmlns:a16="http://schemas.microsoft.com/office/drawing/2014/main" id="{F96800EB-DDFB-441A-ACC4-724820F4F532}"/>
              </a:ext>
            </a:extLst>
          </p:cNvPr>
          <p:cNvSpPr>
            <a:spLocks noGrp="1"/>
          </p:cNvSpPr>
          <p:nvPr/>
        </p:nvSpPr>
        <p:spPr>
          <a:xfrm>
            <a:off x="685800" y="3409950"/>
            <a:ext cx="3048000" cy="1200150"/>
          </a:xfrm>
          <a:prstGeom prst="roundRect">
            <a:avLst>
              <a:gd name="adj" fmla="val 12698"/>
            </a:avLst>
          </a:prstGeom>
          <a:solidFill>
            <a:srgbClr val="E7F8F0"/>
          </a:solidFill>
          <a:ln w="9525">
            <a:solidFill>
              <a:srgbClr val="E7F8F0"/>
            </a:solidFill>
            <a:prstDash val="solid"/>
          </a:ln>
        </p:spPr>
        <p:txBody>
          <a:bodyPr/>
          <a:lstStyle/>
          <a:p>
            <a:endParaRPr lang="it-IT"/>
          </a:p>
        </p:txBody>
      </p:sp>
      <p:sp>
        <p:nvSpPr>
          <p:cNvPr id="22" name="Rettangolo 21">
            <a:extLst>
              <a:ext uri="{FF2B5EF4-FFF2-40B4-BE49-F238E27FC236}">
                <a16:creationId xmlns:a16="http://schemas.microsoft.com/office/drawing/2014/main" id="{445E9920-1B66-4358-8F69-F6C653EC3630}"/>
              </a:ext>
            </a:extLst>
          </p:cNvPr>
          <p:cNvSpPr>
            <a:spLocks noGrp="1"/>
          </p:cNvSpPr>
          <p:nvPr/>
        </p:nvSpPr>
        <p:spPr>
          <a:xfrm>
            <a:off x="876300" y="3638550"/>
            <a:ext cx="2667000" cy="2667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06 · INTERPRET</a:t>
            </a:r>
          </a:p>
        </p:txBody>
      </p:sp>
      <p:sp>
        <p:nvSpPr>
          <p:cNvPr id="23" name="Rettangolo 22">
            <a:extLst>
              <a:ext uri="{FF2B5EF4-FFF2-40B4-BE49-F238E27FC236}">
                <a16:creationId xmlns:a16="http://schemas.microsoft.com/office/drawing/2014/main" id="{80975C52-4A62-447C-ADE4-34216CFBF10A}"/>
              </a:ext>
            </a:extLst>
          </p:cNvPr>
          <p:cNvSpPr>
            <a:spLocks noGrp="1"/>
          </p:cNvSpPr>
          <p:nvPr/>
        </p:nvSpPr>
        <p:spPr>
          <a:xfrm>
            <a:off x="876300" y="4076700"/>
            <a:ext cx="266700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normalize + interpret</a:t>
            </a:r>
          </a:p>
        </p:txBody>
      </p:sp>
      <p:sp>
        <p:nvSpPr>
          <p:cNvPr id="24" name="Rettangolo 23">
            <a:extLst>
              <a:ext uri="{FF2B5EF4-FFF2-40B4-BE49-F238E27FC236}">
                <a16:creationId xmlns:a16="http://schemas.microsoft.com/office/drawing/2014/main" id="{38172E1D-A294-4F18-8D9E-59C9800F9A07}"/>
              </a:ext>
            </a:extLst>
          </p:cNvPr>
          <p:cNvSpPr>
            <a:spLocks noGrp="1"/>
          </p:cNvSpPr>
          <p:nvPr/>
        </p:nvSpPr>
        <p:spPr>
          <a:xfrm>
            <a:off x="3752850" y="18669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5" name="Rettangolo 24">
            <a:extLst>
              <a:ext uri="{FF2B5EF4-FFF2-40B4-BE49-F238E27FC236}">
                <a16:creationId xmlns:a16="http://schemas.microsoft.com/office/drawing/2014/main" id="{B0C79570-604F-4B83-988C-6FFC8922885B}"/>
              </a:ext>
            </a:extLst>
          </p:cNvPr>
          <p:cNvSpPr>
            <a:spLocks noGrp="1"/>
          </p:cNvSpPr>
          <p:nvPr/>
        </p:nvSpPr>
        <p:spPr>
          <a:xfrm>
            <a:off x="7410450" y="18669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6" name="Rettangolo 25">
            <a:extLst>
              <a:ext uri="{FF2B5EF4-FFF2-40B4-BE49-F238E27FC236}">
                <a16:creationId xmlns:a16="http://schemas.microsoft.com/office/drawing/2014/main" id="{F96F2BBD-EA80-4DB4-86CA-2A3F56F711DE}"/>
              </a:ext>
            </a:extLst>
          </p:cNvPr>
          <p:cNvSpPr>
            <a:spLocks noGrp="1"/>
          </p:cNvSpPr>
          <p:nvPr/>
        </p:nvSpPr>
        <p:spPr>
          <a:xfrm>
            <a:off x="9239250" y="281940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7" name="Rettangolo 26">
            <a:extLst>
              <a:ext uri="{FF2B5EF4-FFF2-40B4-BE49-F238E27FC236}">
                <a16:creationId xmlns:a16="http://schemas.microsoft.com/office/drawing/2014/main" id="{44084EFE-410F-44E2-89FE-E361686FEAB1}"/>
              </a:ext>
            </a:extLst>
          </p:cNvPr>
          <p:cNvSpPr>
            <a:spLocks noGrp="1"/>
          </p:cNvSpPr>
          <p:nvPr/>
        </p:nvSpPr>
        <p:spPr>
          <a:xfrm>
            <a:off x="7410450" y="375285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8" name="Rettangolo 27">
            <a:extLst>
              <a:ext uri="{FF2B5EF4-FFF2-40B4-BE49-F238E27FC236}">
                <a16:creationId xmlns:a16="http://schemas.microsoft.com/office/drawing/2014/main" id="{28D85B2B-3959-47A8-B720-64C081695514}"/>
              </a:ext>
            </a:extLst>
          </p:cNvPr>
          <p:cNvSpPr>
            <a:spLocks noGrp="1"/>
          </p:cNvSpPr>
          <p:nvPr/>
        </p:nvSpPr>
        <p:spPr>
          <a:xfrm>
            <a:off x="3752850" y="3752850"/>
            <a:ext cx="571500" cy="476250"/>
          </a:xfrm>
          <a:prstGeom prst="rect">
            <a:avLst/>
          </a:prstGeom>
          <a:noFill/>
          <a:ln w="0">
            <a:noFill/>
            <a:prstDash val="solid"/>
          </a:ln>
        </p:spPr>
        <p:txBody>
          <a:bodyPr wrap="square" lIns="0" tIns="0" rIns="0" bIns="0" anchor="t">
            <a:noAutofit/>
          </a:bodyPr>
          <a:lstStyle/>
          <a:p>
            <a:pPr algn="ctr">
              <a:buNone/>
              <a:defRPr sz="3000" b="1">
                <a:solidFill>
                  <a:srgbClr val="233A70"/>
                </a:solidFill>
                <a:latin typeface="Arial"/>
                <a:ea typeface="Arial"/>
                <a:cs typeface="Arial"/>
              </a:defRPr>
            </a:pPr>
            <a:r>
              <a:rPr sz="3000" b="1">
                <a:solidFill>
                  <a:srgbClr val="233A70"/>
                </a:solidFill>
                <a:latin typeface="Arial"/>
                <a:ea typeface="Arial"/>
                <a:cs typeface="Arial"/>
              </a:rPr>
              <a:t>←</a:t>
            </a:r>
          </a:p>
        </p:txBody>
      </p:sp>
      <p:sp>
        <p:nvSpPr>
          <p:cNvPr id="29" name="Rettangolo con angoli arrotondati 28">
            <a:extLst>
              <a:ext uri="{FF2B5EF4-FFF2-40B4-BE49-F238E27FC236}">
                <a16:creationId xmlns:a16="http://schemas.microsoft.com/office/drawing/2014/main" id="{2A76AEB6-1FF2-487B-8819-3E7FBEC77FE1}"/>
              </a:ext>
            </a:extLst>
          </p:cNvPr>
          <p:cNvSpPr>
            <a:spLocks noGrp="1"/>
          </p:cNvSpPr>
          <p:nvPr/>
        </p:nvSpPr>
        <p:spPr>
          <a:xfrm>
            <a:off x="1123950" y="5181600"/>
            <a:ext cx="9944100" cy="895350"/>
          </a:xfrm>
          <a:prstGeom prst="roundRect">
            <a:avLst>
              <a:gd name="adj" fmla="val 17021"/>
            </a:avLst>
          </a:prstGeom>
          <a:solidFill>
            <a:srgbClr val="233A70"/>
          </a:solidFill>
          <a:ln w="0">
            <a:noFill/>
            <a:prstDash val="solid"/>
          </a:ln>
        </p:spPr>
        <p:txBody>
          <a:bodyPr/>
          <a:lstStyle/>
          <a:p>
            <a:endParaRPr lang="it-IT"/>
          </a:p>
        </p:txBody>
      </p:sp>
      <p:sp>
        <p:nvSpPr>
          <p:cNvPr id="30" name="Rettangolo 29">
            <a:extLst>
              <a:ext uri="{FF2B5EF4-FFF2-40B4-BE49-F238E27FC236}">
                <a16:creationId xmlns:a16="http://schemas.microsoft.com/office/drawing/2014/main" id="{E50CBE53-BF18-4A80-A29D-95B884CE3AAD}"/>
              </a:ext>
            </a:extLst>
          </p:cNvPr>
          <p:cNvSpPr>
            <a:spLocks noGrp="1"/>
          </p:cNvSpPr>
          <p:nvPr/>
        </p:nvSpPr>
        <p:spPr>
          <a:xfrm>
            <a:off x="1524000" y="5314950"/>
            <a:ext cx="9144000" cy="22860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TRACEABILITY THROUGHOUT</a:t>
            </a:r>
          </a:p>
        </p:txBody>
      </p:sp>
      <p:sp>
        <p:nvSpPr>
          <p:cNvPr id="31" name="Rettangolo 30">
            <a:extLst>
              <a:ext uri="{FF2B5EF4-FFF2-40B4-BE49-F238E27FC236}">
                <a16:creationId xmlns:a16="http://schemas.microsoft.com/office/drawing/2014/main" id="{3A3D9C14-794F-4016-9A53-92CC5AA4F5CE}"/>
              </a:ext>
            </a:extLst>
          </p:cNvPr>
          <p:cNvSpPr>
            <a:spLocks noGrp="1"/>
          </p:cNvSpPr>
          <p:nvPr/>
        </p:nvSpPr>
        <p:spPr>
          <a:xfrm>
            <a:off x="1381125" y="5676900"/>
            <a:ext cx="9429750" cy="228600"/>
          </a:xfrm>
          <a:prstGeom prst="rect">
            <a:avLst/>
          </a:prstGeom>
          <a:noFill/>
          <a:ln w="0">
            <a:noFill/>
            <a:prstDash val="solid"/>
          </a:ln>
        </p:spPr>
        <p:txBody>
          <a:bodyPr wrap="square" lIns="0" tIns="0" rIns="0" bIns="0" anchor="t">
            <a:noAutofit/>
          </a:bodyPr>
          <a:lstStyle/>
          <a:p>
            <a:pPr algn="ctr">
              <a:buNone/>
              <a:defRPr sz="1425" b="0">
                <a:solidFill>
                  <a:srgbClr val="FFFFFF"/>
                </a:solidFill>
                <a:latin typeface="Arial"/>
                <a:ea typeface="Arial"/>
                <a:cs typeface="Arial"/>
              </a:defRPr>
            </a:pPr>
            <a:r>
              <a:rPr sz="1425" b="0">
                <a:solidFill>
                  <a:srgbClr val="FFFFFF"/>
                </a:solidFill>
                <a:latin typeface="Arial"/>
                <a:ea typeface="Arial"/>
                <a:cs typeface="Arial"/>
              </a:rPr>
              <a:t>deterministic identifiers  ·  manifests  ·  checksums  ·  frozen configurations  ·  source-to-output links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4" name="Rettangolo 23">
            <a:extLst>
              <a:ext uri="{FF2B5EF4-FFF2-40B4-BE49-F238E27FC236}">
                <a16:creationId xmlns:a16="http://schemas.microsoft.com/office/drawing/2014/main" id="{8F233B7B-EA32-4CE0-BCAD-4A6722324753}"/>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919E34FA-C1B9-47A3-8BA3-61812BD51E7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One population becomes 11,500 traceable files</a:t>
            </a:r>
          </a:p>
        </p:txBody>
      </p:sp>
      <p:sp>
        <p:nvSpPr>
          <p:cNvPr id="3" name="Rettangolo 2">
            <a:extLst>
              <a:ext uri="{FF2B5EF4-FFF2-40B4-BE49-F238E27FC236}">
                <a16:creationId xmlns:a16="http://schemas.microsoft.com/office/drawing/2014/main" id="{0D8F709E-76E6-4E38-8E82-5BE12BAB1219}"/>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C66E610D-CF25-46AB-B840-2131076D741E}"/>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51A81E0D-402E-4998-85C6-567245A7304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07</a:t>
            </a:r>
          </a:p>
        </p:txBody>
      </p:sp>
      <p:sp>
        <p:nvSpPr>
          <p:cNvPr id="6" name="Rettangolo 5">
            <a:extLst>
              <a:ext uri="{FF2B5EF4-FFF2-40B4-BE49-F238E27FC236}">
                <a16:creationId xmlns:a16="http://schemas.microsoft.com/office/drawing/2014/main" id="{52FE96BF-C5D8-4EBB-ADFA-45DAE60C8A98}"/>
              </a:ext>
            </a:extLst>
          </p:cNvPr>
          <p:cNvSpPr>
            <a:spLocks noGrp="1"/>
          </p:cNvSpPr>
          <p:nvPr/>
        </p:nvSpPr>
        <p:spPr>
          <a:xfrm>
            <a:off x="685800" y="1390650"/>
            <a:ext cx="10820400" cy="533400"/>
          </a:xfrm>
          <a:prstGeom prst="rect">
            <a:avLst/>
          </a:prstGeom>
          <a:noFill/>
          <a:ln w="0">
            <a:noFill/>
            <a:prstDash val="solid"/>
          </a:ln>
        </p:spPr>
        <p:txBody>
          <a:bodyPr wrap="square" lIns="0" tIns="0" rIns="0" bIns="0" anchor="t">
            <a:noAutofit/>
          </a:bodyPr>
          <a:lstStyle/>
          <a:p>
            <a:pPr algn="ctr">
              <a:buNone/>
              <a:defRPr sz="3225" b="1">
                <a:solidFill>
                  <a:srgbClr val="233A70"/>
                </a:solidFill>
                <a:latin typeface="Arial"/>
                <a:ea typeface="Arial"/>
                <a:cs typeface="Arial"/>
              </a:defRPr>
            </a:pPr>
            <a:r>
              <a:rPr sz="3225" b="1">
                <a:solidFill>
                  <a:srgbClr val="233A70"/>
                </a:solidFill>
                <a:latin typeface="Arial"/>
                <a:ea typeface="Arial"/>
                <a:cs typeface="Arial"/>
              </a:rPr>
              <a:t>1,500 SOURCE IMAGES</a:t>
            </a:r>
          </a:p>
        </p:txBody>
      </p:sp>
      <p:sp>
        <p:nvSpPr>
          <p:cNvPr id="7" name="Rettangolo con angoli arrotondati 6">
            <a:extLst>
              <a:ext uri="{FF2B5EF4-FFF2-40B4-BE49-F238E27FC236}">
                <a16:creationId xmlns:a16="http://schemas.microsoft.com/office/drawing/2014/main" id="{A8148055-D97E-4B5A-9B6A-F238DC4DBA1C}"/>
              </a:ext>
            </a:extLst>
          </p:cNvPr>
          <p:cNvSpPr>
            <a:spLocks noGrp="1"/>
          </p:cNvSpPr>
          <p:nvPr/>
        </p:nvSpPr>
        <p:spPr>
          <a:xfrm>
            <a:off x="685800" y="2114550"/>
            <a:ext cx="3048000" cy="1181100"/>
          </a:xfrm>
          <a:prstGeom prst="roundRect">
            <a:avLst>
              <a:gd name="adj" fmla="val 12903"/>
            </a:avLst>
          </a:prstGeom>
          <a:solidFill>
            <a:srgbClr val="FBEAEA"/>
          </a:solidFill>
          <a:ln w="0">
            <a:noFill/>
            <a:prstDash val="solid"/>
          </a:ln>
        </p:spPr>
        <p:txBody>
          <a:bodyPr/>
          <a:lstStyle/>
          <a:p>
            <a:endParaRPr lang="it-IT"/>
          </a:p>
        </p:txBody>
      </p:sp>
      <p:sp>
        <p:nvSpPr>
          <p:cNvPr id="8" name="Rettangolo 7">
            <a:extLst>
              <a:ext uri="{FF2B5EF4-FFF2-40B4-BE49-F238E27FC236}">
                <a16:creationId xmlns:a16="http://schemas.microsoft.com/office/drawing/2014/main" id="{67CF2057-B56B-4EF8-B891-1D8A8FB5D789}"/>
              </a:ext>
            </a:extLst>
          </p:cNvPr>
          <p:cNvSpPr>
            <a:spLocks noGrp="1"/>
          </p:cNvSpPr>
          <p:nvPr/>
        </p:nvSpPr>
        <p:spPr>
          <a:xfrm>
            <a:off x="8763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BE3C37"/>
                </a:solidFill>
                <a:latin typeface="Arial"/>
                <a:ea typeface="Arial"/>
                <a:cs typeface="Arial"/>
              </a:defRPr>
            </a:pPr>
            <a:r>
              <a:rPr sz="3150" b="1">
                <a:solidFill>
                  <a:srgbClr val="BE3C37"/>
                </a:solidFill>
                <a:latin typeface="Arial"/>
                <a:ea typeface="Arial"/>
                <a:cs typeface="Arial"/>
              </a:rPr>
              <a:t>500</a:t>
            </a:r>
          </a:p>
        </p:txBody>
      </p:sp>
      <p:sp>
        <p:nvSpPr>
          <p:cNvPr id="9" name="Rettangolo 8">
            <a:extLst>
              <a:ext uri="{FF2B5EF4-FFF2-40B4-BE49-F238E27FC236}">
                <a16:creationId xmlns:a16="http://schemas.microsoft.com/office/drawing/2014/main" id="{C91F0788-58B8-4BE5-B7B6-9DA31BD87AB9}"/>
              </a:ext>
            </a:extLst>
          </p:cNvPr>
          <p:cNvSpPr>
            <a:spLocks noGrp="1"/>
          </p:cNvSpPr>
          <p:nvPr/>
        </p:nvSpPr>
        <p:spPr>
          <a:xfrm>
            <a:off x="8763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weapon</a:t>
            </a:r>
          </a:p>
        </p:txBody>
      </p:sp>
      <p:sp>
        <p:nvSpPr>
          <p:cNvPr id="10" name="Rettangolo con angoli arrotondati 9">
            <a:extLst>
              <a:ext uri="{FF2B5EF4-FFF2-40B4-BE49-F238E27FC236}">
                <a16:creationId xmlns:a16="http://schemas.microsoft.com/office/drawing/2014/main" id="{DAD1981F-B9B3-4955-8E93-2C4366243B80}"/>
              </a:ext>
            </a:extLst>
          </p:cNvPr>
          <p:cNvSpPr>
            <a:spLocks noGrp="1"/>
          </p:cNvSpPr>
          <p:nvPr/>
        </p:nvSpPr>
        <p:spPr>
          <a:xfrm>
            <a:off x="4343400" y="2114550"/>
            <a:ext cx="3048000" cy="1181100"/>
          </a:xfrm>
          <a:prstGeom prst="roundRect">
            <a:avLst>
              <a:gd name="adj" fmla="val 12903"/>
            </a:avLst>
          </a:prstGeom>
          <a:solidFill>
            <a:srgbClr val="E7F8F0"/>
          </a:solidFill>
          <a:ln w="0">
            <a:noFill/>
            <a:prstDash val="solid"/>
          </a:ln>
        </p:spPr>
        <p:txBody>
          <a:bodyPr/>
          <a:lstStyle/>
          <a:p>
            <a:endParaRPr lang="it-IT"/>
          </a:p>
        </p:txBody>
      </p:sp>
      <p:sp>
        <p:nvSpPr>
          <p:cNvPr id="11" name="Rettangolo 10">
            <a:extLst>
              <a:ext uri="{FF2B5EF4-FFF2-40B4-BE49-F238E27FC236}">
                <a16:creationId xmlns:a16="http://schemas.microsoft.com/office/drawing/2014/main" id="{F51DE534-5451-426F-8C55-A3847300037B}"/>
              </a:ext>
            </a:extLst>
          </p:cNvPr>
          <p:cNvSpPr>
            <a:spLocks noGrp="1"/>
          </p:cNvSpPr>
          <p:nvPr/>
        </p:nvSpPr>
        <p:spPr>
          <a:xfrm>
            <a:off x="45339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087A50"/>
                </a:solidFill>
                <a:latin typeface="Arial"/>
                <a:ea typeface="Arial"/>
                <a:cs typeface="Arial"/>
              </a:defRPr>
            </a:pPr>
            <a:r>
              <a:rPr sz="3150" b="1">
                <a:solidFill>
                  <a:srgbClr val="087A50"/>
                </a:solidFill>
                <a:latin typeface="Arial"/>
                <a:ea typeface="Arial"/>
                <a:cs typeface="Arial"/>
              </a:rPr>
              <a:t>500</a:t>
            </a:r>
          </a:p>
        </p:txBody>
      </p:sp>
      <p:sp>
        <p:nvSpPr>
          <p:cNvPr id="12" name="Rettangolo 11">
            <a:extLst>
              <a:ext uri="{FF2B5EF4-FFF2-40B4-BE49-F238E27FC236}">
                <a16:creationId xmlns:a16="http://schemas.microsoft.com/office/drawing/2014/main" id="{B95C25BE-E0AC-4211-88DD-AF36BE27D58C}"/>
              </a:ext>
            </a:extLst>
          </p:cNvPr>
          <p:cNvSpPr>
            <a:spLocks noGrp="1"/>
          </p:cNvSpPr>
          <p:nvPr/>
        </p:nvSpPr>
        <p:spPr>
          <a:xfrm>
            <a:off x="45339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non-weapon</a:t>
            </a:r>
          </a:p>
        </p:txBody>
      </p:sp>
      <p:sp>
        <p:nvSpPr>
          <p:cNvPr id="13" name="Rettangolo con angoli arrotondati 12">
            <a:extLst>
              <a:ext uri="{FF2B5EF4-FFF2-40B4-BE49-F238E27FC236}">
                <a16:creationId xmlns:a16="http://schemas.microsoft.com/office/drawing/2014/main" id="{AA057755-0908-41EF-9861-B5B3136090A8}"/>
              </a:ext>
            </a:extLst>
          </p:cNvPr>
          <p:cNvSpPr>
            <a:spLocks noGrp="1"/>
          </p:cNvSpPr>
          <p:nvPr/>
        </p:nvSpPr>
        <p:spPr>
          <a:xfrm>
            <a:off x="8001000" y="2114550"/>
            <a:ext cx="3048000" cy="1181100"/>
          </a:xfrm>
          <a:prstGeom prst="roundRect">
            <a:avLst>
              <a:gd name="adj" fmla="val 12903"/>
            </a:avLst>
          </a:prstGeom>
          <a:solidFill>
            <a:srgbClr val="FFF4CD"/>
          </a:solidFill>
          <a:ln w="0">
            <a:noFill/>
            <a:prstDash val="solid"/>
          </a:ln>
        </p:spPr>
        <p:txBody>
          <a:bodyPr/>
          <a:lstStyle/>
          <a:p>
            <a:endParaRPr lang="it-IT"/>
          </a:p>
        </p:txBody>
      </p:sp>
      <p:sp>
        <p:nvSpPr>
          <p:cNvPr id="14" name="Rettangolo 13">
            <a:extLst>
              <a:ext uri="{FF2B5EF4-FFF2-40B4-BE49-F238E27FC236}">
                <a16:creationId xmlns:a16="http://schemas.microsoft.com/office/drawing/2014/main" id="{FBF595D1-D2F2-4609-90AA-9836312F8BEA}"/>
              </a:ext>
            </a:extLst>
          </p:cNvPr>
          <p:cNvSpPr>
            <a:spLocks noGrp="1"/>
          </p:cNvSpPr>
          <p:nvPr/>
        </p:nvSpPr>
        <p:spPr>
          <a:xfrm>
            <a:off x="8191500" y="2286000"/>
            <a:ext cx="2667000" cy="495300"/>
          </a:xfrm>
          <a:prstGeom prst="rect">
            <a:avLst/>
          </a:prstGeom>
          <a:noFill/>
          <a:ln w="0">
            <a:noFill/>
            <a:prstDash val="solid"/>
          </a:ln>
        </p:spPr>
        <p:txBody>
          <a:bodyPr wrap="square" lIns="0" tIns="0" rIns="0" bIns="0" anchor="t">
            <a:noAutofit/>
          </a:bodyPr>
          <a:lstStyle/>
          <a:p>
            <a:pPr algn="ctr">
              <a:buNone/>
              <a:defRPr sz="3150" b="1">
                <a:solidFill>
                  <a:srgbClr val="C89B14"/>
                </a:solidFill>
                <a:latin typeface="Arial"/>
                <a:ea typeface="Arial"/>
                <a:cs typeface="Arial"/>
              </a:defRPr>
            </a:pPr>
            <a:r>
              <a:rPr sz="3150" b="1">
                <a:solidFill>
                  <a:srgbClr val="C89B14"/>
                </a:solidFill>
                <a:latin typeface="Arial"/>
                <a:ea typeface="Arial"/>
                <a:cs typeface="Arial"/>
              </a:rPr>
              <a:t>500</a:t>
            </a:r>
          </a:p>
        </p:txBody>
      </p:sp>
      <p:sp>
        <p:nvSpPr>
          <p:cNvPr id="15" name="Rettangolo 14">
            <a:extLst>
              <a:ext uri="{FF2B5EF4-FFF2-40B4-BE49-F238E27FC236}">
                <a16:creationId xmlns:a16="http://schemas.microsoft.com/office/drawing/2014/main" id="{CA31140D-6563-486C-A3B6-00812F0790B5}"/>
              </a:ext>
            </a:extLst>
          </p:cNvPr>
          <p:cNvSpPr>
            <a:spLocks noGrp="1"/>
          </p:cNvSpPr>
          <p:nvPr/>
        </p:nvSpPr>
        <p:spPr>
          <a:xfrm>
            <a:off x="8191500" y="2857500"/>
            <a:ext cx="2667000" cy="26670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separate OOD branch</a:t>
            </a:r>
          </a:p>
        </p:txBody>
      </p:sp>
      <p:sp>
        <p:nvSpPr>
          <p:cNvPr id="16" name="Rettangolo con angoli arrotondati 15">
            <a:extLst>
              <a:ext uri="{FF2B5EF4-FFF2-40B4-BE49-F238E27FC236}">
                <a16:creationId xmlns:a16="http://schemas.microsoft.com/office/drawing/2014/main" id="{E8AE0E5F-D588-4518-BA59-676FC615A528}"/>
              </a:ext>
            </a:extLst>
          </p:cNvPr>
          <p:cNvSpPr>
            <a:spLocks noGrp="1"/>
          </p:cNvSpPr>
          <p:nvPr/>
        </p:nvSpPr>
        <p:spPr>
          <a:xfrm>
            <a:off x="685800" y="3714750"/>
            <a:ext cx="6667500" cy="1352550"/>
          </a:xfrm>
          <a:prstGeom prst="roundRect">
            <a:avLst>
              <a:gd name="adj" fmla="val 12676"/>
            </a:avLst>
          </a:prstGeom>
          <a:solidFill>
            <a:srgbClr val="E9EEF8"/>
          </a:solidFill>
          <a:ln w="0">
            <a:noFill/>
            <a:prstDash val="solid"/>
          </a:ln>
        </p:spPr>
        <p:txBody>
          <a:bodyPr/>
          <a:lstStyle/>
          <a:p>
            <a:endParaRPr lang="it-IT"/>
          </a:p>
        </p:txBody>
      </p:sp>
      <p:sp>
        <p:nvSpPr>
          <p:cNvPr id="17" name="Rettangolo 16">
            <a:extLst>
              <a:ext uri="{FF2B5EF4-FFF2-40B4-BE49-F238E27FC236}">
                <a16:creationId xmlns:a16="http://schemas.microsoft.com/office/drawing/2014/main" id="{86E49BA0-1207-489F-96D4-25FAF47B2880}"/>
              </a:ext>
            </a:extLst>
          </p:cNvPr>
          <p:cNvSpPr>
            <a:spLocks noGrp="1"/>
          </p:cNvSpPr>
          <p:nvPr/>
        </p:nvSpPr>
        <p:spPr>
          <a:xfrm>
            <a:off x="952500" y="3962400"/>
            <a:ext cx="6134100" cy="457200"/>
          </a:xfrm>
          <a:prstGeom prst="rect">
            <a:avLst/>
          </a:prstGeom>
          <a:noFill/>
          <a:ln w="0">
            <a:noFill/>
            <a:prstDash val="solid"/>
          </a:ln>
        </p:spPr>
        <p:txBody>
          <a:bodyPr wrap="square" lIns="0" tIns="0" rIns="0" bIns="0" anchor="t">
            <a:noAutofit/>
          </a:bodyPr>
          <a:lstStyle/>
          <a:p>
            <a:pPr algn="ctr">
              <a:buNone/>
              <a:defRPr sz="2850" b="1">
                <a:solidFill>
                  <a:srgbClr val="233A70"/>
                </a:solidFill>
                <a:latin typeface="Arial"/>
                <a:ea typeface="Arial"/>
                <a:cs typeface="Arial"/>
              </a:defRPr>
            </a:pPr>
            <a:r>
              <a:rPr sz="2850" b="1">
                <a:solidFill>
                  <a:srgbClr val="233A70"/>
                </a:solidFill>
                <a:latin typeface="Arial"/>
                <a:ea typeface="Arial"/>
                <a:cs typeface="Arial"/>
              </a:rPr>
              <a:t>1,000 × 10 = 10,000</a:t>
            </a:r>
          </a:p>
        </p:txBody>
      </p:sp>
      <p:sp>
        <p:nvSpPr>
          <p:cNvPr id="18" name="Rettangolo 17">
            <a:extLst>
              <a:ext uri="{FF2B5EF4-FFF2-40B4-BE49-F238E27FC236}">
                <a16:creationId xmlns:a16="http://schemas.microsoft.com/office/drawing/2014/main" id="{2E908EB8-C4F4-4547-90E0-2C16671F8D2D}"/>
              </a:ext>
            </a:extLst>
          </p:cNvPr>
          <p:cNvSpPr>
            <a:spLocks noGrp="1"/>
          </p:cNvSpPr>
          <p:nvPr/>
        </p:nvSpPr>
        <p:spPr>
          <a:xfrm>
            <a:off x="952500" y="4572000"/>
            <a:ext cx="6134100" cy="266700"/>
          </a:xfrm>
          <a:prstGeom prst="rect">
            <a:avLst/>
          </a:prstGeom>
          <a:noFill/>
          <a:ln w="0">
            <a:noFill/>
            <a:prstDash val="solid"/>
          </a:ln>
        </p:spPr>
        <p:txBody>
          <a:bodyPr wrap="square" lIns="0" tIns="0" rIns="0" bIns="0" anchor="t">
            <a:noAutofit/>
          </a:bodyPr>
          <a:lstStyle/>
          <a:p>
            <a:pPr algn="ctr">
              <a:buNone/>
              <a:defRPr sz="1575" b="0">
                <a:solidFill>
                  <a:srgbClr val="5B6577"/>
                </a:solidFill>
                <a:latin typeface="Arial"/>
                <a:ea typeface="Arial"/>
                <a:cs typeface="Arial"/>
              </a:defRPr>
            </a:pPr>
            <a:r>
              <a:rPr sz="1575" b="0">
                <a:solidFill>
                  <a:srgbClr val="5B6577"/>
                </a:solidFill>
                <a:latin typeface="Arial"/>
                <a:ea typeface="Arial"/>
                <a:cs typeface="Arial"/>
              </a:rPr>
              <a:t>linked adversarial and anti-forensic variants</a:t>
            </a:r>
          </a:p>
        </p:txBody>
      </p:sp>
      <p:sp>
        <p:nvSpPr>
          <p:cNvPr id="19" name="Rettangolo con angoli arrotondati 18">
            <a:extLst>
              <a:ext uri="{FF2B5EF4-FFF2-40B4-BE49-F238E27FC236}">
                <a16:creationId xmlns:a16="http://schemas.microsoft.com/office/drawing/2014/main" id="{493E70C3-409B-43B7-A636-07BDD643C977}"/>
              </a:ext>
            </a:extLst>
          </p:cNvPr>
          <p:cNvSpPr>
            <a:spLocks noGrp="1"/>
          </p:cNvSpPr>
          <p:nvPr/>
        </p:nvSpPr>
        <p:spPr>
          <a:xfrm>
            <a:off x="7734300" y="3714750"/>
            <a:ext cx="3771900" cy="1352550"/>
          </a:xfrm>
          <a:prstGeom prst="roundRect">
            <a:avLst>
              <a:gd name="adj" fmla="val 12676"/>
            </a:avLst>
          </a:prstGeom>
          <a:solidFill>
            <a:srgbClr val="233A70"/>
          </a:solidFill>
          <a:ln w="0">
            <a:noFill/>
            <a:prstDash val="solid"/>
          </a:ln>
        </p:spPr>
        <p:txBody>
          <a:bodyPr/>
          <a:lstStyle/>
          <a:p>
            <a:endParaRPr lang="it-IT"/>
          </a:p>
        </p:txBody>
      </p:sp>
      <p:sp>
        <p:nvSpPr>
          <p:cNvPr id="20" name="Rettangolo 19">
            <a:extLst>
              <a:ext uri="{FF2B5EF4-FFF2-40B4-BE49-F238E27FC236}">
                <a16:creationId xmlns:a16="http://schemas.microsoft.com/office/drawing/2014/main" id="{CFA7B9EC-C8CD-4FB2-B247-F8C9592B3AAE}"/>
              </a:ext>
            </a:extLst>
          </p:cNvPr>
          <p:cNvSpPr>
            <a:spLocks noGrp="1"/>
          </p:cNvSpPr>
          <p:nvPr/>
        </p:nvSpPr>
        <p:spPr>
          <a:xfrm>
            <a:off x="8001000" y="3924300"/>
            <a:ext cx="3238500" cy="514350"/>
          </a:xfrm>
          <a:prstGeom prst="rect">
            <a:avLst/>
          </a:prstGeom>
          <a:noFill/>
          <a:ln w="0">
            <a:noFill/>
            <a:prstDash val="solid"/>
          </a:ln>
        </p:spPr>
        <p:txBody>
          <a:bodyPr wrap="square" lIns="0" tIns="0" rIns="0" bIns="0" anchor="t">
            <a:noAutofit/>
          </a:bodyPr>
          <a:lstStyle/>
          <a:p>
            <a:pPr algn="ctr">
              <a:buNone/>
              <a:defRPr sz="3450" b="1">
                <a:solidFill>
                  <a:srgbClr val="FFFFFF"/>
                </a:solidFill>
                <a:latin typeface="Arial"/>
                <a:ea typeface="Arial"/>
                <a:cs typeface="Arial"/>
              </a:defRPr>
            </a:pPr>
            <a:r>
              <a:rPr sz="3450" b="1">
                <a:solidFill>
                  <a:srgbClr val="FFFFFF"/>
                </a:solidFill>
                <a:latin typeface="Arial"/>
                <a:ea typeface="Arial"/>
                <a:cs typeface="Arial"/>
              </a:rPr>
              <a:t>11,500</a:t>
            </a:r>
          </a:p>
        </p:txBody>
      </p:sp>
      <p:sp>
        <p:nvSpPr>
          <p:cNvPr id="21" name="Rettangolo 20">
            <a:extLst>
              <a:ext uri="{FF2B5EF4-FFF2-40B4-BE49-F238E27FC236}">
                <a16:creationId xmlns:a16="http://schemas.microsoft.com/office/drawing/2014/main" id="{C59CA103-07C3-4D93-ABAE-B985C7F5307B}"/>
              </a:ext>
            </a:extLst>
          </p:cNvPr>
          <p:cNvSpPr>
            <a:spLocks noGrp="1"/>
          </p:cNvSpPr>
          <p:nvPr/>
        </p:nvSpPr>
        <p:spPr>
          <a:xfrm>
            <a:off x="8001000" y="4572000"/>
            <a:ext cx="3238500" cy="266700"/>
          </a:xfrm>
          <a:prstGeom prst="rect">
            <a:avLst/>
          </a:prstGeom>
          <a:noFill/>
          <a:ln w="0">
            <a:noFill/>
            <a:prstDash val="solid"/>
          </a:ln>
        </p:spPr>
        <p:txBody>
          <a:bodyPr wrap="square" lIns="0" tIns="0" rIns="0" bIns="0" anchor="t">
            <a:noAutofit/>
          </a:bodyPr>
          <a:lstStyle/>
          <a:p>
            <a:pPr algn="ctr">
              <a:buNone/>
              <a:defRPr sz="1650" b="1">
                <a:solidFill>
                  <a:srgbClr val="14B978"/>
                </a:solidFill>
                <a:latin typeface="Arial"/>
                <a:ea typeface="Arial"/>
                <a:cs typeface="Arial"/>
              </a:defRPr>
            </a:pPr>
            <a:r>
              <a:rPr sz="1650" b="1">
                <a:solidFill>
                  <a:srgbClr val="14B978"/>
                </a:solidFill>
                <a:latin typeface="Arial"/>
                <a:ea typeface="Arial"/>
                <a:cs typeface="Arial"/>
              </a:rPr>
              <a:t>tool-facing files</a:t>
            </a:r>
          </a:p>
        </p:txBody>
      </p:sp>
      <p:sp>
        <p:nvSpPr>
          <p:cNvPr id="22" name="Rettangolo 21">
            <a:extLst>
              <a:ext uri="{FF2B5EF4-FFF2-40B4-BE49-F238E27FC236}">
                <a16:creationId xmlns:a16="http://schemas.microsoft.com/office/drawing/2014/main" id="{97064189-DD4E-40F9-A7D8-F52355D532F4}"/>
              </a:ext>
            </a:extLst>
          </p:cNvPr>
          <p:cNvSpPr>
            <a:spLocks noGrp="1"/>
          </p:cNvSpPr>
          <p:nvPr/>
        </p:nvSpPr>
        <p:spPr>
          <a:xfrm>
            <a:off x="1428750" y="5448300"/>
            <a:ext cx="9334500" cy="304800"/>
          </a:xfrm>
          <a:prstGeom prst="rect">
            <a:avLst/>
          </a:prstGeom>
          <a:noFill/>
          <a:ln w="0">
            <a:noFill/>
            <a:prstDash val="solid"/>
          </a:ln>
        </p:spPr>
        <p:txBody>
          <a:bodyPr wrap="square" lIns="0" tIns="0" rIns="0" bIns="0" anchor="t">
            <a:noAutofit/>
          </a:bodyPr>
          <a:lstStyle/>
          <a:p>
            <a:pPr algn="ctr">
              <a:buNone/>
              <a:defRPr sz="1500" b="1">
                <a:solidFill>
                  <a:srgbClr val="5B6577"/>
                </a:solidFill>
                <a:latin typeface="Arial"/>
                <a:ea typeface="Arial"/>
                <a:cs typeface="Arial"/>
              </a:defRPr>
            </a:pPr>
            <a:r>
              <a:rPr sz="1500" b="1">
                <a:solidFill>
                  <a:srgbClr val="5B6577"/>
                </a:solidFill>
                <a:latin typeface="Arial"/>
                <a:ea typeface="Arial"/>
                <a:cs typeface="Arial"/>
              </a:rPr>
              <a:t>The manipulated files are linked source–condition variants—not 10,000 independent cases.</a:t>
            </a:r>
          </a:p>
        </p:txBody>
      </p:sp>
      <p:sp>
        <p:nvSpPr>
          <p:cNvPr id="23" name="Rettangolo 22">
            <a:extLst>
              <a:ext uri="{FF2B5EF4-FFF2-40B4-BE49-F238E27FC236}">
                <a16:creationId xmlns:a16="http://schemas.microsoft.com/office/drawing/2014/main" id="{54B01487-7E01-457B-8FE5-D55CB28A858C}"/>
              </a:ext>
            </a:extLst>
          </p:cNvPr>
          <p:cNvSpPr>
            <a:spLocks noGrp="1"/>
          </p:cNvSpPr>
          <p:nvPr/>
        </p:nvSpPr>
        <p:spPr>
          <a:xfrm>
            <a:off x="1714500" y="5829300"/>
            <a:ext cx="87630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OOD is evaluated separately and is not a third supervised class.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4" name="Rettangolo 23">
            <a:extLst>
              <a:ext uri="{FF2B5EF4-FFF2-40B4-BE49-F238E27FC236}">
                <a16:creationId xmlns:a16="http://schemas.microsoft.com/office/drawing/2014/main" id="{8A9DF18E-4042-467C-97B9-4589B37E30B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913CC87C-9B72-4C2C-AD30-2FB203B4699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Two evidence levels, one experimental basis</a:t>
            </a:r>
          </a:p>
        </p:txBody>
      </p:sp>
      <p:sp>
        <p:nvSpPr>
          <p:cNvPr id="3" name="Rettangolo 2">
            <a:extLst>
              <a:ext uri="{FF2B5EF4-FFF2-40B4-BE49-F238E27FC236}">
                <a16:creationId xmlns:a16="http://schemas.microsoft.com/office/drawing/2014/main" id="{BCB0685F-E48D-4052-8734-E6910A0E4C4F}"/>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04F4A7D0-C37E-4471-9B99-5FD96688AE1B}"/>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4A482C16-A30B-415B-84DE-F197B421E064}"/>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08</a:t>
            </a:r>
          </a:p>
        </p:txBody>
      </p:sp>
      <p:sp>
        <p:nvSpPr>
          <p:cNvPr id="6" name="Rettangolo con angoli arrotondati 5">
            <a:extLst>
              <a:ext uri="{FF2B5EF4-FFF2-40B4-BE49-F238E27FC236}">
                <a16:creationId xmlns:a16="http://schemas.microsoft.com/office/drawing/2014/main" id="{19694DF6-BA12-4007-B98D-CE24074B6695}"/>
              </a:ext>
            </a:extLst>
          </p:cNvPr>
          <p:cNvSpPr>
            <a:spLocks noGrp="1"/>
          </p:cNvSpPr>
          <p:nvPr/>
        </p:nvSpPr>
        <p:spPr>
          <a:xfrm>
            <a:off x="685800" y="1409700"/>
            <a:ext cx="5143500" cy="2705100"/>
          </a:xfrm>
          <a:prstGeom prst="roundRect">
            <a:avLst>
              <a:gd name="adj" fmla="val 6338"/>
            </a:avLst>
          </a:prstGeom>
          <a:solidFill>
            <a:srgbClr val="E9EEF8"/>
          </a:solidFill>
          <a:ln w="0">
            <a:noFill/>
            <a:prstDash val="solid"/>
          </a:ln>
        </p:spPr>
        <p:txBody>
          <a:bodyPr/>
          <a:lstStyle/>
          <a:p>
            <a:endParaRPr lang="it-IT"/>
          </a:p>
        </p:txBody>
      </p:sp>
      <p:sp>
        <p:nvSpPr>
          <p:cNvPr id="7" name="Rettangolo 6">
            <a:extLst>
              <a:ext uri="{FF2B5EF4-FFF2-40B4-BE49-F238E27FC236}">
                <a16:creationId xmlns:a16="http://schemas.microsoft.com/office/drawing/2014/main" id="{C754D5C3-C7C7-47E3-B4A6-F28E654F1A1F}"/>
              </a:ext>
            </a:extLst>
          </p:cNvPr>
          <p:cNvSpPr>
            <a:spLocks noGrp="1"/>
          </p:cNvSpPr>
          <p:nvPr/>
        </p:nvSpPr>
        <p:spPr>
          <a:xfrm>
            <a:off x="990600" y="1657350"/>
            <a:ext cx="4533900" cy="285750"/>
          </a:xfrm>
          <a:prstGeom prst="rect">
            <a:avLst/>
          </a:prstGeom>
          <a:noFill/>
          <a:ln w="0">
            <a:noFill/>
            <a:prstDash val="solid"/>
          </a:ln>
        </p:spPr>
        <p:txBody>
          <a:bodyPr wrap="square" lIns="0" tIns="0" rIns="0" bIns="0" anchor="t">
            <a:noAutofit/>
          </a:bodyPr>
          <a:lstStyle/>
          <a:p>
            <a:pPr algn="l">
              <a:buNone/>
              <a:defRPr sz="1350" b="1">
                <a:solidFill>
                  <a:srgbClr val="233A70"/>
                </a:solidFill>
                <a:latin typeface="Arial"/>
                <a:ea typeface="Arial"/>
                <a:cs typeface="Arial"/>
              </a:defRPr>
            </a:pPr>
            <a:r>
              <a:rPr sz="1350" b="1">
                <a:solidFill>
                  <a:srgbClr val="233A70"/>
                </a:solidFill>
                <a:latin typeface="Arial"/>
                <a:ea typeface="Arial"/>
                <a:cs typeface="Arial"/>
              </a:rPr>
              <a:t>TRANSPARENT PROXIES</a:t>
            </a:r>
          </a:p>
        </p:txBody>
      </p:sp>
      <p:sp>
        <p:nvSpPr>
          <p:cNvPr id="8" name="Rettangolo 7">
            <a:extLst>
              <a:ext uri="{FF2B5EF4-FFF2-40B4-BE49-F238E27FC236}">
                <a16:creationId xmlns:a16="http://schemas.microsoft.com/office/drawing/2014/main" id="{DFFB7302-4FE1-4F8C-B8DE-30ECA9608832}"/>
              </a:ext>
            </a:extLst>
          </p:cNvPr>
          <p:cNvSpPr>
            <a:spLocks noGrp="1"/>
          </p:cNvSpPr>
          <p:nvPr/>
        </p:nvSpPr>
        <p:spPr>
          <a:xfrm>
            <a:off x="990600" y="2114550"/>
            <a:ext cx="2857500" cy="1181100"/>
          </a:xfrm>
          <a:prstGeom prst="rect">
            <a:avLst/>
          </a:prstGeom>
          <a:noFill/>
          <a:ln w="0">
            <a:noFill/>
            <a:prstDash val="solid"/>
          </a:ln>
        </p:spPr>
        <p:txBody>
          <a:bodyPr wrap="square" lIns="0" tIns="0" rIns="0" bIns="0" anchor="t">
            <a:noAutofit/>
          </a:bodyPr>
          <a:lstStyle/>
          <a:p>
            <a:pPr algn="l">
              <a:buNone/>
              <a:defRPr sz="2250" b="1">
                <a:solidFill>
                  <a:srgbClr val="172033"/>
                </a:solidFill>
                <a:latin typeface="Arial"/>
                <a:ea typeface="Arial"/>
                <a:cs typeface="Arial"/>
              </a:defRPr>
            </a:pPr>
            <a:r>
              <a:rPr sz="2250" b="1">
                <a:solidFill>
                  <a:srgbClr val="172033"/>
                </a:solidFill>
                <a:latin typeface="Arial"/>
                <a:ea typeface="Arial"/>
                <a:cs typeface="Arial"/>
              </a:rPr>
              <a:t>EfficientNet-B0</a:t>
            </a:r>
          </a:p>
          <a:p>
            <a:pPr algn="l">
              <a:buNone/>
              <a:defRPr sz="2250" b="1">
                <a:solidFill>
                  <a:srgbClr val="172033"/>
                </a:solidFill>
                <a:latin typeface="Arial"/>
                <a:ea typeface="Arial"/>
                <a:cs typeface="Arial"/>
              </a:defRPr>
            </a:pPr>
            <a:r>
              <a:rPr sz="2250" b="1">
                <a:solidFill>
                  <a:srgbClr val="172033"/>
                </a:solidFill>
                <a:latin typeface="Arial"/>
                <a:ea typeface="Arial"/>
                <a:cs typeface="Arial"/>
              </a:rPr>
              <a:t>ResNet18</a:t>
            </a:r>
          </a:p>
          <a:p>
            <a:pPr algn="l">
              <a:buNone/>
              <a:defRPr sz="2250" b="1">
                <a:solidFill>
                  <a:srgbClr val="172033"/>
                </a:solidFill>
                <a:latin typeface="Arial"/>
                <a:ea typeface="Arial"/>
                <a:cs typeface="Arial"/>
              </a:defRPr>
            </a:pPr>
            <a:r>
              <a:rPr sz="2250" b="1">
                <a:solidFill>
                  <a:srgbClr val="172033"/>
                </a:solidFill>
                <a:latin typeface="Arial"/>
                <a:ea typeface="Arial"/>
                <a:cs typeface="Arial"/>
              </a:rPr>
              <a:t>CLIP-based proxy</a:t>
            </a:r>
          </a:p>
        </p:txBody>
      </p:sp>
      <p:sp>
        <p:nvSpPr>
          <p:cNvPr id="9" name="Rettangolo 8">
            <a:extLst>
              <a:ext uri="{FF2B5EF4-FFF2-40B4-BE49-F238E27FC236}">
                <a16:creationId xmlns:a16="http://schemas.microsoft.com/office/drawing/2014/main" id="{2C5E08B1-D6FC-4045-B482-500474653204}"/>
              </a:ext>
            </a:extLst>
          </p:cNvPr>
          <p:cNvSpPr>
            <a:spLocks noGrp="1"/>
          </p:cNvSpPr>
          <p:nvPr/>
        </p:nvSpPr>
        <p:spPr>
          <a:xfrm>
            <a:off x="990600" y="3524250"/>
            <a:ext cx="4286250" cy="361950"/>
          </a:xfrm>
          <a:prstGeom prst="rect">
            <a:avLst/>
          </a:prstGeom>
          <a:noFill/>
          <a:ln w="0">
            <a:noFill/>
            <a:prstDash val="solid"/>
          </a:ln>
        </p:spPr>
        <p:txBody>
          <a:bodyPr wrap="square" lIns="0" tIns="0" rIns="0" bIns="0" anchor="t">
            <a:noAutofit/>
          </a:bodyPr>
          <a:lstStyle/>
          <a:p>
            <a:pPr algn="l">
              <a:buNone/>
              <a:defRPr sz="1350" b="0">
                <a:solidFill>
                  <a:srgbClr val="5B6577"/>
                </a:solidFill>
                <a:latin typeface="Arial"/>
                <a:ea typeface="Arial"/>
                <a:cs typeface="Arial"/>
              </a:defRPr>
            </a:pPr>
            <a:r>
              <a:rPr sz="1350" b="0">
                <a:solidFill>
                  <a:srgbClr val="5B6577"/>
                </a:solidFill>
                <a:latin typeface="Arial"/>
                <a:ea typeface="Arial"/>
                <a:cs typeface="Arial"/>
              </a:rPr>
              <a:t>Inspectable predictions · gradients · fold-aware checkpoints</a:t>
            </a:r>
          </a:p>
        </p:txBody>
      </p:sp>
      <p:sp>
        <p:nvSpPr>
          <p:cNvPr id="10" name="Rettangolo con angoli arrotondati 9">
            <a:extLst>
              <a:ext uri="{FF2B5EF4-FFF2-40B4-BE49-F238E27FC236}">
                <a16:creationId xmlns:a16="http://schemas.microsoft.com/office/drawing/2014/main" id="{98A93300-E588-4524-BF87-E02F18B50A9D}"/>
              </a:ext>
            </a:extLst>
          </p:cNvPr>
          <p:cNvSpPr>
            <a:spLocks noGrp="1"/>
          </p:cNvSpPr>
          <p:nvPr/>
        </p:nvSpPr>
        <p:spPr>
          <a:xfrm>
            <a:off x="6362700" y="1409700"/>
            <a:ext cx="5143500" cy="2705100"/>
          </a:xfrm>
          <a:prstGeom prst="roundRect">
            <a:avLst>
              <a:gd name="adj" fmla="val 6338"/>
            </a:avLst>
          </a:prstGeom>
          <a:solidFill>
            <a:srgbClr val="FFFFFF"/>
          </a:solidFill>
          <a:ln w="9525">
            <a:solidFill>
              <a:srgbClr val="D9DEE8"/>
            </a:solidFill>
            <a:prstDash val="solid"/>
          </a:ln>
        </p:spPr>
        <p:txBody>
          <a:bodyPr/>
          <a:lstStyle/>
          <a:p>
            <a:endParaRPr lang="it-IT"/>
          </a:p>
        </p:txBody>
      </p:sp>
      <p:sp>
        <p:nvSpPr>
          <p:cNvPr id="11" name="Rettangolo 10">
            <a:extLst>
              <a:ext uri="{FF2B5EF4-FFF2-40B4-BE49-F238E27FC236}">
                <a16:creationId xmlns:a16="http://schemas.microsoft.com/office/drawing/2014/main" id="{56EC00C9-A240-4103-BF94-6EB97877400B}"/>
              </a:ext>
            </a:extLst>
          </p:cNvPr>
          <p:cNvSpPr>
            <a:spLocks noGrp="1"/>
          </p:cNvSpPr>
          <p:nvPr/>
        </p:nvSpPr>
        <p:spPr>
          <a:xfrm>
            <a:off x="6667500" y="1657350"/>
            <a:ext cx="4533900" cy="285750"/>
          </a:xfrm>
          <a:prstGeom prst="rect">
            <a:avLst/>
          </a:prstGeom>
          <a:noFill/>
          <a:ln w="0">
            <a:noFill/>
            <a:prstDash val="solid"/>
          </a:ln>
        </p:spPr>
        <p:txBody>
          <a:bodyPr wrap="square" lIns="0" tIns="0" rIns="0" bIns="0" anchor="t">
            <a:noAutofit/>
          </a:bodyPr>
          <a:lstStyle/>
          <a:p>
            <a:pPr algn="l">
              <a:buNone/>
              <a:defRPr sz="1350" b="1">
                <a:solidFill>
                  <a:srgbClr val="233A70"/>
                </a:solidFill>
                <a:latin typeface="Arial"/>
                <a:ea typeface="Arial"/>
                <a:cs typeface="Arial"/>
              </a:defRPr>
            </a:pPr>
            <a:r>
              <a:rPr sz="1350" b="1">
                <a:solidFill>
                  <a:srgbClr val="233A70"/>
                </a:solidFill>
                <a:latin typeface="Arial"/>
                <a:ea typeface="Arial"/>
                <a:cs typeface="Arial"/>
              </a:rPr>
              <a:t>BLACK-BOX SOFTWARE · 4 SYSTEMS / 6 CONFIGURATIONS</a:t>
            </a:r>
          </a:p>
        </p:txBody>
      </p:sp>
      <p:sp>
        <p:nvSpPr>
          <p:cNvPr id="12" name="Rettangolo 11">
            <a:extLst>
              <a:ext uri="{FF2B5EF4-FFF2-40B4-BE49-F238E27FC236}">
                <a16:creationId xmlns:a16="http://schemas.microsoft.com/office/drawing/2014/main" id="{4EB6323D-5229-4FB7-99FB-3FC21DAEEEBD}"/>
              </a:ext>
            </a:extLst>
          </p:cNvPr>
          <p:cNvSpPr>
            <a:spLocks noGrp="1"/>
          </p:cNvSpPr>
          <p:nvPr/>
        </p:nvSpPr>
        <p:spPr>
          <a:xfrm>
            <a:off x="6667500" y="2114550"/>
            <a:ext cx="4333875" cy="1428750"/>
          </a:xfrm>
          <a:prstGeom prst="rect">
            <a:avLst/>
          </a:prstGeom>
          <a:noFill/>
          <a:ln w="0">
            <a:noFill/>
            <a:prstDash val="solid"/>
          </a:ln>
        </p:spPr>
        <p:txBody>
          <a:bodyPr wrap="square" lIns="0" tIns="0" rIns="0" bIns="0" anchor="t">
            <a:noAutofit/>
          </a:bodyPr>
          <a:lstStyle/>
          <a:p>
            <a:pPr algn="l">
              <a:buNone/>
              <a:defRPr sz="1725" b="1">
                <a:solidFill>
                  <a:srgbClr val="172033"/>
                </a:solidFill>
                <a:latin typeface="Arial"/>
                <a:ea typeface="Arial"/>
                <a:cs typeface="Arial"/>
              </a:defRPr>
            </a:pPr>
            <a:r>
              <a:rPr sz="1725" b="1">
                <a:solidFill>
                  <a:srgbClr val="172033"/>
                </a:solidFill>
                <a:latin typeface="Arial"/>
                <a:ea typeface="Arial"/>
                <a:cs typeface="Arial"/>
              </a:rPr>
              <a:t>Magnet AXIOM / Magnet.AI</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Excire Foto 2025 · D20 / D50 / D80</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Cellebrite Inseyets</a:t>
            </a:r>
          </a:p>
          <a:p>
            <a:pPr algn="l">
              <a:buNone/>
              <a:defRPr sz="1725" b="1">
                <a:solidFill>
                  <a:srgbClr val="172033"/>
                </a:solidFill>
                <a:latin typeface="Arial"/>
                <a:ea typeface="Arial"/>
                <a:cs typeface="Arial"/>
              </a:defRPr>
            </a:pPr>
            <a:r>
              <a:rPr sz="1725" b="1">
                <a:solidFill>
                  <a:srgbClr val="172033"/>
                </a:solidFill>
                <a:latin typeface="Arial"/>
                <a:ea typeface="Arial"/>
                <a:cs typeface="Arial"/>
              </a:rPr>
              <a:t>Magnet Griffeye / T3K CORE</a:t>
            </a:r>
          </a:p>
        </p:txBody>
      </p:sp>
      <p:sp>
        <p:nvSpPr>
          <p:cNvPr id="13" name="Rettangolo 12">
            <a:extLst>
              <a:ext uri="{FF2B5EF4-FFF2-40B4-BE49-F238E27FC236}">
                <a16:creationId xmlns:a16="http://schemas.microsoft.com/office/drawing/2014/main" id="{1940F821-DB94-4198-A67D-0F34539A9B01}"/>
              </a:ext>
            </a:extLst>
          </p:cNvPr>
          <p:cNvSpPr>
            <a:spLocks noGrp="1"/>
          </p:cNvSpPr>
          <p:nvPr/>
        </p:nvSpPr>
        <p:spPr>
          <a:xfrm>
            <a:off x="6667500" y="3657600"/>
            <a:ext cx="4286250" cy="323850"/>
          </a:xfrm>
          <a:prstGeom prst="rect">
            <a:avLst/>
          </a:prstGeom>
          <a:noFill/>
          <a:ln w="0">
            <a:noFill/>
            <a:prstDash val="solid"/>
          </a:ln>
        </p:spPr>
        <p:txBody>
          <a:bodyPr wrap="square" lIns="0" tIns="0" rIns="0" bIns="0" anchor="t">
            <a:noAutofit/>
          </a:bodyPr>
          <a:lstStyle/>
          <a:p>
            <a:pPr algn="l">
              <a:buNone/>
              <a:defRPr sz="1350" b="0">
                <a:solidFill>
                  <a:srgbClr val="5B6577"/>
                </a:solidFill>
                <a:latin typeface="Arial"/>
                <a:ea typeface="Arial"/>
                <a:cs typeface="Arial"/>
              </a:defRPr>
            </a:pPr>
            <a:r>
              <a:rPr sz="1350" b="0">
                <a:solidFill>
                  <a:srgbClr val="5B6577"/>
                </a:solidFill>
                <a:latin typeface="Arial"/>
                <a:ea typeface="Arial"/>
                <a:cs typeface="Arial"/>
              </a:rPr>
              <a:t>Observable tags · bookmarks · labels · semantic retrieval</a:t>
            </a:r>
          </a:p>
        </p:txBody>
      </p:sp>
      <p:sp>
        <p:nvSpPr>
          <p:cNvPr id="14" name="Rettangolo 13">
            <a:extLst>
              <a:ext uri="{FF2B5EF4-FFF2-40B4-BE49-F238E27FC236}">
                <a16:creationId xmlns:a16="http://schemas.microsoft.com/office/drawing/2014/main" id="{88C109F7-273D-459C-BB14-90A9205313D4}"/>
              </a:ext>
            </a:extLst>
          </p:cNvPr>
          <p:cNvSpPr>
            <a:spLocks noGrp="1"/>
          </p:cNvSpPr>
          <p:nvPr/>
        </p:nvSpPr>
        <p:spPr>
          <a:xfrm>
            <a:off x="685800" y="4457700"/>
            <a:ext cx="10820400" cy="24765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THREAT-MODEL PATHS</a:t>
            </a:r>
          </a:p>
        </p:txBody>
      </p:sp>
      <p:sp>
        <p:nvSpPr>
          <p:cNvPr id="15" name="Rettangolo con angoli arrotondati 14">
            <a:extLst>
              <a:ext uri="{FF2B5EF4-FFF2-40B4-BE49-F238E27FC236}">
                <a16:creationId xmlns:a16="http://schemas.microsoft.com/office/drawing/2014/main" id="{D0FAD262-96F1-4338-83F7-F0766FE9CDD5}"/>
              </a:ext>
            </a:extLst>
          </p:cNvPr>
          <p:cNvSpPr>
            <a:spLocks noGrp="1"/>
          </p:cNvSpPr>
          <p:nvPr/>
        </p:nvSpPr>
        <p:spPr>
          <a:xfrm>
            <a:off x="685800" y="4857750"/>
            <a:ext cx="3505200" cy="1104900"/>
          </a:xfrm>
          <a:prstGeom prst="roundRect">
            <a:avLst>
              <a:gd name="adj" fmla="val 12069"/>
            </a:avLst>
          </a:prstGeom>
          <a:solidFill>
            <a:srgbClr val="FBEAEA"/>
          </a:solidFill>
          <a:ln w="0">
            <a:noFill/>
            <a:prstDash val="solid"/>
          </a:ln>
        </p:spPr>
        <p:txBody>
          <a:bodyPr/>
          <a:lstStyle/>
          <a:p>
            <a:endParaRPr lang="it-IT"/>
          </a:p>
        </p:txBody>
      </p:sp>
      <p:sp>
        <p:nvSpPr>
          <p:cNvPr id="16" name="Rettangolo 15">
            <a:extLst>
              <a:ext uri="{FF2B5EF4-FFF2-40B4-BE49-F238E27FC236}">
                <a16:creationId xmlns:a16="http://schemas.microsoft.com/office/drawing/2014/main" id="{A1BC2A9B-3EA3-421B-B9EF-D8552CAA31A6}"/>
              </a:ext>
            </a:extLst>
          </p:cNvPr>
          <p:cNvSpPr>
            <a:spLocks noGrp="1"/>
          </p:cNvSpPr>
          <p:nvPr/>
        </p:nvSpPr>
        <p:spPr>
          <a:xfrm>
            <a:off x="8572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BE3C37"/>
                </a:solidFill>
                <a:latin typeface="Arial"/>
                <a:ea typeface="Arial"/>
                <a:cs typeface="Arial"/>
              </a:defRPr>
            </a:pPr>
            <a:r>
              <a:rPr sz="1350" b="1">
                <a:solidFill>
                  <a:srgbClr val="BE3C37"/>
                </a:solidFill>
                <a:latin typeface="Arial"/>
                <a:ea typeface="Arial"/>
                <a:cs typeface="Arial"/>
              </a:rPr>
              <a:t>DIRECT TARGET</a:t>
            </a:r>
          </a:p>
        </p:txBody>
      </p:sp>
      <p:sp>
        <p:nvSpPr>
          <p:cNvPr id="17" name="Rettangolo 16">
            <a:extLst>
              <a:ext uri="{FF2B5EF4-FFF2-40B4-BE49-F238E27FC236}">
                <a16:creationId xmlns:a16="http://schemas.microsoft.com/office/drawing/2014/main" id="{F37C7E16-C6EA-40E2-8936-26BD745EF6C6}"/>
              </a:ext>
            </a:extLst>
          </p:cNvPr>
          <p:cNvSpPr>
            <a:spLocks noGrp="1"/>
          </p:cNvSpPr>
          <p:nvPr/>
        </p:nvSpPr>
        <p:spPr>
          <a:xfrm>
            <a:off x="9144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Model-dependent attacks evaluated on EfficientNet-B0</a:t>
            </a:r>
          </a:p>
        </p:txBody>
      </p:sp>
      <p:sp>
        <p:nvSpPr>
          <p:cNvPr id="18" name="Rettangolo con angoli arrotondati 17">
            <a:extLst>
              <a:ext uri="{FF2B5EF4-FFF2-40B4-BE49-F238E27FC236}">
                <a16:creationId xmlns:a16="http://schemas.microsoft.com/office/drawing/2014/main" id="{FC128AEF-92C5-4E35-BDB3-6D38879C6AD4}"/>
              </a:ext>
            </a:extLst>
          </p:cNvPr>
          <p:cNvSpPr>
            <a:spLocks noGrp="1"/>
          </p:cNvSpPr>
          <p:nvPr/>
        </p:nvSpPr>
        <p:spPr>
          <a:xfrm>
            <a:off x="4343400" y="4857750"/>
            <a:ext cx="3505200" cy="1104900"/>
          </a:xfrm>
          <a:prstGeom prst="roundRect">
            <a:avLst>
              <a:gd name="adj" fmla="val 12069"/>
            </a:avLst>
          </a:prstGeom>
          <a:solidFill>
            <a:srgbClr val="FFF4CD"/>
          </a:solidFill>
          <a:ln w="0">
            <a:noFill/>
            <a:prstDash val="solid"/>
          </a:ln>
        </p:spPr>
        <p:txBody>
          <a:bodyPr/>
          <a:lstStyle/>
          <a:p>
            <a:endParaRPr lang="it-IT"/>
          </a:p>
        </p:txBody>
      </p:sp>
      <p:sp>
        <p:nvSpPr>
          <p:cNvPr id="19" name="Rettangolo 18">
            <a:extLst>
              <a:ext uri="{FF2B5EF4-FFF2-40B4-BE49-F238E27FC236}">
                <a16:creationId xmlns:a16="http://schemas.microsoft.com/office/drawing/2014/main" id="{2CE88DA7-3406-417C-9434-A21622865CD5}"/>
              </a:ext>
            </a:extLst>
          </p:cNvPr>
          <p:cNvSpPr>
            <a:spLocks noGrp="1"/>
          </p:cNvSpPr>
          <p:nvPr/>
        </p:nvSpPr>
        <p:spPr>
          <a:xfrm>
            <a:off x="45148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EMPIRICAL TRANSFER</a:t>
            </a:r>
          </a:p>
        </p:txBody>
      </p:sp>
      <p:sp>
        <p:nvSpPr>
          <p:cNvPr id="20" name="Rettangolo 19">
            <a:extLst>
              <a:ext uri="{FF2B5EF4-FFF2-40B4-BE49-F238E27FC236}">
                <a16:creationId xmlns:a16="http://schemas.microsoft.com/office/drawing/2014/main" id="{3B11CD2C-E9E6-4F62-8369-743441D1FC5E}"/>
              </a:ext>
            </a:extLst>
          </p:cNvPr>
          <p:cNvSpPr>
            <a:spLocks noGrp="1"/>
          </p:cNvSpPr>
          <p:nvPr/>
        </p:nvSpPr>
        <p:spPr>
          <a:xfrm>
            <a:off x="45720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The same artifacts applied to non-target systems</a:t>
            </a:r>
          </a:p>
        </p:txBody>
      </p:sp>
      <p:sp>
        <p:nvSpPr>
          <p:cNvPr id="21" name="Rettangolo con angoli arrotondati 20">
            <a:extLst>
              <a:ext uri="{FF2B5EF4-FFF2-40B4-BE49-F238E27FC236}">
                <a16:creationId xmlns:a16="http://schemas.microsoft.com/office/drawing/2014/main" id="{67DA1114-C657-4C88-BA6D-0A11C4C0C09D}"/>
              </a:ext>
            </a:extLst>
          </p:cNvPr>
          <p:cNvSpPr>
            <a:spLocks noGrp="1"/>
          </p:cNvSpPr>
          <p:nvPr/>
        </p:nvSpPr>
        <p:spPr>
          <a:xfrm>
            <a:off x="8001000" y="4857750"/>
            <a:ext cx="3505200" cy="1104900"/>
          </a:xfrm>
          <a:prstGeom prst="roundRect">
            <a:avLst>
              <a:gd name="adj" fmla="val 12069"/>
            </a:avLst>
          </a:prstGeom>
          <a:solidFill>
            <a:srgbClr val="E7F8F0"/>
          </a:solidFill>
          <a:ln w="0">
            <a:noFill/>
            <a:prstDash val="solid"/>
          </a:ln>
        </p:spPr>
        <p:txBody>
          <a:bodyPr/>
          <a:lstStyle/>
          <a:p>
            <a:endParaRPr lang="it-IT"/>
          </a:p>
        </p:txBody>
      </p:sp>
      <p:sp>
        <p:nvSpPr>
          <p:cNvPr id="22" name="Rettangolo 21">
            <a:extLst>
              <a:ext uri="{FF2B5EF4-FFF2-40B4-BE49-F238E27FC236}">
                <a16:creationId xmlns:a16="http://schemas.microsoft.com/office/drawing/2014/main" id="{28CECFA8-8A49-4567-8CE6-BD12F2E08422}"/>
              </a:ext>
            </a:extLst>
          </p:cNvPr>
          <p:cNvSpPr>
            <a:spLocks noGrp="1"/>
          </p:cNvSpPr>
          <p:nvPr/>
        </p:nvSpPr>
        <p:spPr>
          <a:xfrm>
            <a:off x="8172450" y="5029200"/>
            <a:ext cx="3162300" cy="22860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MODEL-AGNOSTIC</a:t>
            </a:r>
          </a:p>
        </p:txBody>
      </p:sp>
      <p:sp>
        <p:nvSpPr>
          <p:cNvPr id="23" name="Rettangolo 22">
            <a:extLst>
              <a:ext uri="{FF2B5EF4-FFF2-40B4-BE49-F238E27FC236}">
                <a16:creationId xmlns:a16="http://schemas.microsoft.com/office/drawing/2014/main" id="{C604F757-AFD3-46F8-BFBF-FDE0793FAF4D}"/>
              </a:ext>
            </a:extLst>
          </p:cNvPr>
          <p:cNvSpPr>
            <a:spLocks noGrp="1"/>
          </p:cNvSpPr>
          <p:nvPr/>
        </p:nvSpPr>
        <p:spPr>
          <a:xfrm>
            <a:off x="8229600" y="5391150"/>
            <a:ext cx="3048000" cy="400050"/>
          </a:xfrm>
          <a:prstGeom prst="rect">
            <a:avLst/>
          </a:prstGeom>
          <a:noFill/>
          <a:ln w="0">
            <a:noFill/>
            <a:prstDash val="solid"/>
          </a:ln>
        </p:spPr>
        <p:txBody>
          <a:bodyPr wrap="square" lIns="0" tIns="0" rIns="0" bIns="0" anchor="ctr">
            <a:noAutofit/>
          </a:bodyPr>
          <a:lstStyle/>
          <a:p>
            <a:pPr algn="ctr">
              <a:buNone/>
              <a:defRPr sz="1350" b="0">
                <a:solidFill>
                  <a:srgbClr val="172033"/>
                </a:solidFill>
                <a:latin typeface="Arial"/>
                <a:ea typeface="Arial"/>
                <a:cs typeface="Arial"/>
              </a:defRPr>
            </a:pPr>
            <a:r>
              <a:rPr sz="1350" b="0">
                <a:solidFill>
                  <a:srgbClr val="172033"/>
                </a:solidFill>
                <a:latin typeface="Arial"/>
                <a:ea typeface="Arial"/>
                <a:cs typeface="Arial"/>
              </a:rPr>
              <a:t>Color Shift and five anti-forensic transformations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7" name="Rettangolo 26">
            <a:extLst>
              <a:ext uri="{FF2B5EF4-FFF2-40B4-BE49-F238E27FC236}">
                <a16:creationId xmlns:a16="http://schemas.microsoft.com/office/drawing/2014/main" id="{81E6EA5E-1BA3-4F66-A39C-B36EC754644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F030D2A4-C965-47CF-8557-481DDBF7BAD0}"/>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Explicit mappings enable comparison</a:t>
            </a:r>
          </a:p>
        </p:txBody>
      </p:sp>
      <p:sp>
        <p:nvSpPr>
          <p:cNvPr id="3" name="Rettangolo 2">
            <a:extLst>
              <a:ext uri="{FF2B5EF4-FFF2-40B4-BE49-F238E27FC236}">
                <a16:creationId xmlns:a16="http://schemas.microsoft.com/office/drawing/2014/main" id="{574AC689-33AE-4188-BD30-A98CE3C1F13C}"/>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89D44508-8BE4-44DA-A23D-C69ABEFD103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9874DB88-CD45-410D-B418-22DA962B98FC}"/>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11</a:t>
            </a:r>
          </a:p>
        </p:txBody>
      </p:sp>
      <p:sp>
        <p:nvSpPr>
          <p:cNvPr id="6" name="Rettangolo 5">
            <a:extLst>
              <a:ext uri="{FF2B5EF4-FFF2-40B4-BE49-F238E27FC236}">
                <a16:creationId xmlns:a16="http://schemas.microsoft.com/office/drawing/2014/main" id="{C4E232F5-EA03-4FB1-8CD5-60017B2B3666}"/>
              </a:ext>
            </a:extLst>
          </p:cNvPr>
          <p:cNvSpPr>
            <a:spLocks noGrp="1"/>
          </p:cNvSpPr>
          <p:nvPr/>
        </p:nvSpPr>
        <p:spPr>
          <a:xfrm>
            <a:off x="1733550" y="2266950"/>
            <a:ext cx="8724900" cy="57150"/>
          </a:xfrm>
          <a:prstGeom prst="rect">
            <a:avLst/>
          </a:prstGeom>
          <a:solidFill>
            <a:srgbClr val="D9DEE8"/>
          </a:solidFill>
          <a:ln w="0">
            <a:noFill/>
            <a:prstDash val="solid"/>
          </a:ln>
        </p:spPr>
        <p:txBody>
          <a:bodyPr/>
          <a:lstStyle/>
          <a:p>
            <a:endParaRPr lang="it-IT"/>
          </a:p>
        </p:txBody>
      </p:sp>
      <p:sp>
        <p:nvSpPr>
          <p:cNvPr id="7" name="Rettangolo con angoli arrotondati 6">
            <a:extLst>
              <a:ext uri="{FF2B5EF4-FFF2-40B4-BE49-F238E27FC236}">
                <a16:creationId xmlns:a16="http://schemas.microsoft.com/office/drawing/2014/main" id="{A546D0B0-58E3-4310-ABD1-CC65AA1F65B9}"/>
              </a:ext>
            </a:extLst>
          </p:cNvPr>
          <p:cNvSpPr>
            <a:spLocks noGrp="1"/>
          </p:cNvSpPr>
          <p:nvPr/>
        </p:nvSpPr>
        <p:spPr>
          <a:xfrm>
            <a:off x="685800" y="1657350"/>
            <a:ext cx="2667000" cy="1257300"/>
          </a:xfrm>
          <a:prstGeom prst="roundRect">
            <a:avLst>
              <a:gd name="adj" fmla="val 12121"/>
            </a:avLst>
          </a:prstGeom>
          <a:solidFill>
            <a:srgbClr val="FFFFFF"/>
          </a:solidFill>
          <a:ln w="9525">
            <a:solidFill>
              <a:srgbClr val="D9DEE8"/>
            </a:solidFill>
            <a:prstDash val="solid"/>
          </a:ln>
        </p:spPr>
        <p:txBody>
          <a:bodyPr/>
          <a:lstStyle/>
          <a:p>
            <a:endParaRPr lang="it-IT"/>
          </a:p>
        </p:txBody>
      </p:sp>
      <p:sp>
        <p:nvSpPr>
          <p:cNvPr id="8" name="Rettangolo 7">
            <a:extLst>
              <a:ext uri="{FF2B5EF4-FFF2-40B4-BE49-F238E27FC236}">
                <a16:creationId xmlns:a16="http://schemas.microsoft.com/office/drawing/2014/main" id="{A81CFEC4-5E35-4C15-A807-197F3453E411}"/>
              </a:ext>
            </a:extLst>
          </p:cNvPr>
          <p:cNvSpPr>
            <a:spLocks noGrp="1"/>
          </p:cNvSpPr>
          <p:nvPr/>
        </p:nvSpPr>
        <p:spPr>
          <a:xfrm>
            <a:off x="8572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Observable outputs</a:t>
            </a:r>
          </a:p>
        </p:txBody>
      </p:sp>
      <p:sp>
        <p:nvSpPr>
          <p:cNvPr id="9" name="Rettangolo 8">
            <a:extLst>
              <a:ext uri="{FF2B5EF4-FFF2-40B4-BE49-F238E27FC236}">
                <a16:creationId xmlns:a16="http://schemas.microsoft.com/office/drawing/2014/main" id="{0C82864D-2992-412D-87C9-C8116242CB92}"/>
              </a:ext>
            </a:extLst>
          </p:cNvPr>
          <p:cNvSpPr>
            <a:spLocks noGrp="1"/>
          </p:cNvSpPr>
          <p:nvPr/>
        </p:nvSpPr>
        <p:spPr>
          <a:xfrm>
            <a:off x="8572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tags · bookmarks · labels · retrieval</a:t>
            </a:r>
          </a:p>
        </p:txBody>
      </p:sp>
      <p:sp>
        <p:nvSpPr>
          <p:cNvPr id="10" name="Rettangolo con angoli arrotondati 9">
            <a:extLst>
              <a:ext uri="{FF2B5EF4-FFF2-40B4-BE49-F238E27FC236}">
                <a16:creationId xmlns:a16="http://schemas.microsoft.com/office/drawing/2014/main" id="{52BB320A-88DF-4212-9748-1A81E55A6509}"/>
              </a:ext>
            </a:extLst>
          </p:cNvPr>
          <p:cNvSpPr>
            <a:spLocks noGrp="1"/>
          </p:cNvSpPr>
          <p:nvPr/>
        </p:nvSpPr>
        <p:spPr>
          <a:xfrm>
            <a:off x="4762500" y="1657350"/>
            <a:ext cx="2667000" cy="1257300"/>
          </a:xfrm>
          <a:prstGeom prst="roundRect">
            <a:avLst>
              <a:gd name="adj" fmla="val 12121"/>
            </a:avLst>
          </a:prstGeom>
          <a:solidFill>
            <a:srgbClr val="E9EEF8"/>
          </a:solidFill>
          <a:ln w="9525">
            <a:solidFill>
              <a:srgbClr val="E9EEF8"/>
            </a:solidFill>
            <a:prstDash val="solid"/>
          </a:ln>
        </p:spPr>
        <p:txBody>
          <a:bodyPr/>
          <a:lstStyle/>
          <a:p>
            <a:endParaRPr lang="it-IT"/>
          </a:p>
        </p:txBody>
      </p:sp>
      <p:sp>
        <p:nvSpPr>
          <p:cNvPr id="11" name="Rettangolo 10">
            <a:extLst>
              <a:ext uri="{FF2B5EF4-FFF2-40B4-BE49-F238E27FC236}">
                <a16:creationId xmlns:a16="http://schemas.microsoft.com/office/drawing/2014/main" id="{FD74F8E5-4D60-416B-B482-9CAE4E4D1E2F}"/>
              </a:ext>
            </a:extLst>
          </p:cNvPr>
          <p:cNvSpPr>
            <a:spLocks noGrp="1"/>
          </p:cNvSpPr>
          <p:nvPr/>
        </p:nvSpPr>
        <p:spPr>
          <a:xfrm>
            <a:off x="49339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Output mapping</a:t>
            </a:r>
          </a:p>
        </p:txBody>
      </p:sp>
      <p:sp>
        <p:nvSpPr>
          <p:cNvPr id="12" name="Rettangolo 11">
            <a:extLst>
              <a:ext uri="{FF2B5EF4-FFF2-40B4-BE49-F238E27FC236}">
                <a16:creationId xmlns:a16="http://schemas.microsoft.com/office/drawing/2014/main" id="{6EB043F8-9E47-4F79-A3FB-61719463254C}"/>
              </a:ext>
            </a:extLst>
          </p:cNvPr>
          <p:cNvSpPr>
            <a:spLocks noGrp="1"/>
          </p:cNvSpPr>
          <p:nvPr/>
        </p:nvSpPr>
        <p:spPr>
          <a:xfrm>
            <a:off x="49339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version + configuration + export semantics</a:t>
            </a:r>
          </a:p>
        </p:txBody>
      </p:sp>
      <p:sp>
        <p:nvSpPr>
          <p:cNvPr id="13" name="Rettangolo con angoli arrotondati 12">
            <a:extLst>
              <a:ext uri="{FF2B5EF4-FFF2-40B4-BE49-F238E27FC236}">
                <a16:creationId xmlns:a16="http://schemas.microsoft.com/office/drawing/2014/main" id="{3BB1E76B-72A2-4DBC-842E-AEA144C0BA95}"/>
              </a:ext>
            </a:extLst>
          </p:cNvPr>
          <p:cNvSpPr>
            <a:spLocks noGrp="1"/>
          </p:cNvSpPr>
          <p:nvPr/>
        </p:nvSpPr>
        <p:spPr>
          <a:xfrm>
            <a:off x="8839200" y="1657350"/>
            <a:ext cx="2667000" cy="1257300"/>
          </a:xfrm>
          <a:prstGeom prst="roundRect">
            <a:avLst>
              <a:gd name="adj" fmla="val 12121"/>
            </a:avLst>
          </a:prstGeom>
          <a:solidFill>
            <a:srgbClr val="FFFFFF"/>
          </a:solidFill>
          <a:ln w="9525">
            <a:solidFill>
              <a:srgbClr val="D9DEE8"/>
            </a:solidFill>
            <a:prstDash val="solid"/>
          </a:ln>
        </p:spPr>
        <p:txBody>
          <a:bodyPr/>
          <a:lstStyle/>
          <a:p>
            <a:endParaRPr lang="it-IT"/>
          </a:p>
        </p:txBody>
      </p:sp>
      <p:sp>
        <p:nvSpPr>
          <p:cNvPr id="14" name="Rettangolo 13">
            <a:extLst>
              <a:ext uri="{FF2B5EF4-FFF2-40B4-BE49-F238E27FC236}">
                <a16:creationId xmlns:a16="http://schemas.microsoft.com/office/drawing/2014/main" id="{A556E7B6-FC90-493A-BF1D-397EFBDE7A22}"/>
              </a:ext>
            </a:extLst>
          </p:cNvPr>
          <p:cNvSpPr>
            <a:spLocks noGrp="1"/>
          </p:cNvSpPr>
          <p:nvPr/>
        </p:nvSpPr>
        <p:spPr>
          <a:xfrm>
            <a:off x="9010650" y="1885950"/>
            <a:ext cx="23241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Operational states</a:t>
            </a:r>
          </a:p>
        </p:txBody>
      </p:sp>
      <p:sp>
        <p:nvSpPr>
          <p:cNvPr id="15" name="Rettangolo 14">
            <a:extLst>
              <a:ext uri="{FF2B5EF4-FFF2-40B4-BE49-F238E27FC236}">
                <a16:creationId xmlns:a16="http://schemas.microsoft.com/office/drawing/2014/main" id="{7D3EA51E-91B9-4C0F-9EBE-F9DF968A206F}"/>
              </a:ext>
            </a:extLst>
          </p:cNvPr>
          <p:cNvSpPr>
            <a:spLocks noGrp="1"/>
          </p:cNvSpPr>
          <p:nvPr/>
        </p:nvSpPr>
        <p:spPr>
          <a:xfrm>
            <a:off x="9010650" y="2343150"/>
            <a:ext cx="2324100" cy="361950"/>
          </a:xfrm>
          <a:prstGeom prst="rect">
            <a:avLst/>
          </a:prstGeom>
          <a:noFill/>
          <a:ln w="0">
            <a:noFill/>
            <a:prstDash val="solid"/>
          </a:ln>
        </p:spPr>
        <p:txBody>
          <a:bodyPr wrap="square" lIns="0" tIns="0" rIns="0" bIns="0" anchor="ctr">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 · non_weapon · unknown</a:t>
            </a:r>
          </a:p>
        </p:txBody>
      </p:sp>
      <p:sp>
        <p:nvSpPr>
          <p:cNvPr id="16" name="Rettangolo 15">
            <a:extLst>
              <a:ext uri="{FF2B5EF4-FFF2-40B4-BE49-F238E27FC236}">
                <a16:creationId xmlns:a16="http://schemas.microsoft.com/office/drawing/2014/main" id="{4063CCF0-7B01-49ED-91C7-126039BFBC3F}"/>
              </a:ext>
            </a:extLst>
          </p:cNvPr>
          <p:cNvSpPr>
            <a:spLocks noGrp="1"/>
          </p:cNvSpPr>
          <p:nvPr/>
        </p:nvSpPr>
        <p:spPr>
          <a:xfrm>
            <a:off x="3590925" y="1943100"/>
            <a:ext cx="838200" cy="533400"/>
          </a:xfrm>
          <a:prstGeom prst="rect">
            <a:avLst/>
          </a:prstGeom>
          <a:noFill/>
          <a:ln w="0">
            <a:noFill/>
            <a:prstDash val="solid"/>
          </a:ln>
        </p:spPr>
        <p:txBody>
          <a:bodyPr wrap="square" lIns="0" tIns="0" rIns="0" bIns="0" anchor="t">
            <a:noAutofit/>
          </a:bodyPr>
          <a:lstStyle/>
          <a:p>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7" name="Rettangolo 16">
            <a:extLst>
              <a:ext uri="{FF2B5EF4-FFF2-40B4-BE49-F238E27FC236}">
                <a16:creationId xmlns:a16="http://schemas.microsoft.com/office/drawing/2014/main" id="{2F1F406C-D78B-4AA1-80BA-9D9321429CEC}"/>
              </a:ext>
            </a:extLst>
          </p:cNvPr>
          <p:cNvSpPr>
            <a:spLocks noGrp="1"/>
          </p:cNvSpPr>
          <p:nvPr/>
        </p:nvSpPr>
        <p:spPr>
          <a:xfrm>
            <a:off x="7667625" y="1943100"/>
            <a:ext cx="838200" cy="533400"/>
          </a:xfrm>
          <a:prstGeom prst="rect">
            <a:avLst/>
          </a:prstGeom>
          <a:noFill/>
          <a:ln w="0">
            <a:noFill/>
            <a:prstDash val="solid"/>
          </a:ln>
        </p:spPr>
        <p:txBody>
          <a:bodyPr wrap="square" lIns="0" tIns="0" rIns="0" bIns="0" anchor="t">
            <a:noAutofit/>
          </a:bodyPr>
          <a:lstStyle/>
          <a:p>
            <a:pPr algn="ctr">
              <a:buNone/>
              <a:defRPr sz="3450" b="1">
                <a:solidFill>
                  <a:srgbClr val="233A70"/>
                </a:solidFill>
                <a:latin typeface="Arial"/>
                <a:ea typeface="Arial"/>
                <a:cs typeface="Arial"/>
              </a:defRPr>
            </a:pPr>
            <a:r>
              <a:rPr sz="3450" b="1">
                <a:solidFill>
                  <a:srgbClr val="233A70"/>
                </a:solidFill>
                <a:latin typeface="Arial"/>
                <a:ea typeface="Arial"/>
                <a:cs typeface="Arial"/>
              </a:rPr>
              <a:t>→</a:t>
            </a:r>
          </a:p>
        </p:txBody>
      </p:sp>
      <p:sp>
        <p:nvSpPr>
          <p:cNvPr id="18" name="Rettangolo 17">
            <a:extLst>
              <a:ext uri="{FF2B5EF4-FFF2-40B4-BE49-F238E27FC236}">
                <a16:creationId xmlns:a16="http://schemas.microsoft.com/office/drawing/2014/main" id="{91253F60-E8B5-495D-AEBF-8CC9D8FD6960}"/>
              </a:ext>
            </a:extLst>
          </p:cNvPr>
          <p:cNvSpPr>
            <a:spLocks noGrp="1"/>
          </p:cNvSpPr>
          <p:nvPr/>
        </p:nvSpPr>
        <p:spPr>
          <a:xfrm>
            <a:off x="1066800" y="3429000"/>
            <a:ext cx="4095750" cy="26670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MISSED-TARGET RISK</a:t>
            </a:r>
          </a:p>
        </p:txBody>
      </p:sp>
      <p:sp>
        <p:nvSpPr>
          <p:cNvPr id="19" name="Rettangolo 18">
            <a:extLst>
              <a:ext uri="{FF2B5EF4-FFF2-40B4-BE49-F238E27FC236}">
                <a16:creationId xmlns:a16="http://schemas.microsoft.com/office/drawing/2014/main" id="{BC8311FB-C066-4072-B667-B34AD4D0E420}"/>
              </a:ext>
            </a:extLst>
          </p:cNvPr>
          <p:cNvSpPr>
            <a:spLocks noGrp="1"/>
          </p:cNvSpPr>
          <p:nvPr/>
        </p:nvSpPr>
        <p:spPr>
          <a:xfrm>
            <a:off x="1066800" y="3829050"/>
            <a:ext cx="4095750" cy="609600"/>
          </a:xfrm>
          <a:prstGeom prst="rect">
            <a:avLst/>
          </a:prstGeom>
          <a:noFill/>
          <a:ln w="0">
            <a:noFill/>
            <a:prstDash val="solid"/>
          </a:ln>
        </p:spPr>
        <p:txBody>
          <a:bodyPr wrap="square" lIns="0" tIns="0" rIns="0" bIns="0" anchor="t">
            <a:noAutofit/>
          </a:bodyPr>
          <a:lstStyle/>
          <a:p>
            <a:pPr algn="ctr">
              <a:buNone/>
              <a:defRPr sz="4050" b="1">
                <a:solidFill>
                  <a:srgbClr val="BE3C37"/>
                </a:solidFill>
                <a:latin typeface="Arial"/>
                <a:ea typeface="Arial"/>
                <a:cs typeface="Arial"/>
              </a:defRPr>
            </a:pPr>
            <a:r>
              <a:rPr sz="4050" b="1">
                <a:solidFill>
                  <a:srgbClr val="BE3C37"/>
                </a:solidFill>
                <a:latin typeface="Arial"/>
                <a:ea typeface="Arial"/>
                <a:cs typeface="Arial"/>
              </a:rPr>
              <a:t>FNR</a:t>
            </a:r>
          </a:p>
        </p:txBody>
      </p:sp>
      <p:sp>
        <p:nvSpPr>
          <p:cNvPr id="20" name="Rettangolo 19">
            <a:extLst>
              <a:ext uri="{FF2B5EF4-FFF2-40B4-BE49-F238E27FC236}">
                <a16:creationId xmlns:a16="http://schemas.microsoft.com/office/drawing/2014/main" id="{97D0AD05-5F40-433E-89C0-32EEE5F2F868}"/>
              </a:ext>
            </a:extLst>
          </p:cNvPr>
          <p:cNvSpPr>
            <a:spLocks noGrp="1"/>
          </p:cNvSpPr>
          <p:nvPr/>
        </p:nvSpPr>
        <p:spPr>
          <a:xfrm>
            <a:off x="1066800" y="4514850"/>
            <a:ext cx="409575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weapon → non_weapon</a:t>
            </a:r>
          </a:p>
        </p:txBody>
      </p:sp>
      <p:sp>
        <p:nvSpPr>
          <p:cNvPr id="21" name="Rettangolo 20">
            <a:extLst>
              <a:ext uri="{FF2B5EF4-FFF2-40B4-BE49-F238E27FC236}">
                <a16:creationId xmlns:a16="http://schemas.microsoft.com/office/drawing/2014/main" id="{5E474FE5-9B28-42E6-B688-9EA5D69086EE}"/>
              </a:ext>
            </a:extLst>
          </p:cNvPr>
          <p:cNvSpPr>
            <a:spLocks noGrp="1"/>
          </p:cNvSpPr>
          <p:nvPr/>
        </p:nvSpPr>
        <p:spPr>
          <a:xfrm>
            <a:off x="6076950" y="3390900"/>
            <a:ext cx="28575" cy="1809750"/>
          </a:xfrm>
          <a:prstGeom prst="rect">
            <a:avLst/>
          </a:prstGeom>
          <a:solidFill>
            <a:srgbClr val="D9DEE8"/>
          </a:solidFill>
          <a:ln w="0">
            <a:noFill/>
            <a:prstDash val="solid"/>
          </a:ln>
        </p:spPr>
        <p:txBody>
          <a:bodyPr/>
          <a:lstStyle/>
          <a:p>
            <a:endParaRPr lang="it-IT"/>
          </a:p>
        </p:txBody>
      </p:sp>
      <p:sp>
        <p:nvSpPr>
          <p:cNvPr id="22" name="Rettangolo 21">
            <a:extLst>
              <a:ext uri="{FF2B5EF4-FFF2-40B4-BE49-F238E27FC236}">
                <a16:creationId xmlns:a16="http://schemas.microsoft.com/office/drawing/2014/main" id="{A074807C-4784-4903-B750-5BECA1BD3546}"/>
              </a:ext>
            </a:extLst>
          </p:cNvPr>
          <p:cNvSpPr>
            <a:spLocks noGrp="1"/>
          </p:cNvSpPr>
          <p:nvPr/>
        </p:nvSpPr>
        <p:spPr>
          <a:xfrm>
            <a:off x="7029450" y="3429000"/>
            <a:ext cx="4095750" cy="266700"/>
          </a:xfrm>
          <a:prstGeom prst="rect">
            <a:avLst/>
          </a:prstGeom>
          <a:noFill/>
          <a:ln w="0">
            <a:noFill/>
            <a:prstDash val="solid"/>
          </a:ln>
        </p:spPr>
        <p:txBody>
          <a:bodyPr wrap="square" lIns="0" tIns="0" rIns="0" bIns="0" anchor="t">
            <a:noAutofit/>
          </a:bodyPr>
          <a:lstStyle/>
          <a:p>
            <a:pPr algn="ctr">
              <a:buNone/>
              <a:defRPr sz="1425" b="1">
                <a:solidFill>
                  <a:srgbClr val="C89B14"/>
                </a:solidFill>
                <a:latin typeface="Arial"/>
                <a:ea typeface="Arial"/>
                <a:cs typeface="Arial"/>
              </a:defRPr>
            </a:pPr>
            <a:r>
              <a:rPr sz="1425" b="1">
                <a:solidFill>
                  <a:srgbClr val="C89B14"/>
                </a:solidFill>
                <a:latin typeface="Arial"/>
                <a:ea typeface="Arial"/>
                <a:cs typeface="Arial"/>
              </a:rPr>
              <a:t>REVIEW-WORKLOAD RISK</a:t>
            </a:r>
          </a:p>
        </p:txBody>
      </p:sp>
      <p:sp>
        <p:nvSpPr>
          <p:cNvPr id="23" name="Rettangolo 22">
            <a:extLst>
              <a:ext uri="{FF2B5EF4-FFF2-40B4-BE49-F238E27FC236}">
                <a16:creationId xmlns:a16="http://schemas.microsoft.com/office/drawing/2014/main" id="{5FC9D189-EFC1-4DC8-81D2-005B26D5BFA5}"/>
              </a:ext>
            </a:extLst>
          </p:cNvPr>
          <p:cNvSpPr>
            <a:spLocks noGrp="1"/>
          </p:cNvSpPr>
          <p:nvPr/>
        </p:nvSpPr>
        <p:spPr>
          <a:xfrm>
            <a:off x="7029450" y="3829050"/>
            <a:ext cx="4095750" cy="609600"/>
          </a:xfrm>
          <a:prstGeom prst="rect">
            <a:avLst/>
          </a:prstGeom>
          <a:noFill/>
          <a:ln w="0">
            <a:noFill/>
            <a:prstDash val="solid"/>
          </a:ln>
        </p:spPr>
        <p:txBody>
          <a:bodyPr wrap="square" lIns="0" tIns="0" rIns="0" bIns="0" anchor="t">
            <a:noAutofit/>
          </a:bodyPr>
          <a:lstStyle/>
          <a:p>
            <a:pPr algn="ctr">
              <a:buNone/>
              <a:defRPr sz="4050" b="1">
                <a:solidFill>
                  <a:srgbClr val="C89B14"/>
                </a:solidFill>
                <a:latin typeface="Arial"/>
                <a:ea typeface="Arial"/>
                <a:cs typeface="Arial"/>
              </a:defRPr>
            </a:pPr>
            <a:r>
              <a:rPr sz="4050" b="1">
                <a:solidFill>
                  <a:srgbClr val="C89B14"/>
                </a:solidFill>
                <a:latin typeface="Arial"/>
                <a:ea typeface="Arial"/>
                <a:cs typeface="Arial"/>
              </a:rPr>
              <a:t>FPR</a:t>
            </a:r>
          </a:p>
        </p:txBody>
      </p:sp>
      <p:sp>
        <p:nvSpPr>
          <p:cNvPr id="24" name="Rettangolo 23">
            <a:extLst>
              <a:ext uri="{FF2B5EF4-FFF2-40B4-BE49-F238E27FC236}">
                <a16:creationId xmlns:a16="http://schemas.microsoft.com/office/drawing/2014/main" id="{C1CE03FA-0D68-42C1-89E8-C743E7BB7F52}"/>
              </a:ext>
            </a:extLst>
          </p:cNvPr>
          <p:cNvSpPr>
            <a:spLocks noGrp="1"/>
          </p:cNvSpPr>
          <p:nvPr/>
        </p:nvSpPr>
        <p:spPr>
          <a:xfrm>
            <a:off x="7029450" y="4514850"/>
            <a:ext cx="4095750" cy="285750"/>
          </a:xfrm>
          <a:prstGeom prst="rect">
            <a:avLst/>
          </a:prstGeom>
          <a:noFill/>
          <a:ln w="0">
            <a:noFill/>
            <a:prstDash val="solid"/>
          </a:ln>
        </p:spPr>
        <p:txBody>
          <a:bodyPr wrap="square" lIns="0" tIns="0" rIns="0" bIns="0" anchor="t">
            <a:noAutofit/>
          </a:bodyPr>
          <a:lstStyle/>
          <a:p>
            <a:pPr algn="ctr">
              <a:buNone/>
              <a:defRPr sz="1800" b="1">
                <a:solidFill>
                  <a:srgbClr val="172033"/>
                </a:solidFill>
                <a:latin typeface="Arial"/>
                <a:ea typeface="Arial"/>
                <a:cs typeface="Arial"/>
              </a:defRPr>
            </a:pPr>
            <a:r>
              <a:rPr sz="1800" b="1">
                <a:solidFill>
                  <a:srgbClr val="172033"/>
                </a:solidFill>
                <a:latin typeface="Arial"/>
                <a:ea typeface="Arial"/>
                <a:cs typeface="Arial"/>
              </a:rPr>
              <a:t>non_weapon → weapon</a:t>
            </a:r>
          </a:p>
        </p:txBody>
      </p:sp>
      <p:sp>
        <p:nvSpPr>
          <p:cNvPr id="25" name="Rettangolo con angoli arrotondati 24">
            <a:extLst>
              <a:ext uri="{FF2B5EF4-FFF2-40B4-BE49-F238E27FC236}">
                <a16:creationId xmlns:a16="http://schemas.microsoft.com/office/drawing/2014/main" id="{679C6CA1-E422-4B3D-A1C4-68A1B04782DB}"/>
              </a:ext>
            </a:extLst>
          </p:cNvPr>
          <p:cNvSpPr>
            <a:spLocks noGrp="1"/>
          </p:cNvSpPr>
          <p:nvPr/>
        </p:nvSpPr>
        <p:spPr>
          <a:xfrm>
            <a:off x="1790700" y="5429250"/>
            <a:ext cx="8610600" cy="552450"/>
          </a:xfrm>
          <a:prstGeom prst="roundRect">
            <a:avLst>
              <a:gd name="adj" fmla="val 24138"/>
            </a:avLst>
          </a:prstGeom>
          <a:solidFill>
            <a:srgbClr val="E7F8F0"/>
          </a:solidFill>
          <a:ln w="0">
            <a:noFill/>
            <a:prstDash val="solid"/>
          </a:ln>
        </p:spPr>
        <p:txBody>
          <a:bodyPr/>
          <a:lstStyle/>
          <a:p>
            <a:endParaRPr lang="it-IT"/>
          </a:p>
        </p:txBody>
      </p:sp>
      <p:sp>
        <p:nvSpPr>
          <p:cNvPr id="26" name="Rettangolo 25">
            <a:extLst>
              <a:ext uri="{FF2B5EF4-FFF2-40B4-BE49-F238E27FC236}">
                <a16:creationId xmlns:a16="http://schemas.microsoft.com/office/drawing/2014/main" id="{9AC02F13-9E37-4088-8708-E1F14BE825A7}"/>
              </a:ext>
            </a:extLst>
          </p:cNvPr>
          <p:cNvSpPr>
            <a:spLocks noGrp="1"/>
          </p:cNvSpPr>
          <p:nvPr/>
        </p:nvSpPr>
        <p:spPr>
          <a:xfrm>
            <a:off x="2038350" y="5581650"/>
            <a:ext cx="8115300" cy="24765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OOD weapon-assignment rate is reported separately; no unknown state occurred in 69,000 normalized decisions.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35" name="Rettangolo 34">
            <a:extLst>
              <a:ext uri="{FF2B5EF4-FFF2-40B4-BE49-F238E27FC236}">
                <a16:creationId xmlns:a16="http://schemas.microsoft.com/office/drawing/2014/main" id="{B682DB6E-8EFB-4DA0-800D-68D826B1831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CC2FB14A-91A6-468C-9FBC-56EB8791369E}"/>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Direct-target collapse did not transfer uniformly</a:t>
            </a:r>
          </a:p>
        </p:txBody>
      </p:sp>
      <p:sp>
        <p:nvSpPr>
          <p:cNvPr id="3" name="Rettangolo 2">
            <a:extLst>
              <a:ext uri="{FF2B5EF4-FFF2-40B4-BE49-F238E27FC236}">
                <a16:creationId xmlns:a16="http://schemas.microsoft.com/office/drawing/2014/main" id="{C191ECC7-CDAF-4D9F-AF0A-FC4F6D1F8648}"/>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44E86AFB-EC30-4BB1-A97A-884CD498C0D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B1BC9993-142B-4F39-8B3D-F8FBFA60361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14</a:t>
            </a:r>
          </a:p>
        </p:txBody>
      </p:sp>
      <p:sp>
        <p:nvSpPr>
          <p:cNvPr id="6" name="Rettangolo 5">
            <a:extLst>
              <a:ext uri="{FF2B5EF4-FFF2-40B4-BE49-F238E27FC236}">
                <a16:creationId xmlns:a16="http://schemas.microsoft.com/office/drawing/2014/main" id="{16658F52-9BE9-415C-BF14-A5CB15AB43AB}"/>
              </a:ext>
            </a:extLst>
          </p:cNvPr>
          <p:cNvSpPr>
            <a:spLocks noGrp="1"/>
          </p:cNvSpPr>
          <p:nvPr/>
        </p:nvSpPr>
        <p:spPr>
          <a:xfrm>
            <a:off x="685800" y="1257300"/>
            <a:ext cx="108204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Worst observed adversarial condition per proxy; attacks were optimized only for EfficientNet-B0</a:t>
            </a:r>
          </a:p>
        </p:txBody>
      </p:sp>
      <p:sp>
        <p:nvSpPr>
          <p:cNvPr id="7" name="Rettangolo con angoli arrotondati 6">
            <a:extLst>
              <a:ext uri="{FF2B5EF4-FFF2-40B4-BE49-F238E27FC236}">
                <a16:creationId xmlns:a16="http://schemas.microsoft.com/office/drawing/2014/main" id="{56AE85E9-0E8F-4E95-8EC0-7B131EEDAC00}"/>
              </a:ext>
            </a:extLst>
          </p:cNvPr>
          <p:cNvSpPr>
            <a:spLocks noGrp="1"/>
          </p:cNvSpPr>
          <p:nvPr/>
        </p:nvSpPr>
        <p:spPr>
          <a:xfrm>
            <a:off x="685800" y="1676400"/>
            <a:ext cx="3333750" cy="3695700"/>
          </a:xfrm>
          <a:prstGeom prst="roundRect">
            <a:avLst>
              <a:gd name="adj" fmla="val 5143"/>
            </a:avLst>
          </a:prstGeom>
          <a:solidFill>
            <a:srgbClr val="FFFFFF"/>
          </a:solidFill>
          <a:ln w="9525">
            <a:solidFill>
              <a:srgbClr val="D9DEE8"/>
            </a:solidFill>
            <a:prstDash val="solid"/>
          </a:ln>
        </p:spPr>
        <p:txBody>
          <a:bodyPr/>
          <a:lstStyle/>
          <a:p>
            <a:endParaRPr lang="it-IT"/>
          </a:p>
        </p:txBody>
      </p:sp>
      <p:sp>
        <p:nvSpPr>
          <p:cNvPr id="8" name="Rettangolo 7">
            <a:extLst>
              <a:ext uri="{FF2B5EF4-FFF2-40B4-BE49-F238E27FC236}">
                <a16:creationId xmlns:a16="http://schemas.microsoft.com/office/drawing/2014/main" id="{9577C2D9-78D1-4F27-ABC7-FD9633E30F4D}"/>
              </a:ext>
            </a:extLst>
          </p:cNvPr>
          <p:cNvSpPr>
            <a:spLocks noGrp="1"/>
          </p:cNvSpPr>
          <p:nvPr/>
        </p:nvSpPr>
        <p:spPr>
          <a:xfrm>
            <a:off x="876300"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EfficientNet-B0</a:t>
            </a:r>
          </a:p>
        </p:txBody>
      </p:sp>
      <p:sp>
        <p:nvSpPr>
          <p:cNvPr id="9" name="Rettangolo 8">
            <a:extLst>
              <a:ext uri="{FF2B5EF4-FFF2-40B4-BE49-F238E27FC236}">
                <a16:creationId xmlns:a16="http://schemas.microsoft.com/office/drawing/2014/main" id="{2E82C4FA-E336-46EA-9A84-371A09CA3AEA}"/>
              </a:ext>
            </a:extLst>
          </p:cNvPr>
          <p:cNvSpPr>
            <a:spLocks noGrp="1"/>
          </p:cNvSpPr>
          <p:nvPr/>
        </p:nvSpPr>
        <p:spPr>
          <a:xfrm>
            <a:off x="876300"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0" name="Rettangolo 9">
            <a:extLst>
              <a:ext uri="{FF2B5EF4-FFF2-40B4-BE49-F238E27FC236}">
                <a16:creationId xmlns:a16="http://schemas.microsoft.com/office/drawing/2014/main" id="{70F2D2A0-02D8-4A6B-9903-BE856DE2D296}"/>
              </a:ext>
            </a:extLst>
          </p:cNvPr>
          <p:cNvSpPr>
            <a:spLocks noGrp="1"/>
          </p:cNvSpPr>
          <p:nvPr/>
        </p:nvSpPr>
        <p:spPr>
          <a:xfrm>
            <a:off x="876300"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97.8%</a:t>
            </a:r>
          </a:p>
        </p:txBody>
      </p:sp>
      <p:sp>
        <p:nvSpPr>
          <p:cNvPr id="11" name="Rettangolo 10">
            <a:extLst>
              <a:ext uri="{FF2B5EF4-FFF2-40B4-BE49-F238E27FC236}">
                <a16:creationId xmlns:a16="http://schemas.microsoft.com/office/drawing/2014/main" id="{49D9FAB2-354F-4D6E-AEB6-D07E9821938A}"/>
              </a:ext>
            </a:extLst>
          </p:cNvPr>
          <p:cNvSpPr>
            <a:spLocks noGrp="1"/>
          </p:cNvSpPr>
          <p:nvPr/>
        </p:nvSpPr>
        <p:spPr>
          <a:xfrm>
            <a:off x="1905000"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BE3C37"/>
                </a:solidFill>
                <a:latin typeface="Arial"/>
                <a:ea typeface="Arial"/>
                <a:cs typeface="Arial"/>
              </a:defRPr>
            </a:pPr>
            <a:r>
              <a:rPr sz="2850" b="1">
                <a:solidFill>
                  <a:srgbClr val="BE3C37"/>
                </a:solidFill>
                <a:latin typeface="Arial"/>
                <a:ea typeface="Arial"/>
                <a:cs typeface="Arial"/>
              </a:rPr>
              <a:t>↓</a:t>
            </a:r>
          </a:p>
        </p:txBody>
      </p:sp>
      <p:sp>
        <p:nvSpPr>
          <p:cNvPr id="12" name="Rettangolo 11">
            <a:extLst>
              <a:ext uri="{FF2B5EF4-FFF2-40B4-BE49-F238E27FC236}">
                <a16:creationId xmlns:a16="http://schemas.microsoft.com/office/drawing/2014/main" id="{F996CD3D-5C3A-40B2-A13D-7A62926E9BE4}"/>
              </a:ext>
            </a:extLst>
          </p:cNvPr>
          <p:cNvSpPr>
            <a:spLocks noGrp="1"/>
          </p:cNvSpPr>
          <p:nvPr/>
        </p:nvSpPr>
        <p:spPr>
          <a:xfrm>
            <a:off x="2762250"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BE3C37"/>
                </a:solidFill>
                <a:latin typeface="Arial"/>
                <a:ea typeface="Arial"/>
                <a:cs typeface="Arial"/>
              </a:defRPr>
            </a:pPr>
            <a:r>
              <a:rPr sz="1275" b="1">
                <a:solidFill>
                  <a:srgbClr val="BE3C37"/>
                </a:solidFill>
                <a:latin typeface="Arial"/>
                <a:ea typeface="Arial"/>
                <a:cs typeface="Arial"/>
              </a:rPr>
              <a:t>−96.3 pp</a:t>
            </a:r>
          </a:p>
        </p:txBody>
      </p:sp>
      <p:sp>
        <p:nvSpPr>
          <p:cNvPr id="13" name="Rettangolo 12">
            <a:extLst>
              <a:ext uri="{FF2B5EF4-FFF2-40B4-BE49-F238E27FC236}">
                <a16:creationId xmlns:a16="http://schemas.microsoft.com/office/drawing/2014/main" id="{A0E55963-0CB1-4969-8E2A-F4EB81ADF8D4}"/>
              </a:ext>
            </a:extLst>
          </p:cNvPr>
          <p:cNvSpPr>
            <a:spLocks noGrp="1"/>
          </p:cNvSpPr>
          <p:nvPr/>
        </p:nvSpPr>
        <p:spPr>
          <a:xfrm>
            <a:off x="876300"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BE3C37"/>
                </a:solidFill>
                <a:latin typeface="Arial"/>
                <a:ea typeface="Arial"/>
                <a:cs typeface="Arial"/>
              </a:defRPr>
            </a:pPr>
            <a:r>
              <a:rPr sz="3225" b="1">
                <a:solidFill>
                  <a:srgbClr val="BE3C37"/>
                </a:solidFill>
                <a:latin typeface="Arial"/>
                <a:ea typeface="Arial"/>
                <a:cs typeface="Arial"/>
              </a:rPr>
              <a:t>1.5%</a:t>
            </a:r>
          </a:p>
        </p:txBody>
      </p:sp>
      <p:sp>
        <p:nvSpPr>
          <p:cNvPr id="14" name="Rettangolo con angoli arrotondati 13">
            <a:extLst>
              <a:ext uri="{FF2B5EF4-FFF2-40B4-BE49-F238E27FC236}">
                <a16:creationId xmlns:a16="http://schemas.microsoft.com/office/drawing/2014/main" id="{BF5BB6F7-3575-4024-AC7F-C44206587777}"/>
              </a:ext>
            </a:extLst>
          </p:cNvPr>
          <p:cNvSpPr>
            <a:spLocks noGrp="1"/>
          </p:cNvSpPr>
          <p:nvPr/>
        </p:nvSpPr>
        <p:spPr>
          <a:xfrm>
            <a:off x="1019175" y="4514850"/>
            <a:ext cx="2667000" cy="552450"/>
          </a:xfrm>
          <a:prstGeom prst="roundRect">
            <a:avLst>
              <a:gd name="adj" fmla="val 20690"/>
            </a:avLst>
          </a:prstGeom>
          <a:solidFill>
            <a:srgbClr val="FBEAEA"/>
          </a:solidFill>
          <a:ln w="0">
            <a:noFill/>
            <a:prstDash val="solid"/>
          </a:ln>
        </p:spPr>
        <p:txBody>
          <a:bodyPr/>
          <a:lstStyle/>
          <a:p>
            <a:endParaRPr lang="it-IT"/>
          </a:p>
        </p:txBody>
      </p:sp>
      <p:sp>
        <p:nvSpPr>
          <p:cNvPr id="15" name="Rettangolo 14">
            <a:extLst>
              <a:ext uri="{FF2B5EF4-FFF2-40B4-BE49-F238E27FC236}">
                <a16:creationId xmlns:a16="http://schemas.microsoft.com/office/drawing/2014/main" id="{AE6018B9-C8AD-41A8-89CA-38D39F49C678}"/>
              </a:ext>
            </a:extLst>
          </p:cNvPr>
          <p:cNvSpPr>
            <a:spLocks noGrp="1"/>
          </p:cNvSpPr>
          <p:nvPr/>
        </p:nvSpPr>
        <p:spPr>
          <a:xfrm>
            <a:off x="1190625"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BE3C37"/>
                </a:solidFill>
                <a:latin typeface="Arial"/>
                <a:ea typeface="Arial"/>
                <a:cs typeface="Arial"/>
              </a:defRPr>
            </a:pPr>
            <a:r>
              <a:rPr sz="1350" b="1">
                <a:solidFill>
                  <a:srgbClr val="BE3C37"/>
                </a:solidFill>
                <a:latin typeface="Arial"/>
                <a:ea typeface="Arial"/>
                <a:cs typeface="Arial"/>
              </a:rPr>
              <a:t>Sigma Zero · direct</a:t>
            </a:r>
          </a:p>
        </p:txBody>
      </p:sp>
      <p:sp>
        <p:nvSpPr>
          <p:cNvPr id="16" name="Rettangolo con angoli arrotondati 15">
            <a:extLst>
              <a:ext uri="{FF2B5EF4-FFF2-40B4-BE49-F238E27FC236}">
                <a16:creationId xmlns:a16="http://schemas.microsoft.com/office/drawing/2014/main" id="{9E2BCEBA-C7B6-438A-99BD-F49CB0486D2F}"/>
              </a:ext>
            </a:extLst>
          </p:cNvPr>
          <p:cNvSpPr>
            <a:spLocks noGrp="1"/>
          </p:cNvSpPr>
          <p:nvPr/>
        </p:nvSpPr>
        <p:spPr>
          <a:xfrm>
            <a:off x="4429125" y="1676400"/>
            <a:ext cx="3333750" cy="3695700"/>
          </a:xfrm>
          <a:prstGeom prst="roundRect">
            <a:avLst>
              <a:gd name="adj" fmla="val 5143"/>
            </a:avLst>
          </a:prstGeom>
          <a:solidFill>
            <a:srgbClr val="FFFFFF"/>
          </a:solidFill>
          <a:ln w="9525">
            <a:solidFill>
              <a:srgbClr val="D9DEE8"/>
            </a:solidFill>
            <a:prstDash val="solid"/>
          </a:ln>
        </p:spPr>
        <p:txBody>
          <a:bodyPr/>
          <a:lstStyle/>
          <a:p>
            <a:endParaRPr lang="it-IT"/>
          </a:p>
        </p:txBody>
      </p:sp>
      <p:sp>
        <p:nvSpPr>
          <p:cNvPr id="17" name="Rettangolo 16">
            <a:extLst>
              <a:ext uri="{FF2B5EF4-FFF2-40B4-BE49-F238E27FC236}">
                <a16:creationId xmlns:a16="http://schemas.microsoft.com/office/drawing/2014/main" id="{394FB914-142B-4176-B281-5AF8EAC4DD42}"/>
              </a:ext>
            </a:extLst>
          </p:cNvPr>
          <p:cNvSpPr>
            <a:spLocks noGrp="1"/>
          </p:cNvSpPr>
          <p:nvPr/>
        </p:nvSpPr>
        <p:spPr>
          <a:xfrm>
            <a:off x="4619625"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ResNet18</a:t>
            </a:r>
          </a:p>
        </p:txBody>
      </p:sp>
      <p:sp>
        <p:nvSpPr>
          <p:cNvPr id="18" name="Rettangolo 17">
            <a:extLst>
              <a:ext uri="{FF2B5EF4-FFF2-40B4-BE49-F238E27FC236}">
                <a16:creationId xmlns:a16="http://schemas.microsoft.com/office/drawing/2014/main" id="{90C27F24-DDCD-4476-BEE6-9730E13D6F09}"/>
              </a:ext>
            </a:extLst>
          </p:cNvPr>
          <p:cNvSpPr>
            <a:spLocks noGrp="1"/>
          </p:cNvSpPr>
          <p:nvPr/>
        </p:nvSpPr>
        <p:spPr>
          <a:xfrm>
            <a:off x="4619625"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19" name="Rettangolo 18">
            <a:extLst>
              <a:ext uri="{FF2B5EF4-FFF2-40B4-BE49-F238E27FC236}">
                <a16:creationId xmlns:a16="http://schemas.microsoft.com/office/drawing/2014/main" id="{D2EDF698-9BB1-43E3-85CA-2599EF772F95}"/>
              </a:ext>
            </a:extLst>
          </p:cNvPr>
          <p:cNvSpPr>
            <a:spLocks noGrp="1"/>
          </p:cNvSpPr>
          <p:nvPr/>
        </p:nvSpPr>
        <p:spPr>
          <a:xfrm>
            <a:off x="4619625"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96.4%</a:t>
            </a:r>
          </a:p>
        </p:txBody>
      </p:sp>
      <p:sp>
        <p:nvSpPr>
          <p:cNvPr id="20" name="Rettangolo 19">
            <a:extLst>
              <a:ext uri="{FF2B5EF4-FFF2-40B4-BE49-F238E27FC236}">
                <a16:creationId xmlns:a16="http://schemas.microsoft.com/office/drawing/2014/main" id="{D1C64AAB-74DE-49AE-9C87-6178540E0BD2}"/>
              </a:ext>
            </a:extLst>
          </p:cNvPr>
          <p:cNvSpPr>
            <a:spLocks noGrp="1"/>
          </p:cNvSpPr>
          <p:nvPr/>
        </p:nvSpPr>
        <p:spPr>
          <a:xfrm>
            <a:off x="5648325"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21" name="Rettangolo 20">
            <a:extLst>
              <a:ext uri="{FF2B5EF4-FFF2-40B4-BE49-F238E27FC236}">
                <a16:creationId xmlns:a16="http://schemas.microsoft.com/office/drawing/2014/main" id="{2DF9C9FD-68A9-4B40-AB58-34AD20B34583}"/>
              </a:ext>
            </a:extLst>
          </p:cNvPr>
          <p:cNvSpPr>
            <a:spLocks noGrp="1"/>
          </p:cNvSpPr>
          <p:nvPr/>
        </p:nvSpPr>
        <p:spPr>
          <a:xfrm>
            <a:off x="6505575"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C89B14"/>
                </a:solidFill>
                <a:latin typeface="Arial"/>
                <a:ea typeface="Arial"/>
                <a:cs typeface="Arial"/>
              </a:defRPr>
            </a:pPr>
            <a:r>
              <a:rPr sz="1275" b="1">
                <a:solidFill>
                  <a:srgbClr val="C89B14"/>
                </a:solidFill>
                <a:latin typeface="Arial"/>
                <a:ea typeface="Arial"/>
                <a:cs typeface="Arial"/>
              </a:rPr>
              <a:t>−4.6 pp</a:t>
            </a:r>
          </a:p>
        </p:txBody>
      </p:sp>
      <p:sp>
        <p:nvSpPr>
          <p:cNvPr id="22" name="Rettangolo 21">
            <a:extLst>
              <a:ext uri="{FF2B5EF4-FFF2-40B4-BE49-F238E27FC236}">
                <a16:creationId xmlns:a16="http://schemas.microsoft.com/office/drawing/2014/main" id="{492EA1CA-E94D-4529-9473-680D6960283D}"/>
              </a:ext>
            </a:extLst>
          </p:cNvPr>
          <p:cNvSpPr>
            <a:spLocks noGrp="1"/>
          </p:cNvSpPr>
          <p:nvPr/>
        </p:nvSpPr>
        <p:spPr>
          <a:xfrm>
            <a:off x="4619625"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C89B14"/>
                </a:solidFill>
                <a:latin typeface="Arial"/>
                <a:ea typeface="Arial"/>
                <a:cs typeface="Arial"/>
              </a:defRPr>
            </a:pPr>
            <a:r>
              <a:rPr sz="3225" b="1">
                <a:solidFill>
                  <a:srgbClr val="C89B14"/>
                </a:solidFill>
                <a:latin typeface="Arial"/>
                <a:ea typeface="Arial"/>
                <a:cs typeface="Arial"/>
              </a:rPr>
              <a:t>91.8%</a:t>
            </a:r>
          </a:p>
        </p:txBody>
      </p:sp>
      <p:sp>
        <p:nvSpPr>
          <p:cNvPr id="23" name="Rettangolo con angoli arrotondati 22">
            <a:extLst>
              <a:ext uri="{FF2B5EF4-FFF2-40B4-BE49-F238E27FC236}">
                <a16:creationId xmlns:a16="http://schemas.microsoft.com/office/drawing/2014/main" id="{96FF0273-DED0-4DE2-8AA8-75586A24899D}"/>
              </a:ext>
            </a:extLst>
          </p:cNvPr>
          <p:cNvSpPr>
            <a:spLocks noGrp="1"/>
          </p:cNvSpPr>
          <p:nvPr/>
        </p:nvSpPr>
        <p:spPr>
          <a:xfrm>
            <a:off x="4762500" y="4514850"/>
            <a:ext cx="2667000" cy="552450"/>
          </a:xfrm>
          <a:prstGeom prst="roundRect">
            <a:avLst>
              <a:gd name="adj" fmla="val 20690"/>
            </a:avLst>
          </a:prstGeom>
          <a:solidFill>
            <a:srgbClr val="FFF4CD"/>
          </a:solidFill>
          <a:ln w="0">
            <a:noFill/>
            <a:prstDash val="solid"/>
          </a:ln>
        </p:spPr>
        <p:txBody>
          <a:bodyPr/>
          <a:lstStyle/>
          <a:p>
            <a:endParaRPr lang="it-IT"/>
          </a:p>
        </p:txBody>
      </p:sp>
      <p:sp>
        <p:nvSpPr>
          <p:cNvPr id="24" name="Rettangolo 23">
            <a:extLst>
              <a:ext uri="{FF2B5EF4-FFF2-40B4-BE49-F238E27FC236}">
                <a16:creationId xmlns:a16="http://schemas.microsoft.com/office/drawing/2014/main" id="{7F13BBE7-F396-45EB-8CD4-E163172E1B3A}"/>
              </a:ext>
            </a:extLst>
          </p:cNvPr>
          <p:cNvSpPr>
            <a:spLocks noGrp="1"/>
          </p:cNvSpPr>
          <p:nvPr/>
        </p:nvSpPr>
        <p:spPr>
          <a:xfrm>
            <a:off x="4933950"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25" name="Rettangolo con angoli arrotondati 24">
            <a:extLst>
              <a:ext uri="{FF2B5EF4-FFF2-40B4-BE49-F238E27FC236}">
                <a16:creationId xmlns:a16="http://schemas.microsoft.com/office/drawing/2014/main" id="{C70A0BA2-8F3B-41DC-9592-4F623D651E86}"/>
              </a:ext>
            </a:extLst>
          </p:cNvPr>
          <p:cNvSpPr>
            <a:spLocks noGrp="1"/>
          </p:cNvSpPr>
          <p:nvPr/>
        </p:nvSpPr>
        <p:spPr>
          <a:xfrm>
            <a:off x="8172450" y="1676400"/>
            <a:ext cx="3333750" cy="3695700"/>
          </a:xfrm>
          <a:prstGeom prst="roundRect">
            <a:avLst>
              <a:gd name="adj" fmla="val 5143"/>
            </a:avLst>
          </a:prstGeom>
          <a:solidFill>
            <a:srgbClr val="FFFFFF"/>
          </a:solidFill>
          <a:ln w="9525">
            <a:solidFill>
              <a:srgbClr val="D9DEE8"/>
            </a:solidFill>
            <a:prstDash val="solid"/>
          </a:ln>
        </p:spPr>
        <p:txBody>
          <a:bodyPr/>
          <a:lstStyle/>
          <a:p>
            <a:endParaRPr lang="it-IT"/>
          </a:p>
        </p:txBody>
      </p:sp>
      <p:sp>
        <p:nvSpPr>
          <p:cNvPr id="26" name="Rettangolo 25">
            <a:extLst>
              <a:ext uri="{FF2B5EF4-FFF2-40B4-BE49-F238E27FC236}">
                <a16:creationId xmlns:a16="http://schemas.microsoft.com/office/drawing/2014/main" id="{A98C1D30-9BE6-4F8C-9D4A-F416452798D5}"/>
              </a:ext>
            </a:extLst>
          </p:cNvPr>
          <p:cNvSpPr>
            <a:spLocks noGrp="1"/>
          </p:cNvSpPr>
          <p:nvPr/>
        </p:nvSpPr>
        <p:spPr>
          <a:xfrm>
            <a:off x="8362950" y="1905000"/>
            <a:ext cx="2952750" cy="323850"/>
          </a:xfrm>
          <a:prstGeom prst="rect">
            <a:avLst/>
          </a:prstGeom>
          <a:noFill/>
          <a:ln w="0">
            <a:noFill/>
            <a:prstDash val="solid"/>
          </a:ln>
        </p:spPr>
        <p:txBody>
          <a:bodyPr wrap="square" lIns="0" tIns="0" rIns="0" bIns="0" anchor="t">
            <a:noAutofit/>
          </a:bodyPr>
          <a:lstStyle/>
          <a:p>
            <a:pPr algn="ctr">
              <a:buNone/>
              <a:defRPr sz="1725" b="1">
                <a:solidFill>
                  <a:srgbClr val="233A70"/>
                </a:solidFill>
                <a:latin typeface="Arial"/>
                <a:ea typeface="Arial"/>
                <a:cs typeface="Arial"/>
              </a:defRPr>
            </a:pPr>
            <a:r>
              <a:rPr sz="1725" b="1">
                <a:solidFill>
                  <a:srgbClr val="233A70"/>
                </a:solidFill>
                <a:latin typeface="Arial"/>
                <a:ea typeface="Arial"/>
                <a:cs typeface="Arial"/>
              </a:rPr>
              <a:t>CLIP proxy</a:t>
            </a:r>
          </a:p>
        </p:txBody>
      </p:sp>
      <p:sp>
        <p:nvSpPr>
          <p:cNvPr id="27" name="Rettangolo 26">
            <a:extLst>
              <a:ext uri="{FF2B5EF4-FFF2-40B4-BE49-F238E27FC236}">
                <a16:creationId xmlns:a16="http://schemas.microsoft.com/office/drawing/2014/main" id="{FA9C149E-EE01-4E65-8446-3CDAC9015D72}"/>
              </a:ext>
            </a:extLst>
          </p:cNvPr>
          <p:cNvSpPr>
            <a:spLocks noGrp="1"/>
          </p:cNvSpPr>
          <p:nvPr/>
        </p:nvSpPr>
        <p:spPr>
          <a:xfrm>
            <a:off x="8362950" y="2438400"/>
            <a:ext cx="2952750" cy="228600"/>
          </a:xfrm>
          <a:prstGeom prst="rect">
            <a:avLst/>
          </a:prstGeom>
          <a:noFill/>
          <a:ln w="0">
            <a:noFill/>
            <a:prstDash val="solid"/>
          </a:ln>
        </p:spPr>
        <p:txBody>
          <a:bodyPr wrap="square" lIns="0" tIns="0" rIns="0" bIns="0" anchor="t">
            <a:noAutofit/>
          </a:bodyPr>
          <a:lstStyle/>
          <a:p>
            <a:pPr algn="ctr">
              <a:buNone/>
              <a:defRPr sz="1200" b="1">
                <a:solidFill>
                  <a:srgbClr val="5B6577"/>
                </a:solidFill>
                <a:latin typeface="Arial"/>
                <a:ea typeface="Arial"/>
                <a:cs typeface="Arial"/>
              </a:defRPr>
            </a:pPr>
            <a:r>
              <a:rPr sz="1200" b="1">
                <a:solidFill>
                  <a:srgbClr val="5B6577"/>
                </a:solidFill>
                <a:latin typeface="Arial"/>
                <a:ea typeface="Arial"/>
                <a:cs typeface="Arial"/>
              </a:rPr>
              <a:t>CLEAN</a:t>
            </a:r>
          </a:p>
        </p:txBody>
      </p:sp>
      <p:sp>
        <p:nvSpPr>
          <p:cNvPr id="28" name="Rettangolo 27">
            <a:extLst>
              <a:ext uri="{FF2B5EF4-FFF2-40B4-BE49-F238E27FC236}">
                <a16:creationId xmlns:a16="http://schemas.microsoft.com/office/drawing/2014/main" id="{980272C0-9E9C-4040-9C6C-D012524091C6}"/>
              </a:ext>
            </a:extLst>
          </p:cNvPr>
          <p:cNvSpPr>
            <a:spLocks noGrp="1"/>
          </p:cNvSpPr>
          <p:nvPr/>
        </p:nvSpPr>
        <p:spPr>
          <a:xfrm>
            <a:off x="8362950" y="2724150"/>
            <a:ext cx="2952750" cy="495300"/>
          </a:xfrm>
          <a:prstGeom prst="rect">
            <a:avLst/>
          </a:prstGeom>
          <a:noFill/>
          <a:ln w="0">
            <a:noFill/>
            <a:prstDash val="solid"/>
          </a:ln>
        </p:spPr>
        <p:txBody>
          <a:bodyPr wrap="square" lIns="0" tIns="0" rIns="0" bIns="0" anchor="t">
            <a:noAutofit/>
          </a:bodyPr>
          <a:lstStyle/>
          <a:p>
            <a:pPr algn="ctr">
              <a:buNone/>
              <a:defRPr sz="3150" b="1">
                <a:solidFill>
                  <a:srgbClr val="233A70"/>
                </a:solidFill>
                <a:latin typeface="Arial"/>
                <a:ea typeface="Arial"/>
                <a:cs typeface="Arial"/>
              </a:defRPr>
            </a:pPr>
            <a:r>
              <a:rPr sz="3150" b="1">
                <a:solidFill>
                  <a:srgbClr val="233A70"/>
                </a:solidFill>
                <a:latin typeface="Arial"/>
                <a:ea typeface="Arial"/>
                <a:cs typeface="Arial"/>
              </a:rPr>
              <a:t>92.7%</a:t>
            </a:r>
          </a:p>
        </p:txBody>
      </p:sp>
      <p:sp>
        <p:nvSpPr>
          <p:cNvPr id="29" name="Rettangolo 28">
            <a:extLst>
              <a:ext uri="{FF2B5EF4-FFF2-40B4-BE49-F238E27FC236}">
                <a16:creationId xmlns:a16="http://schemas.microsoft.com/office/drawing/2014/main" id="{B0237A4F-5EE2-4F91-A719-5C9D999C0C17}"/>
              </a:ext>
            </a:extLst>
          </p:cNvPr>
          <p:cNvSpPr>
            <a:spLocks noGrp="1"/>
          </p:cNvSpPr>
          <p:nvPr/>
        </p:nvSpPr>
        <p:spPr>
          <a:xfrm>
            <a:off x="9391650" y="3257550"/>
            <a:ext cx="895350" cy="428625"/>
          </a:xfrm>
          <a:prstGeom prst="rect">
            <a:avLst/>
          </a:prstGeom>
          <a:noFill/>
          <a:ln w="0">
            <a:noFill/>
            <a:prstDash val="solid"/>
          </a:ln>
        </p:spPr>
        <p:txBody>
          <a:bodyPr wrap="square" lIns="0" tIns="0" rIns="0" bIns="0" anchor="t">
            <a:noAutofit/>
          </a:bodyPr>
          <a:lstStyle/>
          <a:p>
            <a:pPr algn="ctr">
              <a:buNone/>
              <a:defRPr sz="2850" b="1">
                <a:solidFill>
                  <a:srgbClr val="C89B14"/>
                </a:solidFill>
                <a:latin typeface="Arial"/>
                <a:ea typeface="Arial"/>
                <a:cs typeface="Arial"/>
              </a:defRPr>
            </a:pPr>
            <a:r>
              <a:rPr sz="2850" b="1">
                <a:solidFill>
                  <a:srgbClr val="C89B14"/>
                </a:solidFill>
                <a:latin typeface="Arial"/>
                <a:ea typeface="Arial"/>
                <a:cs typeface="Arial"/>
              </a:rPr>
              <a:t>↓</a:t>
            </a:r>
          </a:p>
        </p:txBody>
      </p:sp>
      <p:sp>
        <p:nvSpPr>
          <p:cNvPr id="30" name="Rettangolo 29">
            <a:extLst>
              <a:ext uri="{FF2B5EF4-FFF2-40B4-BE49-F238E27FC236}">
                <a16:creationId xmlns:a16="http://schemas.microsoft.com/office/drawing/2014/main" id="{E068C5AC-6F4C-4F36-A557-12E2AE1E13C0}"/>
              </a:ext>
            </a:extLst>
          </p:cNvPr>
          <p:cNvSpPr>
            <a:spLocks noGrp="1"/>
          </p:cNvSpPr>
          <p:nvPr/>
        </p:nvSpPr>
        <p:spPr>
          <a:xfrm>
            <a:off x="10248900" y="3333750"/>
            <a:ext cx="1066800" cy="247650"/>
          </a:xfrm>
          <a:prstGeom prst="rect">
            <a:avLst/>
          </a:prstGeom>
          <a:noFill/>
          <a:ln w="0">
            <a:noFill/>
            <a:prstDash val="solid"/>
          </a:ln>
        </p:spPr>
        <p:txBody>
          <a:bodyPr wrap="square" lIns="0" tIns="0" rIns="0" bIns="0" anchor="t">
            <a:noAutofit/>
          </a:bodyPr>
          <a:lstStyle/>
          <a:p>
            <a:pPr algn="ctr">
              <a:buNone/>
              <a:defRPr sz="1275" b="1">
                <a:solidFill>
                  <a:srgbClr val="C89B14"/>
                </a:solidFill>
                <a:latin typeface="Arial"/>
                <a:ea typeface="Arial"/>
                <a:cs typeface="Arial"/>
              </a:defRPr>
            </a:pPr>
            <a:r>
              <a:rPr sz="1275" b="1">
                <a:solidFill>
                  <a:srgbClr val="C89B14"/>
                </a:solidFill>
                <a:latin typeface="Arial"/>
                <a:ea typeface="Arial"/>
                <a:cs typeface="Arial"/>
              </a:rPr>
              <a:t>−1.3 pp</a:t>
            </a:r>
          </a:p>
        </p:txBody>
      </p:sp>
      <p:sp>
        <p:nvSpPr>
          <p:cNvPr id="31" name="Rettangolo 30">
            <a:extLst>
              <a:ext uri="{FF2B5EF4-FFF2-40B4-BE49-F238E27FC236}">
                <a16:creationId xmlns:a16="http://schemas.microsoft.com/office/drawing/2014/main" id="{B7F6DC36-2570-45E5-AFD1-8D49B963DBCB}"/>
              </a:ext>
            </a:extLst>
          </p:cNvPr>
          <p:cNvSpPr>
            <a:spLocks noGrp="1"/>
          </p:cNvSpPr>
          <p:nvPr/>
        </p:nvSpPr>
        <p:spPr>
          <a:xfrm>
            <a:off x="8362950" y="3752850"/>
            <a:ext cx="2952750" cy="514350"/>
          </a:xfrm>
          <a:prstGeom prst="rect">
            <a:avLst/>
          </a:prstGeom>
          <a:noFill/>
          <a:ln w="0">
            <a:noFill/>
            <a:prstDash val="solid"/>
          </a:ln>
        </p:spPr>
        <p:txBody>
          <a:bodyPr wrap="square" lIns="0" tIns="0" rIns="0" bIns="0" anchor="t">
            <a:noAutofit/>
          </a:bodyPr>
          <a:lstStyle/>
          <a:p>
            <a:pPr algn="ctr">
              <a:buNone/>
              <a:defRPr sz="3225" b="1">
                <a:solidFill>
                  <a:srgbClr val="C89B14"/>
                </a:solidFill>
                <a:latin typeface="Arial"/>
                <a:ea typeface="Arial"/>
                <a:cs typeface="Arial"/>
              </a:defRPr>
            </a:pPr>
            <a:r>
              <a:rPr sz="3225" b="1">
                <a:solidFill>
                  <a:srgbClr val="C89B14"/>
                </a:solidFill>
                <a:latin typeface="Arial"/>
                <a:ea typeface="Arial"/>
                <a:cs typeface="Arial"/>
              </a:rPr>
              <a:t>91.4%</a:t>
            </a:r>
          </a:p>
        </p:txBody>
      </p:sp>
      <p:sp>
        <p:nvSpPr>
          <p:cNvPr id="32" name="Rettangolo con angoli arrotondati 31">
            <a:extLst>
              <a:ext uri="{FF2B5EF4-FFF2-40B4-BE49-F238E27FC236}">
                <a16:creationId xmlns:a16="http://schemas.microsoft.com/office/drawing/2014/main" id="{E0EF1A65-1CB2-42B0-B44F-2F0165D59CB8}"/>
              </a:ext>
            </a:extLst>
          </p:cNvPr>
          <p:cNvSpPr>
            <a:spLocks noGrp="1"/>
          </p:cNvSpPr>
          <p:nvPr/>
        </p:nvSpPr>
        <p:spPr>
          <a:xfrm>
            <a:off x="8505825" y="4514850"/>
            <a:ext cx="2667000" cy="552450"/>
          </a:xfrm>
          <a:prstGeom prst="roundRect">
            <a:avLst>
              <a:gd name="adj" fmla="val 20690"/>
            </a:avLst>
          </a:prstGeom>
          <a:solidFill>
            <a:srgbClr val="FFF4CD"/>
          </a:solidFill>
          <a:ln w="0">
            <a:noFill/>
            <a:prstDash val="solid"/>
          </a:ln>
        </p:spPr>
        <p:txBody>
          <a:bodyPr/>
          <a:lstStyle/>
          <a:p>
            <a:endParaRPr lang="it-IT"/>
          </a:p>
        </p:txBody>
      </p:sp>
      <p:sp>
        <p:nvSpPr>
          <p:cNvPr id="33" name="Rettangolo 32">
            <a:extLst>
              <a:ext uri="{FF2B5EF4-FFF2-40B4-BE49-F238E27FC236}">
                <a16:creationId xmlns:a16="http://schemas.microsoft.com/office/drawing/2014/main" id="{C72A86F9-3076-4133-A78E-82EB41F3A1D6}"/>
              </a:ext>
            </a:extLst>
          </p:cNvPr>
          <p:cNvSpPr>
            <a:spLocks noGrp="1"/>
          </p:cNvSpPr>
          <p:nvPr/>
        </p:nvSpPr>
        <p:spPr>
          <a:xfrm>
            <a:off x="8677275" y="4667250"/>
            <a:ext cx="2324100" cy="247650"/>
          </a:xfrm>
          <a:prstGeom prst="rect">
            <a:avLst/>
          </a:prstGeom>
          <a:noFill/>
          <a:ln w="0">
            <a:noFill/>
            <a:prstDash val="solid"/>
          </a:ln>
        </p:spPr>
        <p:txBody>
          <a:bodyPr wrap="square" lIns="0" tIns="0" rIns="0" bIns="0" anchor="t">
            <a:noAutofit/>
          </a:bodyPr>
          <a:lstStyle/>
          <a:p>
            <a:pPr algn="ctr">
              <a:buNone/>
              <a:defRPr sz="1350" b="1">
                <a:solidFill>
                  <a:srgbClr val="C89B14"/>
                </a:solidFill>
                <a:latin typeface="Arial"/>
                <a:ea typeface="Arial"/>
                <a:cs typeface="Arial"/>
              </a:defRPr>
            </a:pPr>
            <a:r>
              <a:rPr sz="1350" b="1">
                <a:solidFill>
                  <a:srgbClr val="C89B14"/>
                </a:solidFill>
                <a:latin typeface="Arial"/>
                <a:ea typeface="Arial"/>
                <a:cs typeface="Arial"/>
              </a:rPr>
              <a:t>FGSM · transfer</a:t>
            </a:r>
          </a:p>
        </p:txBody>
      </p:sp>
      <p:sp>
        <p:nvSpPr>
          <p:cNvPr id="34" name="Rettangolo 33">
            <a:extLst>
              <a:ext uri="{FF2B5EF4-FFF2-40B4-BE49-F238E27FC236}">
                <a16:creationId xmlns:a16="http://schemas.microsoft.com/office/drawing/2014/main" id="{83A62D01-9A99-4444-A378-62E9EAECF82E}"/>
              </a:ext>
            </a:extLst>
          </p:cNvPr>
          <p:cNvSpPr>
            <a:spLocks noGrp="1"/>
          </p:cNvSpPr>
          <p:nvPr/>
        </p:nvSpPr>
        <p:spPr>
          <a:xfrm>
            <a:off x="1428750" y="5753100"/>
            <a:ext cx="9334500" cy="266700"/>
          </a:xfrm>
          <a:prstGeom prst="rect">
            <a:avLst/>
          </a:prstGeom>
          <a:noFill/>
          <a:ln w="0">
            <a:noFill/>
            <a:prstDash val="solid"/>
          </a:ln>
        </p:spPr>
        <p:txBody>
          <a:bodyPr wrap="square" lIns="0" tIns="0" rIns="0" bIns="0" anchor="t">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Largest anti-forensic proxy drop: 3.0 pp · ResNet18, histogram modification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10" name="Rettangolo 9">
            <a:extLst>
              <a:ext uri="{FF2B5EF4-FFF2-40B4-BE49-F238E27FC236}">
                <a16:creationId xmlns:a16="http://schemas.microsoft.com/office/drawing/2014/main" id="{CBFBE0B0-4196-49D2-816F-6775E02BA4B6}"/>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31AF1709-E0A2-40EF-88E7-6DDA26F6CFFD}"/>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Black-box transfer was configuration-dependent</a:t>
            </a:r>
          </a:p>
        </p:txBody>
      </p:sp>
      <p:sp>
        <p:nvSpPr>
          <p:cNvPr id="3" name="Rettangolo 2">
            <a:extLst>
              <a:ext uri="{FF2B5EF4-FFF2-40B4-BE49-F238E27FC236}">
                <a16:creationId xmlns:a16="http://schemas.microsoft.com/office/drawing/2014/main" id="{3291F0CF-6083-4E3B-9AC2-0305E98F368E}"/>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565A18C7-FE67-4009-89BB-E8C6FE7C319D}"/>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BC8DA42D-E2E5-4441-9FF6-841AA3906BA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15</a:t>
            </a:r>
          </a:p>
        </p:txBody>
      </p:sp>
      <p:pic>
        <p:nvPicPr>
          <p:cNvPr id="11" name="Picture 10" descr="image.jpg"/>
          <p:cNvPicPr>
            <a:picLocks noChangeAspect="1"/>
          </p:cNvPicPr>
          <p:nvPr/>
        </p:nvPicPr>
        <p:blipFill>
          <a:blip r:embed="rId2"/>
          <a:srcRect/>
          <a:stretch>
            <a:fillRect/>
          </a:stretch>
        </p:blipFill>
        <p:spPr>
          <a:xfrm>
            <a:off x="944113" y="1257300"/>
            <a:ext cx="10303774" cy="4095750"/>
          </a:xfrm>
          <a:prstGeom prst="rect">
            <a:avLst/>
          </a:prstGeom>
        </p:spPr>
      </p:pic>
      <p:sp>
        <p:nvSpPr>
          <p:cNvPr id="7" name="Rettangolo con angoli arrotondati 6">
            <a:extLst>
              <a:ext uri="{FF2B5EF4-FFF2-40B4-BE49-F238E27FC236}">
                <a16:creationId xmlns:a16="http://schemas.microsoft.com/office/drawing/2014/main" id="{AF37DDE1-913C-46CF-A2F3-12C536DDA446}"/>
              </a:ext>
            </a:extLst>
          </p:cNvPr>
          <p:cNvSpPr>
            <a:spLocks noGrp="1"/>
          </p:cNvSpPr>
          <p:nvPr/>
        </p:nvSpPr>
        <p:spPr>
          <a:xfrm>
            <a:off x="1123950" y="5467350"/>
            <a:ext cx="9944100" cy="590550"/>
          </a:xfrm>
          <a:prstGeom prst="roundRect">
            <a:avLst>
              <a:gd name="adj" fmla="val 22581"/>
            </a:avLst>
          </a:prstGeom>
          <a:solidFill>
            <a:srgbClr val="FBEAEA"/>
          </a:solidFill>
          <a:ln w="0">
            <a:noFill/>
            <a:prstDash val="solid"/>
          </a:ln>
        </p:spPr>
        <p:txBody>
          <a:bodyPr/>
          <a:lstStyle/>
          <a:p>
            <a:endParaRPr lang="it-IT"/>
          </a:p>
        </p:txBody>
      </p:sp>
      <p:sp>
        <p:nvSpPr>
          <p:cNvPr id="8" name="Rettangolo 7">
            <a:extLst>
              <a:ext uri="{FF2B5EF4-FFF2-40B4-BE49-F238E27FC236}">
                <a16:creationId xmlns:a16="http://schemas.microsoft.com/office/drawing/2014/main" id="{30C38F54-5C1E-4ADD-809B-B0B819F1C798}"/>
              </a:ext>
            </a:extLst>
          </p:cNvPr>
          <p:cNvSpPr>
            <a:spLocks noGrp="1"/>
          </p:cNvSpPr>
          <p:nvPr/>
        </p:nvSpPr>
        <p:spPr>
          <a:xfrm>
            <a:off x="1409700" y="5619750"/>
            <a:ext cx="9372600" cy="266700"/>
          </a:xfrm>
          <a:prstGeom prst="rect">
            <a:avLst/>
          </a:prstGeom>
          <a:noFill/>
          <a:ln w="0">
            <a:noFill/>
            <a:prstDash val="solid"/>
          </a:ln>
        </p:spPr>
        <p:txBody>
          <a:bodyPr wrap="square" lIns="0" tIns="0" rIns="0" bIns="0" anchor="t">
            <a:noAutofit/>
          </a:bodyPr>
          <a:lstStyle/>
          <a:p>
            <a:pPr algn="ctr">
              <a:buNone/>
              <a:defRPr sz="1575" b="1">
                <a:solidFill>
                  <a:srgbClr val="BE3C37"/>
                </a:solidFill>
                <a:latin typeface="Arial"/>
                <a:ea typeface="Arial"/>
                <a:cs typeface="Arial"/>
              </a:defRPr>
            </a:pPr>
            <a:r>
              <a:rPr sz="1575" b="1">
                <a:solidFill>
                  <a:srgbClr val="BE3C37"/>
                </a:solidFill>
                <a:latin typeface="Arial"/>
                <a:ea typeface="Arial"/>
                <a:cs typeface="Arial"/>
              </a:rPr>
              <a:t>Largest transfer effects: Sigma Zero · Excire D50 −20.2 pp · D80 −25.8 pp</a:t>
            </a:r>
          </a:p>
        </p:txBody>
      </p:sp>
      <p:sp>
        <p:nvSpPr>
          <p:cNvPr id="9" name="Rettangolo 8">
            <a:extLst>
              <a:ext uri="{FF2B5EF4-FFF2-40B4-BE49-F238E27FC236}">
                <a16:creationId xmlns:a16="http://schemas.microsoft.com/office/drawing/2014/main" id="{25396EEC-0BD8-400F-A539-2C244EEA8DC5}"/>
              </a:ext>
            </a:extLst>
          </p:cNvPr>
          <p:cNvSpPr>
            <a:spLocks noGrp="1"/>
          </p:cNvSpPr>
          <p:nvPr/>
        </p:nvSpPr>
        <p:spPr>
          <a:xfrm>
            <a:off x="1524000" y="6115050"/>
            <a:ext cx="91440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Transfer from EfficientNet-B0 artifacts—not direct attacks · Source: FAIRLab manuscript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19" name="Rettangolo 18">
            <a:extLst>
              <a:ext uri="{FF2B5EF4-FFF2-40B4-BE49-F238E27FC236}">
                <a16:creationId xmlns:a16="http://schemas.microsoft.com/office/drawing/2014/main" id="{99C5F556-E43B-4D5C-87AA-60CC7C8B7901}"/>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A2E59AA1-F424-40FD-9085-E34E23AA9D98}"/>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 lower miss rate can create a larger review burden</a:t>
            </a:r>
          </a:p>
        </p:txBody>
      </p:sp>
      <p:sp>
        <p:nvSpPr>
          <p:cNvPr id="3" name="Rettangolo 2">
            <a:extLst>
              <a:ext uri="{FF2B5EF4-FFF2-40B4-BE49-F238E27FC236}">
                <a16:creationId xmlns:a16="http://schemas.microsoft.com/office/drawing/2014/main" id="{36849F68-D7D6-4111-82DC-6F4B34B72431}"/>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336AF14B-E51D-40CF-BE63-CFC5A20414B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1BEF75CF-FB0D-4A83-BC3D-ED743ECD5377}"/>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16</a:t>
            </a:r>
          </a:p>
        </p:txBody>
      </p:sp>
      <p:sp>
        <p:nvSpPr>
          <p:cNvPr id="6" name="Rettangolo 5">
            <a:extLst>
              <a:ext uri="{FF2B5EF4-FFF2-40B4-BE49-F238E27FC236}">
                <a16:creationId xmlns:a16="http://schemas.microsoft.com/office/drawing/2014/main" id="{F4EDF8AC-4E92-461B-895C-53D1DB7355BF}"/>
              </a:ext>
            </a:extLst>
          </p:cNvPr>
          <p:cNvSpPr>
            <a:spLocks noGrp="1"/>
          </p:cNvSpPr>
          <p:nvPr/>
        </p:nvSpPr>
        <p:spPr>
          <a:xfrm>
            <a:off x="685800" y="1257300"/>
            <a:ext cx="752475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Clean-condition directional error rates</a:t>
            </a:r>
          </a:p>
        </p:txBody>
      </p:sp>
      <p:graphicFrame>
        <p:nvGraphicFramePr>
          <p:cNvPr id="27" name="Chart"/>
          <p:cNvGraphicFramePr/>
          <p:nvPr/>
        </p:nvGraphicFramePr>
        <p:xfrm>
          <a:off x="533400" y="1504950"/>
          <a:ext cx="7810500" cy="4400550"/>
        </p:xfrm>
        <a:graphic>
          <a:graphicData uri="http://schemas.openxmlformats.org/drawingml/2006/chart">
            <c:chart xmlns:c="http://schemas.openxmlformats.org/drawingml/2006/chart" r:id="rId2"/>
          </a:graphicData>
        </a:graphic>
      </p:graphicFrame>
      <p:sp>
        <p:nvSpPr>
          <p:cNvPr id="8" name="Rettangolo con angoli arrotondati 7">
            <a:extLst>
              <a:ext uri="{FF2B5EF4-FFF2-40B4-BE49-F238E27FC236}">
                <a16:creationId xmlns:a16="http://schemas.microsoft.com/office/drawing/2014/main" id="{B32211CA-359B-48C3-B5B4-E09B47E32F88}"/>
              </a:ext>
            </a:extLst>
          </p:cNvPr>
          <p:cNvSpPr>
            <a:spLocks noGrp="1"/>
          </p:cNvSpPr>
          <p:nvPr/>
        </p:nvSpPr>
        <p:spPr>
          <a:xfrm>
            <a:off x="8648700" y="1524000"/>
            <a:ext cx="2857500" cy="3829050"/>
          </a:xfrm>
          <a:prstGeom prst="roundRect">
            <a:avLst>
              <a:gd name="adj" fmla="val 6000"/>
            </a:avLst>
          </a:prstGeom>
          <a:solidFill>
            <a:srgbClr val="233A70"/>
          </a:solidFill>
          <a:ln w="0">
            <a:noFill/>
            <a:prstDash val="solid"/>
          </a:ln>
        </p:spPr>
        <p:txBody>
          <a:bodyPr/>
          <a:lstStyle/>
          <a:p>
            <a:endParaRPr lang="it-IT"/>
          </a:p>
        </p:txBody>
      </p:sp>
      <p:sp>
        <p:nvSpPr>
          <p:cNvPr id="9" name="Rettangolo 8">
            <a:extLst>
              <a:ext uri="{FF2B5EF4-FFF2-40B4-BE49-F238E27FC236}">
                <a16:creationId xmlns:a16="http://schemas.microsoft.com/office/drawing/2014/main" id="{AA5CA415-7615-47D2-9D36-55A55C537A04}"/>
              </a:ext>
            </a:extLst>
          </p:cNvPr>
          <p:cNvSpPr>
            <a:spLocks noGrp="1"/>
          </p:cNvSpPr>
          <p:nvPr/>
        </p:nvSpPr>
        <p:spPr>
          <a:xfrm>
            <a:off x="8877300" y="1809750"/>
            <a:ext cx="2400300" cy="26670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EXCIRE D20 → D80</a:t>
            </a:r>
          </a:p>
        </p:txBody>
      </p:sp>
      <p:sp>
        <p:nvSpPr>
          <p:cNvPr id="10" name="Rettangolo 9">
            <a:extLst>
              <a:ext uri="{FF2B5EF4-FFF2-40B4-BE49-F238E27FC236}">
                <a16:creationId xmlns:a16="http://schemas.microsoft.com/office/drawing/2014/main" id="{650148F9-8ED3-4F66-9B1A-1A6CE4A7D735}"/>
              </a:ext>
            </a:extLst>
          </p:cNvPr>
          <p:cNvSpPr>
            <a:spLocks noGrp="1"/>
          </p:cNvSpPr>
          <p:nvPr/>
        </p:nvSpPr>
        <p:spPr>
          <a:xfrm>
            <a:off x="8877300" y="236220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12.0%  →  1.4%</a:t>
            </a:r>
          </a:p>
        </p:txBody>
      </p:sp>
      <p:sp>
        <p:nvSpPr>
          <p:cNvPr id="11" name="Rettangolo 10">
            <a:extLst>
              <a:ext uri="{FF2B5EF4-FFF2-40B4-BE49-F238E27FC236}">
                <a16:creationId xmlns:a16="http://schemas.microsoft.com/office/drawing/2014/main" id="{8A701E2C-D64D-4975-A8E0-8B4746B56A04}"/>
              </a:ext>
            </a:extLst>
          </p:cNvPr>
          <p:cNvSpPr>
            <a:spLocks noGrp="1"/>
          </p:cNvSpPr>
          <p:nvPr/>
        </p:nvSpPr>
        <p:spPr>
          <a:xfrm>
            <a:off x="8877300" y="278130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missed-target rate</a:t>
            </a:r>
          </a:p>
        </p:txBody>
      </p:sp>
      <p:sp>
        <p:nvSpPr>
          <p:cNvPr id="12" name="Rettangolo 11">
            <a:extLst>
              <a:ext uri="{FF2B5EF4-FFF2-40B4-BE49-F238E27FC236}">
                <a16:creationId xmlns:a16="http://schemas.microsoft.com/office/drawing/2014/main" id="{005DAFCB-DAF8-45AC-A897-4BF08C50F272}"/>
              </a:ext>
            </a:extLst>
          </p:cNvPr>
          <p:cNvSpPr>
            <a:spLocks noGrp="1"/>
          </p:cNvSpPr>
          <p:nvPr/>
        </p:nvSpPr>
        <p:spPr>
          <a:xfrm>
            <a:off x="9163050" y="3219450"/>
            <a:ext cx="1828800" cy="19050"/>
          </a:xfrm>
          <a:prstGeom prst="rect">
            <a:avLst/>
          </a:prstGeom>
          <a:solidFill>
            <a:srgbClr val="536A9B"/>
          </a:solidFill>
          <a:ln w="0">
            <a:noFill/>
            <a:prstDash val="solid"/>
          </a:ln>
        </p:spPr>
        <p:txBody>
          <a:bodyPr/>
          <a:lstStyle/>
          <a:p>
            <a:endParaRPr lang="it-IT"/>
          </a:p>
        </p:txBody>
      </p:sp>
      <p:sp>
        <p:nvSpPr>
          <p:cNvPr id="13" name="Rettangolo 12">
            <a:extLst>
              <a:ext uri="{FF2B5EF4-FFF2-40B4-BE49-F238E27FC236}">
                <a16:creationId xmlns:a16="http://schemas.microsoft.com/office/drawing/2014/main" id="{16BAF519-5148-4A1A-B484-7B42D432C6F0}"/>
              </a:ext>
            </a:extLst>
          </p:cNvPr>
          <p:cNvSpPr>
            <a:spLocks noGrp="1"/>
          </p:cNvSpPr>
          <p:nvPr/>
        </p:nvSpPr>
        <p:spPr>
          <a:xfrm>
            <a:off x="8877300" y="344805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2.6%  →  15.6%</a:t>
            </a:r>
          </a:p>
        </p:txBody>
      </p:sp>
      <p:sp>
        <p:nvSpPr>
          <p:cNvPr id="14" name="Rettangolo 13">
            <a:extLst>
              <a:ext uri="{FF2B5EF4-FFF2-40B4-BE49-F238E27FC236}">
                <a16:creationId xmlns:a16="http://schemas.microsoft.com/office/drawing/2014/main" id="{F911A9A3-7270-4526-9632-3EC112625EF3}"/>
              </a:ext>
            </a:extLst>
          </p:cNvPr>
          <p:cNvSpPr>
            <a:spLocks noGrp="1"/>
          </p:cNvSpPr>
          <p:nvPr/>
        </p:nvSpPr>
        <p:spPr>
          <a:xfrm>
            <a:off x="8877300" y="386715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false-positive rate</a:t>
            </a:r>
          </a:p>
        </p:txBody>
      </p:sp>
      <p:sp>
        <p:nvSpPr>
          <p:cNvPr id="15" name="Rettangolo 14">
            <a:extLst>
              <a:ext uri="{FF2B5EF4-FFF2-40B4-BE49-F238E27FC236}">
                <a16:creationId xmlns:a16="http://schemas.microsoft.com/office/drawing/2014/main" id="{39F04AF7-B86E-4DE5-B20C-93E90631CB11}"/>
              </a:ext>
            </a:extLst>
          </p:cNvPr>
          <p:cNvSpPr>
            <a:spLocks noGrp="1"/>
          </p:cNvSpPr>
          <p:nvPr/>
        </p:nvSpPr>
        <p:spPr>
          <a:xfrm>
            <a:off x="9163050" y="4305300"/>
            <a:ext cx="1828800" cy="19050"/>
          </a:xfrm>
          <a:prstGeom prst="rect">
            <a:avLst/>
          </a:prstGeom>
          <a:solidFill>
            <a:srgbClr val="536A9B"/>
          </a:solidFill>
          <a:ln w="0">
            <a:noFill/>
            <a:prstDash val="solid"/>
          </a:ln>
        </p:spPr>
        <p:txBody>
          <a:bodyPr/>
          <a:lstStyle/>
          <a:p>
            <a:endParaRPr lang="it-IT"/>
          </a:p>
        </p:txBody>
      </p:sp>
      <p:sp>
        <p:nvSpPr>
          <p:cNvPr id="16" name="Rettangolo 15">
            <a:extLst>
              <a:ext uri="{FF2B5EF4-FFF2-40B4-BE49-F238E27FC236}">
                <a16:creationId xmlns:a16="http://schemas.microsoft.com/office/drawing/2014/main" id="{EAAD1828-F238-4BA2-BD2C-60615842DC5B}"/>
              </a:ext>
            </a:extLst>
          </p:cNvPr>
          <p:cNvSpPr>
            <a:spLocks noGrp="1"/>
          </p:cNvSpPr>
          <p:nvPr/>
        </p:nvSpPr>
        <p:spPr>
          <a:xfrm>
            <a:off x="8877300" y="4533900"/>
            <a:ext cx="2400300" cy="381000"/>
          </a:xfrm>
          <a:prstGeom prst="rect">
            <a:avLst/>
          </a:prstGeom>
          <a:noFill/>
          <a:ln w="0">
            <a:noFill/>
            <a:prstDash val="solid"/>
          </a:ln>
        </p:spPr>
        <p:txBody>
          <a:bodyPr wrap="square" lIns="0" tIns="0" rIns="0" bIns="0" anchor="t">
            <a:noAutofit/>
          </a:bodyPr>
          <a:lstStyle/>
          <a:p>
            <a:pPr algn="ctr">
              <a:buNone/>
              <a:defRPr sz="2175" b="1">
                <a:solidFill>
                  <a:srgbClr val="FFFFFF"/>
                </a:solidFill>
                <a:latin typeface="Arial"/>
                <a:ea typeface="Arial"/>
                <a:cs typeface="Arial"/>
              </a:defRPr>
            </a:pPr>
            <a:r>
              <a:rPr sz="2175" b="1">
                <a:solidFill>
                  <a:srgbClr val="FFFFFF"/>
                </a:solidFill>
                <a:latin typeface="Arial"/>
                <a:ea typeface="Arial"/>
                <a:cs typeface="Arial"/>
              </a:rPr>
              <a:t>23.8%  →  52.2%</a:t>
            </a:r>
          </a:p>
        </p:txBody>
      </p:sp>
      <p:sp>
        <p:nvSpPr>
          <p:cNvPr id="17" name="Rettangolo 16">
            <a:extLst>
              <a:ext uri="{FF2B5EF4-FFF2-40B4-BE49-F238E27FC236}">
                <a16:creationId xmlns:a16="http://schemas.microsoft.com/office/drawing/2014/main" id="{ABC4CE77-AF49-48BF-981A-8A6598910C9D}"/>
              </a:ext>
            </a:extLst>
          </p:cNvPr>
          <p:cNvSpPr>
            <a:spLocks noGrp="1"/>
          </p:cNvSpPr>
          <p:nvPr/>
        </p:nvSpPr>
        <p:spPr>
          <a:xfrm>
            <a:off x="8877300" y="4953000"/>
            <a:ext cx="2400300" cy="228600"/>
          </a:xfrm>
          <a:prstGeom prst="rect">
            <a:avLst/>
          </a:prstGeom>
          <a:noFill/>
          <a:ln w="0">
            <a:noFill/>
            <a:prstDash val="solid"/>
          </a:ln>
        </p:spPr>
        <p:txBody>
          <a:bodyPr wrap="square" lIns="0" tIns="0" rIns="0" bIns="0" anchor="t">
            <a:noAutofit/>
          </a:bodyPr>
          <a:lstStyle/>
          <a:p>
            <a:pPr algn="ctr">
              <a:buNone/>
              <a:defRPr sz="1275" b="0">
                <a:solidFill>
                  <a:srgbClr val="DCE4F3"/>
                </a:solidFill>
                <a:latin typeface="Arial"/>
                <a:ea typeface="Arial"/>
                <a:cs typeface="Arial"/>
              </a:defRPr>
            </a:pPr>
            <a:r>
              <a:rPr sz="1275" b="0">
                <a:solidFill>
                  <a:srgbClr val="DCE4F3"/>
                </a:solidFill>
                <a:latin typeface="Arial"/>
                <a:ea typeface="Arial"/>
                <a:cs typeface="Arial"/>
              </a:rPr>
              <a:t>OOD weapon assignment</a:t>
            </a:r>
          </a:p>
        </p:txBody>
      </p:sp>
      <p:sp>
        <p:nvSpPr>
          <p:cNvPr id="18" name="Rettangolo 17">
            <a:extLst>
              <a:ext uri="{FF2B5EF4-FFF2-40B4-BE49-F238E27FC236}">
                <a16:creationId xmlns:a16="http://schemas.microsoft.com/office/drawing/2014/main" id="{AA7ACF6B-58A7-4567-977D-A10198E44E94}"/>
              </a:ext>
            </a:extLst>
          </p:cNvPr>
          <p:cNvSpPr>
            <a:spLocks noGrp="1"/>
          </p:cNvSpPr>
          <p:nvPr/>
        </p:nvSpPr>
        <p:spPr>
          <a:xfrm>
            <a:off x="1333500" y="6076950"/>
            <a:ext cx="9525000" cy="285750"/>
          </a:xfrm>
          <a:prstGeom prst="rect">
            <a:avLst/>
          </a:prstGeom>
          <a:noFill/>
          <a:ln w="0">
            <a:noFill/>
            <a:prstDash val="solid"/>
          </a:ln>
        </p:spPr>
        <p:txBody>
          <a:bodyPr wrap="square" lIns="0" tIns="0" rIns="0" bIns="0" anchor="t">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No configuration minimizes missed targets, review workload and OOD assignments simultaneously.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15" name="Rettangolo 14">
            <a:extLst>
              <a:ext uri="{FF2B5EF4-FFF2-40B4-BE49-F238E27FC236}">
                <a16:creationId xmlns:a16="http://schemas.microsoft.com/office/drawing/2014/main" id="{DED6D724-FE30-49AE-997C-C1887C78417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5EA681E0-927A-45B2-8337-239E5FF9E121}"/>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OOD images were still routed to weapon</a:t>
            </a:r>
          </a:p>
        </p:txBody>
      </p:sp>
      <p:sp>
        <p:nvSpPr>
          <p:cNvPr id="3" name="Rettangolo 2">
            <a:extLst>
              <a:ext uri="{FF2B5EF4-FFF2-40B4-BE49-F238E27FC236}">
                <a16:creationId xmlns:a16="http://schemas.microsoft.com/office/drawing/2014/main" id="{02E27C31-8D1E-4BD3-8929-482DDDC7B9EB}"/>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B23CCABE-2638-4044-8CC3-F8BDA96C8E5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32AC8A4D-2588-4B15-8350-592248936756}"/>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17</a:t>
            </a:r>
          </a:p>
        </p:txBody>
      </p:sp>
      <p:sp>
        <p:nvSpPr>
          <p:cNvPr id="6" name="Rettangolo 5">
            <a:extLst>
              <a:ext uri="{FF2B5EF4-FFF2-40B4-BE49-F238E27FC236}">
                <a16:creationId xmlns:a16="http://schemas.microsoft.com/office/drawing/2014/main" id="{C8C57C77-6DBD-44DA-9192-A78EE4E2B07D}"/>
              </a:ext>
            </a:extLst>
          </p:cNvPr>
          <p:cNvSpPr>
            <a:spLocks noGrp="1"/>
          </p:cNvSpPr>
          <p:nvPr/>
        </p:nvSpPr>
        <p:spPr>
          <a:xfrm>
            <a:off x="685800" y="1257300"/>
            <a:ext cx="7810500" cy="247650"/>
          </a:xfrm>
          <a:prstGeom prst="rect">
            <a:avLst/>
          </a:prstGeom>
          <a:noFill/>
          <a:ln w="0">
            <a:noFill/>
            <a:prstDash val="solid"/>
          </a:ln>
        </p:spPr>
        <p:txBody>
          <a:bodyPr wrap="square" lIns="0" tIns="0" rIns="0" bIns="0" anchor="t">
            <a:noAutofit/>
          </a:bodyPr>
          <a:lstStyle/>
          <a:p>
            <a:pPr algn="ctr">
              <a:buNone/>
              <a:defRPr sz="1350" b="0">
                <a:solidFill>
                  <a:srgbClr val="5B6577"/>
                </a:solidFill>
                <a:latin typeface="Arial"/>
                <a:ea typeface="Arial"/>
                <a:cs typeface="Arial"/>
              </a:defRPr>
            </a:pPr>
            <a:r>
              <a:rPr sz="1350" b="0">
                <a:solidFill>
                  <a:srgbClr val="5B6577"/>
                </a:solidFill>
                <a:latin typeface="Arial"/>
                <a:ea typeface="Arial"/>
                <a:cs typeface="Arial"/>
              </a:rPr>
              <a:t>Weapon-assignment rate on the separate 500-image OOD branch</a:t>
            </a:r>
          </a:p>
        </p:txBody>
      </p:sp>
      <p:graphicFrame>
        <p:nvGraphicFramePr>
          <p:cNvPr id="23" name="Chart"/>
          <p:cNvGraphicFramePr/>
          <p:nvPr/>
        </p:nvGraphicFramePr>
        <p:xfrm>
          <a:off x="533400" y="1466850"/>
          <a:ext cx="8001000" cy="4648200"/>
        </p:xfrm>
        <a:graphic>
          <a:graphicData uri="http://schemas.openxmlformats.org/drawingml/2006/chart">
            <c:chart xmlns:c="http://schemas.openxmlformats.org/drawingml/2006/chart" r:id="rId2"/>
          </a:graphicData>
        </a:graphic>
      </p:graphicFrame>
      <p:sp>
        <p:nvSpPr>
          <p:cNvPr id="8" name="Rettangolo con angoli arrotondati 7">
            <a:extLst>
              <a:ext uri="{FF2B5EF4-FFF2-40B4-BE49-F238E27FC236}">
                <a16:creationId xmlns:a16="http://schemas.microsoft.com/office/drawing/2014/main" id="{162DD1E9-B02D-4444-9572-E8249CCCA93D}"/>
              </a:ext>
            </a:extLst>
          </p:cNvPr>
          <p:cNvSpPr>
            <a:spLocks noGrp="1"/>
          </p:cNvSpPr>
          <p:nvPr/>
        </p:nvSpPr>
        <p:spPr>
          <a:xfrm>
            <a:off x="8858250" y="1619250"/>
            <a:ext cx="2647950" cy="1428750"/>
          </a:xfrm>
          <a:prstGeom prst="roundRect">
            <a:avLst>
              <a:gd name="adj" fmla="val 12000"/>
            </a:avLst>
          </a:prstGeom>
          <a:solidFill>
            <a:srgbClr val="FBEAEA"/>
          </a:solidFill>
          <a:ln w="0">
            <a:noFill/>
            <a:prstDash val="solid"/>
          </a:ln>
        </p:spPr>
        <p:txBody>
          <a:bodyPr/>
          <a:lstStyle/>
          <a:p>
            <a:endParaRPr lang="it-IT"/>
          </a:p>
        </p:txBody>
      </p:sp>
      <p:sp>
        <p:nvSpPr>
          <p:cNvPr id="9" name="Rettangolo 8">
            <a:extLst>
              <a:ext uri="{FF2B5EF4-FFF2-40B4-BE49-F238E27FC236}">
                <a16:creationId xmlns:a16="http://schemas.microsoft.com/office/drawing/2014/main" id="{C66F82BF-F8CF-4914-8747-DF7B49329C5C}"/>
              </a:ext>
            </a:extLst>
          </p:cNvPr>
          <p:cNvSpPr>
            <a:spLocks noGrp="1"/>
          </p:cNvSpPr>
          <p:nvPr/>
        </p:nvSpPr>
        <p:spPr>
          <a:xfrm>
            <a:off x="9048750" y="1943100"/>
            <a:ext cx="2266950" cy="571500"/>
          </a:xfrm>
          <a:prstGeom prst="rect">
            <a:avLst/>
          </a:prstGeom>
          <a:noFill/>
          <a:ln w="0">
            <a:noFill/>
            <a:prstDash val="solid"/>
          </a:ln>
        </p:spPr>
        <p:txBody>
          <a:bodyPr wrap="square" lIns="0" tIns="0" rIns="0" bIns="0" anchor="t">
            <a:noAutofit/>
          </a:bodyPr>
          <a:lstStyle/>
          <a:p>
            <a:pPr algn="ctr">
              <a:buNone/>
              <a:defRPr sz="3675" b="1">
                <a:solidFill>
                  <a:srgbClr val="BE3C37"/>
                </a:solidFill>
                <a:latin typeface="Arial"/>
                <a:ea typeface="Arial"/>
                <a:cs typeface="Arial"/>
              </a:defRPr>
            </a:pPr>
            <a:r>
              <a:rPr sz="3675" b="1">
                <a:solidFill>
                  <a:srgbClr val="BE3C37"/>
                </a:solidFill>
                <a:latin typeface="Arial"/>
                <a:ea typeface="Arial"/>
                <a:cs typeface="Arial"/>
              </a:rPr>
              <a:t>83.6%</a:t>
            </a:r>
          </a:p>
        </p:txBody>
      </p:sp>
      <p:sp>
        <p:nvSpPr>
          <p:cNvPr id="10" name="Rettangolo 9">
            <a:extLst>
              <a:ext uri="{FF2B5EF4-FFF2-40B4-BE49-F238E27FC236}">
                <a16:creationId xmlns:a16="http://schemas.microsoft.com/office/drawing/2014/main" id="{FB8121E6-B232-4F7B-975D-38945AFE3309}"/>
              </a:ext>
            </a:extLst>
          </p:cNvPr>
          <p:cNvSpPr>
            <a:spLocks noGrp="1"/>
          </p:cNvSpPr>
          <p:nvPr/>
        </p:nvSpPr>
        <p:spPr>
          <a:xfrm>
            <a:off x="9048750" y="2590800"/>
            <a:ext cx="2266950" cy="266700"/>
          </a:xfrm>
          <a:prstGeom prst="rect">
            <a:avLst/>
          </a:prstGeom>
          <a:noFill/>
          <a:ln w="0">
            <a:noFill/>
            <a:prstDash val="solid"/>
          </a:ln>
        </p:spPr>
        <p:txBody>
          <a:bodyPr wrap="square" lIns="0" tIns="0" rIns="0" bIns="0" anchor="t">
            <a:noAutofit/>
          </a:bodyPr>
          <a:lstStyle/>
          <a:p>
            <a:pPr algn="ctr">
              <a:buNone/>
              <a:defRPr sz="1500" b="1">
                <a:solidFill>
                  <a:srgbClr val="172033"/>
                </a:solidFill>
                <a:latin typeface="Arial"/>
                <a:ea typeface="Arial"/>
                <a:cs typeface="Arial"/>
              </a:defRPr>
            </a:pPr>
            <a:r>
              <a:rPr sz="1500" b="1">
                <a:solidFill>
                  <a:srgbClr val="172033"/>
                </a:solidFill>
                <a:latin typeface="Arial"/>
                <a:ea typeface="Arial"/>
                <a:cs typeface="Arial"/>
              </a:rPr>
              <a:t>CLIP proxy</a:t>
            </a:r>
          </a:p>
        </p:txBody>
      </p:sp>
      <p:sp>
        <p:nvSpPr>
          <p:cNvPr id="11" name="Rettangolo con angoli arrotondati 10">
            <a:extLst>
              <a:ext uri="{FF2B5EF4-FFF2-40B4-BE49-F238E27FC236}">
                <a16:creationId xmlns:a16="http://schemas.microsoft.com/office/drawing/2014/main" id="{C227376D-1F4B-4368-B470-3C3C554720A1}"/>
              </a:ext>
            </a:extLst>
          </p:cNvPr>
          <p:cNvSpPr>
            <a:spLocks noGrp="1"/>
          </p:cNvSpPr>
          <p:nvPr/>
        </p:nvSpPr>
        <p:spPr>
          <a:xfrm>
            <a:off x="8858250" y="3314700"/>
            <a:ext cx="2647950" cy="1428750"/>
          </a:xfrm>
          <a:prstGeom prst="roundRect">
            <a:avLst>
              <a:gd name="adj" fmla="val 12000"/>
            </a:avLst>
          </a:prstGeom>
          <a:solidFill>
            <a:srgbClr val="FFF4CD"/>
          </a:solidFill>
          <a:ln w="0">
            <a:noFill/>
            <a:prstDash val="solid"/>
          </a:ln>
        </p:spPr>
        <p:txBody>
          <a:bodyPr/>
          <a:lstStyle/>
          <a:p>
            <a:endParaRPr lang="it-IT"/>
          </a:p>
        </p:txBody>
      </p:sp>
      <p:sp>
        <p:nvSpPr>
          <p:cNvPr id="12" name="Rettangolo 11">
            <a:extLst>
              <a:ext uri="{FF2B5EF4-FFF2-40B4-BE49-F238E27FC236}">
                <a16:creationId xmlns:a16="http://schemas.microsoft.com/office/drawing/2014/main" id="{F2B5D134-0109-4C0B-83F0-6B3FC048A3AC}"/>
              </a:ext>
            </a:extLst>
          </p:cNvPr>
          <p:cNvSpPr>
            <a:spLocks noGrp="1"/>
          </p:cNvSpPr>
          <p:nvPr/>
        </p:nvSpPr>
        <p:spPr>
          <a:xfrm>
            <a:off x="9048750" y="3638550"/>
            <a:ext cx="2266950" cy="571500"/>
          </a:xfrm>
          <a:prstGeom prst="rect">
            <a:avLst/>
          </a:prstGeom>
          <a:noFill/>
          <a:ln w="0">
            <a:noFill/>
            <a:prstDash val="solid"/>
          </a:ln>
        </p:spPr>
        <p:txBody>
          <a:bodyPr wrap="square" lIns="0" tIns="0" rIns="0" bIns="0" anchor="t">
            <a:noAutofit/>
          </a:bodyPr>
          <a:lstStyle/>
          <a:p>
            <a:pPr algn="ctr">
              <a:buNone/>
              <a:defRPr sz="2700" b="1">
                <a:solidFill>
                  <a:srgbClr val="C89B14"/>
                </a:solidFill>
                <a:latin typeface="Arial"/>
                <a:ea typeface="Arial"/>
                <a:cs typeface="Arial"/>
              </a:defRPr>
            </a:pPr>
            <a:r>
              <a:rPr sz="2700" b="1">
                <a:solidFill>
                  <a:srgbClr val="C89B14"/>
                </a:solidFill>
                <a:latin typeface="Arial"/>
                <a:ea typeface="Arial"/>
                <a:cs typeface="Arial"/>
              </a:rPr>
              <a:t>23.8–52.2%</a:t>
            </a:r>
          </a:p>
        </p:txBody>
      </p:sp>
      <p:sp>
        <p:nvSpPr>
          <p:cNvPr id="13" name="Rettangolo 12">
            <a:extLst>
              <a:ext uri="{FF2B5EF4-FFF2-40B4-BE49-F238E27FC236}">
                <a16:creationId xmlns:a16="http://schemas.microsoft.com/office/drawing/2014/main" id="{6C367E04-4539-48B7-95FD-25BE3AFE42D3}"/>
              </a:ext>
            </a:extLst>
          </p:cNvPr>
          <p:cNvSpPr>
            <a:spLocks noGrp="1"/>
          </p:cNvSpPr>
          <p:nvPr/>
        </p:nvSpPr>
        <p:spPr>
          <a:xfrm>
            <a:off x="9048750" y="4286250"/>
            <a:ext cx="2266950" cy="266700"/>
          </a:xfrm>
          <a:prstGeom prst="rect">
            <a:avLst/>
          </a:prstGeom>
          <a:noFill/>
          <a:ln w="0">
            <a:noFill/>
            <a:prstDash val="solid"/>
          </a:ln>
        </p:spPr>
        <p:txBody>
          <a:bodyPr wrap="square" lIns="0" tIns="0" rIns="0" bIns="0" anchor="t">
            <a:noAutofit/>
          </a:bodyPr>
          <a:lstStyle/>
          <a:p>
            <a:pPr algn="ctr">
              <a:buNone/>
              <a:defRPr sz="1500" b="1">
                <a:solidFill>
                  <a:srgbClr val="172033"/>
                </a:solidFill>
                <a:latin typeface="Arial"/>
                <a:ea typeface="Arial"/>
                <a:cs typeface="Arial"/>
              </a:defRPr>
            </a:pPr>
            <a:r>
              <a:rPr sz="1500" b="1">
                <a:solidFill>
                  <a:srgbClr val="172033"/>
                </a:solidFill>
                <a:latin typeface="Arial"/>
                <a:ea typeface="Arial"/>
                <a:cs typeface="Arial"/>
              </a:rPr>
              <a:t>black-box range</a:t>
            </a:r>
          </a:p>
        </p:txBody>
      </p:sp>
      <p:sp>
        <p:nvSpPr>
          <p:cNvPr id="14" name="Rettangolo 13">
            <a:extLst>
              <a:ext uri="{FF2B5EF4-FFF2-40B4-BE49-F238E27FC236}">
                <a16:creationId xmlns:a16="http://schemas.microsoft.com/office/drawing/2014/main" id="{ED55BAD6-5F50-4762-AA30-51DEBFC8C1C5}"/>
              </a:ext>
            </a:extLst>
          </p:cNvPr>
          <p:cNvSpPr>
            <a:spLocks noGrp="1"/>
          </p:cNvSpPr>
          <p:nvPr/>
        </p:nvSpPr>
        <p:spPr>
          <a:xfrm>
            <a:off x="8820150" y="5143500"/>
            <a:ext cx="2724150" cy="647700"/>
          </a:xfrm>
          <a:prstGeom prst="rect">
            <a:avLst/>
          </a:prstGeom>
          <a:noFill/>
          <a:ln w="0">
            <a:noFill/>
            <a:prstDash val="solid"/>
          </a:ln>
        </p:spPr>
        <p:txBody>
          <a:bodyPr wrap="square" lIns="0" tIns="0" rIns="0" bIns="0" anchor="ctr">
            <a:noAutofit/>
          </a:bodyPr>
          <a:lstStyle/>
          <a:p>
            <a:pPr algn="ctr">
              <a:buNone/>
              <a:defRPr sz="1500" b="1">
                <a:solidFill>
                  <a:srgbClr val="233A70"/>
                </a:solidFill>
                <a:latin typeface="Arial"/>
                <a:ea typeface="Arial"/>
                <a:cs typeface="Arial"/>
              </a:defRPr>
            </a:pPr>
            <a:r>
              <a:rPr sz="1500" b="1">
                <a:solidFill>
                  <a:srgbClr val="233A70"/>
                </a:solidFill>
                <a:latin typeface="Arial"/>
                <a:ea typeface="Arial"/>
                <a:cs typeface="Arial"/>
              </a:rPr>
              <a:t>These are closed-set operating behaviors—not supervised false positives.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6" name="Rettangolo 25">
            <a:extLst>
              <a:ext uri="{FF2B5EF4-FFF2-40B4-BE49-F238E27FC236}">
                <a16:creationId xmlns:a16="http://schemas.microsoft.com/office/drawing/2014/main" id="{5645DA4D-5BF9-4953-8433-9A7E419FF066}"/>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E4F3758C-2532-486E-A04E-E3D13E2CDF8A}"/>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 maximally concentrated output can still be wrong</a:t>
            </a:r>
          </a:p>
        </p:txBody>
      </p:sp>
      <p:sp>
        <p:nvSpPr>
          <p:cNvPr id="3" name="Rettangolo 2">
            <a:extLst>
              <a:ext uri="{FF2B5EF4-FFF2-40B4-BE49-F238E27FC236}">
                <a16:creationId xmlns:a16="http://schemas.microsoft.com/office/drawing/2014/main" id="{CA526874-FE39-4860-AE76-8FB19350DF74}"/>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0A090AA1-0FBA-403D-B515-3D72E084FF70}"/>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E694E014-2838-430B-BED6-5AAAE1012DAB}"/>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18</a:t>
            </a:r>
          </a:p>
        </p:txBody>
      </p:sp>
      <p:pic>
        <p:nvPicPr>
          <p:cNvPr id="27" name="Picture 26" descr="image.png"/>
          <p:cNvPicPr>
            <a:picLocks noChangeAspect="1"/>
          </p:cNvPicPr>
          <p:nvPr/>
        </p:nvPicPr>
        <p:blipFill>
          <a:blip r:embed="rId2"/>
          <a:srcRect/>
          <a:stretch>
            <a:fillRect/>
          </a:stretch>
        </p:blipFill>
        <p:spPr>
          <a:xfrm>
            <a:off x="685800" y="1638300"/>
            <a:ext cx="2000250" cy="2000250"/>
          </a:xfrm>
          <a:prstGeom prst="rect">
            <a:avLst/>
          </a:prstGeom>
        </p:spPr>
      </p:pic>
      <p:sp>
        <p:nvSpPr>
          <p:cNvPr id="7" name="Rettangolo 6">
            <a:extLst>
              <a:ext uri="{FF2B5EF4-FFF2-40B4-BE49-F238E27FC236}">
                <a16:creationId xmlns:a16="http://schemas.microsoft.com/office/drawing/2014/main" id="{F435B978-2CD2-4500-A3CA-AAC78EA22718}"/>
              </a:ext>
            </a:extLst>
          </p:cNvPr>
          <p:cNvSpPr>
            <a:spLocks noGrp="1"/>
          </p:cNvSpPr>
          <p:nvPr/>
        </p:nvSpPr>
        <p:spPr>
          <a:xfrm>
            <a:off x="68580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Perturbed input</a:t>
            </a:r>
          </a:p>
        </p:txBody>
      </p:sp>
      <p:sp>
        <p:nvSpPr>
          <p:cNvPr id="8" name="Rettangolo 7">
            <a:extLst>
              <a:ext uri="{FF2B5EF4-FFF2-40B4-BE49-F238E27FC236}">
                <a16:creationId xmlns:a16="http://schemas.microsoft.com/office/drawing/2014/main" id="{B1989978-C8F3-45F2-99A5-CA65821A908A}"/>
              </a:ext>
            </a:extLst>
          </p:cNvPr>
          <p:cNvSpPr>
            <a:spLocks noGrp="1"/>
          </p:cNvSpPr>
          <p:nvPr/>
        </p:nvSpPr>
        <p:spPr>
          <a:xfrm>
            <a:off x="68580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Sigma Zero</a:t>
            </a:r>
          </a:p>
        </p:txBody>
      </p:sp>
      <p:pic>
        <p:nvPicPr>
          <p:cNvPr id="28" name="Picture 27" descr="image.png"/>
          <p:cNvPicPr>
            <a:picLocks noChangeAspect="1"/>
          </p:cNvPicPr>
          <p:nvPr/>
        </p:nvPicPr>
        <p:blipFill>
          <a:blip r:embed="rId3"/>
          <a:srcRect/>
          <a:stretch>
            <a:fillRect/>
          </a:stretch>
        </p:blipFill>
        <p:spPr>
          <a:xfrm>
            <a:off x="2990850" y="1638300"/>
            <a:ext cx="2000250" cy="2000250"/>
          </a:xfrm>
          <a:prstGeom prst="rect">
            <a:avLst/>
          </a:prstGeom>
        </p:spPr>
      </p:pic>
      <p:sp>
        <p:nvSpPr>
          <p:cNvPr id="10" name="Rettangolo 9">
            <a:extLst>
              <a:ext uri="{FF2B5EF4-FFF2-40B4-BE49-F238E27FC236}">
                <a16:creationId xmlns:a16="http://schemas.microsoft.com/office/drawing/2014/main" id="{E91D850F-EA38-4FEE-BE99-2BC2EB72ECB5}"/>
              </a:ext>
            </a:extLst>
          </p:cNvPr>
          <p:cNvSpPr>
            <a:spLocks noGrp="1"/>
          </p:cNvSpPr>
          <p:nvPr/>
        </p:nvSpPr>
        <p:spPr>
          <a:xfrm>
            <a:off x="299085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IG magnitude</a:t>
            </a:r>
          </a:p>
        </p:txBody>
      </p:sp>
      <p:sp>
        <p:nvSpPr>
          <p:cNvPr id="11" name="Rettangolo 10">
            <a:extLst>
              <a:ext uri="{FF2B5EF4-FFF2-40B4-BE49-F238E27FC236}">
                <a16:creationId xmlns:a16="http://schemas.microsoft.com/office/drawing/2014/main" id="{8491799F-BA10-4AA0-9BE0-C7F292FCB7FE}"/>
              </a:ext>
            </a:extLst>
          </p:cNvPr>
          <p:cNvSpPr>
            <a:spLocks noGrp="1"/>
          </p:cNvSpPr>
          <p:nvPr/>
        </p:nvSpPr>
        <p:spPr>
          <a:xfrm>
            <a:off x="299085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predicted class</a:t>
            </a:r>
          </a:p>
        </p:txBody>
      </p:sp>
      <p:pic>
        <p:nvPicPr>
          <p:cNvPr id="29" name="Picture 28" descr="image.png"/>
          <p:cNvPicPr>
            <a:picLocks noChangeAspect="1"/>
          </p:cNvPicPr>
          <p:nvPr/>
        </p:nvPicPr>
        <p:blipFill>
          <a:blip r:embed="rId4"/>
          <a:srcRect/>
          <a:stretch>
            <a:fillRect/>
          </a:stretch>
        </p:blipFill>
        <p:spPr>
          <a:xfrm>
            <a:off x="5295900" y="1638300"/>
            <a:ext cx="2000250" cy="2000250"/>
          </a:xfrm>
          <a:prstGeom prst="rect">
            <a:avLst/>
          </a:prstGeom>
        </p:spPr>
      </p:pic>
      <p:sp>
        <p:nvSpPr>
          <p:cNvPr id="13" name="Rettangolo 12">
            <a:extLst>
              <a:ext uri="{FF2B5EF4-FFF2-40B4-BE49-F238E27FC236}">
                <a16:creationId xmlns:a16="http://schemas.microsoft.com/office/drawing/2014/main" id="{BD18B2E2-966E-4B84-B33C-A64D6FBBD8E2}"/>
              </a:ext>
            </a:extLst>
          </p:cNvPr>
          <p:cNvSpPr>
            <a:spLocks noGrp="1"/>
          </p:cNvSpPr>
          <p:nvPr/>
        </p:nvSpPr>
        <p:spPr>
          <a:xfrm>
            <a:off x="5295900" y="3771900"/>
            <a:ext cx="200025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Attribution overlay</a:t>
            </a:r>
          </a:p>
        </p:txBody>
      </p:sp>
      <p:sp>
        <p:nvSpPr>
          <p:cNvPr id="14" name="Rettangolo 13">
            <a:extLst>
              <a:ext uri="{FF2B5EF4-FFF2-40B4-BE49-F238E27FC236}">
                <a16:creationId xmlns:a16="http://schemas.microsoft.com/office/drawing/2014/main" id="{F42CFE87-0CE4-4FBF-BED1-B5868165BBDA}"/>
              </a:ext>
            </a:extLst>
          </p:cNvPr>
          <p:cNvSpPr>
            <a:spLocks noGrp="1"/>
          </p:cNvSpPr>
          <p:nvPr/>
        </p:nvSpPr>
        <p:spPr>
          <a:xfrm>
            <a:off x="5295900" y="4057650"/>
            <a:ext cx="2000250" cy="228600"/>
          </a:xfrm>
          <a:prstGeom prst="rect">
            <a:avLst/>
          </a:prstGeom>
          <a:noFill/>
          <a:ln w="0">
            <a:noFill/>
            <a:prstDash val="solid"/>
          </a:ln>
        </p:spPr>
        <p:txBody>
          <a:bodyPr wrap="square" lIns="0" tIns="0" rIns="0" bIns="0" anchor="t">
            <a:noAutofit/>
          </a:bodyPr>
          <a:lstStyle/>
          <a:p>
            <a:pPr algn="ctr">
              <a:buNone/>
              <a:defRPr sz="1200" b="0">
                <a:solidFill>
                  <a:srgbClr val="5B6577"/>
                </a:solidFill>
                <a:latin typeface="Arial"/>
                <a:ea typeface="Arial"/>
                <a:cs typeface="Arial"/>
              </a:defRPr>
            </a:pPr>
            <a:r>
              <a:rPr sz="1200" b="0">
                <a:solidFill>
                  <a:srgbClr val="5B6577"/>
                </a:solidFill>
                <a:latin typeface="Arial"/>
                <a:ea typeface="Arial"/>
                <a:cs typeface="Arial"/>
              </a:rPr>
              <a:t>qualitative only</a:t>
            </a:r>
          </a:p>
        </p:txBody>
      </p:sp>
      <p:sp>
        <p:nvSpPr>
          <p:cNvPr id="15" name="Rettangolo con angoli arrotondati 14">
            <a:extLst>
              <a:ext uri="{FF2B5EF4-FFF2-40B4-BE49-F238E27FC236}">
                <a16:creationId xmlns:a16="http://schemas.microsoft.com/office/drawing/2014/main" id="{FA069229-F17B-4C8B-BB46-930BCC99CC7F}"/>
              </a:ext>
            </a:extLst>
          </p:cNvPr>
          <p:cNvSpPr>
            <a:spLocks noGrp="1"/>
          </p:cNvSpPr>
          <p:nvPr/>
        </p:nvSpPr>
        <p:spPr>
          <a:xfrm>
            <a:off x="7810500" y="1562100"/>
            <a:ext cx="3695700" cy="2857500"/>
          </a:xfrm>
          <a:prstGeom prst="roundRect">
            <a:avLst>
              <a:gd name="adj" fmla="val 6667"/>
            </a:avLst>
          </a:prstGeom>
          <a:solidFill>
            <a:srgbClr val="233A70"/>
          </a:solidFill>
          <a:ln w="0">
            <a:noFill/>
            <a:prstDash val="solid"/>
          </a:ln>
        </p:spPr>
        <p:txBody>
          <a:bodyPr/>
          <a:lstStyle/>
          <a:p>
            <a:endParaRPr lang="it-IT"/>
          </a:p>
        </p:txBody>
      </p:sp>
      <p:sp>
        <p:nvSpPr>
          <p:cNvPr id="16" name="Rettangolo 15">
            <a:extLst>
              <a:ext uri="{FF2B5EF4-FFF2-40B4-BE49-F238E27FC236}">
                <a16:creationId xmlns:a16="http://schemas.microsoft.com/office/drawing/2014/main" id="{7D25BA6B-1106-4A33-832D-36A979EC83DB}"/>
              </a:ext>
            </a:extLst>
          </p:cNvPr>
          <p:cNvSpPr>
            <a:spLocks noGrp="1"/>
          </p:cNvSpPr>
          <p:nvPr/>
        </p:nvSpPr>
        <p:spPr>
          <a:xfrm>
            <a:off x="8096250" y="1828800"/>
            <a:ext cx="3124200" cy="228600"/>
          </a:xfrm>
          <a:prstGeom prst="rect">
            <a:avLst/>
          </a:prstGeom>
          <a:noFill/>
          <a:ln w="0">
            <a:noFill/>
            <a:prstDash val="solid"/>
          </a:ln>
        </p:spPr>
        <p:txBody>
          <a:bodyPr wrap="square" lIns="0" tIns="0" rIns="0" bIns="0" anchor="t">
            <a:noAutofit/>
          </a:bodyPr>
          <a:lstStyle/>
          <a:p>
            <a:pPr algn="ctr">
              <a:buNone/>
              <a:defRPr sz="1275" b="1">
                <a:solidFill>
                  <a:srgbClr val="14B978"/>
                </a:solidFill>
                <a:latin typeface="Arial"/>
                <a:ea typeface="Arial"/>
                <a:cs typeface="Arial"/>
              </a:defRPr>
            </a:pPr>
            <a:r>
              <a:rPr sz="1275" b="1">
                <a:solidFill>
                  <a:srgbClr val="14B978"/>
                </a:solidFill>
                <a:latin typeface="Arial"/>
                <a:ea typeface="Arial"/>
                <a:cs typeface="Arial"/>
              </a:rPr>
              <a:t>xai_case_0015</a:t>
            </a:r>
          </a:p>
        </p:txBody>
      </p:sp>
      <p:sp>
        <p:nvSpPr>
          <p:cNvPr id="17" name="Rettangolo 16">
            <a:extLst>
              <a:ext uri="{FF2B5EF4-FFF2-40B4-BE49-F238E27FC236}">
                <a16:creationId xmlns:a16="http://schemas.microsoft.com/office/drawing/2014/main" id="{3EAB3D39-A4EA-43CB-9D21-A6855C38A875}"/>
              </a:ext>
            </a:extLst>
          </p:cNvPr>
          <p:cNvSpPr>
            <a:spLocks noGrp="1"/>
          </p:cNvSpPr>
          <p:nvPr/>
        </p:nvSpPr>
        <p:spPr>
          <a:xfrm>
            <a:off x="8096250" y="2305050"/>
            <a:ext cx="1333500" cy="228600"/>
          </a:xfrm>
          <a:prstGeom prst="rect">
            <a:avLst/>
          </a:prstGeom>
          <a:noFill/>
          <a:ln w="0">
            <a:noFill/>
            <a:prstDash val="solid"/>
          </a:ln>
        </p:spPr>
        <p:txBody>
          <a:bodyPr wrap="square" lIns="0" tIns="0" rIns="0" bIns="0" anchor="t">
            <a:noAutofit/>
          </a:bodyPr>
          <a:lstStyle/>
          <a:p>
            <a:pPr algn="ctr">
              <a:buNone/>
              <a:defRPr sz="1200" b="1">
                <a:solidFill>
                  <a:srgbClr val="DCE4F3"/>
                </a:solidFill>
                <a:latin typeface="Arial"/>
                <a:ea typeface="Arial"/>
                <a:cs typeface="Arial"/>
              </a:defRPr>
            </a:pPr>
            <a:r>
              <a:rPr sz="1200" b="1">
                <a:solidFill>
                  <a:srgbClr val="DCE4F3"/>
                </a:solidFill>
                <a:latin typeface="Arial"/>
                <a:ea typeface="Arial"/>
                <a:cs typeface="Arial"/>
              </a:rPr>
              <a:t>REFERENCE</a:t>
            </a:r>
          </a:p>
        </p:txBody>
      </p:sp>
      <p:sp>
        <p:nvSpPr>
          <p:cNvPr id="18" name="Rettangolo 17">
            <a:extLst>
              <a:ext uri="{FF2B5EF4-FFF2-40B4-BE49-F238E27FC236}">
                <a16:creationId xmlns:a16="http://schemas.microsoft.com/office/drawing/2014/main" id="{C1C5FAD1-3F30-4059-A516-5B8394AAE46E}"/>
              </a:ext>
            </a:extLst>
          </p:cNvPr>
          <p:cNvSpPr>
            <a:spLocks noGrp="1"/>
          </p:cNvSpPr>
          <p:nvPr/>
        </p:nvSpPr>
        <p:spPr>
          <a:xfrm>
            <a:off x="8096250" y="2590800"/>
            <a:ext cx="133350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non_weapon</a:t>
            </a:r>
          </a:p>
        </p:txBody>
      </p:sp>
      <p:sp>
        <p:nvSpPr>
          <p:cNvPr id="19" name="Rettangolo 18">
            <a:extLst>
              <a:ext uri="{FF2B5EF4-FFF2-40B4-BE49-F238E27FC236}">
                <a16:creationId xmlns:a16="http://schemas.microsoft.com/office/drawing/2014/main" id="{535795A5-21C9-4CC4-AF05-3AA3207A1EC2}"/>
              </a:ext>
            </a:extLst>
          </p:cNvPr>
          <p:cNvSpPr>
            <a:spLocks noGrp="1"/>
          </p:cNvSpPr>
          <p:nvPr/>
        </p:nvSpPr>
        <p:spPr>
          <a:xfrm>
            <a:off x="9886950" y="2305050"/>
            <a:ext cx="1333500" cy="228600"/>
          </a:xfrm>
          <a:prstGeom prst="rect">
            <a:avLst/>
          </a:prstGeom>
          <a:noFill/>
          <a:ln w="0">
            <a:noFill/>
            <a:prstDash val="solid"/>
          </a:ln>
        </p:spPr>
        <p:txBody>
          <a:bodyPr wrap="square" lIns="0" tIns="0" rIns="0" bIns="0" anchor="t">
            <a:noAutofit/>
          </a:bodyPr>
          <a:lstStyle/>
          <a:p>
            <a:pPr algn="ctr">
              <a:buNone/>
              <a:defRPr sz="1200" b="1">
                <a:solidFill>
                  <a:srgbClr val="DCE4F3"/>
                </a:solidFill>
                <a:latin typeface="Arial"/>
                <a:ea typeface="Arial"/>
                <a:cs typeface="Arial"/>
              </a:defRPr>
            </a:pPr>
            <a:r>
              <a:rPr sz="1200" b="1">
                <a:solidFill>
                  <a:srgbClr val="DCE4F3"/>
                </a:solidFill>
                <a:latin typeface="Arial"/>
                <a:ea typeface="Arial"/>
                <a:cs typeface="Arial"/>
              </a:rPr>
              <a:t>PREDICTION</a:t>
            </a:r>
          </a:p>
        </p:txBody>
      </p:sp>
      <p:sp>
        <p:nvSpPr>
          <p:cNvPr id="20" name="Rettangolo 19">
            <a:extLst>
              <a:ext uri="{FF2B5EF4-FFF2-40B4-BE49-F238E27FC236}">
                <a16:creationId xmlns:a16="http://schemas.microsoft.com/office/drawing/2014/main" id="{9864EAE4-9F0E-4EF8-8279-3D124BC4010B}"/>
              </a:ext>
            </a:extLst>
          </p:cNvPr>
          <p:cNvSpPr>
            <a:spLocks noGrp="1"/>
          </p:cNvSpPr>
          <p:nvPr/>
        </p:nvSpPr>
        <p:spPr>
          <a:xfrm>
            <a:off x="9886950" y="2590800"/>
            <a:ext cx="133350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weapon</a:t>
            </a:r>
          </a:p>
        </p:txBody>
      </p:sp>
      <p:sp>
        <p:nvSpPr>
          <p:cNvPr id="21" name="Rettangolo 20">
            <a:extLst>
              <a:ext uri="{FF2B5EF4-FFF2-40B4-BE49-F238E27FC236}">
                <a16:creationId xmlns:a16="http://schemas.microsoft.com/office/drawing/2014/main" id="{471C4D3D-721D-4498-8EFA-1BF90F405B30}"/>
              </a:ext>
            </a:extLst>
          </p:cNvPr>
          <p:cNvSpPr>
            <a:spLocks noGrp="1"/>
          </p:cNvSpPr>
          <p:nvPr/>
        </p:nvSpPr>
        <p:spPr>
          <a:xfrm>
            <a:off x="8172450" y="3124200"/>
            <a:ext cx="2971800" cy="19050"/>
          </a:xfrm>
          <a:prstGeom prst="rect">
            <a:avLst/>
          </a:prstGeom>
          <a:solidFill>
            <a:srgbClr val="536A9B"/>
          </a:solidFill>
          <a:ln w="0">
            <a:noFill/>
            <a:prstDash val="solid"/>
          </a:ln>
        </p:spPr>
        <p:txBody>
          <a:bodyPr/>
          <a:lstStyle/>
          <a:p>
            <a:endParaRPr lang="it-IT"/>
          </a:p>
        </p:txBody>
      </p:sp>
      <p:sp>
        <p:nvSpPr>
          <p:cNvPr id="22" name="Rettangolo 21">
            <a:extLst>
              <a:ext uri="{FF2B5EF4-FFF2-40B4-BE49-F238E27FC236}">
                <a16:creationId xmlns:a16="http://schemas.microsoft.com/office/drawing/2014/main" id="{A2E0B2CD-9A4A-41BF-8D83-9380D61CA4D4}"/>
              </a:ext>
            </a:extLst>
          </p:cNvPr>
          <p:cNvSpPr>
            <a:spLocks noGrp="1"/>
          </p:cNvSpPr>
          <p:nvPr/>
        </p:nvSpPr>
        <p:spPr>
          <a:xfrm>
            <a:off x="8096250" y="3371850"/>
            <a:ext cx="3124200" cy="209550"/>
          </a:xfrm>
          <a:prstGeom prst="rect">
            <a:avLst/>
          </a:prstGeom>
          <a:noFill/>
          <a:ln w="0">
            <a:noFill/>
            <a:prstDash val="solid"/>
          </a:ln>
        </p:spPr>
        <p:txBody>
          <a:bodyPr wrap="square" lIns="0" tIns="0" rIns="0" bIns="0" anchor="t">
            <a:noAutofit/>
          </a:bodyPr>
          <a:lstStyle/>
          <a:p>
            <a:pPr algn="ctr">
              <a:buNone/>
              <a:defRPr sz="1200" b="1">
                <a:solidFill>
                  <a:srgbClr val="14B978"/>
                </a:solidFill>
                <a:latin typeface="Arial"/>
                <a:ea typeface="Arial"/>
                <a:cs typeface="Arial"/>
              </a:defRPr>
            </a:pPr>
            <a:r>
              <a:rPr sz="1200" b="1">
                <a:solidFill>
                  <a:srgbClr val="14B978"/>
                </a:solidFill>
                <a:latin typeface="Arial"/>
                <a:ea typeface="Arial"/>
                <a:cs typeface="Arial"/>
              </a:rPr>
              <a:t>MAX-P</a:t>
            </a:r>
          </a:p>
        </p:txBody>
      </p:sp>
      <p:sp>
        <p:nvSpPr>
          <p:cNvPr id="23" name="Rettangolo 22">
            <a:extLst>
              <a:ext uri="{FF2B5EF4-FFF2-40B4-BE49-F238E27FC236}">
                <a16:creationId xmlns:a16="http://schemas.microsoft.com/office/drawing/2014/main" id="{09EB84B4-E40A-4FB5-A6A0-847175A7A7AD}"/>
              </a:ext>
            </a:extLst>
          </p:cNvPr>
          <p:cNvSpPr>
            <a:spLocks noGrp="1"/>
          </p:cNvSpPr>
          <p:nvPr/>
        </p:nvSpPr>
        <p:spPr>
          <a:xfrm>
            <a:off x="8096250" y="3638550"/>
            <a:ext cx="3124200" cy="514350"/>
          </a:xfrm>
          <a:prstGeom prst="rect">
            <a:avLst/>
          </a:prstGeom>
          <a:noFill/>
          <a:ln w="0">
            <a:noFill/>
            <a:prstDash val="solid"/>
          </a:ln>
        </p:spPr>
        <p:txBody>
          <a:bodyPr wrap="square" lIns="0" tIns="0" rIns="0" bIns="0" anchor="t">
            <a:noAutofit/>
          </a:bodyPr>
          <a:lstStyle/>
          <a:p>
            <a:pPr algn="ctr">
              <a:buNone/>
              <a:defRPr sz="3375" b="1">
                <a:solidFill>
                  <a:srgbClr val="FFFFFF"/>
                </a:solidFill>
                <a:latin typeface="Arial"/>
                <a:ea typeface="Arial"/>
                <a:cs typeface="Arial"/>
              </a:defRPr>
            </a:pPr>
            <a:r>
              <a:rPr sz="3375" b="1">
                <a:solidFill>
                  <a:srgbClr val="FFFFFF"/>
                </a:solidFill>
                <a:latin typeface="Arial"/>
                <a:ea typeface="Arial"/>
                <a:cs typeface="Arial"/>
              </a:rPr>
              <a:t>1.000</a:t>
            </a:r>
          </a:p>
        </p:txBody>
      </p:sp>
      <p:sp>
        <p:nvSpPr>
          <p:cNvPr id="24" name="Rettangolo con angoli arrotondati 23">
            <a:extLst>
              <a:ext uri="{FF2B5EF4-FFF2-40B4-BE49-F238E27FC236}">
                <a16:creationId xmlns:a16="http://schemas.microsoft.com/office/drawing/2014/main" id="{18A2F9C9-4D34-4737-8B90-8118C124B94E}"/>
              </a:ext>
            </a:extLst>
          </p:cNvPr>
          <p:cNvSpPr>
            <a:spLocks noGrp="1"/>
          </p:cNvSpPr>
          <p:nvPr/>
        </p:nvSpPr>
        <p:spPr>
          <a:xfrm>
            <a:off x="1123950" y="4762500"/>
            <a:ext cx="9944100" cy="1104900"/>
          </a:xfrm>
          <a:prstGeom prst="roundRect">
            <a:avLst>
              <a:gd name="adj" fmla="val 15517"/>
            </a:avLst>
          </a:prstGeom>
          <a:solidFill>
            <a:srgbClr val="E7F8F0"/>
          </a:solidFill>
          <a:ln w="0">
            <a:noFill/>
            <a:prstDash val="solid"/>
          </a:ln>
        </p:spPr>
        <p:txBody>
          <a:bodyPr/>
          <a:lstStyle/>
          <a:p>
            <a:endParaRPr lang="it-IT"/>
          </a:p>
        </p:txBody>
      </p:sp>
      <p:sp>
        <p:nvSpPr>
          <p:cNvPr id="25" name="Rettangolo 24">
            <a:extLst>
              <a:ext uri="{FF2B5EF4-FFF2-40B4-BE49-F238E27FC236}">
                <a16:creationId xmlns:a16="http://schemas.microsoft.com/office/drawing/2014/main" id="{F063FFD0-1294-4279-B46B-EF1D1D3EB627}"/>
              </a:ext>
            </a:extLst>
          </p:cNvPr>
          <p:cNvSpPr>
            <a:spLocks noGrp="1"/>
          </p:cNvSpPr>
          <p:nvPr/>
        </p:nvSpPr>
        <p:spPr>
          <a:xfrm>
            <a:off x="1466850" y="5010150"/>
            <a:ext cx="9258300" cy="647700"/>
          </a:xfrm>
          <a:prstGeom prst="rect">
            <a:avLst/>
          </a:prstGeom>
          <a:noFill/>
          <a:ln w="0">
            <a:noFill/>
            <a:prstDash val="solid"/>
          </a:ln>
        </p:spPr>
        <p:txBody>
          <a:bodyPr wrap="square" lIns="0" tIns="0" rIns="0" bIns="0" anchor="ctr">
            <a:noAutofit/>
          </a:bodyPr>
          <a:lstStyle/>
          <a:p>
            <a:pPr algn="ctr">
              <a:buNone/>
              <a:defRPr sz="1650" b="1">
                <a:solidFill>
                  <a:srgbClr val="087A50"/>
                </a:solidFill>
                <a:latin typeface="Arial"/>
                <a:ea typeface="Arial"/>
                <a:cs typeface="Arial"/>
              </a:defRPr>
            </a:pPr>
            <a:r>
              <a:rPr sz="1650" b="1">
                <a:solidFill>
                  <a:srgbClr val="087A50"/>
                </a:solidFill>
                <a:latin typeface="Arial"/>
                <a:ea typeface="Arial"/>
                <a:cs typeface="Arial"/>
              </a:rPr>
              <a:t>Integrated Gradients supports diagnosis of selected proxy outputs.</a:t>
            </a:r>
          </a:p>
          <a:p>
            <a:pPr algn="ctr">
              <a:buNone/>
              <a:defRPr sz="1650" b="1">
                <a:solidFill>
                  <a:srgbClr val="087A50"/>
                </a:solidFill>
                <a:latin typeface="Arial"/>
                <a:ea typeface="Arial"/>
                <a:cs typeface="Arial"/>
              </a:defRPr>
            </a:pPr>
            <a:r>
              <a:rPr sz="1650" b="1">
                <a:solidFill>
                  <a:srgbClr val="087A50"/>
                </a:solidFill>
                <a:latin typeface="Arial"/>
                <a:ea typeface="Arial"/>
                <a:cs typeface="Arial"/>
              </a:rPr>
              <a:t>It does not certify correctness, calibrate confidence, or explain proprietary black-box systems.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33" name="Rettangolo 32">
            <a:extLst>
              <a:ext uri="{FF2B5EF4-FFF2-40B4-BE49-F238E27FC236}">
                <a16:creationId xmlns:a16="http://schemas.microsoft.com/office/drawing/2014/main" id="{AFCF59B5-683B-474F-989A-FBD69F45330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784007D6-2081-4930-A389-03D64A1A2382}"/>
              </a:ext>
            </a:extLst>
          </p:cNvPr>
          <p:cNvSpPr>
            <a:spLocks noGrp="1"/>
          </p:cNvSpPr>
          <p:nvPr/>
        </p:nvSpPr>
        <p:spPr>
          <a:xfrm>
            <a:off x="685800" y="438150"/>
            <a:ext cx="10572750" cy="59055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AI should prioritize evidence—not exclude it</a:t>
            </a:r>
          </a:p>
        </p:txBody>
      </p:sp>
      <p:sp>
        <p:nvSpPr>
          <p:cNvPr id="3" name="Rettangolo 2">
            <a:extLst>
              <a:ext uri="{FF2B5EF4-FFF2-40B4-BE49-F238E27FC236}">
                <a16:creationId xmlns:a16="http://schemas.microsoft.com/office/drawing/2014/main" id="{68493C46-8133-4462-86DB-466B3708A87B}"/>
              </a:ext>
            </a:extLst>
          </p:cNvPr>
          <p:cNvSpPr>
            <a:spLocks noGrp="1"/>
          </p:cNvSpPr>
          <p:nvPr/>
        </p:nvSpPr>
        <p:spPr>
          <a:xfrm>
            <a:off x="685800" y="110490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20FCC7E3-0B4D-4701-98B4-D33EB2D8663F}"/>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FCFAFCCB-405C-47A7-B90B-CEB46F98CC33}"/>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20</a:t>
            </a:r>
          </a:p>
        </p:txBody>
      </p:sp>
      <p:sp>
        <p:nvSpPr>
          <p:cNvPr id="6" name="Rettangolo 5">
            <a:extLst>
              <a:ext uri="{FF2B5EF4-FFF2-40B4-BE49-F238E27FC236}">
                <a16:creationId xmlns:a16="http://schemas.microsoft.com/office/drawing/2014/main" id="{6E42C77A-5BF7-4B4F-ACB6-2B4A6D08B6F7}"/>
              </a:ext>
            </a:extLst>
          </p:cNvPr>
          <p:cNvSpPr>
            <a:spLocks noGrp="1"/>
          </p:cNvSpPr>
          <p:nvPr/>
        </p:nvSpPr>
        <p:spPr>
          <a:xfrm>
            <a:off x="1695450" y="2800350"/>
            <a:ext cx="8801100" cy="76200"/>
          </a:xfrm>
          <a:prstGeom prst="rect">
            <a:avLst/>
          </a:prstGeom>
          <a:solidFill>
            <a:srgbClr val="D9DEE8"/>
          </a:solidFill>
          <a:ln w="0">
            <a:noFill/>
            <a:prstDash val="solid"/>
          </a:ln>
        </p:spPr>
        <p:txBody>
          <a:bodyPr/>
          <a:lstStyle/>
          <a:p>
            <a:endParaRPr lang="it-IT"/>
          </a:p>
        </p:txBody>
      </p:sp>
      <p:sp>
        <p:nvSpPr>
          <p:cNvPr id="7" name="Rettangolo 6">
            <a:extLst>
              <a:ext uri="{FF2B5EF4-FFF2-40B4-BE49-F238E27FC236}">
                <a16:creationId xmlns:a16="http://schemas.microsoft.com/office/drawing/2014/main" id="{CC497960-5D6A-401D-938B-E77E37B954DF}"/>
              </a:ext>
            </a:extLst>
          </p:cNvPr>
          <p:cNvSpPr>
            <a:spLocks noGrp="1"/>
          </p:cNvSpPr>
          <p:nvPr/>
        </p:nvSpPr>
        <p:spPr>
          <a:xfrm>
            <a:off x="6858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01</a:t>
            </a:r>
          </a:p>
        </p:txBody>
      </p:sp>
      <p:sp>
        <p:nvSpPr>
          <p:cNvPr id="8" name="Rettangolo con angoli arrotondati 7">
            <a:extLst>
              <a:ext uri="{FF2B5EF4-FFF2-40B4-BE49-F238E27FC236}">
                <a16:creationId xmlns:a16="http://schemas.microsoft.com/office/drawing/2014/main" id="{9D4C1FD3-F2E8-481B-B8A3-6FDAC352E8B5}"/>
              </a:ext>
            </a:extLst>
          </p:cNvPr>
          <p:cNvSpPr>
            <a:spLocks noGrp="1"/>
          </p:cNvSpPr>
          <p:nvPr/>
        </p:nvSpPr>
        <p:spPr>
          <a:xfrm>
            <a:off x="685800" y="2076450"/>
            <a:ext cx="2190750" cy="1466850"/>
          </a:xfrm>
          <a:prstGeom prst="roundRect">
            <a:avLst>
              <a:gd name="adj" fmla="val 11688"/>
            </a:avLst>
          </a:prstGeom>
          <a:solidFill>
            <a:srgbClr val="FFFFFF"/>
          </a:solidFill>
          <a:ln w="9525">
            <a:solidFill>
              <a:srgbClr val="D9DEE8"/>
            </a:solidFill>
            <a:prstDash val="solid"/>
          </a:ln>
        </p:spPr>
        <p:txBody>
          <a:bodyPr/>
          <a:lstStyle/>
          <a:p>
            <a:endParaRPr lang="it-IT"/>
          </a:p>
        </p:txBody>
      </p:sp>
      <p:sp>
        <p:nvSpPr>
          <p:cNvPr id="9" name="Rettangolo 8">
            <a:extLst>
              <a:ext uri="{FF2B5EF4-FFF2-40B4-BE49-F238E27FC236}">
                <a16:creationId xmlns:a16="http://schemas.microsoft.com/office/drawing/2014/main" id="{A4596393-8F9B-4AB8-B9FA-12DDC5FEB621}"/>
              </a:ext>
            </a:extLst>
          </p:cNvPr>
          <p:cNvSpPr>
            <a:spLocks noGrp="1"/>
          </p:cNvSpPr>
          <p:nvPr/>
        </p:nvSpPr>
        <p:spPr>
          <a:xfrm>
            <a:off x="8572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AI outputs</a:t>
            </a:r>
          </a:p>
        </p:txBody>
      </p:sp>
      <p:sp>
        <p:nvSpPr>
          <p:cNvPr id="10" name="Rettangolo 9">
            <a:extLst>
              <a:ext uri="{FF2B5EF4-FFF2-40B4-BE49-F238E27FC236}">
                <a16:creationId xmlns:a16="http://schemas.microsoft.com/office/drawing/2014/main" id="{7AA4D259-8252-49D2-AC66-8CEBF46905A6}"/>
              </a:ext>
            </a:extLst>
          </p:cNvPr>
          <p:cNvSpPr>
            <a:spLocks noGrp="1"/>
          </p:cNvSpPr>
          <p:nvPr/>
        </p:nvSpPr>
        <p:spPr>
          <a:xfrm>
            <a:off x="8572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tags · labels</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semantic matches</a:t>
            </a:r>
          </a:p>
        </p:txBody>
      </p:sp>
      <p:sp>
        <p:nvSpPr>
          <p:cNvPr id="11" name="Rettangolo 10">
            <a:extLst>
              <a:ext uri="{FF2B5EF4-FFF2-40B4-BE49-F238E27FC236}">
                <a16:creationId xmlns:a16="http://schemas.microsoft.com/office/drawing/2014/main" id="{B875C228-D2D2-4ED0-AE89-A0F4D270CE44}"/>
              </a:ext>
            </a:extLst>
          </p:cNvPr>
          <p:cNvSpPr>
            <a:spLocks noGrp="1"/>
          </p:cNvSpPr>
          <p:nvPr/>
        </p:nvSpPr>
        <p:spPr>
          <a:xfrm>
            <a:off x="34671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02</a:t>
            </a:r>
          </a:p>
        </p:txBody>
      </p:sp>
      <p:sp>
        <p:nvSpPr>
          <p:cNvPr id="12" name="Rettangolo con angoli arrotondati 11">
            <a:extLst>
              <a:ext uri="{FF2B5EF4-FFF2-40B4-BE49-F238E27FC236}">
                <a16:creationId xmlns:a16="http://schemas.microsoft.com/office/drawing/2014/main" id="{F27AA906-E5AF-40DB-9F2E-5E5C26E8C25A}"/>
              </a:ext>
            </a:extLst>
          </p:cNvPr>
          <p:cNvSpPr>
            <a:spLocks noGrp="1"/>
          </p:cNvSpPr>
          <p:nvPr/>
        </p:nvSpPr>
        <p:spPr>
          <a:xfrm>
            <a:off x="3467100" y="2076450"/>
            <a:ext cx="2190750" cy="1466850"/>
          </a:xfrm>
          <a:prstGeom prst="roundRect">
            <a:avLst>
              <a:gd name="adj" fmla="val 11688"/>
            </a:avLst>
          </a:prstGeom>
          <a:solidFill>
            <a:srgbClr val="E9EEF8"/>
          </a:solidFill>
          <a:ln w="9525">
            <a:solidFill>
              <a:srgbClr val="E9EEF8"/>
            </a:solidFill>
            <a:prstDash val="solid"/>
          </a:ln>
        </p:spPr>
        <p:txBody>
          <a:bodyPr/>
          <a:lstStyle/>
          <a:p>
            <a:endParaRPr lang="it-IT"/>
          </a:p>
        </p:txBody>
      </p:sp>
      <p:sp>
        <p:nvSpPr>
          <p:cNvPr id="13" name="Rettangolo 12">
            <a:extLst>
              <a:ext uri="{FF2B5EF4-FFF2-40B4-BE49-F238E27FC236}">
                <a16:creationId xmlns:a16="http://schemas.microsoft.com/office/drawing/2014/main" id="{10A088F2-59B9-41DB-B22F-C8A142756290}"/>
              </a:ext>
            </a:extLst>
          </p:cNvPr>
          <p:cNvSpPr>
            <a:spLocks noGrp="1"/>
          </p:cNvSpPr>
          <p:nvPr/>
        </p:nvSpPr>
        <p:spPr>
          <a:xfrm>
            <a:off x="36385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Prioritized queue</a:t>
            </a:r>
          </a:p>
        </p:txBody>
      </p:sp>
      <p:sp>
        <p:nvSpPr>
          <p:cNvPr id="14" name="Rettangolo 13">
            <a:extLst>
              <a:ext uri="{FF2B5EF4-FFF2-40B4-BE49-F238E27FC236}">
                <a16:creationId xmlns:a16="http://schemas.microsoft.com/office/drawing/2014/main" id="{27D139E3-0991-49D9-9C28-1A63AF4F9EAD}"/>
              </a:ext>
            </a:extLst>
          </p:cNvPr>
          <p:cNvSpPr>
            <a:spLocks noGrp="1"/>
          </p:cNvSpPr>
          <p:nvPr/>
        </p:nvSpPr>
        <p:spPr>
          <a:xfrm>
            <a:off x="36385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workload</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reduction</a:t>
            </a:r>
          </a:p>
        </p:txBody>
      </p:sp>
      <p:sp>
        <p:nvSpPr>
          <p:cNvPr id="15" name="Rettangolo 14">
            <a:extLst>
              <a:ext uri="{FF2B5EF4-FFF2-40B4-BE49-F238E27FC236}">
                <a16:creationId xmlns:a16="http://schemas.microsoft.com/office/drawing/2014/main" id="{7F193325-1128-438B-B217-138A67DDF676}"/>
              </a:ext>
            </a:extLst>
          </p:cNvPr>
          <p:cNvSpPr>
            <a:spLocks noGrp="1"/>
          </p:cNvSpPr>
          <p:nvPr/>
        </p:nvSpPr>
        <p:spPr>
          <a:xfrm>
            <a:off x="62484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087A50"/>
                </a:solidFill>
                <a:latin typeface="Arial"/>
                <a:ea typeface="Arial"/>
                <a:cs typeface="Arial"/>
              </a:defRPr>
            </a:pPr>
            <a:r>
              <a:rPr sz="1350" b="1">
                <a:solidFill>
                  <a:srgbClr val="087A50"/>
                </a:solidFill>
                <a:latin typeface="Arial"/>
                <a:ea typeface="Arial"/>
                <a:cs typeface="Arial"/>
              </a:rPr>
              <a:t>03</a:t>
            </a:r>
          </a:p>
        </p:txBody>
      </p:sp>
      <p:sp>
        <p:nvSpPr>
          <p:cNvPr id="16" name="Rettangolo con angoli arrotondati 15">
            <a:extLst>
              <a:ext uri="{FF2B5EF4-FFF2-40B4-BE49-F238E27FC236}">
                <a16:creationId xmlns:a16="http://schemas.microsoft.com/office/drawing/2014/main" id="{E8C8212D-5123-48C7-8465-CE6674A3EAFA}"/>
              </a:ext>
            </a:extLst>
          </p:cNvPr>
          <p:cNvSpPr>
            <a:spLocks noGrp="1"/>
          </p:cNvSpPr>
          <p:nvPr/>
        </p:nvSpPr>
        <p:spPr>
          <a:xfrm>
            <a:off x="6248400" y="2076450"/>
            <a:ext cx="2190750" cy="1466850"/>
          </a:xfrm>
          <a:prstGeom prst="roundRect">
            <a:avLst>
              <a:gd name="adj" fmla="val 11688"/>
            </a:avLst>
          </a:prstGeom>
          <a:solidFill>
            <a:srgbClr val="E7F8F0"/>
          </a:solidFill>
          <a:ln w="9525">
            <a:solidFill>
              <a:srgbClr val="E7F8F0"/>
            </a:solidFill>
            <a:prstDash val="solid"/>
          </a:ln>
        </p:spPr>
        <p:txBody>
          <a:bodyPr/>
          <a:lstStyle/>
          <a:p>
            <a:endParaRPr lang="it-IT"/>
          </a:p>
        </p:txBody>
      </p:sp>
      <p:sp>
        <p:nvSpPr>
          <p:cNvPr id="17" name="Rettangolo 16">
            <a:extLst>
              <a:ext uri="{FF2B5EF4-FFF2-40B4-BE49-F238E27FC236}">
                <a16:creationId xmlns:a16="http://schemas.microsoft.com/office/drawing/2014/main" id="{688DB260-266F-461B-B69D-7D7802AF0D5C}"/>
              </a:ext>
            </a:extLst>
          </p:cNvPr>
          <p:cNvSpPr>
            <a:spLocks noGrp="1"/>
          </p:cNvSpPr>
          <p:nvPr/>
        </p:nvSpPr>
        <p:spPr>
          <a:xfrm>
            <a:off x="64198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087A50"/>
                </a:solidFill>
                <a:latin typeface="Arial"/>
                <a:ea typeface="Arial"/>
                <a:cs typeface="Arial"/>
              </a:defRPr>
            </a:pPr>
            <a:r>
              <a:rPr sz="1800" b="1">
                <a:solidFill>
                  <a:srgbClr val="087A50"/>
                </a:solidFill>
                <a:latin typeface="Arial"/>
                <a:ea typeface="Arial"/>
                <a:cs typeface="Arial"/>
              </a:rPr>
              <a:t>Human review</a:t>
            </a:r>
          </a:p>
        </p:txBody>
      </p:sp>
      <p:sp>
        <p:nvSpPr>
          <p:cNvPr id="18" name="Rettangolo 17">
            <a:extLst>
              <a:ext uri="{FF2B5EF4-FFF2-40B4-BE49-F238E27FC236}">
                <a16:creationId xmlns:a16="http://schemas.microsoft.com/office/drawing/2014/main" id="{0D32C62D-AD61-47FC-9DF3-3D1D755CC850}"/>
              </a:ext>
            </a:extLst>
          </p:cNvPr>
          <p:cNvSpPr>
            <a:spLocks noGrp="1"/>
          </p:cNvSpPr>
          <p:nvPr/>
        </p:nvSpPr>
        <p:spPr>
          <a:xfrm>
            <a:off x="64198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contextual</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validation</a:t>
            </a:r>
          </a:p>
        </p:txBody>
      </p:sp>
      <p:sp>
        <p:nvSpPr>
          <p:cNvPr id="19" name="Rettangolo 18">
            <a:extLst>
              <a:ext uri="{FF2B5EF4-FFF2-40B4-BE49-F238E27FC236}">
                <a16:creationId xmlns:a16="http://schemas.microsoft.com/office/drawing/2014/main" id="{9D03034B-8F88-418E-9635-E3411B5DDEBC}"/>
              </a:ext>
            </a:extLst>
          </p:cNvPr>
          <p:cNvSpPr>
            <a:spLocks noGrp="1"/>
          </p:cNvSpPr>
          <p:nvPr/>
        </p:nvSpPr>
        <p:spPr>
          <a:xfrm>
            <a:off x="9029700" y="1676400"/>
            <a:ext cx="2190750" cy="2857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04</a:t>
            </a:r>
          </a:p>
        </p:txBody>
      </p:sp>
      <p:sp>
        <p:nvSpPr>
          <p:cNvPr id="20" name="Rettangolo con angoli arrotondati 19">
            <a:extLst>
              <a:ext uri="{FF2B5EF4-FFF2-40B4-BE49-F238E27FC236}">
                <a16:creationId xmlns:a16="http://schemas.microsoft.com/office/drawing/2014/main" id="{0A7F9A2F-8B4C-4A62-8D51-C8AC9213FEC9}"/>
              </a:ext>
            </a:extLst>
          </p:cNvPr>
          <p:cNvSpPr>
            <a:spLocks noGrp="1"/>
          </p:cNvSpPr>
          <p:nvPr/>
        </p:nvSpPr>
        <p:spPr>
          <a:xfrm>
            <a:off x="9029700" y="2076450"/>
            <a:ext cx="2190750" cy="1466850"/>
          </a:xfrm>
          <a:prstGeom prst="roundRect">
            <a:avLst>
              <a:gd name="adj" fmla="val 11688"/>
            </a:avLst>
          </a:prstGeom>
          <a:solidFill>
            <a:srgbClr val="FFFFFF"/>
          </a:solidFill>
          <a:ln w="9525">
            <a:solidFill>
              <a:srgbClr val="D9DEE8"/>
            </a:solidFill>
            <a:prstDash val="solid"/>
          </a:ln>
        </p:spPr>
        <p:txBody>
          <a:bodyPr/>
          <a:lstStyle/>
          <a:p>
            <a:endParaRPr lang="it-IT"/>
          </a:p>
        </p:txBody>
      </p:sp>
      <p:sp>
        <p:nvSpPr>
          <p:cNvPr id="21" name="Rettangolo 20">
            <a:extLst>
              <a:ext uri="{FF2B5EF4-FFF2-40B4-BE49-F238E27FC236}">
                <a16:creationId xmlns:a16="http://schemas.microsoft.com/office/drawing/2014/main" id="{DC68B587-3821-4278-A721-BE8076578B8C}"/>
              </a:ext>
            </a:extLst>
          </p:cNvPr>
          <p:cNvSpPr>
            <a:spLocks noGrp="1"/>
          </p:cNvSpPr>
          <p:nvPr/>
        </p:nvSpPr>
        <p:spPr>
          <a:xfrm>
            <a:off x="9201150" y="2324100"/>
            <a:ext cx="1847850" cy="323850"/>
          </a:xfrm>
          <a:prstGeom prst="rect">
            <a:avLst/>
          </a:prstGeom>
          <a:noFill/>
          <a:ln w="0">
            <a:noFill/>
            <a:prstDash val="solid"/>
          </a:ln>
        </p:spPr>
        <p:txBody>
          <a:bodyPr wrap="square" lIns="0" tIns="0" rIns="0" bIns="0" anchor="t">
            <a:noAutofit/>
          </a:bodyPr>
          <a:lstStyle/>
          <a:p>
            <a:pPr algn="ctr">
              <a:buNone/>
              <a:defRPr sz="1800" b="1">
                <a:solidFill>
                  <a:srgbClr val="233A70"/>
                </a:solidFill>
                <a:latin typeface="Arial"/>
                <a:ea typeface="Arial"/>
                <a:cs typeface="Arial"/>
              </a:defRPr>
            </a:pPr>
            <a:r>
              <a:rPr sz="1800" b="1">
                <a:solidFill>
                  <a:srgbClr val="233A70"/>
                </a:solidFill>
                <a:latin typeface="Arial"/>
                <a:ea typeface="Arial"/>
                <a:cs typeface="Arial"/>
              </a:rPr>
              <a:t>Documented action</a:t>
            </a:r>
          </a:p>
        </p:txBody>
      </p:sp>
      <p:sp>
        <p:nvSpPr>
          <p:cNvPr id="22" name="Rettangolo 21">
            <a:extLst>
              <a:ext uri="{FF2B5EF4-FFF2-40B4-BE49-F238E27FC236}">
                <a16:creationId xmlns:a16="http://schemas.microsoft.com/office/drawing/2014/main" id="{F2ED8D5E-2422-4B92-867E-DD3CA4ACD7CB}"/>
              </a:ext>
            </a:extLst>
          </p:cNvPr>
          <p:cNvSpPr>
            <a:spLocks noGrp="1"/>
          </p:cNvSpPr>
          <p:nvPr/>
        </p:nvSpPr>
        <p:spPr>
          <a:xfrm>
            <a:off x="9201150" y="2819400"/>
            <a:ext cx="1847850" cy="514350"/>
          </a:xfrm>
          <a:prstGeom prst="rect">
            <a:avLst/>
          </a:prstGeom>
          <a:noFill/>
          <a:ln w="0">
            <a:noFill/>
            <a:prstDash val="solid"/>
          </a:ln>
        </p:spPr>
        <p:txBody>
          <a:bodyPr wrap="square" lIns="0" tIns="0" rIns="0" bIns="0" anchor="ctr">
            <a:noAutofit/>
          </a:bodyPr>
          <a:lstStyle/>
          <a:p>
            <a:pPr algn="ctr">
              <a:buNone/>
              <a:defRPr sz="1425" b="0">
                <a:solidFill>
                  <a:srgbClr val="5B6577"/>
                </a:solidFill>
                <a:latin typeface="Arial"/>
                <a:ea typeface="Arial"/>
                <a:cs typeface="Arial"/>
              </a:defRPr>
            </a:pPr>
            <a:r>
              <a:rPr sz="1425" b="0">
                <a:solidFill>
                  <a:srgbClr val="5B6577"/>
                </a:solidFill>
                <a:latin typeface="Arial"/>
                <a:ea typeface="Arial"/>
                <a:cs typeface="Arial"/>
              </a:rPr>
              <a:t>defensible</a:t>
            </a:r>
          </a:p>
          <a:p>
            <a:pPr algn="ctr">
              <a:buNone/>
              <a:defRPr sz="1425" b="0">
                <a:solidFill>
                  <a:srgbClr val="5B6577"/>
                </a:solidFill>
                <a:latin typeface="Arial"/>
                <a:ea typeface="Arial"/>
                <a:cs typeface="Arial"/>
              </a:defRPr>
            </a:pPr>
            <a:r>
              <a:rPr sz="1425" b="0">
                <a:solidFill>
                  <a:srgbClr val="5B6577"/>
                </a:solidFill>
                <a:latin typeface="Arial"/>
                <a:ea typeface="Arial"/>
                <a:cs typeface="Arial"/>
              </a:rPr>
              <a:t>forensic workflow</a:t>
            </a:r>
          </a:p>
        </p:txBody>
      </p:sp>
      <p:sp>
        <p:nvSpPr>
          <p:cNvPr id="23" name="Rettangolo 22">
            <a:extLst>
              <a:ext uri="{FF2B5EF4-FFF2-40B4-BE49-F238E27FC236}">
                <a16:creationId xmlns:a16="http://schemas.microsoft.com/office/drawing/2014/main" id="{04339118-F714-4CF4-9531-D2EFDA073425}"/>
              </a:ext>
            </a:extLst>
          </p:cNvPr>
          <p:cNvSpPr>
            <a:spLocks noGrp="1"/>
          </p:cNvSpPr>
          <p:nvPr/>
        </p:nvSpPr>
        <p:spPr>
          <a:xfrm>
            <a:off x="685800" y="4095750"/>
            <a:ext cx="10820400" cy="2667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TRACE EVERY DECISION</a:t>
            </a:r>
          </a:p>
        </p:txBody>
      </p:sp>
      <p:sp>
        <p:nvSpPr>
          <p:cNvPr id="24" name="Rettangolo 23">
            <a:extLst>
              <a:ext uri="{FF2B5EF4-FFF2-40B4-BE49-F238E27FC236}">
                <a16:creationId xmlns:a16="http://schemas.microsoft.com/office/drawing/2014/main" id="{6DE606BC-E4EE-43D8-A10A-D6AF9A28A5DE}"/>
              </a:ext>
            </a:extLst>
          </p:cNvPr>
          <p:cNvSpPr>
            <a:spLocks noGrp="1"/>
          </p:cNvSpPr>
          <p:nvPr/>
        </p:nvSpPr>
        <p:spPr>
          <a:xfrm>
            <a:off x="8382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tool version</a:t>
            </a:r>
          </a:p>
        </p:txBody>
      </p:sp>
      <p:sp>
        <p:nvSpPr>
          <p:cNvPr id="25" name="Rettangolo 24">
            <a:extLst>
              <a:ext uri="{FF2B5EF4-FFF2-40B4-BE49-F238E27FC236}">
                <a16:creationId xmlns:a16="http://schemas.microsoft.com/office/drawing/2014/main" id="{E60E196D-BF02-4A60-AA11-C25A1BD1FBCA}"/>
              </a:ext>
            </a:extLst>
          </p:cNvPr>
          <p:cNvSpPr>
            <a:spLocks noGrp="1"/>
          </p:cNvSpPr>
          <p:nvPr/>
        </p:nvSpPr>
        <p:spPr>
          <a:xfrm>
            <a:off x="3333750" y="4533900"/>
            <a:ext cx="19050" cy="400050"/>
          </a:xfrm>
          <a:prstGeom prst="rect">
            <a:avLst/>
          </a:prstGeom>
          <a:solidFill>
            <a:srgbClr val="D9DEE8"/>
          </a:solidFill>
          <a:ln w="0">
            <a:noFill/>
            <a:prstDash val="solid"/>
          </a:ln>
        </p:spPr>
        <p:txBody>
          <a:bodyPr/>
          <a:lstStyle/>
          <a:p>
            <a:endParaRPr lang="it-IT"/>
          </a:p>
        </p:txBody>
      </p:sp>
      <p:sp>
        <p:nvSpPr>
          <p:cNvPr id="26" name="Rettangolo 25">
            <a:extLst>
              <a:ext uri="{FF2B5EF4-FFF2-40B4-BE49-F238E27FC236}">
                <a16:creationId xmlns:a16="http://schemas.microsoft.com/office/drawing/2014/main" id="{03F90BFD-8FC5-496D-B2BD-090EFE986347}"/>
              </a:ext>
            </a:extLst>
          </p:cNvPr>
          <p:cNvSpPr>
            <a:spLocks noGrp="1"/>
          </p:cNvSpPr>
          <p:nvPr/>
        </p:nvSpPr>
        <p:spPr>
          <a:xfrm>
            <a:off x="35433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configuration</a:t>
            </a:r>
          </a:p>
        </p:txBody>
      </p:sp>
      <p:sp>
        <p:nvSpPr>
          <p:cNvPr id="27" name="Rettangolo 26">
            <a:extLst>
              <a:ext uri="{FF2B5EF4-FFF2-40B4-BE49-F238E27FC236}">
                <a16:creationId xmlns:a16="http://schemas.microsoft.com/office/drawing/2014/main" id="{B2B38D1D-5BC1-489F-8CEC-BF5FD0E6DF1A}"/>
              </a:ext>
            </a:extLst>
          </p:cNvPr>
          <p:cNvSpPr>
            <a:spLocks noGrp="1"/>
          </p:cNvSpPr>
          <p:nvPr/>
        </p:nvSpPr>
        <p:spPr>
          <a:xfrm>
            <a:off x="6038850" y="4533900"/>
            <a:ext cx="19050" cy="400050"/>
          </a:xfrm>
          <a:prstGeom prst="rect">
            <a:avLst/>
          </a:prstGeom>
          <a:solidFill>
            <a:srgbClr val="D9DEE8"/>
          </a:solidFill>
          <a:ln w="0">
            <a:noFill/>
            <a:prstDash val="solid"/>
          </a:ln>
        </p:spPr>
        <p:txBody>
          <a:bodyPr/>
          <a:lstStyle/>
          <a:p>
            <a:endParaRPr lang="it-IT"/>
          </a:p>
        </p:txBody>
      </p:sp>
      <p:sp>
        <p:nvSpPr>
          <p:cNvPr id="28" name="Rettangolo 27">
            <a:extLst>
              <a:ext uri="{FF2B5EF4-FFF2-40B4-BE49-F238E27FC236}">
                <a16:creationId xmlns:a16="http://schemas.microsoft.com/office/drawing/2014/main" id="{8CBE62AC-4860-455E-BD3B-688579D32233}"/>
              </a:ext>
            </a:extLst>
          </p:cNvPr>
          <p:cNvSpPr>
            <a:spLocks noGrp="1"/>
          </p:cNvSpPr>
          <p:nvPr/>
        </p:nvSpPr>
        <p:spPr>
          <a:xfrm>
            <a:off x="62484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output mapping</a:t>
            </a:r>
          </a:p>
        </p:txBody>
      </p:sp>
      <p:sp>
        <p:nvSpPr>
          <p:cNvPr id="29" name="Rettangolo 28">
            <a:extLst>
              <a:ext uri="{FF2B5EF4-FFF2-40B4-BE49-F238E27FC236}">
                <a16:creationId xmlns:a16="http://schemas.microsoft.com/office/drawing/2014/main" id="{DAD0FA6E-44BA-4057-A6E5-205E1EA40B06}"/>
              </a:ext>
            </a:extLst>
          </p:cNvPr>
          <p:cNvSpPr>
            <a:spLocks noGrp="1"/>
          </p:cNvSpPr>
          <p:nvPr/>
        </p:nvSpPr>
        <p:spPr>
          <a:xfrm>
            <a:off x="8743950" y="4533900"/>
            <a:ext cx="19050" cy="400050"/>
          </a:xfrm>
          <a:prstGeom prst="rect">
            <a:avLst/>
          </a:prstGeom>
          <a:solidFill>
            <a:srgbClr val="D9DEE8"/>
          </a:solidFill>
          <a:ln w="0">
            <a:noFill/>
            <a:prstDash val="solid"/>
          </a:ln>
        </p:spPr>
        <p:txBody>
          <a:bodyPr/>
          <a:lstStyle/>
          <a:p>
            <a:endParaRPr lang="it-IT"/>
          </a:p>
        </p:txBody>
      </p:sp>
      <p:sp>
        <p:nvSpPr>
          <p:cNvPr id="30" name="Rettangolo 29">
            <a:extLst>
              <a:ext uri="{FF2B5EF4-FFF2-40B4-BE49-F238E27FC236}">
                <a16:creationId xmlns:a16="http://schemas.microsoft.com/office/drawing/2014/main" id="{EB7B099E-18FB-4F61-A001-312CD23DFDB3}"/>
              </a:ext>
            </a:extLst>
          </p:cNvPr>
          <p:cNvSpPr>
            <a:spLocks noGrp="1"/>
          </p:cNvSpPr>
          <p:nvPr/>
        </p:nvSpPr>
        <p:spPr>
          <a:xfrm>
            <a:off x="8953500" y="4533900"/>
            <a:ext cx="2400300" cy="323850"/>
          </a:xfrm>
          <a:prstGeom prst="rect">
            <a:avLst/>
          </a:prstGeom>
          <a:noFill/>
          <a:ln w="0">
            <a:noFill/>
            <a:prstDash val="solid"/>
          </a:ln>
        </p:spPr>
        <p:txBody>
          <a:bodyPr wrap="square" lIns="0" tIns="0" rIns="0" bIns="0" anchor="t">
            <a:noAutofit/>
          </a:bodyPr>
          <a:lstStyle/>
          <a:p>
            <a:pPr algn="ctr">
              <a:buNone/>
              <a:defRPr sz="1575" b="1">
                <a:solidFill>
                  <a:srgbClr val="172033"/>
                </a:solidFill>
                <a:latin typeface="Arial"/>
                <a:ea typeface="Arial"/>
                <a:cs typeface="Arial"/>
              </a:defRPr>
            </a:pPr>
            <a:r>
              <a:rPr sz="1575" b="1">
                <a:solidFill>
                  <a:srgbClr val="172033"/>
                </a:solidFill>
                <a:latin typeface="Arial"/>
                <a:ea typeface="Arial"/>
                <a:cs typeface="Arial"/>
              </a:rPr>
              <a:t>validation context</a:t>
            </a:r>
          </a:p>
        </p:txBody>
      </p:sp>
      <p:sp>
        <p:nvSpPr>
          <p:cNvPr id="31" name="Rettangolo con angoli arrotondati 30">
            <a:extLst>
              <a:ext uri="{FF2B5EF4-FFF2-40B4-BE49-F238E27FC236}">
                <a16:creationId xmlns:a16="http://schemas.microsoft.com/office/drawing/2014/main" id="{61341085-EF38-4412-9246-C812DAAA179E}"/>
              </a:ext>
            </a:extLst>
          </p:cNvPr>
          <p:cNvSpPr>
            <a:spLocks noGrp="1"/>
          </p:cNvSpPr>
          <p:nvPr/>
        </p:nvSpPr>
        <p:spPr>
          <a:xfrm>
            <a:off x="1123950" y="5391150"/>
            <a:ext cx="9944100" cy="723900"/>
          </a:xfrm>
          <a:prstGeom prst="roundRect">
            <a:avLst>
              <a:gd name="adj" fmla="val 21053"/>
            </a:avLst>
          </a:prstGeom>
          <a:solidFill>
            <a:srgbClr val="233A70"/>
          </a:solidFill>
          <a:ln w="0">
            <a:noFill/>
            <a:prstDash val="solid"/>
          </a:ln>
        </p:spPr>
        <p:txBody>
          <a:bodyPr/>
          <a:lstStyle/>
          <a:p>
            <a:endParaRPr lang="it-IT"/>
          </a:p>
        </p:txBody>
      </p:sp>
      <p:sp>
        <p:nvSpPr>
          <p:cNvPr id="32" name="Rettangolo 31">
            <a:extLst>
              <a:ext uri="{FF2B5EF4-FFF2-40B4-BE49-F238E27FC236}">
                <a16:creationId xmlns:a16="http://schemas.microsoft.com/office/drawing/2014/main" id="{C6444606-31CF-4954-A94E-256FA6870834}"/>
              </a:ext>
            </a:extLst>
          </p:cNvPr>
          <p:cNvSpPr>
            <a:spLocks noGrp="1"/>
          </p:cNvSpPr>
          <p:nvPr/>
        </p:nvSpPr>
        <p:spPr>
          <a:xfrm>
            <a:off x="1466850" y="5581650"/>
            <a:ext cx="9258300" cy="342900"/>
          </a:xfrm>
          <a:prstGeom prst="rect">
            <a:avLst/>
          </a:prstGeom>
          <a:noFill/>
          <a:ln w="0">
            <a:noFill/>
            <a:prstDash val="solid"/>
          </a:ln>
        </p:spPr>
        <p:txBody>
          <a:bodyPr wrap="square" lIns="0" tIns="0" rIns="0" bIns="0" anchor="ctr">
            <a:noAutofit/>
          </a:bodyP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Use AI to prioritize evidence review—never to silently exclude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33A70"/>
        </a:solidFill>
        <a:effectLst/>
      </p:bgPr>
    </p:bg>
    <p:spTree>
      <p:nvGrpSpPr>
        <p:cNvPr id="1" name=""/>
        <p:cNvGrpSpPr/>
        <p:nvPr/>
      </p:nvGrpSpPr>
      <p:grpSpPr/>
      <p:pic>
        <p:nvPicPr>
          <p:cNvPr id="2" name="Picture 1" descr="image.png"/>
          <p:cNvPicPr>
            <a:picLocks noChangeAspect="1"/>
          </p:cNvPicPr>
          <p:nvPr/>
        </p:nvPicPr>
        <p:blipFill>
          <a:blip r:embed="rId2"/>
          <a:srcRect/>
          <a:stretch>
            <a:fillRect/>
          </a:stretch>
        </p:blipFill>
        <p:spPr>
          <a:xfrm>
            <a:off x="9812751" y="400050"/>
            <a:ext cx="1424748" cy="1695450"/>
          </a:xfrm>
          <a:prstGeom prst="rect">
            <a:avLst/>
          </a:prstGeom>
        </p:spPr>
      </p:pic>
      <p:sp>
        <p:nvSpPr>
          <p:cNvPr id="2" name="Rettangolo 1">
            <a:extLst>
              <a:ext uri="{FF2B5EF4-FFF2-40B4-BE49-F238E27FC236}">
                <a16:creationId xmlns:a16="http://schemas.microsoft.com/office/drawing/2014/main" id="{96233C98-1682-4713-96AF-301D7793CFAD}"/>
              </a:ext>
            </a:extLst>
          </p:cNvPr>
          <p:cNvSpPr>
            <a:spLocks noGrp="1"/>
          </p:cNvSpPr>
          <p:nvPr/>
        </p:nvSpPr>
        <p:spPr>
          <a:xfrm>
            <a:off x="685800" y="685800"/>
            <a:ext cx="8763000" cy="1524000"/>
          </a:xfrm>
          <a:prstGeom prst="rect">
            <a:avLst/>
          </a:prstGeom>
          <a:noFill/>
          <a:ln w="0">
            <a:noFill/>
            <a:prstDash val="solid"/>
          </a:ln>
        </p:spPr>
        <p:txBody>
          <a:bodyPr wrap="square" lIns="0" tIns="0" rIns="0" bIns="0" anchor="ctr">
            <a:noAutofit/>
          </a:bodyPr>
          <a:lstStyle/>
          <a:p>
            <a:pPr algn="l">
              <a:buNone/>
              <a:defRPr sz="4200" b="1">
                <a:solidFill>
                  <a:srgbClr val="FFFFFF"/>
                </a:solidFill>
                <a:latin typeface="Arial"/>
                <a:ea typeface="Arial"/>
                <a:cs typeface="Arial"/>
              </a:defRPr>
            </a:pPr>
            <a:r>
              <a:rPr sz="4200" b="1">
                <a:solidFill>
                  <a:srgbClr val="FFFFFF"/>
                </a:solidFill>
                <a:latin typeface="Arial"/>
                <a:ea typeface="Arial"/>
                <a:cs typeface="Arial"/>
              </a:rPr>
              <a:t>AI can prioritize evidence;</a:t>
            </a:r>
          </a:p>
          <a:p>
            <a:pPr algn="l">
              <a:buNone/>
              <a:defRPr sz="4200" b="1">
                <a:solidFill>
                  <a:srgbClr val="FFFFFF"/>
                </a:solidFill>
                <a:latin typeface="Arial"/>
                <a:ea typeface="Arial"/>
                <a:cs typeface="Arial"/>
              </a:defRPr>
            </a:pPr>
            <a:r>
              <a:rPr sz="4200" b="1">
                <a:solidFill>
                  <a:srgbClr val="FFFFFF"/>
                </a:solidFill>
                <a:latin typeface="Arial"/>
                <a:ea typeface="Arial"/>
                <a:cs typeface="Arial"/>
              </a:rPr>
              <a:t>it must not silently exclude it.</a:t>
            </a:r>
          </a:p>
        </p:txBody>
      </p:sp>
      <p:sp>
        <p:nvSpPr>
          <p:cNvPr id="3" name="Rettangolo 2">
            <a:extLst>
              <a:ext uri="{FF2B5EF4-FFF2-40B4-BE49-F238E27FC236}">
                <a16:creationId xmlns:a16="http://schemas.microsoft.com/office/drawing/2014/main" id="{406CEE45-9954-4129-B4CC-8763B90B9FE7}"/>
              </a:ext>
            </a:extLst>
          </p:cNvPr>
          <p:cNvSpPr>
            <a:spLocks noGrp="1"/>
          </p:cNvSpPr>
          <p:nvPr/>
        </p:nvSpPr>
        <p:spPr>
          <a:xfrm>
            <a:off x="685800" y="2381250"/>
            <a:ext cx="2000250" cy="66675"/>
          </a:xfrm>
          <a:prstGeom prst="rect">
            <a:avLst/>
          </a:prstGeom>
          <a:solidFill>
            <a:srgbClr val="14B97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A87ACFBC-5913-4A14-A572-7C43C4E614CE}"/>
              </a:ext>
            </a:extLst>
          </p:cNvPr>
          <p:cNvSpPr>
            <a:spLocks noGrp="1"/>
          </p:cNvSpPr>
          <p:nvPr/>
        </p:nvSpPr>
        <p:spPr>
          <a:xfrm>
            <a:off x="685800" y="285750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01</a:t>
            </a:r>
          </a:p>
        </p:txBody>
      </p:sp>
      <p:sp>
        <p:nvSpPr>
          <p:cNvPr id="5" name="Rettangolo 4">
            <a:extLst>
              <a:ext uri="{FF2B5EF4-FFF2-40B4-BE49-F238E27FC236}">
                <a16:creationId xmlns:a16="http://schemas.microsoft.com/office/drawing/2014/main" id="{A7447639-7A70-4861-8213-2179225B1DA5}"/>
              </a:ext>
            </a:extLst>
          </p:cNvPr>
          <p:cNvSpPr>
            <a:spLocks noGrp="1"/>
          </p:cNvSpPr>
          <p:nvPr/>
        </p:nvSpPr>
        <p:spPr>
          <a:xfrm>
            <a:off x="1428750" y="283845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Clean performance is only the baseline; robustness is condition-dependent.</a:t>
            </a:r>
          </a:p>
        </p:txBody>
      </p:sp>
      <p:sp>
        <p:nvSpPr>
          <p:cNvPr id="6" name="Rettangolo 5">
            <a:extLst>
              <a:ext uri="{FF2B5EF4-FFF2-40B4-BE49-F238E27FC236}">
                <a16:creationId xmlns:a16="http://schemas.microsoft.com/office/drawing/2014/main" id="{1450CA5E-FC35-430A-9031-A11896E280CD}"/>
              </a:ext>
            </a:extLst>
          </p:cNvPr>
          <p:cNvSpPr>
            <a:spLocks noGrp="1"/>
          </p:cNvSpPr>
          <p:nvPr/>
        </p:nvSpPr>
        <p:spPr>
          <a:xfrm>
            <a:off x="1428750" y="3524250"/>
            <a:ext cx="8858250" cy="9525"/>
          </a:xfrm>
          <a:prstGeom prst="rect">
            <a:avLst/>
          </a:prstGeom>
          <a:solidFill>
            <a:srgbClr val="536A9B"/>
          </a:solidFill>
          <a:ln w="0">
            <a:noFill/>
            <a:prstDash val="solid"/>
          </a:ln>
        </p:spPr>
        <p:txBody>
          <a:bodyPr/>
          <a:lstStyle/>
          <a:p>
            <a:endParaRPr lang="it-IT"/>
          </a:p>
        </p:txBody>
      </p:sp>
      <p:sp>
        <p:nvSpPr>
          <p:cNvPr id="7" name="Rettangolo 6">
            <a:extLst>
              <a:ext uri="{FF2B5EF4-FFF2-40B4-BE49-F238E27FC236}">
                <a16:creationId xmlns:a16="http://schemas.microsoft.com/office/drawing/2014/main" id="{84B48416-48C8-47F4-8298-4F17F973B71A}"/>
              </a:ext>
            </a:extLst>
          </p:cNvPr>
          <p:cNvSpPr>
            <a:spLocks noGrp="1"/>
          </p:cNvSpPr>
          <p:nvPr/>
        </p:nvSpPr>
        <p:spPr>
          <a:xfrm>
            <a:off x="685800" y="375285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02</a:t>
            </a:r>
          </a:p>
        </p:txBody>
      </p:sp>
      <p:sp>
        <p:nvSpPr>
          <p:cNvPr id="8" name="Rettangolo 7">
            <a:extLst>
              <a:ext uri="{FF2B5EF4-FFF2-40B4-BE49-F238E27FC236}">
                <a16:creationId xmlns:a16="http://schemas.microsoft.com/office/drawing/2014/main" id="{988D7614-8FE3-475C-B612-F8C4E0C42486}"/>
              </a:ext>
            </a:extLst>
          </p:cNvPr>
          <p:cNvSpPr>
            <a:spLocks noGrp="1"/>
          </p:cNvSpPr>
          <p:nvPr/>
        </p:nvSpPr>
        <p:spPr>
          <a:xfrm>
            <a:off x="1428750" y="373380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Direct attacks, transfer and OOD behavior are distinct from configuration trade-offs.</a:t>
            </a:r>
          </a:p>
        </p:txBody>
      </p:sp>
      <p:sp>
        <p:nvSpPr>
          <p:cNvPr id="9" name="Rettangolo 8">
            <a:extLst>
              <a:ext uri="{FF2B5EF4-FFF2-40B4-BE49-F238E27FC236}">
                <a16:creationId xmlns:a16="http://schemas.microsoft.com/office/drawing/2014/main" id="{9FD6AFD3-88FF-4DC9-A60E-DD29C11BBE0F}"/>
              </a:ext>
            </a:extLst>
          </p:cNvPr>
          <p:cNvSpPr>
            <a:spLocks noGrp="1"/>
          </p:cNvSpPr>
          <p:nvPr/>
        </p:nvSpPr>
        <p:spPr>
          <a:xfrm>
            <a:off x="1428750" y="4419600"/>
            <a:ext cx="8858250" cy="9525"/>
          </a:xfrm>
          <a:prstGeom prst="rect">
            <a:avLst/>
          </a:prstGeom>
          <a:solidFill>
            <a:srgbClr val="536A9B"/>
          </a:solidFill>
          <a:ln w="0">
            <a:noFill/>
            <a:prstDash val="solid"/>
          </a:ln>
        </p:spPr>
        <p:txBody>
          <a:bodyPr/>
          <a:lstStyle/>
          <a:p>
            <a:endParaRPr lang="it-IT"/>
          </a:p>
        </p:txBody>
      </p:sp>
      <p:sp>
        <p:nvSpPr>
          <p:cNvPr id="10" name="Rettangolo 9">
            <a:extLst>
              <a:ext uri="{FF2B5EF4-FFF2-40B4-BE49-F238E27FC236}">
                <a16:creationId xmlns:a16="http://schemas.microsoft.com/office/drawing/2014/main" id="{82DD1464-6B69-4824-9D72-F6913E53C22E}"/>
              </a:ext>
            </a:extLst>
          </p:cNvPr>
          <p:cNvSpPr>
            <a:spLocks noGrp="1"/>
          </p:cNvSpPr>
          <p:nvPr/>
        </p:nvSpPr>
        <p:spPr>
          <a:xfrm>
            <a:off x="685800" y="4648200"/>
            <a:ext cx="571500" cy="323850"/>
          </a:xfrm>
          <a:prstGeom prst="rect">
            <a:avLst/>
          </a:prstGeom>
          <a:noFill/>
          <a:ln w="0">
            <a:noFill/>
            <a:prstDash val="solid"/>
          </a:ln>
        </p:spPr>
        <p:txBody>
          <a:bodyPr wrap="square" lIns="0" tIns="0" rIns="0" bIns="0" anchor="t">
            <a:noAutofit/>
          </a:bodyPr>
          <a:lstStyle/>
          <a:p>
            <a:pPr algn="l">
              <a:buNone/>
              <a:defRPr sz="1575" b="1">
                <a:solidFill>
                  <a:srgbClr val="14B978"/>
                </a:solidFill>
                <a:latin typeface="Arial"/>
                <a:ea typeface="Arial"/>
                <a:cs typeface="Arial"/>
              </a:defRPr>
            </a:pPr>
            <a:r>
              <a:rPr sz="1575" b="1">
                <a:solidFill>
                  <a:srgbClr val="14B978"/>
                </a:solidFill>
                <a:latin typeface="Arial"/>
                <a:ea typeface="Arial"/>
                <a:cs typeface="Arial"/>
              </a:rPr>
              <a:t>03</a:t>
            </a:r>
          </a:p>
        </p:txBody>
      </p:sp>
      <p:sp>
        <p:nvSpPr>
          <p:cNvPr id="11" name="Rettangolo 10">
            <a:extLst>
              <a:ext uri="{FF2B5EF4-FFF2-40B4-BE49-F238E27FC236}">
                <a16:creationId xmlns:a16="http://schemas.microsoft.com/office/drawing/2014/main" id="{CE069915-8C7F-4D66-A75C-DE9F676A9B58}"/>
              </a:ext>
            </a:extLst>
          </p:cNvPr>
          <p:cNvSpPr>
            <a:spLocks noGrp="1"/>
          </p:cNvSpPr>
          <p:nvPr/>
        </p:nvSpPr>
        <p:spPr>
          <a:xfrm>
            <a:off x="1428750" y="4629150"/>
            <a:ext cx="9334500" cy="590550"/>
          </a:xfrm>
          <a:prstGeom prst="rect">
            <a:avLst/>
          </a:prstGeom>
          <a:noFill/>
          <a:ln w="0">
            <a:noFill/>
            <a:prstDash val="solid"/>
          </a:ln>
        </p:spPr>
        <p:txBody>
          <a:bodyPr wrap="square" lIns="0" tIns="0" rIns="0" bIns="0" anchor="ctr">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FAIRLab makes those dimensions traceable, auditable and reviewable by a forensic expert.</a:t>
            </a:r>
          </a:p>
        </p:txBody>
      </p:sp>
      <p:sp>
        <p:nvSpPr>
          <p:cNvPr id="12" name="Rettangolo 11">
            <a:extLst>
              <a:ext uri="{FF2B5EF4-FFF2-40B4-BE49-F238E27FC236}">
                <a16:creationId xmlns:a16="http://schemas.microsoft.com/office/drawing/2014/main" id="{C5DB9022-7C6B-4FD6-BD9F-B0933F2FF931}"/>
              </a:ext>
            </a:extLst>
          </p:cNvPr>
          <p:cNvSpPr>
            <a:spLocks noGrp="1"/>
          </p:cNvSpPr>
          <p:nvPr/>
        </p:nvSpPr>
        <p:spPr>
          <a:xfrm>
            <a:off x="685800" y="5962650"/>
            <a:ext cx="2476500" cy="419100"/>
          </a:xfrm>
          <a:prstGeom prst="rect">
            <a:avLst/>
          </a:prstGeom>
          <a:noFill/>
          <a:ln w="0">
            <a:noFill/>
            <a:prstDash val="solid"/>
          </a:ln>
        </p:spPr>
        <p:txBody>
          <a:bodyPr wrap="square" lIns="0" tIns="0" rIns="0" bIns="0" anchor="t">
            <a:noAutofit/>
          </a:bodyPr>
          <a:lstStyle/>
          <a:p/>
        </p:txBody>
      </p:sp>
      <p:sp>
        <p:nvSpPr>
          <p:cNvPr id="13" name="Rettangolo 12">
            <a:extLst>
              <a:ext uri="{FF2B5EF4-FFF2-40B4-BE49-F238E27FC236}">
                <a16:creationId xmlns:a16="http://schemas.microsoft.com/office/drawing/2014/main" id="{E270C321-849E-4038-B40F-9F6AE5428309}"/>
              </a:ext>
            </a:extLst>
          </p:cNvPr>
          <p:cNvSpPr>
            <a:spLocks noGrp="1"/>
          </p:cNvSpPr>
          <p:nvPr/>
        </p:nvSpPr>
        <p:spPr>
          <a:xfrm>
            <a:off x="8972550" y="6038850"/>
            <a:ext cx="2266950" cy="266700"/>
          </a:xfrm>
          <a:prstGeom prst="rect">
            <a:avLst/>
          </a:prstGeom>
          <a:noFill/>
          <a:ln w="0">
            <a:noFill/>
            <a:prstDash val="solid"/>
          </a:ln>
        </p:spPr>
        <p:txBody>
          <a:bodyPr wrap="square" lIns="0" tIns="0" rIns="0" bIns="0" anchor="t">
            <a:noAutofit/>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19" name="Rettangolo 18">
            <a:extLst>
              <a:ext uri="{FF2B5EF4-FFF2-40B4-BE49-F238E27FC236}">
                <a16:creationId xmlns:a16="http://schemas.microsoft.com/office/drawing/2014/main" id="{84FC9E0B-46E5-4605-AE89-120F1A809740}"/>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CE9CEC47-2C9E-4DEB-B3A5-380688C3D463}"/>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Research questions and claim scope</a:t>
            </a:r>
          </a:p>
        </p:txBody>
      </p:sp>
      <p:sp>
        <p:nvSpPr>
          <p:cNvPr id="3" name="Rettangolo 2">
            <a:extLst>
              <a:ext uri="{FF2B5EF4-FFF2-40B4-BE49-F238E27FC236}">
                <a16:creationId xmlns:a16="http://schemas.microsoft.com/office/drawing/2014/main" id="{3671D975-C3C7-4CFA-BB40-CDE2E47A6DBB}"/>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0E5654D2-637C-43AD-B298-14213A7CA3D8}"/>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8439A926-BBAF-40CB-B5E7-23C236A118D8}"/>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03</a:t>
            </a:r>
          </a:p>
        </p:txBody>
      </p:sp>
      <p:sp>
        <p:nvSpPr>
          <p:cNvPr id="6" name="Rettangolo 5">
            <a:extLst>
              <a:ext uri="{FF2B5EF4-FFF2-40B4-BE49-F238E27FC236}">
                <a16:creationId xmlns:a16="http://schemas.microsoft.com/office/drawing/2014/main" id="{C0C9D87E-20DC-47FA-8CCE-629AA967F5EB}"/>
              </a:ext>
            </a:extLst>
          </p:cNvPr>
          <p:cNvSpPr>
            <a:spLocks noGrp="1"/>
          </p:cNvSpPr>
          <p:nvPr/>
        </p:nvSpPr>
        <p:spPr>
          <a:xfrm>
            <a:off x="685800" y="146685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RQ1</a:t>
            </a:r>
          </a:p>
        </p:txBody>
      </p:sp>
      <p:sp>
        <p:nvSpPr>
          <p:cNvPr id="7" name="Rettangolo 6">
            <a:extLst>
              <a:ext uri="{FF2B5EF4-FFF2-40B4-BE49-F238E27FC236}">
                <a16:creationId xmlns:a16="http://schemas.microsoft.com/office/drawing/2014/main" id="{2CE69233-BFB9-41EB-979C-EA89A8DFDF59}"/>
              </a:ext>
            </a:extLst>
          </p:cNvPr>
          <p:cNvSpPr>
            <a:spLocks noGrp="1"/>
          </p:cNvSpPr>
          <p:nvPr/>
        </p:nvSpPr>
        <p:spPr>
          <a:xfrm>
            <a:off x="2000250" y="146685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To what extent do the proxy models retain clean-baseline performance across separate OOD, adversarial and anti-forensic conditions?</a:t>
            </a:r>
          </a:p>
        </p:txBody>
      </p:sp>
      <p:sp>
        <p:nvSpPr>
          <p:cNvPr id="8" name="Rettangolo 7">
            <a:extLst>
              <a:ext uri="{FF2B5EF4-FFF2-40B4-BE49-F238E27FC236}">
                <a16:creationId xmlns:a16="http://schemas.microsoft.com/office/drawing/2014/main" id="{21C60FC9-62A2-4C61-8FF4-834622D26C25}"/>
              </a:ext>
            </a:extLst>
          </p:cNvPr>
          <p:cNvSpPr>
            <a:spLocks noGrp="1"/>
          </p:cNvSpPr>
          <p:nvPr/>
        </p:nvSpPr>
        <p:spPr>
          <a:xfrm>
            <a:off x="2000250" y="2247900"/>
            <a:ext cx="9505950" cy="9525"/>
          </a:xfrm>
          <a:prstGeom prst="rect">
            <a:avLst/>
          </a:prstGeom>
          <a:solidFill>
            <a:srgbClr val="D9DEE8"/>
          </a:solidFill>
          <a:ln w="0">
            <a:noFill/>
            <a:prstDash val="solid"/>
          </a:ln>
        </p:spPr>
        <p:txBody>
          <a:bodyPr/>
          <a:lstStyle/>
          <a:p>
            <a:endParaRPr lang="it-IT"/>
          </a:p>
        </p:txBody>
      </p:sp>
      <p:sp>
        <p:nvSpPr>
          <p:cNvPr id="9" name="Rettangolo 8">
            <a:extLst>
              <a:ext uri="{FF2B5EF4-FFF2-40B4-BE49-F238E27FC236}">
                <a16:creationId xmlns:a16="http://schemas.microsoft.com/office/drawing/2014/main" id="{5E6437C9-09C1-42B9-9D92-FAEBBDA67E6F}"/>
              </a:ext>
            </a:extLst>
          </p:cNvPr>
          <p:cNvSpPr>
            <a:spLocks noGrp="1"/>
          </p:cNvSpPr>
          <p:nvPr/>
        </p:nvSpPr>
        <p:spPr>
          <a:xfrm>
            <a:off x="685800" y="246697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RQ2</a:t>
            </a:r>
          </a:p>
        </p:txBody>
      </p:sp>
      <p:sp>
        <p:nvSpPr>
          <p:cNvPr id="10" name="Rettangolo 9">
            <a:extLst>
              <a:ext uri="{FF2B5EF4-FFF2-40B4-BE49-F238E27FC236}">
                <a16:creationId xmlns:a16="http://schemas.microsoft.com/office/drawing/2014/main" id="{D47212FC-48F3-41EC-9CC7-4DD7E3283F95}"/>
              </a:ext>
            </a:extLst>
          </p:cNvPr>
          <p:cNvSpPr>
            <a:spLocks noGrp="1"/>
          </p:cNvSpPr>
          <p:nvPr/>
        </p:nvSpPr>
        <p:spPr>
          <a:xfrm>
            <a:off x="2000250" y="246697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How do direct source-model attacks, cross-architecture transfer and model-agnostic Color Shift differ?</a:t>
            </a:r>
          </a:p>
        </p:txBody>
      </p:sp>
      <p:sp>
        <p:nvSpPr>
          <p:cNvPr id="11" name="Rettangolo 10">
            <a:extLst>
              <a:ext uri="{FF2B5EF4-FFF2-40B4-BE49-F238E27FC236}">
                <a16:creationId xmlns:a16="http://schemas.microsoft.com/office/drawing/2014/main" id="{4C1C58C5-07A3-4CA4-BB48-B55541E160B0}"/>
              </a:ext>
            </a:extLst>
          </p:cNvPr>
          <p:cNvSpPr>
            <a:spLocks noGrp="1"/>
          </p:cNvSpPr>
          <p:nvPr/>
        </p:nvSpPr>
        <p:spPr>
          <a:xfrm>
            <a:off x="2000250" y="3248025"/>
            <a:ext cx="9505950" cy="9525"/>
          </a:xfrm>
          <a:prstGeom prst="rect">
            <a:avLst/>
          </a:prstGeom>
          <a:solidFill>
            <a:srgbClr val="D9DEE8"/>
          </a:solidFill>
          <a:ln w="0">
            <a:noFill/>
            <a:prstDash val="solid"/>
          </a:ln>
        </p:spPr>
        <p:txBody>
          <a:bodyPr/>
          <a:lstStyle/>
          <a:p>
            <a:endParaRPr lang="it-IT"/>
          </a:p>
        </p:txBody>
      </p:sp>
      <p:sp>
        <p:nvSpPr>
          <p:cNvPr id="12" name="Rettangolo 11">
            <a:extLst>
              <a:ext uri="{FF2B5EF4-FFF2-40B4-BE49-F238E27FC236}">
                <a16:creationId xmlns:a16="http://schemas.microsoft.com/office/drawing/2014/main" id="{16756826-4AF4-44E9-AEA3-B34F4931B102}"/>
              </a:ext>
            </a:extLst>
          </p:cNvPr>
          <p:cNvSpPr>
            <a:spLocks noGrp="1"/>
          </p:cNvSpPr>
          <p:nvPr/>
        </p:nvSpPr>
        <p:spPr>
          <a:xfrm>
            <a:off x="685800" y="3467100"/>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RQ3</a:t>
            </a:r>
          </a:p>
        </p:txBody>
      </p:sp>
      <p:sp>
        <p:nvSpPr>
          <p:cNvPr id="13" name="Rettangolo 12">
            <a:extLst>
              <a:ext uri="{FF2B5EF4-FFF2-40B4-BE49-F238E27FC236}">
                <a16:creationId xmlns:a16="http://schemas.microsoft.com/office/drawing/2014/main" id="{346DA074-5DB2-4080-A017-58881045F2EB}"/>
              </a:ext>
            </a:extLst>
          </p:cNvPr>
          <p:cNvSpPr>
            <a:spLocks noGrp="1"/>
          </p:cNvSpPr>
          <p:nvPr/>
        </p:nvSpPr>
        <p:spPr>
          <a:xfrm>
            <a:off x="2000250" y="3467100"/>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How do black-box outputs and configuration choices shape the observed operational profiles?</a:t>
            </a:r>
          </a:p>
        </p:txBody>
      </p:sp>
      <p:sp>
        <p:nvSpPr>
          <p:cNvPr id="14" name="Rettangolo 13">
            <a:extLst>
              <a:ext uri="{FF2B5EF4-FFF2-40B4-BE49-F238E27FC236}">
                <a16:creationId xmlns:a16="http://schemas.microsoft.com/office/drawing/2014/main" id="{889BFF6A-0AC6-41F8-ACE2-0A4C4610C426}"/>
              </a:ext>
            </a:extLst>
          </p:cNvPr>
          <p:cNvSpPr>
            <a:spLocks noGrp="1"/>
          </p:cNvSpPr>
          <p:nvPr/>
        </p:nvSpPr>
        <p:spPr>
          <a:xfrm>
            <a:off x="2000250" y="4248150"/>
            <a:ext cx="9505950" cy="9525"/>
          </a:xfrm>
          <a:prstGeom prst="rect">
            <a:avLst/>
          </a:prstGeom>
          <a:solidFill>
            <a:srgbClr val="D9DEE8"/>
          </a:solidFill>
          <a:ln w="0">
            <a:noFill/>
            <a:prstDash val="solid"/>
          </a:ln>
        </p:spPr>
        <p:txBody>
          <a:bodyPr/>
          <a:lstStyle/>
          <a:p>
            <a:endParaRPr lang="it-IT"/>
          </a:p>
        </p:txBody>
      </p:sp>
      <p:sp>
        <p:nvSpPr>
          <p:cNvPr id="15" name="Rettangolo 14">
            <a:extLst>
              <a:ext uri="{FF2B5EF4-FFF2-40B4-BE49-F238E27FC236}">
                <a16:creationId xmlns:a16="http://schemas.microsoft.com/office/drawing/2014/main" id="{66853AED-6463-4B5B-A2DD-E44819CAF7D8}"/>
              </a:ext>
            </a:extLst>
          </p:cNvPr>
          <p:cNvSpPr>
            <a:spLocks noGrp="1"/>
          </p:cNvSpPr>
          <p:nvPr/>
        </p:nvSpPr>
        <p:spPr>
          <a:xfrm>
            <a:off x="685800" y="4467225"/>
            <a:ext cx="1047750" cy="419100"/>
          </a:xfrm>
          <a:prstGeom prst="rect">
            <a:avLst/>
          </a:prstGeom>
          <a:noFill/>
          <a:ln w="0">
            <a:noFill/>
            <a:prstDash val="solid"/>
          </a:ln>
        </p:spPr>
        <p:txBody>
          <a:bodyPr wrap="square" lIns="0" tIns="0" rIns="0" bIns="0" anchor="ctr">
            <a:noAutofit/>
          </a:bodyPr>
          <a:lstStyle/>
          <a:p>
            <a:pPr algn="ctr">
              <a:buNone/>
              <a:defRPr sz="2100" b="1">
                <a:solidFill>
                  <a:srgbClr val="233A70"/>
                </a:solidFill>
                <a:latin typeface="Arial"/>
                <a:ea typeface="Arial"/>
                <a:cs typeface="Arial"/>
              </a:defRPr>
            </a:pPr>
            <a:r>
              <a:rPr sz="2100" b="1">
                <a:solidFill>
                  <a:srgbClr val="233A70"/>
                </a:solidFill>
                <a:latin typeface="Arial"/>
                <a:ea typeface="Arial"/>
                <a:cs typeface="Arial"/>
              </a:rPr>
              <a:t>RQ4</a:t>
            </a:r>
          </a:p>
        </p:txBody>
      </p:sp>
      <p:sp>
        <p:nvSpPr>
          <p:cNvPr id="16" name="Rettangolo 15">
            <a:extLst>
              <a:ext uri="{FF2B5EF4-FFF2-40B4-BE49-F238E27FC236}">
                <a16:creationId xmlns:a16="http://schemas.microsoft.com/office/drawing/2014/main" id="{6524EA49-2AAE-4745-B332-0434260C06F8}"/>
              </a:ext>
            </a:extLst>
          </p:cNvPr>
          <p:cNvSpPr>
            <a:spLocks noGrp="1"/>
          </p:cNvSpPr>
          <p:nvPr/>
        </p:nvSpPr>
        <p:spPr>
          <a:xfrm>
            <a:off x="2000250" y="4467225"/>
            <a:ext cx="9505950" cy="609600"/>
          </a:xfrm>
          <a:prstGeom prst="rect">
            <a:avLst/>
          </a:prstGeom>
          <a:noFill/>
          <a:ln w="0">
            <a:noFill/>
            <a:prstDash val="solid"/>
          </a:ln>
        </p:spPr>
        <p:txBody>
          <a:bodyPr wrap="square" lIns="0" tIns="0" rIns="0" bIns="0" anchor="ctr">
            <a:noAutofit/>
          </a:bodyPr>
          <a:lstStyle/>
          <a:p>
            <a:pPr algn="l">
              <a:buNone/>
              <a:defRPr sz="1650" b="0">
                <a:solidFill>
                  <a:srgbClr val="172033"/>
                </a:solidFill>
                <a:latin typeface="Arial"/>
                <a:ea typeface="Arial"/>
                <a:cs typeface="Arial"/>
              </a:defRPr>
            </a:pPr>
            <a:r>
              <a:rPr sz="1650" b="0">
                <a:solidFill>
                  <a:srgbClr val="172033"/>
                </a:solidFill>
                <a:latin typeface="Arial"/>
                <a:ea typeface="Arial"/>
                <a:cs typeface="Arial"/>
              </a:rPr>
              <a:t>Which directional errors, degradations, OOD assignments and unknown states matter for continued human review?</a:t>
            </a:r>
          </a:p>
        </p:txBody>
      </p:sp>
      <p:sp>
        <p:nvSpPr>
          <p:cNvPr id="17" name="Rettangolo con angoli arrotondati 16">
            <a:extLst>
              <a:ext uri="{FF2B5EF4-FFF2-40B4-BE49-F238E27FC236}">
                <a16:creationId xmlns:a16="http://schemas.microsoft.com/office/drawing/2014/main" id="{A2A1A18D-89F3-4B35-9E6B-FF22B6E99FEB}"/>
              </a:ext>
            </a:extLst>
          </p:cNvPr>
          <p:cNvSpPr>
            <a:spLocks noGrp="1"/>
          </p:cNvSpPr>
          <p:nvPr/>
        </p:nvSpPr>
        <p:spPr>
          <a:xfrm>
            <a:off x="1695450" y="5657850"/>
            <a:ext cx="8801100" cy="552450"/>
          </a:xfrm>
          <a:prstGeom prst="roundRect">
            <a:avLst>
              <a:gd name="adj" fmla="val 24138"/>
            </a:avLst>
          </a:prstGeom>
          <a:solidFill>
            <a:srgbClr val="E9EEF8"/>
          </a:solidFill>
          <a:ln w="0">
            <a:noFill/>
            <a:prstDash val="solid"/>
          </a:ln>
        </p:spPr>
        <p:txBody>
          <a:bodyPr/>
          <a:lstStyle/>
          <a:p>
            <a:endParaRPr lang="it-IT"/>
          </a:p>
        </p:txBody>
      </p:sp>
      <p:sp>
        <p:nvSpPr>
          <p:cNvPr id="18" name="Rettangolo 17">
            <a:extLst>
              <a:ext uri="{FF2B5EF4-FFF2-40B4-BE49-F238E27FC236}">
                <a16:creationId xmlns:a16="http://schemas.microsoft.com/office/drawing/2014/main" id="{073F03E5-3A3D-4C28-AB4A-460511D330F5}"/>
              </a:ext>
            </a:extLst>
          </p:cNvPr>
          <p:cNvSpPr>
            <a:spLocks noGrp="1"/>
          </p:cNvSpPr>
          <p:nvPr/>
        </p:nvSpPr>
        <p:spPr>
          <a:xfrm>
            <a:off x="1943100" y="5810250"/>
            <a:ext cx="8305800" cy="24765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Scope: operational robustness under the frozen protocol—not certification, legal admissibility or universal ranking.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14" name="Rettangolo 13">
            <a:extLst>
              <a:ext uri="{FF2B5EF4-FFF2-40B4-BE49-F238E27FC236}">
                <a16:creationId xmlns:a16="http://schemas.microsoft.com/office/drawing/2014/main" id="{CA8BCD57-59D3-4186-B677-2B942AA426C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A664D4C8-DB63-4397-A1DC-38A731E7A802}"/>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Perturbation suite and evaluation paths</a:t>
            </a:r>
          </a:p>
        </p:txBody>
      </p:sp>
      <p:sp>
        <p:nvSpPr>
          <p:cNvPr id="3" name="Rettangolo 2">
            <a:extLst>
              <a:ext uri="{FF2B5EF4-FFF2-40B4-BE49-F238E27FC236}">
                <a16:creationId xmlns:a16="http://schemas.microsoft.com/office/drawing/2014/main" id="{050033A1-00F7-455E-B3DC-9BB2071622D8}"/>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AFF74B47-9C30-488E-854C-6081B30E2431}"/>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F11E95E-70A3-42C7-A98E-2E58DEE52D6D}"/>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09</a:t>
            </a:r>
          </a:p>
        </p:txBody>
      </p:sp>
      <p:sp>
        <p:nvSpPr>
          <p:cNvPr id="6" name="Rettangolo con angoli arrotondati 5">
            <a:extLst>
              <a:ext uri="{FF2B5EF4-FFF2-40B4-BE49-F238E27FC236}">
                <a16:creationId xmlns:a16="http://schemas.microsoft.com/office/drawing/2014/main" id="{A0B79341-B31C-49EA-9E0A-6023304E20C5}"/>
              </a:ext>
            </a:extLst>
          </p:cNvPr>
          <p:cNvSpPr>
            <a:spLocks noGrp="1"/>
          </p:cNvSpPr>
          <p:nvPr/>
        </p:nvSpPr>
        <p:spPr>
          <a:xfrm>
            <a:off x="685800" y="1409700"/>
            <a:ext cx="5143500" cy="3257550"/>
          </a:xfrm>
          <a:prstGeom prst="roundRect">
            <a:avLst>
              <a:gd name="adj" fmla="val 5263"/>
            </a:avLst>
          </a:prstGeom>
          <a:solidFill>
            <a:srgbClr val="FBEAEA"/>
          </a:solidFill>
          <a:ln w="0">
            <a:noFill/>
            <a:prstDash val="solid"/>
          </a:ln>
        </p:spPr>
        <p:txBody>
          <a:bodyPr/>
          <a:lstStyle/>
          <a:p>
            <a:endParaRPr lang="it-IT"/>
          </a:p>
        </p:txBody>
      </p:sp>
      <p:sp>
        <p:nvSpPr>
          <p:cNvPr id="7" name="Rettangolo 6">
            <a:extLst>
              <a:ext uri="{FF2B5EF4-FFF2-40B4-BE49-F238E27FC236}">
                <a16:creationId xmlns:a16="http://schemas.microsoft.com/office/drawing/2014/main" id="{876C10F7-B22F-4E20-B37B-5B6B6D900D7F}"/>
              </a:ext>
            </a:extLst>
          </p:cNvPr>
          <p:cNvSpPr>
            <a:spLocks noGrp="1"/>
          </p:cNvSpPr>
          <p:nvPr/>
        </p:nvSpPr>
        <p:spPr>
          <a:xfrm>
            <a:off x="9906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BE3C37"/>
                </a:solidFill>
                <a:latin typeface="Arial"/>
                <a:ea typeface="Arial"/>
                <a:cs typeface="Arial"/>
              </a:defRPr>
            </a:pPr>
            <a:r>
              <a:rPr sz="1425" b="1">
                <a:solidFill>
                  <a:srgbClr val="BE3C37"/>
                </a:solidFill>
                <a:latin typeface="Arial"/>
                <a:ea typeface="Arial"/>
                <a:cs typeface="Arial"/>
              </a:rPr>
              <a:t>ADVERSARIAL / ADVERSARIAL-STYLE</a:t>
            </a:r>
          </a:p>
        </p:txBody>
      </p:sp>
      <p:sp>
        <p:nvSpPr>
          <p:cNvPr id="8" name="Rettangolo 7">
            <a:extLst>
              <a:ext uri="{FF2B5EF4-FFF2-40B4-BE49-F238E27FC236}">
                <a16:creationId xmlns:a16="http://schemas.microsoft.com/office/drawing/2014/main" id="{447AD97F-196E-4136-B002-B51E79441679}"/>
              </a:ext>
            </a:extLst>
          </p:cNvPr>
          <p:cNvSpPr>
            <a:spLocks noGrp="1"/>
          </p:cNvSpPr>
          <p:nvPr/>
        </p:nvSpPr>
        <p:spPr>
          <a:xfrm>
            <a:off x="11811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FGSM</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One Pixel</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Sigma Zero</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SuperDeepFool</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Color Shift · deterministic, model-agnostic</a:t>
            </a:r>
          </a:p>
        </p:txBody>
      </p:sp>
      <p:sp>
        <p:nvSpPr>
          <p:cNvPr id="9" name="Rettangolo con angoli arrotondati 8">
            <a:extLst>
              <a:ext uri="{FF2B5EF4-FFF2-40B4-BE49-F238E27FC236}">
                <a16:creationId xmlns:a16="http://schemas.microsoft.com/office/drawing/2014/main" id="{0CD6EE3C-FCAC-4DB0-A388-5E60E7E7628B}"/>
              </a:ext>
            </a:extLst>
          </p:cNvPr>
          <p:cNvSpPr>
            <a:spLocks noGrp="1"/>
          </p:cNvSpPr>
          <p:nvPr/>
        </p:nvSpPr>
        <p:spPr>
          <a:xfrm>
            <a:off x="6362700" y="1409700"/>
            <a:ext cx="5143500" cy="3257550"/>
          </a:xfrm>
          <a:prstGeom prst="roundRect">
            <a:avLst>
              <a:gd name="adj" fmla="val 5263"/>
            </a:avLst>
          </a:prstGeom>
          <a:solidFill>
            <a:srgbClr val="E7F8F0"/>
          </a:solidFill>
          <a:ln w="0">
            <a:noFill/>
            <a:prstDash val="solid"/>
          </a:ln>
        </p:spPr>
        <p:txBody>
          <a:bodyPr/>
          <a:lstStyle/>
          <a:p>
            <a:endParaRPr lang="it-IT"/>
          </a:p>
        </p:txBody>
      </p:sp>
      <p:sp>
        <p:nvSpPr>
          <p:cNvPr id="10" name="Rettangolo 9">
            <a:extLst>
              <a:ext uri="{FF2B5EF4-FFF2-40B4-BE49-F238E27FC236}">
                <a16:creationId xmlns:a16="http://schemas.microsoft.com/office/drawing/2014/main" id="{5A293CCE-1472-41B6-8448-5C544B376364}"/>
              </a:ext>
            </a:extLst>
          </p:cNvPr>
          <p:cNvSpPr>
            <a:spLocks noGrp="1"/>
          </p:cNvSpPr>
          <p:nvPr/>
        </p:nvSpPr>
        <p:spPr>
          <a:xfrm>
            <a:off x="6667500" y="1695450"/>
            <a:ext cx="4533900" cy="285750"/>
          </a:xfrm>
          <a:prstGeom prst="rect">
            <a:avLst/>
          </a:prstGeom>
          <a:noFill/>
          <a:ln w="0">
            <a:noFill/>
            <a:prstDash val="solid"/>
          </a:ln>
        </p:spPr>
        <p:txBody>
          <a:bodyPr wrap="square" lIns="0" tIns="0" rIns="0" bIns="0" anchor="t">
            <a:noAutofit/>
          </a:bodyPr>
          <a:lstStyle/>
          <a:p>
            <a:pPr algn="ctr">
              <a:buNone/>
              <a:defRPr sz="1425" b="1">
                <a:solidFill>
                  <a:srgbClr val="087A50"/>
                </a:solidFill>
                <a:latin typeface="Arial"/>
                <a:ea typeface="Arial"/>
                <a:cs typeface="Arial"/>
              </a:defRPr>
            </a:pPr>
            <a:r>
              <a:rPr sz="1425" b="1">
                <a:solidFill>
                  <a:srgbClr val="087A50"/>
                </a:solidFill>
                <a:latin typeface="Arial"/>
                <a:ea typeface="Arial"/>
                <a:cs typeface="Arial"/>
              </a:rPr>
              <a:t>ANTI-FORENSIC TRANSFORMATIONS</a:t>
            </a:r>
          </a:p>
        </p:txBody>
      </p:sp>
      <p:sp>
        <p:nvSpPr>
          <p:cNvPr id="11" name="Rettangolo 10">
            <a:extLst>
              <a:ext uri="{FF2B5EF4-FFF2-40B4-BE49-F238E27FC236}">
                <a16:creationId xmlns:a16="http://schemas.microsoft.com/office/drawing/2014/main" id="{B8E10F48-906E-437E-B425-B1CDC1DAE933}"/>
              </a:ext>
            </a:extLst>
          </p:cNvPr>
          <p:cNvSpPr>
            <a:spLocks noGrp="1"/>
          </p:cNvSpPr>
          <p:nvPr/>
        </p:nvSpPr>
        <p:spPr>
          <a:xfrm>
            <a:off x="6858000" y="2209800"/>
            <a:ext cx="4095750" cy="2038350"/>
          </a:xfrm>
          <a:prstGeom prst="rect">
            <a:avLst/>
          </a:prstGeom>
          <a:noFill/>
          <a:ln w="0">
            <a:noFill/>
            <a:prstDash val="solid"/>
          </a:ln>
        </p:spPr>
        <p:txBody>
          <a:bodyPr wrap="square" lIns="0" tIns="0" rIns="0" bIns="0" anchor="t">
            <a:noAutofit/>
          </a:bodyPr>
          <a:lstStyle/>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JPEG recompression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Resample / resize</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Gaussian blur</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Histogram modification</a:t>
            </a:r>
          </a:p>
          <a:p>
            <a:pPr marL="24" indent="-14">
              <a:spcAft>
                <a:spcPts val="12"/>
              </a:spcAft>
              <a:buChar char="•"/>
              <a:defRPr sz="1800">
                <a:solidFill>
                  <a:srgbClr val="172033"/>
                </a:solidFill>
                <a:latin typeface="Arial"/>
                <a:ea typeface="Arial"/>
                <a:cs typeface="Arial"/>
              </a:defRPr>
            </a:pPr>
            <a:r>
              <a:rPr sz="1800">
                <a:solidFill>
                  <a:srgbClr val="172033"/>
                </a:solidFill>
                <a:latin typeface="Arial"/>
                <a:ea typeface="Arial"/>
                <a:cs typeface="Arial"/>
              </a:rPr>
              <a:t>Contrast stretching</a:t>
            </a:r>
          </a:p>
        </p:txBody>
      </p:sp>
      <p:sp>
        <p:nvSpPr>
          <p:cNvPr id="12" name="Rettangolo con angoli arrotondati 11">
            <a:extLst>
              <a:ext uri="{FF2B5EF4-FFF2-40B4-BE49-F238E27FC236}">
                <a16:creationId xmlns:a16="http://schemas.microsoft.com/office/drawing/2014/main" id="{CE895620-102C-4121-BF90-C416D624A75E}"/>
              </a:ext>
            </a:extLst>
          </p:cNvPr>
          <p:cNvSpPr>
            <a:spLocks noGrp="1"/>
          </p:cNvSpPr>
          <p:nvPr/>
        </p:nvSpPr>
        <p:spPr>
          <a:xfrm>
            <a:off x="1123950" y="5067300"/>
            <a:ext cx="9944100" cy="914400"/>
          </a:xfrm>
          <a:prstGeom prst="roundRect">
            <a:avLst>
              <a:gd name="adj" fmla="val 16667"/>
            </a:avLst>
          </a:prstGeom>
          <a:solidFill>
            <a:srgbClr val="233A70"/>
          </a:solidFill>
          <a:ln w="0">
            <a:noFill/>
            <a:prstDash val="solid"/>
          </a:ln>
        </p:spPr>
        <p:txBody>
          <a:bodyPr/>
          <a:lstStyle/>
          <a:p>
            <a:endParaRPr lang="it-IT"/>
          </a:p>
        </p:txBody>
      </p:sp>
      <p:sp>
        <p:nvSpPr>
          <p:cNvPr id="13" name="Rettangolo 12">
            <a:extLst>
              <a:ext uri="{FF2B5EF4-FFF2-40B4-BE49-F238E27FC236}">
                <a16:creationId xmlns:a16="http://schemas.microsoft.com/office/drawing/2014/main" id="{C9987658-DB36-4069-BD7C-3C01444A007E}"/>
              </a:ext>
            </a:extLst>
          </p:cNvPr>
          <p:cNvSpPr>
            <a:spLocks noGrp="1"/>
          </p:cNvSpPr>
          <p:nvPr/>
        </p:nvSpPr>
        <p:spPr>
          <a:xfrm>
            <a:off x="1428750" y="5276850"/>
            <a:ext cx="9334500" cy="514350"/>
          </a:xfrm>
          <a:prstGeom prst="rect">
            <a:avLst/>
          </a:prstGeom>
          <a:noFill/>
          <a:ln w="0">
            <a:noFill/>
            <a:prstDash val="solid"/>
          </a:ln>
        </p:spPr>
        <p:txBody>
          <a:bodyPr wrap="square" lIns="0" tIns="0" rIns="0" bIns="0" anchor="ctr">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Model-dependent attacks: direct on EfficientNet-B0  |  empirical transfer elsewhere</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Color Shift and anti-forensic transformations: model-agnostic conditions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9" name="Rettangolo 8">
            <a:extLst>
              <a:ext uri="{FF2B5EF4-FFF2-40B4-BE49-F238E27FC236}">
                <a16:creationId xmlns:a16="http://schemas.microsoft.com/office/drawing/2014/main" id="{ECFD6A99-8731-4DCC-8B9C-3FAB62ADD79F}"/>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CFE25CF9-76BA-4D25-BF65-031D10FFFE1E}"/>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Commercial clean metrics and OOD behavior</a:t>
            </a:r>
          </a:p>
        </p:txBody>
      </p:sp>
      <p:sp>
        <p:nvSpPr>
          <p:cNvPr id="3" name="Rettangolo 2">
            <a:extLst>
              <a:ext uri="{FF2B5EF4-FFF2-40B4-BE49-F238E27FC236}">
                <a16:creationId xmlns:a16="http://schemas.microsoft.com/office/drawing/2014/main" id="{03D51E79-6B75-4622-885E-0AED5A11113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EE5EC74C-F846-4BB6-8F06-9C6093748B65}"/>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949061C5-1369-434C-85B4-B0C4550B308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B1</a:t>
            </a:r>
          </a:p>
        </p:txBody>
      </p:sp>
      <p:graphicFrame>
        <p:nvGraphicFramePr>
          <p:cNvPr id="16" name="Tabella 15"/>
          <p:cNvGraphicFramePr/>
          <p:nvPr/>
        </p:nvGraphicFramePr>
        <p:xfrm>
          <a:off x="685800" y="1485900"/>
          <a:ext cx="10820399" cy="3714750"/>
        </p:xfrm>
        <a:graphic>
          <a:graphicData uri="http://schemas.openxmlformats.org/drawingml/2006/table">
            <a:tbl>
              <a:tblPr/>
              <a:tblGrid>
                <a:gridCol w="3216876">
                  <a:extLst>
                    <a:ext uri="{9D8B030D-6E8A-4147-A177-3AD203B41FA5}">
                      <a16:colId xmlns:a16="http://schemas.microsoft.com/office/drawing/2014/main" val="20000"/>
                    </a:ext>
                  </a:extLst>
                </a:gridCol>
                <a:gridCol w="1462216">
                  <a:extLst>
                    <a:ext uri="{9D8B030D-6E8A-4147-A177-3AD203B41FA5}">
                      <a16:colId xmlns:a16="http://schemas.microsoft.com/office/drawing/2014/main" val="20001"/>
                    </a:ext>
                  </a:extLst>
                </a:gridCol>
                <a:gridCol w="1462216">
                  <a:extLst>
                    <a:ext uri="{9D8B030D-6E8A-4147-A177-3AD203B41FA5}">
                      <a16:colId xmlns:a16="http://schemas.microsoft.com/office/drawing/2014/main" val="20002"/>
                    </a:ext>
                  </a:extLst>
                </a:gridCol>
                <a:gridCol w="1462216">
                  <a:extLst>
                    <a:ext uri="{9D8B030D-6E8A-4147-A177-3AD203B41FA5}">
                      <a16:colId xmlns:a16="http://schemas.microsoft.com/office/drawing/2014/main" val="20003"/>
                    </a:ext>
                  </a:extLst>
                </a:gridCol>
                <a:gridCol w="1462216">
                  <a:extLst>
                    <a:ext uri="{9D8B030D-6E8A-4147-A177-3AD203B41FA5}">
                      <a16:colId xmlns:a16="http://schemas.microsoft.com/office/drawing/2014/main" val="20004"/>
                    </a:ext>
                  </a:extLst>
                </a:gridCol>
                <a:gridCol w="1754659">
                  <a:extLst>
                    <a:ext uri="{9D8B030D-6E8A-4147-A177-3AD203B41FA5}">
                      <a16:colId xmlns:a16="http://schemas.microsoft.com/office/drawing/2014/main" val="20005"/>
                    </a:ext>
                  </a:extLst>
                </a:gridCol>
              </a:tblGrid>
              <a:tr h="514350">
                <a:tc>
                  <a:txBody>
                    <a:bodyPr/>
                    <a:lstStyle/>
                    <a:p>
                      <a:pPr algn="l">
                        <a:buNone/>
                      </a:pPr>
                      <a:r>
                        <a:rPr sz="1425" b="1">
                          <a:solidFill>
                            <a:srgbClr val="FFFFFF"/>
                          </a:solidFill>
                        </a:rPr>
                        <a:t>Configuration</a:t>
                      </a:r>
                    </a:p>
                  </a:txBody>
                  <a:tcPr anchor="ctr">
                    <a:solidFill>
                      <a:srgbClr val="233A70"/>
                    </a:solidFill>
                  </a:tcPr>
                </a:tc>
                <a:tc>
                  <a:txBody>
                    <a:bodyPr/>
                    <a:lstStyle/>
                    <a:p>
                      <a:pPr algn="ctr">
                        <a:buNone/>
                      </a:pPr>
                      <a:r>
                        <a:rPr sz="1425" b="1">
                          <a:solidFill>
                            <a:srgbClr val="FFFFFF"/>
                          </a:solidFill>
                        </a:rPr>
                        <a:t>Accuracy</a:t>
                      </a:r>
                    </a:p>
                  </a:txBody>
                  <a:tcPr anchor="ctr">
                    <a:solidFill>
                      <a:srgbClr val="233A70"/>
                    </a:solidFill>
                  </a:tcPr>
                </a:tc>
                <a:tc>
                  <a:txBody>
                    <a:bodyPr/>
                    <a:lstStyle/>
                    <a:p>
                      <a:pPr algn="ctr">
                        <a:buNone/>
                      </a:pPr>
                      <a:r>
                        <a:rPr sz="1425" b="1">
                          <a:solidFill>
                            <a:srgbClr val="FFFFFF"/>
                          </a:solidFill>
                        </a:rPr>
                        <a:t>Recall</a:t>
                      </a:r>
                    </a:p>
                  </a:txBody>
                  <a:tcPr anchor="ctr">
                    <a:solidFill>
                      <a:srgbClr val="233A70"/>
                    </a:solidFill>
                  </a:tcPr>
                </a:tc>
                <a:tc>
                  <a:txBody>
                    <a:bodyPr/>
                    <a:lstStyle/>
                    <a:p>
                      <a:pPr algn="ctr">
                        <a:buNone/>
                      </a:pPr>
                      <a:r>
                        <a:rPr sz="1425" b="1">
                          <a:solidFill>
                            <a:srgbClr val="FFFFFF"/>
                          </a:solidFill>
                        </a:rPr>
                        <a:t>FNR</a:t>
                      </a:r>
                    </a:p>
                  </a:txBody>
                  <a:tcPr anchor="ctr">
                    <a:solidFill>
                      <a:srgbClr val="233A70"/>
                    </a:solidFill>
                  </a:tcPr>
                </a:tc>
                <a:tc>
                  <a:txBody>
                    <a:bodyPr/>
                    <a:lstStyle/>
                    <a:p>
                      <a:pPr algn="ctr">
                        <a:buNone/>
                      </a:pPr>
                      <a:r>
                        <a:rPr sz="1425" b="1">
                          <a:solidFill>
                            <a:srgbClr val="FFFFFF"/>
                          </a:solidFill>
                        </a:rPr>
                        <a:t>FPR</a:t>
                      </a:r>
                    </a:p>
                  </a:txBody>
                  <a:tcPr anchor="ctr">
                    <a:solidFill>
                      <a:srgbClr val="233A70"/>
                    </a:solidFill>
                  </a:tcPr>
                </a:tc>
                <a:tc>
                  <a:txBody>
                    <a:bodyPr/>
                    <a:lstStyle/>
                    <a:p>
                      <a:pPr algn="ctr">
                        <a:buNone/>
                      </a:pPr>
                      <a:r>
                        <a:rPr sz="1425" b="1">
                          <a:solidFill>
                            <a:srgbClr val="FFFFFF"/>
                          </a:solidFill>
                        </a:rPr>
                        <a:t>OOD W-rate</a:t>
                      </a:r>
                    </a:p>
                  </a:txBody>
                  <a:tcPr anchor="ctr">
                    <a:solidFill>
                      <a:srgbClr val="233A70"/>
                    </a:solidFill>
                  </a:tcPr>
                </a:tc>
                <a:extLst>
                  <a:ext uri="{0D108BD9-81ED-4DB2-BD59-A6C34878D82A}">
                    <a16:rowId xmlns:a16="http://schemas.microsoft.com/office/drawing/2014/main" val="10000"/>
                  </a:ext>
                </a:extLst>
              </a:tr>
              <a:tr h="533400">
                <a:tc>
                  <a:txBody>
                    <a:bodyPr/>
                    <a:lstStyle/>
                    <a:p>
                      <a:pPr algn="l">
                        <a:buNone/>
                      </a:pPr>
                      <a:r>
                        <a:rPr sz="1425" b="1">
                          <a:solidFill>
                            <a:srgbClr val="172033"/>
                          </a:solidFill>
                        </a:rPr>
                        <a:t>Magnet.AI</a:t>
                      </a:r>
                    </a:p>
                  </a:txBody>
                  <a:tcPr anchor="ctr">
                    <a:solidFill>
                      <a:srgbClr val="FFFFFF"/>
                    </a:solidFill>
                  </a:tcPr>
                </a:tc>
                <a:tc>
                  <a:txBody>
                    <a:bodyPr/>
                    <a:lstStyle/>
                    <a:p>
                      <a:pPr algn="ctr">
                        <a:buNone/>
                      </a:pPr>
                      <a:r>
                        <a:rPr sz="1425" b="0">
                          <a:solidFill>
                            <a:srgbClr val="172033"/>
                          </a:solidFill>
                        </a:rPr>
                        <a:t>95.0%</a:t>
                      </a:r>
                    </a:p>
                  </a:txBody>
                  <a:tcPr anchor="ctr">
                    <a:solidFill>
                      <a:srgbClr val="FFFFFF"/>
                    </a:solidFill>
                  </a:tcPr>
                </a:tc>
                <a:tc>
                  <a:txBody>
                    <a:bodyPr/>
                    <a:lstStyle/>
                    <a:p>
                      <a:pPr algn="ctr">
                        <a:buNone/>
                      </a:pPr>
                      <a:r>
                        <a:rPr sz="1425" b="0">
                          <a:solidFill>
                            <a:srgbClr val="172033"/>
                          </a:solidFill>
                        </a:rPr>
                        <a:t>93.0%</a:t>
                      </a:r>
                    </a:p>
                  </a:txBody>
                  <a:tcPr anchor="ctr">
                    <a:solidFill>
                      <a:srgbClr val="FFFFFF"/>
                    </a:solidFill>
                  </a:tcPr>
                </a:tc>
                <a:tc>
                  <a:txBody>
                    <a:bodyPr/>
                    <a:lstStyle/>
                    <a:p>
                      <a:pPr algn="ctr">
                        <a:buNone/>
                      </a:pPr>
                      <a:r>
                        <a:rPr sz="1425" b="0">
                          <a:solidFill>
                            <a:srgbClr val="172033"/>
                          </a:solidFill>
                        </a:rPr>
                        <a:t>7.0%</a:t>
                      </a:r>
                    </a:p>
                  </a:txBody>
                  <a:tcPr anchor="ctr">
                    <a:solidFill>
                      <a:srgbClr val="FFFFFF"/>
                    </a:solidFill>
                  </a:tcPr>
                </a:tc>
                <a:tc>
                  <a:txBody>
                    <a:bodyPr/>
                    <a:lstStyle/>
                    <a:p>
                      <a:pPr algn="ctr">
                        <a:buNone/>
                      </a:pPr>
                      <a:r>
                        <a:rPr sz="1425" b="0">
                          <a:solidFill>
                            <a:srgbClr val="172033"/>
                          </a:solidFill>
                        </a:rPr>
                        <a:t>3.0%</a:t>
                      </a:r>
                    </a:p>
                  </a:txBody>
                  <a:tcPr anchor="ctr">
                    <a:solidFill>
                      <a:srgbClr val="FFFFFF"/>
                    </a:solidFill>
                  </a:tcPr>
                </a:tc>
                <a:tc>
                  <a:txBody>
                    <a:bodyPr/>
                    <a:lstStyle/>
                    <a:p>
                      <a:pPr algn="ctr">
                        <a:buNone/>
                      </a:pPr>
                      <a:r>
                        <a:rPr sz="1425" b="0">
                          <a:solidFill>
                            <a:srgbClr val="172033"/>
                          </a:solidFill>
                        </a:rPr>
                        <a:t>36.0%</a:t>
                      </a:r>
                    </a:p>
                  </a:txBody>
                  <a:tcPr anchor="ctr">
                    <a:solidFill>
                      <a:srgbClr val="FFFFFF"/>
                    </a:solidFill>
                  </a:tcPr>
                </a:tc>
                <a:extLst>
                  <a:ext uri="{0D108BD9-81ED-4DB2-BD59-A6C34878D82A}">
                    <a16:rowId xmlns:a16="http://schemas.microsoft.com/office/drawing/2014/main" val="10001"/>
                  </a:ext>
                </a:extLst>
              </a:tr>
              <a:tr h="533400">
                <a:tc>
                  <a:txBody>
                    <a:bodyPr/>
                    <a:lstStyle/>
                    <a:p>
                      <a:pPr algn="l">
                        <a:buNone/>
                      </a:pPr>
                      <a:r>
                        <a:rPr sz="1425" b="1">
                          <a:solidFill>
                            <a:srgbClr val="172033"/>
                          </a:solidFill>
                        </a:rPr>
                        <a:t>Excire D20</a:t>
                      </a:r>
                    </a:p>
                  </a:txBody>
                  <a:tcPr anchor="ctr">
                    <a:solidFill>
                      <a:srgbClr val="E9EEF8"/>
                    </a:solidFill>
                  </a:tcPr>
                </a:tc>
                <a:tc>
                  <a:txBody>
                    <a:bodyPr/>
                    <a:lstStyle/>
                    <a:p>
                      <a:pPr algn="ctr">
                        <a:buNone/>
                      </a:pPr>
                      <a:r>
                        <a:rPr sz="1425" b="0">
                          <a:solidFill>
                            <a:srgbClr val="172033"/>
                          </a:solidFill>
                        </a:rPr>
                        <a:t>92.7%</a:t>
                      </a:r>
                    </a:p>
                  </a:txBody>
                  <a:tcPr anchor="ctr">
                    <a:solidFill>
                      <a:srgbClr val="E9EEF8"/>
                    </a:solidFill>
                  </a:tcPr>
                </a:tc>
                <a:tc>
                  <a:txBody>
                    <a:bodyPr/>
                    <a:lstStyle/>
                    <a:p>
                      <a:pPr algn="ctr">
                        <a:buNone/>
                      </a:pPr>
                      <a:r>
                        <a:rPr sz="1425" b="0">
                          <a:solidFill>
                            <a:srgbClr val="172033"/>
                          </a:solidFill>
                        </a:rPr>
                        <a:t>88.0%</a:t>
                      </a:r>
                    </a:p>
                  </a:txBody>
                  <a:tcPr anchor="ctr">
                    <a:solidFill>
                      <a:srgbClr val="E9EEF8"/>
                    </a:solidFill>
                  </a:tcPr>
                </a:tc>
                <a:tc>
                  <a:txBody>
                    <a:bodyPr/>
                    <a:lstStyle/>
                    <a:p>
                      <a:pPr algn="ctr">
                        <a:buNone/>
                      </a:pPr>
                      <a:r>
                        <a:rPr sz="1425" b="0">
                          <a:solidFill>
                            <a:srgbClr val="172033"/>
                          </a:solidFill>
                        </a:rPr>
                        <a:t>12.0%</a:t>
                      </a:r>
                    </a:p>
                  </a:txBody>
                  <a:tcPr anchor="ctr">
                    <a:solidFill>
                      <a:srgbClr val="E9EEF8"/>
                    </a:solidFill>
                  </a:tcPr>
                </a:tc>
                <a:tc>
                  <a:txBody>
                    <a:bodyPr/>
                    <a:lstStyle/>
                    <a:p>
                      <a:pPr algn="ctr">
                        <a:buNone/>
                      </a:pPr>
                      <a:r>
                        <a:rPr sz="1425" b="0">
                          <a:solidFill>
                            <a:srgbClr val="172033"/>
                          </a:solidFill>
                        </a:rPr>
                        <a:t>2.6%</a:t>
                      </a:r>
                    </a:p>
                  </a:txBody>
                  <a:tcPr anchor="ctr">
                    <a:solidFill>
                      <a:srgbClr val="E9EEF8"/>
                    </a:solidFill>
                  </a:tcPr>
                </a:tc>
                <a:tc>
                  <a:txBody>
                    <a:bodyPr/>
                    <a:lstStyle/>
                    <a:p>
                      <a:pPr algn="ctr">
                        <a:buNone/>
                      </a:pPr>
                      <a:r>
                        <a:rPr sz="1425" b="0">
                          <a:solidFill>
                            <a:srgbClr val="172033"/>
                          </a:solidFill>
                        </a:rPr>
                        <a:t>23.8%</a:t>
                      </a:r>
                    </a:p>
                  </a:txBody>
                  <a:tcPr anchor="ctr">
                    <a:solidFill>
                      <a:srgbClr val="E9EEF8"/>
                    </a:solidFill>
                  </a:tcPr>
                </a:tc>
                <a:extLst>
                  <a:ext uri="{0D108BD9-81ED-4DB2-BD59-A6C34878D82A}">
                    <a16:rowId xmlns:a16="http://schemas.microsoft.com/office/drawing/2014/main" val="10002"/>
                  </a:ext>
                </a:extLst>
              </a:tr>
              <a:tr h="533400">
                <a:tc>
                  <a:txBody>
                    <a:bodyPr/>
                    <a:lstStyle/>
                    <a:p>
                      <a:pPr algn="l">
                        <a:buNone/>
                      </a:pPr>
                      <a:r>
                        <a:rPr sz="1425" b="1">
                          <a:solidFill>
                            <a:srgbClr val="172033"/>
                          </a:solidFill>
                        </a:rPr>
                        <a:t>Excire D50</a:t>
                      </a:r>
                    </a:p>
                  </a:txBody>
                  <a:tcPr anchor="ctr">
                    <a:solidFill>
                      <a:srgbClr val="FFFFFF"/>
                    </a:solidFill>
                  </a:tcPr>
                </a:tc>
                <a:tc>
                  <a:txBody>
                    <a:bodyPr/>
                    <a:lstStyle/>
                    <a:p>
                      <a:pPr algn="ctr">
                        <a:buNone/>
                      </a:pPr>
                      <a:r>
                        <a:rPr sz="1425" b="0">
                          <a:solidFill>
                            <a:srgbClr val="172033"/>
                          </a:solidFill>
                        </a:rPr>
                        <a:t>94.4%</a:t>
                      </a:r>
                    </a:p>
                  </a:txBody>
                  <a:tcPr anchor="ctr">
                    <a:solidFill>
                      <a:srgbClr val="FFFFFF"/>
                    </a:solidFill>
                  </a:tcPr>
                </a:tc>
                <a:tc>
                  <a:txBody>
                    <a:bodyPr/>
                    <a:lstStyle/>
                    <a:p>
                      <a:pPr algn="ctr">
                        <a:buNone/>
                      </a:pPr>
                      <a:r>
                        <a:rPr sz="1425" b="0">
                          <a:solidFill>
                            <a:srgbClr val="172033"/>
                          </a:solidFill>
                        </a:rPr>
                        <a:t>95.8%</a:t>
                      </a:r>
                    </a:p>
                  </a:txBody>
                  <a:tcPr anchor="ctr">
                    <a:solidFill>
                      <a:srgbClr val="FFFFFF"/>
                    </a:solidFill>
                  </a:tcPr>
                </a:tc>
                <a:tc>
                  <a:txBody>
                    <a:bodyPr/>
                    <a:lstStyle/>
                    <a:p>
                      <a:pPr algn="ctr">
                        <a:buNone/>
                      </a:pPr>
                      <a:r>
                        <a:rPr sz="1425" b="0">
                          <a:solidFill>
                            <a:srgbClr val="172033"/>
                          </a:solidFill>
                        </a:rPr>
                        <a:t>4.2%</a:t>
                      </a:r>
                    </a:p>
                  </a:txBody>
                  <a:tcPr anchor="ctr">
                    <a:solidFill>
                      <a:srgbClr val="FFFFFF"/>
                    </a:solidFill>
                  </a:tcPr>
                </a:tc>
                <a:tc>
                  <a:txBody>
                    <a:bodyPr/>
                    <a:lstStyle/>
                    <a:p>
                      <a:pPr algn="ctr">
                        <a:buNone/>
                      </a:pPr>
                      <a:r>
                        <a:rPr sz="1425" b="0">
                          <a:solidFill>
                            <a:srgbClr val="172033"/>
                          </a:solidFill>
                        </a:rPr>
                        <a:t>7.0%</a:t>
                      </a:r>
                    </a:p>
                  </a:txBody>
                  <a:tcPr anchor="ctr">
                    <a:solidFill>
                      <a:srgbClr val="FFFFFF"/>
                    </a:solidFill>
                  </a:tcPr>
                </a:tc>
                <a:tc>
                  <a:txBody>
                    <a:bodyPr/>
                    <a:lstStyle/>
                    <a:p>
                      <a:pPr algn="ctr">
                        <a:buNone/>
                      </a:pPr>
                      <a:r>
                        <a:rPr sz="1425" b="0">
                          <a:solidFill>
                            <a:srgbClr val="172033"/>
                          </a:solidFill>
                        </a:rPr>
                        <a:t>34.0%</a:t>
                      </a:r>
                    </a:p>
                  </a:txBody>
                  <a:tcPr anchor="ctr">
                    <a:solidFill>
                      <a:srgbClr val="FFFFFF"/>
                    </a:solidFill>
                  </a:tcPr>
                </a:tc>
                <a:extLst>
                  <a:ext uri="{0D108BD9-81ED-4DB2-BD59-A6C34878D82A}">
                    <a16:rowId xmlns:a16="http://schemas.microsoft.com/office/drawing/2014/main" val="10003"/>
                  </a:ext>
                </a:extLst>
              </a:tr>
              <a:tr h="533400">
                <a:tc>
                  <a:txBody>
                    <a:bodyPr/>
                    <a:lstStyle/>
                    <a:p>
                      <a:pPr algn="l">
                        <a:buNone/>
                      </a:pPr>
                      <a:r>
                        <a:rPr sz="1425" b="1">
                          <a:solidFill>
                            <a:srgbClr val="172033"/>
                          </a:solidFill>
                        </a:rPr>
                        <a:t>Excire D80</a:t>
                      </a:r>
                    </a:p>
                  </a:txBody>
                  <a:tcPr anchor="ctr">
                    <a:solidFill>
                      <a:srgbClr val="E9EEF8"/>
                    </a:solidFill>
                  </a:tcPr>
                </a:tc>
                <a:tc>
                  <a:txBody>
                    <a:bodyPr/>
                    <a:lstStyle/>
                    <a:p>
                      <a:pPr algn="ctr">
                        <a:buNone/>
                      </a:pPr>
                      <a:r>
                        <a:rPr sz="1425" b="0">
                          <a:solidFill>
                            <a:srgbClr val="172033"/>
                          </a:solidFill>
                        </a:rPr>
                        <a:t>91.5%</a:t>
                      </a:r>
                    </a:p>
                  </a:txBody>
                  <a:tcPr anchor="ctr">
                    <a:solidFill>
                      <a:srgbClr val="E9EEF8"/>
                    </a:solidFill>
                  </a:tcPr>
                </a:tc>
                <a:tc>
                  <a:txBody>
                    <a:bodyPr/>
                    <a:lstStyle/>
                    <a:p>
                      <a:pPr algn="ctr">
                        <a:buNone/>
                      </a:pPr>
                      <a:r>
                        <a:rPr sz="1425" b="0">
                          <a:solidFill>
                            <a:srgbClr val="172033"/>
                          </a:solidFill>
                        </a:rPr>
                        <a:t>98.6%</a:t>
                      </a:r>
                    </a:p>
                  </a:txBody>
                  <a:tcPr anchor="ctr">
                    <a:solidFill>
                      <a:srgbClr val="E9EEF8"/>
                    </a:solidFill>
                  </a:tcPr>
                </a:tc>
                <a:tc>
                  <a:txBody>
                    <a:bodyPr/>
                    <a:lstStyle/>
                    <a:p>
                      <a:pPr algn="ctr">
                        <a:buNone/>
                      </a:pPr>
                      <a:r>
                        <a:rPr sz="1425" b="0">
                          <a:solidFill>
                            <a:srgbClr val="172033"/>
                          </a:solidFill>
                        </a:rPr>
                        <a:t>1.4%</a:t>
                      </a:r>
                    </a:p>
                  </a:txBody>
                  <a:tcPr anchor="ctr">
                    <a:solidFill>
                      <a:srgbClr val="E9EEF8"/>
                    </a:solidFill>
                  </a:tcPr>
                </a:tc>
                <a:tc>
                  <a:txBody>
                    <a:bodyPr/>
                    <a:lstStyle/>
                    <a:p>
                      <a:pPr algn="ctr">
                        <a:buNone/>
                      </a:pPr>
                      <a:r>
                        <a:rPr sz="1425" b="0">
                          <a:solidFill>
                            <a:srgbClr val="172033"/>
                          </a:solidFill>
                        </a:rPr>
                        <a:t>15.6%</a:t>
                      </a:r>
                    </a:p>
                  </a:txBody>
                  <a:tcPr anchor="ctr">
                    <a:solidFill>
                      <a:srgbClr val="E9EEF8"/>
                    </a:solidFill>
                  </a:tcPr>
                </a:tc>
                <a:tc>
                  <a:txBody>
                    <a:bodyPr/>
                    <a:lstStyle/>
                    <a:p>
                      <a:pPr algn="ctr">
                        <a:buNone/>
                      </a:pPr>
                      <a:r>
                        <a:rPr sz="1425" b="0">
                          <a:solidFill>
                            <a:srgbClr val="172033"/>
                          </a:solidFill>
                        </a:rPr>
                        <a:t>52.2%</a:t>
                      </a:r>
                    </a:p>
                  </a:txBody>
                  <a:tcPr anchor="ctr">
                    <a:solidFill>
                      <a:srgbClr val="E9EEF8"/>
                    </a:solidFill>
                  </a:tcPr>
                </a:tc>
                <a:extLst>
                  <a:ext uri="{0D108BD9-81ED-4DB2-BD59-A6C34878D82A}">
                    <a16:rowId xmlns:a16="http://schemas.microsoft.com/office/drawing/2014/main" val="10004"/>
                  </a:ext>
                </a:extLst>
              </a:tr>
              <a:tr h="533400">
                <a:tc>
                  <a:txBody>
                    <a:bodyPr/>
                    <a:lstStyle/>
                    <a:p>
                      <a:pPr algn="l">
                        <a:buNone/>
                      </a:pPr>
                      <a:r>
                        <a:rPr sz="1425" b="1">
                          <a:solidFill>
                            <a:srgbClr val="172033"/>
                          </a:solidFill>
                        </a:rPr>
                        <a:t>Cellebrite Inseyets</a:t>
                      </a:r>
                    </a:p>
                  </a:txBody>
                  <a:tcPr anchor="ctr">
                    <a:solidFill>
                      <a:srgbClr val="FFFFFF"/>
                    </a:solidFill>
                  </a:tcPr>
                </a:tc>
                <a:tc>
                  <a:txBody>
                    <a:bodyPr/>
                    <a:lstStyle/>
                    <a:p>
                      <a:pPr algn="ctr">
                        <a:buNone/>
                      </a:pPr>
                      <a:r>
                        <a:rPr sz="1425" b="0">
                          <a:solidFill>
                            <a:srgbClr val="172033"/>
                          </a:solidFill>
                        </a:rPr>
                        <a:t>96.4%</a:t>
                      </a:r>
                    </a:p>
                  </a:txBody>
                  <a:tcPr anchor="ctr">
                    <a:solidFill>
                      <a:srgbClr val="FFFFFF"/>
                    </a:solidFill>
                  </a:tcPr>
                </a:tc>
                <a:tc>
                  <a:txBody>
                    <a:bodyPr/>
                    <a:lstStyle/>
                    <a:p>
                      <a:pPr algn="ctr">
                        <a:buNone/>
                      </a:pPr>
                      <a:r>
                        <a:rPr sz="1425" b="0">
                          <a:solidFill>
                            <a:srgbClr val="172033"/>
                          </a:solidFill>
                        </a:rPr>
                        <a:t>96.8%</a:t>
                      </a:r>
                    </a:p>
                  </a:txBody>
                  <a:tcPr anchor="ctr">
                    <a:solidFill>
                      <a:srgbClr val="FFFFFF"/>
                    </a:solidFill>
                  </a:tcPr>
                </a:tc>
                <a:tc>
                  <a:txBody>
                    <a:bodyPr/>
                    <a:lstStyle/>
                    <a:p>
                      <a:pPr algn="ctr">
                        <a:buNone/>
                      </a:pPr>
                      <a:r>
                        <a:rPr sz="1425" b="0">
                          <a:solidFill>
                            <a:srgbClr val="172033"/>
                          </a:solidFill>
                        </a:rPr>
                        <a:t>3.2%</a:t>
                      </a:r>
                    </a:p>
                  </a:txBody>
                  <a:tcPr anchor="ctr">
                    <a:solidFill>
                      <a:srgbClr val="FFFFFF"/>
                    </a:solidFill>
                  </a:tcPr>
                </a:tc>
                <a:tc>
                  <a:txBody>
                    <a:bodyPr/>
                    <a:lstStyle/>
                    <a:p>
                      <a:pPr algn="ctr">
                        <a:buNone/>
                      </a:pPr>
                      <a:r>
                        <a:rPr sz="1425" b="0">
                          <a:solidFill>
                            <a:srgbClr val="172033"/>
                          </a:solidFill>
                        </a:rPr>
                        <a:t>4.0%</a:t>
                      </a:r>
                    </a:p>
                  </a:txBody>
                  <a:tcPr anchor="ctr">
                    <a:solidFill>
                      <a:srgbClr val="FFFFFF"/>
                    </a:solidFill>
                  </a:tcPr>
                </a:tc>
                <a:tc>
                  <a:txBody>
                    <a:bodyPr/>
                    <a:lstStyle/>
                    <a:p>
                      <a:pPr algn="ctr">
                        <a:buNone/>
                      </a:pPr>
                      <a:r>
                        <a:rPr sz="1425" b="0">
                          <a:solidFill>
                            <a:srgbClr val="172033"/>
                          </a:solidFill>
                        </a:rPr>
                        <a:t>29.2%</a:t>
                      </a:r>
                    </a:p>
                  </a:txBody>
                  <a:tcPr anchor="ctr">
                    <a:solidFill>
                      <a:srgbClr val="FFFFFF"/>
                    </a:solidFill>
                  </a:tcPr>
                </a:tc>
                <a:extLst>
                  <a:ext uri="{0D108BD9-81ED-4DB2-BD59-A6C34878D82A}">
                    <a16:rowId xmlns:a16="http://schemas.microsoft.com/office/drawing/2014/main" val="10005"/>
                  </a:ext>
                </a:extLst>
              </a:tr>
              <a:tr h="533400">
                <a:tc>
                  <a:txBody>
                    <a:bodyPr/>
                    <a:lstStyle/>
                    <a:p>
                      <a:pPr algn="l">
                        <a:buNone/>
                      </a:pPr>
                      <a:r>
                        <a:rPr sz="1425" b="1">
                          <a:solidFill>
                            <a:srgbClr val="172033"/>
                          </a:solidFill>
                        </a:rPr>
                        <a:t>Griffeye / T3K</a:t>
                      </a:r>
                    </a:p>
                  </a:txBody>
                  <a:tcPr anchor="ctr">
                    <a:solidFill>
                      <a:srgbClr val="E9EEF8"/>
                    </a:solidFill>
                  </a:tcPr>
                </a:tc>
                <a:tc>
                  <a:txBody>
                    <a:bodyPr/>
                    <a:lstStyle/>
                    <a:p>
                      <a:pPr algn="ctr">
                        <a:buNone/>
                      </a:pPr>
                      <a:r>
                        <a:rPr sz="1425" b="0">
                          <a:solidFill>
                            <a:srgbClr val="172033"/>
                          </a:solidFill>
                        </a:rPr>
                        <a:t>97.8%</a:t>
                      </a:r>
                    </a:p>
                  </a:txBody>
                  <a:tcPr anchor="ctr">
                    <a:solidFill>
                      <a:srgbClr val="E9EEF8"/>
                    </a:solidFill>
                  </a:tcPr>
                </a:tc>
                <a:tc>
                  <a:txBody>
                    <a:bodyPr/>
                    <a:lstStyle/>
                    <a:p>
                      <a:pPr algn="ctr">
                        <a:buNone/>
                      </a:pPr>
                      <a:r>
                        <a:rPr sz="1425" b="0">
                          <a:solidFill>
                            <a:srgbClr val="172033"/>
                          </a:solidFill>
                        </a:rPr>
                        <a:t>96.4%</a:t>
                      </a:r>
                    </a:p>
                  </a:txBody>
                  <a:tcPr anchor="ctr">
                    <a:solidFill>
                      <a:srgbClr val="E9EEF8"/>
                    </a:solidFill>
                  </a:tcPr>
                </a:tc>
                <a:tc>
                  <a:txBody>
                    <a:bodyPr/>
                    <a:lstStyle/>
                    <a:p>
                      <a:pPr algn="ctr">
                        <a:buNone/>
                      </a:pPr>
                      <a:r>
                        <a:rPr sz="1425" b="0">
                          <a:solidFill>
                            <a:srgbClr val="172033"/>
                          </a:solidFill>
                        </a:rPr>
                        <a:t>3.6%</a:t>
                      </a:r>
                    </a:p>
                  </a:txBody>
                  <a:tcPr anchor="ctr">
                    <a:solidFill>
                      <a:srgbClr val="E9EEF8"/>
                    </a:solidFill>
                  </a:tcPr>
                </a:tc>
                <a:tc>
                  <a:txBody>
                    <a:bodyPr/>
                    <a:lstStyle/>
                    <a:p>
                      <a:pPr algn="ctr">
                        <a:buNone/>
                      </a:pPr>
                      <a:r>
                        <a:rPr sz="1425" b="0">
                          <a:solidFill>
                            <a:srgbClr val="172033"/>
                          </a:solidFill>
                        </a:rPr>
                        <a:t>0.8%</a:t>
                      </a:r>
                    </a:p>
                  </a:txBody>
                  <a:tcPr anchor="ctr">
                    <a:solidFill>
                      <a:srgbClr val="E9EEF8"/>
                    </a:solidFill>
                  </a:tcPr>
                </a:tc>
                <a:tc>
                  <a:txBody>
                    <a:bodyPr/>
                    <a:lstStyle/>
                    <a:p>
                      <a:pPr algn="ctr">
                        <a:buNone/>
                      </a:pPr>
                      <a:r>
                        <a:rPr sz="1425" b="0">
                          <a:solidFill>
                            <a:srgbClr val="172033"/>
                          </a:solidFill>
                        </a:rPr>
                        <a:t>26.0%</a:t>
                      </a:r>
                    </a:p>
                  </a:txBody>
                  <a:tcPr anchor="ctr">
                    <a:solidFill>
                      <a:srgbClr val="E9EEF8"/>
                    </a:solidFill>
                  </a:tcPr>
                </a:tc>
                <a:extLst>
                  <a:ext uri="{0D108BD9-81ED-4DB2-BD59-A6C34878D82A}">
                    <a16:rowId xmlns:a16="http://schemas.microsoft.com/office/drawing/2014/main" val="10006"/>
                  </a:ext>
                </a:extLst>
              </a:tr>
            </a:tbl>
          </a:graphicData>
        </a:graphic>
      </p:graphicFrame>
      <p:sp>
        <p:nvSpPr>
          <p:cNvPr id="7" name="Rettangolo con angoli arrotondati 6">
            <a:extLst>
              <a:ext uri="{FF2B5EF4-FFF2-40B4-BE49-F238E27FC236}">
                <a16:creationId xmlns:a16="http://schemas.microsoft.com/office/drawing/2014/main" id="{D32727B6-06C1-49D9-947E-5CF838C2A296}"/>
              </a:ext>
            </a:extLst>
          </p:cNvPr>
          <p:cNvSpPr>
            <a:spLocks noGrp="1"/>
          </p:cNvSpPr>
          <p:nvPr/>
        </p:nvSpPr>
        <p:spPr>
          <a:xfrm>
            <a:off x="1123950" y="5505450"/>
            <a:ext cx="9944100" cy="609600"/>
          </a:xfrm>
          <a:prstGeom prst="roundRect">
            <a:avLst>
              <a:gd name="adj" fmla="val 21875"/>
            </a:avLst>
          </a:prstGeom>
          <a:solidFill>
            <a:srgbClr val="FFF4CD"/>
          </a:solidFill>
          <a:ln w="0">
            <a:noFill/>
            <a:prstDash val="solid"/>
          </a:ln>
        </p:spPr>
        <p:txBody>
          <a:bodyPr/>
          <a:lstStyle/>
          <a:p>
            <a:endParaRPr lang="it-IT"/>
          </a:p>
        </p:txBody>
      </p:sp>
      <p:sp>
        <p:nvSpPr>
          <p:cNvPr id="8" name="Rettangolo 7">
            <a:extLst>
              <a:ext uri="{FF2B5EF4-FFF2-40B4-BE49-F238E27FC236}">
                <a16:creationId xmlns:a16="http://schemas.microsoft.com/office/drawing/2014/main" id="{075FA7FD-80D1-4D89-BDEE-5525A60E4810}"/>
              </a:ext>
            </a:extLst>
          </p:cNvPr>
          <p:cNvSpPr>
            <a:spLocks noGrp="1"/>
          </p:cNvSpPr>
          <p:nvPr/>
        </p:nvSpPr>
        <p:spPr>
          <a:xfrm>
            <a:off x="1428750" y="5676900"/>
            <a:ext cx="9334500" cy="266700"/>
          </a:xfrm>
          <a:prstGeom prst="rect">
            <a:avLst/>
          </a:prstGeom>
          <a:noFill/>
          <a:ln w="0">
            <a:noFill/>
            <a:prstDash val="solid"/>
          </a:ln>
        </p:spPr>
        <p:txBody>
          <a:bodyPr wrap="square" lIns="0" tIns="0" rIns="0" bIns="0" anchor="t">
            <a:noAutofit/>
          </a:bodyPr>
          <a:lstStyle/>
          <a:p>
            <a:pPr algn="ctr">
              <a:buNone/>
              <a:defRPr sz="1425" b="1">
                <a:solidFill>
                  <a:srgbClr val="172033"/>
                </a:solidFill>
                <a:latin typeface="Arial"/>
                <a:ea typeface="Arial"/>
                <a:cs typeface="Arial"/>
              </a:defRPr>
            </a:pPr>
            <a:r>
              <a:rPr sz="1425" b="1">
                <a:solidFill>
                  <a:srgbClr val="172033"/>
                </a:solidFill>
                <a:latin typeface="Arial"/>
                <a:ea typeface="Arial"/>
                <a:cs typeface="Arial"/>
              </a:rPr>
              <a:t>Interpret the rows as frozen operating profiles; the metrics do not establish a universal product ranking.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4" name="Rettangolo 23">
            <a:extLst>
              <a:ext uri="{FF2B5EF4-FFF2-40B4-BE49-F238E27FC236}">
                <a16:creationId xmlns:a16="http://schemas.microsoft.com/office/drawing/2014/main" id="{132C68E0-F7BB-4D84-B514-2E0F71B3B1BE}"/>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7D20E475-2A5D-459D-8AAB-9F303C543F6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Traceability links sources to reported figures</a:t>
            </a:r>
          </a:p>
        </p:txBody>
      </p:sp>
      <p:sp>
        <p:nvSpPr>
          <p:cNvPr id="3" name="Rettangolo 2">
            <a:extLst>
              <a:ext uri="{FF2B5EF4-FFF2-40B4-BE49-F238E27FC236}">
                <a16:creationId xmlns:a16="http://schemas.microsoft.com/office/drawing/2014/main" id="{5B5396AA-6D1B-4946-9C6D-8D0F818A01C1}"/>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AA3F1E25-2383-4EC9-B6D0-9445F682B414}"/>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49F56C24-1E99-42B1-9770-88B2B95F402B}"/>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12</a:t>
            </a:r>
          </a:p>
        </p:txBody>
      </p:sp>
      <p:sp>
        <p:nvSpPr>
          <p:cNvPr id="6" name="Rettangolo 5">
            <a:extLst>
              <a:ext uri="{FF2B5EF4-FFF2-40B4-BE49-F238E27FC236}">
                <a16:creationId xmlns:a16="http://schemas.microsoft.com/office/drawing/2014/main" id="{7C39DB82-1F28-4EF9-B5A0-94D0168F6F0D}"/>
              </a:ext>
            </a:extLst>
          </p:cNvPr>
          <p:cNvSpPr>
            <a:spLocks noGrp="1"/>
          </p:cNvSpPr>
          <p:nvPr/>
        </p:nvSpPr>
        <p:spPr>
          <a:xfrm>
            <a:off x="1657350" y="2609850"/>
            <a:ext cx="8877300" cy="66675"/>
          </a:xfrm>
          <a:prstGeom prst="rect">
            <a:avLst/>
          </a:prstGeom>
          <a:solidFill>
            <a:srgbClr val="D9DEE8"/>
          </a:solidFill>
          <a:ln w="0">
            <a:noFill/>
            <a:prstDash val="solid"/>
          </a:ln>
        </p:spPr>
        <p:txBody>
          <a:bodyPr/>
          <a:lstStyle/>
          <a:p>
            <a:endParaRPr lang="it-IT"/>
          </a:p>
        </p:txBody>
      </p:sp>
      <p:sp>
        <p:nvSpPr>
          <p:cNvPr id="7" name="Rettangolo con angoli arrotondati 6">
            <a:extLst>
              <a:ext uri="{FF2B5EF4-FFF2-40B4-BE49-F238E27FC236}">
                <a16:creationId xmlns:a16="http://schemas.microsoft.com/office/drawing/2014/main" id="{DD3F15EF-FC7C-4F92-836B-00742035B3B5}"/>
              </a:ext>
            </a:extLst>
          </p:cNvPr>
          <p:cNvSpPr>
            <a:spLocks noGrp="1"/>
          </p:cNvSpPr>
          <p:nvPr/>
        </p:nvSpPr>
        <p:spPr>
          <a:xfrm>
            <a:off x="685800" y="1885950"/>
            <a:ext cx="1714500" cy="1428750"/>
          </a:xfrm>
          <a:prstGeom prst="roundRect">
            <a:avLst>
              <a:gd name="adj" fmla="val 10667"/>
            </a:avLst>
          </a:prstGeom>
          <a:solidFill>
            <a:srgbClr val="FFFFFF"/>
          </a:solidFill>
          <a:ln w="9525">
            <a:solidFill>
              <a:srgbClr val="D9DEE8"/>
            </a:solidFill>
            <a:prstDash val="solid"/>
          </a:ln>
        </p:spPr>
        <p:txBody>
          <a:bodyPr/>
          <a:lstStyle/>
          <a:p>
            <a:endParaRPr lang="it-IT"/>
          </a:p>
        </p:txBody>
      </p:sp>
      <p:sp>
        <p:nvSpPr>
          <p:cNvPr id="8" name="Rettangolo 7">
            <a:extLst>
              <a:ext uri="{FF2B5EF4-FFF2-40B4-BE49-F238E27FC236}">
                <a16:creationId xmlns:a16="http://schemas.microsoft.com/office/drawing/2014/main" id="{31A8BB3B-F18E-4303-80A6-E7E762AD1EB3}"/>
              </a:ext>
            </a:extLst>
          </p:cNvPr>
          <p:cNvSpPr>
            <a:spLocks noGrp="1"/>
          </p:cNvSpPr>
          <p:nvPr/>
        </p:nvSpPr>
        <p:spPr>
          <a:xfrm>
            <a:off x="8001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SOURCE</a:t>
            </a:r>
          </a:p>
        </p:txBody>
      </p:sp>
      <p:sp>
        <p:nvSpPr>
          <p:cNvPr id="9" name="Rettangolo 8">
            <a:extLst>
              <a:ext uri="{FF2B5EF4-FFF2-40B4-BE49-F238E27FC236}">
                <a16:creationId xmlns:a16="http://schemas.microsoft.com/office/drawing/2014/main" id="{9DD03EAC-F71C-40B3-80E5-2DA59F31F6F8}"/>
              </a:ext>
            </a:extLst>
          </p:cNvPr>
          <p:cNvSpPr>
            <a:spLocks noGrp="1"/>
          </p:cNvSpPr>
          <p:nvPr/>
        </p:nvSpPr>
        <p:spPr>
          <a:xfrm>
            <a:off x="8001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dataset manifests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manual review</a:t>
            </a:r>
          </a:p>
        </p:txBody>
      </p:sp>
      <p:sp>
        <p:nvSpPr>
          <p:cNvPr id="10" name="Rettangolo con angoli arrotondati 9">
            <a:extLst>
              <a:ext uri="{FF2B5EF4-FFF2-40B4-BE49-F238E27FC236}">
                <a16:creationId xmlns:a16="http://schemas.microsoft.com/office/drawing/2014/main" id="{2B26A88D-1776-4876-8181-037F2371B042}"/>
              </a:ext>
            </a:extLst>
          </p:cNvPr>
          <p:cNvSpPr>
            <a:spLocks noGrp="1"/>
          </p:cNvSpPr>
          <p:nvPr/>
        </p:nvSpPr>
        <p:spPr>
          <a:xfrm>
            <a:off x="2876550" y="1885950"/>
            <a:ext cx="1714500" cy="1428750"/>
          </a:xfrm>
          <a:prstGeom prst="roundRect">
            <a:avLst>
              <a:gd name="adj" fmla="val 10667"/>
            </a:avLst>
          </a:prstGeom>
          <a:solidFill>
            <a:srgbClr val="FFFFFF"/>
          </a:solidFill>
          <a:ln w="9525">
            <a:solidFill>
              <a:srgbClr val="D9DEE8"/>
            </a:solidFill>
            <a:prstDash val="solid"/>
          </a:ln>
        </p:spPr>
        <p:txBody>
          <a:bodyPr/>
          <a:lstStyle/>
          <a:p>
            <a:endParaRPr lang="it-IT"/>
          </a:p>
        </p:txBody>
      </p:sp>
      <p:sp>
        <p:nvSpPr>
          <p:cNvPr id="11" name="Rettangolo 10">
            <a:extLst>
              <a:ext uri="{FF2B5EF4-FFF2-40B4-BE49-F238E27FC236}">
                <a16:creationId xmlns:a16="http://schemas.microsoft.com/office/drawing/2014/main" id="{9D87A7A1-41E2-4A42-8309-D39020B20FA2}"/>
              </a:ext>
            </a:extLst>
          </p:cNvPr>
          <p:cNvSpPr>
            <a:spLocks noGrp="1"/>
          </p:cNvSpPr>
          <p:nvPr/>
        </p:nvSpPr>
        <p:spPr>
          <a:xfrm>
            <a:off x="299085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DERIVATION</a:t>
            </a:r>
          </a:p>
        </p:txBody>
      </p:sp>
      <p:sp>
        <p:nvSpPr>
          <p:cNvPr id="12" name="Rettangolo 11">
            <a:extLst>
              <a:ext uri="{FF2B5EF4-FFF2-40B4-BE49-F238E27FC236}">
                <a16:creationId xmlns:a16="http://schemas.microsoft.com/office/drawing/2014/main" id="{7C0978C2-178E-484C-97FD-18E4D03A80D0}"/>
              </a:ext>
            </a:extLst>
          </p:cNvPr>
          <p:cNvSpPr>
            <a:spLocks noGrp="1"/>
          </p:cNvSpPr>
          <p:nvPr/>
        </p:nvSpPr>
        <p:spPr>
          <a:xfrm>
            <a:off x="299085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split + attack manifests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source–condition IDs</a:t>
            </a:r>
          </a:p>
        </p:txBody>
      </p:sp>
      <p:sp>
        <p:nvSpPr>
          <p:cNvPr id="13" name="Rettangolo con angoli arrotondati 12">
            <a:extLst>
              <a:ext uri="{FF2B5EF4-FFF2-40B4-BE49-F238E27FC236}">
                <a16:creationId xmlns:a16="http://schemas.microsoft.com/office/drawing/2014/main" id="{13E5A335-8E9A-4904-877C-CEBA763E0F88}"/>
              </a:ext>
            </a:extLst>
          </p:cNvPr>
          <p:cNvSpPr>
            <a:spLocks noGrp="1"/>
          </p:cNvSpPr>
          <p:nvPr/>
        </p:nvSpPr>
        <p:spPr>
          <a:xfrm>
            <a:off x="5067300" y="1885950"/>
            <a:ext cx="1714500" cy="1428750"/>
          </a:xfrm>
          <a:prstGeom prst="roundRect">
            <a:avLst>
              <a:gd name="adj" fmla="val 10667"/>
            </a:avLst>
          </a:prstGeom>
          <a:solidFill>
            <a:srgbClr val="E7F8F0"/>
          </a:solidFill>
          <a:ln w="9525">
            <a:solidFill>
              <a:srgbClr val="E7F8F0"/>
            </a:solidFill>
            <a:prstDash val="solid"/>
          </a:ln>
        </p:spPr>
        <p:txBody>
          <a:bodyPr/>
          <a:lstStyle/>
          <a:p>
            <a:endParaRPr lang="it-IT"/>
          </a:p>
        </p:txBody>
      </p:sp>
      <p:sp>
        <p:nvSpPr>
          <p:cNvPr id="14" name="Rettangolo 13">
            <a:extLst>
              <a:ext uri="{FF2B5EF4-FFF2-40B4-BE49-F238E27FC236}">
                <a16:creationId xmlns:a16="http://schemas.microsoft.com/office/drawing/2014/main" id="{6933333C-7762-40B6-A335-488B04D01FE9}"/>
              </a:ext>
            </a:extLst>
          </p:cNvPr>
          <p:cNvSpPr>
            <a:spLocks noGrp="1"/>
          </p:cNvSpPr>
          <p:nvPr/>
        </p:nvSpPr>
        <p:spPr>
          <a:xfrm>
            <a:off x="51816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087A50"/>
                </a:solidFill>
                <a:latin typeface="Arial"/>
                <a:ea typeface="Arial"/>
                <a:cs typeface="Arial"/>
              </a:defRPr>
            </a:pPr>
            <a:r>
              <a:rPr sz="1275" b="1">
                <a:solidFill>
                  <a:srgbClr val="087A50"/>
                </a:solidFill>
                <a:latin typeface="Arial"/>
                <a:ea typeface="Arial"/>
                <a:cs typeface="Arial"/>
              </a:rPr>
              <a:t>DECISION</a:t>
            </a:r>
          </a:p>
        </p:txBody>
      </p:sp>
      <p:sp>
        <p:nvSpPr>
          <p:cNvPr id="15" name="Rettangolo 14">
            <a:extLst>
              <a:ext uri="{FF2B5EF4-FFF2-40B4-BE49-F238E27FC236}">
                <a16:creationId xmlns:a16="http://schemas.microsoft.com/office/drawing/2014/main" id="{D6C7E621-5366-4ADA-9F42-14FFFBD21670}"/>
              </a:ext>
            </a:extLst>
          </p:cNvPr>
          <p:cNvSpPr>
            <a:spLocks noGrp="1"/>
          </p:cNvSpPr>
          <p:nvPr/>
        </p:nvSpPr>
        <p:spPr>
          <a:xfrm>
            <a:off x="51816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proxy predictions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normalized tool outputs</a:t>
            </a:r>
          </a:p>
        </p:txBody>
      </p:sp>
      <p:sp>
        <p:nvSpPr>
          <p:cNvPr id="16" name="Rettangolo con angoli arrotondati 15">
            <a:extLst>
              <a:ext uri="{FF2B5EF4-FFF2-40B4-BE49-F238E27FC236}">
                <a16:creationId xmlns:a16="http://schemas.microsoft.com/office/drawing/2014/main" id="{00315F4D-4D0F-46DA-8343-DC26FB1BF534}"/>
              </a:ext>
            </a:extLst>
          </p:cNvPr>
          <p:cNvSpPr>
            <a:spLocks noGrp="1"/>
          </p:cNvSpPr>
          <p:nvPr/>
        </p:nvSpPr>
        <p:spPr>
          <a:xfrm>
            <a:off x="7258050" y="1885950"/>
            <a:ext cx="1714500" cy="1428750"/>
          </a:xfrm>
          <a:prstGeom prst="roundRect">
            <a:avLst>
              <a:gd name="adj" fmla="val 10667"/>
            </a:avLst>
          </a:prstGeom>
          <a:solidFill>
            <a:srgbClr val="FFFFFF"/>
          </a:solidFill>
          <a:ln w="9525">
            <a:solidFill>
              <a:srgbClr val="D9DEE8"/>
            </a:solidFill>
            <a:prstDash val="solid"/>
          </a:ln>
        </p:spPr>
        <p:txBody>
          <a:bodyPr/>
          <a:lstStyle/>
          <a:p>
            <a:endParaRPr lang="it-IT"/>
          </a:p>
        </p:txBody>
      </p:sp>
      <p:sp>
        <p:nvSpPr>
          <p:cNvPr id="17" name="Rettangolo 16">
            <a:extLst>
              <a:ext uri="{FF2B5EF4-FFF2-40B4-BE49-F238E27FC236}">
                <a16:creationId xmlns:a16="http://schemas.microsoft.com/office/drawing/2014/main" id="{0EF42E65-D8F5-4F54-9D14-D8F427D0CFD4}"/>
              </a:ext>
            </a:extLst>
          </p:cNvPr>
          <p:cNvSpPr>
            <a:spLocks noGrp="1"/>
          </p:cNvSpPr>
          <p:nvPr/>
        </p:nvSpPr>
        <p:spPr>
          <a:xfrm>
            <a:off x="737235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METRIC</a:t>
            </a:r>
          </a:p>
        </p:txBody>
      </p:sp>
      <p:sp>
        <p:nvSpPr>
          <p:cNvPr id="18" name="Rettangolo 17">
            <a:extLst>
              <a:ext uri="{FF2B5EF4-FFF2-40B4-BE49-F238E27FC236}">
                <a16:creationId xmlns:a16="http://schemas.microsoft.com/office/drawing/2014/main" id="{8C403EC8-1210-44A7-826A-A435B28EDA3E}"/>
              </a:ext>
            </a:extLst>
          </p:cNvPr>
          <p:cNvSpPr>
            <a:spLocks noGrp="1"/>
          </p:cNvSpPr>
          <p:nvPr/>
        </p:nvSpPr>
        <p:spPr>
          <a:xfrm>
            <a:off x="737235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condition tables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directional errors</a:t>
            </a:r>
          </a:p>
        </p:txBody>
      </p:sp>
      <p:sp>
        <p:nvSpPr>
          <p:cNvPr id="19" name="Rettangolo con angoli arrotondati 18">
            <a:extLst>
              <a:ext uri="{FF2B5EF4-FFF2-40B4-BE49-F238E27FC236}">
                <a16:creationId xmlns:a16="http://schemas.microsoft.com/office/drawing/2014/main" id="{44A407A9-0C70-42CE-96D8-4F4090679635}"/>
              </a:ext>
            </a:extLst>
          </p:cNvPr>
          <p:cNvSpPr>
            <a:spLocks noGrp="1"/>
          </p:cNvSpPr>
          <p:nvPr/>
        </p:nvSpPr>
        <p:spPr>
          <a:xfrm>
            <a:off x="9448800" y="1885950"/>
            <a:ext cx="1714500" cy="1428750"/>
          </a:xfrm>
          <a:prstGeom prst="roundRect">
            <a:avLst>
              <a:gd name="adj" fmla="val 10667"/>
            </a:avLst>
          </a:prstGeom>
          <a:solidFill>
            <a:srgbClr val="FFFFFF"/>
          </a:solidFill>
          <a:ln w="9525">
            <a:solidFill>
              <a:srgbClr val="D9DEE8"/>
            </a:solidFill>
            <a:prstDash val="solid"/>
          </a:ln>
        </p:spPr>
        <p:txBody>
          <a:bodyPr/>
          <a:lstStyle/>
          <a:p>
            <a:endParaRPr lang="it-IT"/>
          </a:p>
        </p:txBody>
      </p:sp>
      <p:sp>
        <p:nvSpPr>
          <p:cNvPr id="20" name="Rettangolo 19">
            <a:extLst>
              <a:ext uri="{FF2B5EF4-FFF2-40B4-BE49-F238E27FC236}">
                <a16:creationId xmlns:a16="http://schemas.microsoft.com/office/drawing/2014/main" id="{F11B0350-76FB-4DB6-9B42-178EBF016A42}"/>
              </a:ext>
            </a:extLst>
          </p:cNvPr>
          <p:cNvSpPr>
            <a:spLocks noGrp="1"/>
          </p:cNvSpPr>
          <p:nvPr/>
        </p:nvSpPr>
        <p:spPr>
          <a:xfrm>
            <a:off x="9563100" y="2114550"/>
            <a:ext cx="1485900" cy="228600"/>
          </a:xfrm>
          <a:prstGeom prst="rect">
            <a:avLst/>
          </a:prstGeom>
          <a:noFill/>
          <a:ln w="0">
            <a:noFill/>
            <a:prstDash val="solid"/>
          </a:ln>
        </p:spPr>
        <p:txBody>
          <a:bodyPr wrap="square" lIns="0" tIns="0" rIns="0" bIns="0" anchor="t">
            <a:noAutofit/>
          </a:bodyPr>
          <a:lstStyle/>
          <a:p>
            <a:pPr algn="ctr">
              <a:buNone/>
              <a:defRPr sz="1275" b="1">
                <a:solidFill>
                  <a:srgbClr val="233A70"/>
                </a:solidFill>
                <a:latin typeface="Arial"/>
                <a:ea typeface="Arial"/>
                <a:cs typeface="Arial"/>
              </a:defRPr>
            </a:pPr>
            <a:r>
              <a:rPr sz="1275" b="1">
                <a:solidFill>
                  <a:srgbClr val="233A70"/>
                </a:solidFill>
                <a:latin typeface="Arial"/>
                <a:ea typeface="Arial"/>
                <a:cs typeface="Arial"/>
              </a:rPr>
              <a:t>REPORT</a:t>
            </a:r>
          </a:p>
        </p:txBody>
      </p:sp>
      <p:sp>
        <p:nvSpPr>
          <p:cNvPr id="21" name="Rettangolo 20">
            <a:extLst>
              <a:ext uri="{FF2B5EF4-FFF2-40B4-BE49-F238E27FC236}">
                <a16:creationId xmlns:a16="http://schemas.microsoft.com/office/drawing/2014/main" id="{208868E6-4BF0-404D-BA6B-3AACD3C9C49D}"/>
              </a:ext>
            </a:extLst>
          </p:cNvPr>
          <p:cNvSpPr>
            <a:spLocks noGrp="1"/>
          </p:cNvSpPr>
          <p:nvPr/>
        </p:nvSpPr>
        <p:spPr>
          <a:xfrm>
            <a:off x="9563100" y="2533650"/>
            <a:ext cx="1485900" cy="514350"/>
          </a:xfrm>
          <a:prstGeom prst="rect">
            <a:avLst/>
          </a:prstGeom>
          <a:noFill/>
          <a:ln w="0">
            <a:noFill/>
            <a:prstDash val="solid"/>
          </a:ln>
        </p:spPr>
        <p:txBody>
          <a:bodyPr wrap="square" lIns="0" tIns="0" rIns="0" bIns="0" anchor="ctr">
            <a:noAutofit/>
          </a:bodyPr>
          <a:lstStyle/>
          <a:p>
            <a:pPr algn="ctr">
              <a:buNone/>
              <a:defRPr sz="1275" b="0">
                <a:solidFill>
                  <a:srgbClr val="5B6577"/>
                </a:solidFill>
                <a:latin typeface="Arial"/>
                <a:ea typeface="Arial"/>
                <a:cs typeface="Arial"/>
              </a:defRPr>
            </a:pPr>
            <a:r>
              <a:rPr sz="1275" b="0">
                <a:solidFill>
                  <a:srgbClr val="5B6577"/>
                </a:solidFill>
                <a:latin typeface="Arial"/>
                <a:ea typeface="Arial"/>
                <a:cs typeface="Arial"/>
              </a:rPr>
              <a:t>thesis figures</a:t>
            </a:r>
          </a:p>
          <a:p>
            <a:pPr algn="ctr">
              <a:buNone/>
              <a:defRPr sz="1275" b="0">
                <a:solidFill>
                  <a:srgbClr val="5B6577"/>
                </a:solidFill>
                <a:latin typeface="Arial"/>
                <a:ea typeface="Arial"/>
                <a:cs typeface="Arial"/>
              </a:defRPr>
            </a:pPr>
            <a:r>
              <a:rPr sz="1275" b="0">
                <a:solidFill>
                  <a:srgbClr val="5B6577"/>
                </a:solidFill>
                <a:latin typeface="Arial"/>
                <a:ea typeface="Arial"/>
                <a:cs typeface="Arial"/>
              </a:rPr>
              <a:t>conclusion tables</a:t>
            </a:r>
          </a:p>
        </p:txBody>
      </p:sp>
      <p:sp>
        <p:nvSpPr>
          <p:cNvPr id="22" name="Rettangolo 21">
            <a:extLst>
              <a:ext uri="{FF2B5EF4-FFF2-40B4-BE49-F238E27FC236}">
                <a16:creationId xmlns:a16="http://schemas.microsoft.com/office/drawing/2014/main" id="{143CDE96-C95C-4603-8D8F-39D3E4C03054}"/>
              </a:ext>
            </a:extLst>
          </p:cNvPr>
          <p:cNvSpPr>
            <a:spLocks noGrp="1"/>
          </p:cNvSpPr>
          <p:nvPr/>
        </p:nvSpPr>
        <p:spPr>
          <a:xfrm>
            <a:off x="685800" y="3905250"/>
            <a:ext cx="10820400" cy="285750"/>
          </a:xfrm>
          <a:prstGeom prst="rect">
            <a:avLst/>
          </a:prstGeom>
          <a:noFill/>
          <a:ln w="0">
            <a:noFill/>
            <a:prstDash val="solid"/>
          </a:ln>
        </p:spPr>
        <p:txBody>
          <a:bodyPr wrap="square" lIns="0" tIns="0" rIns="0" bIns="0" anchor="t">
            <a:noAutofit/>
          </a:bodyPr>
          <a:lstStyle/>
          <a:p>
            <a:pPr algn="ctr">
              <a:buNone/>
              <a:defRPr sz="1650" b="1">
                <a:solidFill>
                  <a:srgbClr val="233A70"/>
                </a:solidFill>
                <a:latin typeface="Arial"/>
                <a:ea typeface="Arial"/>
                <a:cs typeface="Arial"/>
              </a:defRPr>
            </a:pPr>
            <a:r>
              <a:rPr sz="1650" b="1">
                <a:solidFill>
                  <a:srgbClr val="233A70"/>
                </a:solidFill>
                <a:latin typeface="Arial"/>
                <a:ea typeface="Arial"/>
                <a:cs typeface="Arial"/>
              </a:rPr>
              <a:t>Integrity and audit controls</a:t>
            </a:r>
          </a:p>
        </p:txBody>
      </p:sp>
      <p:sp>
        <p:nvSpPr>
          <p:cNvPr id="23" name="Rettangolo 22">
            <a:extLst>
              <a:ext uri="{FF2B5EF4-FFF2-40B4-BE49-F238E27FC236}">
                <a16:creationId xmlns:a16="http://schemas.microsoft.com/office/drawing/2014/main" id="{11FB0154-B506-4357-9ADE-0DC5A01E2B7D}"/>
              </a:ext>
            </a:extLst>
          </p:cNvPr>
          <p:cNvSpPr>
            <a:spLocks noGrp="1"/>
          </p:cNvSpPr>
          <p:nvPr/>
        </p:nvSpPr>
        <p:spPr>
          <a:xfrm>
            <a:off x="1714500" y="4438650"/>
            <a:ext cx="8763000" cy="1562100"/>
          </a:xfrm>
          <a:prstGeom prst="rect">
            <a:avLst/>
          </a:prstGeom>
          <a:noFill/>
          <a:ln w="0">
            <a:noFill/>
            <a:prstDash val="solid"/>
          </a:ln>
        </p:spPr>
        <p:txBody>
          <a:bodyPr wrap="square" lIns="0" tIns="0" rIns="0" bIns="0" anchor="t">
            <a:noAutofit/>
          </a:bodyPr>
          <a:lstStyle/>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SHA-256 digests for datasets, bundles, checkpoints and controlled artifacts</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Frozen model, tool-version and configuration registries</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Explicit output-normalization rules and unmatched/unknown handling</a:t>
            </a:r>
          </a:p>
          <a:p>
            <a:pPr marL="24" indent="-14">
              <a:spcAft>
                <a:spcPts val="10"/>
              </a:spcAft>
              <a:buChar char="•"/>
              <a:defRPr sz="1575">
                <a:solidFill>
                  <a:srgbClr val="172033"/>
                </a:solidFill>
                <a:latin typeface="Arial"/>
                <a:ea typeface="Arial"/>
                <a:cs typeface="Arial"/>
              </a:defRPr>
            </a:pPr>
            <a:r>
              <a:rPr sz="1575">
                <a:solidFill>
                  <a:srgbClr val="172033"/>
                </a:solidFill>
                <a:latin typeface="Arial"/>
                <a:ea typeface="Arial"/>
                <a:cs typeface="Arial"/>
              </a:rPr>
              <a:t>Repository scripts regenerate metrics and thesis-ready reporting assets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31" name="Rettangolo 30">
            <a:extLst>
              <a:ext uri="{FF2B5EF4-FFF2-40B4-BE49-F238E27FC236}">
                <a16:creationId xmlns:a16="http://schemas.microsoft.com/office/drawing/2014/main" id="{450EE9F5-CABF-434E-8232-BDF46C2B08C9}"/>
              </a:ext>
            </a:extLst>
          </p:cNvPr>
          <p:cNvSpPr>
            <a:spLocks noGrp="1"/>
          </p:cNvSpPr>
          <p:nvPr/>
        </p:nvSpPr>
        <p:spPr>
          <a:xfrm>
            <a:off x="0" y="0"/>
            <a:ext cx="12192000" cy="114300"/>
          </a:xfrm>
          <a:prstGeom prst="rect">
            <a:avLst/>
          </a:prstGeom>
          <a:solidFill>
            <a:srgbClr val="233A70"/>
          </a:solidFill>
          <a:ln w="0">
            <a:noFill/>
            <a:prstDash val="solid"/>
          </a:ln>
        </p:spPr>
        <p:txBody>
          <a:bodyPr/>
          <a:lstStyle/>
          <a:p>
            <a:endParaRPr lang="it-IT"/>
          </a:p>
        </p:txBody>
      </p:sp>
      <p:sp>
        <p:nvSpPr>
          <p:cNvPr id="2" name="Rettangolo 1">
            <a:extLst>
              <a:ext uri="{FF2B5EF4-FFF2-40B4-BE49-F238E27FC236}">
                <a16:creationId xmlns:a16="http://schemas.microsoft.com/office/drawing/2014/main" id="{FEC59691-266B-4DB0-8057-0406222D320A}"/>
              </a:ext>
            </a:extLst>
          </p:cNvPr>
          <p:cNvSpPr>
            <a:spLocks noGrp="1"/>
          </p:cNvSpPr>
          <p:nvPr/>
        </p:nvSpPr>
        <p:spPr>
          <a:xfrm>
            <a:off x="685800" y="704850"/>
            <a:ext cx="10572750" cy="571500"/>
          </a:xfrm>
          <a:prstGeom prst="rect">
            <a:avLst/>
          </a:prstGeom>
          <a:noFill/>
          <a:ln w="0">
            <a:noFill/>
            <a:prstDash val="solid"/>
          </a:ln>
        </p:spPr>
        <p:txBody>
          <a:bodyPr wrap="none" lIns="0" tIns="0" rIns="0" bIns="0" anchor="ctr">
            <a:noAutofit/>
          </a:bodyPr>
          <a:lstStyle/>
          <a:p>
            <a:pPr algn="l">
              <a:buNone/>
              <a:defRPr sz="3600" b="1">
                <a:solidFill>
                  <a:srgbClr val="233A70"/>
                </a:solidFill>
                <a:latin typeface="Arial"/>
                <a:ea typeface="Arial"/>
                <a:cs typeface="Arial"/>
              </a:defRPr>
            </a:pPr>
            <a:r>
              <a:rPr sz="3600" b="1">
                <a:solidFill>
                  <a:srgbClr val="233A70"/>
                </a:solidFill>
                <a:latin typeface="Arial"/>
                <a:ea typeface="Arial"/>
                <a:cs typeface="Arial"/>
              </a:rPr>
              <a:t>Claim boundaries keep the result defensible</a:t>
            </a:r>
          </a:p>
        </p:txBody>
      </p:sp>
      <p:sp>
        <p:nvSpPr>
          <p:cNvPr id="3" name="Rettangolo 2">
            <a:extLst>
              <a:ext uri="{FF2B5EF4-FFF2-40B4-BE49-F238E27FC236}">
                <a16:creationId xmlns:a16="http://schemas.microsoft.com/office/drawing/2014/main" id="{79089BD1-B305-48BE-BA26-09870B601124}"/>
              </a:ext>
            </a:extLst>
          </p:cNvPr>
          <p:cNvSpPr>
            <a:spLocks noGrp="1"/>
          </p:cNvSpPr>
          <p:nvPr/>
        </p:nvSpPr>
        <p:spPr>
          <a:xfrm>
            <a:off x="685800" y="1352550"/>
            <a:ext cx="10820400" cy="19050"/>
          </a:xfrm>
          <a:prstGeom prst="rect">
            <a:avLst/>
          </a:prstGeom>
          <a:solidFill>
            <a:srgbClr val="D9DEE8"/>
          </a:solidFill>
          <a:ln w="0">
            <a:noFill/>
            <a:prstDash val="solid"/>
          </a:ln>
        </p:spPr>
        <p:txBody>
          <a:bodyPr/>
          <a:lstStyle/>
          <a:p>
            <a:endParaRPr lang="it-IT"/>
          </a:p>
        </p:txBody>
      </p:sp>
      <p:sp>
        <p:nvSpPr>
          <p:cNvPr id="4" name="Rettangolo 3">
            <a:extLst>
              <a:ext uri="{FF2B5EF4-FFF2-40B4-BE49-F238E27FC236}">
                <a16:creationId xmlns:a16="http://schemas.microsoft.com/office/drawing/2014/main" id="{42C6706B-ACDF-4666-A54A-86FD9DBD5392}"/>
              </a:ext>
            </a:extLst>
          </p:cNvPr>
          <p:cNvSpPr>
            <a:spLocks noGrp="1"/>
          </p:cNvSpPr>
          <p:nvPr/>
        </p:nvSpPr>
        <p:spPr>
          <a:xfrm>
            <a:off x="685800" y="6524625"/>
            <a:ext cx="4381500" cy="190500"/>
          </a:xfrm>
          <a:prstGeom prst="rect">
            <a:avLst/>
          </a:prstGeom>
          <a:noFill/>
          <a:ln w="0">
            <a:noFill/>
            <a:prstDash val="solid"/>
          </a:ln>
        </p:spPr>
        <p:txBody>
          <a:bodyPr wrap="square" lIns="0" tIns="0" rIns="0" bIns="0" anchor="ctr">
            <a:noAutofit/>
          </a:bodyPr>
          <a:lstStyle/>
          <a:p>
            <a:pPr algn="l">
              <a:buNone/>
              <a:defRPr sz="1050" b="0">
                <a:solidFill>
                  <a:srgbClr val="5B6577"/>
                </a:solidFill>
                <a:latin typeface="Arial"/>
                <a:ea typeface="Arial"/>
                <a:cs typeface="Arial"/>
              </a:defRPr>
            </a:pPr>
            <a:r>
              <a:rPr sz="1050" b="0">
                <a:solidFill>
                  <a:srgbClr val="5B6577"/>
                </a:solidFill>
                <a:latin typeface="Arial"/>
                <a:ea typeface="Arial"/>
                <a:cs typeface="Arial"/>
              </a:rPr>
              <a:t>Lello Molinario  |  MSc Thesis Defense</a:t>
            </a:r>
          </a:p>
        </p:txBody>
      </p:sp>
      <p:sp>
        <p:nvSpPr>
          <p:cNvPr id="5" name="Rettangolo 4">
            <a:extLst>
              <a:ext uri="{FF2B5EF4-FFF2-40B4-BE49-F238E27FC236}">
                <a16:creationId xmlns:a16="http://schemas.microsoft.com/office/drawing/2014/main" id="{0D079A16-C2FC-4182-B67E-51370D40AE49}"/>
              </a:ext>
            </a:extLst>
          </p:cNvPr>
          <p:cNvSpPr>
            <a:spLocks noGrp="1"/>
          </p:cNvSpPr>
          <p:nvPr/>
        </p:nvSpPr>
        <p:spPr>
          <a:xfrm>
            <a:off x="11049000" y="6524625"/>
            <a:ext cx="457200" cy="190500"/>
          </a:xfrm>
          <a:prstGeom prst="rect">
            <a:avLst/>
          </a:prstGeom>
          <a:noFill/>
          <a:ln w="0">
            <a:noFill/>
            <a:prstDash val="solid"/>
          </a:ln>
        </p:spPr>
        <p:txBody>
          <a:bodyPr wrap="square" lIns="0" tIns="0" rIns="0" bIns="0" anchor="ctr">
            <a:noAutofit/>
          </a:bodyPr>
          <a:lstStyle/>
          <a:p>
            <a:r>
              <a:t>21</a:t>
            </a:r>
          </a:p>
        </p:txBody>
      </p:sp>
      <p:sp>
        <p:nvSpPr>
          <p:cNvPr id="6" name="Rettangolo con angoli arrotondati 5">
            <a:extLst>
              <a:ext uri="{FF2B5EF4-FFF2-40B4-BE49-F238E27FC236}">
                <a16:creationId xmlns:a16="http://schemas.microsoft.com/office/drawing/2014/main" id="{A958CF67-914D-4A36-B2C0-CBFE18A07BAD}"/>
              </a:ext>
            </a:extLst>
          </p:cNvPr>
          <p:cNvSpPr>
            <a:spLocks noGrp="1"/>
          </p:cNvSpPr>
          <p:nvPr/>
        </p:nvSpPr>
        <p:spPr>
          <a:xfrm>
            <a:off x="685800" y="1581150"/>
            <a:ext cx="4095750" cy="4171950"/>
          </a:xfrm>
          <a:prstGeom prst="roundRect">
            <a:avLst>
              <a:gd name="adj" fmla="val 4651"/>
            </a:avLst>
          </a:prstGeom>
          <a:solidFill>
            <a:srgbClr val="233A70"/>
          </a:solidFill>
          <a:ln w="0">
            <a:noFill/>
            <a:prstDash val="solid"/>
          </a:ln>
        </p:spPr>
        <p:txBody>
          <a:bodyPr/>
          <a:lstStyle/>
          <a:p>
            <a:endParaRPr lang="it-IT"/>
          </a:p>
        </p:txBody>
      </p:sp>
      <p:sp>
        <p:nvSpPr>
          <p:cNvPr id="7" name="Rettangolo 6">
            <a:extLst>
              <a:ext uri="{FF2B5EF4-FFF2-40B4-BE49-F238E27FC236}">
                <a16:creationId xmlns:a16="http://schemas.microsoft.com/office/drawing/2014/main" id="{E5DDE80D-F491-4EDB-A777-AC5174C65059}"/>
              </a:ext>
            </a:extLst>
          </p:cNvPr>
          <p:cNvSpPr>
            <a:spLocks noGrp="1"/>
          </p:cNvSpPr>
          <p:nvPr/>
        </p:nvSpPr>
        <p:spPr>
          <a:xfrm>
            <a:off x="971550" y="1847850"/>
            <a:ext cx="3524250" cy="247650"/>
          </a:xfrm>
          <a:prstGeom prst="rect">
            <a:avLst/>
          </a:prstGeom>
          <a:noFill/>
          <a:ln w="0">
            <a:noFill/>
            <a:prstDash val="solid"/>
          </a:ln>
        </p:spPr>
        <p:txBody>
          <a:bodyPr wrap="square" lIns="0" tIns="0" rIns="0" bIns="0" anchor="t">
            <a:noAutofit/>
          </a:bodyPr>
          <a:lstStyle/>
          <a:p>
            <a:pPr algn="ctr">
              <a:buNone/>
              <a:defRPr sz="1350" b="1">
                <a:solidFill>
                  <a:srgbClr val="14B978"/>
                </a:solidFill>
                <a:latin typeface="Arial"/>
                <a:ea typeface="Arial"/>
                <a:cs typeface="Arial"/>
              </a:defRPr>
            </a:pPr>
            <a:r>
              <a:rPr sz="1350" b="1">
                <a:solidFill>
                  <a:srgbClr val="14B978"/>
                </a:solidFill>
                <a:latin typeface="Arial"/>
                <a:ea typeface="Arial"/>
                <a:cs typeface="Arial"/>
              </a:rPr>
              <a:t>METADATA SENSITIVITY</a:t>
            </a:r>
          </a:p>
        </p:txBody>
      </p:sp>
      <p:sp>
        <p:nvSpPr>
          <p:cNvPr id="8" name="Rettangolo 7">
            <a:extLst>
              <a:ext uri="{FF2B5EF4-FFF2-40B4-BE49-F238E27FC236}">
                <a16:creationId xmlns:a16="http://schemas.microsoft.com/office/drawing/2014/main" id="{9CE8CE40-2313-4751-AC3A-75251D60271B}"/>
              </a:ext>
            </a:extLst>
          </p:cNvPr>
          <p:cNvSpPr>
            <a:spLocks noGrp="1"/>
          </p:cNvSpPr>
          <p:nvPr/>
        </p:nvSpPr>
        <p:spPr>
          <a:xfrm>
            <a:off x="971550" y="2286000"/>
            <a:ext cx="3524250" cy="647700"/>
          </a:xfrm>
          <a:prstGeom prst="rect">
            <a:avLst/>
          </a:prstGeom>
          <a:noFill/>
          <a:ln w="0">
            <a:noFill/>
            <a:prstDash val="solid"/>
          </a:ln>
        </p:spPr>
        <p:txBody>
          <a:bodyPr wrap="square" lIns="0" tIns="0" rIns="0" bIns="0" anchor="t">
            <a:noAutofit/>
          </a:bodyPr>
          <a:lstStyle/>
          <a:p>
            <a:pPr algn="ctr">
              <a:buNone/>
              <a:defRPr sz="4200" b="1">
                <a:solidFill>
                  <a:srgbClr val="FFFFFF"/>
                </a:solidFill>
                <a:latin typeface="Arial"/>
                <a:ea typeface="Arial"/>
                <a:cs typeface="Arial"/>
              </a:defRPr>
            </a:pPr>
            <a:r>
              <a:rPr sz="4200" b="1">
                <a:solidFill>
                  <a:srgbClr val="FFFFFF"/>
                </a:solidFill>
                <a:latin typeface="Arial"/>
                <a:ea typeface="Arial"/>
                <a:cs typeface="Arial"/>
              </a:rPr>
              <a:t>15</a:t>
            </a:r>
          </a:p>
        </p:txBody>
      </p:sp>
      <p:sp>
        <p:nvSpPr>
          <p:cNvPr id="9" name="Rettangolo 8">
            <a:extLst>
              <a:ext uri="{FF2B5EF4-FFF2-40B4-BE49-F238E27FC236}">
                <a16:creationId xmlns:a16="http://schemas.microsoft.com/office/drawing/2014/main" id="{32443789-E78D-482B-9842-1CE14508CB7C}"/>
              </a:ext>
            </a:extLst>
          </p:cNvPr>
          <p:cNvSpPr>
            <a:spLocks noGrp="1"/>
          </p:cNvSpPr>
          <p:nvPr/>
        </p:nvSpPr>
        <p:spPr>
          <a:xfrm>
            <a:off x="971550" y="2952750"/>
            <a:ext cx="3524250" cy="285750"/>
          </a:xfrm>
          <a:prstGeom prst="rect">
            <a:avLst/>
          </a:prstGeom>
          <a:noFill/>
          <a:ln w="0">
            <a:noFill/>
            <a:prstDash val="solid"/>
          </a:ln>
        </p:spPr>
        <p:txBody>
          <a:bodyPr wrap="square" lIns="0" tIns="0" rIns="0" bIns="0" anchor="t">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of 11,500 files</a:t>
            </a:r>
          </a:p>
        </p:txBody>
      </p:sp>
      <p:sp>
        <p:nvSpPr>
          <p:cNvPr id="10" name="Rettangolo 9">
            <a:extLst>
              <a:ext uri="{FF2B5EF4-FFF2-40B4-BE49-F238E27FC236}">
                <a16:creationId xmlns:a16="http://schemas.microsoft.com/office/drawing/2014/main" id="{68FF4B46-61D2-46B2-A3F1-741BE38718F5}"/>
              </a:ext>
            </a:extLst>
          </p:cNvPr>
          <p:cNvSpPr>
            <a:spLocks noGrp="1"/>
          </p:cNvSpPr>
          <p:nvPr/>
        </p:nvSpPr>
        <p:spPr>
          <a:xfrm>
            <a:off x="1066800" y="3390900"/>
            <a:ext cx="3333750" cy="495300"/>
          </a:xfrm>
          <a:prstGeom prst="rect">
            <a:avLst/>
          </a:prstGeom>
          <a:noFill/>
          <a:ln w="0">
            <a:noFill/>
            <a:prstDash val="solid"/>
          </a:ln>
        </p:spPr>
        <p:txBody>
          <a:bodyPr wrap="square" lIns="0" tIns="0" rIns="0" bIns="0" anchor="ctr">
            <a:noAutofit/>
          </a:bodyPr>
          <a:lstStyle/>
          <a:p>
            <a:pPr algn="ctr">
              <a:buNone/>
              <a:defRPr sz="1425" b="0">
                <a:solidFill>
                  <a:srgbClr val="DCE4F3"/>
                </a:solidFill>
                <a:latin typeface="Arial"/>
                <a:ea typeface="Arial"/>
                <a:cs typeface="Arial"/>
              </a:defRPr>
            </a:pPr>
            <a:r>
              <a:rPr sz="1425" b="0">
                <a:solidFill>
                  <a:srgbClr val="DCE4F3"/>
                </a:solidFill>
                <a:latin typeface="Arial"/>
                <a:ea typeface="Arial"/>
                <a:cs typeface="Arial"/>
              </a:rPr>
              <a:t>matched a predefined sensitive metadata term</a:t>
            </a:r>
          </a:p>
        </p:txBody>
      </p:sp>
      <p:sp>
        <p:nvSpPr>
          <p:cNvPr id="11" name="Rettangolo 10">
            <a:extLst>
              <a:ext uri="{FF2B5EF4-FFF2-40B4-BE49-F238E27FC236}">
                <a16:creationId xmlns:a16="http://schemas.microsoft.com/office/drawing/2014/main" id="{1C420481-7C8E-4DDB-BC91-67D78A171A6C}"/>
              </a:ext>
            </a:extLst>
          </p:cNvPr>
          <p:cNvSpPr>
            <a:spLocks noGrp="1"/>
          </p:cNvSpPr>
          <p:nvPr/>
        </p:nvSpPr>
        <p:spPr>
          <a:xfrm>
            <a:off x="1257300" y="4133850"/>
            <a:ext cx="2952750" cy="19050"/>
          </a:xfrm>
          <a:prstGeom prst="rect">
            <a:avLst/>
          </a:prstGeom>
          <a:solidFill>
            <a:srgbClr val="536A9B"/>
          </a:solidFill>
          <a:ln w="0">
            <a:noFill/>
            <a:prstDash val="solid"/>
          </a:ln>
        </p:spPr>
        <p:txBody>
          <a:bodyPr/>
          <a:lstStyle/>
          <a:p>
            <a:endParaRPr lang="it-IT"/>
          </a:p>
        </p:txBody>
      </p:sp>
      <p:sp>
        <p:nvSpPr>
          <p:cNvPr id="12" name="Rettangolo 11">
            <a:extLst>
              <a:ext uri="{FF2B5EF4-FFF2-40B4-BE49-F238E27FC236}">
                <a16:creationId xmlns:a16="http://schemas.microsoft.com/office/drawing/2014/main" id="{F3249D90-455B-4447-9E26-B2ADC594CFFC}"/>
              </a:ext>
            </a:extLst>
          </p:cNvPr>
          <p:cNvSpPr>
            <a:spLocks noGrp="1"/>
          </p:cNvSpPr>
          <p:nvPr/>
        </p:nvSpPr>
        <p:spPr>
          <a:xfrm>
            <a:off x="1066800" y="4419600"/>
            <a:ext cx="3333750" cy="285750"/>
          </a:xfrm>
          <a:prstGeom prst="rect">
            <a:avLst/>
          </a:prstGeom>
          <a:noFill/>
          <a:ln w="0">
            <a:noFill/>
            <a:prstDash val="solid"/>
          </a:ln>
        </p:spPr>
        <p:txBody>
          <a:bodyPr wrap="square" lIns="0" tIns="0" rIns="0" bIns="0" anchor="t">
            <a:noAutofit/>
          </a:bodyP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Leave-out differences were small</a:t>
            </a:r>
          </a:p>
        </p:txBody>
      </p:sp>
      <p:sp>
        <p:nvSpPr>
          <p:cNvPr id="13" name="Rettangolo 12">
            <a:extLst>
              <a:ext uri="{FF2B5EF4-FFF2-40B4-BE49-F238E27FC236}">
                <a16:creationId xmlns:a16="http://schemas.microsoft.com/office/drawing/2014/main" id="{A91E40B1-43F4-44AE-B4D8-392C565EFA1E}"/>
              </a:ext>
            </a:extLst>
          </p:cNvPr>
          <p:cNvSpPr>
            <a:spLocks noGrp="1"/>
          </p:cNvSpPr>
          <p:nvPr/>
        </p:nvSpPr>
        <p:spPr>
          <a:xfrm>
            <a:off x="1066800" y="4953000"/>
            <a:ext cx="3333750" cy="476250"/>
          </a:xfrm>
          <a:prstGeom prst="rect">
            <a:avLst/>
          </a:prstGeom>
          <a:noFill/>
          <a:ln w="0">
            <a:noFill/>
            <a:prstDash val="solid"/>
          </a:ln>
        </p:spPr>
        <p:txBody>
          <a:bodyPr wrap="square" lIns="0" tIns="0" rIns="0" bIns="0" anchor="ctr">
            <a:noAutofit/>
          </a:bodyPr>
          <a:lstStyle/>
          <a:p>
            <a:pPr algn="ctr">
              <a:buNone/>
              <a:defRPr sz="1350" b="0">
                <a:solidFill>
                  <a:srgbClr val="FFF4CD"/>
                </a:solidFill>
                <a:latin typeface="Arial"/>
                <a:ea typeface="Arial"/>
                <a:cs typeface="Arial"/>
              </a:defRPr>
            </a:pPr>
            <a:r>
              <a:rPr sz="1350" b="0">
                <a:solidFill>
                  <a:srgbClr val="FFF4CD"/>
                </a:solidFill>
                <a:latin typeface="Arial"/>
                <a:ea typeface="Arial"/>
                <a:cs typeface="Arial"/>
              </a:rPr>
              <a:t>This does not prove causal irrelevance for every decision.</a:t>
            </a:r>
          </a:p>
        </p:txBody>
      </p:sp>
      <p:sp>
        <p:nvSpPr>
          <p:cNvPr id="14" name="Rettangolo 13">
            <a:extLst>
              <a:ext uri="{FF2B5EF4-FFF2-40B4-BE49-F238E27FC236}">
                <a16:creationId xmlns:a16="http://schemas.microsoft.com/office/drawing/2014/main" id="{271950E5-9AE8-4624-8836-A98073AC06EB}"/>
              </a:ext>
            </a:extLst>
          </p:cNvPr>
          <p:cNvSpPr>
            <a:spLocks noGrp="1"/>
          </p:cNvSpPr>
          <p:nvPr/>
        </p:nvSpPr>
        <p:spPr>
          <a:xfrm>
            <a:off x="5334000" y="1657350"/>
            <a:ext cx="6172200" cy="266700"/>
          </a:xfrm>
          <a:prstGeom prst="rect">
            <a:avLst/>
          </a:prstGeom>
          <a:noFill/>
          <a:ln w="0">
            <a:noFill/>
            <a:prstDash val="solid"/>
          </a:ln>
        </p:spPr>
        <p:txBody>
          <a:bodyPr wrap="square" lIns="0" tIns="0" rIns="0" bIns="0" anchor="t">
            <a:noAutofit/>
          </a:bodyPr>
          <a:lstStyle/>
          <a:p>
            <a:pPr algn="l">
              <a:buNone/>
              <a:defRPr sz="1425" b="1">
                <a:solidFill>
                  <a:srgbClr val="233A70"/>
                </a:solidFill>
                <a:latin typeface="Arial"/>
                <a:ea typeface="Arial"/>
                <a:cs typeface="Arial"/>
              </a:defRPr>
            </a:pPr>
            <a:r>
              <a:rPr sz="1425" b="1">
                <a:solidFill>
                  <a:srgbClr val="233A70"/>
                </a:solidFill>
                <a:latin typeface="Arial"/>
                <a:ea typeface="Arial"/>
                <a:cs typeface="Arial"/>
              </a:rPr>
              <a:t>CLAIM BOUNDARIES</a:t>
            </a:r>
          </a:p>
        </p:txBody>
      </p:sp>
      <p:sp>
        <p:nvSpPr>
          <p:cNvPr id="15" name="Rettangolo 14">
            <a:extLst>
              <a:ext uri="{FF2B5EF4-FFF2-40B4-BE49-F238E27FC236}">
                <a16:creationId xmlns:a16="http://schemas.microsoft.com/office/drawing/2014/main" id="{9B35F04A-8C1A-4D02-A7D5-B5388F8EBAA1}"/>
              </a:ext>
            </a:extLst>
          </p:cNvPr>
          <p:cNvSpPr>
            <a:spLocks noGrp="1"/>
          </p:cNvSpPr>
          <p:nvPr/>
        </p:nvSpPr>
        <p:spPr>
          <a:xfrm>
            <a:off x="5334000" y="2133600"/>
            <a:ext cx="161925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Corpus</a:t>
            </a:r>
          </a:p>
        </p:txBody>
      </p:sp>
      <p:sp>
        <p:nvSpPr>
          <p:cNvPr id="16" name="Rettangolo 15">
            <a:extLst>
              <a:ext uri="{FF2B5EF4-FFF2-40B4-BE49-F238E27FC236}">
                <a16:creationId xmlns:a16="http://schemas.microsoft.com/office/drawing/2014/main" id="{383BA1E7-4180-41B6-8C72-60ACF49C3748}"/>
              </a:ext>
            </a:extLst>
          </p:cNvPr>
          <p:cNvSpPr>
            <a:spLocks noGrp="1"/>
          </p:cNvSpPr>
          <p:nvPr/>
        </p:nvSpPr>
        <p:spPr>
          <a:xfrm>
            <a:off x="7124700" y="2133600"/>
            <a:ext cx="43815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1,500 images; one reviewer</a:t>
            </a:r>
          </a:p>
        </p:txBody>
      </p:sp>
      <p:sp>
        <p:nvSpPr>
          <p:cNvPr id="17" name="Rettangolo 16">
            <a:extLst>
              <a:ext uri="{FF2B5EF4-FFF2-40B4-BE49-F238E27FC236}">
                <a16:creationId xmlns:a16="http://schemas.microsoft.com/office/drawing/2014/main" id="{1E912AF9-D85C-4977-969E-906B3A4C3311}"/>
              </a:ext>
            </a:extLst>
          </p:cNvPr>
          <p:cNvSpPr>
            <a:spLocks noGrp="1"/>
          </p:cNvSpPr>
          <p:nvPr/>
        </p:nvSpPr>
        <p:spPr>
          <a:xfrm>
            <a:off x="5334000" y="2609850"/>
            <a:ext cx="6172200" cy="9525"/>
          </a:xfrm>
          <a:prstGeom prst="rect">
            <a:avLst/>
          </a:prstGeom>
          <a:solidFill>
            <a:srgbClr val="D9DEE8"/>
          </a:solidFill>
          <a:ln w="0">
            <a:noFill/>
            <a:prstDash val="solid"/>
          </a:ln>
        </p:spPr>
        <p:txBody>
          <a:bodyPr/>
          <a:lstStyle/>
          <a:p>
            <a:endParaRPr lang="it-IT"/>
          </a:p>
        </p:txBody>
      </p:sp>
      <p:sp>
        <p:nvSpPr>
          <p:cNvPr id="18" name="Rettangolo 17">
            <a:extLst>
              <a:ext uri="{FF2B5EF4-FFF2-40B4-BE49-F238E27FC236}">
                <a16:creationId xmlns:a16="http://schemas.microsoft.com/office/drawing/2014/main" id="{1FEB3410-F8F5-45C3-B8A9-72E8CC0B13F9}"/>
              </a:ext>
            </a:extLst>
          </p:cNvPr>
          <p:cNvSpPr>
            <a:spLocks noGrp="1"/>
          </p:cNvSpPr>
          <p:nvPr/>
        </p:nvSpPr>
        <p:spPr>
          <a:xfrm>
            <a:off x="5334000" y="2819400"/>
            <a:ext cx="161925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Perturbations</a:t>
            </a:r>
          </a:p>
        </p:txBody>
      </p:sp>
      <p:sp>
        <p:nvSpPr>
          <p:cNvPr id="19" name="Rettangolo 18">
            <a:extLst>
              <a:ext uri="{FF2B5EF4-FFF2-40B4-BE49-F238E27FC236}">
                <a16:creationId xmlns:a16="http://schemas.microsoft.com/office/drawing/2014/main" id="{528555C9-5DFF-4894-9FE6-D4333953FC88}"/>
              </a:ext>
            </a:extLst>
          </p:cNvPr>
          <p:cNvSpPr>
            <a:spLocks noGrp="1"/>
          </p:cNvSpPr>
          <p:nvPr/>
        </p:nvSpPr>
        <p:spPr>
          <a:xfrm>
            <a:off x="7124700" y="2819400"/>
            <a:ext cx="43815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one frozen setting per condition</a:t>
            </a:r>
          </a:p>
        </p:txBody>
      </p:sp>
      <p:sp>
        <p:nvSpPr>
          <p:cNvPr id="20" name="Rettangolo 19">
            <a:extLst>
              <a:ext uri="{FF2B5EF4-FFF2-40B4-BE49-F238E27FC236}">
                <a16:creationId xmlns:a16="http://schemas.microsoft.com/office/drawing/2014/main" id="{F89CB595-C0E8-481C-B956-C19F8CDD3C85}"/>
              </a:ext>
            </a:extLst>
          </p:cNvPr>
          <p:cNvSpPr>
            <a:spLocks noGrp="1"/>
          </p:cNvSpPr>
          <p:nvPr/>
        </p:nvSpPr>
        <p:spPr>
          <a:xfrm>
            <a:off x="5334000" y="3295650"/>
            <a:ext cx="6172200" cy="9525"/>
          </a:xfrm>
          <a:prstGeom prst="rect">
            <a:avLst/>
          </a:prstGeom>
          <a:solidFill>
            <a:srgbClr val="D9DEE8"/>
          </a:solidFill>
          <a:ln w="0">
            <a:noFill/>
            <a:prstDash val="solid"/>
          </a:ln>
        </p:spPr>
        <p:txBody>
          <a:bodyPr/>
          <a:lstStyle/>
          <a:p>
            <a:endParaRPr lang="it-IT"/>
          </a:p>
        </p:txBody>
      </p:sp>
      <p:sp>
        <p:nvSpPr>
          <p:cNvPr id="21" name="Rettangolo 20">
            <a:extLst>
              <a:ext uri="{FF2B5EF4-FFF2-40B4-BE49-F238E27FC236}">
                <a16:creationId xmlns:a16="http://schemas.microsoft.com/office/drawing/2014/main" id="{6CF52DE5-B776-4B1D-800C-73C4E4A5C8F6}"/>
              </a:ext>
            </a:extLst>
          </p:cNvPr>
          <p:cNvSpPr>
            <a:spLocks noGrp="1"/>
          </p:cNvSpPr>
          <p:nvPr/>
        </p:nvSpPr>
        <p:spPr>
          <a:xfrm>
            <a:off x="5334000" y="3505200"/>
            <a:ext cx="161925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Attack target</a:t>
            </a:r>
          </a:p>
        </p:txBody>
      </p:sp>
      <p:sp>
        <p:nvSpPr>
          <p:cNvPr id="22" name="Rettangolo 21">
            <a:extLst>
              <a:ext uri="{FF2B5EF4-FFF2-40B4-BE49-F238E27FC236}">
                <a16:creationId xmlns:a16="http://schemas.microsoft.com/office/drawing/2014/main" id="{CFA73A27-E6D0-47E7-ADA5-8D98B5FD3677}"/>
              </a:ext>
            </a:extLst>
          </p:cNvPr>
          <p:cNvSpPr>
            <a:spLocks noGrp="1"/>
          </p:cNvSpPr>
          <p:nvPr/>
        </p:nvSpPr>
        <p:spPr>
          <a:xfrm>
            <a:off x="7124700" y="3505200"/>
            <a:ext cx="43815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direct attacks only on EfficientNet-B0</a:t>
            </a:r>
          </a:p>
        </p:txBody>
      </p:sp>
      <p:sp>
        <p:nvSpPr>
          <p:cNvPr id="23" name="Rettangolo 22">
            <a:extLst>
              <a:ext uri="{FF2B5EF4-FFF2-40B4-BE49-F238E27FC236}">
                <a16:creationId xmlns:a16="http://schemas.microsoft.com/office/drawing/2014/main" id="{6730AD67-EBD7-4FFB-A38A-B32B95B85FDA}"/>
              </a:ext>
            </a:extLst>
          </p:cNvPr>
          <p:cNvSpPr>
            <a:spLocks noGrp="1"/>
          </p:cNvSpPr>
          <p:nvPr/>
        </p:nvSpPr>
        <p:spPr>
          <a:xfrm>
            <a:off x="5334000" y="3981450"/>
            <a:ext cx="6172200" cy="9525"/>
          </a:xfrm>
          <a:prstGeom prst="rect">
            <a:avLst/>
          </a:prstGeom>
          <a:solidFill>
            <a:srgbClr val="D9DEE8"/>
          </a:solidFill>
          <a:ln w="0">
            <a:noFill/>
            <a:prstDash val="solid"/>
          </a:ln>
        </p:spPr>
        <p:txBody>
          <a:bodyPr/>
          <a:lstStyle/>
          <a:p>
            <a:endParaRPr lang="it-IT"/>
          </a:p>
        </p:txBody>
      </p:sp>
      <p:sp>
        <p:nvSpPr>
          <p:cNvPr id="24" name="Rettangolo 23">
            <a:extLst>
              <a:ext uri="{FF2B5EF4-FFF2-40B4-BE49-F238E27FC236}">
                <a16:creationId xmlns:a16="http://schemas.microsoft.com/office/drawing/2014/main" id="{297D8C7E-D048-4389-B744-C095380C76FF}"/>
              </a:ext>
            </a:extLst>
          </p:cNvPr>
          <p:cNvSpPr>
            <a:spLocks noGrp="1"/>
          </p:cNvSpPr>
          <p:nvPr/>
        </p:nvSpPr>
        <p:spPr>
          <a:xfrm>
            <a:off x="5334000" y="4191000"/>
            <a:ext cx="1619250" cy="266700"/>
          </a:xfrm>
          <a:prstGeom prst="rect">
            <a:avLst/>
          </a:prstGeom>
          <a:noFill/>
          <a:ln w="0">
            <a:noFill/>
            <a:prstDash val="solid"/>
          </a:ln>
        </p:spPr>
        <p:txBody>
          <a:bodyPr wrap="square" lIns="0" tIns="0" rIns="0" bIns="0" anchor="t">
            <a:noAutofit/>
          </a:bodyPr>
          <a:lstStyle/>
          <a:p>
            <a:pPr algn="l">
              <a:buNone/>
              <a:defRPr sz="1500" b="1">
                <a:solidFill>
                  <a:srgbClr val="233A70"/>
                </a:solidFill>
                <a:latin typeface="Arial"/>
                <a:ea typeface="Arial"/>
                <a:cs typeface="Arial"/>
              </a:defRPr>
            </a:pPr>
            <a:r>
              <a:rPr sz="1500" b="1">
                <a:solidFill>
                  <a:srgbClr val="233A70"/>
                </a:solidFill>
                <a:latin typeface="Arial"/>
                <a:ea typeface="Arial"/>
                <a:cs typeface="Arial"/>
              </a:rPr>
              <a:t>Black-box</a:t>
            </a:r>
          </a:p>
        </p:txBody>
      </p:sp>
      <p:sp>
        <p:nvSpPr>
          <p:cNvPr id="25" name="Rettangolo 24">
            <a:extLst>
              <a:ext uri="{FF2B5EF4-FFF2-40B4-BE49-F238E27FC236}">
                <a16:creationId xmlns:a16="http://schemas.microsoft.com/office/drawing/2014/main" id="{FB545777-3A93-46AD-B3E0-2631B388AFF4}"/>
              </a:ext>
            </a:extLst>
          </p:cNvPr>
          <p:cNvSpPr>
            <a:spLocks noGrp="1"/>
          </p:cNvSpPr>
          <p:nvPr/>
        </p:nvSpPr>
        <p:spPr>
          <a:xfrm>
            <a:off x="7124700" y="4191000"/>
            <a:ext cx="43815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tool version + settings + output mapping</a:t>
            </a:r>
          </a:p>
        </p:txBody>
      </p:sp>
      <p:sp>
        <p:nvSpPr>
          <p:cNvPr id="26" name="Rettangolo 25">
            <a:extLst>
              <a:ext uri="{FF2B5EF4-FFF2-40B4-BE49-F238E27FC236}">
                <a16:creationId xmlns:a16="http://schemas.microsoft.com/office/drawing/2014/main" id="{3C77DA9F-A647-486F-87C1-3A6BA389185F}"/>
              </a:ext>
            </a:extLst>
          </p:cNvPr>
          <p:cNvSpPr>
            <a:spLocks noGrp="1"/>
          </p:cNvSpPr>
          <p:nvPr/>
        </p:nvSpPr>
        <p:spPr>
          <a:xfrm>
            <a:off x="5334000" y="4667250"/>
            <a:ext cx="6172200" cy="9525"/>
          </a:xfrm>
          <a:prstGeom prst="rect">
            <a:avLst/>
          </a:prstGeom>
          <a:solidFill>
            <a:srgbClr val="D9DEE8"/>
          </a:solidFill>
          <a:ln w="0">
            <a:noFill/>
            <a:prstDash val="solid"/>
          </a:ln>
        </p:spPr>
        <p:txBody>
          <a:bodyPr/>
          <a:lstStyle/>
          <a:p>
            <a:endParaRPr lang="it-IT"/>
          </a:p>
        </p:txBody>
      </p:sp>
      <p:sp>
        <p:nvSpPr>
          <p:cNvPr id="27" name="Rettangolo 26">
            <a:extLst>
              <a:ext uri="{FF2B5EF4-FFF2-40B4-BE49-F238E27FC236}">
                <a16:creationId xmlns:a16="http://schemas.microsoft.com/office/drawing/2014/main" id="{8E6250E2-E927-4F06-BBD5-AC880A4A2AFA}"/>
              </a:ext>
            </a:extLst>
          </p:cNvPr>
          <p:cNvSpPr>
            <a:spLocks noGrp="1"/>
          </p:cNvSpPr>
          <p:nvPr/>
        </p:nvSpPr>
        <p:spPr>
          <a:xfrm>
            <a:off x="5334000" y="4876800"/>
            <a:ext cx="1619250" cy="266700"/>
          </a:xfrm>
          <a:prstGeom prst="rect">
            <a:avLst/>
          </a:prstGeom>
          <a:noFill/>
          <a:ln w="0">
            <a:noFill/>
            <a:prstDash val="solid"/>
          </a:ln>
        </p:spPr>
        <p:txBody>
          <a:bodyPr wrap="square" lIns="0" tIns="0" rIns="0" bIns="0" anchor="t">
            <a:noAutofit/>
          </a:bodyPr>
          <a:lstStyle/>
          <a:p>
            <a:pPr algn="l">
              <a:buNone/>
              <a:defRPr sz="1500" b="1">
                <a:solidFill>
                  <a:srgbClr val="BE3C37"/>
                </a:solidFill>
                <a:latin typeface="Arial"/>
                <a:ea typeface="Arial"/>
                <a:cs typeface="Arial"/>
              </a:defRPr>
            </a:pPr>
            <a:r>
              <a:rPr sz="1500" b="1">
                <a:solidFill>
                  <a:srgbClr val="BE3C37"/>
                </a:solidFill>
                <a:latin typeface="Arial"/>
                <a:ea typeface="Arial"/>
                <a:cs typeface="Arial"/>
              </a:rPr>
              <a:t>Legal scope</a:t>
            </a:r>
          </a:p>
        </p:txBody>
      </p:sp>
      <p:sp>
        <p:nvSpPr>
          <p:cNvPr id="28" name="Rettangolo 27">
            <a:extLst>
              <a:ext uri="{FF2B5EF4-FFF2-40B4-BE49-F238E27FC236}">
                <a16:creationId xmlns:a16="http://schemas.microsoft.com/office/drawing/2014/main" id="{096B4D8D-5682-4A6A-9047-F2FEEF48A8B7}"/>
              </a:ext>
            </a:extLst>
          </p:cNvPr>
          <p:cNvSpPr>
            <a:spLocks noGrp="1"/>
          </p:cNvSpPr>
          <p:nvPr/>
        </p:nvSpPr>
        <p:spPr>
          <a:xfrm>
            <a:off x="7124700" y="4876800"/>
            <a:ext cx="4381500" cy="323850"/>
          </a:xfrm>
          <a:prstGeom prst="rect">
            <a:avLst/>
          </a:prstGeom>
          <a:noFill/>
          <a:ln w="0">
            <a:noFill/>
            <a:prstDash val="solid"/>
          </a:ln>
        </p:spPr>
        <p:txBody>
          <a:bodyPr wrap="square" lIns="0" tIns="0" rIns="0" bIns="0" anchor="ctr">
            <a:noAutofit/>
          </a:bodyPr>
          <a:lstStyle/>
          <a:p>
            <a:pPr algn="l">
              <a:buNone/>
              <a:defRPr sz="1425" b="0">
                <a:solidFill>
                  <a:srgbClr val="172033"/>
                </a:solidFill>
                <a:latin typeface="Arial"/>
                <a:ea typeface="Arial"/>
                <a:cs typeface="Arial"/>
              </a:defRPr>
            </a:pPr>
            <a:r>
              <a:rPr sz="1425" b="0">
                <a:solidFill>
                  <a:srgbClr val="172033"/>
                </a:solidFill>
                <a:latin typeface="Arial"/>
                <a:ea typeface="Arial"/>
                <a:cs typeface="Arial"/>
              </a:rPr>
              <a:t>operational triage only; no legal claim</a:t>
            </a:r>
          </a:p>
        </p:txBody>
      </p:sp>
      <p:sp>
        <p:nvSpPr>
          <p:cNvPr id="29" name="Rettangolo con angoli arrotondati 28">
            <a:extLst>
              <a:ext uri="{FF2B5EF4-FFF2-40B4-BE49-F238E27FC236}">
                <a16:creationId xmlns:a16="http://schemas.microsoft.com/office/drawing/2014/main" id="{61709ABF-C6C7-4CB5-B2B9-481AE4E3DAC9}"/>
              </a:ext>
            </a:extLst>
          </p:cNvPr>
          <p:cNvSpPr>
            <a:spLocks noGrp="1"/>
          </p:cNvSpPr>
          <p:nvPr/>
        </p:nvSpPr>
        <p:spPr>
          <a:xfrm>
            <a:off x="5334000" y="5676900"/>
            <a:ext cx="6172200" cy="457200"/>
          </a:xfrm>
          <a:prstGeom prst="roundRect">
            <a:avLst>
              <a:gd name="adj" fmla="val 25000"/>
            </a:avLst>
          </a:prstGeom>
          <a:solidFill>
            <a:srgbClr val="E9EEF8"/>
          </a:solidFill>
          <a:ln w="0">
            <a:noFill/>
            <a:prstDash val="solid"/>
          </a:ln>
        </p:spPr>
        <p:txBody>
          <a:bodyPr/>
          <a:lstStyle/>
          <a:p>
            <a:endParaRPr lang="it-IT"/>
          </a:p>
        </p:txBody>
      </p:sp>
      <p:sp>
        <p:nvSpPr>
          <p:cNvPr id="30" name="Rettangolo 29">
            <a:extLst>
              <a:ext uri="{FF2B5EF4-FFF2-40B4-BE49-F238E27FC236}">
                <a16:creationId xmlns:a16="http://schemas.microsoft.com/office/drawing/2014/main" id="{9FA4F0A5-3312-4D65-952B-9A4883F78124}"/>
              </a:ext>
            </a:extLst>
          </p:cNvPr>
          <p:cNvSpPr>
            <a:spLocks noGrp="1"/>
          </p:cNvSpPr>
          <p:nvPr/>
        </p:nvSpPr>
        <p:spPr>
          <a:xfrm>
            <a:off x="5562600" y="5800725"/>
            <a:ext cx="5715000" cy="228600"/>
          </a:xfrm>
          <a:prstGeom prst="rect">
            <a:avLst/>
          </a:prstGeom>
          <a:noFill/>
          <a:ln w="0">
            <a:noFill/>
            <a:prstDash val="solid"/>
          </a:ln>
        </p:spPr>
        <p:txBody>
          <a:bodyPr wrap="square" lIns="0" tIns="0" rIns="0" bIns="0" anchor="t">
            <a:noAutofit/>
          </a:bodyPr>
          <a:lstStyle/>
          <a:p>
            <a:pPr algn="ctr">
              <a:buNone/>
              <a:defRPr sz="1350" b="1">
                <a:solidFill>
                  <a:srgbClr val="233A70"/>
                </a:solidFill>
                <a:latin typeface="Arial"/>
                <a:ea typeface="Arial"/>
                <a:cs typeface="Arial"/>
              </a:defRPr>
            </a:pPr>
            <a:r>
              <a:rPr sz="1350" b="1">
                <a:solidFill>
                  <a:srgbClr val="233A70"/>
                </a:solidFill>
                <a:latin typeface="Arial"/>
                <a:ea typeface="Arial"/>
                <a:cs typeface="Arial"/>
              </a:rPr>
              <a:t>Protocol-specific assessment—not certification or universal ranking.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TotalTime>
  <Words>231</Words>
  <Application>Microsoft Office PowerPoint</Application>
  <PresentationFormat>Widescreen</PresentationFormat>
  <Paragraphs>109</Paragraphs>
  <Slides>8</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8</vt:i4>
      </vt:variant>
    </vt:vector>
  </HeadingPairs>
  <TitlesOfParts>
    <vt:vector size="13" baseType="lpstr">
      <vt:lpstr>Arial</vt:lpstr>
      <vt:lpstr>Calibri</vt:lpstr>
      <vt:lpstr>Carlito</vt:lpstr>
      <vt:lpstr>DejaVu Sans</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the Robustness of AI-Based Forensic Tools under Adversarial and Anti-Forensic Attacks</dc:title>
  <dc:subject>Editable PowerPoint reconstruction from thesis presentation PDF</dc:subject>
  <dc:creator>Lello Molinario</dc:creator>
  <cp:keywords/>
  <dc:description>generated using python-pptx</dc:description>
  <cp:lastModifiedBy>Lello Molinario</cp:lastModifiedBy>
  <cp:revision>2</cp:revision>
  <dcterms:created xsi:type="dcterms:W3CDTF">2013-01-27T09:14:16Z</dcterms:created>
  <dcterms:modified xsi:type="dcterms:W3CDTF">2026-09-04T10:45:22Z</dcterms:modified>
  <cp:category/>
</cp:coreProperties>
</file>