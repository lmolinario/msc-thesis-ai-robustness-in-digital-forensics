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as an evaluation of AI-based forensic tools under realistic stressors. Emphasize that the goal is operational robustness, not theoretical attack optimization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image classification is useful in forensic triage because analysts cannot manually inspect every file immediately. However, if classification is wrong, relevant evidence may be missed or irrelevant material may be prioritized.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that the problem is not only whether a classifier has high clean accuracy, but whether it remains dependable when the input distribution changes or when images are manipulated.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scientific contribution: the framework allows different systems to be evaluated under the same conditions while preserving traceability.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proxy models allow controlled adversarial testing and metric extraction, while commercial tools represent realistic forensic environments with limited internal visibility.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 OOD branch is not attacked. It is used to understand how tools behave when they see images outside the binary weapon/non-weapon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importance of output normalization. Commercial tools may use different labels and confidence formats, so results must be mapped conservatively before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distinction: adversarial attacks are model-oriented perturbations, while anti-forensic transformations are practical manipulations that may occur in real-world evidence handling or deliberate evasion.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in forensic triage, false negatives on relevant images and high-confidence errors are especially important because they can affect prioritization and analyst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EfficientNet-B0 is used as a primary proxy target for adversarial perturbations, while ResNet18 and CLIP provide complementary model behaviors.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black-box evaluation is realistic because forensic practitioners usually cannot inspect model internals. This makes traceability and conservative mapping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thesis translates technical metrics into operational interpretation. This is important for forensic use because tools support analysts, but should not be treated as infallible evidence 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cautious phrasing. Do not claim universal conclusions. Frame the findings as evidence from a controlled experimental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these limitations are expected in a forensic black-box evaluation. They also motivate the need for periodic re-testing and transparent validation protocols.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the work to forensic practice. The final message is that AI can support analysts, but its outputs must be validated, traceable, and interpreted under known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metric-related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why OOD was not attacked.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why proxy models are included alongside commercial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02920" y="6473952"/>
            <a:ext cx="11155680" cy="0"/>
          </a:xfrm>
          <a:prstGeom prst="line">
            <a:avLst/>
          </a:prstGeom>
          <a:noFill/>
          <a:ln w="8890">
            <a:solidFill>
              <a:srgbClr val="D6DEE8"/>
            </a:solidFill>
            <a:prstDash val="solid"/>
          </a:ln>
        </p:spPr>
      </p:sp>
      <p:sp>
        <p:nvSpPr>
          <p:cNvPr id="3" name="Text 1"/>
          <p:cNvSpPr/>
          <p:nvPr/>
        </p:nvSpPr>
        <p:spPr>
          <a:xfrm>
            <a:off x="566928" y="6547104"/>
            <a:ext cx="7132320" cy="164592"/>
          </a:xfrm>
          <a:prstGeom prst="rect">
            <a:avLst/>
          </a:prstGeom>
          <a:noFill/>
          <a:ln/>
        </p:spPr>
        <p:txBody>
          <a:bodyPr wrap="square" lIns="0" tIns="0" rIns="0" bIns="0" rtlCol="0" anchor="ctr"/>
          <a:lstStyle/>
          <a:p>
            <a:pPr indent="0" marL="0">
              <a:buNone/>
            </a:pPr>
            <a:r>
              <a:rPr lang="en-US" sz="660" dirty="0">
                <a:solidFill>
                  <a:srgbClr val="64748B"/>
                </a:solidFill>
                <a:latin typeface="Aptos" pitchFamily="34" charset="0"/>
                <a:ea typeface="Aptos" pitchFamily="34" charset="-122"/>
                <a:cs typeface="Aptos" pitchFamily="34" charset="-120"/>
              </a:rPr>
              <a:t>Evaluating the Robustness of AI-Based Forensic Tools</a:t>
            </a:r>
            <a:endParaRPr lang="en-US" sz="66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640080" y="411480"/>
            <a:ext cx="10927080" cy="1261872"/>
          </a:xfrm>
          <a:prstGeom prst="rect">
            <a:avLst/>
          </a:prstGeom>
          <a:noFill/>
          <a:ln/>
        </p:spPr>
        <p:txBody>
          <a:bodyPr wrap="square" lIns="0" tIns="0" rIns="0" bIns="0" rtlCol="0" anchor="ctr">
            <a:normAutofit/>
          </a:bodyPr>
          <a:lstStyle/>
          <a:p>
            <a:pPr algn="ctr" indent="0" marL="0">
              <a:buNone/>
            </a:pPr>
            <a:r>
              <a:rPr lang="en-US" sz="2800" b="1" dirty="0">
                <a:solidFill>
                  <a:srgbClr val="071B4D"/>
                </a:solidFill>
                <a:latin typeface="Aptos Display" pitchFamily="34" charset="0"/>
                <a:ea typeface="Aptos Display" pitchFamily="34" charset="-122"/>
                <a:cs typeface="Aptos Display" pitchFamily="34" charset="-120"/>
              </a:rPr>
              <a:t>Evaluating the Robustness of</a:t>
            </a:r>
            <a:endParaRPr lang="en-US" sz="2800" dirty="0"/>
          </a:p>
          <a:p>
            <a:pPr algn="ctr" indent="0" marL="0">
              <a:buNone/>
            </a:pPr>
            <a:r>
              <a:rPr lang="en-US" sz="2800" b="1" dirty="0">
                <a:solidFill>
                  <a:srgbClr val="071B4D"/>
                </a:solidFill>
                <a:latin typeface="Aptos Display" pitchFamily="34" charset="0"/>
                <a:ea typeface="Aptos Display" pitchFamily="34" charset="-122"/>
                <a:cs typeface="Aptos Display" pitchFamily="34" charset="-120"/>
              </a:rPr>
              <a:t>AI-Based Forensic Tools under</a:t>
            </a:r>
            <a:endParaRPr lang="en-US" sz="2800" dirty="0"/>
          </a:p>
          <a:p>
            <a:pPr algn="ctr" indent="0" marL="0">
              <a:buNone/>
            </a:pPr>
            <a:r>
              <a:rPr lang="en-US" sz="2800" b="1" dirty="0">
                <a:solidFill>
                  <a:srgbClr val="071B4D"/>
                </a:solidFill>
                <a:latin typeface="Aptos Display" pitchFamily="34" charset="0"/>
                <a:ea typeface="Aptos Display" pitchFamily="34" charset="-122"/>
                <a:cs typeface="Aptos Display" pitchFamily="34" charset="-120"/>
              </a:rPr>
              <a:t>Adversarial and Anti-Forensic Attacks</a:t>
            </a:r>
            <a:endParaRPr lang="en-US" sz="2800" dirty="0"/>
          </a:p>
        </p:txBody>
      </p:sp>
      <p:sp>
        <p:nvSpPr>
          <p:cNvPr id="6" name="Shape 4"/>
          <p:cNvSpPr/>
          <p:nvPr/>
        </p:nvSpPr>
        <p:spPr>
          <a:xfrm>
            <a:off x="4709160" y="1874520"/>
            <a:ext cx="1143000" cy="0"/>
          </a:xfrm>
          <a:prstGeom prst="line">
            <a:avLst/>
          </a:prstGeom>
          <a:noFill/>
          <a:ln w="25400">
            <a:solidFill>
              <a:srgbClr val="18B8C7"/>
            </a:solidFill>
            <a:prstDash val="solid"/>
          </a:ln>
        </p:spPr>
      </p:sp>
      <p:sp>
        <p:nvSpPr>
          <p:cNvPr id="7" name="Shape 5"/>
          <p:cNvSpPr/>
          <p:nvPr/>
        </p:nvSpPr>
        <p:spPr>
          <a:xfrm>
            <a:off x="5989320" y="1874520"/>
            <a:ext cx="1143000" cy="0"/>
          </a:xfrm>
          <a:prstGeom prst="line">
            <a:avLst/>
          </a:prstGeom>
          <a:noFill/>
          <a:ln w="25400">
            <a:solidFill>
              <a:srgbClr val="F26419"/>
            </a:solidFill>
            <a:prstDash val="solid"/>
          </a:ln>
        </p:spPr>
      </p:sp>
      <p:sp>
        <p:nvSpPr>
          <p:cNvPr id="8" name="Text 6"/>
          <p:cNvSpPr/>
          <p:nvPr/>
        </p:nvSpPr>
        <p:spPr>
          <a:xfrm>
            <a:off x="1325880" y="2057400"/>
            <a:ext cx="9509760" cy="530352"/>
          </a:xfrm>
          <a:prstGeom prst="rect">
            <a:avLst/>
          </a:prstGeom>
          <a:noFill/>
          <a:ln/>
        </p:spPr>
        <p:txBody>
          <a:bodyPr wrap="square" lIns="0" tIns="0" rIns="0" bIns="0" rtlCol="0" anchor="ctr">
            <a:normAutofit/>
          </a:bodyPr>
          <a:lstStyle/>
          <a:p>
            <a:pPr algn="ctr" indent="0" marL="0">
              <a:buNone/>
            </a:pPr>
            <a:r>
              <a:rPr lang="en-US" sz="1500" dirty="0">
                <a:solidFill>
                  <a:srgbClr val="0E8A8A"/>
                </a:solidFill>
              </a:rPr>
              <a:t>Master’s Degree in Computer Engineering, Cybersecurity and Artificial Intelligence</a:t>
            </a:r>
            <a:endParaRPr lang="en-US" sz="1500" dirty="0"/>
          </a:p>
          <a:p>
            <a:pPr algn="ctr" indent="0" marL="0">
              <a:buNone/>
            </a:pPr>
            <a:r>
              <a:rPr lang="en-US" sz="1500" dirty="0">
                <a:solidFill>
                  <a:srgbClr val="0E8A8A"/>
                </a:solidFill>
              </a:rPr>
              <a:t>University of Cagliari</a:t>
            </a:r>
            <a:endParaRPr lang="en-US" sz="1500" dirty="0"/>
          </a:p>
        </p:txBody>
      </p:sp>
      <p:sp>
        <p:nvSpPr>
          <p:cNvPr id="9" name="Shape 7"/>
          <p:cNvSpPr/>
          <p:nvPr/>
        </p:nvSpPr>
        <p:spPr>
          <a:xfrm>
            <a:off x="594360" y="2880360"/>
            <a:ext cx="4983480" cy="2423160"/>
          </a:xfrm>
          <a:prstGeom prst="roundRect">
            <a:avLst>
              <a:gd name="adj" fmla="val 3019"/>
            </a:avLst>
          </a:prstGeom>
          <a:solidFill>
            <a:srgbClr val="FFFFFF"/>
          </a:solidFill>
          <a:ln w="12700">
            <a:solidFill>
              <a:srgbClr val="BCD7E8"/>
            </a:solidFill>
            <a:prstDash val="solid"/>
          </a:ln>
        </p:spPr>
      </p:sp>
      <p:sp>
        <p:nvSpPr>
          <p:cNvPr id="10" name="Shape 8"/>
          <p:cNvSpPr/>
          <p:nvPr/>
        </p:nvSpPr>
        <p:spPr>
          <a:xfrm>
            <a:off x="822960" y="2788920"/>
            <a:ext cx="1737360" cy="320040"/>
          </a:xfrm>
          <a:prstGeom prst="roundRect">
            <a:avLst>
              <a:gd name="adj" fmla="val 22857"/>
            </a:avLst>
          </a:prstGeom>
          <a:solidFill>
            <a:srgbClr val="0B2A5B"/>
          </a:solidFill>
          <a:ln w="12700">
            <a:solidFill>
              <a:srgbClr val="0B2A5B"/>
            </a:solidFill>
            <a:prstDash val="solid"/>
          </a:ln>
        </p:spPr>
      </p:sp>
      <p:sp>
        <p:nvSpPr>
          <p:cNvPr id="11" name="Text 9"/>
          <p:cNvSpPr/>
          <p:nvPr/>
        </p:nvSpPr>
        <p:spPr>
          <a:xfrm>
            <a:off x="896112" y="2820924"/>
            <a:ext cx="1591056" cy="26517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DIGITAL FORENSICS</a:t>
            </a:r>
            <a:endParaRPr lang="en-US" sz="900" dirty="0"/>
          </a:p>
        </p:txBody>
      </p:sp>
      <p:sp>
        <p:nvSpPr>
          <p:cNvPr id="12" name="Shape 10"/>
          <p:cNvSpPr/>
          <p:nvPr/>
        </p:nvSpPr>
        <p:spPr>
          <a:xfrm>
            <a:off x="868680" y="3246120"/>
            <a:ext cx="914400" cy="658368"/>
          </a:xfrm>
          <a:prstGeom prst="roundRect">
            <a:avLst>
              <a:gd name="adj" fmla="val 11111"/>
            </a:avLst>
          </a:prstGeom>
          <a:solidFill>
            <a:srgbClr val="F1F5F9"/>
          </a:solidFill>
          <a:ln w="12700">
            <a:solidFill>
              <a:srgbClr val="E2E8F0"/>
            </a:solidFill>
            <a:prstDash val="solid"/>
          </a:ln>
        </p:spPr>
      </p:sp>
      <p:sp>
        <p:nvSpPr>
          <p:cNvPr id="13" name="Shape 11"/>
          <p:cNvSpPr/>
          <p:nvPr/>
        </p:nvSpPr>
        <p:spPr>
          <a:xfrm>
            <a:off x="1956816" y="3246120"/>
            <a:ext cx="914400" cy="658368"/>
          </a:xfrm>
          <a:prstGeom prst="roundRect">
            <a:avLst>
              <a:gd name="adj" fmla="val 11111"/>
            </a:avLst>
          </a:prstGeom>
          <a:solidFill>
            <a:srgbClr val="EEF5FF"/>
          </a:solidFill>
          <a:ln w="12700">
            <a:solidFill>
              <a:srgbClr val="E2E8F0"/>
            </a:solidFill>
            <a:prstDash val="solid"/>
          </a:ln>
        </p:spPr>
      </p:sp>
      <p:sp>
        <p:nvSpPr>
          <p:cNvPr id="14" name="Shape 12"/>
          <p:cNvSpPr/>
          <p:nvPr/>
        </p:nvSpPr>
        <p:spPr>
          <a:xfrm>
            <a:off x="3044952" y="3246120"/>
            <a:ext cx="914400" cy="658368"/>
          </a:xfrm>
          <a:prstGeom prst="roundRect">
            <a:avLst>
              <a:gd name="adj" fmla="val 11111"/>
            </a:avLst>
          </a:prstGeom>
          <a:solidFill>
            <a:srgbClr val="F1F5F9"/>
          </a:solidFill>
          <a:ln w="12700">
            <a:solidFill>
              <a:srgbClr val="E2E8F0"/>
            </a:solidFill>
            <a:prstDash val="solid"/>
          </a:ln>
        </p:spPr>
      </p:sp>
      <p:sp>
        <p:nvSpPr>
          <p:cNvPr id="15" name="Shape 13"/>
          <p:cNvSpPr/>
          <p:nvPr/>
        </p:nvSpPr>
        <p:spPr>
          <a:xfrm>
            <a:off x="4133088" y="3246120"/>
            <a:ext cx="914400" cy="658368"/>
          </a:xfrm>
          <a:prstGeom prst="roundRect">
            <a:avLst>
              <a:gd name="adj" fmla="val 11111"/>
            </a:avLst>
          </a:prstGeom>
          <a:solidFill>
            <a:srgbClr val="EEF5FF"/>
          </a:solidFill>
          <a:ln w="12700">
            <a:solidFill>
              <a:srgbClr val="E2E8F0"/>
            </a:solidFill>
            <a:prstDash val="solid"/>
          </a:ln>
        </p:spPr>
      </p:sp>
      <p:sp>
        <p:nvSpPr>
          <p:cNvPr id="16" name="Text 14"/>
          <p:cNvSpPr/>
          <p:nvPr/>
        </p:nvSpPr>
        <p:spPr>
          <a:xfrm>
            <a:off x="960120" y="3346704"/>
            <a:ext cx="914400" cy="493776"/>
          </a:xfrm>
          <a:prstGeom prst="rect">
            <a:avLst/>
          </a:prstGeom>
          <a:noFill/>
          <a:ln/>
        </p:spPr>
        <p:txBody>
          <a:bodyPr wrap="square" lIns="0" tIns="0" rIns="0" bIns="0" rtlCol="0" anchor="ctr">
            <a:normAutofit/>
          </a:bodyPr>
          <a:lstStyle/>
          <a:p>
            <a:pPr algn="ctr" indent="0" marL="0">
              <a:buNone/>
            </a:pPr>
            <a:r>
              <a:rPr lang="en-US" sz="720" dirty="0">
                <a:solidFill>
                  <a:srgbClr val="071B4D"/>
                </a:solidFill>
              </a:rPr>
              <a:t>evidence bundle</a:t>
            </a:r>
            <a:endParaRPr lang="en-US" sz="720" dirty="0"/>
          </a:p>
          <a:p>
            <a:pPr algn="ctr" indent="0" marL="0">
              <a:buNone/>
            </a:pPr>
            <a:r>
              <a:rPr lang="en-US" sz="720" dirty="0">
                <a:solidFill>
                  <a:srgbClr val="071B4D"/>
                </a:solidFill>
              </a:rPr>
              <a:t>metadata</a:t>
            </a:r>
            <a:endParaRPr lang="en-US" sz="720" dirty="0"/>
          </a:p>
          <a:p>
            <a:pPr algn="ctr" indent="0" marL="0">
              <a:buNone/>
            </a:pPr>
            <a:r>
              <a:rPr lang="en-US" sz="720" dirty="0">
                <a:solidFill>
                  <a:srgbClr val="071B4D"/>
                </a:solidFill>
              </a:rPr>
              <a:t>hashes</a:t>
            </a:r>
            <a:endParaRPr lang="en-US" sz="720" dirty="0"/>
          </a:p>
          <a:p>
            <a:pPr algn="ctr" indent="0" marL="0">
              <a:buNone/>
            </a:pPr>
            <a:r>
              <a:rPr lang="en-US" sz="720" dirty="0">
                <a:solidFill>
                  <a:srgbClr val="071B4D"/>
                </a:solidFill>
              </a:rPr>
              <a:t>reports</a:t>
            </a:r>
            <a:endParaRPr lang="en-US" sz="720" dirty="0"/>
          </a:p>
        </p:txBody>
      </p:sp>
      <p:sp>
        <p:nvSpPr>
          <p:cNvPr id="17" name="Text 15"/>
          <p:cNvSpPr/>
          <p:nvPr/>
        </p:nvSpPr>
        <p:spPr>
          <a:xfrm>
            <a:off x="2039112" y="3346704"/>
            <a:ext cx="914400" cy="493776"/>
          </a:xfrm>
          <a:prstGeom prst="rect">
            <a:avLst/>
          </a:prstGeom>
          <a:noFill/>
          <a:ln/>
        </p:spPr>
        <p:txBody>
          <a:bodyPr wrap="square" lIns="0" tIns="0" rIns="0" bIns="0" rtlCol="0" anchor="ctr">
            <a:normAutofit/>
          </a:bodyPr>
          <a:lstStyle/>
          <a:p>
            <a:pPr algn="ctr" indent="0" marL="0">
              <a:buNone/>
            </a:pPr>
            <a:r>
              <a:rPr lang="en-US" sz="720" dirty="0">
                <a:solidFill>
                  <a:srgbClr val="071B4D"/>
                </a:solidFill>
              </a:rPr>
              <a:t>images</a:t>
            </a:r>
            <a:endParaRPr lang="en-US" sz="720" dirty="0"/>
          </a:p>
          <a:p>
            <a:pPr algn="ctr" indent="0" marL="0">
              <a:buNone/>
            </a:pPr>
            <a:r>
              <a:rPr lang="en-US" sz="720" dirty="0">
                <a:solidFill>
                  <a:srgbClr val="071B4D"/>
                </a:solidFill>
              </a:rPr>
              <a:t>labels</a:t>
            </a:r>
            <a:endParaRPr lang="en-US" sz="720" dirty="0"/>
          </a:p>
          <a:p>
            <a:pPr algn="ctr" indent="0" marL="0">
              <a:buNone/>
            </a:pPr>
            <a:r>
              <a:rPr lang="en-US" sz="720" dirty="0">
                <a:solidFill>
                  <a:srgbClr val="071B4D"/>
                </a:solidFill>
              </a:rPr>
              <a:t>splits</a:t>
            </a:r>
            <a:endParaRPr lang="en-US" sz="720" dirty="0"/>
          </a:p>
        </p:txBody>
      </p:sp>
      <p:sp>
        <p:nvSpPr>
          <p:cNvPr id="18" name="Text 16"/>
          <p:cNvSpPr/>
          <p:nvPr/>
        </p:nvSpPr>
        <p:spPr>
          <a:xfrm>
            <a:off x="3127248" y="3346704"/>
            <a:ext cx="914400" cy="493776"/>
          </a:xfrm>
          <a:prstGeom prst="rect">
            <a:avLst/>
          </a:prstGeom>
          <a:noFill/>
          <a:ln/>
        </p:spPr>
        <p:txBody>
          <a:bodyPr wrap="square" lIns="0" tIns="0" rIns="0" bIns="0" rtlCol="0" anchor="ctr">
            <a:normAutofit/>
          </a:bodyPr>
          <a:lstStyle/>
          <a:p>
            <a:pPr algn="ctr" indent="0" marL="0">
              <a:buNone/>
            </a:pPr>
            <a:r>
              <a:rPr lang="en-US" sz="720" dirty="0">
                <a:solidFill>
                  <a:srgbClr val="071B4D"/>
                </a:solidFill>
              </a:rPr>
              <a:t>logs</a:t>
            </a:r>
            <a:endParaRPr lang="en-US" sz="720" dirty="0"/>
          </a:p>
          <a:p>
            <a:pPr algn="ctr" indent="0" marL="0">
              <a:buNone/>
            </a:pPr>
            <a:r>
              <a:rPr lang="en-US" sz="720" dirty="0">
                <a:solidFill>
                  <a:srgbClr val="071B4D"/>
                </a:solidFill>
              </a:rPr>
              <a:t>versions</a:t>
            </a:r>
            <a:endParaRPr lang="en-US" sz="720" dirty="0"/>
          </a:p>
          <a:p>
            <a:pPr algn="ctr" indent="0" marL="0">
              <a:buNone/>
            </a:pPr>
            <a:r>
              <a:rPr lang="en-US" sz="720" dirty="0">
                <a:solidFill>
                  <a:srgbClr val="071B4D"/>
                </a:solidFill>
              </a:rPr>
              <a:t>scripts</a:t>
            </a:r>
            <a:endParaRPr lang="en-US" sz="720" dirty="0"/>
          </a:p>
        </p:txBody>
      </p:sp>
      <p:sp>
        <p:nvSpPr>
          <p:cNvPr id="19" name="Text 17"/>
          <p:cNvSpPr/>
          <p:nvPr/>
        </p:nvSpPr>
        <p:spPr>
          <a:xfrm>
            <a:off x="4206240" y="3346704"/>
            <a:ext cx="914400" cy="493776"/>
          </a:xfrm>
          <a:prstGeom prst="rect">
            <a:avLst/>
          </a:prstGeom>
          <a:noFill/>
          <a:ln/>
        </p:spPr>
        <p:txBody>
          <a:bodyPr wrap="square" lIns="0" tIns="0" rIns="0" bIns="0" rtlCol="0" anchor="ctr">
            <a:normAutofit/>
          </a:bodyPr>
          <a:lstStyle/>
          <a:p>
            <a:pPr algn="ctr" indent="0" marL="0">
              <a:buNone/>
            </a:pPr>
            <a:r>
              <a:rPr lang="en-US" sz="720" dirty="0">
                <a:solidFill>
                  <a:srgbClr val="071B4D"/>
                </a:solidFill>
              </a:rPr>
              <a:t>normalized</a:t>
            </a:r>
            <a:endParaRPr lang="en-US" sz="720" dirty="0"/>
          </a:p>
          <a:p>
            <a:pPr algn="ctr" indent="0" marL="0">
              <a:buNone/>
            </a:pPr>
            <a:r>
              <a:rPr lang="en-US" sz="720" dirty="0">
                <a:solidFill>
                  <a:srgbClr val="071B4D"/>
                </a:solidFill>
              </a:rPr>
              <a:t>outputs</a:t>
            </a:r>
            <a:endParaRPr lang="en-US" sz="720" dirty="0"/>
          </a:p>
        </p:txBody>
      </p:sp>
      <p:sp>
        <p:nvSpPr>
          <p:cNvPr id="20" name="Shape 18"/>
          <p:cNvSpPr/>
          <p:nvPr/>
        </p:nvSpPr>
        <p:spPr>
          <a:xfrm>
            <a:off x="950976" y="4407408"/>
            <a:ext cx="347472" cy="347472"/>
          </a:xfrm>
          <a:prstGeom prst="ellipse">
            <a:avLst/>
          </a:prstGeom>
          <a:solidFill>
            <a:srgbClr val="071B4D"/>
          </a:solidFill>
          <a:ln w="12700">
            <a:solidFill>
              <a:srgbClr val="18B8C7"/>
            </a:solidFill>
            <a:prstDash val="solid"/>
          </a:ln>
        </p:spPr>
      </p:sp>
      <p:sp>
        <p:nvSpPr>
          <p:cNvPr id="21" name="Text 19"/>
          <p:cNvSpPr/>
          <p:nvPr/>
        </p:nvSpPr>
        <p:spPr>
          <a:xfrm>
            <a:off x="758952" y="4828032"/>
            <a:ext cx="731520" cy="164592"/>
          </a:xfrm>
          <a:prstGeom prst="rect">
            <a:avLst/>
          </a:prstGeom>
          <a:noFill/>
          <a:ln/>
        </p:spPr>
        <p:txBody>
          <a:bodyPr wrap="square" lIns="0" tIns="0" rIns="0" bIns="0" rtlCol="0" anchor="ctr">
            <a:normAutofit/>
          </a:bodyPr>
          <a:lstStyle/>
          <a:p>
            <a:pPr algn="ctr" indent="0" marL="0">
              <a:buNone/>
            </a:pPr>
            <a:r>
              <a:rPr lang="en-US" sz="670" dirty="0">
                <a:solidFill>
                  <a:srgbClr val="071B4D"/>
                </a:solidFill>
              </a:rPr>
              <a:t>Collection</a:t>
            </a:r>
            <a:endParaRPr lang="en-US" sz="670" dirty="0"/>
          </a:p>
        </p:txBody>
      </p:sp>
      <p:sp>
        <p:nvSpPr>
          <p:cNvPr id="22" name="Shape 20"/>
          <p:cNvSpPr/>
          <p:nvPr/>
        </p:nvSpPr>
        <p:spPr>
          <a:xfrm>
            <a:off x="1298448" y="4581144"/>
            <a:ext cx="402336" cy="0"/>
          </a:xfrm>
          <a:prstGeom prst="line">
            <a:avLst/>
          </a:prstGeom>
          <a:noFill/>
          <a:ln w="17780">
            <a:solidFill>
              <a:srgbClr val="18B8C7"/>
            </a:solidFill>
            <a:prstDash val="solid"/>
            <a:headEnd type="none"/>
            <a:tailEnd type="triangle"/>
          </a:ln>
        </p:spPr>
      </p:sp>
      <p:sp>
        <p:nvSpPr>
          <p:cNvPr id="23" name="Shape 21"/>
          <p:cNvSpPr/>
          <p:nvPr/>
        </p:nvSpPr>
        <p:spPr>
          <a:xfrm>
            <a:off x="1956816" y="4407408"/>
            <a:ext cx="347472" cy="347472"/>
          </a:xfrm>
          <a:prstGeom prst="ellipse">
            <a:avLst/>
          </a:prstGeom>
          <a:solidFill>
            <a:srgbClr val="071B4D"/>
          </a:solidFill>
          <a:ln w="12700">
            <a:solidFill>
              <a:srgbClr val="18B8C7"/>
            </a:solidFill>
            <a:prstDash val="solid"/>
          </a:ln>
        </p:spPr>
      </p:sp>
      <p:sp>
        <p:nvSpPr>
          <p:cNvPr id="24" name="Text 22"/>
          <p:cNvSpPr/>
          <p:nvPr/>
        </p:nvSpPr>
        <p:spPr>
          <a:xfrm>
            <a:off x="1764792" y="4828032"/>
            <a:ext cx="731520" cy="164592"/>
          </a:xfrm>
          <a:prstGeom prst="rect">
            <a:avLst/>
          </a:prstGeom>
          <a:noFill/>
          <a:ln/>
        </p:spPr>
        <p:txBody>
          <a:bodyPr wrap="square" lIns="0" tIns="0" rIns="0" bIns="0" rtlCol="0" anchor="ctr">
            <a:normAutofit/>
          </a:bodyPr>
          <a:lstStyle/>
          <a:p>
            <a:pPr algn="ctr" indent="0" marL="0">
              <a:buNone/>
            </a:pPr>
            <a:r>
              <a:rPr lang="en-US" sz="670" dirty="0">
                <a:solidFill>
                  <a:srgbClr val="071B4D"/>
                </a:solidFill>
              </a:rPr>
              <a:t>Examination</a:t>
            </a:r>
            <a:endParaRPr lang="en-US" sz="670" dirty="0"/>
          </a:p>
        </p:txBody>
      </p:sp>
      <p:sp>
        <p:nvSpPr>
          <p:cNvPr id="25" name="Shape 23"/>
          <p:cNvSpPr/>
          <p:nvPr/>
        </p:nvSpPr>
        <p:spPr>
          <a:xfrm>
            <a:off x="2304288" y="4581144"/>
            <a:ext cx="402336" cy="0"/>
          </a:xfrm>
          <a:prstGeom prst="line">
            <a:avLst/>
          </a:prstGeom>
          <a:noFill/>
          <a:ln w="17780">
            <a:solidFill>
              <a:srgbClr val="18B8C7"/>
            </a:solidFill>
            <a:prstDash val="solid"/>
            <a:headEnd type="none"/>
            <a:tailEnd type="triangle"/>
          </a:ln>
        </p:spPr>
      </p:sp>
      <p:sp>
        <p:nvSpPr>
          <p:cNvPr id="26" name="Shape 24"/>
          <p:cNvSpPr/>
          <p:nvPr/>
        </p:nvSpPr>
        <p:spPr>
          <a:xfrm>
            <a:off x="2962656" y="4407408"/>
            <a:ext cx="347472" cy="347472"/>
          </a:xfrm>
          <a:prstGeom prst="ellipse">
            <a:avLst/>
          </a:prstGeom>
          <a:solidFill>
            <a:srgbClr val="071B4D"/>
          </a:solidFill>
          <a:ln w="12700">
            <a:solidFill>
              <a:srgbClr val="18B8C7"/>
            </a:solidFill>
            <a:prstDash val="solid"/>
          </a:ln>
        </p:spPr>
      </p:sp>
      <p:sp>
        <p:nvSpPr>
          <p:cNvPr id="27" name="Text 25"/>
          <p:cNvSpPr/>
          <p:nvPr/>
        </p:nvSpPr>
        <p:spPr>
          <a:xfrm>
            <a:off x="2770632" y="4828032"/>
            <a:ext cx="731520" cy="164592"/>
          </a:xfrm>
          <a:prstGeom prst="rect">
            <a:avLst/>
          </a:prstGeom>
          <a:noFill/>
          <a:ln/>
        </p:spPr>
        <p:txBody>
          <a:bodyPr wrap="square" lIns="0" tIns="0" rIns="0" bIns="0" rtlCol="0" anchor="ctr">
            <a:normAutofit/>
          </a:bodyPr>
          <a:lstStyle/>
          <a:p>
            <a:pPr algn="ctr" indent="0" marL="0">
              <a:buNone/>
            </a:pPr>
            <a:r>
              <a:rPr lang="en-US" sz="670" dirty="0">
                <a:solidFill>
                  <a:srgbClr val="071B4D"/>
                </a:solidFill>
              </a:rPr>
              <a:t>Analysis</a:t>
            </a:r>
            <a:endParaRPr lang="en-US" sz="670" dirty="0"/>
          </a:p>
        </p:txBody>
      </p:sp>
      <p:sp>
        <p:nvSpPr>
          <p:cNvPr id="28" name="Shape 26"/>
          <p:cNvSpPr/>
          <p:nvPr/>
        </p:nvSpPr>
        <p:spPr>
          <a:xfrm>
            <a:off x="3310128" y="4581144"/>
            <a:ext cx="402336" cy="0"/>
          </a:xfrm>
          <a:prstGeom prst="line">
            <a:avLst/>
          </a:prstGeom>
          <a:noFill/>
          <a:ln w="17780">
            <a:solidFill>
              <a:srgbClr val="18B8C7"/>
            </a:solidFill>
            <a:prstDash val="solid"/>
            <a:headEnd type="none"/>
            <a:tailEnd type="triangle"/>
          </a:ln>
        </p:spPr>
      </p:sp>
      <p:sp>
        <p:nvSpPr>
          <p:cNvPr id="29" name="Shape 27"/>
          <p:cNvSpPr/>
          <p:nvPr/>
        </p:nvSpPr>
        <p:spPr>
          <a:xfrm>
            <a:off x="3968496" y="4407408"/>
            <a:ext cx="347472" cy="347472"/>
          </a:xfrm>
          <a:prstGeom prst="ellipse">
            <a:avLst/>
          </a:prstGeom>
          <a:solidFill>
            <a:srgbClr val="071B4D"/>
          </a:solidFill>
          <a:ln w="12700">
            <a:solidFill>
              <a:srgbClr val="18B8C7"/>
            </a:solidFill>
            <a:prstDash val="solid"/>
          </a:ln>
        </p:spPr>
      </p:sp>
      <p:sp>
        <p:nvSpPr>
          <p:cNvPr id="30" name="Text 28"/>
          <p:cNvSpPr/>
          <p:nvPr/>
        </p:nvSpPr>
        <p:spPr>
          <a:xfrm>
            <a:off x="3776472" y="4828032"/>
            <a:ext cx="731520" cy="164592"/>
          </a:xfrm>
          <a:prstGeom prst="rect">
            <a:avLst/>
          </a:prstGeom>
          <a:noFill/>
          <a:ln/>
        </p:spPr>
        <p:txBody>
          <a:bodyPr wrap="square" lIns="0" tIns="0" rIns="0" bIns="0" rtlCol="0" anchor="ctr">
            <a:normAutofit/>
          </a:bodyPr>
          <a:lstStyle/>
          <a:p>
            <a:pPr algn="ctr" indent="0" marL="0">
              <a:buNone/>
            </a:pPr>
            <a:r>
              <a:rPr lang="en-US" sz="670" dirty="0">
                <a:solidFill>
                  <a:srgbClr val="071B4D"/>
                </a:solidFill>
              </a:rPr>
              <a:t>Reporting</a:t>
            </a:r>
            <a:endParaRPr lang="en-US" sz="670" dirty="0"/>
          </a:p>
        </p:txBody>
      </p:sp>
      <p:sp>
        <p:nvSpPr>
          <p:cNvPr id="31" name="Text 29"/>
          <p:cNvSpPr/>
          <p:nvPr/>
        </p:nvSpPr>
        <p:spPr>
          <a:xfrm>
            <a:off x="2176272" y="5148072"/>
            <a:ext cx="1737360" cy="164592"/>
          </a:xfrm>
          <a:prstGeom prst="rect">
            <a:avLst/>
          </a:prstGeom>
          <a:noFill/>
          <a:ln/>
        </p:spPr>
        <p:txBody>
          <a:bodyPr wrap="square" lIns="0" tIns="0" rIns="0" bIns="0" rtlCol="0" anchor="ctr"/>
          <a:lstStyle/>
          <a:p>
            <a:pPr algn="ctr" indent="0" marL="0">
              <a:buNone/>
            </a:pPr>
            <a:r>
              <a:rPr lang="en-US" sz="800" b="1" dirty="0">
                <a:solidFill>
                  <a:srgbClr val="0E8A8A"/>
                </a:solidFill>
              </a:rPr>
              <a:t>TRACEABILITY</a:t>
            </a:r>
            <a:endParaRPr lang="en-US" sz="800" dirty="0"/>
          </a:p>
        </p:txBody>
      </p:sp>
      <p:sp>
        <p:nvSpPr>
          <p:cNvPr id="32" name="Shape 30"/>
          <p:cNvSpPr/>
          <p:nvPr/>
        </p:nvSpPr>
        <p:spPr>
          <a:xfrm>
            <a:off x="5715000" y="3246120"/>
            <a:ext cx="777240" cy="960120"/>
          </a:xfrm>
          <a:prstGeom prst="hexagon">
            <a:avLst/>
          </a:prstGeom>
          <a:solidFill>
            <a:srgbClr val="071B4D"/>
          </a:solidFill>
          <a:ln w="15240">
            <a:solidFill>
              <a:srgbClr val="18B8C7"/>
            </a:solidFill>
            <a:prstDash val="solid"/>
          </a:ln>
        </p:spPr>
      </p:sp>
      <p:sp>
        <p:nvSpPr>
          <p:cNvPr id="33" name="Text 31"/>
          <p:cNvSpPr/>
          <p:nvPr/>
        </p:nvSpPr>
        <p:spPr>
          <a:xfrm>
            <a:off x="5797296" y="3429000"/>
            <a:ext cx="603504" cy="47548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rPr>
              <a:t>AI</a:t>
            </a:r>
            <a:endParaRPr lang="en-US" sz="1200" dirty="0"/>
          </a:p>
          <a:p>
            <a:pPr algn="ctr" indent="0" marL="0">
              <a:buNone/>
            </a:pPr>
            <a:r>
              <a:rPr lang="en-US" sz="1200" b="1" dirty="0">
                <a:solidFill>
                  <a:srgbClr val="FFFFFF"/>
                </a:solidFill>
              </a:rPr>
              <a:t>+</a:t>
            </a:r>
            <a:endParaRPr lang="en-US" sz="1200" dirty="0"/>
          </a:p>
          <a:p>
            <a:pPr algn="ctr" indent="0" marL="0">
              <a:buNone/>
            </a:pPr>
            <a:r>
              <a:rPr lang="en-US" sz="1200" b="1" dirty="0">
                <a:solidFill>
                  <a:srgbClr val="FFFFFF"/>
                </a:solidFill>
              </a:rPr>
              <a:t>DF</a:t>
            </a:r>
            <a:endParaRPr lang="en-US" sz="1200" dirty="0"/>
          </a:p>
        </p:txBody>
      </p:sp>
      <p:sp>
        <p:nvSpPr>
          <p:cNvPr id="34" name="Shape 32"/>
          <p:cNvSpPr/>
          <p:nvPr/>
        </p:nvSpPr>
        <p:spPr>
          <a:xfrm>
            <a:off x="6126480" y="2670048"/>
            <a:ext cx="0" cy="2743200"/>
          </a:xfrm>
          <a:prstGeom prst="line">
            <a:avLst/>
          </a:prstGeom>
          <a:noFill/>
          <a:ln w="13970">
            <a:solidFill>
              <a:srgbClr val="0E8A8A"/>
            </a:solidFill>
            <a:prstDash val="solid"/>
          </a:ln>
        </p:spPr>
      </p:sp>
      <p:sp>
        <p:nvSpPr>
          <p:cNvPr id="35" name="Shape 33"/>
          <p:cNvSpPr/>
          <p:nvPr/>
        </p:nvSpPr>
        <p:spPr>
          <a:xfrm>
            <a:off x="6245352" y="2670048"/>
            <a:ext cx="0" cy="2743200"/>
          </a:xfrm>
          <a:prstGeom prst="line">
            <a:avLst/>
          </a:prstGeom>
          <a:noFill/>
          <a:ln w="13970">
            <a:solidFill>
              <a:srgbClr val="F26419"/>
            </a:solidFill>
            <a:prstDash val="solid"/>
          </a:ln>
        </p:spPr>
      </p:sp>
      <p:sp>
        <p:nvSpPr>
          <p:cNvPr id="36" name="Shape 34"/>
          <p:cNvSpPr/>
          <p:nvPr/>
        </p:nvSpPr>
        <p:spPr>
          <a:xfrm>
            <a:off x="6656832" y="2880360"/>
            <a:ext cx="4937760" cy="2423160"/>
          </a:xfrm>
          <a:prstGeom prst="roundRect">
            <a:avLst>
              <a:gd name="adj" fmla="val 3019"/>
            </a:avLst>
          </a:prstGeom>
          <a:solidFill>
            <a:srgbClr val="FFFFFF"/>
          </a:solidFill>
          <a:ln w="12700">
            <a:solidFill>
              <a:srgbClr val="FFD2B8"/>
            </a:solidFill>
            <a:prstDash val="solid"/>
          </a:ln>
        </p:spPr>
      </p:sp>
      <p:sp>
        <p:nvSpPr>
          <p:cNvPr id="37" name="Shape 35"/>
          <p:cNvSpPr/>
          <p:nvPr/>
        </p:nvSpPr>
        <p:spPr>
          <a:xfrm>
            <a:off x="6949440" y="2788920"/>
            <a:ext cx="2834640" cy="320040"/>
          </a:xfrm>
          <a:prstGeom prst="roundRect">
            <a:avLst>
              <a:gd name="adj" fmla="val 22857"/>
            </a:avLst>
          </a:prstGeom>
          <a:solidFill>
            <a:srgbClr val="0B2A5B"/>
          </a:solidFill>
          <a:ln w="12700">
            <a:solidFill>
              <a:srgbClr val="0B2A5B"/>
            </a:solidFill>
            <a:prstDash val="solid"/>
          </a:ln>
        </p:spPr>
      </p:sp>
      <p:sp>
        <p:nvSpPr>
          <p:cNvPr id="38" name="Text 36"/>
          <p:cNvSpPr/>
          <p:nvPr/>
        </p:nvSpPr>
        <p:spPr>
          <a:xfrm>
            <a:off x="7022592" y="2820924"/>
            <a:ext cx="2688336" cy="265176"/>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AI IMAGE CLASSIFICATION UNDER ATTACK</a:t>
            </a:r>
            <a:endParaRPr lang="en-US" sz="820" dirty="0"/>
          </a:p>
        </p:txBody>
      </p:sp>
      <p:sp>
        <p:nvSpPr>
          <p:cNvPr id="39" name="Shape 37"/>
          <p:cNvSpPr/>
          <p:nvPr/>
        </p:nvSpPr>
        <p:spPr>
          <a:xfrm>
            <a:off x="6967728" y="3273552"/>
            <a:ext cx="914400" cy="749808"/>
          </a:xfrm>
          <a:prstGeom prst="roundRect">
            <a:avLst>
              <a:gd name="adj" fmla="val 9756"/>
            </a:avLst>
          </a:prstGeom>
          <a:solidFill>
            <a:srgbClr val="EEF5FF"/>
          </a:solidFill>
          <a:ln w="12700">
            <a:solidFill>
              <a:srgbClr val="D6DEE8"/>
            </a:solidFill>
            <a:prstDash val="solid"/>
          </a:ln>
        </p:spPr>
      </p:sp>
      <p:sp>
        <p:nvSpPr>
          <p:cNvPr id="40" name="Text 38"/>
          <p:cNvSpPr/>
          <p:nvPr/>
        </p:nvSpPr>
        <p:spPr>
          <a:xfrm>
            <a:off x="7114032" y="3502152"/>
            <a:ext cx="640080" cy="228600"/>
          </a:xfrm>
          <a:prstGeom prst="rect">
            <a:avLst/>
          </a:prstGeom>
          <a:noFill/>
          <a:ln/>
        </p:spPr>
        <p:txBody>
          <a:bodyPr wrap="square" lIns="0" tIns="0" rIns="0" bIns="0" rtlCol="0" anchor="ctr"/>
          <a:lstStyle/>
          <a:p>
            <a:pPr algn="ctr" indent="0" marL="0">
              <a:buNone/>
            </a:pPr>
            <a:r>
              <a:rPr lang="en-US" sz="800" b="1" dirty="0">
                <a:solidFill>
                  <a:srgbClr val="071B4D"/>
                </a:solidFill>
              </a:rPr>
              <a:t>input</a:t>
            </a:r>
            <a:endParaRPr lang="en-US" sz="800" dirty="0"/>
          </a:p>
          <a:p>
            <a:pPr algn="ctr" indent="0" marL="0">
              <a:buNone/>
            </a:pPr>
            <a:r>
              <a:rPr lang="en-US" sz="800" b="1" dirty="0">
                <a:solidFill>
                  <a:srgbClr val="071B4D"/>
                </a:solidFill>
              </a:rPr>
              <a:t>image</a:t>
            </a:r>
            <a:endParaRPr lang="en-US" sz="800" dirty="0"/>
          </a:p>
        </p:txBody>
      </p:sp>
      <p:sp>
        <p:nvSpPr>
          <p:cNvPr id="41" name="Shape 39"/>
          <p:cNvSpPr/>
          <p:nvPr/>
        </p:nvSpPr>
        <p:spPr>
          <a:xfrm>
            <a:off x="7918704" y="3657600"/>
            <a:ext cx="420624" cy="0"/>
          </a:xfrm>
          <a:prstGeom prst="line">
            <a:avLst/>
          </a:prstGeom>
          <a:noFill/>
          <a:ln w="17780">
            <a:solidFill>
              <a:srgbClr val="071B4D"/>
            </a:solidFill>
            <a:prstDash val="solid"/>
            <a:headEnd type="none"/>
            <a:tailEnd type="triangle"/>
          </a:ln>
        </p:spPr>
      </p:sp>
      <p:sp>
        <p:nvSpPr>
          <p:cNvPr id="42" name="Text 40"/>
          <p:cNvSpPr/>
          <p:nvPr/>
        </p:nvSpPr>
        <p:spPr>
          <a:xfrm>
            <a:off x="8394192" y="3310128"/>
            <a:ext cx="868680" cy="512064"/>
          </a:xfrm>
          <a:prstGeom prst="rect">
            <a:avLst/>
          </a:prstGeom>
          <a:noFill/>
          <a:ln/>
        </p:spPr>
        <p:txBody>
          <a:bodyPr wrap="square" lIns="0" tIns="0" rIns="0" bIns="0" rtlCol="0" anchor="ctr"/>
          <a:lstStyle/>
          <a:p>
            <a:pPr algn="ctr" indent="0" marL="0">
              <a:buNone/>
            </a:pPr>
            <a:r>
              <a:rPr lang="en-US" sz="800" b="1" dirty="0">
                <a:solidFill>
                  <a:srgbClr val="0E8A8A"/>
                </a:solidFill>
              </a:rPr>
              <a:t>neural</a:t>
            </a:r>
            <a:endParaRPr lang="en-US" sz="800" dirty="0"/>
          </a:p>
          <a:p>
            <a:pPr algn="ctr" indent="0" marL="0">
              <a:buNone/>
            </a:pPr>
            <a:r>
              <a:rPr lang="en-US" sz="800" b="1" dirty="0">
                <a:solidFill>
                  <a:srgbClr val="0E8A8A"/>
                </a:solidFill>
              </a:rPr>
              <a:t>model</a:t>
            </a:r>
            <a:endParaRPr lang="en-US" sz="800" dirty="0"/>
          </a:p>
        </p:txBody>
      </p:sp>
      <p:sp>
        <p:nvSpPr>
          <p:cNvPr id="43" name="Shape 41"/>
          <p:cNvSpPr/>
          <p:nvPr/>
        </p:nvSpPr>
        <p:spPr>
          <a:xfrm>
            <a:off x="8412480" y="3246120"/>
            <a:ext cx="73152" cy="73152"/>
          </a:xfrm>
          <a:prstGeom prst="ellipse">
            <a:avLst/>
          </a:prstGeom>
          <a:solidFill>
            <a:srgbClr val="18B8C7"/>
          </a:solidFill>
          <a:ln w="12700">
            <a:solidFill>
              <a:srgbClr val="0E8A8A"/>
            </a:solidFill>
            <a:prstDash val="solid"/>
          </a:ln>
        </p:spPr>
      </p:sp>
      <p:sp>
        <p:nvSpPr>
          <p:cNvPr id="44" name="Shape 42"/>
          <p:cNvSpPr/>
          <p:nvPr/>
        </p:nvSpPr>
        <p:spPr>
          <a:xfrm>
            <a:off x="8412480" y="3419856"/>
            <a:ext cx="73152" cy="73152"/>
          </a:xfrm>
          <a:prstGeom prst="ellipse">
            <a:avLst/>
          </a:prstGeom>
          <a:solidFill>
            <a:srgbClr val="18B8C7"/>
          </a:solidFill>
          <a:ln w="12700">
            <a:solidFill>
              <a:srgbClr val="0E8A8A"/>
            </a:solidFill>
            <a:prstDash val="solid"/>
          </a:ln>
        </p:spPr>
      </p:sp>
      <p:sp>
        <p:nvSpPr>
          <p:cNvPr id="45" name="Shape 43"/>
          <p:cNvSpPr/>
          <p:nvPr/>
        </p:nvSpPr>
        <p:spPr>
          <a:xfrm>
            <a:off x="8412480" y="3593592"/>
            <a:ext cx="73152" cy="73152"/>
          </a:xfrm>
          <a:prstGeom prst="ellipse">
            <a:avLst/>
          </a:prstGeom>
          <a:solidFill>
            <a:srgbClr val="18B8C7"/>
          </a:solidFill>
          <a:ln w="12700">
            <a:solidFill>
              <a:srgbClr val="0E8A8A"/>
            </a:solidFill>
            <a:prstDash val="solid"/>
          </a:ln>
        </p:spPr>
      </p:sp>
      <p:sp>
        <p:nvSpPr>
          <p:cNvPr id="46" name="Shape 44"/>
          <p:cNvSpPr/>
          <p:nvPr/>
        </p:nvSpPr>
        <p:spPr>
          <a:xfrm>
            <a:off x="8412480" y="3767328"/>
            <a:ext cx="73152" cy="73152"/>
          </a:xfrm>
          <a:prstGeom prst="ellipse">
            <a:avLst/>
          </a:prstGeom>
          <a:solidFill>
            <a:srgbClr val="18B8C7"/>
          </a:solidFill>
          <a:ln w="12700">
            <a:solidFill>
              <a:srgbClr val="0E8A8A"/>
            </a:solidFill>
            <a:prstDash val="solid"/>
          </a:ln>
        </p:spPr>
      </p:sp>
      <p:sp>
        <p:nvSpPr>
          <p:cNvPr id="47" name="Shape 45"/>
          <p:cNvSpPr/>
          <p:nvPr/>
        </p:nvSpPr>
        <p:spPr>
          <a:xfrm>
            <a:off x="8714232" y="3246120"/>
            <a:ext cx="73152" cy="73152"/>
          </a:xfrm>
          <a:prstGeom prst="ellipse">
            <a:avLst/>
          </a:prstGeom>
          <a:solidFill>
            <a:srgbClr val="18B8C7"/>
          </a:solidFill>
          <a:ln w="12700">
            <a:solidFill>
              <a:srgbClr val="0E8A8A"/>
            </a:solidFill>
            <a:prstDash val="solid"/>
          </a:ln>
        </p:spPr>
      </p:sp>
      <p:sp>
        <p:nvSpPr>
          <p:cNvPr id="48" name="Shape 46"/>
          <p:cNvSpPr/>
          <p:nvPr/>
        </p:nvSpPr>
        <p:spPr>
          <a:xfrm>
            <a:off x="8714232" y="3419856"/>
            <a:ext cx="73152" cy="73152"/>
          </a:xfrm>
          <a:prstGeom prst="ellipse">
            <a:avLst/>
          </a:prstGeom>
          <a:solidFill>
            <a:srgbClr val="18B8C7"/>
          </a:solidFill>
          <a:ln w="12700">
            <a:solidFill>
              <a:srgbClr val="0E8A8A"/>
            </a:solidFill>
            <a:prstDash val="solid"/>
          </a:ln>
        </p:spPr>
      </p:sp>
      <p:sp>
        <p:nvSpPr>
          <p:cNvPr id="49" name="Shape 47"/>
          <p:cNvSpPr/>
          <p:nvPr/>
        </p:nvSpPr>
        <p:spPr>
          <a:xfrm>
            <a:off x="8714232" y="3593592"/>
            <a:ext cx="73152" cy="73152"/>
          </a:xfrm>
          <a:prstGeom prst="ellipse">
            <a:avLst/>
          </a:prstGeom>
          <a:solidFill>
            <a:srgbClr val="18B8C7"/>
          </a:solidFill>
          <a:ln w="12700">
            <a:solidFill>
              <a:srgbClr val="0E8A8A"/>
            </a:solidFill>
            <a:prstDash val="solid"/>
          </a:ln>
        </p:spPr>
      </p:sp>
      <p:sp>
        <p:nvSpPr>
          <p:cNvPr id="50" name="Shape 48"/>
          <p:cNvSpPr/>
          <p:nvPr/>
        </p:nvSpPr>
        <p:spPr>
          <a:xfrm>
            <a:off x="8714232" y="3767328"/>
            <a:ext cx="73152" cy="73152"/>
          </a:xfrm>
          <a:prstGeom prst="ellipse">
            <a:avLst/>
          </a:prstGeom>
          <a:solidFill>
            <a:srgbClr val="18B8C7"/>
          </a:solidFill>
          <a:ln w="12700">
            <a:solidFill>
              <a:srgbClr val="0E8A8A"/>
            </a:solidFill>
            <a:prstDash val="solid"/>
          </a:ln>
        </p:spPr>
      </p:sp>
      <p:sp>
        <p:nvSpPr>
          <p:cNvPr id="51" name="Shape 49"/>
          <p:cNvSpPr/>
          <p:nvPr/>
        </p:nvSpPr>
        <p:spPr>
          <a:xfrm>
            <a:off x="9015984" y="3246120"/>
            <a:ext cx="73152" cy="73152"/>
          </a:xfrm>
          <a:prstGeom prst="ellipse">
            <a:avLst/>
          </a:prstGeom>
          <a:solidFill>
            <a:srgbClr val="18B8C7"/>
          </a:solidFill>
          <a:ln w="12700">
            <a:solidFill>
              <a:srgbClr val="0E8A8A"/>
            </a:solidFill>
            <a:prstDash val="solid"/>
          </a:ln>
        </p:spPr>
      </p:sp>
      <p:sp>
        <p:nvSpPr>
          <p:cNvPr id="52" name="Shape 50"/>
          <p:cNvSpPr/>
          <p:nvPr/>
        </p:nvSpPr>
        <p:spPr>
          <a:xfrm>
            <a:off x="9015984" y="3419856"/>
            <a:ext cx="73152" cy="73152"/>
          </a:xfrm>
          <a:prstGeom prst="ellipse">
            <a:avLst/>
          </a:prstGeom>
          <a:solidFill>
            <a:srgbClr val="18B8C7"/>
          </a:solidFill>
          <a:ln w="12700">
            <a:solidFill>
              <a:srgbClr val="0E8A8A"/>
            </a:solidFill>
            <a:prstDash val="solid"/>
          </a:ln>
        </p:spPr>
      </p:sp>
      <p:sp>
        <p:nvSpPr>
          <p:cNvPr id="53" name="Shape 51"/>
          <p:cNvSpPr/>
          <p:nvPr/>
        </p:nvSpPr>
        <p:spPr>
          <a:xfrm>
            <a:off x="9015984" y="3593592"/>
            <a:ext cx="73152" cy="73152"/>
          </a:xfrm>
          <a:prstGeom prst="ellipse">
            <a:avLst/>
          </a:prstGeom>
          <a:solidFill>
            <a:srgbClr val="18B8C7"/>
          </a:solidFill>
          <a:ln w="12700">
            <a:solidFill>
              <a:srgbClr val="0E8A8A"/>
            </a:solidFill>
            <a:prstDash val="solid"/>
          </a:ln>
        </p:spPr>
      </p:sp>
      <p:sp>
        <p:nvSpPr>
          <p:cNvPr id="54" name="Shape 52"/>
          <p:cNvSpPr/>
          <p:nvPr/>
        </p:nvSpPr>
        <p:spPr>
          <a:xfrm>
            <a:off x="9015984" y="3767328"/>
            <a:ext cx="73152" cy="73152"/>
          </a:xfrm>
          <a:prstGeom prst="ellipse">
            <a:avLst/>
          </a:prstGeom>
          <a:solidFill>
            <a:srgbClr val="18B8C7"/>
          </a:solidFill>
          <a:ln w="12700">
            <a:solidFill>
              <a:srgbClr val="0E8A8A"/>
            </a:solidFill>
            <a:prstDash val="solid"/>
          </a:ln>
        </p:spPr>
      </p:sp>
      <p:sp>
        <p:nvSpPr>
          <p:cNvPr id="55" name="Shape 53"/>
          <p:cNvSpPr/>
          <p:nvPr/>
        </p:nvSpPr>
        <p:spPr>
          <a:xfrm>
            <a:off x="9372600" y="3657600"/>
            <a:ext cx="429768" cy="0"/>
          </a:xfrm>
          <a:prstGeom prst="line">
            <a:avLst/>
          </a:prstGeom>
          <a:noFill/>
          <a:ln w="17780">
            <a:solidFill>
              <a:srgbClr val="071B4D"/>
            </a:solidFill>
            <a:prstDash val="solid"/>
            <a:headEnd type="none"/>
            <a:tailEnd type="triangle"/>
          </a:ln>
        </p:spPr>
      </p:sp>
      <p:sp>
        <p:nvSpPr>
          <p:cNvPr id="56" name="Shape 54"/>
          <p:cNvSpPr/>
          <p:nvPr/>
        </p:nvSpPr>
        <p:spPr>
          <a:xfrm>
            <a:off x="9857232" y="3273552"/>
            <a:ext cx="1024128" cy="749808"/>
          </a:xfrm>
          <a:prstGeom prst="roundRect">
            <a:avLst>
              <a:gd name="adj" fmla="val 9756"/>
            </a:avLst>
          </a:prstGeom>
          <a:solidFill>
            <a:srgbClr val="071B4D"/>
          </a:solidFill>
          <a:ln w="12700">
            <a:solidFill>
              <a:srgbClr val="071B4D"/>
            </a:solidFill>
            <a:prstDash val="solid"/>
          </a:ln>
        </p:spPr>
      </p:sp>
      <p:sp>
        <p:nvSpPr>
          <p:cNvPr id="57" name="Text 55"/>
          <p:cNvSpPr/>
          <p:nvPr/>
        </p:nvSpPr>
        <p:spPr>
          <a:xfrm>
            <a:off x="9930384" y="3438144"/>
            <a:ext cx="877824" cy="347472"/>
          </a:xfrm>
          <a:prstGeom prst="rect">
            <a:avLst/>
          </a:prstGeom>
          <a:noFill/>
          <a:ln/>
        </p:spPr>
        <p:txBody>
          <a:bodyPr wrap="square" lIns="0" tIns="0" rIns="0" bIns="0" rtlCol="0" anchor="ctr">
            <a:normAutofit/>
          </a:bodyPr>
          <a:lstStyle/>
          <a:p>
            <a:pPr algn="ctr" indent="0" marL="0">
              <a:buNone/>
            </a:pPr>
            <a:r>
              <a:rPr lang="en-US" sz="900" b="1" dirty="0">
                <a:solidFill>
                  <a:srgbClr val="18B8C7"/>
                </a:solidFill>
              </a:rPr>
              <a:t>weapon</a:t>
            </a:r>
            <a:endParaRPr lang="en-US" sz="900" dirty="0"/>
          </a:p>
          <a:p>
            <a:pPr algn="ctr" indent="0" marL="0">
              <a:buNone/>
            </a:pPr>
            <a:r>
              <a:rPr lang="en-US" sz="900" b="1" dirty="0">
                <a:solidFill>
                  <a:srgbClr val="18B8C7"/>
                </a:solidFill>
              </a:rPr>
              <a:t>95.4%</a:t>
            </a:r>
            <a:endParaRPr lang="en-US" sz="900" dirty="0"/>
          </a:p>
        </p:txBody>
      </p:sp>
      <p:sp>
        <p:nvSpPr>
          <p:cNvPr id="58" name="Shape 56"/>
          <p:cNvSpPr/>
          <p:nvPr/>
        </p:nvSpPr>
        <p:spPr>
          <a:xfrm>
            <a:off x="7388352" y="4334256"/>
            <a:ext cx="3154680" cy="804672"/>
          </a:xfrm>
          <a:prstGeom prst="roundRect">
            <a:avLst>
              <a:gd name="adj" fmla="val 9091"/>
            </a:avLst>
          </a:prstGeom>
          <a:solidFill>
            <a:srgbClr val="FFF1E8"/>
          </a:solidFill>
          <a:ln w="12700">
            <a:solidFill>
              <a:srgbClr val="F26419"/>
            </a:solidFill>
            <a:prstDash val="solid"/>
          </a:ln>
        </p:spPr>
      </p:sp>
      <p:sp>
        <p:nvSpPr>
          <p:cNvPr id="59" name="Text 57"/>
          <p:cNvSpPr/>
          <p:nvPr/>
        </p:nvSpPr>
        <p:spPr>
          <a:xfrm>
            <a:off x="7571232" y="4416552"/>
            <a:ext cx="868680" cy="128016"/>
          </a:xfrm>
          <a:prstGeom prst="rect">
            <a:avLst/>
          </a:prstGeom>
          <a:noFill/>
          <a:ln/>
        </p:spPr>
        <p:txBody>
          <a:bodyPr wrap="square" lIns="0" tIns="0" rIns="0" bIns="0" rtlCol="0" anchor="ctr"/>
          <a:lstStyle/>
          <a:p>
            <a:pPr indent="0" marL="0">
              <a:buNone/>
            </a:pPr>
            <a:r>
              <a:rPr lang="en-US" sz="700" b="1" dirty="0">
                <a:solidFill>
                  <a:srgbClr val="F26419"/>
                </a:solidFill>
              </a:rPr>
              <a:t>UNDER ATTACK</a:t>
            </a:r>
            <a:endParaRPr lang="en-US" sz="700" dirty="0"/>
          </a:p>
        </p:txBody>
      </p:sp>
      <p:sp>
        <p:nvSpPr>
          <p:cNvPr id="60" name="Text 58"/>
          <p:cNvSpPr/>
          <p:nvPr/>
        </p:nvSpPr>
        <p:spPr>
          <a:xfrm>
            <a:off x="7607808" y="4645152"/>
            <a:ext cx="2560320" cy="164592"/>
          </a:xfrm>
          <a:prstGeom prst="rect">
            <a:avLst/>
          </a:prstGeom>
          <a:noFill/>
          <a:ln/>
        </p:spPr>
        <p:txBody>
          <a:bodyPr wrap="square" lIns="0" tIns="0" rIns="0" bIns="0" rtlCol="0" anchor="ctr">
            <a:normAutofit/>
          </a:bodyPr>
          <a:lstStyle/>
          <a:p>
            <a:pPr indent="0" marL="0">
              <a:buNone/>
            </a:pPr>
            <a:r>
              <a:rPr lang="en-US" sz="880" dirty="0">
                <a:solidFill>
                  <a:srgbClr val="071B4D"/>
                </a:solidFill>
              </a:rPr>
              <a:t>adversarial perturbation  →  wrong/high-confidence label</a:t>
            </a:r>
            <a:endParaRPr lang="en-US" sz="880" dirty="0"/>
          </a:p>
        </p:txBody>
      </p:sp>
      <p:sp>
        <p:nvSpPr>
          <p:cNvPr id="61" name="Text 59"/>
          <p:cNvSpPr/>
          <p:nvPr/>
        </p:nvSpPr>
        <p:spPr>
          <a:xfrm>
            <a:off x="1783080" y="6080760"/>
            <a:ext cx="1920240" cy="219456"/>
          </a:xfrm>
          <a:prstGeom prst="rect">
            <a:avLst/>
          </a:prstGeom>
          <a:noFill/>
          <a:ln/>
        </p:spPr>
        <p:txBody>
          <a:bodyPr wrap="square" lIns="0" tIns="0" rIns="0" bIns="0" rtlCol="0" anchor="ctr"/>
          <a:lstStyle/>
          <a:p>
            <a:pPr indent="0" marL="0">
              <a:buNone/>
            </a:pPr>
            <a:r>
              <a:rPr lang="en-US" sz="1100" dirty="0">
                <a:solidFill>
                  <a:srgbClr val="071B4D"/>
                </a:solidFill>
              </a:rPr>
              <a:t>Lello Molinario</a:t>
            </a:r>
            <a:endParaRPr lang="en-US" sz="1100" dirty="0"/>
          </a:p>
        </p:txBody>
      </p:sp>
      <p:sp>
        <p:nvSpPr>
          <p:cNvPr id="62" name="Text 60"/>
          <p:cNvSpPr/>
          <p:nvPr/>
        </p:nvSpPr>
        <p:spPr>
          <a:xfrm>
            <a:off x="8138160" y="6080760"/>
            <a:ext cx="2194560" cy="219456"/>
          </a:xfrm>
          <a:prstGeom prst="rect">
            <a:avLst/>
          </a:prstGeom>
          <a:noFill/>
          <a:ln/>
        </p:spPr>
        <p:txBody>
          <a:bodyPr wrap="square" lIns="0" tIns="0" rIns="0" bIns="0" rtlCol="0" anchor="ctr"/>
          <a:lstStyle/>
          <a:p>
            <a:pPr indent="0" marL="0">
              <a:buNone/>
            </a:pPr>
            <a:r>
              <a:rPr lang="en-US" sz="1100" dirty="0">
                <a:solidFill>
                  <a:srgbClr val="071B4D"/>
                </a:solidFill>
              </a:rPr>
              <a:t>Supervisor: Davide Maiorca</a:t>
            </a:r>
            <a:endParaRPr lang="en-US" sz="1100" dirty="0"/>
          </a:p>
        </p:txBody>
      </p:sp>
      <p:sp>
        <p:nvSpPr>
          <p:cNvPr id="63" name="Text 61"/>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01</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Motivation: AI in Digital Forensic Triage</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Why robustness matters in operational image analysis</a:t>
            </a:r>
            <a:endParaRPr lang="en-US" sz="880" dirty="0"/>
          </a:p>
        </p:txBody>
      </p:sp>
      <p:sp>
        <p:nvSpPr>
          <p:cNvPr id="8" name="Shape 6"/>
          <p:cNvSpPr/>
          <p:nvPr/>
        </p:nvSpPr>
        <p:spPr>
          <a:xfrm>
            <a:off x="685800" y="2057400"/>
            <a:ext cx="2971800" cy="1143000"/>
          </a:xfrm>
          <a:prstGeom prst="roundRect">
            <a:avLst>
              <a:gd name="adj" fmla="val 6400"/>
            </a:avLst>
          </a:prstGeom>
          <a:solidFill>
            <a:srgbClr val="FFFFFF"/>
          </a:solidFill>
          <a:ln w="12700">
            <a:solidFill>
              <a:srgbClr val="D6DEE8"/>
            </a:solidFill>
            <a:prstDash val="solid"/>
          </a:ln>
        </p:spPr>
      </p:sp>
      <p:sp>
        <p:nvSpPr>
          <p:cNvPr id="9" name="Text 7"/>
          <p:cNvSpPr/>
          <p:nvPr/>
        </p:nvSpPr>
        <p:spPr>
          <a:xfrm>
            <a:off x="868680" y="2404872"/>
            <a:ext cx="2606040" cy="310896"/>
          </a:xfrm>
          <a:prstGeom prst="rect">
            <a:avLst/>
          </a:prstGeom>
          <a:noFill/>
          <a:ln/>
        </p:spPr>
        <p:txBody>
          <a:bodyPr wrap="square" lIns="0" tIns="0" rIns="0" bIns="0" rtlCol="0" anchor="ctr">
            <a:normAutofit/>
          </a:bodyPr>
          <a:lstStyle/>
          <a:p>
            <a:pPr algn="ctr" indent="0" marL="0">
              <a:buNone/>
            </a:pPr>
            <a:r>
              <a:rPr lang="en-US" sz="1500" b="1" dirty="0">
                <a:solidFill>
                  <a:srgbClr val="071B4D"/>
                </a:solidFill>
              </a:rPr>
              <a:t>Digital evidence</a:t>
            </a:r>
            <a:endParaRPr lang="en-US" sz="1500" dirty="0"/>
          </a:p>
        </p:txBody>
      </p:sp>
      <p:sp>
        <p:nvSpPr>
          <p:cNvPr id="10" name="Shape 8"/>
          <p:cNvSpPr/>
          <p:nvPr/>
        </p:nvSpPr>
        <p:spPr>
          <a:xfrm>
            <a:off x="3703320" y="2633472"/>
            <a:ext cx="667512" cy="0"/>
          </a:xfrm>
          <a:prstGeom prst="line">
            <a:avLst/>
          </a:prstGeom>
          <a:noFill/>
          <a:ln w="17780">
            <a:solidFill>
              <a:srgbClr val="071B4D"/>
            </a:solidFill>
            <a:prstDash val="solid"/>
            <a:headEnd type="none"/>
            <a:tailEnd type="triangle"/>
          </a:ln>
        </p:spPr>
      </p:sp>
      <p:sp>
        <p:nvSpPr>
          <p:cNvPr id="11" name="Shape 9"/>
          <p:cNvSpPr/>
          <p:nvPr/>
        </p:nvSpPr>
        <p:spPr>
          <a:xfrm>
            <a:off x="4480560" y="2057400"/>
            <a:ext cx="2971800" cy="1143000"/>
          </a:xfrm>
          <a:prstGeom prst="roundRect">
            <a:avLst>
              <a:gd name="adj" fmla="val 6400"/>
            </a:avLst>
          </a:prstGeom>
          <a:solidFill>
            <a:srgbClr val="EAF7F7"/>
          </a:solidFill>
          <a:ln w="12700">
            <a:solidFill>
              <a:srgbClr val="0E8A8A"/>
            </a:solidFill>
            <a:prstDash val="solid"/>
          </a:ln>
        </p:spPr>
      </p:sp>
      <p:sp>
        <p:nvSpPr>
          <p:cNvPr id="12" name="Text 10"/>
          <p:cNvSpPr/>
          <p:nvPr/>
        </p:nvSpPr>
        <p:spPr>
          <a:xfrm>
            <a:off x="4663440" y="2404872"/>
            <a:ext cx="2606040" cy="310896"/>
          </a:xfrm>
          <a:prstGeom prst="rect">
            <a:avLst/>
          </a:prstGeom>
          <a:noFill/>
          <a:ln/>
        </p:spPr>
        <p:txBody>
          <a:bodyPr wrap="square" lIns="0" tIns="0" rIns="0" bIns="0" rtlCol="0" anchor="ctr">
            <a:normAutofit/>
          </a:bodyPr>
          <a:lstStyle/>
          <a:p>
            <a:pPr algn="ctr" indent="0" marL="0">
              <a:buNone/>
            </a:pPr>
            <a:r>
              <a:rPr lang="en-US" sz="1500" b="1" dirty="0">
                <a:solidFill>
                  <a:srgbClr val="0E8A8A"/>
                </a:solidFill>
              </a:rPr>
              <a:t>AI-assisted classification</a:t>
            </a:r>
            <a:endParaRPr lang="en-US" sz="1500" dirty="0"/>
          </a:p>
        </p:txBody>
      </p:sp>
      <p:sp>
        <p:nvSpPr>
          <p:cNvPr id="13" name="Shape 11"/>
          <p:cNvSpPr/>
          <p:nvPr/>
        </p:nvSpPr>
        <p:spPr>
          <a:xfrm>
            <a:off x="7498080" y="2633472"/>
            <a:ext cx="667512" cy="0"/>
          </a:xfrm>
          <a:prstGeom prst="line">
            <a:avLst/>
          </a:prstGeom>
          <a:noFill/>
          <a:ln w="17780">
            <a:solidFill>
              <a:srgbClr val="071B4D"/>
            </a:solidFill>
            <a:prstDash val="solid"/>
            <a:headEnd type="none"/>
            <a:tailEnd type="triangle"/>
          </a:ln>
        </p:spPr>
      </p:sp>
      <p:sp>
        <p:nvSpPr>
          <p:cNvPr id="14" name="Shape 12"/>
          <p:cNvSpPr/>
          <p:nvPr/>
        </p:nvSpPr>
        <p:spPr>
          <a:xfrm>
            <a:off x="8275320" y="2057400"/>
            <a:ext cx="2971800" cy="1143000"/>
          </a:xfrm>
          <a:prstGeom prst="roundRect">
            <a:avLst>
              <a:gd name="adj" fmla="val 6400"/>
            </a:avLst>
          </a:prstGeom>
          <a:solidFill>
            <a:srgbClr val="FFFFFF"/>
          </a:solidFill>
          <a:ln w="12700">
            <a:solidFill>
              <a:srgbClr val="D6DEE8"/>
            </a:solidFill>
            <a:prstDash val="solid"/>
          </a:ln>
        </p:spPr>
      </p:sp>
      <p:sp>
        <p:nvSpPr>
          <p:cNvPr id="15" name="Text 13"/>
          <p:cNvSpPr/>
          <p:nvPr/>
        </p:nvSpPr>
        <p:spPr>
          <a:xfrm>
            <a:off x="8458200" y="2404872"/>
            <a:ext cx="2606040" cy="310896"/>
          </a:xfrm>
          <a:prstGeom prst="rect">
            <a:avLst/>
          </a:prstGeom>
          <a:noFill/>
          <a:ln/>
        </p:spPr>
        <p:txBody>
          <a:bodyPr wrap="square" lIns="0" tIns="0" rIns="0" bIns="0" rtlCol="0" anchor="ctr">
            <a:normAutofit/>
          </a:bodyPr>
          <a:lstStyle/>
          <a:p>
            <a:pPr algn="ctr" indent="0" marL="0">
              <a:buNone/>
            </a:pPr>
            <a:r>
              <a:rPr lang="en-US" sz="1500" b="1" dirty="0">
                <a:solidFill>
                  <a:srgbClr val="071B4D"/>
                </a:solidFill>
              </a:rPr>
              <a:t>Analyst triage decision</a:t>
            </a:r>
            <a:endParaRPr lang="en-US" sz="1500" dirty="0"/>
          </a:p>
        </p:txBody>
      </p:sp>
      <p:sp>
        <p:nvSpPr>
          <p:cNvPr id="16" name="Shape 14"/>
          <p:cNvSpPr/>
          <p:nvPr/>
        </p:nvSpPr>
        <p:spPr>
          <a:xfrm>
            <a:off x="5321808" y="3401568"/>
            <a:ext cx="320040" cy="292608"/>
          </a:xfrm>
          <a:prstGeom prst="triangle">
            <a:avLst/>
          </a:prstGeom>
          <a:solidFill>
            <a:srgbClr val="F26419"/>
          </a:solidFill>
          <a:ln w="12700">
            <a:solidFill>
              <a:srgbClr val="F26419"/>
            </a:solidFill>
            <a:prstDash val="solid"/>
          </a:ln>
        </p:spPr>
      </p:sp>
      <p:sp>
        <p:nvSpPr>
          <p:cNvPr id="17" name="Text 15"/>
          <p:cNvSpPr/>
          <p:nvPr/>
        </p:nvSpPr>
        <p:spPr>
          <a:xfrm>
            <a:off x="5422392" y="3447288"/>
            <a:ext cx="109728" cy="109728"/>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8" name="Text 16"/>
          <p:cNvSpPr/>
          <p:nvPr/>
        </p:nvSpPr>
        <p:spPr>
          <a:xfrm>
            <a:off x="1115568" y="4251960"/>
            <a:ext cx="9966960" cy="1051560"/>
          </a:xfrm>
          <a:prstGeom prst="rect">
            <a:avLst/>
          </a:prstGeom>
          <a:noFill/>
          <a:ln/>
        </p:spPr>
        <p:txBody>
          <a:bodyPr wrap="square" lIns="762" tIns="762" rIns="762" bIns="762" rtlCol="0" anchor="ctr">
            <a:normAutofit/>
          </a:bodyPr>
          <a:lstStyle/>
          <a:p>
            <a:pPr indent="0" marL="0">
              <a:buNone/>
            </a:pPr>
            <a:r>
              <a:rPr lang="en-US" sz="1700" dirty="0">
                <a:solidFill>
                  <a:srgbClr val="071B4D"/>
                </a:solidFill>
              </a:rPr>
              <a:t>• Modern investigations contain large volumes of images.</a:t>
            </a:r>
            <a:endParaRPr lang="en-US" sz="1700" dirty="0"/>
          </a:p>
          <a:p>
            <a:pPr indent="0" marL="0">
              <a:buNone/>
            </a:pPr>
            <a:r>
              <a:rPr lang="en-US" sz="1700" dirty="0">
                <a:solidFill>
                  <a:srgbClr val="071B4D"/>
                </a:solidFill>
              </a:rPr>
              <a:t>• AI-assisted tools help analysts prioritize relevant material.</a:t>
            </a:r>
            <a:endParaRPr lang="en-US" sz="1700" dirty="0"/>
          </a:p>
          <a:p>
            <a:pPr indent="0" marL="0">
              <a:buNone/>
            </a:pPr>
            <a:r>
              <a:rPr lang="en-US" sz="1700" dirty="0">
                <a:solidFill>
                  <a:srgbClr val="071B4D"/>
                </a:solidFill>
              </a:rPr>
              <a:t>• Automated labels can influence forensic triage decisions.</a:t>
            </a:r>
            <a:endParaRPr lang="en-US" sz="1700" dirty="0"/>
          </a:p>
          <a:p>
            <a:pPr indent="0" marL="0">
              <a:buNone/>
            </a:pPr>
            <a:r>
              <a:rPr lang="en-US" sz="1700" dirty="0">
                <a:solidFill>
                  <a:srgbClr val="071B4D"/>
                </a:solidFill>
              </a:rPr>
              <a:t>• Reliability becomes critical when inputs are manipulated.</a:t>
            </a:r>
            <a:endParaRPr lang="en-US" sz="1700" dirty="0"/>
          </a:p>
        </p:txBody>
      </p:sp>
      <p:sp>
        <p:nvSpPr>
          <p:cNvPr id="19" name="Shape 17"/>
          <p:cNvSpPr/>
          <p:nvPr/>
        </p:nvSpPr>
        <p:spPr>
          <a:xfrm>
            <a:off x="1115568" y="5623560"/>
            <a:ext cx="9966960" cy="502920"/>
          </a:xfrm>
          <a:prstGeom prst="roundRect">
            <a:avLst>
              <a:gd name="adj" fmla="val 14545"/>
            </a:avLst>
          </a:prstGeom>
          <a:solidFill>
            <a:srgbClr val="FFF1E8"/>
          </a:solidFill>
          <a:ln w="12700">
            <a:solidFill>
              <a:srgbClr val="F26419"/>
            </a:solidFill>
            <a:prstDash val="solid"/>
          </a:ln>
        </p:spPr>
      </p:sp>
      <p:sp>
        <p:nvSpPr>
          <p:cNvPr id="20" name="Text 18"/>
          <p:cNvSpPr/>
          <p:nvPr/>
        </p:nvSpPr>
        <p:spPr>
          <a:xfrm>
            <a:off x="1325880" y="5779008"/>
            <a:ext cx="9509760" cy="146304"/>
          </a:xfrm>
          <a:prstGeom prst="rect">
            <a:avLst/>
          </a:prstGeom>
          <a:noFill/>
          <a:ln/>
        </p:spPr>
        <p:txBody>
          <a:bodyPr wrap="square" lIns="0" tIns="0" rIns="0" bIns="0" rtlCol="0" anchor="ctr">
            <a:normAutofit/>
          </a:bodyPr>
          <a:lstStyle/>
          <a:p>
            <a:pPr indent="0" marL="0">
              <a:buNone/>
            </a:pPr>
            <a:r>
              <a:rPr lang="en-US" sz="1050" b="1" dirty="0">
                <a:solidFill>
                  <a:srgbClr val="071B4D"/>
                </a:solidFill>
              </a:rPr>
              <a:t>Core message: AI can reduce analyst workload, but errors under manipulated inputs may create operational risk.</a:t>
            </a:r>
            <a:endParaRPr lang="en-US" sz="1050" dirty="0"/>
          </a:p>
        </p:txBody>
      </p:sp>
      <p:sp>
        <p:nvSpPr>
          <p:cNvPr id="21" name="Text 19"/>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02</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Problem Statement</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From clean accuracy to robustness under stress</a:t>
            </a:r>
            <a:endParaRPr lang="en-US" sz="880" dirty="0"/>
          </a:p>
        </p:txBody>
      </p:sp>
      <p:sp>
        <p:nvSpPr>
          <p:cNvPr id="8" name="Shape 6"/>
          <p:cNvSpPr/>
          <p:nvPr/>
        </p:nvSpPr>
        <p:spPr>
          <a:xfrm>
            <a:off x="2834640" y="1325880"/>
            <a:ext cx="6492240" cy="1115568"/>
          </a:xfrm>
          <a:prstGeom prst="roundRect">
            <a:avLst>
              <a:gd name="adj" fmla="val 6557"/>
            </a:avLst>
          </a:prstGeom>
          <a:solidFill>
            <a:srgbClr val="071B4D"/>
          </a:solidFill>
          <a:ln w="12700">
            <a:solidFill>
              <a:srgbClr val="071B4D"/>
            </a:solidFill>
            <a:prstDash val="solid"/>
          </a:ln>
        </p:spPr>
      </p:sp>
      <p:sp>
        <p:nvSpPr>
          <p:cNvPr id="9" name="Text 7"/>
          <p:cNvSpPr/>
          <p:nvPr/>
        </p:nvSpPr>
        <p:spPr>
          <a:xfrm>
            <a:off x="3127248" y="1627632"/>
            <a:ext cx="5943600" cy="47548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rPr>
              <a:t>How robust are AI-assisted forensic image classification tools</a:t>
            </a:r>
            <a:endParaRPr lang="en-US" sz="1700" dirty="0"/>
          </a:p>
          <a:p>
            <a:pPr algn="ctr" indent="0" marL="0">
              <a:buNone/>
            </a:pPr>
            <a:r>
              <a:rPr lang="en-US" sz="1700" b="1" dirty="0">
                <a:solidFill>
                  <a:srgbClr val="FFFFFF"/>
                </a:solidFill>
              </a:rPr>
              <a:t>when visual inputs are intentionally or accidentally altered?</a:t>
            </a:r>
            <a:endParaRPr lang="en-US" sz="1700" dirty="0"/>
          </a:p>
        </p:txBody>
      </p:sp>
      <p:sp>
        <p:nvSpPr>
          <p:cNvPr id="10" name="Shape 8"/>
          <p:cNvSpPr/>
          <p:nvPr/>
        </p:nvSpPr>
        <p:spPr>
          <a:xfrm>
            <a:off x="777240" y="3154680"/>
            <a:ext cx="2423160" cy="1234440"/>
          </a:xfrm>
          <a:prstGeom prst="roundRect">
            <a:avLst>
              <a:gd name="adj" fmla="val 5926"/>
            </a:avLst>
          </a:prstGeom>
          <a:solidFill>
            <a:srgbClr val="FFF1E8"/>
          </a:solidFill>
          <a:ln w="12700">
            <a:solidFill>
              <a:srgbClr val="F26419"/>
            </a:solidFill>
            <a:prstDash val="solid"/>
          </a:ln>
        </p:spPr>
      </p:sp>
      <p:sp>
        <p:nvSpPr>
          <p:cNvPr id="11" name="Shape 9"/>
          <p:cNvSpPr/>
          <p:nvPr/>
        </p:nvSpPr>
        <p:spPr>
          <a:xfrm>
            <a:off x="941832" y="3364992"/>
            <a:ext cx="310896" cy="310896"/>
          </a:xfrm>
          <a:prstGeom prst="ellipse">
            <a:avLst/>
          </a:prstGeom>
          <a:solidFill>
            <a:srgbClr val="F26419"/>
          </a:solidFill>
          <a:ln w="12700">
            <a:solidFill>
              <a:srgbClr val="F26419"/>
            </a:solidFill>
            <a:prstDash val="solid"/>
          </a:ln>
        </p:spPr>
      </p:sp>
      <p:sp>
        <p:nvSpPr>
          <p:cNvPr id="12" name="Text 10"/>
          <p:cNvSpPr/>
          <p:nvPr/>
        </p:nvSpPr>
        <p:spPr>
          <a:xfrm>
            <a:off x="1037844" y="3429000"/>
            <a:ext cx="109728" cy="82296"/>
          </a:xfrm>
          <a:prstGeom prst="rect">
            <a:avLst/>
          </a:prstGeom>
          <a:noFill/>
          <a:ln/>
        </p:spPr>
        <p:txBody>
          <a:bodyPr wrap="square" lIns="0" tIns="0" rIns="0" bIns="0" rtlCol="0" anchor="ctr"/>
          <a:lstStyle/>
          <a:p>
            <a:pPr indent="0" marL="0">
              <a:buNone/>
            </a:pPr>
            <a:r>
              <a:rPr lang="en-US" sz="800" b="1" dirty="0">
                <a:solidFill>
                  <a:srgbClr val="FFFFFF"/>
                </a:solidFill>
              </a:rPr>
              <a:t>1</a:t>
            </a:r>
            <a:endParaRPr lang="en-US" sz="800" dirty="0"/>
          </a:p>
        </p:txBody>
      </p:sp>
      <p:sp>
        <p:nvSpPr>
          <p:cNvPr id="13" name="Text 11"/>
          <p:cNvSpPr/>
          <p:nvPr/>
        </p:nvSpPr>
        <p:spPr>
          <a:xfrm>
            <a:off x="1353312" y="3438144"/>
            <a:ext cx="1600200" cy="347472"/>
          </a:xfrm>
          <a:prstGeom prst="rect">
            <a:avLst/>
          </a:prstGeom>
          <a:noFill/>
          <a:ln/>
        </p:spPr>
        <p:txBody>
          <a:bodyPr wrap="square" lIns="0" tIns="0" rIns="0" bIns="0" rtlCol="0" anchor="ctr">
            <a:normAutofit/>
          </a:bodyPr>
          <a:lstStyle/>
          <a:p>
            <a:pPr indent="0" marL="0">
              <a:buNone/>
            </a:pPr>
            <a:r>
              <a:rPr lang="en-US" sz="1250" b="1" dirty="0">
                <a:solidFill>
                  <a:srgbClr val="071B4D"/>
                </a:solidFill>
              </a:rPr>
              <a:t>Adversarial</a:t>
            </a:r>
            <a:endParaRPr lang="en-US" sz="1250" dirty="0"/>
          </a:p>
          <a:p>
            <a:pPr indent="0" marL="0">
              <a:buNone/>
            </a:pPr>
            <a:r>
              <a:rPr lang="en-US" sz="1250" b="1" dirty="0">
                <a:solidFill>
                  <a:srgbClr val="071B4D"/>
                </a:solidFill>
              </a:rPr>
              <a:t>perturbations</a:t>
            </a:r>
            <a:endParaRPr lang="en-US" sz="1250" dirty="0"/>
          </a:p>
        </p:txBody>
      </p:sp>
      <p:sp>
        <p:nvSpPr>
          <p:cNvPr id="14" name="Shape 12"/>
          <p:cNvSpPr/>
          <p:nvPr/>
        </p:nvSpPr>
        <p:spPr>
          <a:xfrm>
            <a:off x="3429000" y="3154680"/>
            <a:ext cx="2423160" cy="1234440"/>
          </a:xfrm>
          <a:prstGeom prst="roundRect">
            <a:avLst>
              <a:gd name="adj" fmla="val 5926"/>
            </a:avLst>
          </a:prstGeom>
          <a:solidFill>
            <a:srgbClr val="FFF1E8"/>
          </a:solidFill>
          <a:ln w="12700">
            <a:solidFill>
              <a:srgbClr val="F26419"/>
            </a:solidFill>
            <a:prstDash val="solid"/>
          </a:ln>
        </p:spPr>
      </p:sp>
      <p:sp>
        <p:nvSpPr>
          <p:cNvPr id="15" name="Shape 13"/>
          <p:cNvSpPr/>
          <p:nvPr/>
        </p:nvSpPr>
        <p:spPr>
          <a:xfrm>
            <a:off x="3593592" y="3364992"/>
            <a:ext cx="310896" cy="310896"/>
          </a:xfrm>
          <a:prstGeom prst="ellipse">
            <a:avLst/>
          </a:prstGeom>
          <a:solidFill>
            <a:srgbClr val="F26419"/>
          </a:solidFill>
          <a:ln w="12700">
            <a:solidFill>
              <a:srgbClr val="F26419"/>
            </a:solidFill>
            <a:prstDash val="solid"/>
          </a:ln>
        </p:spPr>
      </p:sp>
      <p:sp>
        <p:nvSpPr>
          <p:cNvPr id="16" name="Text 14"/>
          <p:cNvSpPr/>
          <p:nvPr/>
        </p:nvSpPr>
        <p:spPr>
          <a:xfrm>
            <a:off x="3689604" y="3429000"/>
            <a:ext cx="109728" cy="82296"/>
          </a:xfrm>
          <a:prstGeom prst="rect">
            <a:avLst/>
          </a:prstGeom>
          <a:noFill/>
          <a:ln/>
        </p:spPr>
        <p:txBody>
          <a:bodyPr wrap="square" lIns="0" tIns="0" rIns="0" bIns="0" rtlCol="0" anchor="ctr"/>
          <a:lstStyle/>
          <a:p>
            <a:pPr indent="0" marL="0">
              <a:buNone/>
            </a:pPr>
            <a:r>
              <a:rPr lang="en-US" sz="800" b="1" dirty="0">
                <a:solidFill>
                  <a:srgbClr val="FFFFFF"/>
                </a:solidFill>
              </a:rPr>
              <a:t>2</a:t>
            </a:r>
            <a:endParaRPr lang="en-US" sz="800" dirty="0"/>
          </a:p>
        </p:txBody>
      </p:sp>
      <p:sp>
        <p:nvSpPr>
          <p:cNvPr id="17" name="Text 15"/>
          <p:cNvSpPr/>
          <p:nvPr/>
        </p:nvSpPr>
        <p:spPr>
          <a:xfrm>
            <a:off x="4005072" y="3438144"/>
            <a:ext cx="1600200" cy="347472"/>
          </a:xfrm>
          <a:prstGeom prst="rect">
            <a:avLst/>
          </a:prstGeom>
          <a:noFill/>
          <a:ln/>
        </p:spPr>
        <p:txBody>
          <a:bodyPr wrap="square" lIns="0" tIns="0" rIns="0" bIns="0" rtlCol="0" anchor="ctr">
            <a:normAutofit/>
          </a:bodyPr>
          <a:lstStyle/>
          <a:p>
            <a:pPr indent="0" marL="0">
              <a:buNone/>
            </a:pPr>
            <a:r>
              <a:rPr lang="en-US" sz="1250" b="1" dirty="0">
                <a:solidFill>
                  <a:srgbClr val="071B4D"/>
                </a:solidFill>
              </a:rPr>
              <a:t>Anti-forensic image</a:t>
            </a:r>
            <a:endParaRPr lang="en-US" sz="1250" dirty="0"/>
          </a:p>
          <a:p>
            <a:pPr indent="0" marL="0">
              <a:buNone/>
            </a:pPr>
            <a:r>
              <a:rPr lang="en-US" sz="1250" b="1" dirty="0">
                <a:solidFill>
                  <a:srgbClr val="071B4D"/>
                </a:solidFill>
              </a:rPr>
              <a:t>transformations</a:t>
            </a:r>
            <a:endParaRPr lang="en-US" sz="1250" dirty="0"/>
          </a:p>
        </p:txBody>
      </p:sp>
      <p:sp>
        <p:nvSpPr>
          <p:cNvPr id="18" name="Shape 16"/>
          <p:cNvSpPr/>
          <p:nvPr/>
        </p:nvSpPr>
        <p:spPr>
          <a:xfrm>
            <a:off x="6080760" y="3154680"/>
            <a:ext cx="2423160" cy="1234440"/>
          </a:xfrm>
          <a:prstGeom prst="roundRect">
            <a:avLst>
              <a:gd name="adj" fmla="val 5926"/>
            </a:avLst>
          </a:prstGeom>
          <a:solidFill>
            <a:srgbClr val="EAF7F7"/>
          </a:solidFill>
          <a:ln w="12700">
            <a:solidFill>
              <a:srgbClr val="0E8A8A"/>
            </a:solidFill>
            <a:prstDash val="solid"/>
          </a:ln>
        </p:spPr>
      </p:sp>
      <p:sp>
        <p:nvSpPr>
          <p:cNvPr id="19" name="Shape 17"/>
          <p:cNvSpPr/>
          <p:nvPr/>
        </p:nvSpPr>
        <p:spPr>
          <a:xfrm>
            <a:off x="6245352" y="3364992"/>
            <a:ext cx="310896" cy="310896"/>
          </a:xfrm>
          <a:prstGeom prst="ellipse">
            <a:avLst/>
          </a:prstGeom>
          <a:solidFill>
            <a:srgbClr val="0E8A8A"/>
          </a:solidFill>
          <a:ln w="12700">
            <a:solidFill>
              <a:srgbClr val="0E8A8A"/>
            </a:solidFill>
            <a:prstDash val="solid"/>
          </a:ln>
        </p:spPr>
      </p:sp>
      <p:sp>
        <p:nvSpPr>
          <p:cNvPr id="20" name="Text 18"/>
          <p:cNvSpPr/>
          <p:nvPr/>
        </p:nvSpPr>
        <p:spPr>
          <a:xfrm>
            <a:off x="6341364" y="3429000"/>
            <a:ext cx="109728" cy="82296"/>
          </a:xfrm>
          <a:prstGeom prst="rect">
            <a:avLst/>
          </a:prstGeom>
          <a:noFill/>
          <a:ln/>
        </p:spPr>
        <p:txBody>
          <a:bodyPr wrap="square" lIns="0" tIns="0" rIns="0" bIns="0" rtlCol="0" anchor="ctr"/>
          <a:lstStyle/>
          <a:p>
            <a:pPr indent="0" marL="0">
              <a:buNone/>
            </a:pPr>
            <a:r>
              <a:rPr lang="en-US" sz="800" b="1" dirty="0">
                <a:solidFill>
                  <a:srgbClr val="FFFFFF"/>
                </a:solidFill>
              </a:rPr>
              <a:t>3</a:t>
            </a:r>
            <a:endParaRPr lang="en-US" sz="800" dirty="0"/>
          </a:p>
        </p:txBody>
      </p:sp>
      <p:sp>
        <p:nvSpPr>
          <p:cNvPr id="21" name="Text 19"/>
          <p:cNvSpPr/>
          <p:nvPr/>
        </p:nvSpPr>
        <p:spPr>
          <a:xfrm>
            <a:off x="6656832" y="3438144"/>
            <a:ext cx="1600200" cy="347472"/>
          </a:xfrm>
          <a:prstGeom prst="rect">
            <a:avLst/>
          </a:prstGeom>
          <a:noFill/>
          <a:ln/>
        </p:spPr>
        <p:txBody>
          <a:bodyPr wrap="square" lIns="0" tIns="0" rIns="0" bIns="0" rtlCol="0" anchor="ctr">
            <a:normAutofit/>
          </a:bodyPr>
          <a:lstStyle/>
          <a:p>
            <a:pPr indent="0" marL="0">
              <a:buNone/>
            </a:pPr>
            <a:r>
              <a:rPr lang="en-US" sz="1250" b="1" dirty="0">
                <a:solidFill>
                  <a:srgbClr val="071B4D"/>
                </a:solidFill>
              </a:rPr>
              <a:t>Out-of-distribution</a:t>
            </a:r>
            <a:endParaRPr lang="en-US" sz="1250" dirty="0"/>
          </a:p>
          <a:p>
            <a:pPr indent="0" marL="0">
              <a:buNone/>
            </a:pPr>
            <a:r>
              <a:rPr lang="en-US" sz="1250" b="1" dirty="0">
                <a:solidFill>
                  <a:srgbClr val="071B4D"/>
                </a:solidFill>
              </a:rPr>
              <a:t>inputs</a:t>
            </a:r>
            <a:endParaRPr lang="en-US" sz="1250" dirty="0"/>
          </a:p>
        </p:txBody>
      </p:sp>
      <p:sp>
        <p:nvSpPr>
          <p:cNvPr id="22" name="Shape 20"/>
          <p:cNvSpPr/>
          <p:nvPr/>
        </p:nvSpPr>
        <p:spPr>
          <a:xfrm>
            <a:off x="8732520" y="3154680"/>
            <a:ext cx="2423160" cy="1234440"/>
          </a:xfrm>
          <a:prstGeom prst="roundRect">
            <a:avLst>
              <a:gd name="adj" fmla="val 5926"/>
            </a:avLst>
          </a:prstGeom>
          <a:solidFill>
            <a:srgbClr val="EEF5FF"/>
          </a:solidFill>
          <a:ln w="12700">
            <a:solidFill>
              <a:srgbClr val="0B2A5B"/>
            </a:solidFill>
            <a:prstDash val="solid"/>
          </a:ln>
        </p:spPr>
      </p:sp>
      <p:sp>
        <p:nvSpPr>
          <p:cNvPr id="23" name="Shape 21"/>
          <p:cNvSpPr/>
          <p:nvPr/>
        </p:nvSpPr>
        <p:spPr>
          <a:xfrm>
            <a:off x="8897112" y="3364992"/>
            <a:ext cx="310896" cy="310896"/>
          </a:xfrm>
          <a:prstGeom prst="ellipse">
            <a:avLst/>
          </a:prstGeom>
          <a:solidFill>
            <a:srgbClr val="0B2A5B"/>
          </a:solidFill>
          <a:ln w="12700">
            <a:solidFill>
              <a:srgbClr val="0B2A5B"/>
            </a:solidFill>
            <a:prstDash val="solid"/>
          </a:ln>
        </p:spPr>
      </p:sp>
      <p:sp>
        <p:nvSpPr>
          <p:cNvPr id="24" name="Text 22"/>
          <p:cNvSpPr/>
          <p:nvPr/>
        </p:nvSpPr>
        <p:spPr>
          <a:xfrm>
            <a:off x="8993124" y="3429000"/>
            <a:ext cx="109728" cy="82296"/>
          </a:xfrm>
          <a:prstGeom prst="rect">
            <a:avLst/>
          </a:prstGeom>
          <a:noFill/>
          <a:ln/>
        </p:spPr>
        <p:txBody>
          <a:bodyPr wrap="square" lIns="0" tIns="0" rIns="0" bIns="0" rtlCol="0" anchor="ctr"/>
          <a:lstStyle/>
          <a:p>
            <a:pPr indent="0" marL="0">
              <a:buNone/>
            </a:pPr>
            <a:r>
              <a:rPr lang="en-US" sz="800" b="1" dirty="0">
                <a:solidFill>
                  <a:srgbClr val="FFFFFF"/>
                </a:solidFill>
              </a:rPr>
              <a:t>4</a:t>
            </a:r>
            <a:endParaRPr lang="en-US" sz="800" dirty="0"/>
          </a:p>
        </p:txBody>
      </p:sp>
      <p:sp>
        <p:nvSpPr>
          <p:cNvPr id="25" name="Text 23"/>
          <p:cNvSpPr/>
          <p:nvPr/>
        </p:nvSpPr>
        <p:spPr>
          <a:xfrm>
            <a:off x="9308592" y="3438144"/>
            <a:ext cx="1600200" cy="347472"/>
          </a:xfrm>
          <a:prstGeom prst="rect">
            <a:avLst/>
          </a:prstGeom>
          <a:noFill/>
          <a:ln/>
        </p:spPr>
        <p:txBody>
          <a:bodyPr wrap="square" lIns="0" tIns="0" rIns="0" bIns="0" rtlCol="0" anchor="ctr">
            <a:normAutofit/>
          </a:bodyPr>
          <a:lstStyle/>
          <a:p>
            <a:pPr indent="0" marL="0">
              <a:buNone/>
            </a:pPr>
            <a:r>
              <a:rPr lang="en-US" sz="1250" b="1" dirty="0">
                <a:solidFill>
                  <a:srgbClr val="071B4D"/>
                </a:solidFill>
              </a:rPr>
              <a:t>Black-box operational</a:t>
            </a:r>
            <a:endParaRPr lang="en-US" sz="1250" dirty="0"/>
          </a:p>
          <a:p>
            <a:pPr indent="0" marL="0">
              <a:buNone/>
            </a:pPr>
            <a:r>
              <a:rPr lang="en-US" sz="1250" b="1" dirty="0">
                <a:solidFill>
                  <a:srgbClr val="071B4D"/>
                </a:solidFill>
              </a:rPr>
              <a:t>constraints</a:t>
            </a:r>
            <a:endParaRPr lang="en-US" sz="1250" dirty="0"/>
          </a:p>
        </p:txBody>
      </p:sp>
      <p:sp>
        <p:nvSpPr>
          <p:cNvPr id="26" name="Shape 24"/>
          <p:cNvSpPr/>
          <p:nvPr/>
        </p:nvSpPr>
        <p:spPr>
          <a:xfrm>
            <a:off x="1280160" y="5166360"/>
            <a:ext cx="9601200" cy="640080"/>
          </a:xfrm>
          <a:prstGeom prst="roundRect">
            <a:avLst>
              <a:gd name="adj" fmla="val 11429"/>
            </a:avLst>
          </a:prstGeom>
          <a:solidFill>
            <a:srgbClr val="FFFFFF"/>
          </a:solidFill>
          <a:ln w="12700">
            <a:solidFill>
              <a:srgbClr val="D6DEE8"/>
            </a:solidFill>
            <a:prstDash val="solid"/>
          </a:ln>
        </p:spPr>
      </p:sp>
      <p:sp>
        <p:nvSpPr>
          <p:cNvPr id="27" name="Text 25"/>
          <p:cNvSpPr/>
          <p:nvPr/>
        </p:nvSpPr>
        <p:spPr>
          <a:xfrm>
            <a:off x="1572768" y="5385816"/>
            <a:ext cx="8961120" cy="164592"/>
          </a:xfrm>
          <a:prstGeom prst="rect">
            <a:avLst/>
          </a:prstGeom>
          <a:noFill/>
          <a:ln/>
        </p:spPr>
        <p:txBody>
          <a:bodyPr wrap="square" lIns="0" tIns="0" rIns="0" bIns="0" rtlCol="0" anchor="ctr">
            <a:normAutofit/>
          </a:bodyPr>
          <a:lstStyle/>
          <a:p>
            <a:pPr indent="0" marL="0">
              <a:buNone/>
            </a:pPr>
            <a:r>
              <a:rPr lang="en-US" sz="1250" b="1" dirty="0">
                <a:solidFill>
                  <a:srgbClr val="071B4D"/>
                </a:solidFill>
              </a:rPr>
              <a:t>The thesis addresses a practical reliability problem in AI-assisted digital forensics: clean performance alone is not enough.</a:t>
            </a:r>
            <a:endParaRPr lang="en-US" sz="1250" dirty="0"/>
          </a:p>
        </p:txBody>
      </p:sp>
      <p:sp>
        <p:nvSpPr>
          <p:cNvPr id="28" name="Text 26"/>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03</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Research Objective and Contributions</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A traceable protocol for operational robustness assessment</a:t>
            </a:r>
            <a:endParaRPr lang="en-US" sz="880" dirty="0"/>
          </a:p>
        </p:txBody>
      </p:sp>
      <p:sp>
        <p:nvSpPr>
          <p:cNvPr id="8" name="Shape 6"/>
          <p:cNvSpPr/>
          <p:nvPr/>
        </p:nvSpPr>
        <p:spPr>
          <a:xfrm>
            <a:off x="777240" y="1188720"/>
            <a:ext cx="10652760" cy="777240"/>
          </a:xfrm>
          <a:prstGeom prst="roundRect">
            <a:avLst>
              <a:gd name="adj" fmla="val 9412"/>
            </a:avLst>
          </a:prstGeom>
          <a:solidFill>
            <a:srgbClr val="EAF7F7"/>
          </a:solidFill>
          <a:ln w="12700">
            <a:solidFill>
              <a:srgbClr val="0E8A8A"/>
            </a:solidFill>
            <a:prstDash val="solid"/>
          </a:ln>
        </p:spPr>
      </p:sp>
      <p:sp>
        <p:nvSpPr>
          <p:cNvPr id="9" name="Text 7"/>
          <p:cNvSpPr/>
          <p:nvPr/>
        </p:nvSpPr>
        <p:spPr>
          <a:xfrm>
            <a:off x="1005840" y="1463040"/>
            <a:ext cx="10149840" cy="155448"/>
          </a:xfrm>
          <a:prstGeom prst="rect">
            <a:avLst/>
          </a:prstGeom>
          <a:noFill/>
          <a:ln/>
        </p:spPr>
        <p:txBody>
          <a:bodyPr wrap="square" lIns="0" tIns="0" rIns="0" bIns="0" rtlCol="0" anchor="ctr">
            <a:normAutofit/>
          </a:bodyPr>
          <a:lstStyle/>
          <a:p>
            <a:pPr indent="0" marL="0">
              <a:buNone/>
            </a:pPr>
            <a:r>
              <a:rPr lang="en-US" sz="1350" b="1" dirty="0">
                <a:solidFill>
                  <a:srgbClr val="071B4D"/>
                </a:solidFill>
              </a:rPr>
              <a:t>Objective: evaluate the operational robustness of AI-based forensic image classification systems under controlled perturbation scenarios.</a:t>
            </a:r>
            <a:endParaRPr lang="en-US" sz="1350" dirty="0"/>
          </a:p>
        </p:txBody>
      </p:sp>
      <p:sp>
        <p:nvSpPr>
          <p:cNvPr id="10" name="Shape 8"/>
          <p:cNvSpPr/>
          <p:nvPr/>
        </p:nvSpPr>
        <p:spPr>
          <a:xfrm>
            <a:off x="731520" y="2788920"/>
            <a:ext cx="1874520" cy="1325880"/>
          </a:xfrm>
          <a:prstGeom prst="roundRect">
            <a:avLst>
              <a:gd name="adj" fmla="val 5517"/>
            </a:avLst>
          </a:prstGeom>
          <a:solidFill>
            <a:srgbClr val="FFFFFF"/>
          </a:solidFill>
          <a:ln w="12700">
            <a:solidFill>
              <a:srgbClr val="F26419"/>
            </a:solidFill>
            <a:prstDash val="solid"/>
          </a:ln>
        </p:spPr>
      </p:sp>
      <p:sp>
        <p:nvSpPr>
          <p:cNvPr id="11" name="Shape 9"/>
          <p:cNvSpPr/>
          <p:nvPr/>
        </p:nvSpPr>
        <p:spPr>
          <a:xfrm>
            <a:off x="1435608" y="2542032"/>
            <a:ext cx="457200" cy="457200"/>
          </a:xfrm>
          <a:prstGeom prst="ellipse">
            <a:avLst/>
          </a:prstGeom>
          <a:solidFill>
            <a:srgbClr val="F26419"/>
          </a:solidFill>
          <a:ln w="12700">
            <a:solidFill>
              <a:srgbClr val="F26419"/>
            </a:solidFill>
            <a:prstDash val="solid"/>
          </a:ln>
        </p:spPr>
      </p:sp>
      <p:sp>
        <p:nvSpPr>
          <p:cNvPr id="12" name="Text 10"/>
          <p:cNvSpPr/>
          <p:nvPr/>
        </p:nvSpPr>
        <p:spPr>
          <a:xfrm>
            <a:off x="1591056" y="2651760"/>
            <a:ext cx="137160" cy="91440"/>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13" name="Text 11"/>
          <p:cNvSpPr/>
          <p:nvPr/>
        </p:nvSpPr>
        <p:spPr>
          <a:xfrm>
            <a:off x="914400" y="3172968"/>
            <a:ext cx="1508760" cy="411480"/>
          </a:xfrm>
          <a:prstGeom prst="rect">
            <a:avLst/>
          </a:prstGeom>
          <a:noFill/>
          <a:ln/>
        </p:spPr>
        <p:txBody>
          <a:bodyPr wrap="square" lIns="0" tIns="0" rIns="0" bIns="0" rtlCol="0" anchor="ctr">
            <a:normAutofit/>
          </a:bodyPr>
          <a:lstStyle/>
          <a:p>
            <a:pPr algn="ctr" indent="0" marL="0">
              <a:buNone/>
            </a:pPr>
            <a:r>
              <a:rPr lang="en-US" sz="1160" b="1" dirty="0">
                <a:solidFill>
                  <a:srgbClr val="071B4D"/>
                </a:solidFill>
              </a:rPr>
              <a:t>Reproducible</a:t>
            </a:r>
            <a:endParaRPr lang="en-US" sz="1160" dirty="0"/>
          </a:p>
          <a:p>
            <a:pPr algn="ctr" indent="0" marL="0">
              <a:buNone/>
            </a:pPr>
            <a:r>
              <a:rPr lang="en-US" sz="1160" b="1" dirty="0">
                <a:solidFill>
                  <a:srgbClr val="071B4D"/>
                </a:solidFill>
              </a:rPr>
              <a:t>evaluation protocol</a:t>
            </a:r>
            <a:endParaRPr lang="en-US" sz="1160" dirty="0"/>
          </a:p>
        </p:txBody>
      </p:sp>
      <p:sp>
        <p:nvSpPr>
          <p:cNvPr id="14" name="Shape 12"/>
          <p:cNvSpPr/>
          <p:nvPr/>
        </p:nvSpPr>
        <p:spPr>
          <a:xfrm>
            <a:off x="3017520" y="2788920"/>
            <a:ext cx="1874520" cy="1325880"/>
          </a:xfrm>
          <a:prstGeom prst="roundRect">
            <a:avLst>
              <a:gd name="adj" fmla="val 5517"/>
            </a:avLst>
          </a:prstGeom>
          <a:solidFill>
            <a:srgbClr val="FFFFFF"/>
          </a:solidFill>
          <a:ln w="12700">
            <a:solidFill>
              <a:srgbClr val="0E8A8A"/>
            </a:solidFill>
            <a:prstDash val="solid"/>
          </a:ln>
        </p:spPr>
      </p:sp>
      <p:sp>
        <p:nvSpPr>
          <p:cNvPr id="15" name="Shape 13"/>
          <p:cNvSpPr/>
          <p:nvPr/>
        </p:nvSpPr>
        <p:spPr>
          <a:xfrm>
            <a:off x="3721608" y="2542032"/>
            <a:ext cx="457200" cy="457200"/>
          </a:xfrm>
          <a:prstGeom prst="ellipse">
            <a:avLst/>
          </a:prstGeom>
          <a:solidFill>
            <a:srgbClr val="0E8A8A"/>
          </a:solidFill>
          <a:ln w="12700">
            <a:solidFill>
              <a:srgbClr val="0E8A8A"/>
            </a:solidFill>
            <a:prstDash val="solid"/>
          </a:ln>
        </p:spPr>
      </p:sp>
      <p:sp>
        <p:nvSpPr>
          <p:cNvPr id="16" name="Text 14"/>
          <p:cNvSpPr/>
          <p:nvPr/>
        </p:nvSpPr>
        <p:spPr>
          <a:xfrm>
            <a:off x="3877056" y="2651760"/>
            <a:ext cx="137160" cy="91440"/>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7" name="Text 15"/>
          <p:cNvSpPr/>
          <p:nvPr/>
        </p:nvSpPr>
        <p:spPr>
          <a:xfrm>
            <a:off x="3200400" y="3172968"/>
            <a:ext cx="1508760" cy="411480"/>
          </a:xfrm>
          <a:prstGeom prst="rect">
            <a:avLst/>
          </a:prstGeom>
          <a:noFill/>
          <a:ln/>
        </p:spPr>
        <p:txBody>
          <a:bodyPr wrap="square" lIns="0" tIns="0" rIns="0" bIns="0" rtlCol="0" anchor="ctr">
            <a:normAutofit/>
          </a:bodyPr>
          <a:lstStyle/>
          <a:p>
            <a:pPr algn="ctr" indent="0" marL="0">
              <a:buNone/>
            </a:pPr>
            <a:r>
              <a:rPr lang="en-US" sz="1160" b="1" dirty="0">
                <a:solidFill>
                  <a:srgbClr val="071B4D"/>
                </a:solidFill>
              </a:rPr>
              <a:t>Frozen forensic</a:t>
            </a:r>
            <a:endParaRPr lang="en-US" sz="1160" dirty="0"/>
          </a:p>
          <a:p>
            <a:pPr algn="ctr" indent="0" marL="0">
              <a:buNone/>
            </a:pPr>
            <a:r>
              <a:rPr lang="en-US" sz="1160" b="1" dirty="0">
                <a:solidFill>
                  <a:srgbClr val="071B4D"/>
                </a:solidFill>
              </a:rPr>
              <a:t>evaluation bundle</a:t>
            </a:r>
            <a:endParaRPr lang="en-US" sz="1160" dirty="0"/>
          </a:p>
        </p:txBody>
      </p:sp>
      <p:sp>
        <p:nvSpPr>
          <p:cNvPr id="18" name="Shape 16"/>
          <p:cNvSpPr/>
          <p:nvPr/>
        </p:nvSpPr>
        <p:spPr>
          <a:xfrm>
            <a:off x="5303520" y="2788920"/>
            <a:ext cx="1874520" cy="1325880"/>
          </a:xfrm>
          <a:prstGeom prst="roundRect">
            <a:avLst>
              <a:gd name="adj" fmla="val 5517"/>
            </a:avLst>
          </a:prstGeom>
          <a:solidFill>
            <a:srgbClr val="FFFFFF"/>
          </a:solidFill>
          <a:ln w="12700">
            <a:solidFill>
              <a:srgbClr val="F26419"/>
            </a:solidFill>
            <a:prstDash val="solid"/>
          </a:ln>
        </p:spPr>
      </p:sp>
      <p:sp>
        <p:nvSpPr>
          <p:cNvPr id="19" name="Shape 17"/>
          <p:cNvSpPr/>
          <p:nvPr/>
        </p:nvSpPr>
        <p:spPr>
          <a:xfrm>
            <a:off x="6007608" y="2542032"/>
            <a:ext cx="457200" cy="457200"/>
          </a:xfrm>
          <a:prstGeom prst="ellipse">
            <a:avLst/>
          </a:prstGeom>
          <a:solidFill>
            <a:srgbClr val="F26419"/>
          </a:solidFill>
          <a:ln w="12700">
            <a:solidFill>
              <a:srgbClr val="F26419"/>
            </a:solidFill>
            <a:prstDash val="solid"/>
          </a:ln>
        </p:spPr>
      </p:sp>
      <p:sp>
        <p:nvSpPr>
          <p:cNvPr id="20" name="Text 18"/>
          <p:cNvSpPr/>
          <p:nvPr/>
        </p:nvSpPr>
        <p:spPr>
          <a:xfrm>
            <a:off x="6163056" y="2651760"/>
            <a:ext cx="137160" cy="91440"/>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21" name="Text 19"/>
          <p:cNvSpPr/>
          <p:nvPr/>
        </p:nvSpPr>
        <p:spPr>
          <a:xfrm>
            <a:off x="5486400" y="3172968"/>
            <a:ext cx="1508760" cy="411480"/>
          </a:xfrm>
          <a:prstGeom prst="rect">
            <a:avLst/>
          </a:prstGeom>
          <a:noFill/>
          <a:ln/>
        </p:spPr>
        <p:txBody>
          <a:bodyPr wrap="square" lIns="0" tIns="0" rIns="0" bIns="0" rtlCol="0" anchor="ctr">
            <a:normAutofit/>
          </a:bodyPr>
          <a:lstStyle/>
          <a:p>
            <a:pPr algn="ctr" indent="0" marL="0">
              <a:buNone/>
            </a:pPr>
            <a:r>
              <a:rPr lang="en-US" sz="1160" b="1" dirty="0">
                <a:solidFill>
                  <a:srgbClr val="071B4D"/>
                </a:solidFill>
              </a:rPr>
              <a:t>Proxy models +</a:t>
            </a:r>
            <a:endParaRPr lang="en-US" sz="1160" dirty="0"/>
          </a:p>
          <a:p>
            <a:pPr algn="ctr" indent="0" marL="0">
              <a:buNone/>
            </a:pPr>
            <a:r>
              <a:rPr lang="en-US" sz="1160" b="1" dirty="0">
                <a:solidFill>
                  <a:srgbClr val="071B4D"/>
                </a:solidFill>
              </a:rPr>
              <a:t>black-box tools</a:t>
            </a:r>
            <a:endParaRPr lang="en-US" sz="1160" dirty="0"/>
          </a:p>
        </p:txBody>
      </p:sp>
      <p:sp>
        <p:nvSpPr>
          <p:cNvPr id="22" name="Shape 20"/>
          <p:cNvSpPr/>
          <p:nvPr/>
        </p:nvSpPr>
        <p:spPr>
          <a:xfrm>
            <a:off x="7589520" y="2788920"/>
            <a:ext cx="1874520" cy="1325880"/>
          </a:xfrm>
          <a:prstGeom prst="roundRect">
            <a:avLst>
              <a:gd name="adj" fmla="val 5517"/>
            </a:avLst>
          </a:prstGeom>
          <a:solidFill>
            <a:srgbClr val="FFFFFF"/>
          </a:solidFill>
          <a:ln w="12700">
            <a:solidFill>
              <a:srgbClr val="0E8A8A"/>
            </a:solidFill>
            <a:prstDash val="solid"/>
          </a:ln>
        </p:spPr>
      </p:sp>
      <p:sp>
        <p:nvSpPr>
          <p:cNvPr id="23" name="Shape 21"/>
          <p:cNvSpPr/>
          <p:nvPr/>
        </p:nvSpPr>
        <p:spPr>
          <a:xfrm>
            <a:off x="8293608" y="2542032"/>
            <a:ext cx="457200" cy="457200"/>
          </a:xfrm>
          <a:prstGeom prst="ellipse">
            <a:avLst/>
          </a:prstGeom>
          <a:solidFill>
            <a:srgbClr val="0E8A8A"/>
          </a:solidFill>
          <a:ln w="12700">
            <a:solidFill>
              <a:srgbClr val="0E8A8A"/>
            </a:solidFill>
            <a:prstDash val="solid"/>
          </a:ln>
        </p:spPr>
      </p:sp>
      <p:sp>
        <p:nvSpPr>
          <p:cNvPr id="24" name="Text 22"/>
          <p:cNvSpPr/>
          <p:nvPr/>
        </p:nvSpPr>
        <p:spPr>
          <a:xfrm>
            <a:off x="8449056" y="2651760"/>
            <a:ext cx="137160" cy="91440"/>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25" name="Text 23"/>
          <p:cNvSpPr/>
          <p:nvPr/>
        </p:nvSpPr>
        <p:spPr>
          <a:xfrm>
            <a:off x="7772400" y="3172968"/>
            <a:ext cx="1508760" cy="411480"/>
          </a:xfrm>
          <a:prstGeom prst="rect">
            <a:avLst/>
          </a:prstGeom>
          <a:noFill/>
          <a:ln/>
        </p:spPr>
        <p:txBody>
          <a:bodyPr wrap="square" lIns="0" tIns="0" rIns="0" bIns="0" rtlCol="0" anchor="ctr">
            <a:normAutofit/>
          </a:bodyPr>
          <a:lstStyle/>
          <a:p>
            <a:pPr algn="ctr" indent="0" marL="0">
              <a:buNone/>
            </a:pPr>
            <a:r>
              <a:rPr lang="en-US" sz="1160" b="1" dirty="0">
                <a:solidFill>
                  <a:srgbClr val="071B4D"/>
                </a:solidFill>
              </a:rPr>
              <a:t>Normalized</a:t>
            </a:r>
            <a:endParaRPr lang="en-US" sz="1160" dirty="0"/>
          </a:p>
          <a:p>
            <a:pPr algn="ctr" indent="0" marL="0">
              <a:buNone/>
            </a:pPr>
            <a:r>
              <a:rPr lang="en-US" sz="1160" b="1" dirty="0">
                <a:solidFill>
                  <a:srgbClr val="071B4D"/>
                </a:solidFill>
              </a:rPr>
              <a:t>output mapping</a:t>
            </a:r>
            <a:endParaRPr lang="en-US" sz="1160" dirty="0"/>
          </a:p>
        </p:txBody>
      </p:sp>
      <p:sp>
        <p:nvSpPr>
          <p:cNvPr id="26" name="Shape 24"/>
          <p:cNvSpPr/>
          <p:nvPr/>
        </p:nvSpPr>
        <p:spPr>
          <a:xfrm>
            <a:off x="9875520" y="2788920"/>
            <a:ext cx="1874520" cy="1325880"/>
          </a:xfrm>
          <a:prstGeom prst="roundRect">
            <a:avLst>
              <a:gd name="adj" fmla="val 5517"/>
            </a:avLst>
          </a:prstGeom>
          <a:solidFill>
            <a:srgbClr val="FFFFFF"/>
          </a:solidFill>
          <a:ln w="12700">
            <a:solidFill>
              <a:srgbClr val="F26419"/>
            </a:solidFill>
            <a:prstDash val="solid"/>
          </a:ln>
        </p:spPr>
      </p:sp>
      <p:sp>
        <p:nvSpPr>
          <p:cNvPr id="27" name="Shape 25"/>
          <p:cNvSpPr/>
          <p:nvPr/>
        </p:nvSpPr>
        <p:spPr>
          <a:xfrm>
            <a:off x="10579608" y="2542032"/>
            <a:ext cx="457200" cy="457200"/>
          </a:xfrm>
          <a:prstGeom prst="ellipse">
            <a:avLst/>
          </a:prstGeom>
          <a:solidFill>
            <a:srgbClr val="F26419"/>
          </a:solidFill>
          <a:ln w="12700">
            <a:solidFill>
              <a:srgbClr val="F26419"/>
            </a:solidFill>
            <a:prstDash val="solid"/>
          </a:ln>
        </p:spPr>
      </p:sp>
      <p:sp>
        <p:nvSpPr>
          <p:cNvPr id="28" name="Text 26"/>
          <p:cNvSpPr/>
          <p:nvPr/>
        </p:nvSpPr>
        <p:spPr>
          <a:xfrm>
            <a:off x="10735056" y="2651760"/>
            <a:ext cx="137160" cy="91440"/>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29" name="Text 27"/>
          <p:cNvSpPr/>
          <p:nvPr/>
        </p:nvSpPr>
        <p:spPr>
          <a:xfrm>
            <a:off x="10058400" y="3172968"/>
            <a:ext cx="1508760" cy="411480"/>
          </a:xfrm>
          <a:prstGeom prst="rect">
            <a:avLst/>
          </a:prstGeom>
          <a:noFill/>
          <a:ln/>
        </p:spPr>
        <p:txBody>
          <a:bodyPr wrap="square" lIns="0" tIns="0" rIns="0" bIns="0" rtlCol="0" anchor="ctr">
            <a:normAutofit/>
          </a:bodyPr>
          <a:lstStyle/>
          <a:p>
            <a:pPr algn="ctr" indent="0" marL="0">
              <a:buNone/>
            </a:pPr>
            <a:r>
              <a:rPr lang="en-US" sz="1160" b="1" dirty="0">
                <a:solidFill>
                  <a:srgbClr val="071B4D"/>
                </a:solidFill>
              </a:rPr>
              <a:t>Risk-oriented</a:t>
            </a:r>
            <a:endParaRPr lang="en-US" sz="1160" dirty="0"/>
          </a:p>
          <a:p>
            <a:pPr algn="ctr" indent="0" marL="0">
              <a:buNone/>
            </a:pPr>
            <a:r>
              <a:rPr lang="en-US" sz="1160" b="1" dirty="0">
                <a:solidFill>
                  <a:srgbClr val="071B4D"/>
                </a:solidFill>
              </a:rPr>
              <a:t>interpretation</a:t>
            </a:r>
            <a:endParaRPr lang="en-US" sz="1160" dirty="0"/>
          </a:p>
        </p:txBody>
      </p:sp>
      <p:sp>
        <p:nvSpPr>
          <p:cNvPr id="30" name="Shape 28"/>
          <p:cNvSpPr/>
          <p:nvPr/>
        </p:nvSpPr>
        <p:spPr>
          <a:xfrm>
            <a:off x="1097280" y="5212080"/>
            <a:ext cx="9966960" cy="548640"/>
          </a:xfrm>
          <a:prstGeom prst="roundRect">
            <a:avLst>
              <a:gd name="adj" fmla="val 13333"/>
            </a:avLst>
          </a:prstGeom>
          <a:solidFill>
            <a:srgbClr val="F1F5F9"/>
          </a:solidFill>
          <a:ln w="12700">
            <a:solidFill>
              <a:srgbClr val="D6DEE8"/>
            </a:solidFill>
            <a:prstDash val="solid"/>
          </a:ln>
        </p:spPr>
      </p:sp>
      <p:sp>
        <p:nvSpPr>
          <p:cNvPr id="31" name="Text 29"/>
          <p:cNvSpPr/>
          <p:nvPr/>
        </p:nvSpPr>
        <p:spPr>
          <a:xfrm>
            <a:off x="1417320" y="5422392"/>
            <a:ext cx="9281160" cy="146304"/>
          </a:xfrm>
          <a:prstGeom prst="rect">
            <a:avLst/>
          </a:prstGeom>
          <a:noFill/>
          <a:ln/>
        </p:spPr>
        <p:txBody>
          <a:bodyPr wrap="square" lIns="0" tIns="0" rIns="0" bIns="0" rtlCol="0" anchor="ctr">
            <a:normAutofit/>
          </a:bodyPr>
          <a:lstStyle/>
          <a:p>
            <a:pPr indent="0" marL="0">
              <a:buNone/>
            </a:pPr>
            <a:r>
              <a:rPr lang="en-US" sz="1150" b="1" dirty="0">
                <a:solidFill>
                  <a:srgbClr val="071B4D"/>
                </a:solidFill>
              </a:rPr>
              <a:t>Main message: the contribution is a controlled methodology, not only a list of performance values.</a:t>
            </a:r>
            <a:endParaRPr lang="en-US" sz="1150" dirty="0"/>
          </a:p>
        </p:txBody>
      </p:sp>
      <p:sp>
        <p:nvSpPr>
          <p:cNvPr id="32" name="Text 30"/>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04</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Evaluated Systems</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Inspectable proxies and realistic black-box tools</a:t>
            </a:r>
            <a:endParaRPr lang="en-US" sz="880" dirty="0"/>
          </a:p>
        </p:txBody>
      </p:sp>
      <p:sp>
        <p:nvSpPr>
          <p:cNvPr id="8" name="Shape 6"/>
          <p:cNvSpPr/>
          <p:nvPr/>
        </p:nvSpPr>
        <p:spPr>
          <a:xfrm>
            <a:off x="822960" y="1325880"/>
            <a:ext cx="5074920" cy="3611880"/>
          </a:xfrm>
          <a:prstGeom prst="roundRect">
            <a:avLst>
              <a:gd name="adj" fmla="val 2025"/>
            </a:avLst>
          </a:prstGeom>
          <a:solidFill>
            <a:srgbClr val="FFFFFF"/>
          </a:solidFill>
          <a:ln w="12700">
            <a:solidFill>
              <a:srgbClr val="D6DEE8"/>
            </a:solidFill>
            <a:prstDash val="solid"/>
          </a:ln>
        </p:spPr>
      </p:sp>
      <p:sp>
        <p:nvSpPr>
          <p:cNvPr id="9" name="Shape 7"/>
          <p:cNvSpPr/>
          <p:nvPr/>
        </p:nvSpPr>
        <p:spPr>
          <a:xfrm>
            <a:off x="822960" y="1325880"/>
            <a:ext cx="5074920" cy="429768"/>
          </a:xfrm>
          <a:prstGeom prst="roundRect">
            <a:avLst>
              <a:gd name="adj" fmla="val 17021"/>
            </a:avLst>
          </a:prstGeom>
          <a:solidFill>
            <a:srgbClr val="0B2A5B"/>
          </a:solidFill>
          <a:ln w="12700">
            <a:solidFill>
              <a:srgbClr val="0B2A5B"/>
            </a:solidFill>
            <a:prstDash val="solid"/>
          </a:ln>
        </p:spPr>
      </p:sp>
      <p:sp>
        <p:nvSpPr>
          <p:cNvPr id="10" name="Text 8"/>
          <p:cNvSpPr/>
          <p:nvPr/>
        </p:nvSpPr>
        <p:spPr>
          <a:xfrm>
            <a:off x="932688" y="1426464"/>
            <a:ext cx="485546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Proxy Models</a:t>
            </a:r>
            <a:endParaRPr lang="en-US" sz="1030" dirty="0"/>
          </a:p>
        </p:txBody>
      </p:sp>
      <p:sp>
        <p:nvSpPr>
          <p:cNvPr id="11" name="Shape 9"/>
          <p:cNvSpPr/>
          <p:nvPr/>
        </p:nvSpPr>
        <p:spPr>
          <a:xfrm>
            <a:off x="987552" y="2039112"/>
            <a:ext cx="82296" cy="82296"/>
          </a:xfrm>
          <a:prstGeom prst="ellipse">
            <a:avLst/>
          </a:prstGeom>
          <a:solidFill>
            <a:srgbClr val="0B2A5B"/>
          </a:solidFill>
          <a:ln w="12700">
            <a:solidFill>
              <a:srgbClr val="0B2A5B"/>
            </a:solidFill>
            <a:prstDash val="solid"/>
          </a:ln>
        </p:spPr>
      </p:sp>
      <p:sp>
        <p:nvSpPr>
          <p:cNvPr id="12" name="Text 10"/>
          <p:cNvSpPr/>
          <p:nvPr/>
        </p:nvSpPr>
        <p:spPr>
          <a:xfrm>
            <a:off x="1143000" y="1984248"/>
            <a:ext cx="459943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ResNet18</a:t>
            </a:r>
            <a:endParaRPr lang="en-US" sz="870" dirty="0"/>
          </a:p>
        </p:txBody>
      </p:sp>
      <p:sp>
        <p:nvSpPr>
          <p:cNvPr id="13" name="Shape 11"/>
          <p:cNvSpPr/>
          <p:nvPr/>
        </p:nvSpPr>
        <p:spPr>
          <a:xfrm>
            <a:off x="987552" y="2432304"/>
            <a:ext cx="82296" cy="82296"/>
          </a:xfrm>
          <a:prstGeom prst="ellipse">
            <a:avLst/>
          </a:prstGeom>
          <a:solidFill>
            <a:srgbClr val="0B2A5B"/>
          </a:solidFill>
          <a:ln w="12700">
            <a:solidFill>
              <a:srgbClr val="0B2A5B"/>
            </a:solidFill>
            <a:prstDash val="solid"/>
          </a:ln>
        </p:spPr>
      </p:sp>
      <p:sp>
        <p:nvSpPr>
          <p:cNvPr id="14" name="Text 12"/>
          <p:cNvSpPr/>
          <p:nvPr/>
        </p:nvSpPr>
        <p:spPr>
          <a:xfrm>
            <a:off x="1143000" y="2377440"/>
            <a:ext cx="459943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EfficientNet-B0</a:t>
            </a:r>
            <a:endParaRPr lang="en-US" sz="870" dirty="0"/>
          </a:p>
        </p:txBody>
      </p:sp>
      <p:sp>
        <p:nvSpPr>
          <p:cNvPr id="15" name="Shape 13"/>
          <p:cNvSpPr/>
          <p:nvPr/>
        </p:nvSpPr>
        <p:spPr>
          <a:xfrm>
            <a:off x="987552" y="2825496"/>
            <a:ext cx="82296" cy="82296"/>
          </a:xfrm>
          <a:prstGeom prst="ellipse">
            <a:avLst/>
          </a:prstGeom>
          <a:solidFill>
            <a:srgbClr val="0B2A5B"/>
          </a:solidFill>
          <a:ln w="12700">
            <a:solidFill>
              <a:srgbClr val="0B2A5B"/>
            </a:solidFill>
            <a:prstDash val="solid"/>
          </a:ln>
        </p:spPr>
      </p:sp>
      <p:sp>
        <p:nvSpPr>
          <p:cNvPr id="16" name="Text 14"/>
          <p:cNvSpPr/>
          <p:nvPr/>
        </p:nvSpPr>
        <p:spPr>
          <a:xfrm>
            <a:off x="1143000" y="2770632"/>
            <a:ext cx="459943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CLIP visual encoder + supervised binary head</a:t>
            </a:r>
            <a:endParaRPr lang="en-US" sz="870" dirty="0"/>
          </a:p>
        </p:txBody>
      </p:sp>
      <p:sp>
        <p:nvSpPr>
          <p:cNvPr id="17" name="Shape 15"/>
          <p:cNvSpPr/>
          <p:nvPr/>
        </p:nvSpPr>
        <p:spPr>
          <a:xfrm>
            <a:off x="987552" y="3218688"/>
            <a:ext cx="82296" cy="82296"/>
          </a:xfrm>
          <a:prstGeom prst="ellipse">
            <a:avLst/>
          </a:prstGeom>
          <a:solidFill>
            <a:srgbClr val="0B2A5B"/>
          </a:solidFill>
          <a:ln w="12700">
            <a:solidFill>
              <a:srgbClr val="0B2A5B"/>
            </a:solidFill>
            <a:prstDash val="solid"/>
          </a:ln>
        </p:spPr>
      </p:sp>
      <p:sp>
        <p:nvSpPr>
          <p:cNvPr id="18" name="Text 16"/>
          <p:cNvSpPr/>
          <p:nvPr/>
        </p:nvSpPr>
        <p:spPr>
          <a:xfrm>
            <a:off x="1143000" y="3163824"/>
            <a:ext cx="459943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CLIP is not zero-shot</a:t>
            </a:r>
            <a:endParaRPr lang="en-US" sz="870" dirty="0"/>
          </a:p>
        </p:txBody>
      </p:sp>
      <p:sp>
        <p:nvSpPr>
          <p:cNvPr id="19" name="Shape 17"/>
          <p:cNvSpPr/>
          <p:nvPr/>
        </p:nvSpPr>
        <p:spPr>
          <a:xfrm>
            <a:off x="6309360" y="1325880"/>
            <a:ext cx="5074920" cy="3611880"/>
          </a:xfrm>
          <a:prstGeom prst="roundRect">
            <a:avLst>
              <a:gd name="adj" fmla="val 2025"/>
            </a:avLst>
          </a:prstGeom>
          <a:solidFill>
            <a:srgbClr val="FFFFFF"/>
          </a:solidFill>
          <a:ln w="12700">
            <a:solidFill>
              <a:srgbClr val="D6DEE8"/>
            </a:solidFill>
            <a:prstDash val="solid"/>
          </a:ln>
        </p:spPr>
      </p:sp>
      <p:sp>
        <p:nvSpPr>
          <p:cNvPr id="20" name="Shape 18"/>
          <p:cNvSpPr/>
          <p:nvPr/>
        </p:nvSpPr>
        <p:spPr>
          <a:xfrm>
            <a:off x="6309360" y="1325880"/>
            <a:ext cx="5074920" cy="429768"/>
          </a:xfrm>
          <a:prstGeom prst="roundRect">
            <a:avLst>
              <a:gd name="adj" fmla="val 17021"/>
            </a:avLst>
          </a:prstGeom>
          <a:solidFill>
            <a:srgbClr val="0E8A8A"/>
          </a:solidFill>
          <a:ln w="12700">
            <a:solidFill>
              <a:srgbClr val="0E8A8A"/>
            </a:solidFill>
            <a:prstDash val="solid"/>
          </a:ln>
        </p:spPr>
      </p:sp>
      <p:sp>
        <p:nvSpPr>
          <p:cNvPr id="21" name="Text 19"/>
          <p:cNvSpPr/>
          <p:nvPr/>
        </p:nvSpPr>
        <p:spPr>
          <a:xfrm>
            <a:off x="6419088" y="1426464"/>
            <a:ext cx="485546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Commercial AI-Based Tools</a:t>
            </a:r>
            <a:endParaRPr lang="en-US" sz="1030" dirty="0"/>
          </a:p>
        </p:txBody>
      </p:sp>
      <p:sp>
        <p:nvSpPr>
          <p:cNvPr id="22" name="Shape 20"/>
          <p:cNvSpPr/>
          <p:nvPr/>
        </p:nvSpPr>
        <p:spPr>
          <a:xfrm>
            <a:off x="6473952" y="2039112"/>
            <a:ext cx="82296" cy="82296"/>
          </a:xfrm>
          <a:prstGeom prst="ellipse">
            <a:avLst/>
          </a:prstGeom>
          <a:solidFill>
            <a:srgbClr val="0E8A8A"/>
          </a:solidFill>
          <a:ln w="12700">
            <a:solidFill>
              <a:srgbClr val="0E8A8A"/>
            </a:solidFill>
            <a:prstDash val="solid"/>
          </a:ln>
        </p:spPr>
      </p:sp>
      <p:sp>
        <p:nvSpPr>
          <p:cNvPr id="23" name="Text 21"/>
          <p:cNvSpPr/>
          <p:nvPr/>
        </p:nvSpPr>
        <p:spPr>
          <a:xfrm>
            <a:off x="6629400" y="1984248"/>
            <a:ext cx="459943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Magnet AXIOM / Magnet.AI 10.1.0.48673</a:t>
            </a:r>
            <a:endParaRPr lang="en-US" sz="870" dirty="0"/>
          </a:p>
        </p:txBody>
      </p:sp>
      <p:sp>
        <p:nvSpPr>
          <p:cNvPr id="24" name="Shape 22"/>
          <p:cNvSpPr/>
          <p:nvPr/>
        </p:nvSpPr>
        <p:spPr>
          <a:xfrm>
            <a:off x="6473952" y="2432304"/>
            <a:ext cx="82296" cy="82296"/>
          </a:xfrm>
          <a:prstGeom prst="ellipse">
            <a:avLst/>
          </a:prstGeom>
          <a:solidFill>
            <a:srgbClr val="0E8A8A"/>
          </a:solidFill>
          <a:ln w="12700">
            <a:solidFill>
              <a:srgbClr val="0E8A8A"/>
            </a:solidFill>
            <a:prstDash val="solid"/>
          </a:ln>
        </p:spPr>
      </p:sp>
      <p:sp>
        <p:nvSpPr>
          <p:cNvPr id="25" name="Text 23"/>
          <p:cNvSpPr/>
          <p:nvPr/>
        </p:nvSpPr>
        <p:spPr>
          <a:xfrm>
            <a:off x="6629400" y="2377440"/>
            <a:ext cx="459943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Excire Foto 2025 4.1.5</a:t>
            </a:r>
            <a:endParaRPr lang="en-US" sz="870" dirty="0"/>
          </a:p>
        </p:txBody>
      </p:sp>
      <p:sp>
        <p:nvSpPr>
          <p:cNvPr id="26" name="Shape 24"/>
          <p:cNvSpPr/>
          <p:nvPr/>
        </p:nvSpPr>
        <p:spPr>
          <a:xfrm>
            <a:off x="6473952" y="2825496"/>
            <a:ext cx="82296" cy="82296"/>
          </a:xfrm>
          <a:prstGeom prst="ellipse">
            <a:avLst/>
          </a:prstGeom>
          <a:solidFill>
            <a:srgbClr val="0E8A8A"/>
          </a:solidFill>
          <a:ln w="12700">
            <a:solidFill>
              <a:srgbClr val="0E8A8A"/>
            </a:solidFill>
            <a:prstDash val="solid"/>
          </a:ln>
        </p:spPr>
      </p:sp>
      <p:sp>
        <p:nvSpPr>
          <p:cNvPr id="27" name="Text 25"/>
          <p:cNvSpPr/>
          <p:nvPr/>
        </p:nvSpPr>
        <p:spPr>
          <a:xfrm>
            <a:off x="6629400" y="2770632"/>
            <a:ext cx="459943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Cellebrite Inseyets 10.9</a:t>
            </a:r>
            <a:endParaRPr lang="en-US" sz="870" dirty="0"/>
          </a:p>
        </p:txBody>
      </p:sp>
      <p:sp>
        <p:nvSpPr>
          <p:cNvPr id="28" name="Shape 26"/>
          <p:cNvSpPr/>
          <p:nvPr/>
        </p:nvSpPr>
        <p:spPr>
          <a:xfrm>
            <a:off x="6473952" y="3218688"/>
            <a:ext cx="82296" cy="82296"/>
          </a:xfrm>
          <a:prstGeom prst="ellipse">
            <a:avLst/>
          </a:prstGeom>
          <a:solidFill>
            <a:srgbClr val="0E8A8A"/>
          </a:solidFill>
          <a:ln w="12700">
            <a:solidFill>
              <a:srgbClr val="0E8A8A"/>
            </a:solidFill>
            <a:prstDash val="solid"/>
          </a:ln>
        </p:spPr>
      </p:sp>
      <p:sp>
        <p:nvSpPr>
          <p:cNvPr id="29" name="Text 27"/>
          <p:cNvSpPr/>
          <p:nvPr/>
        </p:nvSpPr>
        <p:spPr>
          <a:xfrm>
            <a:off x="6629400" y="3163824"/>
            <a:ext cx="459943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Physical Analyzer 10.9.0.3029 export</a:t>
            </a:r>
            <a:endParaRPr lang="en-US" sz="870" dirty="0"/>
          </a:p>
        </p:txBody>
      </p:sp>
      <p:sp>
        <p:nvSpPr>
          <p:cNvPr id="30" name="Shape 28"/>
          <p:cNvSpPr/>
          <p:nvPr/>
        </p:nvSpPr>
        <p:spPr>
          <a:xfrm>
            <a:off x="5751576" y="2606040"/>
            <a:ext cx="566928" cy="566928"/>
          </a:xfrm>
          <a:prstGeom prst="ellipse">
            <a:avLst/>
          </a:prstGeom>
          <a:solidFill>
            <a:srgbClr val="071B4D"/>
          </a:solidFill>
          <a:ln w="12700">
            <a:solidFill>
              <a:srgbClr val="071B4D"/>
            </a:solidFill>
            <a:prstDash val="solid"/>
          </a:ln>
        </p:spPr>
      </p:sp>
      <p:sp>
        <p:nvSpPr>
          <p:cNvPr id="31" name="Text 29"/>
          <p:cNvSpPr/>
          <p:nvPr/>
        </p:nvSpPr>
        <p:spPr>
          <a:xfrm>
            <a:off x="5870448" y="2807208"/>
            <a:ext cx="329184" cy="128016"/>
          </a:xfrm>
          <a:prstGeom prst="rect">
            <a:avLst/>
          </a:prstGeom>
          <a:noFill/>
          <a:ln/>
        </p:spPr>
        <p:txBody>
          <a:bodyPr wrap="square" lIns="0" tIns="0" rIns="0" bIns="0" rtlCol="0" anchor="ctr"/>
          <a:lstStyle/>
          <a:p>
            <a:pPr algn="ctr" indent="0" marL="0">
              <a:buNone/>
            </a:pPr>
            <a:r>
              <a:rPr lang="en-US" sz="1100" b="1" dirty="0">
                <a:solidFill>
                  <a:srgbClr val="FFFFFF"/>
                </a:solidFill>
              </a:rPr>
              <a:t>VS</a:t>
            </a:r>
            <a:endParaRPr lang="en-US" sz="1100" dirty="0"/>
          </a:p>
        </p:txBody>
      </p:sp>
      <p:sp>
        <p:nvSpPr>
          <p:cNvPr id="32" name="Text 30"/>
          <p:cNvSpPr/>
          <p:nvPr/>
        </p:nvSpPr>
        <p:spPr>
          <a:xfrm>
            <a:off x="2926080" y="5285232"/>
            <a:ext cx="6309360" cy="256032"/>
          </a:xfrm>
          <a:prstGeom prst="rect">
            <a:avLst/>
          </a:prstGeom>
          <a:noFill/>
          <a:ln/>
        </p:spPr>
        <p:txBody>
          <a:bodyPr wrap="square" lIns="0" tIns="0" rIns="0" bIns="0" rtlCol="0" anchor="ctr"/>
          <a:lstStyle/>
          <a:p>
            <a:pPr algn="ctr" indent="0" marL="0">
              <a:buNone/>
            </a:pPr>
            <a:r>
              <a:rPr lang="en-US" sz="1350" b="1" dirty="0">
                <a:solidFill>
                  <a:srgbClr val="F26419"/>
                </a:solidFill>
              </a:rPr>
              <a:t>Complementary evaluation, not a universal ranking.</a:t>
            </a:r>
            <a:endParaRPr lang="en-US" sz="1350" dirty="0"/>
          </a:p>
        </p:txBody>
      </p:sp>
      <p:sp>
        <p:nvSpPr>
          <p:cNvPr id="33" name="Text 31"/>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05</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Dataset and Evaluation Bundle</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Frozen inputs for comparable and repeatable evaluation</a:t>
            </a:r>
            <a:endParaRPr lang="en-US" sz="880" dirty="0"/>
          </a:p>
        </p:txBody>
      </p:sp>
      <p:sp>
        <p:nvSpPr>
          <p:cNvPr id="8" name="Shape 6"/>
          <p:cNvSpPr/>
          <p:nvPr/>
        </p:nvSpPr>
        <p:spPr>
          <a:xfrm>
            <a:off x="3474720" y="1115568"/>
            <a:ext cx="5212080" cy="384048"/>
          </a:xfrm>
          <a:prstGeom prst="roundRect">
            <a:avLst>
              <a:gd name="adj" fmla="val 19048"/>
            </a:avLst>
          </a:prstGeom>
          <a:solidFill>
            <a:srgbClr val="071B4D"/>
          </a:solidFill>
          <a:ln w="12700">
            <a:solidFill>
              <a:srgbClr val="071B4D"/>
            </a:solidFill>
            <a:prstDash val="solid"/>
          </a:ln>
        </p:spPr>
      </p:sp>
      <p:sp>
        <p:nvSpPr>
          <p:cNvPr id="9" name="Text 7"/>
          <p:cNvSpPr/>
          <p:nvPr/>
        </p:nvSpPr>
        <p:spPr>
          <a:xfrm>
            <a:off x="3547872" y="1147572"/>
            <a:ext cx="5065776" cy="329184"/>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rPr>
              <a:t>Frozen Dataset: 1,500 Images</a:t>
            </a:r>
            <a:endParaRPr lang="en-US" sz="1300" dirty="0"/>
          </a:p>
        </p:txBody>
      </p:sp>
      <p:sp>
        <p:nvSpPr>
          <p:cNvPr id="10" name="Shape 8"/>
          <p:cNvSpPr/>
          <p:nvPr/>
        </p:nvSpPr>
        <p:spPr>
          <a:xfrm>
            <a:off x="1188720" y="1874520"/>
            <a:ext cx="2788920" cy="1143000"/>
          </a:xfrm>
          <a:prstGeom prst="roundRect">
            <a:avLst>
              <a:gd name="adj" fmla="val 6400"/>
            </a:avLst>
          </a:prstGeom>
          <a:solidFill>
            <a:srgbClr val="EEF5FF"/>
          </a:solidFill>
          <a:ln w="12700">
            <a:solidFill>
              <a:srgbClr val="0B2A5B"/>
            </a:solidFill>
            <a:prstDash val="solid"/>
          </a:ln>
        </p:spPr>
      </p:sp>
      <p:sp>
        <p:nvSpPr>
          <p:cNvPr id="11" name="Text 9"/>
          <p:cNvSpPr/>
          <p:nvPr/>
        </p:nvSpPr>
        <p:spPr>
          <a:xfrm>
            <a:off x="1417320" y="2121408"/>
            <a:ext cx="2331720" cy="228600"/>
          </a:xfrm>
          <a:prstGeom prst="rect">
            <a:avLst/>
          </a:prstGeom>
          <a:noFill/>
          <a:ln/>
        </p:spPr>
        <p:txBody>
          <a:bodyPr wrap="square" lIns="0" tIns="0" rIns="0" bIns="0" rtlCol="0" anchor="ctr"/>
          <a:lstStyle/>
          <a:p>
            <a:pPr algn="ctr" indent="0" marL="0">
              <a:buNone/>
            </a:pPr>
            <a:r>
              <a:rPr lang="en-US" sz="1700" b="1" dirty="0">
                <a:solidFill>
                  <a:srgbClr val="0B2A5B"/>
                </a:solidFill>
              </a:rPr>
              <a:t>500 Weapon</a:t>
            </a:r>
            <a:endParaRPr lang="en-US" sz="1700" dirty="0"/>
          </a:p>
        </p:txBody>
      </p:sp>
      <p:sp>
        <p:nvSpPr>
          <p:cNvPr id="12" name="Text 10"/>
          <p:cNvSpPr/>
          <p:nvPr/>
        </p:nvSpPr>
        <p:spPr>
          <a:xfrm>
            <a:off x="1508760" y="2606040"/>
            <a:ext cx="2148840" cy="164592"/>
          </a:xfrm>
          <a:prstGeom prst="rect">
            <a:avLst/>
          </a:prstGeom>
          <a:noFill/>
          <a:ln/>
        </p:spPr>
        <p:txBody>
          <a:bodyPr wrap="square" lIns="0" tIns="0" rIns="0" bIns="0" rtlCol="0" anchor="ctr"/>
          <a:lstStyle/>
          <a:p>
            <a:pPr algn="ctr" indent="0" marL="0">
              <a:buNone/>
            </a:pPr>
            <a:r>
              <a:rPr lang="en-US" sz="1000" dirty="0">
                <a:solidFill>
                  <a:srgbClr val="64748B"/>
                </a:solidFill>
              </a:rPr>
              <a:t>weapon</a:t>
            </a:r>
            <a:endParaRPr lang="en-US" sz="1000" dirty="0"/>
          </a:p>
        </p:txBody>
      </p:sp>
      <p:sp>
        <p:nvSpPr>
          <p:cNvPr id="13" name="Shape 11"/>
          <p:cNvSpPr/>
          <p:nvPr/>
        </p:nvSpPr>
        <p:spPr>
          <a:xfrm>
            <a:off x="4572000" y="1874520"/>
            <a:ext cx="2788920" cy="1143000"/>
          </a:xfrm>
          <a:prstGeom prst="roundRect">
            <a:avLst>
              <a:gd name="adj" fmla="val 6400"/>
            </a:avLst>
          </a:prstGeom>
          <a:solidFill>
            <a:srgbClr val="EAF7F7"/>
          </a:solidFill>
          <a:ln w="12700">
            <a:solidFill>
              <a:srgbClr val="0E8A8A"/>
            </a:solidFill>
            <a:prstDash val="solid"/>
          </a:ln>
        </p:spPr>
      </p:sp>
      <p:sp>
        <p:nvSpPr>
          <p:cNvPr id="14" name="Text 12"/>
          <p:cNvSpPr/>
          <p:nvPr/>
        </p:nvSpPr>
        <p:spPr>
          <a:xfrm>
            <a:off x="4800600" y="2121408"/>
            <a:ext cx="2331720" cy="228600"/>
          </a:xfrm>
          <a:prstGeom prst="rect">
            <a:avLst/>
          </a:prstGeom>
          <a:noFill/>
          <a:ln/>
        </p:spPr>
        <p:txBody>
          <a:bodyPr wrap="square" lIns="0" tIns="0" rIns="0" bIns="0" rtlCol="0" anchor="ctr"/>
          <a:lstStyle/>
          <a:p>
            <a:pPr algn="ctr" indent="0" marL="0">
              <a:buNone/>
            </a:pPr>
            <a:r>
              <a:rPr lang="en-US" sz="1700" b="1" dirty="0">
                <a:solidFill>
                  <a:srgbClr val="0E8A8A"/>
                </a:solidFill>
              </a:rPr>
              <a:t>500 Non-Weapon</a:t>
            </a:r>
            <a:endParaRPr lang="en-US" sz="1700" dirty="0"/>
          </a:p>
        </p:txBody>
      </p:sp>
      <p:sp>
        <p:nvSpPr>
          <p:cNvPr id="15" name="Text 13"/>
          <p:cNvSpPr/>
          <p:nvPr/>
        </p:nvSpPr>
        <p:spPr>
          <a:xfrm>
            <a:off x="4892040" y="2606040"/>
            <a:ext cx="2148840" cy="164592"/>
          </a:xfrm>
          <a:prstGeom prst="rect">
            <a:avLst/>
          </a:prstGeom>
          <a:noFill/>
          <a:ln/>
        </p:spPr>
        <p:txBody>
          <a:bodyPr wrap="square" lIns="0" tIns="0" rIns="0" bIns="0" rtlCol="0" anchor="ctr"/>
          <a:lstStyle/>
          <a:p>
            <a:pPr algn="ctr" indent="0" marL="0">
              <a:buNone/>
            </a:pPr>
            <a:r>
              <a:rPr lang="en-US" sz="1000" dirty="0">
                <a:solidFill>
                  <a:srgbClr val="64748B"/>
                </a:solidFill>
              </a:rPr>
              <a:t>non_weapon</a:t>
            </a:r>
            <a:endParaRPr lang="en-US" sz="1000" dirty="0"/>
          </a:p>
        </p:txBody>
      </p:sp>
      <p:sp>
        <p:nvSpPr>
          <p:cNvPr id="16" name="Shape 14"/>
          <p:cNvSpPr/>
          <p:nvPr/>
        </p:nvSpPr>
        <p:spPr>
          <a:xfrm>
            <a:off x="7955280" y="1874520"/>
            <a:ext cx="2788920" cy="1143000"/>
          </a:xfrm>
          <a:prstGeom prst="roundRect">
            <a:avLst>
              <a:gd name="adj" fmla="val 6400"/>
            </a:avLst>
          </a:prstGeom>
          <a:solidFill>
            <a:srgbClr val="FFF1E8"/>
          </a:solidFill>
          <a:ln w="12700">
            <a:solidFill>
              <a:srgbClr val="F26419"/>
            </a:solidFill>
            <a:prstDash val="solid"/>
          </a:ln>
        </p:spPr>
      </p:sp>
      <p:sp>
        <p:nvSpPr>
          <p:cNvPr id="17" name="Text 15"/>
          <p:cNvSpPr/>
          <p:nvPr/>
        </p:nvSpPr>
        <p:spPr>
          <a:xfrm>
            <a:off x="8183880" y="2121408"/>
            <a:ext cx="2331720" cy="228600"/>
          </a:xfrm>
          <a:prstGeom prst="rect">
            <a:avLst/>
          </a:prstGeom>
          <a:noFill/>
          <a:ln/>
        </p:spPr>
        <p:txBody>
          <a:bodyPr wrap="square" lIns="0" tIns="0" rIns="0" bIns="0" rtlCol="0" anchor="ctr"/>
          <a:lstStyle/>
          <a:p>
            <a:pPr algn="ctr" indent="0" marL="0">
              <a:buNone/>
            </a:pPr>
            <a:r>
              <a:rPr lang="en-US" sz="1700" b="1" dirty="0">
                <a:solidFill>
                  <a:srgbClr val="F26419"/>
                </a:solidFill>
              </a:rPr>
              <a:t>500 OOD</a:t>
            </a:r>
            <a:endParaRPr lang="en-US" sz="1700" dirty="0"/>
          </a:p>
        </p:txBody>
      </p:sp>
      <p:sp>
        <p:nvSpPr>
          <p:cNvPr id="18" name="Text 16"/>
          <p:cNvSpPr/>
          <p:nvPr/>
        </p:nvSpPr>
        <p:spPr>
          <a:xfrm>
            <a:off x="8275320" y="2606040"/>
            <a:ext cx="2148840" cy="164592"/>
          </a:xfrm>
          <a:prstGeom prst="rect">
            <a:avLst/>
          </a:prstGeom>
          <a:noFill/>
          <a:ln/>
        </p:spPr>
        <p:txBody>
          <a:bodyPr wrap="square" lIns="0" tIns="0" rIns="0" bIns="0" rtlCol="0" anchor="ctr"/>
          <a:lstStyle/>
          <a:p>
            <a:pPr algn="ctr" indent="0" marL="0">
              <a:buNone/>
            </a:pPr>
            <a:r>
              <a:rPr lang="en-US" sz="1000" dirty="0">
                <a:solidFill>
                  <a:srgbClr val="64748B"/>
                </a:solidFill>
              </a:rPr>
              <a:t>ood</a:t>
            </a:r>
            <a:endParaRPr lang="en-US" sz="1000" dirty="0"/>
          </a:p>
        </p:txBody>
      </p:sp>
      <p:sp>
        <p:nvSpPr>
          <p:cNvPr id="19" name="Shape 17"/>
          <p:cNvSpPr/>
          <p:nvPr/>
        </p:nvSpPr>
        <p:spPr>
          <a:xfrm>
            <a:off x="1261872" y="3200400"/>
            <a:ext cx="6035040" cy="411480"/>
          </a:xfrm>
          <a:prstGeom prst="bracePair">
            <a:avLst/>
          </a:prstGeom>
          <a:noFill/>
          <a:ln w="19050">
            <a:solidFill>
              <a:srgbClr val="0E8A8A"/>
            </a:solidFill>
            <a:prstDash val="solid"/>
          </a:ln>
        </p:spPr>
      </p:sp>
      <p:sp>
        <p:nvSpPr>
          <p:cNvPr id="20" name="Text 18"/>
          <p:cNvSpPr/>
          <p:nvPr/>
        </p:nvSpPr>
        <p:spPr>
          <a:xfrm>
            <a:off x="2194560" y="3749040"/>
            <a:ext cx="4206240" cy="502920"/>
          </a:xfrm>
          <a:prstGeom prst="rect">
            <a:avLst/>
          </a:prstGeom>
          <a:noFill/>
          <a:ln/>
        </p:spPr>
        <p:txBody>
          <a:bodyPr wrap="square" lIns="0" tIns="0" rIns="0" bIns="0" rtlCol="0" anchor="ctr">
            <a:normAutofit/>
          </a:bodyPr>
          <a:lstStyle/>
          <a:p>
            <a:pPr algn="ctr" indent="0" marL="0">
              <a:buNone/>
            </a:pPr>
            <a:r>
              <a:rPr lang="en-US" sz="1500" b="1" dirty="0">
                <a:solidFill>
                  <a:srgbClr val="0E8A8A"/>
                </a:solidFill>
              </a:rPr>
              <a:t>Binary subset: 1,000 images</a:t>
            </a:r>
            <a:endParaRPr lang="en-US" sz="1500" dirty="0"/>
          </a:p>
          <a:p>
            <a:pPr algn="ctr" indent="0" marL="0">
              <a:buNone/>
            </a:pPr>
            <a:r>
              <a:rPr lang="en-US" sz="1500" b="1" dirty="0">
                <a:solidFill>
                  <a:srgbClr val="0E8A8A"/>
                </a:solidFill>
              </a:rPr>
              <a:t>used for clean and perturbed evaluation</a:t>
            </a:r>
            <a:endParaRPr lang="en-US" sz="1500" dirty="0"/>
          </a:p>
        </p:txBody>
      </p:sp>
      <p:sp>
        <p:nvSpPr>
          <p:cNvPr id="21" name="Shape 19"/>
          <p:cNvSpPr/>
          <p:nvPr/>
        </p:nvSpPr>
        <p:spPr>
          <a:xfrm>
            <a:off x="9052560" y="2999232"/>
            <a:ext cx="0" cy="704088"/>
          </a:xfrm>
          <a:prstGeom prst="line">
            <a:avLst/>
          </a:prstGeom>
          <a:noFill/>
          <a:ln w="17780">
            <a:solidFill>
              <a:srgbClr val="F26419"/>
            </a:solidFill>
            <a:prstDash val="solid"/>
            <a:headEnd type="none"/>
            <a:tailEnd type="triangle"/>
          </a:ln>
        </p:spPr>
      </p:sp>
      <p:sp>
        <p:nvSpPr>
          <p:cNvPr id="22" name="Text 20"/>
          <p:cNvSpPr/>
          <p:nvPr/>
        </p:nvSpPr>
        <p:spPr>
          <a:xfrm>
            <a:off x="8001000" y="3749040"/>
            <a:ext cx="2103120" cy="530352"/>
          </a:xfrm>
          <a:prstGeom prst="rect">
            <a:avLst/>
          </a:prstGeom>
          <a:noFill/>
          <a:ln/>
        </p:spPr>
        <p:txBody>
          <a:bodyPr wrap="square" lIns="0" tIns="0" rIns="0" bIns="0" rtlCol="0" anchor="ctr">
            <a:normAutofit/>
          </a:bodyPr>
          <a:lstStyle/>
          <a:p>
            <a:pPr algn="ctr" indent="0" marL="0">
              <a:buNone/>
            </a:pPr>
            <a:r>
              <a:rPr lang="en-US" sz="1300" b="1" dirty="0">
                <a:solidFill>
                  <a:srgbClr val="F26419"/>
                </a:solidFill>
              </a:rPr>
              <a:t>OOD subset: 500 images</a:t>
            </a:r>
            <a:endParaRPr lang="en-US" sz="1300" dirty="0"/>
          </a:p>
          <a:p>
            <a:pPr algn="ctr" indent="0" marL="0">
              <a:buNone/>
            </a:pPr>
            <a:r>
              <a:rPr lang="en-US" sz="1300" b="1" dirty="0">
                <a:solidFill>
                  <a:srgbClr val="F26419"/>
                </a:solidFill>
              </a:rPr>
              <a:t>evaluated separately</a:t>
            </a:r>
            <a:endParaRPr lang="en-US" sz="1300" dirty="0"/>
          </a:p>
          <a:p>
            <a:pPr algn="ctr" indent="0" marL="0">
              <a:buNone/>
            </a:pPr>
            <a:r>
              <a:rPr lang="en-US" sz="1300" b="1" dirty="0">
                <a:solidFill>
                  <a:srgbClr val="F26419"/>
                </a:solidFill>
              </a:rPr>
              <a:t>Clean only</a:t>
            </a:r>
            <a:endParaRPr lang="en-US" sz="1300" dirty="0"/>
          </a:p>
        </p:txBody>
      </p:sp>
      <p:sp>
        <p:nvSpPr>
          <p:cNvPr id="23" name="Shape 21"/>
          <p:cNvSpPr/>
          <p:nvPr/>
        </p:nvSpPr>
        <p:spPr>
          <a:xfrm>
            <a:off x="9875520" y="2697480"/>
            <a:ext cx="1600200" cy="1143000"/>
          </a:xfrm>
          <a:prstGeom prst="roundRect">
            <a:avLst>
              <a:gd name="adj" fmla="val 6400"/>
            </a:avLst>
          </a:prstGeom>
          <a:solidFill>
            <a:srgbClr val="FFFFFF"/>
          </a:solidFill>
          <a:ln w="15240">
            <a:solidFill>
              <a:srgbClr val="071B4D"/>
            </a:solidFill>
            <a:prstDash val="solid"/>
          </a:ln>
        </p:spPr>
      </p:sp>
      <p:sp>
        <p:nvSpPr>
          <p:cNvPr id="24" name="Text 22"/>
          <p:cNvSpPr/>
          <p:nvPr/>
        </p:nvSpPr>
        <p:spPr>
          <a:xfrm>
            <a:off x="10094976" y="2907792"/>
            <a:ext cx="1152144" cy="594360"/>
          </a:xfrm>
          <a:prstGeom prst="rect">
            <a:avLst/>
          </a:prstGeom>
          <a:noFill/>
          <a:ln/>
        </p:spPr>
        <p:txBody>
          <a:bodyPr wrap="square" lIns="0" tIns="0" rIns="0" bIns="0" rtlCol="0" anchor="ctr">
            <a:normAutofit/>
          </a:bodyPr>
          <a:lstStyle/>
          <a:p>
            <a:pPr algn="ctr" indent="0" marL="0">
              <a:buNone/>
            </a:pPr>
            <a:r>
              <a:rPr lang="en-US" sz="1300" b="1" dirty="0">
                <a:solidFill>
                  <a:srgbClr val="071B4D"/>
                </a:solidFill>
              </a:rPr>
              <a:t>RULE</a:t>
            </a:r>
            <a:endParaRPr lang="en-US" sz="1300" dirty="0"/>
          </a:p>
          <a:p>
            <a:pPr algn="ctr" indent="0" marL="0">
              <a:buNone/>
            </a:pPr>
            <a:r>
              <a:rPr lang="en-US" sz="1300" b="1" dirty="0">
                <a:solidFill>
                  <a:srgbClr val="071B4D"/>
                </a:solidFill>
              </a:rPr>
              <a:t>OOD branch</a:t>
            </a:r>
            <a:endParaRPr lang="en-US" sz="1300" dirty="0"/>
          </a:p>
          <a:p>
            <a:pPr algn="ctr" indent="0" marL="0">
              <a:buNone/>
            </a:pPr>
            <a:r>
              <a:rPr lang="en-US" sz="1300" b="1" dirty="0">
                <a:solidFill>
                  <a:srgbClr val="071B4D"/>
                </a:solidFill>
              </a:rPr>
              <a:t>remains clean</a:t>
            </a:r>
            <a:endParaRPr lang="en-US" sz="1300" dirty="0"/>
          </a:p>
        </p:txBody>
      </p:sp>
      <p:sp>
        <p:nvSpPr>
          <p:cNvPr id="25" name="Text 23"/>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06</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Experimental Protocol</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From frozen bundle to operational risk assessment</a:t>
            </a:r>
            <a:endParaRPr lang="en-US" sz="880" dirty="0"/>
          </a:p>
        </p:txBody>
      </p:sp>
      <p:sp>
        <p:nvSpPr>
          <p:cNvPr id="8" name="Shape 6"/>
          <p:cNvSpPr/>
          <p:nvPr/>
        </p:nvSpPr>
        <p:spPr>
          <a:xfrm>
            <a:off x="502920" y="2011680"/>
            <a:ext cx="1261872" cy="914400"/>
          </a:xfrm>
          <a:prstGeom prst="roundRect">
            <a:avLst>
              <a:gd name="adj" fmla="val 8000"/>
            </a:avLst>
          </a:prstGeom>
          <a:solidFill>
            <a:srgbClr val="FFFFFF"/>
          </a:solidFill>
          <a:ln w="12700">
            <a:solidFill>
              <a:srgbClr val="0B2A5B"/>
            </a:solidFill>
            <a:prstDash val="solid"/>
          </a:ln>
        </p:spPr>
      </p:sp>
      <p:sp>
        <p:nvSpPr>
          <p:cNvPr id="9" name="Text 7"/>
          <p:cNvSpPr/>
          <p:nvPr/>
        </p:nvSpPr>
        <p:spPr>
          <a:xfrm>
            <a:off x="594360" y="2249424"/>
            <a:ext cx="1078992" cy="329184"/>
          </a:xfrm>
          <a:prstGeom prst="rect">
            <a:avLst/>
          </a:prstGeom>
          <a:noFill/>
          <a:ln/>
        </p:spPr>
        <p:txBody>
          <a:bodyPr wrap="square" lIns="0" tIns="0" rIns="0" bIns="0" rtlCol="0" anchor="ctr">
            <a:normAutofit/>
          </a:bodyPr>
          <a:lstStyle/>
          <a:p>
            <a:pPr algn="ctr" indent="0" marL="0">
              <a:buNone/>
            </a:pPr>
            <a:r>
              <a:rPr lang="en-US" sz="980" b="1" dirty="0">
                <a:solidFill>
                  <a:srgbClr val="071B4D"/>
                </a:solidFill>
              </a:rPr>
              <a:t>Frozen</a:t>
            </a:r>
            <a:endParaRPr lang="en-US" sz="980" dirty="0"/>
          </a:p>
          <a:p>
            <a:pPr algn="ctr" indent="0" marL="0">
              <a:buNone/>
            </a:pPr>
            <a:r>
              <a:rPr lang="en-US" sz="980" b="1" dirty="0">
                <a:solidFill>
                  <a:srgbClr val="071B4D"/>
                </a:solidFill>
              </a:rPr>
              <a:t>bundle</a:t>
            </a:r>
            <a:endParaRPr lang="en-US" sz="980" dirty="0"/>
          </a:p>
        </p:txBody>
      </p:sp>
      <p:sp>
        <p:nvSpPr>
          <p:cNvPr id="10" name="Shape 8"/>
          <p:cNvSpPr/>
          <p:nvPr/>
        </p:nvSpPr>
        <p:spPr>
          <a:xfrm>
            <a:off x="1783080" y="2468880"/>
            <a:ext cx="274320" cy="0"/>
          </a:xfrm>
          <a:prstGeom prst="line">
            <a:avLst/>
          </a:prstGeom>
          <a:noFill/>
          <a:ln w="17780">
            <a:solidFill>
              <a:srgbClr val="071B4D"/>
            </a:solidFill>
            <a:prstDash val="solid"/>
            <a:headEnd type="none"/>
            <a:tailEnd type="triangle"/>
          </a:ln>
        </p:spPr>
      </p:sp>
      <p:sp>
        <p:nvSpPr>
          <p:cNvPr id="11" name="Shape 9"/>
          <p:cNvSpPr/>
          <p:nvPr/>
        </p:nvSpPr>
        <p:spPr>
          <a:xfrm>
            <a:off x="2130552" y="2011680"/>
            <a:ext cx="1261872" cy="914400"/>
          </a:xfrm>
          <a:prstGeom prst="roundRect">
            <a:avLst>
              <a:gd name="adj" fmla="val 8000"/>
            </a:avLst>
          </a:prstGeom>
          <a:solidFill>
            <a:srgbClr val="EAF7F7"/>
          </a:solidFill>
          <a:ln w="12700">
            <a:solidFill>
              <a:srgbClr val="0E8A8A"/>
            </a:solidFill>
            <a:prstDash val="solid"/>
          </a:ln>
        </p:spPr>
      </p:sp>
      <p:sp>
        <p:nvSpPr>
          <p:cNvPr id="12" name="Text 10"/>
          <p:cNvSpPr/>
          <p:nvPr/>
        </p:nvSpPr>
        <p:spPr>
          <a:xfrm>
            <a:off x="2221992" y="2249424"/>
            <a:ext cx="1078992" cy="329184"/>
          </a:xfrm>
          <a:prstGeom prst="rect">
            <a:avLst/>
          </a:prstGeom>
          <a:noFill/>
          <a:ln/>
        </p:spPr>
        <p:txBody>
          <a:bodyPr wrap="square" lIns="0" tIns="0" rIns="0" bIns="0" rtlCol="0" anchor="ctr">
            <a:normAutofit/>
          </a:bodyPr>
          <a:lstStyle/>
          <a:p>
            <a:pPr algn="ctr" indent="0" marL="0">
              <a:buNone/>
            </a:pPr>
            <a:r>
              <a:rPr lang="en-US" sz="980" b="1" dirty="0">
                <a:solidFill>
                  <a:srgbClr val="071B4D"/>
                </a:solidFill>
              </a:rPr>
              <a:t>Clean + OOD</a:t>
            </a:r>
            <a:endParaRPr lang="en-US" sz="980" dirty="0"/>
          </a:p>
          <a:p>
            <a:pPr algn="ctr" indent="0" marL="0">
              <a:buNone/>
            </a:pPr>
            <a:r>
              <a:rPr lang="en-US" sz="980" b="1" dirty="0">
                <a:solidFill>
                  <a:srgbClr val="071B4D"/>
                </a:solidFill>
              </a:rPr>
              <a:t>branches</a:t>
            </a:r>
            <a:endParaRPr lang="en-US" sz="980" dirty="0"/>
          </a:p>
        </p:txBody>
      </p:sp>
      <p:sp>
        <p:nvSpPr>
          <p:cNvPr id="13" name="Shape 11"/>
          <p:cNvSpPr/>
          <p:nvPr/>
        </p:nvSpPr>
        <p:spPr>
          <a:xfrm>
            <a:off x="3410712" y="2468880"/>
            <a:ext cx="274320" cy="0"/>
          </a:xfrm>
          <a:prstGeom prst="line">
            <a:avLst/>
          </a:prstGeom>
          <a:noFill/>
          <a:ln w="17780">
            <a:solidFill>
              <a:srgbClr val="071B4D"/>
            </a:solidFill>
            <a:prstDash val="solid"/>
            <a:headEnd type="none"/>
            <a:tailEnd type="triangle"/>
          </a:ln>
        </p:spPr>
      </p:sp>
      <p:sp>
        <p:nvSpPr>
          <p:cNvPr id="14" name="Shape 12"/>
          <p:cNvSpPr/>
          <p:nvPr/>
        </p:nvSpPr>
        <p:spPr>
          <a:xfrm>
            <a:off x="3758184" y="2011680"/>
            <a:ext cx="1261872" cy="914400"/>
          </a:xfrm>
          <a:prstGeom prst="roundRect">
            <a:avLst>
              <a:gd name="adj" fmla="val 8000"/>
            </a:avLst>
          </a:prstGeom>
          <a:solidFill>
            <a:srgbClr val="FFFFFF"/>
          </a:solidFill>
          <a:ln w="12700">
            <a:solidFill>
              <a:srgbClr val="0B2A5B"/>
            </a:solidFill>
            <a:prstDash val="solid"/>
          </a:ln>
        </p:spPr>
      </p:sp>
      <p:sp>
        <p:nvSpPr>
          <p:cNvPr id="15" name="Text 13"/>
          <p:cNvSpPr/>
          <p:nvPr/>
        </p:nvSpPr>
        <p:spPr>
          <a:xfrm>
            <a:off x="3849624" y="2249424"/>
            <a:ext cx="1078992" cy="329184"/>
          </a:xfrm>
          <a:prstGeom prst="rect">
            <a:avLst/>
          </a:prstGeom>
          <a:noFill/>
          <a:ln/>
        </p:spPr>
        <p:txBody>
          <a:bodyPr wrap="square" lIns="0" tIns="0" rIns="0" bIns="0" rtlCol="0" anchor="ctr">
            <a:normAutofit/>
          </a:bodyPr>
          <a:lstStyle/>
          <a:p>
            <a:pPr algn="ctr" indent="0" marL="0">
              <a:buNone/>
            </a:pPr>
            <a:r>
              <a:rPr lang="en-US" sz="980" b="1" dirty="0">
                <a:solidFill>
                  <a:srgbClr val="071B4D"/>
                </a:solidFill>
              </a:rPr>
              <a:t>Proxy + commercial</a:t>
            </a:r>
            <a:endParaRPr lang="en-US" sz="980" dirty="0"/>
          </a:p>
          <a:p>
            <a:pPr algn="ctr" indent="0" marL="0">
              <a:buNone/>
            </a:pPr>
            <a:r>
              <a:rPr lang="en-US" sz="980" b="1" dirty="0">
                <a:solidFill>
                  <a:srgbClr val="071B4D"/>
                </a:solidFill>
              </a:rPr>
              <a:t>tracks</a:t>
            </a:r>
            <a:endParaRPr lang="en-US" sz="980" dirty="0"/>
          </a:p>
        </p:txBody>
      </p:sp>
      <p:sp>
        <p:nvSpPr>
          <p:cNvPr id="16" name="Shape 14"/>
          <p:cNvSpPr/>
          <p:nvPr/>
        </p:nvSpPr>
        <p:spPr>
          <a:xfrm>
            <a:off x="5038344" y="2468880"/>
            <a:ext cx="274320" cy="0"/>
          </a:xfrm>
          <a:prstGeom prst="line">
            <a:avLst/>
          </a:prstGeom>
          <a:noFill/>
          <a:ln w="17780">
            <a:solidFill>
              <a:srgbClr val="071B4D"/>
            </a:solidFill>
            <a:prstDash val="solid"/>
            <a:headEnd type="none"/>
            <a:tailEnd type="triangle"/>
          </a:ln>
        </p:spPr>
      </p:sp>
      <p:sp>
        <p:nvSpPr>
          <p:cNvPr id="17" name="Shape 15"/>
          <p:cNvSpPr/>
          <p:nvPr/>
        </p:nvSpPr>
        <p:spPr>
          <a:xfrm>
            <a:off x="5385816" y="2011680"/>
            <a:ext cx="1261872" cy="914400"/>
          </a:xfrm>
          <a:prstGeom prst="roundRect">
            <a:avLst>
              <a:gd name="adj" fmla="val 8000"/>
            </a:avLst>
          </a:prstGeom>
          <a:solidFill>
            <a:srgbClr val="FFF1E8"/>
          </a:solidFill>
          <a:ln w="12700">
            <a:solidFill>
              <a:srgbClr val="F26419"/>
            </a:solidFill>
            <a:prstDash val="solid"/>
          </a:ln>
        </p:spPr>
      </p:sp>
      <p:sp>
        <p:nvSpPr>
          <p:cNvPr id="18" name="Text 16"/>
          <p:cNvSpPr/>
          <p:nvPr/>
        </p:nvSpPr>
        <p:spPr>
          <a:xfrm>
            <a:off x="5477256" y="2249424"/>
            <a:ext cx="1078992" cy="329184"/>
          </a:xfrm>
          <a:prstGeom prst="rect">
            <a:avLst/>
          </a:prstGeom>
          <a:noFill/>
          <a:ln/>
        </p:spPr>
        <p:txBody>
          <a:bodyPr wrap="square" lIns="0" tIns="0" rIns="0" bIns="0" rtlCol="0" anchor="ctr">
            <a:normAutofit/>
          </a:bodyPr>
          <a:lstStyle/>
          <a:p>
            <a:pPr algn="ctr" indent="0" marL="0">
              <a:buNone/>
            </a:pPr>
            <a:r>
              <a:rPr lang="en-US" sz="980" b="1" dirty="0">
                <a:solidFill>
                  <a:srgbClr val="071B4D"/>
                </a:solidFill>
              </a:rPr>
              <a:t>Perturbations</a:t>
            </a:r>
            <a:endParaRPr lang="en-US" sz="980" dirty="0"/>
          </a:p>
          <a:p>
            <a:pPr algn="ctr" indent="0" marL="0">
              <a:buNone/>
            </a:pPr>
            <a:r>
              <a:rPr lang="en-US" sz="980" b="1" dirty="0">
                <a:solidFill>
                  <a:srgbClr val="071B4D"/>
                </a:solidFill>
              </a:rPr>
              <a:t>binary only</a:t>
            </a:r>
            <a:endParaRPr lang="en-US" sz="980" dirty="0"/>
          </a:p>
        </p:txBody>
      </p:sp>
      <p:sp>
        <p:nvSpPr>
          <p:cNvPr id="19" name="Shape 17"/>
          <p:cNvSpPr/>
          <p:nvPr/>
        </p:nvSpPr>
        <p:spPr>
          <a:xfrm>
            <a:off x="6665976" y="2468880"/>
            <a:ext cx="274320" cy="0"/>
          </a:xfrm>
          <a:prstGeom prst="line">
            <a:avLst/>
          </a:prstGeom>
          <a:noFill/>
          <a:ln w="17780">
            <a:solidFill>
              <a:srgbClr val="071B4D"/>
            </a:solidFill>
            <a:prstDash val="solid"/>
            <a:headEnd type="none"/>
            <a:tailEnd type="triangle"/>
          </a:ln>
        </p:spPr>
      </p:sp>
      <p:sp>
        <p:nvSpPr>
          <p:cNvPr id="20" name="Shape 18"/>
          <p:cNvSpPr/>
          <p:nvPr/>
        </p:nvSpPr>
        <p:spPr>
          <a:xfrm>
            <a:off x="7013448" y="2011680"/>
            <a:ext cx="1261872" cy="914400"/>
          </a:xfrm>
          <a:prstGeom prst="roundRect">
            <a:avLst>
              <a:gd name="adj" fmla="val 8000"/>
            </a:avLst>
          </a:prstGeom>
          <a:solidFill>
            <a:srgbClr val="FFFFFF"/>
          </a:solidFill>
          <a:ln w="12700">
            <a:solidFill>
              <a:srgbClr val="0B2A5B"/>
            </a:solidFill>
            <a:prstDash val="solid"/>
          </a:ln>
        </p:spPr>
      </p:sp>
      <p:sp>
        <p:nvSpPr>
          <p:cNvPr id="21" name="Text 19"/>
          <p:cNvSpPr/>
          <p:nvPr/>
        </p:nvSpPr>
        <p:spPr>
          <a:xfrm>
            <a:off x="7104888" y="2249424"/>
            <a:ext cx="1078992" cy="329184"/>
          </a:xfrm>
          <a:prstGeom prst="rect">
            <a:avLst/>
          </a:prstGeom>
          <a:noFill/>
          <a:ln/>
        </p:spPr>
        <p:txBody>
          <a:bodyPr wrap="square" lIns="0" tIns="0" rIns="0" bIns="0" rtlCol="0" anchor="ctr">
            <a:normAutofit/>
          </a:bodyPr>
          <a:lstStyle/>
          <a:p>
            <a:pPr algn="ctr" indent="0" marL="0">
              <a:buNone/>
            </a:pPr>
            <a:r>
              <a:rPr lang="en-US" sz="980" b="1" dirty="0">
                <a:solidFill>
                  <a:srgbClr val="071B4D"/>
                </a:solidFill>
              </a:rPr>
              <a:t>Normalization</a:t>
            </a:r>
            <a:endParaRPr lang="en-US" sz="980" dirty="0"/>
          </a:p>
          <a:p>
            <a:pPr algn="ctr" indent="0" marL="0">
              <a:buNone/>
            </a:pPr>
            <a:r>
              <a:rPr lang="en-US" sz="980" b="1" dirty="0">
                <a:solidFill>
                  <a:srgbClr val="071B4D"/>
                </a:solidFill>
              </a:rPr>
              <a:t>TP/FP/FN/TN/Unknown</a:t>
            </a:r>
            <a:endParaRPr lang="en-US" sz="980" dirty="0"/>
          </a:p>
        </p:txBody>
      </p:sp>
      <p:sp>
        <p:nvSpPr>
          <p:cNvPr id="22" name="Shape 20"/>
          <p:cNvSpPr/>
          <p:nvPr/>
        </p:nvSpPr>
        <p:spPr>
          <a:xfrm>
            <a:off x="8293608" y="2468880"/>
            <a:ext cx="274320" cy="0"/>
          </a:xfrm>
          <a:prstGeom prst="line">
            <a:avLst/>
          </a:prstGeom>
          <a:noFill/>
          <a:ln w="17780">
            <a:solidFill>
              <a:srgbClr val="071B4D"/>
            </a:solidFill>
            <a:prstDash val="solid"/>
            <a:headEnd type="none"/>
            <a:tailEnd type="triangle"/>
          </a:ln>
        </p:spPr>
      </p:sp>
      <p:sp>
        <p:nvSpPr>
          <p:cNvPr id="23" name="Shape 21"/>
          <p:cNvSpPr/>
          <p:nvPr/>
        </p:nvSpPr>
        <p:spPr>
          <a:xfrm>
            <a:off x="8641080" y="2011680"/>
            <a:ext cx="1261872" cy="914400"/>
          </a:xfrm>
          <a:prstGeom prst="roundRect">
            <a:avLst>
              <a:gd name="adj" fmla="val 8000"/>
            </a:avLst>
          </a:prstGeom>
          <a:solidFill>
            <a:srgbClr val="EAF7F7"/>
          </a:solidFill>
          <a:ln w="12700">
            <a:solidFill>
              <a:srgbClr val="0E8A8A"/>
            </a:solidFill>
            <a:prstDash val="solid"/>
          </a:ln>
        </p:spPr>
      </p:sp>
      <p:sp>
        <p:nvSpPr>
          <p:cNvPr id="24" name="Text 22"/>
          <p:cNvSpPr/>
          <p:nvPr/>
        </p:nvSpPr>
        <p:spPr>
          <a:xfrm>
            <a:off x="8732520" y="2249424"/>
            <a:ext cx="1078992" cy="329184"/>
          </a:xfrm>
          <a:prstGeom prst="rect">
            <a:avLst/>
          </a:prstGeom>
          <a:noFill/>
          <a:ln/>
        </p:spPr>
        <p:txBody>
          <a:bodyPr wrap="square" lIns="0" tIns="0" rIns="0" bIns="0" rtlCol="0" anchor="ctr">
            <a:normAutofit/>
          </a:bodyPr>
          <a:lstStyle/>
          <a:p>
            <a:pPr algn="ctr" indent="0" marL="0">
              <a:buNone/>
            </a:pPr>
            <a:r>
              <a:rPr lang="en-US" sz="980" b="1" dirty="0">
                <a:solidFill>
                  <a:srgbClr val="071B4D"/>
                </a:solidFill>
              </a:rPr>
              <a:t>Metrics, XAI</a:t>
            </a:r>
            <a:endParaRPr lang="en-US" sz="980" dirty="0"/>
          </a:p>
          <a:p>
            <a:pPr algn="ctr" indent="0" marL="0">
              <a:buNone/>
            </a:pPr>
            <a:r>
              <a:rPr lang="en-US" sz="980" b="1" dirty="0">
                <a:solidFill>
                  <a:srgbClr val="071B4D"/>
                </a:solidFill>
              </a:rPr>
              <a:t>Traceability</a:t>
            </a:r>
            <a:endParaRPr lang="en-US" sz="980" dirty="0"/>
          </a:p>
        </p:txBody>
      </p:sp>
      <p:sp>
        <p:nvSpPr>
          <p:cNvPr id="25" name="Shape 23"/>
          <p:cNvSpPr/>
          <p:nvPr/>
        </p:nvSpPr>
        <p:spPr>
          <a:xfrm>
            <a:off x="9921240" y="2468880"/>
            <a:ext cx="274320" cy="0"/>
          </a:xfrm>
          <a:prstGeom prst="line">
            <a:avLst/>
          </a:prstGeom>
          <a:noFill/>
          <a:ln w="17780">
            <a:solidFill>
              <a:srgbClr val="071B4D"/>
            </a:solidFill>
            <a:prstDash val="solid"/>
            <a:headEnd type="none"/>
            <a:tailEnd type="triangle"/>
          </a:ln>
        </p:spPr>
      </p:sp>
      <p:sp>
        <p:nvSpPr>
          <p:cNvPr id="26" name="Shape 24"/>
          <p:cNvSpPr/>
          <p:nvPr/>
        </p:nvSpPr>
        <p:spPr>
          <a:xfrm>
            <a:off x="10268712" y="2011680"/>
            <a:ext cx="1261872" cy="914400"/>
          </a:xfrm>
          <a:prstGeom prst="roundRect">
            <a:avLst>
              <a:gd name="adj" fmla="val 8000"/>
            </a:avLst>
          </a:prstGeom>
          <a:solidFill>
            <a:srgbClr val="FFF1E8"/>
          </a:solidFill>
          <a:ln w="12700">
            <a:solidFill>
              <a:srgbClr val="F26419"/>
            </a:solidFill>
            <a:prstDash val="solid"/>
          </a:ln>
        </p:spPr>
      </p:sp>
      <p:sp>
        <p:nvSpPr>
          <p:cNvPr id="27" name="Text 25"/>
          <p:cNvSpPr/>
          <p:nvPr/>
        </p:nvSpPr>
        <p:spPr>
          <a:xfrm>
            <a:off x="10360152" y="2249424"/>
            <a:ext cx="1078992" cy="329184"/>
          </a:xfrm>
          <a:prstGeom prst="rect">
            <a:avLst/>
          </a:prstGeom>
          <a:noFill/>
          <a:ln/>
        </p:spPr>
        <p:txBody>
          <a:bodyPr wrap="square" lIns="0" tIns="0" rIns="0" bIns="0" rtlCol="0" anchor="ctr">
            <a:normAutofit/>
          </a:bodyPr>
          <a:lstStyle/>
          <a:p>
            <a:pPr algn="ctr" indent="0" marL="0">
              <a:buNone/>
            </a:pPr>
            <a:r>
              <a:rPr lang="en-US" sz="980" b="1" dirty="0">
                <a:solidFill>
                  <a:srgbClr val="071B4D"/>
                </a:solidFill>
              </a:rPr>
              <a:t>Operational</a:t>
            </a:r>
            <a:endParaRPr lang="en-US" sz="980" dirty="0"/>
          </a:p>
          <a:p>
            <a:pPr algn="ctr" indent="0" marL="0">
              <a:buNone/>
            </a:pPr>
            <a:r>
              <a:rPr lang="en-US" sz="980" b="1" dirty="0">
                <a:solidFill>
                  <a:srgbClr val="071B4D"/>
                </a:solidFill>
              </a:rPr>
              <a:t>risk</a:t>
            </a:r>
            <a:endParaRPr lang="en-US" sz="980" dirty="0"/>
          </a:p>
        </p:txBody>
      </p:sp>
      <p:sp>
        <p:nvSpPr>
          <p:cNvPr id="28" name="Shape 26"/>
          <p:cNvSpPr/>
          <p:nvPr/>
        </p:nvSpPr>
        <p:spPr>
          <a:xfrm>
            <a:off x="914400" y="3822192"/>
            <a:ext cx="10378440" cy="1051560"/>
          </a:xfrm>
          <a:prstGeom prst="roundRect">
            <a:avLst>
              <a:gd name="adj" fmla="val 6957"/>
            </a:avLst>
          </a:prstGeom>
          <a:solidFill>
            <a:srgbClr val="FFFFFF"/>
          </a:solidFill>
          <a:ln w="12700">
            <a:solidFill>
              <a:srgbClr val="D6DEE8"/>
            </a:solidFill>
            <a:prstDash val="solid"/>
          </a:ln>
        </p:spPr>
      </p:sp>
      <p:sp>
        <p:nvSpPr>
          <p:cNvPr id="29" name="Text 27"/>
          <p:cNvSpPr/>
          <p:nvPr/>
        </p:nvSpPr>
        <p:spPr>
          <a:xfrm>
            <a:off x="1188720" y="4050792"/>
            <a:ext cx="9784080" cy="566928"/>
          </a:xfrm>
          <a:prstGeom prst="rect">
            <a:avLst/>
          </a:prstGeom>
          <a:noFill/>
          <a:ln/>
        </p:spPr>
        <p:txBody>
          <a:bodyPr wrap="square" lIns="762" tIns="762" rIns="762" bIns="762" rtlCol="0" anchor="ctr">
            <a:normAutofit/>
          </a:bodyPr>
          <a:lstStyle/>
          <a:p>
            <a:pPr indent="0" marL="0">
              <a:buNone/>
            </a:pPr>
            <a:r>
              <a:rPr lang="en-US" sz="1250" dirty="0">
                <a:solidFill>
                  <a:srgbClr val="071B4D"/>
                </a:solidFill>
              </a:rPr>
              <a:t>• Ground truth is separated from tool outputs until normalization.</a:t>
            </a:r>
            <a:endParaRPr lang="en-US" sz="1250" dirty="0"/>
          </a:p>
          <a:p>
            <a:pPr indent="0" marL="0">
              <a:buNone/>
            </a:pPr>
            <a:r>
              <a:rPr lang="en-US" sz="1250" dirty="0">
                <a:solidFill>
                  <a:srgbClr val="071B4D"/>
                </a:solidFill>
              </a:rPr>
              <a:t>• Commercial outputs are mapped conservatively into comparable outcomes.</a:t>
            </a:r>
            <a:endParaRPr lang="en-US" sz="1250" dirty="0"/>
          </a:p>
          <a:p>
            <a:pPr indent="0" marL="0">
              <a:buNone/>
            </a:pPr>
            <a:r>
              <a:rPr lang="en-US" sz="1250" dirty="0">
                <a:solidFill>
                  <a:srgbClr val="071B4D"/>
                </a:solidFill>
              </a:rPr>
              <a:t>• Logs, metadata, hashes, tool versions, scripts, and output files preserve traceability.</a:t>
            </a:r>
            <a:endParaRPr lang="en-US" sz="1250" dirty="0"/>
          </a:p>
        </p:txBody>
      </p:sp>
      <p:sp>
        <p:nvSpPr>
          <p:cNvPr id="30" name="Shape 28"/>
          <p:cNvSpPr/>
          <p:nvPr/>
        </p:nvSpPr>
        <p:spPr>
          <a:xfrm>
            <a:off x="1234440" y="5413248"/>
            <a:ext cx="9692640" cy="475488"/>
          </a:xfrm>
          <a:prstGeom prst="roundRect">
            <a:avLst>
              <a:gd name="adj" fmla="val 15385"/>
            </a:avLst>
          </a:prstGeom>
          <a:solidFill>
            <a:srgbClr val="EAF7F7"/>
          </a:solidFill>
          <a:ln w="12700">
            <a:solidFill>
              <a:srgbClr val="0E8A8A"/>
            </a:solidFill>
            <a:prstDash val="solid"/>
          </a:ln>
        </p:spPr>
      </p:sp>
      <p:sp>
        <p:nvSpPr>
          <p:cNvPr id="31" name="Text 29"/>
          <p:cNvSpPr/>
          <p:nvPr/>
        </p:nvSpPr>
        <p:spPr>
          <a:xfrm>
            <a:off x="1463040" y="5596128"/>
            <a:ext cx="9235440" cy="128016"/>
          </a:xfrm>
          <a:prstGeom prst="rect">
            <a:avLst/>
          </a:prstGeom>
          <a:noFill/>
          <a:ln/>
        </p:spPr>
        <p:txBody>
          <a:bodyPr wrap="square" lIns="0" tIns="0" rIns="0" bIns="0" rtlCol="0" anchor="ctr">
            <a:normAutofit/>
          </a:bodyPr>
          <a:lstStyle/>
          <a:p>
            <a:pPr indent="0" marL="0">
              <a:buNone/>
            </a:pPr>
            <a:r>
              <a:rPr lang="en-US" sz="1050" b="1" dirty="0">
                <a:solidFill>
                  <a:srgbClr val="071B4D"/>
                </a:solidFill>
              </a:rPr>
              <a:t>Main message: heterogeneous systems become comparable through controlled inputs and normalized outputs.</a:t>
            </a:r>
            <a:endParaRPr lang="en-US" sz="1050" dirty="0"/>
          </a:p>
        </p:txBody>
      </p:sp>
      <p:sp>
        <p:nvSpPr>
          <p:cNvPr id="32" name="Text 30"/>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07</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Perturbation Model</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Two complementary stress families applied only to the binary subset</a:t>
            </a:r>
            <a:endParaRPr lang="en-US" sz="880" dirty="0"/>
          </a:p>
        </p:txBody>
      </p:sp>
      <p:sp>
        <p:nvSpPr>
          <p:cNvPr id="8" name="Shape 6"/>
          <p:cNvSpPr/>
          <p:nvPr/>
        </p:nvSpPr>
        <p:spPr>
          <a:xfrm>
            <a:off x="914400" y="1508760"/>
            <a:ext cx="4892040" cy="3063240"/>
          </a:xfrm>
          <a:prstGeom prst="roundRect">
            <a:avLst>
              <a:gd name="adj" fmla="val 2388"/>
            </a:avLst>
          </a:prstGeom>
          <a:solidFill>
            <a:srgbClr val="FFFFFF"/>
          </a:solidFill>
          <a:ln w="12700">
            <a:solidFill>
              <a:srgbClr val="D6DEE8"/>
            </a:solidFill>
            <a:prstDash val="solid"/>
          </a:ln>
        </p:spPr>
      </p:sp>
      <p:sp>
        <p:nvSpPr>
          <p:cNvPr id="9" name="Shape 7"/>
          <p:cNvSpPr/>
          <p:nvPr/>
        </p:nvSpPr>
        <p:spPr>
          <a:xfrm>
            <a:off x="914400" y="1508760"/>
            <a:ext cx="4892040" cy="429768"/>
          </a:xfrm>
          <a:prstGeom prst="roundRect">
            <a:avLst>
              <a:gd name="adj" fmla="val 17021"/>
            </a:avLst>
          </a:prstGeom>
          <a:solidFill>
            <a:srgbClr val="0E8A8A"/>
          </a:solidFill>
          <a:ln w="12700">
            <a:solidFill>
              <a:srgbClr val="0E8A8A"/>
            </a:solidFill>
            <a:prstDash val="solid"/>
          </a:ln>
        </p:spPr>
      </p:sp>
      <p:sp>
        <p:nvSpPr>
          <p:cNvPr id="10" name="Text 8"/>
          <p:cNvSpPr/>
          <p:nvPr/>
        </p:nvSpPr>
        <p:spPr>
          <a:xfrm>
            <a:off x="1024128" y="1609344"/>
            <a:ext cx="467258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Adversarial Attacks</a:t>
            </a:r>
            <a:endParaRPr lang="en-US" sz="1030" dirty="0"/>
          </a:p>
        </p:txBody>
      </p:sp>
      <p:sp>
        <p:nvSpPr>
          <p:cNvPr id="11" name="Shape 9"/>
          <p:cNvSpPr/>
          <p:nvPr/>
        </p:nvSpPr>
        <p:spPr>
          <a:xfrm>
            <a:off x="1078992" y="2221992"/>
            <a:ext cx="82296" cy="82296"/>
          </a:xfrm>
          <a:prstGeom prst="ellipse">
            <a:avLst/>
          </a:prstGeom>
          <a:solidFill>
            <a:srgbClr val="0E8A8A"/>
          </a:solidFill>
          <a:ln w="12700">
            <a:solidFill>
              <a:srgbClr val="0E8A8A"/>
            </a:solidFill>
            <a:prstDash val="solid"/>
          </a:ln>
        </p:spPr>
      </p:sp>
      <p:sp>
        <p:nvSpPr>
          <p:cNvPr id="12" name="Text 10"/>
          <p:cNvSpPr/>
          <p:nvPr/>
        </p:nvSpPr>
        <p:spPr>
          <a:xfrm>
            <a:off x="1234440" y="2167128"/>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FGSM baseline</a:t>
            </a:r>
            <a:endParaRPr lang="en-US" sz="870" dirty="0"/>
          </a:p>
        </p:txBody>
      </p:sp>
      <p:sp>
        <p:nvSpPr>
          <p:cNvPr id="13" name="Shape 11"/>
          <p:cNvSpPr/>
          <p:nvPr/>
        </p:nvSpPr>
        <p:spPr>
          <a:xfrm>
            <a:off x="1078992" y="2615184"/>
            <a:ext cx="82296" cy="82296"/>
          </a:xfrm>
          <a:prstGeom prst="ellipse">
            <a:avLst/>
          </a:prstGeom>
          <a:solidFill>
            <a:srgbClr val="0E8A8A"/>
          </a:solidFill>
          <a:ln w="12700">
            <a:solidFill>
              <a:srgbClr val="0E8A8A"/>
            </a:solidFill>
            <a:prstDash val="solid"/>
          </a:ln>
        </p:spPr>
      </p:sp>
      <p:sp>
        <p:nvSpPr>
          <p:cNvPr id="14" name="Text 12"/>
          <p:cNvSpPr/>
          <p:nvPr/>
        </p:nvSpPr>
        <p:spPr>
          <a:xfrm>
            <a:off x="1234440" y="2560320"/>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iterative gradient-based attacks</a:t>
            </a:r>
            <a:endParaRPr lang="en-US" sz="870" dirty="0"/>
          </a:p>
        </p:txBody>
      </p:sp>
      <p:sp>
        <p:nvSpPr>
          <p:cNvPr id="15" name="Shape 13"/>
          <p:cNvSpPr/>
          <p:nvPr/>
        </p:nvSpPr>
        <p:spPr>
          <a:xfrm>
            <a:off x="1078992" y="3008376"/>
            <a:ext cx="82296" cy="82296"/>
          </a:xfrm>
          <a:prstGeom prst="ellipse">
            <a:avLst/>
          </a:prstGeom>
          <a:solidFill>
            <a:srgbClr val="0E8A8A"/>
          </a:solidFill>
          <a:ln w="12700">
            <a:solidFill>
              <a:srgbClr val="0E8A8A"/>
            </a:solidFill>
            <a:prstDash val="solid"/>
          </a:ln>
        </p:spPr>
      </p:sp>
      <p:sp>
        <p:nvSpPr>
          <p:cNvPr id="16" name="Text 14"/>
          <p:cNvSpPr/>
          <p:nvPr/>
        </p:nvSpPr>
        <p:spPr>
          <a:xfrm>
            <a:off x="1234440" y="2953512"/>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sparse / one-pixel family</a:t>
            </a:r>
            <a:endParaRPr lang="en-US" sz="870" dirty="0"/>
          </a:p>
        </p:txBody>
      </p:sp>
      <p:sp>
        <p:nvSpPr>
          <p:cNvPr id="17" name="Shape 15"/>
          <p:cNvSpPr/>
          <p:nvPr/>
        </p:nvSpPr>
        <p:spPr>
          <a:xfrm>
            <a:off x="1078992" y="3401568"/>
            <a:ext cx="82296" cy="82296"/>
          </a:xfrm>
          <a:prstGeom prst="ellipse">
            <a:avLst/>
          </a:prstGeom>
          <a:solidFill>
            <a:srgbClr val="0E8A8A"/>
          </a:solidFill>
          <a:ln w="12700">
            <a:solidFill>
              <a:srgbClr val="0E8A8A"/>
            </a:solidFill>
            <a:prstDash val="solid"/>
          </a:ln>
        </p:spPr>
      </p:sp>
      <p:sp>
        <p:nvSpPr>
          <p:cNvPr id="18" name="Text 16"/>
          <p:cNvSpPr/>
          <p:nvPr/>
        </p:nvSpPr>
        <p:spPr>
          <a:xfrm>
            <a:off x="1234440" y="3346704"/>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untargeted attacks</a:t>
            </a:r>
            <a:endParaRPr lang="en-US" sz="870" dirty="0"/>
          </a:p>
        </p:txBody>
      </p:sp>
      <p:sp>
        <p:nvSpPr>
          <p:cNvPr id="19" name="Shape 17"/>
          <p:cNvSpPr/>
          <p:nvPr/>
        </p:nvSpPr>
        <p:spPr>
          <a:xfrm>
            <a:off x="1078992" y="3794760"/>
            <a:ext cx="82296" cy="82296"/>
          </a:xfrm>
          <a:prstGeom prst="ellipse">
            <a:avLst/>
          </a:prstGeom>
          <a:solidFill>
            <a:srgbClr val="0E8A8A"/>
          </a:solidFill>
          <a:ln w="12700">
            <a:solidFill>
              <a:srgbClr val="0E8A8A"/>
            </a:solidFill>
            <a:prstDash val="solid"/>
          </a:ln>
        </p:spPr>
      </p:sp>
      <p:sp>
        <p:nvSpPr>
          <p:cNvPr id="20" name="Text 18"/>
          <p:cNvSpPr/>
          <p:nvPr/>
        </p:nvSpPr>
        <p:spPr>
          <a:xfrm>
            <a:off x="1234440" y="3739896"/>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primary proxy target: EfficientNet-B0</a:t>
            </a:r>
            <a:endParaRPr lang="en-US" sz="870" dirty="0"/>
          </a:p>
        </p:txBody>
      </p:sp>
      <p:sp>
        <p:nvSpPr>
          <p:cNvPr id="21" name="Shape 19"/>
          <p:cNvSpPr/>
          <p:nvPr/>
        </p:nvSpPr>
        <p:spPr>
          <a:xfrm>
            <a:off x="6400800" y="1508760"/>
            <a:ext cx="4892040" cy="3063240"/>
          </a:xfrm>
          <a:prstGeom prst="roundRect">
            <a:avLst>
              <a:gd name="adj" fmla="val 2388"/>
            </a:avLst>
          </a:prstGeom>
          <a:solidFill>
            <a:srgbClr val="FFFFFF"/>
          </a:solidFill>
          <a:ln w="12700">
            <a:solidFill>
              <a:srgbClr val="D6DEE8"/>
            </a:solidFill>
            <a:prstDash val="solid"/>
          </a:ln>
        </p:spPr>
      </p:sp>
      <p:sp>
        <p:nvSpPr>
          <p:cNvPr id="22" name="Shape 20"/>
          <p:cNvSpPr/>
          <p:nvPr/>
        </p:nvSpPr>
        <p:spPr>
          <a:xfrm>
            <a:off x="6400800" y="1508760"/>
            <a:ext cx="4892040" cy="429768"/>
          </a:xfrm>
          <a:prstGeom prst="roundRect">
            <a:avLst>
              <a:gd name="adj" fmla="val 17021"/>
            </a:avLst>
          </a:prstGeom>
          <a:solidFill>
            <a:srgbClr val="F26419"/>
          </a:solidFill>
          <a:ln w="12700">
            <a:solidFill>
              <a:srgbClr val="F26419"/>
            </a:solidFill>
            <a:prstDash val="solid"/>
          </a:ln>
        </p:spPr>
      </p:sp>
      <p:sp>
        <p:nvSpPr>
          <p:cNvPr id="23" name="Text 21"/>
          <p:cNvSpPr/>
          <p:nvPr/>
        </p:nvSpPr>
        <p:spPr>
          <a:xfrm>
            <a:off x="6510528" y="1609344"/>
            <a:ext cx="467258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Anti-Forensic Transformations</a:t>
            </a:r>
            <a:endParaRPr lang="en-US" sz="1030" dirty="0"/>
          </a:p>
        </p:txBody>
      </p:sp>
      <p:sp>
        <p:nvSpPr>
          <p:cNvPr id="24" name="Shape 22"/>
          <p:cNvSpPr/>
          <p:nvPr/>
        </p:nvSpPr>
        <p:spPr>
          <a:xfrm>
            <a:off x="6565392" y="2221992"/>
            <a:ext cx="82296" cy="82296"/>
          </a:xfrm>
          <a:prstGeom prst="ellipse">
            <a:avLst/>
          </a:prstGeom>
          <a:solidFill>
            <a:srgbClr val="F26419"/>
          </a:solidFill>
          <a:ln w="12700">
            <a:solidFill>
              <a:srgbClr val="F26419"/>
            </a:solidFill>
            <a:prstDash val="solid"/>
          </a:ln>
        </p:spPr>
      </p:sp>
      <p:sp>
        <p:nvSpPr>
          <p:cNvPr id="25" name="Text 23"/>
          <p:cNvSpPr/>
          <p:nvPr/>
        </p:nvSpPr>
        <p:spPr>
          <a:xfrm>
            <a:off x="6720840" y="2167128"/>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JPEG recompression</a:t>
            </a:r>
            <a:endParaRPr lang="en-US" sz="870" dirty="0"/>
          </a:p>
        </p:txBody>
      </p:sp>
      <p:sp>
        <p:nvSpPr>
          <p:cNvPr id="26" name="Shape 24"/>
          <p:cNvSpPr/>
          <p:nvPr/>
        </p:nvSpPr>
        <p:spPr>
          <a:xfrm>
            <a:off x="6565392" y="2615184"/>
            <a:ext cx="82296" cy="82296"/>
          </a:xfrm>
          <a:prstGeom prst="ellipse">
            <a:avLst/>
          </a:prstGeom>
          <a:solidFill>
            <a:srgbClr val="F26419"/>
          </a:solidFill>
          <a:ln w="12700">
            <a:solidFill>
              <a:srgbClr val="F26419"/>
            </a:solidFill>
            <a:prstDash val="solid"/>
          </a:ln>
        </p:spPr>
      </p:sp>
      <p:sp>
        <p:nvSpPr>
          <p:cNvPr id="27" name="Text 25"/>
          <p:cNvSpPr/>
          <p:nvPr/>
        </p:nvSpPr>
        <p:spPr>
          <a:xfrm>
            <a:off x="6720840" y="2560320"/>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resize / resample</a:t>
            </a:r>
            <a:endParaRPr lang="en-US" sz="870" dirty="0"/>
          </a:p>
        </p:txBody>
      </p:sp>
      <p:sp>
        <p:nvSpPr>
          <p:cNvPr id="28" name="Shape 26"/>
          <p:cNvSpPr/>
          <p:nvPr/>
        </p:nvSpPr>
        <p:spPr>
          <a:xfrm>
            <a:off x="6565392" y="3008376"/>
            <a:ext cx="82296" cy="82296"/>
          </a:xfrm>
          <a:prstGeom prst="ellipse">
            <a:avLst/>
          </a:prstGeom>
          <a:solidFill>
            <a:srgbClr val="F26419"/>
          </a:solidFill>
          <a:ln w="12700">
            <a:solidFill>
              <a:srgbClr val="F26419"/>
            </a:solidFill>
            <a:prstDash val="solid"/>
          </a:ln>
        </p:spPr>
      </p:sp>
      <p:sp>
        <p:nvSpPr>
          <p:cNvPr id="29" name="Text 27"/>
          <p:cNvSpPr/>
          <p:nvPr/>
        </p:nvSpPr>
        <p:spPr>
          <a:xfrm>
            <a:off x="6720840" y="2953512"/>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blur / sharpen</a:t>
            </a:r>
            <a:endParaRPr lang="en-US" sz="870" dirty="0"/>
          </a:p>
        </p:txBody>
      </p:sp>
      <p:sp>
        <p:nvSpPr>
          <p:cNvPr id="30" name="Shape 28"/>
          <p:cNvSpPr/>
          <p:nvPr/>
        </p:nvSpPr>
        <p:spPr>
          <a:xfrm>
            <a:off x="6565392" y="3401568"/>
            <a:ext cx="82296" cy="82296"/>
          </a:xfrm>
          <a:prstGeom prst="ellipse">
            <a:avLst/>
          </a:prstGeom>
          <a:solidFill>
            <a:srgbClr val="F26419"/>
          </a:solidFill>
          <a:ln w="12700">
            <a:solidFill>
              <a:srgbClr val="F26419"/>
            </a:solidFill>
            <a:prstDash val="solid"/>
          </a:ln>
        </p:spPr>
      </p:sp>
      <p:sp>
        <p:nvSpPr>
          <p:cNvPr id="31" name="Text 29"/>
          <p:cNvSpPr/>
          <p:nvPr/>
        </p:nvSpPr>
        <p:spPr>
          <a:xfrm>
            <a:off x="6720840" y="3346704"/>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noise</a:t>
            </a:r>
            <a:endParaRPr lang="en-US" sz="870" dirty="0"/>
          </a:p>
        </p:txBody>
      </p:sp>
      <p:sp>
        <p:nvSpPr>
          <p:cNvPr id="32" name="Shape 30"/>
          <p:cNvSpPr/>
          <p:nvPr/>
        </p:nvSpPr>
        <p:spPr>
          <a:xfrm>
            <a:off x="6565392" y="3794760"/>
            <a:ext cx="82296" cy="82296"/>
          </a:xfrm>
          <a:prstGeom prst="ellipse">
            <a:avLst/>
          </a:prstGeom>
          <a:solidFill>
            <a:srgbClr val="F26419"/>
          </a:solidFill>
          <a:ln w="12700">
            <a:solidFill>
              <a:srgbClr val="F26419"/>
            </a:solidFill>
            <a:prstDash val="solid"/>
          </a:ln>
        </p:spPr>
      </p:sp>
      <p:sp>
        <p:nvSpPr>
          <p:cNvPr id="33" name="Text 31"/>
          <p:cNvSpPr/>
          <p:nvPr/>
        </p:nvSpPr>
        <p:spPr>
          <a:xfrm>
            <a:off x="6720840" y="3739896"/>
            <a:ext cx="44165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color shift</a:t>
            </a:r>
            <a:endParaRPr lang="en-US" sz="870" dirty="0"/>
          </a:p>
        </p:txBody>
      </p:sp>
      <p:sp>
        <p:nvSpPr>
          <p:cNvPr id="34" name="Shape 32"/>
          <p:cNvSpPr/>
          <p:nvPr/>
        </p:nvSpPr>
        <p:spPr>
          <a:xfrm>
            <a:off x="1783080" y="5166360"/>
            <a:ext cx="8641080" cy="640080"/>
          </a:xfrm>
          <a:prstGeom prst="roundRect">
            <a:avLst>
              <a:gd name="adj" fmla="val 11429"/>
            </a:avLst>
          </a:prstGeom>
          <a:solidFill>
            <a:srgbClr val="F1F5F9"/>
          </a:solidFill>
          <a:ln w="12700">
            <a:solidFill>
              <a:srgbClr val="D6DEE8"/>
            </a:solidFill>
            <a:prstDash val="solid"/>
          </a:ln>
        </p:spPr>
      </p:sp>
      <p:sp>
        <p:nvSpPr>
          <p:cNvPr id="35" name="Text 33"/>
          <p:cNvSpPr/>
          <p:nvPr/>
        </p:nvSpPr>
        <p:spPr>
          <a:xfrm>
            <a:off x="2057400" y="5404104"/>
            <a:ext cx="8092440" cy="146304"/>
          </a:xfrm>
          <a:prstGeom prst="rect">
            <a:avLst/>
          </a:prstGeom>
          <a:noFill/>
          <a:ln/>
        </p:spPr>
        <p:txBody>
          <a:bodyPr wrap="square" lIns="0" tIns="0" rIns="0" bIns="0" rtlCol="0" anchor="ctr">
            <a:normAutofit/>
          </a:bodyPr>
          <a:lstStyle/>
          <a:p>
            <a:pPr algn="ctr" indent="0" marL="0">
              <a:buNone/>
            </a:pPr>
            <a:r>
              <a:rPr lang="en-US" sz="1170" b="1" dirty="0">
                <a:solidFill>
                  <a:srgbClr val="071B4D"/>
                </a:solidFill>
              </a:rPr>
              <a:t>Design choice: perturbations are applied only to the binary subset; OOD remains clean and evaluated separately.</a:t>
            </a:r>
            <a:endParaRPr lang="en-US" sz="1170" dirty="0"/>
          </a:p>
        </p:txBody>
      </p:sp>
      <p:sp>
        <p:nvSpPr>
          <p:cNvPr id="36" name="Text 34"/>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08</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Evaluation Metrics</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A risk-oriented view beyond aggregate accuracy</a:t>
            </a:r>
            <a:endParaRPr lang="en-US" sz="880" dirty="0"/>
          </a:p>
        </p:txBody>
      </p:sp>
      <p:sp>
        <p:nvSpPr>
          <p:cNvPr id="8" name="Shape 6"/>
          <p:cNvSpPr/>
          <p:nvPr/>
        </p:nvSpPr>
        <p:spPr>
          <a:xfrm>
            <a:off x="685800" y="1417320"/>
            <a:ext cx="2514600" cy="2880360"/>
          </a:xfrm>
          <a:prstGeom prst="roundRect">
            <a:avLst>
              <a:gd name="adj" fmla="val 2909"/>
            </a:avLst>
          </a:prstGeom>
          <a:solidFill>
            <a:srgbClr val="FFFFFF"/>
          </a:solidFill>
          <a:ln w="12700">
            <a:solidFill>
              <a:srgbClr val="D6DEE8"/>
            </a:solidFill>
            <a:prstDash val="solid"/>
          </a:ln>
        </p:spPr>
      </p:sp>
      <p:sp>
        <p:nvSpPr>
          <p:cNvPr id="9" name="Shape 7"/>
          <p:cNvSpPr/>
          <p:nvPr/>
        </p:nvSpPr>
        <p:spPr>
          <a:xfrm>
            <a:off x="685800" y="1417320"/>
            <a:ext cx="2514600" cy="429768"/>
          </a:xfrm>
          <a:prstGeom prst="roundRect">
            <a:avLst>
              <a:gd name="adj" fmla="val 17021"/>
            </a:avLst>
          </a:prstGeom>
          <a:solidFill>
            <a:srgbClr val="0E8A8A"/>
          </a:solidFill>
          <a:ln w="12700">
            <a:solidFill>
              <a:srgbClr val="0E8A8A"/>
            </a:solidFill>
            <a:prstDash val="solid"/>
          </a:ln>
        </p:spPr>
      </p:sp>
      <p:sp>
        <p:nvSpPr>
          <p:cNvPr id="10" name="Text 8"/>
          <p:cNvSpPr/>
          <p:nvPr/>
        </p:nvSpPr>
        <p:spPr>
          <a:xfrm>
            <a:off x="795528" y="1517904"/>
            <a:ext cx="2295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Clean Performance</a:t>
            </a:r>
            <a:endParaRPr lang="en-US" sz="1030" dirty="0"/>
          </a:p>
        </p:txBody>
      </p:sp>
      <p:sp>
        <p:nvSpPr>
          <p:cNvPr id="11" name="Shape 9"/>
          <p:cNvSpPr/>
          <p:nvPr/>
        </p:nvSpPr>
        <p:spPr>
          <a:xfrm>
            <a:off x="850392" y="2130552"/>
            <a:ext cx="82296" cy="82296"/>
          </a:xfrm>
          <a:prstGeom prst="ellipse">
            <a:avLst/>
          </a:prstGeom>
          <a:solidFill>
            <a:srgbClr val="0E8A8A"/>
          </a:solidFill>
          <a:ln w="12700">
            <a:solidFill>
              <a:srgbClr val="0E8A8A"/>
            </a:solidFill>
            <a:prstDash val="solid"/>
          </a:ln>
        </p:spPr>
      </p:sp>
      <p:sp>
        <p:nvSpPr>
          <p:cNvPr id="12" name="Text 10"/>
          <p:cNvSpPr/>
          <p:nvPr/>
        </p:nvSpPr>
        <p:spPr>
          <a:xfrm>
            <a:off x="1005840" y="2075688"/>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accuracy</a:t>
            </a:r>
            <a:endParaRPr lang="en-US" sz="870" dirty="0"/>
          </a:p>
        </p:txBody>
      </p:sp>
      <p:sp>
        <p:nvSpPr>
          <p:cNvPr id="13" name="Shape 11"/>
          <p:cNvSpPr/>
          <p:nvPr/>
        </p:nvSpPr>
        <p:spPr>
          <a:xfrm>
            <a:off x="850392" y="2523744"/>
            <a:ext cx="82296" cy="82296"/>
          </a:xfrm>
          <a:prstGeom prst="ellipse">
            <a:avLst/>
          </a:prstGeom>
          <a:solidFill>
            <a:srgbClr val="0E8A8A"/>
          </a:solidFill>
          <a:ln w="12700">
            <a:solidFill>
              <a:srgbClr val="0E8A8A"/>
            </a:solidFill>
            <a:prstDash val="solid"/>
          </a:ln>
        </p:spPr>
      </p:sp>
      <p:sp>
        <p:nvSpPr>
          <p:cNvPr id="14" name="Text 12"/>
          <p:cNvSpPr/>
          <p:nvPr/>
        </p:nvSpPr>
        <p:spPr>
          <a:xfrm>
            <a:off x="1005840" y="2468880"/>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recall</a:t>
            </a:r>
            <a:endParaRPr lang="en-US" sz="870" dirty="0"/>
          </a:p>
        </p:txBody>
      </p:sp>
      <p:sp>
        <p:nvSpPr>
          <p:cNvPr id="15" name="Shape 13"/>
          <p:cNvSpPr/>
          <p:nvPr/>
        </p:nvSpPr>
        <p:spPr>
          <a:xfrm>
            <a:off x="850392" y="2916936"/>
            <a:ext cx="82296" cy="82296"/>
          </a:xfrm>
          <a:prstGeom prst="ellipse">
            <a:avLst/>
          </a:prstGeom>
          <a:solidFill>
            <a:srgbClr val="0E8A8A"/>
          </a:solidFill>
          <a:ln w="12700">
            <a:solidFill>
              <a:srgbClr val="0E8A8A"/>
            </a:solidFill>
            <a:prstDash val="solid"/>
          </a:ln>
        </p:spPr>
      </p:sp>
      <p:sp>
        <p:nvSpPr>
          <p:cNvPr id="16" name="Text 14"/>
          <p:cNvSpPr/>
          <p:nvPr/>
        </p:nvSpPr>
        <p:spPr>
          <a:xfrm>
            <a:off x="1005840" y="2862072"/>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FNR / FPR</a:t>
            </a:r>
            <a:endParaRPr lang="en-US" sz="870" dirty="0"/>
          </a:p>
        </p:txBody>
      </p:sp>
      <p:sp>
        <p:nvSpPr>
          <p:cNvPr id="17" name="Shape 15"/>
          <p:cNvSpPr/>
          <p:nvPr/>
        </p:nvSpPr>
        <p:spPr>
          <a:xfrm>
            <a:off x="850392" y="3310128"/>
            <a:ext cx="82296" cy="82296"/>
          </a:xfrm>
          <a:prstGeom prst="ellipse">
            <a:avLst/>
          </a:prstGeom>
          <a:solidFill>
            <a:srgbClr val="0E8A8A"/>
          </a:solidFill>
          <a:ln w="12700">
            <a:solidFill>
              <a:srgbClr val="0E8A8A"/>
            </a:solidFill>
            <a:prstDash val="solid"/>
          </a:ln>
        </p:spPr>
      </p:sp>
      <p:sp>
        <p:nvSpPr>
          <p:cNvPr id="18" name="Text 16"/>
          <p:cNvSpPr/>
          <p:nvPr/>
        </p:nvSpPr>
        <p:spPr>
          <a:xfrm>
            <a:off x="1005840" y="3255264"/>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F1-score</a:t>
            </a:r>
            <a:endParaRPr lang="en-US" sz="870" dirty="0"/>
          </a:p>
        </p:txBody>
      </p:sp>
      <p:sp>
        <p:nvSpPr>
          <p:cNvPr id="19" name="Shape 17"/>
          <p:cNvSpPr/>
          <p:nvPr/>
        </p:nvSpPr>
        <p:spPr>
          <a:xfrm>
            <a:off x="3566160" y="1417320"/>
            <a:ext cx="2514600" cy="2880360"/>
          </a:xfrm>
          <a:prstGeom prst="roundRect">
            <a:avLst>
              <a:gd name="adj" fmla="val 2909"/>
            </a:avLst>
          </a:prstGeom>
          <a:solidFill>
            <a:srgbClr val="FFFFFF"/>
          </a:solidFill>
          <a:ln w="12700">
            <a:solidFill>
              <a:srgbClr val="D6DEE8"/>
            </a:solidFill>
            <a:prstDash val="solid"/>
          </a:ln>
        </p:spPr>
      </p:sp>
      <p:sp>
        <p:nvSpPr>
          <p:cNvPr id="20" name="Shape 18"/>
          <p:cNvSpPr/>
          <p:nvPr/>
        </p:nvSpPr>
        <p:spPr>
          <a:xfrm>
            <a:off x="3566160" y="1417320"/>
            <a:ext cx="2514600" cy="429768"/>
          </a:xfrm>
          <a:prstGeom prst="roundRect">
            <a:avLst>
              <a:gd name="adj" fmla="val 17021"/>
            </a:avLst>
          </a:prstGeom>
          <a:solidFill>
            <a:srgbClr val="F26419"/>
          </a:solidFill>
          <a:ln w="12700">
            <a:solidFill>
              <a:srgbClr val="F26419"/>
            </a:solidFill>
            <a:prstDash val="solid"/>
          </a:ln>
        </p:spPr>
      </p:sp>
      <p:sp>
        <p:nvSpPr>
          <p:cNvPr id="21" name="Text 19"/>
          <p:cNvSpPr/>
          <p:nvPr/>
        </p:nvSpPr>
        <p:spPr>
          <a:xfrm>
            <a:off x="3675888" y="1517904"/>
            <a:ext cx="2295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Robustness</a:t>
            </a:r>
            <a:endParaRPr lang="en-US" sz="1030" dirty="0"/>
          </a:p>
        </p:txBody>
      </p:sp>
      <p:sp>
        <p:nvSpPr>
          <p:cNvPr id="22" name="Shape 20"/>
          <p:cNvSpPr/>
          <p:nvPr/>
        </p:nvSpPr>
        <p:spPr>
          <a:xfrm>
            <a:off x="3730752" y="2130552"/>
            <a:ext cx="82296" cy="82296"/>
          </a:xfrm>
          <a:prstGeom prst="ellipse">
            <a:avLst/>
          </a:prstGeom>
          <a:solidFill>
            <a:srgbClr val="F26419"/>
          </a:solidFill>
          <a:ln w="12700">
            <a:solidFill>
              <a:srgbClr val="F26419"/>
            </a:solidFill>
            <a:prstDash val="solid"/>
          </a:ln>
        </p:spPr>
      </p:sp>
      <p:sp>
        <p:nvSpPr>
          <p:cNvPr id="23" name="Text 21"/>
          <p:cNvSpPr/>
          <p:nvPr/>
        </p:nvSpPr>
        <p:spPr>
          <a:xfrm>
            <a:off x="3886200" y="2075688"/>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perturbed accuracy</a:t>
            </a:r>
            <a:endParaRPr lang="en-US" sz="870" dirty="0"/>
          </a:p>
        </p:txBody>
      </p:sp>
      <p:sp>
        <p:nvSpPr>
          <p:cNvPr id="24" name="Shape 22"/>
          <p:cNvSpPr/>
          <p:nvPr/>
        </p:nvSpPr>
        <p:spPr>
          <a:xfrm>
            <a:off x="3730752" y="2523744"/>
            <a:ext cx="82296" cy="82296"/>
          </a:xfrm>
          <a:prstGeom prst="ellipse">
            <a:avLst/>
          </a:prstGeom>
          <a:solidFill>
            <a:srgbClr val="F26419"/>
          </a:solidFill>
          <a:ln w="12700">
            <a:solidFill>
              <a:srgbClr val="F26419"/>
            </a:solidFill>
            <a:prstDash val="solid"/>
          </a:ln>
        </p:spPr>
      </p:sp>
      <p:sp>
        <p:nvSpPr>
          <p:cNvPr id="25" name="Text 23"/>
          <p:cNvSpPr/>
          <p:nvPr/>
        </p:nvSpPr>
        <p:spPr>
          <a:xfrm>
            <a:off x="3886200" y="2468880"/>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accuracy drop</a:t>
            </a:r>
            <a:endParaRPr lang="en-US" sz="870" dirty="0"/>
          </a:p>
        </p:txBody>
      </p:sp>
      <p:sp>
        <p:nvSpPr>
          <p:cNvPr id="26" name="Shape 24"/>
          <p:cNvSpPr/>
          <p:nvPr/>
        </p:nvSpPr>
        <p:spPr>
          <a:xfrm>
            <a:off x="3730752" y="2916936"/>
            <a:ext cx="82296" cy="82296"/>
          </a:xfrm>
          <a:prstGeom prst="ellipse">
            <a:avLst/>
          </a:prstGeom>
          <a:solidFill>
            <a:srgbClr val="F26419"/>
          </a:solidFill>
          <a:ln w="12700">
            <a:solidFill>
              <a:srgbClr val="F26419"/>
            </a:solidFill>
            <a:prstDash val="solid"/>
          </a:ln>
        </p:spPr>
      </p:sp>
      <p:sp>
        <p:nvSpPr>
          <p:cNvPr id="27" name="Text 25"/>
          <p:cNvSpPr/>
          <p:nvPr/>
        </p:nvSpPr>
        <p:spPr>
          <a:xfrm>
            <a:off x="3886200" y="2862072"/>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induced error rate</a:t>
            </a:r>
            <a:endParaRPr lang="en-US" sz="870" dirty="0"/>
          </a:p>
        </p:txBody>
      </p:sp>
      <p:sp>
        <p:nvSpPr>
          <p:cNvPr id="28" name="Shape 26"/>
          <p:cNvSpPr/>
          <p:nvPr/>
        </p:nvSpPr>
        <p:spPr>
          <a:xfrm>
            <a:off x="3730752" y="3310128"/>
            <a:ext cx="82296" cy="82296"/>
          </a:xfrm>
          <a:prstGeom prst="ellipse">
            <a:avLst/>
          </a:prstGeom>
          <a:solidFill>
            <a:srgbClr val="F26419"/>
          </a:solidFill>
          <a:ln w="12700">
            <a:solidFill>
              <a:srgbClr val="F26419"/>
            </a:solidFill>
            <a:prstDash val="solid"/>
          </a:ln>
        </p:spPr>
      </p:sp>
      <p:sp>
        <p:nvSpPr>
          <p:cNvPr id="29" name="Text 27"/>
          <p:cNvSpPr/>
          <p:nvPr/>
        </p:nvSpPr>
        <p:spPr>
          <a:xfrm>
            <a:off x="3886200" y="3255264"/>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confidence delta</a:t>
            </a:r>
            <a:endParaRPr lang="en-US" sz="870" dirty="0"/>
          </a:p>
        </p:txBody>
      </p:sp>
      <p:sp>
        <p:nvSpPr>
          <p:cNvPr id="30" name="Shape 28"/>
          <p:cNvSpPr/>
          <p:nvPr/>
        </p:nvSpPr>
        <p:spPr>
          <a:xfrm>
            <a:off x="6446520" y="1417320"/>
            <a:ext cx="2514600" cy="2880360"/>
          </a:xfrm>
          <a:prstGeom prst="roundRect">
            <a:avLst>
              <a:gd name="adj" fmla="val 2909"/>
            </a:avLst>
          </a:prstGeom>
          <a:solidFill>
            <a:srgbClr val="FFFFFF"/>
          </a:solidFill>
          <a:ln w="12700">
            <a:solidFill>
              <a:srgbClr val="D6DEE8"/>
            </a:solidFill>
            <a:prstDash val="solid"/>
          </a:ln>
        </p:spPr>
      </p:sp>
      <p:sp>
        <p:nvSpPr>
          <p:cNvPr id="31" name="Shape 29"/>
          <p:cNvSpPr/>
          <p:nvPr/>
        </p:nvSpPr>
        <p:spPr>
          <a:xfrm>
            <a:off x="6446520" y="1417320"/>
            <a:ext cx="2514600" cy="429768"/>
          </a:xfrm>
          <a:prstGeom prst="roundRect">
            <a:avLst>
              <a:gd name="adj" fmla="val 17021"/>
            </a:avLst>
          </a:prstGeom>
          <a:solidFill>
            <a:srgbClr val="0E8A8A"/>
          </a:solidFill>
          <a:ln w="12700">
            <a:solidFill>
              <a:srgbClr val="0E8A8A"/>
            </a:solidFill>
            <a:prstDash val="solid"/>
          </a:ln>
        </p:spPr>
      </p:sp>
      <p:sp>
        <p:nvSpPr>
          <p:cNvPr id="32" name="Text 30"/>
          <p:cNvSpPr/>
          <p:nvPr/>
        </p:nvSpPr>
        <p:spPr>
          <a:xfrm>
            <a:off x="6556248" y="1517904"/>
            <a:ext cx="2295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OOD Behavior</a:t>
            </a:r>
            <a:endParaRPr lang="en-US" sz="1030" dirty="0"/>
          </a:p>
        </p:txBody>
      </p:sp>
      <p:sp>
        <p:nvSpPr>
          <p:cNvPr id="33" name="Shape 31"/>
          <p:cNvSpPr/>
          <p:nvPr/>
        </p:nvSpPr>
        <p:spPr>
          <a:xfrm>
            <a:off x="6611112" y="2130552"/>
            <a:ext cx="82296" cy="82296"/>
          </a:xfrm>
          <a:prstGeom prst="ellipse">
            <a:avLst/>
          </a:prstGeom>
          <a:solidFill>
            <a:srgbClr val="0E8A8A"/>
          </a:solidFill>
          <a:ln w="12700">
            <a:solidFill>
              <a:srgbClr val="0E8A8A"/>
            </a:solidFill>
            <a:prstDash val="solid"/>
          </a:ln>
        </p:spPr>
      </p:sp>
      <p:sp>
        <p:nvSpPr>
          <p:cNvPr id="34" name="Text 32"/>
          <p:cNvSpPr/>
          <p:nvPr/>
        </p:nvSpPr>
        <p:spPr>
          <a:xfrm>
            <a:off x="6766560" y="2075688"/>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weapon-flag rate</a:t>
            </a:r>
            <a:endParaRPr lang="en-US" sz="870" dirty="0"/>
          </a:p>
        </p:txBody>
      </p:sp>
      <p:sp>
        <p:nvSpPr>
          <p:cNvPr id="35" name="Shape 33"/>
          <p:cNvSpPr/>
          <p:nvPr/>
        </p:nvSpPr>
        <p:spPr>
          <a:xfrm>
            <a:off x="6611112" y="2523744"/>
            <a:ext cx="82296" cy="82296"/>
          </a:xfrm>
          <a:prstGeom prst="ellipse">
            <a:avLst/>
          </a:prstGeom>
          <a:solidFill>
            <a:srgbClr val="0E8A8A"/>
          </a:solidFill>
          <a:ln w="12700">
            <a:solidFill>
              <a:srgbClr val="0E8A8A"/>
            </a:solidFill>
            <a:prstDash val="solid"/>
          </a:ln>
        </p:spPr>
      </p:sp>
      <p:sp>
        <p:nvSpPr>
          <p:cNvPr id="36" name="Text 34"/>
          <p:cNvSpPr/>
          <p:nvPr/>
        </p:nvSpPr>
        <p:spPr>
          <a:xfrm>
            <a:off x="6766560" y="2468880"/>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mean confidence</a:t>
            </a:r>
            <a:endParaRPr lang="en-US" sz="870" dirty="0"/>
          </a:p>
        </p:txBody>
      </p:sp>
      <p:sp>
        <p:nvSpPr>
          <p:cNvPr id="37" name="Shape 35"/>
          <p:cNvSpPr/>
          <p:nvPr/>
        </p:nvSpPr>
        <p:spPr>
          <a:xfrm>
            <a:off x="6611112" y="2916936"/>
            <a:ext cx="82296" cy="82296"/>
          </a:xfrm>
          <a:prstGeom prst="ellipse">
            <a:avLst/>
          </a:prstGeom>
          <a:solidFill>
            <a:srgbClr val="0E8A8A"/>
          </a:solidFill>
          <a:ln w="12700">
            <a:solidFill>
              <a:srgbClr val="0E8A8A"/>
            </a:solidFill>
            <a:prstDash val="solid"/>
          </a:ln>
        </p:spPr>
      </p:sp>
      <p:sp>
        <p:nvSpPr>
          <p:cNvPr id="38" name="Text 36"/>
          <p:cNvSpPr/>
          <p:nvPr/>
        </p:nvSpPr>
        <p:spPr>
          <a:xfrm>
            <a:off x="6766560" y="2862072"/>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high-confidence OOD fraction</a:t>
            </a:r>
            <a:endParaRPr lang="en-US" sz="870" dirty="0"/>
          </a:p>
        </p:txBody>
      </p:sp>
      <p:sp>
        <p:nvSpPr>
          <p:cNvPr id="39" name="Shape 37"/>
          <p:cNvSpPr/>
          <p:nvPr/>
        </p:nvSpPr>
        <p:spPr>
          <a:xfrm>
            <a:off x="9326880" y="1417320"/>
            <a:ext cx="2514600" cy="2880360"/>
          </a:xfrm>
          <a:prstGeom prst="roundRect">
            <a:avLst>
              <a:gd name="adj" fmla="val 2909"/>
            </a:avLst>
          </a:prstGeom>
          <a:solidFill>
            <a:srgbClr val="FFFFFF"/>
          </a:solidFill>
          <a:ln w="12700">
            <a:solidFill>
              <a:srgbClr val="D6DEE8"/>
            </a:solidFill>
            <a:prstDash val="solid"/>
          </a:ln>
        </p:spPr>
      </p:sp>
      <p:sp>
        <p:nvSpPr>
          <p:cNvPr id="40" name="Shape 38"/>
          <p:cNvSpPr/>
          <p:nvPr/>
        </p:nvSpPr>
        <p:spPr>
          <a:xfrm>
            <a:off x="9326880" y="1417320"/>
            <a:ext cx="2514600" cy="429768"/>
          </a:xfrm>
          <a:prstGeom prst="roundRect">
            <a:avLst>
              <a:gd name="adj" fmla="val 17021"/>
            </a:avLst>
          </a:prstGeom>
          <a:solidFill>
            <a:srgbClr val="0B2A5B"/>
          </a:solidFill>
          <a:ln w="12700">
            <a:solidFill>
              <a:srgbClr val="0B2A5B"/>
            </a:solidFill>
            <a:prstDash val="solid"/>
          </a:ln>
        </p:spPr>
      </p:sp>
      <p:sp>
        <p:nvSpPr>
          <p:cNvPr id="41" name="Text 39"/>
          <p:cNvSpPr/>
          <p:nvPr/>
        </p:nvSpPr>
        <p:spPr>
          <a:xfrm>
            <a:off x="9436608" y="1517904"/>
            <a:ext cx="2295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Black-Box Outputs</a:t>
            </a:r>
            <a:endParaRPr lang="en-US" sz="1030" dirty="0"/>
          </a:p>
        </p:txBody>
      </p:sp>
      <p:sp>
        <p:nvSpPr>
          <p:cNvPr id="42" name="Shape 40"/>
          <p:cNvSpPr/>
          <p:nvPr/>
        </p:nvSpPr>
        <p:spPr>
          <a:xfrm>
            <a:off x="9491472" y="2130552"/>
            <a:ext cx="82296" cy="82296"/>
          </a:xfrm>
          <a:prstGeom prst="ellipse">
            <a:avLst/>
          </a:prstGeom>
          <a:solidFill>
            <a:srgbClr val="0B2A5B"/>
          </a:solidFill>
          <a:ln w="12700">
            <a:solidFill>
              <a:srgbClr val="0B2A5B"/>
            </a:solidFill>
            <a:prstDash val="solid"/>
          </a:ln>
        </p:spPr>
      </p:sp>
      <p:sp>
        <p:nvSpPr>
          <p:cNvPr id="43" name="Text 41"/>
          <p:cNvSpPr/>
          <p:nvPr/>
        </p:nvSpPr>
        <p:spPr>
          <a:xfrm>
            <a:off x="9646920" y="2075688"/>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recall</a:t>
            </a:r>
            <a:endParaRPr lang="en-US" sz="870" dirty="0"/>
          </a:p>
        </p:txBody>
      </p:sp>
      <p:sp>
        <p:nvSpPr>
          <p:cNvPr id="44" name="Shape 42"/>
          <p:cNvSpPr/>
          <p:nvPr/>
        </p:nvSpPr>
        <p:spPr>
          <a:xfrm>
            <a:off x="9491472" y="2523744"/>
            <a:ext cx="82296" cy="82296"/>
          </a:xfrm>
          <a:prstGeom prst="ellipse">
            <a:avLst/>
          </a:prstGeom>
          <a:solidFill>
            <a:srgbClr val="0B2A5B"/>
          </a:solidFill>
          <a:ln w="12700">
            <a:solidFill>
              <a:srgbClr val="0B2A5B"/>
            </a:solidFill>
            <a:prstDash val="solid"/>
          </a:ln>
        </p:spPr>
      </p:sp>
      <p:sp>
        <p:nvSpPr>
          <p:cNvPr id="45" name="Text 43"/>
          <p:cNvSpPr/>
          <p:nvPr/>
        </p:nvSpPr>
        <p:spPr>
          <a:xfrm>
            <a:off x="9646920" y="2468880"/>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FNR / FPR</a:t>
            </a:r>
            <a:endParaRPr lang="en-US" sz="870" dirty="0"/>
          </a:p>
        </p:txBody>
      </p:sp>
      <p:sp>
        <p:nvSpPr>
          <p:cNvPr id="46" name="Shape 44"/>
          <p:cNvSpPr/>
          <p:nvPr/>
        </p:nvSpPr>
        <p:spPr>
          <a:xfrm>
            <a:off x="9491472" y="2916936"/>
            <a:ext cx="82296" cy="82296"/>
          </a:xfrm>
          <a:prstGeom prst="ellipse">
            <a:avLst/>
          </a:prstGeom>
          <a:solidFill>
            <a:srgbClr val="0B2A5B"/>
          </a:solidFill>
          <a:ln w="12700">
            <a:solidFill>
              <a:srgbClr val="0B2A5B"/>
            </a:solidFill>
            <a:prstDash val="solid"/>
          </a:ln>
        </p:spPr>
      </p:sp>
      <p:sp>
        <p:nvSpPr>
          <p:cNvPr id="47" name="Text 45"/>
          <p:cNvSpPr/>
          <p:nvPr/>
        </p:nvSpPr>
        <p:spPr>
          <a:xfrm>
            <a:off x="9646920" y="2862072"/>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unknown rate</a:t>
            </a:r>
            <a:endParaRPr lang="en-US" sz="870" dirty="0"/>
          </a:p>
        </p:txBody>
      </p:sp>
      <p:sp>
        <p:nvSpPr>
          <p:cNvPr id="48" name="Shape 46"/>
          <p:cNvSpPr/>
          <p:nvPr/>
        </p:nvSpPr>
        <p:spPr>
          <a:xfrm>
            <a:off x="9491472" y="3310128"/>
            <a:ext cx="82296" cy="82296"/>
          </a:xfrm>
          <a:prstGeom prst="ellipse">
            <a:avLst/>
          </a:prstGeom>
          <a:solidFill>
            <a:srgbClr val="0B2A5B"/>
          </a:solidFill>
          <a:ln w="12700">
            <a:solidFill>
              <a:srgbClr val="0B2A5B"/>
            </a:solidFill>
            <a:prstDash val="solid"/>
          </a:ln>
        </p:spPr>
      </p:sp>
      <p:sp>
        <p:nvSpPr>
          <p:cNvPr id="49" name="Text 47"/>
          <p:cNvSpPr/>
          <p:nvPr/>
        </p:nvSpPr>
        <p:spPr>
          <a:xfrm>
            <a:off x="9646920" y="3255264"/>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conservative mapping</a:t>
            </a:r>
            <a:endParaRPr lang="en-US" sz="870" dirty="0"/>
          </a:p>
        </p:txBody>
      </p:sp>
      <p:sp>
        <p:nvSpPr>
          <p:cNvPr id="50" name="Shape 48"/>
          <p:cNvSpPr/>
          <p:nvPr/>
        </p:nvSpPr>
        <p:spPr>
          <a:xfrm>
            <a:off x="1005840" y="5047488"/>
            <a:ext cx="10149840" cy="685800"/>
          </a:xfrm>
          <a:prstGeom prst="roundRect">
            <a:avLst>
              <a:gd name="adj" fmla="val 10667"/>
            </a:avLst>
          </a:prstGeom>
          <a:solidFill>
            <a:srgbClr val="FFF1E8"/>
          </a:solidFill>
          <a:ln w="12700">
            <a:solidFill>
              <a:srgbClr val="F26419"/>
            </a:solidFill>
            <a:prstDash val="solid"/>
          </a:ln>
        </p:spPr>
      </p:sp>
      <p:sp>
        <p:nvSpPr>
          <p:cNvPr id="51" name="Text 49"/>
          <p:cNvSpPr/>
          <p:nvPr/>
        </p:nvSpPr>
        <p:spPr>
          <a:xfrm>
            <a:off x="1298448" y="5285232"/>
            <a:ext cx="9555480" cy="164592"/>
          </a:xfrm>
          <a:prstGeom prst="rect">
            <a:avLst/>
          </a:prstGeom>
          <a:noFill/>
          <a:ln/>
        </p:spPr>
        <p:txBody>
          <a:bodyPr wrap="square" lIns="0" tIns="0" rIns="0" bIns="0" rtlCol="0" anchor="ctr">
            <a:normAutofit/>
          </a:bodyPr>
          <a:lstStyle/>
          <a:p>
            <a:pPr algn="ctr" indent="0" marL="0">
              <a:buNone/>
            </a:pPr>
            <a:r>
              <a:rPr lang="en-US" sz="1180" b="1" dirty="0">
                <a:solidFill>
                  <a:srgbClr val="071B4D"/>
                </a:solidFill>
              </a:rPr>
              <a:t>Main message: in forensic triage, false negatives and high-confidence errors are more operationally critical than accuracy alone.</a:t>
            </a:r>
            <a:endParaRPr lang="en-US" sz="1180" dirty="0"/>
          </a:p>
        </p:txBody>
      </p:sp>
      <p:sp>
        <p:nvSpPr>
          <p:cNvPr id="52" name="Text 50"/>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09</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Proxy Model Evaluation</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Transparent reference systems for controlled robustness analysis</a:t>
            </a:r>
            <a:endParaRPr lang="en-US" sz="880" dirty="0"/>
          </a:p>
        </p:txBody>
      </p:sp>
      <p:sp>
        <p:nvSpPr>
          <p:cNvPr id="8" name="Shape 6"/>
          <p:cNvSpPr/>
          <p:nvPr/>
        </p:nvSpPr>
        <p:spPr>
          <a:xfrm>
            <a:off x="914400" y="1417320"/>
            <a:ext cx="2743200" cy="1234440"/>
          </a:xfrm>
          <a:prstGeom prst="roundRect">
            <a:avLst>
              <a:gd name="adj" fmla="val 5926"/>
            </a:avLst>
          </a:prstGeom>
          <a:solidFill>
            <a:srgbClr val="EAF7F7"/>
          </a:solidFill>
          <a:ln w="12700">
            <a:solidFill>
              <a:srgbClr val="0E8A8A"/>
            </a:solidFill>
            <a:prstDash val="solid"/>
          </a:ln>
        </p:spPr>
      </p:sp>
      <p:sp>
        <p:nvSpPr>
          <p:cNvPr id="9" name="Text 7"/>
          <p:cNvSpPr/>
          <p:nvPr/>
        </p:nvSpPr>
        <p:spPr>
          <a:xfrm>
            <a:off x="1170432" y="1847088"/>
            <a:ext cx="2240280" cy="219456"/>
          </a:xfrm>
          <a:prstGeom prst="rect">
            <a:avLst/>
          </a:prstGeom>
          <a:noFill/>
          <a:ln/>
        </p:spPr>
        <p:txBody>
          <a:bodyPr wrap="square" lIns="0" tIns="0" rIns="0" bIns="0" rtlCol="0" anchor="ctr"/>
          <a:lstStyle/>
          <a:p>
            <a:pPr algn="ctr" indent="0" marL="0">
              <a:buNone/>
            </a:pPr>
            <a:r>
              <a:rPr lang="en-US" sz="1700" b="1" dirty="0">
                <a:solidFill>
                  <a:srgbClr val="0E8A8A"/>
                </a:solidFill>
              </a:rPr>
              <a:t>ResNet18</a:t>
            </a:r>
            <a:endParaRPr lang="en-US" sz="1700" dirty="0"/>
          </a:p>
        </p:txBody>
      </p:sp>
      <p:sp>
        <p:nvSpPr>
          <p:cNvPr id="10" name="Shape 8"/>
          <p:cNvSpPr/>
          <p:nvPr/>
        </p:nvSpPr>
        <p:spPr>
          <a:xfrm>
            <a:off x="4343400" y="1417320"/>
            <a:ext cx="2743200" cy="1234440"/>
          </a:xfrm>
          <a:prstGeom prst="roundRect">
            <a:avLst>
              <a:gd name="adj" fmla="val 5926"/>
            </a:avLst>
          </a:prstGeom>
          <a:solidFill>
            <a:srgbClr val="FFF1E8"/>
          </a:solidFill>
          <a:ln w="12700">
            <a:solidFill>
              <a:srgbClr val="F26419"/>
            </a:solidFill>
            <a:prstDash val="solid"/>
          </a:ln>
        </p:spPr>
      </p:sp>
      <p:sp>
        <p:nvSpPr>
          <p:cNvPr id="11" name="Text 9"/>
          <p:cNvSpPr/>
          <p:nvPr/>
        </p:nvSpPr>
        <p:spPr>
          <a:xfrm>
            <a:off x="4599432" y="1847088"/>
            <a:ext cx="2240280" cy="219456"/>
          </a:xfrm>
          <a:prstGeom prst="rect">
            <a:avLst/>
          </a:prstGeom>
          <a:noFill/>
          <a:ln/>
        </p:spPr>
        <p:txBody>
          <a:bodyPr wrap="square" lIns="0" tIns="0" rIns="0" bIns="0" rtlCol="0" anchor="ctr"/>
          <a:lstStyle/>
          <a:p>
            <a:pPr algn="ctr" indent="0" marL="0">
              <a:buNone/>
            </a:pPr>
            <a:r>
              <a:rPr lang="en-US" sz="1700" b="1" dirty="0">
                <a:solidFill>
                  <a:srgbClr val="F26419"/>
                </a:solidFill>
              </a:rPr>
              <a:t>EfficientNet-B0</a:t>
            </a:r>
            <a:endParaRPr lang="en-US" sz="1700" dirty="0"/>
          </a:p>
        </p:txBody>
      </p:sp>
      <p:sp>
        <p:nvSpPr>
          <p:cNvPr id="12" name="Shape 10"/>
          <p:cNvSpPr/>
          <p:nvPr/>
        </p:nvSpPr>
        <p:spPr>
          <a:xfrm>
            <a:off x="7772400" y="1417320"/>
            <a:ext cx="2743200" cy="1234440"/>
          </a:xfrm>
          <a:prstGeom prst="roundRect">
            <a:avLst>
              <a:gd name="adj" fmla="val 5926"/>
            </a:avLst>
          </a:prstGeom>
          <a:solidFill>
            <a:srgbClr val="EAF7F7"/>
          </a:solidFill>
          <a:ln w="12700">
            <a:solidFill>
              <a:srgbClr val="0E8A8A"/>
            </a:solidFill>
            <a:prstDash val="solid"/>
          </a:ln>
        </p:spPr>
      </p:sp>
      <p:sp>
        <p:nvSpPr>
          <p:cNvPr id="13" name="Text 11"/>
          <p:cNvSpPr/>
          <p:nvPr/>
        </p:nvSpPr>
        <p:spPr>
          <a:xfrm>
            <a:off x="8028432" y="1847088"/>
            <a:ext cx="2240280" cy="219456"/>
          </a:xfrm>
          <a:prstGeom prst="rect">
            <a:avLst/>
          </a:prstGeom>
          <a:noFill/>
          <a:ln/>
        </p:spPr>
        <p:txBody>
          <a:bodyPr wrap="square" lIns="0" tIns="0" rIns="0" bIns="0" rtlCol="0" anchor="ctr"/>
          <a:lstStyle/>
          <a:p>
            <a:pPr algn="ctr" indent="0" marL="0">
              <a:buNone/>
            </a:pPr>
            <a:r>
              <a:rPr lang="en-US" sz="1700" b="1" dirty="0">
                <a:solidFill>
                  <a:srgbClr val="0E8A8A"/>
                </a:solidFill>
              </a:rPr>
              <a:t>CLIP</a:t>
            </a:r>
            <a:endParaRPr lang="en-US" sz="1700" dirty="0"/>
          </a:p>
        </p:txBody>
      </p:sp>
      <p:sp>
        <p:nvSpPr>
          <p:cNvPr id="14" name="Shape 12"/>
          <p:cNvSpPr/>
          <p:nvPr/>
        </p:nvSpPr>
        <p:spPr>
          <a:xfrm>
            <a:off x="868680" y="3749040"/>
            <a:ext cx="1874520" cy="822960"/>
          </a:xfrm>
          <a:prstGeom prst="roundRect">
            <a:avLst>
              <a:gd name="adj" fmla="val 8889"/>
            </a:avLst>
          </a:prstGeom>
          <a:solidFill>
            <a:srgbClr val="FFFFFF"/>
          </a:solidFill>
          <a:ln w="12700">
            <a:solidFill>
              <a:srgbClr val="D6DEE8"/>
            </a:solidFill>
            <a:prstDash val="solid"/>
          </a:ln>
        </p:spPr>
      </p:sp>
      <p:sp>
        <p:nvSpPr>
          <p:cNvPr id="15" name="Text 13"/>
          <p:cNvSpPr/>
          <p:nvPr/>
        </p:nvSpPr>
        <p:spPr>
          <a:xfrm>
            <a:off x="1014984" y="4005072"/>
            <a:ext cx="1591056" cy="219456"/>
          </a:xfrm>
          <a:prstGeom prst="rect">
            <a:avLst/>
          </a:prstGeom>
          <a:noFill/>
          <a:ln/>
        </p:spPr>
        <p:txBody>
          <a:bodyPr wrap="square" lIns="0" tIns="0" rIns="0" bIns="0" rtlCol="0" anchor="ctr">
            <a:normAutofit/>
          </a:bodyPr>
          <a:lstStyle/>
          <a:p>
            <a:pPr algn="ctr" indent="0" marL="0">
              <a:buNone/>
            </a:pPr>
            <a:r>
              <a:rPr lang="en-US" sz="940" b="1" dirty="0">
                <a:solidFill>
                  <a:srgbClr val="071B4D"/>
                </a:solidFill>
              </a:rPr>
              <a:t>Controlled</a:t>
            </a:r>
            <a:endParaRPr lang="en-US" sz="940" dirty="0"/>
          </a:p>
          <a:p>
            <a:pPr algn="ctr" indent="0" marL="0">
              <a:buNone/>
            </a:pPr>
            <a:r>
              <a:rPr lang="en-US" sz="940" b="1" dirty="0">
                <a:solidFill>
                  <a:srgbClr val="071B4D"/>
                </a:solidFill>
              </a:rPr>
              <a:t>training/testing</a:t>
            </a:r>
            <a:endParaRPr lang="en-US" sz="940" dirty="0"/>
          </a:p>
        </p:txBody>
      </p:sp>
      <p:sp>
        <p:nvSpPr>
          <p:cNvPr id="16" name="Shape 14"/>
          <p:cNvSpPr/>
          <p:nvPr/>
        </p:nvSpPr>
        <p:spPr>
          <a:xfrm>
            <a:off x="3108960" y="3749040"/>
            <a:ext cx="1874520" cy="822960"/>
          </a:xfrm>
          <a:prstGeom prst="roundRect">
            <a:avLst>
              <a:gd name="adj" fmla="val 8889"/>
            </a:avLst>
          </a:prstGeom>
          <a:solidFill>
            <a:srgbClr val="FFFFFF"/>
          </a:solidFill>
          <a:ln w="12700">
            <a:solidFill>
              <a:srgbClr val="D6DEE8"/>
            </a:solidFill>
            <a:prstDash val="solid"/>
          </a:ln>
        </p:spPr>
      </p:sp>
      <p:sp>
        <p:nvSpPr>
          <p:cNvPr id="17" name="Text 15"/>
          <p:cNvSpPr/>
          <p:nvPr/>
        </p:nvSpPr>
        <p:spPr>
          <a:xfrm>
            <a:off x="3255264" y="4005072"/>
            <a:ext cx="1591056" cy="219456"/>
          </a:xfrm>
          <a:prstGeom prst="rect">
            <a:avLst/>
          </a:prstGeom>
          <a:noFill/>
          <a:ln/>
        </p:spPr>
        <p:txBody>
          <a:bodyPr wrap="square" lIns="0" tIns="0" rIns="0" bIns="0" rtlCol="0" anchor="ctr">
            <a:normAutofit/>
          </a:bodyPr>
          <a:lstStyle/>
          <a:p>
            <a:pPr algn="ctr" indent="0" marL="0">
              <a:buNone/>
            </a:pPr>
            <a:r>
              <a:rPr lang="en-US" sz="940" b="1" dirty="0">
                <a:solidFill>
                  <a:srgbClr val="071B4D"/>
                </a:solidFill>
              </a:rPr>
              <a:t>Adversarial</a:t>
            </a:r>
            <a:endParaRPr lang="en-US" sz="940" dirty="0"/>
          </a:p>
          <a:p>
            <a:pPr algn="ctr" indent="0" marL="0">
              <a:buNone/>
            </a:pPr>
            <a:r>
              <a:rPr lang="en-US" sz="940" b="1" dirty="0">
                <a:solidFill>
                  <a:srgbClr val="071B4D"/>
                </a:solidFill>
              </a:rPr>
              <a:t>attack generation</a:t>
            </a:r>
            <a:endParaRPr lang="en-US" sz="940" dirty="0"/>
          </a:p>
        </p:txBody>
      </p:sp>
      <p:sp>
        <p:nvSpPr>
          <p:cNvPr id="18" name="Shape 16"/>
          <p:cNvSpPr/>
          <p:nvPr/>
        </p:nvSpPr>
        <p:spPr>
          <a:xfrm>
            <a:off x="5349240" y="3749040"/>
            <a:ext cx="1874520" cy="822960"/>
          </a:xfrm>
          <a:prstGeom prst="roundRect">
            <a:avLst>
              <a:gd name="adj" fmla="val 8889"/>
            </a:avLst>
          </a:prstGeom>
          <a:solidFill>
            <a:srgbClr val="FFFFFF"/>
          </a:solidFill>
          <a:ln w="12700">
            <a:solidFill>
              <a:srgbClr val="D6DEE8"/>
            </a:solidFill>
            <a:prstDash val="solid"/>
          </a:ln>
        </p:spPr>
      </p:sp>
      <p:sp>
        <p:nvSpPr>
          <p:cNvPr id="19" name="Text 17"/>
          <p:cNvSpPr/>
          <p:nvPr/>
        </p:nvSpPr>
        <p:spPr>
          <a:xfrm>
            <a:off x="5495544" y="4005072"/>
            <a:ext cx="1591056" cy="219456"/>
          </a:xfrm>
          <a:prstGeom prst="rect">
            <a:avLst/>
          </a:prstGeom>
          <a:noFill/>
          <a:ln/>
        </p:spPr>
        <p:txBody>
          <a:bodyPr wrap="square" lIns="0" tIns="0" rIns="0" bIns="0" rtlCol="0" anchor="ctr">
            <a:normAutofit/>
          </a:bodyPr>
          <a:lstStyle/>
          <a:p>
            <a:pPr algn="ctr" indent="0" marL="0">
              <a:buNone/>
            </a:pPr>
            <a:r>
              <a:rPr lang="en-US" sz="940" b="1" dirty="0">
                <a:solidFill>
                  <a:srgbClr val="071B4D"/>
                </a:solidFill>
              </a:rPr>
              <a:t>Confidence-level</a:t>
            </a:r>
            <a:endParaRPr lang="en-US" sz="940" dirty="0"/>
          </a:p>
          <a:p>
            <a:pPr algn="ctr" indent="0" marL="0">
              <a:buNone/>
            </a:pPr>
            <a:r>
              <a:rPr lang="en-US" sz="940" b="1" dirty="0">
                <a:solidFill>
                  <a:srgbClr val="071B4D"/>
                </a:solidFill>
              </a:rPr>
              <a:t>analysis</a:t>
            </a:r>
            <a:endParaRPr lang="en-US" sz="940" dirty="0"/>
          </a:p>
        </p:txBody>
      </p:sp>
      <p:sp>
        <p:nvSpPr>
          <p:cNvPr id="20" name="Shape 18"/>
          <p:cNvSpPr/>
          <p:nvPr/>
        </p:nvSpPr>
        <p:spPr>
          <a:xfrm>
            <a:off x="7589520" y="3749040"/>
            <a:ext cx="1874520" cy="822960"/>
          </a:xfrm>
          <a:prstGeom prst="roundRect">
            <a:avLst>
              <a:gd name="adj" fmla="val 8889"/>
            </a:avLst>
          </a:prstGeom>
          <a:solidFill>
            <a:srgbClr val="FFFFFF"/>
          </a:solidFill>
          <a:ln w="12700">
            <a:solidFill>
              <a:srgbClr val="D6DEE8"/>
            </a:solidFill>
            <a:prstDash val="solid"/>
          </a:ln>
        </p:spPr>
      </p:sp>
      <p:sp>
        <p:nvSpPr>
          <p:cNvPr id="21" name="Text 19"/>
          <p:cNvSpPr/>
          <p:nvPr/>
        </p:nvSpPr>
        <p:spPr>
          <a:xfrm>
            <a:off x="7735824" y="4005072"/>
            <a:ext cx="1591056" cy="219456"/>
          </a:xfrm>
          <a:prstGeom prst="rect">
            <a:avLst/>
          </a:prstGeom>
          <a:noFill/>
          <a:ln/>
        </p:spPr>
        <p:txBody>
          <a:bodyPr wrap="square" lIns="0" tIns="0" rIns="0" bIns="0" rtlCol="0" anchor="ctr">
            <a:normAutofit/>
          </a:bodyPr>
          <a:lstStyle/>
          <a:p>
            <a:pPr algn="ctr" indent="0" marL="0">
              <a:buNone/>
            </a:pPr>
            <a:r>
              <a:rPr lang="en-US" sz="940" b="1" dirty="0">
                <a:solidFill>
                  <a:srgbClr val="071B4D"/>
                </a:solidFill>
              </a:rPr>
              <a:t>Confusion</a:t>
            </a:r>
            <a:endParaRPr lang="en-US" sz="940" dirty="0"/>
          </a:p>
          <a:p>
            <a:pPr algn="ctr" indent="0" marL="0">
              <a:buNone/>
            </a:pPr>
            <a:r>
              <a:rPr lang="en-US" sz="940" b="1" dirty="0">
                <a:solidFill>
                  <a:srgbClr val="071B4D"/>
                </a:solidFill>
              </a:rPr>
              <a:t>matrices</a:t>
            </a:r>
            <a:endParaRPr lang="en-US" sz="940" dirty="0"/>
          </a:p>
        </p:txBody>
      </p:sp>
      <p:sp>
        <p:nvSpPr>
          <p:cNvPr id="22" name="Shape 20"/>
          <p:cNvSpPr/>
          <p:nvPr/>
        </p:nvSpPr>
        <p:spPr>
          <a:xfrm>
            <a:off x="9829800" y="3749040"/>
            <a:ext cx="1874520" cy="822960"/>
          </a:xfrm>
          <a:prstGeom prst="roundRect">
            <a:avLst>
              <a:gd name="adj" fmla="val 8889"/>
            </a:avLst>
          </a:prstGeom>
          <a:solidFill>
            <a:srgbClr val="FFFFFF"/>
          </a:solidFill>
          <a:ln w="12700">
            <a:solidFill>
              <a:srgbClr val="D6DEE8"/>
            </a:solidFill>
            <a:prstDash val="solid"/>
          </a:ln>
        </p:spPr>
      </p:sp>
      <p:sp>
        <p:nvSpPr>
          <p:cNvPr id="23" name="Text 21"/>
          <p:cNvSpPr/>
          <p:nvPr/>
        </p:nvSpPr>
        <p:spPr>
          <a:xfrm>
            <a:off x="9976104" y="4005072"/>
            <a:ext cx="1591056" cy="219456"/>
          </a:xfrm>
          <a:prstGeom prst="rect">
            <a:avLst/>
          </a:prstGeom>
          <a:noFill/>
          <a:ln/>
        </p:spPr>
        <p:txBody>
          <a:bodyPr wrap="square" lIns="0" tIns="0" rIns="0" bIns="0" rtlCol="0" anchor="ctr">
            <a:normAutofit/>
          </a:bodyPr>
          <a:lstStyle/>
          <a:p>
            <a:pPr algn="ctr" indent="0" marL="0">
              <a:buNone/>
            </a:pPr>
            <a:r>
              <a:rPr lang="en-US" sz="940" b="1" dirty="0">
                <a:solidFill>
                  <a:srgbClr val="071B4D"/>
                </a:solidFill>
              </a:rPr>
              <a:t>XAI heatmaps</a:t>
            </a:r>
            <a:endParaRPr lang="en-US" sz="940" dirty="0"/>
          </a:p>
          <a:p>
            <a:pPr algn="ctr" indent="0" marL="0">
              <a:buNone/>
            </a:pPr>
            <a:r>
              <a:rPr lang="en-US" sz="940" b="1" dirty="0">
                <a:solidFill>
                  <a:srgbClr val="071B4D"/>
                </a:solidFill>
              </a:rPr>
              <a:t>and attributions</a:t>
            </a:r>
            <a:endParaRPr lang="en-US" sz="940" dirty="0"/>
          </a:p>
        </p:txBody>
      </p:sp>
      <p:sp>
        <p:nvSpPr>
          <p:cNvPr id="24" name="Shape 22"/>
          <p:cNvSpPr/>
          <p:nvPr/>
        </p:nvSpPr>
        <p:spPr>
          <a:xfrm>
            <a:off x="1143000" y="5376672"/>
            <a:ext cx="9875520" cy="420624"/>
          </a:xfrm>
          <a:prstGeom prst="roundRect">
            <a:avLst>
              <a:gd name="adj" fmla="val 17391"/>
            </a:avLst>
          </a:prstGeom>
          <a:solidFill>
            <a:srgbClr val="EAF7F7"/>
          </a:solidFill>
          <a:ln w="12700">
            <a:solidFill>
              <a:srgbClr val="0E8A8A"/>
            </a:solidFill>
            <a:prstDash val="solid"/>
          </a:ln>
        </p:spPr>
      </p:sp>
      <p:sp>
        <p:nvSpPr>
          <p:cNvPr id="25" name="Text 23"/>
          <p:cNvSpPr/>
          <p:nvPr/>
        </p:nvSpPr>
        <p:spPr>
          <a:xfrm>
            <a:off x="1389888" y="5532120"/>
            <a:ext cx="9418320" cy="109728"/>
          </a:xfrm>
          <a:prstGeom prst="rect">
            <a:avLst/>
          </a:prstGeom>
          <a:noFill/>
          <a:ln/>
        </p:spPr>
        <p:txBody>
          <a:bodyPr wrap="square" lIns="0" tIns="0" rIns="0" bIns="0" rtlCol="0" anchor="ctr"/>
          <a:lstStyle/>
          <a:p>
            <a:pPr algn="ctr" indent="0" marL="0">
              <a:buNone/>
            </a:pPr>
            <a:r>
              <a:rPr lang="en-US" sz="1030" b="1" dirty="0">
                <a:solidFill>
                  <a:srgbClr val="071B4D"/>
                </a:solidFill>
              </a:rPr>
              <a:t>Proxy models are controlled instruments for robustness analysis; they are not replacements for commercial tools.</a:t>
            </a:r>
            <a:endParaRPr lang="en-US" sz="1030" dirty="0"/>
          </a:p>
        </p:txBody>
      </p:sp>
      <p:sp>
        <p:nvSpPr>
          <p:cNvPr id="26" name="Text 24"/>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10</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Commercial Tool Evaluation</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Black-box assessment under realistic operational constraints</a:t>
            </a:r>
            <a:endParaRPr lang="en-US" sz="880" dirty="0"/>
          </a:p>
        </p:txBody>
      </p:sp>
      <p:sp>
        <p:nvSpPr>
          <p:cNvPr id="8" name="Shape 6"/>
          <p:cNvSpPr/>
          <p:nvPr/>
        </p:nvSpPr>
        <p:spPr>
          <a:xfrm>
            <a:off x="960120" y="1600200"/>
            <a:ext cx="3063240" cy="1143000"/>
          </a:xfrm>
          <a:prstGeom prst="roundRect">
            <a:avLst>
              <a:gd name="adj" fmla="val 6400"/>
            </a:avLst>
          </a:prstGeom>
          <a:solidFill>
            <a:srgbClr val="FFFFFF"/>
          </a:solidFill>
          <a:ln w="12700">
            <a:solidFill>
              <a:srgbClr val="0E8A8A"/>
            </a:solidFill>
            <a:prstDash val="solid"/>
          </a:ln>
        </p:spPr>
      </p:sp>
      <p:sp>
        <p:nvSpPr>
          <p:cNvPr id="9" name="Text 7"/>
          <p:cNvSpPr/>
          <p:nvPr/>
        </p:nvSpPr>
        <p:spPr>
          <a:xfrm>
            <a:off x="1234440" y="1938528"/>
            <a:ext cx="2514600" cy="347472"/>
          </a:xfrm>
          <a:prstGeom prst="rect">
            <a:avLst/>
          </a:prstGeom>
          <a:noFill/>
          <a:ln/>
        </p:spPr>
        <p:txBody>
          <a:bodyPr wrap="square" lIns="0" tIns="0" rIns="0" bIns="0" rtlCol="0" anchor="ctr">
            <a:normAutofit/>
          </a:bodyPr>
          <a:lstStyle/>
          <a:p>
            <a:pPr algn="ctr" indent="0" marL="0">
              <a:buNone/>
            </a:pPr>
            <a:r>
              <a:rPr lang="en-US" sz="1500" b="1" dirty="0">
                <a:solidFill>
                  <a:srgbClr val="071B4D"/>
                </a:solidFill>
              </a:rPr>
              <a:t>Magnet AXIOM /</a:t>
            </a:r>
            <a:endParaRPr lang="en-US" sz="1500" dirty="0"/>
          </a:p>
          <a:p>
            <a:pPr algn="ctr" indent="0" marL="0">
              <a:buNone/>
            </a:pPr>
            <a:r>
              <a:rPr lang="en-US" sz="1500" b="1" dirty="0">
                <a:solidFill>
                  <a:srgbClr val="071B4D"/>
                </a:solidFill>
              </a:rPr>
              <a:t>Magnet.AI</a:t>
            </a:r>
            <a:endParaRPr lang="en-US" sz="1500" dirty="0"/>
          </a:p>
        </p:txBody>
      </p:sp>
      <p:sp>
        <p:nvSpPr>
          <p:cNvPr id="10" name="Shape 8"/>
          <p:cNvSpPr/>
          <p:nvPr/>
        </p:nvSpPr>
        <p:spPr>
          <a:xfrm>
            <a:off x="4663440" y="1600200"/>
            <a:ext cx="3063240" cy="1143000"/>
          </a:xfrm>
          <a:prstGeom prst="roundRect">
            <a:avLst>
              <a:gd name="adj" fmla="val 6400"/>
            </a:avLst>
          </a:prstGeom>
          <a:solidFill>
            <a:srgbClr val="FFFFFF"/>
          </a:solidFill>
          <a:ln w="12700">
            <a:solidFill>
              <a:srgbClr val="0E8A8A"/>
            </a:solidFill>
            <a:prstDash val="solid"/>
          </a:ln>
        </p:spPr>
      </p:sp>
      <p:sp>
        <p:nvSpPr>
          <p:cNvPr id="11" name="Text 9"/>
          <p:cNvSpPr/>
          <p:nvPr/>
        </p:nvSpPr>
        <p:spPr>
          <a:xfrm>
            <a:off x="4937760" y="1938528"/>
            <a:ext cx="2514600" cy="347472"/>
          </a:xfrm>
          <a:prstGeom prst="rect">
            <a:avLst/>
          </a:prstGeom>
          <a:noFill/>
          <a:ln/>
        </p:spPr>
        <p:txBody>
          <a:bodyPr wrap="square" lIns="0" tIns="0" rIns="0" bIns="0" rtlCol="0" anchor="ctr">
            <a:normAutofit/>
          </a:bodyPr>
          <a:lstStyle/>
          <a:p>
            <a:pPr algn="ctr" indent="0" marL="0">
              <a:buNone/>
            </a:pPr>
            <a:r>
              <a:rPr lang="en-US" sz="1500" b="1" dirty="0">
                <a:solidFill>
                  <a:srgbClr val="071B4D"/>
                </a:solidFill>
              </a:rPr>
              <a:t>Excire Foto</a:t>
            </a:r>
            <a:endParaRPr lang="en-US" sz="1500" dirty="0"/>
          </a:p>
          <a:p>
            <a:pPr algn="ctr" indent="0" marL="0">
              <a:buNone/>
            </a:pPr>
            <a:r>
              <a:rPr lang="en-US" sz="1500" b="1" dirty="0">
                <a:solidFill>
                  <a:srgbClr val="071B4D"/>
                </a:solidFill>
              </a:rPr>
              <a:t>2025</a:t>
            </a:r>
            <a:endParaRPr lang="en-US" sz="1500" dirty="0"/>
          </a:p>
        </p:txBody>
      </p:sp>
      <p:sp>
        <p:nvSpPr>
          <p:cNvPr id="12" name="Shape 10"/>
          <p:cNvSpPr/>
          <p:nvPr/>
        </p:nvSpPr>
        <p:spPr>
          <a:xfrm>
            <a:off x="8366760" y="1600200"/>
            <a:ext cx="3063240" cy="1143000"/>
          </a:xfrm>
          <a:prstGeom prst="roundRect">
            <a:avLst>
              <a:gd name="adj" fmla="val 6400"/>
            </a:avLst>
          </a:prstGeom>
          <a:solidFill>
            <a:srgbClr val="FFFFFF"/>
          </a:solidFill>
          <a:ln w="12700">
            <a:solidFill>
              <a:srgbClr val="0E8A8A"/>
            </a:solidFill>
            <a:prstDash val="solid"/>
          </a:ln>
        </p:spPr>
      </p:sp>
      <p:sp>
        <p:nvSpPr>
          <p:cNvPr id="13" name="Text 11"/>
          <p:cNvSpPr/>
          <p:nvPr/>
        </p:nvSpPr>
        <p:spPr>
          <a:xfrm>
            <a:off x="8641080" y="1938528"/>
            <a:ext cx="2514600" cy="347472"/>
          </a:xfrm>
          <a:prstGeom prst="rect">
            <a:avLst/>
          </a:prstGeom>
          <a:noFill/>
          <a:ln/>
        </p:spPr>
        <p:txBody>
          <a:bodyPr wrap="square" lIns="0" tIns="0" rIns="0" bIns="0" rtlCol="0" anchor="ctr">
            <a:normAutofit/>
          </a:bodyPr>
          <a:lstStyle/>
          <a:p>
            <a:pPr algn="ctr" indent="0" marL="0">
              <a:buNone/>
            </a:pPr>
            <a:r>
              <a:rPr lang="en-US" sz="1500" b="1" dirty="0">
                <a:solidFill>
                  <a:srgbClr val="071B4D"/>
                </a:solidFill>
              </a:rPr>
              <a:t>Cellebrite</a:t>
            </a:r>
            <a:endParaRPr lang="en-US" sz="1500" dirty="0"/>
          </a:p>
          <a:p>
            <a:pPr algn="ctr" indent="0" marL="0">
              <a:buNone/>
            </a:pPr>
            <a:r>
              <a:rPr lang="en-US" sz="1500" b="1" dirty="0">
                <a:solidFill>
                  <a:srgbClr val="071B4D"/>
                </a:solidFill>
              </a:rPr>
              <a:t>Inseyets</a:t>
            </a:r>
            <a:endParaRPr lang="en-US" sz="1500" dirty="0"/>
          </a:p>
        </p:txBody>
      </p:sp>
      <p:sp>
        <p:nvSpPr>
          <p:cNvPr id="14" name="Shape 12"/>
          <p:cNvSpPr/>
          <p:nvPr/>
        </p:nvSpPr>
        <p:spPr>
          <a:xfrm>
            <a:off x="960120" y="3749040"/>
            <a:ext cx="1417320" cy="685800"/>
          </a:xfrm>
          <a:prstGeom prst="roundRect">
            <a:avLst>
              <a:gd name="adj" fmla="val 10667"/>
            </a:avLst>
          </a:prstGeom>
          <a:solidFill>
            <a:srgbClr val="FFFFFF"/>
          </a:solidFill>
          <a:ln w="12700">
            <a:solidFill>
              <a:srgbClr val="D6DEE8"/>
            </a:solidFill>
            <a:prstDash val="solid"/>
          </a:ln>
        </p:spPr>
      </p:sp>
      <p:sp>
        <p:nvSpPr>
          <p:cNvPr id="15" name="Text 13"/>
          <p:cNvSpPr/>
          <p:nvPr/>
        </p:nvSpPr>
        <p:spPr>
          <a:xfrm>
            <a:off x="1069848" y="3950208"/>
            <a:ext cx="1197864" cy="201168"/>
          </a:xfrm>
          <a:prstGeom prst="rect">
            <a:avLst/>
          </a:prstGeom>
          <a:noFill/>
          <a:ln/>
        </p:spPr>
        <p:txBody>
          <a:bodyPr wrap="square" lIns="0" tIns="0" rIns="0" bIns="0" rtlCol="0" anchor="ctr">
            <a:normAutofit/>
          </a:bodyPr>
          <a:lstStyle/>
          <a:p>
            <a:pPr algn="ctr" indent="0" marL="0">
              <a:buNone/>
            </a:pPr>
            <a:r>
              <a:rPr lang="en-US" sz="950" b="1" dirty="0">
                <a:solidFill>
                  <a:srgbClr val="071B4D"/>
                </a:solidFill>
              </a:rPr>
              <a:t>Input</a:t>
            </a:r>
            <a:endParaRPr lang="en-US" sz="950" dirty="0"/>
          </a:p>
          <a:p>
            <a:pPr algn="ctr" indent="0" marL="0">
              <a:buNone/>
            </a:pPr>
            <a:r>
              <a:rPr lang="en-US" sz="950" b="1" dirty="0">
                <a:solidFill>
                  <a:srgbClr val="071B4D"/>
                </a:solidFill>
              </a:rPr>
              <a:t>bundle</a:t>
            </a:r>
            <a:endParaRPr lang="en-US" sz="950" dirty="0"/>
          </a:p>
        </p:txBody>
      </p:sp>
      <p:sp>
        <p:nvSpPr>
          <p:cNvPr id="16" name="Shape 14"/>
          <p:cNvSpPr/>
          <p:nvPr/>
        </p:nvSpPr>
        <p:spPr>
          <a:xfrm>
            <a:off x="2404872" y="4096512"/>
            <a:ext cx="429768" cy="0"/>
          </a:xfrm>
          <a:prstGeom prst="line">
            <a:avLst/>
          </a:prstGeom>
          <a:noFill/>
          <a:ln w="17780">
            <a:solidFill>
              <a:srgbClr val="071B4D"/>
            </a:solidFill>
            <a:prstDash val="solid"/>
            <a:headEnd type="none"/>
            <a:tailEnd type="triangle"/>
          </a:ln>
        </p:spPr>
      </p:sp>
      <p:sp>
        <p:nvSpPr>
          <p:cNvPr id="17" name="Shape 15"/>
          <p:cNvSpPr/>
          <p:nvPr/>
        </p:nvSpPr>
        <p:spPr>
          <a:xfrm>
            <a:off x="3017520" y="3749040"/>
            <a:ext cx="1417320" cy="685800"/>
          </a:xfrm>
          <a:prstGeom prst="roundRect">
            <a:avLst>
              <a:gd name="adj" fmla="val 10667"/>
            </a:avLst>
          </a:prstGeom>
          <a:solidFill>
            <a:srgbClr val="EEF5FF"/>
          </a:solidFill>
          <a:ln w="12700">
            <a:solidFill>
              <a:srgbClr val="071B4D"/>
            </a:solidFill>
            <a:prstDash val="solid"/>
          </a:ln>
        </p:spPr>
      </p:sp>
      <p:sp>
        <p:nvSpPr>
          <p:cNvPr id="18" name="Text 16"/>
          <p:cNvSpPr/>
          <p:nvPr/>
        </p:nvSpPr>
        <p:spPr>
          <a:xfrm>
            <a:off x="3127248" y="3950208"/>
            <a:ext cx="1197864" cy="201168"/>
          </a:xfrm>
          <a:prstGeom prst="rect">
            <a:avLst/>
          </a:prstGeom>
          <a:noFill/>
          <a:ln/>
        </p:spPr>
        <p:txBody>
          <a:bodyPr wrap="square" lIns="0" tIns="0" rIns="0" bIns="0" rtlCol="0" anchor="ctr">
            <a:normAutofit/>
          </a:bodyPr>
          <a:lstStyle/>
          <a:p>
            <a:pPr algn="ctr" indent="0" marL="0">
              <a:buNone/>
            </a:pPr>
            <a:r>
              <a:rPr lang="en-US" sz="950" b="1" dirty="0">
                <a:solidFill>
                  <a:srgbClr val="071B4D"/>
                </a:solidFill>
              </a:rPr>
              <a:t>Tool</a:t>
            </a:r>
            <a:endParaRPr lang="en-US" sz="950" dirty="0"/>
          </a:p>
          <a:p>
            <a:pPr algn="ctr" indent="0" marL="0">
              <a:buNone/>
            </a:pPr>
            <a:r>
              <a:rPr lang="en-US" sz="950" b="1" dirty="0">
                <a:solidFill>
                  <a:srgbClr val="071B4D"/>
                </a:solidFill>
              </a:rPr>
              <a:t>execution</a:t>
            </a:r>
            <a:endParaRPr lang="en-US" sz="950" dirty="0"/>
          </a:p>
        </p:txBody>
      </p:sp>
      <p:sp>
        <p:nvSpPr>
          <p:cNvPr id="19" name="Shape 17"/>
          <p:cNvSpPr/>
          <p:nvPr/>
        </p:nvSpPr>
        <p:spPr>
          <a:xfrm>
            <a:off x="4462272" y="4096512"/>
            <a:ext cx="429768" cy="0"/>
          </a:xfrm>
          <a:prstGeom prst="line">
            <a:avLst/>
          </a:prstGeom>
          <a:noFill/>
          <a:ln w="17780">
            <a:solidFill>
              <a:srgbClr val="071B4D"/>
            </a:solidFill>
            <a:prstDash val="solid"/>
            <a:headEnd type="none"/>
            <a:tailEnd type="triangle"/>
          </a:ln>
        </p:spPr>
      </p:sp>
      <p:sp>
        <p:nvSpPr>
          <p:cNvPr id="20" name="Shape 18"/>
          <p:cNvSpPr/>
          <p:nvPr/>
        </p:nvSpPr>
        <p:spPr>
          <a:xfrm>
            <a:off x="5074920" y="3749040"/>
            <a:ext cx="1417320" cy="685800"/>
          </a:xfrm>
          <a:prstGeom prst="roundRect">
            <a:avLst>
              <a:gd name="adj" fmla="val 10667"/>
            </a:avLst>
          </a:prstGeom>
          <a:solidFill>
            <a:srgbClr val="FFFFFF"/>
          </a:solidFill>
          <a:ln w="12700">
            <a:solidFill>
              <a:srgbClr val="D6DEE8"/>
            </a:solidFill>
            <a:prstDash val="solid"/>
          </a:ln>
        </p:spPr>
      </p:sp>
      <p:sp>
        <p:nvSpPr>
          <p:cNvPr id="21" name="Text 19"/>
          <p:cNvSpPr/>
          <p:nvPr/>
        </p:nvSpPr>
        <p:spPr>
          <a:xfrm>
            <a:off x="5184648" y="3950208"/>
            <a:ext cx="1197864" cy="201168"/>
          </a:xfrm>
          <a:prstGeom prst="rect">
            <a:avLst/>
          </a:prstGeom>
          <a:noFill/>
          <a:ln/>
        </p:spPr>
        <p:txBody>
          <a:bodyPr wrap="square" lIns="0" tIns="0" rIns="0" bIns="0" rtlCol="0" anchor="ctr">
            <a:normAutofit/>
          </a:bodyPr>
          <a:lstStyle/>
          <a:p>
            <a:pPr algn="ctr" indent="0" marL="0">
              <a:buNone/>
            </a:pPr>
            <a:r>
              <a:rPr lang="en-US" sz="950" b="1" dirty="0">
                <a:solidFill>
                  <a:srgbClr val="071B4D"/>
                </a:solidFill>
              </a:rPr>
              <a:t>Export /</a:t>
            </a:r>
            <a:endParaRPr lang="en-US" sz="950" dirty="0"/>
          </a:p>
          <a:p>
            <a:pPr algn="ctr" indent="0" marL="0">
              <a:buNone/>
            </a:pPr>
            <a:r>
              <a:rPr lang="en-US" sz="950" b="1" dirty="0">
                <a:solidFill>
                  <a:srgbClr val="071B4D"/>
                </a:solidFill>
              </a:rPr>
              <a:t>report</a:t>
            </a:r>
            <a:endParaRPr lang="en-US" sz="950" dirty="0"/>
          </a:p>
        </p:txBody>
      </p:sp>
      <p:sp>
        <p:nvSpPr>
          <p:cNvPr id="22" name="Shape 20"/>
          <p:cNvSpPr/>
          <p:nvPr/>
        </p:nvSpPr>
        <p:spPr>
          <a:xfrm>
            <a:off x="6519672" y="4096512"/>
            <a:ext cx="429768" cy="0"/>
          </a:xfrm>
          <a:prstGeom prst="line">
            <a:avLst/>
          </a:prstGeom>
          <a:noFill/>
          <a:ln w="17780">
            <a:solidFill>
              <a:srgbClr val="071B4D"/>
            </a:solidFill>
            <a:prstDash val="solid"/>
            <a:headEnd type="none"/>
            <a:tailEnd type="triangle"/>
          </a:ln>
        </p:spPr>
      </p:sp>
      <p:sp>
        <p:nvSpPr>
          <p:cNvPr id="23" name="Shape 21"/>
          <p:cNvSpPr/>
          <p:nvPr/>
        </p:nvSpPr>
        <p:spPr>
          <a:xfrm>
            <a:off x="7132320" y="3749040"/>
            <a:ext cx="1417320" cy="685800"/>
          </a:xfrm>
          <a:prstGeom prst="roundRect">
            <a:avLst>
              <a:gd name="adj" fmla="val 10667"/>
            </a:avLst>
          </a:prstGeom>
          <a:solidFill>
            <a:srgbClr val="FFFFFF"/>
          </a:solidFill>
          <a:ln w="12700">
            <a:solidFill>
              <a:srgbClr val="D6DEE8"/>
            </a:solidFill>
            <a:prstDash val="solid"/>
          </a:ln>
        </p:spPr>
      </p:sp>
      <p:sp>
        <p:nvSpPr>
          <p:cNvPr id="24" name="Text 22"/>
          <p:cNvSpPr/>
          <p:nvPr/>
        </p:nvSpPr>
        <p:spPr>
          <a:xfrm>
            <a:off x="7242048" y="3950208"/>
            <a:ext cx="1197864" cy="201168"/>
          </a:xfrm>
          <a:prstGeom prst="rect">
            <a:avLst/>
          </a:prstGeom>
          <a:noFill/>
          <a:ln/>
        </p:spPr>
        <p:txBody>
          <a:bodyPr wrap="square" lIns="0" tIns="0" rIns="0" bIns="0" rtlCol="0" anchor="ctr">
            <a:normAutofit/>
          </a:bodyPr>
          <a:lstStyle/>
          <a:p>
            <a:pPr algn="ctr" indent="0" marL="0">
              <a:buNone/>
            </a:pPr>
            <a:r>
              <a:rPr lang="en-US" sz="950" b="1" dirty="0">
                <a:solidFill>
                  <a:srgbClr val="071B4D"/>
                </a:solidFill>
              </a:rPr>
              <a:t>Normalization</a:t>
            </a:r>
            <a:endParaRPr lang="en-US" sz="950" dirty="0"/>
          </a:p>
        </p:txBody>
      </p:sp>
      <p:sp>
        <p:nvSpPr>
          <p:cNvPr id="25" name="Shape 23"/>
          <p:cNvSpPr/>
          <p:nvPr/>
        </p:nvSpPr>
        <p:spPr>
          <a:xfrm>
            <a:off x="8577072" y="4096512"/>
            <a:ext cx="429768" cy="0"/>
          </a:xfrm>
          <a:prstGeom prst="line">
            <a:avLst/>
          </a:prstGeom>
          <a:noFill/>
          <a:ln w="17780">
            <a:solidFill>
              <a:srgbClr val="071B4D"/>
            </a:solidFill>
            <a:prstDash val="solid"/>
            <a:headEnd type="none"/>
            <a:tailEnd type="triangle"/>
          </a:ln>
        </p:spPr>
      </p:sp>
      <p:sp>
        <p:nvSpPr>
          <p:cNvPr id="26" name="Shape 24"/>
          <p:cNvSpPr/>
          <p:nvPr/>
        </p:nvSpPr>
        <p:spPr>
          <a:xfrm>
            <a:off x="9189720" y="3749040"/>
            <a:ext cx="1417320" cy="685800"/>
          </a:xfrm>
          <a:prstGeom prst="roundRect">
            <a:avLst>
              <a:gd name="adj" fmla="val 10667"/>
            </a:avLst>
          </a:prstGeom>
          <a:solidFill>
            <a:srgbClr val="FFFFFF"/>
          </a:solidFill>
          <a:ln w="12700">
            <a:solidFill>
              <a:srgbClr val="D6DEE8"/>
            </a:solidFill>
            <a:prstDash val="solid"/>
          </a:ln>
        </p:spPr>
      </p:sp>
      <p:sp>
        <p:nvSpPr>
          <p:cNvPr id="27" name="Text 25"/>
          <p:cNvSpPr/>
          <p:nvPr/>
        </p:nvSpPr>
        <p:spPr>
          <a:xfrm>
            <a:off x="9299448" y="3950208"/>
            <a:ext cx="1197864" cy="201168"/>
          </a:xfrm>
          <a:prstGeom prst="rect">
            <a:avLst/>
          </a:prstGeom>
          <a:noFill/>
          <a:ln/>
        </p:spPr>
        <p:txBody>
          <a:bodyPr wrap="square" lIns="0" tIns="0" rIns="0" bIns="0" rtlCol="0" anchor="ctr">
            <a:normAutofit/>
          </a:bodyPr>
          <a:lstStyle/>
          <a:p>
            <a:pPr algn="ctr" indent="0" marL="0">
              <a:buNone/>
            </a:pPr>
            <a:r>
              <a:rPr lang="en-US" sz="950" b="1" dirty="0">
                <a:solidFill>
                  <a:srgbClr val="071B4D"/>
                </a:solidFill>
              </a:rPr>
              <a:t>Metrics</a:t>
            </a:r>
            <a:endParaRPr lang="en-US" sz="950" dirty="0"/>
          </a:p>
        </p:txBody>
      </p:sp>
      <p:sp>
        <p:nvSpPr>
          <p:cNvPr id="28" name="Shape 26"/>
          <p:cNvSpPr/>
          <p:nvPr/>
        </p:nvSpPr>
        <p:spPr>
          <a:xfrm>
            <a:off x="1051560" y="5230368"/>
            <a:ext cx="10012680" cy="566928"/>
          </a:xfrm>
          <a:prstGeom prst="roundRect">
            <a:avLst>
              <a:gd name="adj" fmla="val 12903"/>
            </a:avLst>
          </a:prstGeom>
          <a:solidFill>
            <a:srgbClr val="FFF1E8"/>
          </a:solidFill>
          <a:ln w="12700">
            <a:solidFill>
              <a:srgbClr val="F26419"/>
            </a:solidFill>
            <a:prstDash val="solid"/>
          </a:ln>
        </p:spPr>
      </p:sp>
      <p:sp>
        <p:nvSpPr>
          <p:cNvPr id="29" name="Text 27"/>
          <p:cNvSpPr/>
          <p:nvPr/>
        </p:nvSpPr>
        <p:spPr>
          <a:xfrm>
            <a:off x="1325880" y="5449824"/>
            <a:ext cx="9464040" cy="137160"/>
          </a:xfrm>
          <a:prstGeom prst="rect">
            <a:avLst/>
          </a:prstGeom>
          <a:noFill/>
          <a:ln/>
        </p:spPr>
        <p:txBody>
          <a:bodyPr wrap="square" lIns="0" tIns="0" rIns="0" bIns="0" rtlCol="0" anchor="ctr"/>
          <a:lstStyle/>
          <a:p>
            <a:pPr algn="ctr" indent="0" marL="0">
              <a:buNone/>
            </a:pPr>
            <a:r>
              <a:rPr lang="en-US" sz="1080" b="1" dirty="0">
                <a:solidFill>
                  <a:srgbClr val="071B4D"/>
                </a:solidFill>
              </a:rPr>
              <a:t>Commercial behavior is assessed using only observable outputs; unknown and non-mapped outputs are preserved.</a:t>
            </a:r>
            <a:endParaRPr lang="en-US" sz="1080" dirty="0"/>
          </a:p>
        </p:txBody>
      </p:sp>
      <p:sp>
        <p:nvSpPr>
          <p:cNvPr id="30" name="Text 28"/>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11</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Operational Risk Summary</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Technical metrics translated into forensic interpretation</a:t>
            </a:r>
            <a:endParaRPr lang="en-US" sz="880" dirty="0"/>
          </a:p>
        </p:txBody>
      </p:sp>
      <p:sp>
        <p:nvSpPr>
          <p:cNvPr id="8" name="Shape 6"/>
          <p:cNvSpPr/>
          <p:nvPr/>
        </p:nvSpPr>
        <p:spPr>
          <a:xfrm>
            <a:off x="685800" y="1234440"/>
            <a:ext cx="2514600" cy="3063240"/>
          </a:xfrm>
          <a:prstGeom prst="roundRect">
            <a:avLst>
              <a:gd name="adj" fmla="val 2909"/>
            </a:avLst>
          </a:prstGeom>
          <a:solidFill>
            <a:srgbClr val="FFFFFF"/>
          </a:solidFill>
          <a:ln w="12700">
            <a:solidFill>
              <a:srgbClr val="D6DEE8"/>
            </a:solidFill>
            <a:prstDash val="solid"/>
          </a:ln>
        </p:spPr>
      </p:sp>
      <p:sp>
        <p:nvSpPr>
          <p:cNvPr id="9" name="Shape 7"/>
          <p:cNvSpPr/>
          <p:nvPr/>
        </p:nvSpPr>
        <p:spPr>
          <a:xfrm>
            <a:off x="685800" y="1234440"/>
            <a:ext cx="2514600" cy="429768"/>
          </a:xfrm>
          <a:prstGeom prst="roundRect">
            <a:avLst>
              <a:gd name="adj" fmla="val 17021"/>
            </a:avLst>
          </a:prstGeom>
          <a:solidFill>
            <a:srgbClr val="0E8A8A"/>
          </a:solidFill>
          <a:ln w="12700">
            <a:solidFill>
              <a:srgbClr val="0E8A8A"/>
            </a:solidFill>
            <a:prstDash val="solid"/>
          </a:ln>
        </p:spPr>
      </p:sp>
      <p:sp>
        <p:nvSpPr>
          <p:cNvPr id="10" name="Text 8"/>
          <p:cNvSpPr/>
          <p:nvPr/>
        </p:nvSpPr>
        <p:spPr>
          <a:xfrm>
            <a:off x="795528" y="1335024"/>
            <a:ext cx="2295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Clean</a:t>
            </a:r>
            <a:endParaRPr lang="en-US" sz="1030" dirty="0"/>
          </a:p>
          <a:p>
            <a:pPr indent="0" marL="0">
              <a:buNone/>
            </a:pPr>
            <a:r>
              <a:rPr lang="en-US" sz="1030" b="1" dirty="0">
                <a:solidFill>
                  <a:srgbClr val="FFFFFF"/>
                </a:solidFill>
              </a:rPr>
              <a:t>Performance</a:t>
            </a:r>
            <a:endParaRPr lang="en-US" sz="1030" dirty="0"/>
          </a:p>
        </p:txBody>
      </p:sp>
      <p:sp>
        <p:nvSpPr>
          <p:cNvPr id="11" name="Shape 9"/>
          <p:cNvSpPr/>
          <p:nvPr/>
        </p:nvSpPr>
        <p:spPr>
          <a:xfrm>
            <a:off x="850392" y="1947672"/>
            <a:ext cx="82296" cy="82296"/>
          </a:xfrm>
          <a:prstGeom prst="ellipse">
            <a:avLst/>
          </a:prstGeom>
          <a:solidFill>
            <a:srgbClr val="0E8A8A"/>
          </a:solidFill>
          <a:ln w="12700">
            <a:solidFill>
              <a:srgbClr val="0E8A8A"/>
            </a:solidFill>
            <a:prstDash val="solid"/>
          </a:ln>
        </p:spPr>
      </p:sp>
      <p:sp>
        <p:nvSpPr>
          <p:cNvPr id="12" name="Text 10"/>
          <p:cNvSpPr/>
          <p:nvPr/>
        </p:nvSpPr>
        <p:spPr>
          <a:xfrm>
            <a:off x="1005840" y="1892808"/>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accuracy</a:t>
            </a:r>
            <a:endParaRPr lang="en-US" sz="870" dirty="0"/>
          </a:p>
        </p:txBody>
      </p:sp>
      <p:sp>
        <p:nvSpPr>
          <p:cNvPr id="13" name="Shape 11"/>
          <p:cNvSpPr/>
          <p:nvPr/>
        </p:nvSpPr>
        <p:spPr>
          <a:xfrm>
            <a:off x="850392" y="2340864"/>
            <a:ext cx="82296" cy="82296"/>
          </a:xfrm>
          <a:prstGeom prst="ellipse">
            <a:avLst/>
          </a:prstGeom>
          <a:solidFill>
            <a:srgbClr val="0E8A8A"/>
          </a:solidFill>
          <a:ln w="12700">
            <a:solidFill>
              <a:srgbClr val="0E8A8A"/>
            </a:solidFill>
            <a:prstDash val="solid"/>
          </a:ln>
        </p:spPr>
      </p:sp>
      <p:sp>
        <p:nvSpPr>
          <p:cNvPr id="14" name="Text 12"/>
          <p:cNvSpPr/>
          <p:nvPr/>
        </p:nvSpPr>
        <p:spPr>
          <a:xfrm>
            <a:off x="1005840" y="2286000"/>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FNR</a:t>
            </a:r>
            <a:endParaRPr lang="en-US" sz="870" dirty="0"/>
          </a:p>
        </p:txBody>
      </p:sp>
      <p:sp>
        <p:nvSpPr>
          <p:cNvPr id="15" name="Shape 13"/>
          <p:cNvSpPr/>
          <p:nvPr/>
        </p:nvSpPr>
        <p:spPr>
          <a:xfrm>
            <a:off x="850392" y="2734056"/>
            <a:ext cx="82296" cy="82296"/>
          </a:xfrm>
          <a:prstGeom prst="ellipse">
            <a:avLst/>
          </a:prstGeom>
          <a:solidFill>
            <a:srgbClr val="0E8A8A"/>
          </a:solidFill>
          <a:ln w="12700">
            <a:solidFill>
              <a:srgbClr val="0E8A8A"/>
            </a:solidFill>
            <a:prstDash val="solid"/>
          </a:ln>
        </p:spPr>
      </p:sp>
      <p:sp>
        <p:nvSpPr>
          <p:cNvPr id="16" name="Text 14"/>
          <p:cNvSpPr/>
          <p:nvPr/>
        </p:nvSpPr>
        <p:spPr>
          <a:xfrm>
            <a:off x="1005840" y="2679192"/>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FPR</a:t>
            </a:r>
            <a:endParaRPr lang="en-US" sz="870" dirty="0"/>
          </a:p>
        </p:txBody>
      </p:sp>
      <p:sp>
        <p:nvSpPr>
          <p:cNvPr id="17" name="Shape 15"/>
          <p:cNvSpPr/>
          <p:nvPr/>
        </p:nvSpPr>
        <p:spPr>
          <a:xfrm>
            <a:off x="3566160" y="1234440"/>
            <a:ext cx="2514600" cy="3063240"/>
          </a:xfrm>
          <a:prstGeom prst="roundRect">
            <a:avLst>
              <a:gd name="adj" fmla="val 2909"/>
            </a:avLst>
          </a:prstGeom>
          <a:solidFill>
            <a:srgbClr val="FFFFFF"/>
          </a:solidFill>
          <a:ln w="12700">
            <a:solidFill>
              <a:srgbClr val="D6DEE8"/>
            </a:solidFill>
            <a:prstDash val="solid"/>
          </a:ln>
        </p:spPr>
      </p:sp>
      <p:sp>
        <p:nvSpPr>
          <p:cNvPr id="18" name="Shape 16"/>
          <p:cNvSpPr/>
          <p:nvPr/>
        </p:nvSpPr>
        <p:spPr>
          <a:xfrm>
            <a:off x="3566160" y="1234440"/>
            <a:ext cx="2514600" cy="429768"/>
          </a:xfrm>
          <a:prstGeom prst="roundRect">
            <a:avLst>
              <a:gd name="adj" fmla="val 17021"/>
            </a:avLst>
          </a:prstGeom>
          <a:solidFill>
            <a:srgbClr val="0E8A8A"/>
          </a:solidFill>
          <a:ln w="12700">
            <a:solidFill>
              <a:srgbClr val="0E8A8A"/>
            </a:solidFill>
            <a:prstDash val="solid"/>
          </a:ln>
        </p:spPr>
      </p:sp>
      <p:sp>
        <p:nvSpPr>
          <p:cNvPr id="19" name="Text 17"/>
          <p:cNvSpPr/>
          <p:nvPr/>
        </p:nvSpPr>
        <p:spPr>
          <a:xfrm>
            <a:off x="3675888" y="1335024"/>
            <a:ext cx="2295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OOD</a:t>
            </a:r>
            <a:endParaRPr lang="en-US" sz="1030" dirty="0"/>
          </a:p>
          <a:p>
            <a:pPr indent="0" marL="0">
              <a:buNone/>
            </a:pPr>
            <a:r>
              <a:rPr lang="en-US" sz="1030" b="1" dirty="0">
                <a:solidFill>
                  <a:srgbClr val="FFFFFF"/>
                </a:solidFill>
              </a:rPr>
              <a:t>Handling</a:t>
            </a:r>
            <a:endParaRPr lang="en-US" sz="1030" dirty="0"/>
          </a:p>
        </p:txBody>
      </p:sp>
      <p:sp>
        <p:nvSpPr>
          <p:cNvPr id="20" name="Shape 18"/>
          <p:cNvSpPr/>
          <p:nvPr/>
        </p:nvSpPr>
        <p:spPr>
          <a:xfrm>
            <a:off x="3730752" y="1947672"/>
            <a:ext cx="82296" cy="82296"/>
          </a:xfrm>
          <a:prstGeom prst="ellipse">
            <a:avLst/>
          </a:prstGeom>
          <a:solidFill>
            <a:srgbClr val="0E8A8A"/>
          </a:solidFill>
          <a:ln w="12700">
            <a:solidFill>
              <a:srgbClr val="0E8A8A"/>
            </a:solidFill>
            <a:prstDash val="solid"/>
          </a:ln>
        </p:spPr>
      </p:sp>
      <p:sp>
        <p:nvSpPr>
          <p:cNvPr id="21" name="Text 19"/>
          <p:cNvSpPr/>
          <p:nvPr/>
        </p:nvSpPr>
        <p:spPr>
          <a:xfrm>
            <a:off x="3886200" y="1892808"/>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weapon-flag rate</a:t>
            </a:r>
            <a:endParaRPr lang="en-US" sz="870" dirty="0"/>
          </a:p>
        </p:txBody>
      </p:sp>
      <p:sp>
        <p:nvSpPr>
          <p:cNvPr id="22" name="Shape 20"/>
          <p:cNvSpPr/>
          <p:nvPr/>
        </p:nvSpPr>
        <p:spPr>
          <a:xfrm>
            <a:off x="3730752" y="2340864"/>
            <a:ext cx="82296" cy="82296"/>
          </a:xfrm>
          <a:prstGeom prst="ellipse">
            <a:avLst/>
          </a:prstGeom>
          <a:solidFill>
            <a:srgbClr val="0E8A8A"/>
          </a:solidFill>
          <a:ln w="12700">
            <a:solidFill>
              <a:srgbClr val="0E8A8A"/>
            </a:solidFill>
            <a:prstDash val="solid"/>
          </a:ln>
        </p:spPr>
      </p:sp>
      <p:sp>
        <p:nvSpPr>
          <p:cNvPr id="23" name="Text 21"/>
          <p:cNvSpPr/>
          <p:nvPr/>
        </p:nvSpPr>
        <p:spPr>
          <a:xfrm>
            <a:off x="3886200" y="2286000"/>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OOD confidence</a:t>
            </a:r>
            <a:endParaRPr lang="en-US" sz="870" dirty="0"/>
          </a:p>
        </p:txBody>
      </p:sp>
      <p:sp>
        <p:nvSpPr>
          <p:cNvPr id="24" name="Shape 22"/>
          <p:cNvSpPr/>
          <p:nvPr/>
        </p:nvSpPr>
        <p:spPr>
          <a:xfrm>
            <a:off x="3730752" y="2734056"/>
            <a:ext cx="82296" cy="82296"/>
          </a:xfrm>
          <a:prstGeom prst="ellipse">
            <a:avLst/>
          </a:prstGeom>
          <a:solidFill>
            <a:srgbClr val="0E8A8A"/>
          </a:solidFill>
          <a:ln w="12700">
            <a:solidFill>
              <a:srgbClr val="0E8A8A"/>
            </a:solidFill>
            <a:prstDash val="solid"/>
          </a:ln>
        </p:spPr>
      </p:sp>
      <p:sp>
        <p:nvSpPr>
          <p:cNvPr id="25" name="Text 23"/>
          <p:cNvSpPr/>
          <p:nvPr/>
        </p:nvSpPr>
        <p:spPr>
          <a:xfrm>
            <a:off x="3886200" y="2679192"/>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high-confidence OOD</a:t>
            </a:r>
            <a:endParaRPr lang="en-US" sz="870" dirty="0"/>
          </a:p>
        </p:txBody>
      </p:sp>
      <p:sp>
        <p:nvSpPr>
          <p:cNvPr id="26" name="Shape 24"/>
          <p:cNvSpPr/>
          <p:nvPr/>
        </p:nvSpPr>
        <p:spPr>
          <a:xfrm>
            <a:off x="6446520" y="1234440"/>
            <a:ext cx="2514600" cy="3063240"/>
          </a:xfrm>
          <a:prstGeom prst="roundRect">
            <a:avLst>
              <a:gd name="adj" fmla="val 2909"/>
            </a:avLst>
          </a:prstGeom>
          <a:solidFill>
            <a:srgbClr val="FFFFFF"/>
          </a:solidFill>
          <a:ln w="12700">
            <a:solidFill>
              <a:srgbClr val="D6DEE8"/>
            </a:solidFill>
            <a:prstDash val="solid"/>
          </a:ln>
        </p:spPr>
      </p:sp>
      <p:sp>
        <p:nvSpPr>
          <p:cNvPr id="27" name="Shape 25"/>
          <p:cNvSpPr/>
          <p:nvPr/>
        </p:nvSpPr>
        <p:spPr>
          <a:xfrm>
            <a:off x="6446520" y="1234440"/>
            <a:ext cx="2514600" cy="429768"/>
          </a:xfrm>
          <a:prstGeom prst="roundRect">
            <a:avLst>
              <a:gd name="adj" fmla="val 17021"/>
            </a:avLst>
          </a:prstGeom>
          <a:solidFill>
            <a:srgbClr val="F26419"/>
          </a:solidFill>
          <a:ln w="12700">
            <a:solidFill>
              <a:srgbClr val="F26419"/>
            </a:solidFill>
            <a:prstDash val="solid"/>
          </a:ln>
        </p:spPr>
      </p:sp>
      <p:sp>
        <p:nvSpPr>
          <p:cNvPr id="28" name="Text 26"/>
          <p:cNvSpPr/>
          <p:nvPr/>
        </p:nvSpPr>
        <p:spPr>
          <a:xfrm>
            <a:off x="6556248" y="1335024"/>
            <a:ext cx="2295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Adversarial</a:t>
            </a:r>
            <a:endParaRPr lang="en-US" sz="1030" dirty="0"/>
          </a:p>
          <a:p>
            <a:pPr indent="0" marL="0">
              <a:buNone/>
            </a:pPr>
            <a:r>
              <a:rPr lang="en-US" sz="1030" b="1" dirty="0">
                <a:solidFill>
                  <a:srgbClr val="FFFFFF"/>
                </a:solidFill>
              </a:rPr>
              <a:t>Robustness</a:t>
            </a:r>
            <a:endParaRPr lang="en-US" sz="1030" dirty="0"/>
          </a:p>
        </p:txBody>
      </p:sp>
      <p:sp>
        <p:nvSpPr>
          <p:cNvPr id="29" name="Shape 27"/>
          <p:cNvSpPr/>
          <p:nvPr/>
        </p:nvSpPr>
        <p:spPr>
          <a:xfrm>
            <a:off x="6611112" y="1947672"/>
            <a:ext cx="82296" cy="82296"/>
          </a:xfrm>
          <a:prstGeom prst="ellipse">
            <a:avLst/>
          </a:prstGeom>
          <a:solidFill>
            <a:srgbClr val="F26419"/>
          </a:solidFill>
          <a:ln w="12700">
            <a:solidFill>
              <a:srgbClr val="F26419"/>
            </a:solidFill>
            <a:prstDash val="solid"/>
          </a:ln>
        </p:spPr>
      </p:sp>
      <p:sp>
        <p:nvSpPr>
          <p:cNvPr id="30" name="Text 28"/>
          <p:cNvSpPr/>
          <p:nvPr/>
        </p:nvSpPr>
        <p:spPr>
          <a:xfrm>
            <a:off x="6766560" y="1892808"/>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accuracy drop</a:t>
            </a:r>
            <a:endParaRPr lang="en-US" sz="870" dirty="0"/>
          </a:p>
        </p:txBody>
      </p:sp>
      <p:sp>
        <p:nvSpPr>
          <p:cNvPr id="31" name="Shape 29"/>
          <p:cNvSpPr/>
          <p:nvPr/>
        </p:nvSpPr>
        <p:spPr>
          <a:xfrm>
            <a:off x="6611112" y="2340864"/>
            <a:ext cx="82296" cy="82296"/>
          </a:xfrm>
          <a:prstGeom prst="ellipse">
            <a:avLst/>
          </a:prstGeom>
          <a:solidFill>
            <a:srgbClr val="F26419"/>
          </a:solidFill>
          <a:ln w="12700">
            <a:solidFill>
              <a:srgbClr val="F26419"/>
            </a:solidFill>
            <a:prstDash val="solid"/>
          </a:ln>
        </p:spPr>
      </p:sp>
      <p:sp>
        <p:nvSpPr>
          <p:cNvPr id="32" name="Text 30"/>
          <p:cNvSpPr/>
          <p:nvPr/>
        </p:nvSpPr>
        <p:spPr>
          <a:xfrm>
            <a:off x="6766560" y="2286000"/>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adversarial FNR</a:t>
            </a:r>
            <a:endParaRPr lang="en-US" sz="870" dirty="0"/>
          </a:p>
        </p:txBody>
      </p:sp>
      <p:sp>
        <p:nvSpPr>
          <p:cNvPr id="33" name="Shape 31"/>
          <p:cNvSpPr/>
          <p:nvPr/>
        </p:nvSpPr>
        <p:spPr>
          <a:xfrm>
            <a:off x="6611112" y="2734056"/>
            <a:ext cx="82296" cy="82296"/>
          </a:xfrm>
          <a:prstGeom prst="ellipse">
            <a:avLst/>
          </a:prstGeom>
          <a:solidFill>
            <a:srgbClr val="F26419"/>
          </a:solidFill>
          <a:ln w="12700">
            <a:solidFill>
              <a:srgbClr val="F26419"/>
            </a:solidFill>
            <a:prstDash val="solid"/>
          </a:ln>
        </p:spPr>
      </p:sp>
      <p:sp>
        <p:nvSpPr>
          <p:cNvPr id="34" name="Text 32"/>
          <p:cNvSpPr/>
          <p:nvPr/>
        </p:nvSpPr>
        <p:spPr>
          <a:xfrm>
            <a:off x="6766560" y="2679192"/>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induced errors</a:t>
            </a:r>
            <a:endParaRPr lang="en-US" sz="870" dirty="0"/>
          </a:p>
        </p:txBody>
      </p:sp>
      <p:sp>
        <p:nvSpPr>
          <p:cNvPr id="35" name="Shape 33"/>
          <p:cNvSpPr/>
          <p:nvPr/>
        </p:nvSpPr>
        <p:spPr>
          <a:xfrm>
            <a:off x="9326880" y="1234440"/>
            <a:ext cx="2514600" cy="3063240"/>
          </a:xfrm>
          <a:prstGeom prst="roundRect">
            <a:avLst>
              <a:gd name="adj" fmla="val 2909"/>
            </a:avLst>
          </a:prstGeom>
          <a:solidFill>
            <a:srgbClr val="FFFFFF"/>
          </a:solidFill>
          <a:ln w="12700">
            <a:solidFill>
              <a:srgbClr val="D6DEE8"/>
            </a:solidFill>
            <a:prstDash val="solid"/>
          </a:ln>
        </p:spPr>
      </p:sp>
      <p:sp>
        <p:nvSpPr>
          <p:cNvPr id="36" name="Shape 34"/>
          <p:cNvSpPr/>
          <p:nvPr/>
        </p:nvSpPr>
        <p:spPr>
          <a:xfrm>
            <a:off x="9326880" y="1234440"/>
            <a:ext cx="2514600" cy="429768"/>
          </a:xfrm>
          <a:prstGeom prst="roundRect">
            <a:avLst>
              <a:gd name="adj" fmla="val 17021"/>
            </a:avLst>
          </a:prstGeom>
          <a:solidFill>
            <a:srgbClr val="F26419"/>
          </a:solidFill>
          <a:ln w="12700">
            <a:solidFill>
              <a:srgbClr val="F26419"/>
            </a:solidFill>
            <a:prstDash val="solid"/>
          </a:ln>
        </p:spPr>
      </p:sp>
      <p:sp>
        <p:nvSpPr>
          <p:cNvPr id="37" name="Text 35"/>
          <p:cNvSpPr/>
          <p:nvPr/>
        </p:nvSpPr>
        <p:spPr>
          <a:xfrm>
            <a:off x="9436608" y="1335024"/>
            <a:ext cx="2295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Anti-Forensic</a:t>
            </a:r>
            <a:endParaRPr lang="en-US" sz="1030" dirty="0"/>
          </a:p>
          <a:p>
            <a:pPr indent="0" marL="0">
              <a:buNone/>
            </a:pPr>
            <a:r>
              <a:rPr lang="en-US" sz="1030" b="1" dirty="0">
                <a:solidFill>
                  <a:srgbClr val="FFFFFF"/>
                </a:solidFill>
              </a:rPr>
              <a:t>Robustness</a:t>
            </a:r>
            <a:endParaRPr lang="en-US" sz="1030" dirty="0"/>
          </a:p>
        </p:txBody>
      </p:sp>
      <p:sp>
        <p:nvSpPr>
          <p:cNvPr id="38" name="Shape 36"/>
          <p:cNvSpPr/>
          <p:nvPr/>
        </p:nvSpPr>
        <p:spPr>
          <a:xfrm>
            <a:off x="9491472" y="1947672"/>
            <a:ext cx="82296" cy="82296"/>
          </a:xfrm>
          <a:prstGeom prst="ellipse">
            <a:avLst/>
          </a:prstGeom>
          <a:solidFill>
            <a:srgbClr val="F26419"/>
          </a:solidFill>
          <a:ln w="12700">
            <a:solidFill>
              <a:srgbClr val="F26419"/>
            </a:solidFill>
            <a:prstDash val="solid"/>
          </a:ln>
        </p:spPr>
      </p:sp>
      <p:sp>
        <p:nvSpPr>
          <p:cNvPr id="39" name="Text 37"/>
          <p:cNvSpPr/>
          <p:nvPr/>
        </p:nvSpPr>
        <p:spPr>
          <a:xfrm>
            <a:off x="9646920" y="1892808"/>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anti-forensic FNR</a:t>
            </a:r>
            <a:endParaRPr lang="en-US" sz="870" dirty="0"/>
          </a:p>
        </p:txBody>
      </p:sp>
      <p:sp>
        <p:nvSpPr>
          <p:cNvPr id="40" name="Shape 38"/>
          <p:cNvSpPr/>
          <p:nvPr/>
        </p:nvSpPr>
        <p:spPr>
          <a:xfrm>
            <a:off x="9491472" y="2340864"/>
            <a:ext cx="82296" cy="82296"/>
          </a:xfrm>
          <a:prstGeom prst="ellipse">
            <a:avLst/>
          </a:prstGeom>
          <a:solidFill>
            <a:srgbClr val="F26419"/>
          </a:solidFill>
          <a:ln w="12700">
            <a:solidFill>
              <a:srgbClr val="F26419"/>
            </a:solidFill>
            <a:prstDash val="solid"/>
          </a:ln>
        </p:spPr>
      </p:sp>
      <p:sp>
        <p:nvSpPr>
          <p:cNvPr id="41" name="Text 39"/>
          <p:cNvSpPr/>
          <p:nvPr/>
        </p:nvSpPr>
        <p:spPr>
          <a:xfrm>
            <a:off x="9646920" y="2286000"/>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unknown rate</a:t>
            </a:r>
            <a:endParaRPr lang="en-US" sz="870" dirty="0"/>
          </a:p>
        </p:txBody>
      </p:sp>
      <p:sp>
        <p:nvSpPr>
          <p:cNvPr id="42" name="Shape 40"/>
          <p:cNvSpPr/>
          <p:nvPr/>
        </p:nvSpPr>
        <p:spPr>
          <a:xfrm>
            <a:off x="9491472" y="2734056"/>
            <a:ext cx="82296" cy="82296"/>
          </a:xfrm>
          <a:prstGeom prst="ellipse">
            <a:avLst/>
          </a:prstGeom>
          <a:solidFill>
            <a:srgbClr val="F26419"/>
          </a:solidFill>
          <a:ln w="12700">
            <a:solidFill>
              <a:srgbClr val="F26419"/>
            </a:solidFill>
            <a:prstDash val="solid"/>
          </a:ln>
        </p:spPr>
      </p:sp>
      <p:sp>
        <p:nvSpPr>
          <p:cNvPr id="43" name="Text 41"/>
          <p:cNvSpPr/>
          <p:nvPr/>
        </p:nvSpPr>
        <p:spPr>
          <a:xfrm>
            <a:off x="9646920" y="2679192"/>
            <a:ext cx="2039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confidence shift</a:t>
            </a:r>
            <a:endParaRPr lang="en-US" sz="870" dirty="0"/>
          </a:p>
        </p:txBody>
      </p:sp>
      <p:sp>
        <p:nvSpPr>
          <p:cNvPr id="44" name="Shape 42"/>
          <p:cNvSpPr/>
          <p:nvPr/>
        </p:nvSpPr>
        <p:spPr>
          <a:xfrm>
            <a:off x="777240" y="4983480"/>
            <a:ext cx="10652760" cy="713232"/>
          </a:xfrm>
          <a:prstGeom prst="roundRect">
            <a:avLst>
              <a:gd name="adj" fmla="val 10256"/>
            </a:avLst>
          </a:prstGeom>
          <a:solidFill>
            <a:srgbClr val="FFF1E8"/>
          </a:solidFill>
          <a:ln w="12700">
            <a:solidFill>
              <a:srgbClr val="F26419"/>
            </a:solidFill>
            <a:prstDash val="solid"/>
          </a:ln>
        </p:spPr>
      </p:sp>
      <p:sp>
        <p:nvSpPr>
          <p:cNvPr id="45" name="Text 43"/>
          <p:cNvSpPr/>
          <p:nvPr/>
        </p:nvSpPr>
        <p:spPr>
          <a:xfrm>
            <a:off x="1097280" y="5230368"/>
            <a:ext cx="2468880" cy="201168"/>
          </a:xfrm>
          <a:prstGeom prst="rect">
            <a:avLst/>
          </a:prstGeom>
          <a:noFill/>
          <a:ln/>
        </p:spPr>
        <p:txBody>
          <a:bodyPr wrap="square" lIns="0" tIns="0" rIns="0" bIns="0" rtlCol="0" anchor="ctr"/>
          <a:lstStyle/>
          <a:p>
            <a:pPr indent="0" marL="0">
              <a:buNone/>
            </a:pPr>
            <a:r>
              <a:rPr lang="en-US" sz="1400" b="1" dirty="0">
                <a:solidFill>
                  <a:srgbClr val="F26419"/>
                </a:solidFill>
              </a:rPr>
              <a:t>Operational Risk Summary</a:t>
            </a:r>
            <a:endParaRPr lang="en-US" sz="1400" dirty="0"/>
          </a:p>
        </p:txBody>
      </p:sp>
      <p:sp>
        <p:nvSpPr>
          <p:cNvPr id="46" name="Text 44"/>
          <p:cNvSpPr/>
          <p:nvPr/>
        </p:nvSpPr>
        <p:spPr>
          <a:xfrm>
            <a:off x="3749040" y="5266944"/>
            <a:ext cx="7223760" cy="146304"/>
          </a:xfrm>
          <a:prstGeom prst="rect">
            <a:avLst/>
          </a:prstGeom>
          <a:noFill/>
          <a:ln/>
        </p:spPr>
        <p:txBody>
          <a:bodyPr wrap="square" lIns="0" tIns="0" rIns="0" bIns="0" rtlCol="0" anchor="ctr">
            <a:normAutofit/>
          </a:bodyPr>
          <a:lstStyle/>
          <a:p>
            <a:pPr indent="0" marL="0">
              <a:buNone/>
            </a:pPr>
            <a:r>
              <a:rPr lang="en-US" sz="980" b="1" dirty="0">
                <a:solidFill>
                  <a:srgbClr val="071B4D"/>
                </a:solidFill>
              </a:rPr>
              <a:t>Failure modes: false negatives, false positives, high-confidence OOD mapping, unknown behavior, degradation under perturbation.</a:t>
            </a:r>
            <a:endParaRPr lang="en-US" sz="980" dirty="0"/>
          </a:p>
        </p:txBody>
      </p:sp>
      <p:sp>
        <p:nvSpPr>
          <p:cNvPr id="47" name="Text 45"/>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12</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Key Findings</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What the controlled evaluation highlights</a:t>
            </a:r>
            <a:endParaRPr lang="en-US" sz="880" dirty="0"/>
          </a:p>
        </p:txBody>
      </p:sp>
      <p:sp>
        <p:nvSpPr>
          <p:cNvPr id="8" name="Shape 6"/>
          <p:cNvSpPr/>
          <p:nvPr/>
        </p:nvSpPr>
        <p:spPr>
          <a:xfrm>
            <a:off x="777240" y="1417320"/>
            <a:ext cx="3246120" cy="1097280"/>
          </a:xfrm>
          <a:prstGeom prst="roundRect">
            <a:avLst>
              <a:gd name="adj" fmla="val 6667"/>
            </a:avLst>
          </a:prstGeom>
          <a:solidFill>
            <a:srgbClr val="FFFFFF"/>
          </a:solidFill>
          <a:ln w="12700">
            <a:solidFill>
              <a:srgbClr val="F26419"/>
            </a:solidFill>
            <a:prstDash val="solid"/>
          </a:ln>
        </p:spPr>
      </p:sp>
      <p:sp>
        <p:nvSpPr>
          <p:cNvPr id="9" name="Text 7"/>
          <p:cNvSpPr/>
          <p:nvPr/>
        </p:nvSpPr>
        <p:spPr>
          <a:xfrm>
            <a:off x="960120" y="1581912"/>
            <a:ext cx="411480" cy="164592"/>
          </a:xfrm>
          <a:prstGeom prst="rect">
            <a:avLst/>
          </a:prstGeom>
          <a:noFill/>
          <a:ln/>
        </p:spPr>
        <p:txBody>
          <a:bodyPr wrap="square" lIns="0" tIns="0" rIns="0" bIns="0" rtlCol="0" anchor="ctr"/>
          <a:lstStyle/>
          <a:p>
            <a:pPr indent="0" marL="0">
              <a:buNone/>
            </a:pPr>
            <a:r>
              <a:rPr lang="en-US" sz="1100" b="1" dirty="0">
                <a:solidFill>
                  <a:srgbClr val="F26419"/>
                </a:solidFill>
              </a:rPr>
              <a:t>01</a:t>
            </a:r>
            <a:endParaRPr lang="en-US" sz="1100" dirty="0"/>
          </a:p>
        </p:txBody>
      </p:sp>
      <p:sp>
        <p:nvSpPr>
          <p:cNvPr id="10" name="Text 8"/>
          <p:cNvSpPr/>
          <p:nvPr/>
        </p:nvSpPr>
        <p:spPr>
          <a:xfrm>
            <a:off x="1490472" y="1719072"/>
            <a:ext cx="2240280" cy="320040"/>
          </a:xfrm>
          <a:prstGeom prst="rect">
            <a:avLst/>
          </a:prstGeom>
          <a:noFill/>
          <a:ln/>
        </p:spPr>
        <p:txBody>
          <a:bodyPr wrap="square" lIns="0" tIns="0" rIns="0" bIns="0" rtlCol="0" anchor="ctr">
            <a:normAutofit/>
          </a:bodyPr>
          <a:lstStyle/>
          <a:p>
            <a:pPr indent="0" marL="0">
              <a:buNone/>
            </a:pPr>
            <a:r>
              <a:rPr lang="en-US" sz="1150" b="1" dirty="0">
                <a:solidFill>
                  <a:srgbClr val="071B4D"/>
                </a:solidFill>
              </a:rPr>
              <a:t>Clean performance does not fully predict robustness.</a:t>
            </a:r>
            <a:endParaRPr lang="en-US" sz="1150" dirty="0"/>
          </a:p>
        </p:txBody>
      </p:sp>
      <p:sp>
        <p:nvSpPr>
          <p:cNvPr id="11" name="Shape 9"/>
          <p:cNvSpPr/>
          <p:nvPr/>
        </p:nvSpPr>
        <p:spPr>
          <a:xfrm>
            <a:off x="4526280" y="1417320"/>
            <a:ext cx="3246120" cy="1097280"/>
          </a:xfrm>
          <a:prstGeom prst="roundRect">
            <a:avLst>
              <a:gd name="adj" fmla="val 6667"/>
            </a:avLst>
          </a:prstGeom>
          <a:solidFill>
            <a:srgbClr val="EAF7F7"/>
          </a:solidFill>
          <a:ln w="12700">
            <a:solidFill>
              <a:srgbClr val="0E8A8A"/>
            </a:solidFill>
            <a:prstDash val="solid"/>
          </a:ln>
        </p:spPr>
      </p:sp>
      <p:sp>
        <p:nvSpPr>
          <p:cNvPr id="12" name="Text 10"/>
          <p:cNvSpPr/>
          <p:nvPr/>
        </p:nvSpPr>
        <p:spPr>
          <a:xfrm>
            <a:off x="4709160" y="1581912"/>
            <a:ext cx="411480" cy="164592"/>
          </a:xfrm>
          <a:prstGeom prst="rect">
            <a:avLst/>
          </a:prstGeom>
          <a:noFill/>
          <a:ln/>
        </p:spPr>
        <p:txBody>
          <a:bodyPr wrap="square" lIns="0" tIns="0" rIns="0" bIns="0" rtlCol="0" anchor="ctr"/>
          <a:lstStyle/>
          <a:p>
            <a:pPr indent="0" marL="0">
              <a:buNone/>
            </a:pPr>
            <a:r>
              <a:rPr lang="en-US" sz="1100" b="1" dirty="0">
                <a:solidFill>
                  <a:srgbClr val="0E8A8A"/>
                </a:solidFill>
              </a:rPr>
              <a:t>02</a:t>
            </a:r>
            <a:endParaRPr lang="en-US" sz="1100" dirty="0"/>
          </a:p>
        </p:txBody>
      </p:sp>
      <p:sp>
        <p:nvSpPr>
          <p:cNvPr id="13" name="Text 11"/>
          <p:cNvSpPr/>
          <p:nvPr/>
        </p:nvSpPr>
        <p:spPr>
          <a:xfrm>
            <a:off x="5239512" y="1719072"/>
            <a:ext cx="2240280" cy="320040"/>
          </a:xfrm>
          <a:prstGeom prst="rect">
            <a:avLst/>
          </a:prstGeom>
          <a:noFill/>
          <a:ln/>
        </p:spPr>
        <p:txBody>
          <a:bodyPr wrap="square" lIns="0" tIns="0" rIns="0" bIns="0" rtlCol="0" anchor="ctr">
            <a:normAutofit/>
          </a:bodyPr>
          <a:lstStyle/>
          <a:p>
            <a:pPr indent="0" marL="0">
              <a:buNone/>
            </a:pPr>
            <a:r>
              <a:rPr lang="en-US" sz="1150" b="1" dirty="0">
                <a:solidFill>
                  <a:srgbClr val="071B4D"/>
                </a:solidFill>
              </a:rPr>
              <a:t>OOD inputs can expose unexpected classification behavior.</a:t>
            </a:r>
            <a:endParaRPr lang="en-US" sz="1150" dirty="0"/>
          </a:p>
        </p:txBody>
      </p:sp>
      <p:sp>
        <p:nvSpPr>
          <p:cNvPr id="14" name="Shape 12"/>
          <p:cNvSpPr/>
          <p:nvPr/>
        </p:nvSpPr>
        <p:spPr>
          <a:xfrm>
            <a:off x="8275320" y="1417320"/>
            <a:ext cx="3246120" cy="1097280"/>
          </a:xfrm>
          <a:prstGeom prst="roundRect">
            <a:avLst>
              <a:gd name="adj" fmla="val 6667"/>
            </a:avLst>
          </a:prstGeom>
          <a:solidFill>
            <a:srgbClr val="FFFFFF"/>
          </a:solidFill>
          <a:ln w="12700">
            <a:solidFill>
              <a:srgbClr val="F26419"/>
            </a:solidFill>
            <a:prstDash val="solid"/>
          </a:ln>
        </p:spPr>
      </p:sp>
      <p:sp>
        <p:nvSpPr>
          <p:cNvPr id="15" name="Text 13"/>
          <p:cNvSpPr/>
          <p:nvPr/>
        </p:nvSpPr>
        <p:spPr>
          <a:xfrm>
            <a:off x="8458200" y="1581912"/>
            <a:ext cx="411480" cy="164592"/>
          </a:xfrm>
          <a:prstGeom prst="rect">
            <a:avLst/>
          </a:prstGeom>
          <a:noFill/>
          <a:ln/>
        </p:spPr>
        <p:txBody>
          <a:bodyPr wrap="square" lIns="0" tIns="0" rIns="0" bIns="0" rtlCol="0" anchor="ctr"/>
          <a:lstStyle/>
          <a:p>
            <a:pPr indent="0" marL="0">
              <a:buNone/>
            </a:pPr>
            <a:r>
              <a:rPr lang="en-US" sz="1100" b="1" dirty="0">
                <a:solidFill>
                  <a:srgbClr val="F26419"/>
                </a:solidFill>
              </a:rPr>
              <a:t>03</a:t>
            </a:r>
            <a:endParaRPr lang="en-US" sz="1100" dirty="0"/>
          </a:p>
        </p:txBody>
      </p:sp>
      <p:sp>
        <p:nvSpPr>
          <p:cNvPr id="16" name="Text 14"/>
          <p:cNvSpPr/>
          <p:nvPr/>
        </p:nvSpPr>
        <p:spPr>
          <a:xfrm>
            <a:off x="8988552" y="1719072"/>
            <a:ext cx="2240280" cy="320040"/>
          </a:xfrm>
          <a:prstGeom prst="rect">
            <a:avLst/>
          </a:prstGeom>
          <a:noFill/>
          <a:ln/>
        </p:spPr>
        <p:txBody>
          <a:bodyPr wrap="square" lIns="0" tIns="0" rIns="0" bIns="0" rtlCol="0" anchor="ctr">
            <a:normAutofit/>
          </a:bodyPr>
          <a:lstStyle/>
          <a:p>
            <a:pPr indent="0" marL="0">
              <a:buNone/>
            </a:pPr>
            <a:r>
              <a:rPr lang="en-US" sz="1150" b="1" dirty="0">
                <a:solidFill>
                  <a:srgbClr val="071B4D"/>
                </a:solidFill>
              </a:rPr>
              <a:t>Perturbations can induce errors or confidence shifts.</a:t>
            </a:r>
            <a:endParaRPr lang="en-US" sz="1150" dirty="0"/>
          </a:p>
        </p:txBody>
      </p:sp>
      <p:sp>
        <p:nvSpPr>
          <p:cNvPr id="17" name="Shape 15"/>
          <p:cNvSpPr/>
          <p:nvPr/>
        </p:nvSpPr>
        <p:spPr>
          <a:xfrm>
            <a:off x="2697480" y="3749040"/>
            <a:ext cx="3246120" cy="1097280"/>
          </a:xfrm>
          <a:prstGeom prst="roundRect">
            <a:avLst>
              <a:gd name="adj" fmla="val 6667"/>
            </a:avLst>
          </a:prstGeom>
          <a:solidFill>
            <a:srgbClr val="EAF7F7"/>
          </a:solidFill>
          <a:ln w="12700">
            <a:solidFill>
              <a:srgbClr val="0E8A8A"/>
            </a:solidFill>
            <a:prstDash val="solid"/>
          </a:ln>
        </p:spPr>
      </p:sp>
      <p:sp>
        <p:nvSpPr>
          <p:cNvPr id="18" name="Text 16"/>
          <p:cNvSpPr/>
          <p:nvPr/>
        </p:nvSpPr>
        <p:spPr>
          <a:xfrm>
            <a:off x="2880360" y="3913632"/>
            <a:ext cx="411480" cy="164592"/>
          </a:xfrm>
          <a:prstGeom prst="rect">
            <a:avLst/>
          </a:prstGeom>
          <a:noFill/>
          <a:ln/>
        </p:spPr>
        <p:txBody>
          <a:bodyPr wrap="square" lIns="0" tIns="0" rIns="0" bIns="0" rtlCol="0" anchor="ctr"/>
          <a:lstStyle/>
          <a:p>
            <a:pPr indent="0" marL="0">
              <a:buNone/>
            </a:pPr>
            <a:r>
              <a:rPr lang="en-US" sz="1100" b="1" dirty="0">
                <a:solidFill>
                  <a:srgbClr val="0E8A8A"/>
                </a:solidFill>
              </a:rPr>
              <a:t>04</a:t>
            </a:r>
            <a:endParaRPr lang="en-US" sz="1100" dirty="0"/>
          </a:p>
        </p:txBody>
      </p:sp>
      <p:sp>
        <p:nvSpPr>
          <p:cNvPr id="19" name="Text 17"/>
          <p:cNvSpPr/>
          <p:nvPr/>
        </p:nvSpPr>
        <p:spPr>
          <a:xfrm>
            <a:off x="3410712" y="4050792"/>
            <a:ext cx="2240280" cy="320040"/>
          </a:xfrm>
          <a:prstGeom prst="rect">
            <a:avLst/>
          </a:prstGeom>
          <a:noFill/>
          <a:ln/>
        </p:spPr>
        <p:txBody>
          <a:bodyPr wrap="square" lIns="0" tIns="0" rIns="0" bIns="0" rtlCol="0" anchor="ctr">
            <a:normAutofit/>
          </a:bodyPr>
          <a:lstStyle/>
          <a:p>
            <a:pPr indent="0" marL="0">
              <a:buNone/>
            </a:pPr>
            <a:r>
              <a:rPr lang="en-US" sz="1150" b="1" dirty="0">
                <a:solidFill>
                  <a:srgbClr val="071B4D"/>
                </a:solidFill>
              </a:rPr>
              <a:t>Black-box tools require conservative interpretation.</a:t>
            </a:r>
            <a:endParaRPr lang="en-US" sz="1150" dirty="0"/>
          </a:p>
        </p:txBody>
      </p:sp>
      <p:sp>
        <p:nvSpPr>
          <p:cNvPr id="20" name="Shape 18"/>
          <p:cNvSpPr/>
          <p:nvPr/>
        </p:nvSpPr>
        <p:spPr>
          <a:xfrm>
            <a:off x="6446520" y="3749040"/>
            <a:ext cx="3246120" cy="1097280"/>
          </a:xfrm>
          <a:prstGeom prst="roundRect">
            <a:avLst>
              <a:gd name="adj" fmla="val 6667"/>
            </a:avLst>
          </a:prstGeom>
          <a:solidFill>
            <a:srgbClr val="FFFFFF"/>
          </a:solidFill>
          <a:ln w="12700">
            <a:solidFill>
              <a:srgbClr val="F26419"/>
            </a:solidFill>
            <a:prstDash val="solid"/>
          </a:ln>
        </p:spPr>
      </p:sp>
      <p:sp>
        <p:nvSpPr>
          <p:cNvPr id="21" name="Text 19"/>
          <p:cNvSpPr/>
          <p:nvPr/>
        </p:nvSpPr>
        <p:spPr>
          <a:xfrm>
            <a:off x="6629400" y="3913632"/>
            <a:ext cx="411480" cy="164592"/>
          </a:xfrm>
          <a:prstGeom prst="rect">
            <a:avLst/>
          </a:prstGeom>
          <a:noFill/>
          <a:ln/>
        </p:spPr>
        <p:txBody>
          <a:bodyPr wrap="square" lIns="0" tIns="0" rIns="0" bIns="0" rtlCol="0" anchor="ctr"/>
          <a:lstStyle/>
          <a:p>
            <a:pPr indent="0" marL="0">
              <a:buNone/>
            </a:pPr>
            <a:r>
              <a:rPr lang="en-US" sz="1100" b="1" dirty="0">
                <a:solidFill>
                  <a:srgbClr val="F26419"/>
                </a:solidFill>
              </a:rPr>
              <a:t>05</a:t>
            </a:r>
            <a:endParaRPr lang="en-US" sz="1100" dirty="0"/>
          </a:p>
        </p:txBody>
      </p:sp>
      <p:sp>
        <p:nvSpPr>
          <p:cNvPr id="22" name="Text 20"/>
          <p:cNvSpPr/>
          <p:nvPr/>
        </p:nvSpPr>
        <p:spPr>
          <a:xfrm>
            <a:off x="7159752" y="4050792"/>
            <a:ext cx="2240280" cy="320040"/>
          </a:xfrm>
          <a:prstGeom prst="rect">
            <a:avLst/>
          </a:prstGeom>
          <a:noFill/>
          <a:ln/>
        </p:spPr>
        <p:txBody>
          <a:bodyPr wrap="square" lIns="0" tIns="0" rIns="0" bIns="0" rtlCol="0" anchor="ctr">
            <a:normAutofit/>
          </a:bodyPr>
          <a:lstStyle/>
          <a:p>
            <a:pPr indent="0" marL="0">
              <a:buNone/>
            </a:pPr>
            <a:r>
              <a:rPr lang="en-US" sz="1150" b="1" dirty="0">
                <a:solidFill>
                  <a:srgbClr val="071B4D"/>
                </a:solidFill>
              </a:rPr>
              <a:t>Traceability is essential for reproducible forensic assessment.</a:t>
            </a:r>
            <a:endParaRPr lang="en-US" sz="1150" dirty="0"/>
          </a:p>
        </p:txBody>
      </p:sp>
      <p:sp>
        <p:nvSpPr>
          <p:cNvPr id="23" name="Shape 21"/>
          <p:cNvSpPr/>
          <p:nvPr/>
        </p:nvSpPr>
        <p:spPr>
          <a:xfrm>
            <a:off x="1188720" y="5623560"/>
            <a:ext cx="9829800" cy="347472"/>
          </a:xfrm>
          <a:prstGeom prst="roundRect">
            <a:avLst>
              <a:gd name="adj" fmla="val 21053"/>
            </a:avLst>
          </a:prstGeom>
          <a:solidFill>
            <a:srgbClr val="071B4D"/>
          </a:solidFill>
          <a:ln w="12700">
            <a:solidFill>
              <a:srgbClr val="071B4D"/>
            </a:solidFill>
            <a:prstDash val="solid"/>
          </a:ln>
        </p:spPr>
      </p:sp>
      <p:sp>
        <p:nvSpPr>
          <p:cNvPr id="24" name="Text 22"/>
          <p:cNvSpPr/>
          <p:nvPr/>
        </p:nvSpPr>
        <p:spPr>
          <a:xfrm>
            <a:off x="1389888" y="5733288"/>
            <a:ext cx="9418320" cy="100584"/>
          </a:xfrm>
          <a:prstGeom prst="rect">
            <a:avLst/>
          </a:prstGeom>
          <a:noFill/>
          <a:ln/>
        </p:spPr>
        <p:txBody>
          <a:bodyPr wrap="square" lIns="0" tIns="0" rIns="0" bIns="0" rtlCol="0" anchor="ctr"/>
          <a:lstStyle/>
          <a:p>
            <a:pPr algn="ctr" indent="0" marL="0">
              <a:buNone/>
            </a:pPr>
            <a:r>
              <a:rPr lang="en-US" sz="980" b="1" dirty="0">
                <a:solidFill>
                  <a:srgbClr val="FFFFFF"/>
                </a:solidFill>
              </a:rPr>
              <a:t>Takeaway: high clean performance is not sufficient for forensic reliability under manipulated inputs.</a:t>
            </a:r>
            <a:endParaRPr lang="en-US" sz="980" dirty="0"/>
          </a:p>
        </p:txBody>
      </p:sp>
      <p:sp>
        <p:nvSpPr>
          <p:cNvPr id="25" name="Text 23"/>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13</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Limitations</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Scope-aware interpretation of the results</a:t>
            </a:r>
            <a:endParaRPr lang="en-US" sz="880" dirty="0"/>
          </a:p>
        </p:txBody>
      </p:sp>
      <p:sp>
        <p:nvSpPr>
          <p:cNvPr id="8" name="Text 6"/>
          <p:cNvSpPr/>
          <p:nvPr/>
        </p:nvSpPr>
        <p:spPr>
          <a:xfrm>
            <a:off x="1143000" y="1417320"/>
            <a:ext cx="10058400" cy="1828800"/>
          </a:xfrm>
          <a:prstGeom prst="rect">
            <a:avLst/>
          </a:prstGeom>
          <a:noFill/>
          <a:ln/>
        </p:spPr>
        <p:txBody>
          <a:bodyPr wrap="square" lIns="762" tIns="762" rIns="762" bIns="762" rtlCol="0" anchor="ctr">
            <a:normAutofit/>
          </a:bodyPr>
          <a:lstStyle/>
          <a:p>
            <a:pPr indent="0" marL="0">
              <a:buNone/>
            </a:pPr>
            <a:r>
              <a:rPr lang="en-US" sz="1700" dirty="0">
                <a:solidFill>
                  <a:srgbClr val="071B4D"/>
                </a:solidFill>
              </a:rPr>
              <a:t>• Evaluation limited to selected tool versions.</a:t>
            </a:r>
            <a:endParaRPr lang="en-US" sz="1700" dirty="0"/>
          </a:p>
          <a:p>
            <a:pPr indent="0" marL="0">
              <a:buNone/>
            </a:pPr>
            <a:r>
              <a:rPr lang="en-US" sz="1700" dirty="0">
                <a:solidFill>
                  <a:srgbClr val="071B4D"/>
                </a:solidFill>
              </a:rPr>
              <a:t>• Commercial tools are black-box systems.</a:t>
            </a:r>
            <a:endParaRPr lang="en-US" sz="1700" dirty="0"/>
          </a:p>
          <a:p>
            <a:pPr indent="0" marL="0">
              <a:buNone/>
            </a:pPr>
            <a:r>
              <a:rPr lang="en-US" sz="1700" dirty="0">
                <a:solidFill>
                  <a:srgbClr val="071B4D"/>
                </a:solidFill>
              </a:rPr>
              <a:t>• Dataset scope is controlled and finite.</a:t>
            </a:r>
            <a:endParaRPr lang="en-US" sz="1700" dirty="0"/>
          </a:p>
          <a:p>
            <a:pPr indent="0" marL="0">
              <a:buNone/>
            </a:pPr>
            <a:r>
              <a:rPr lang="en-US" sz="1700" dirty="0">
                <a:solidFill>
                  <a:srgbClr val="071B4D"/>
                </a:solidFill>
              </a:rPr>
              <a:t>• Adversarial testing is proxy-based.</a:t>
            </a:r>
            <a:endParaRPr lang="en-US" sz="1700" dirty="0"/>
          </a:p>
          <a:p>
            <a:pPr indent="0" marL="0">
              <a:buNone/>
            </a:pPr>
            <a:r>
              <a:rPr lang="en-US" sz="1700" dirty="0">
                <a:solidFill>
                  <a:srgbClr val="071B4D"/>
                </a:solidFill>
              </a:rPr>
              <a:t>• Results should not be generalized to all future versions or categories.</a:t>
            </a:r>
            <a:endParaRPr lang="en-US" sz="1700" dirty="0"/>
          </a:p>
        </p:txBody>
      </p:sp>
      <p:sp>
        <p:nvSpPr>
          <p:cNvPr id="9" name="Shape 7"/>
          <p:cNvSpPr/>
          <p:nvPr/>
        </p:nvSpPr>
        <p:spPr>
          <a:xfrm>
            <a:off x="914400" y="3886200"/>
            <a:ext cx="10378440" cy="1234440"/>
          </a:xfrm>
          <a:prstGeom prst="roundRect">
            <a:avLst>
              <a:gd name="adj" fmla="val 5926"/>
            </a:avLst>
          </a:prstGeom>
          <a:solidFill>
            <a:srgbClr val="EEF5FF"/>
          </a:solidFill>
          <a:ln w="12700">
            <a:solidFill>
              <a:srgbClr val="BCD7E8"/>
            </a:solidFill>
            <a:prstDash val="solid"/>
          </a:ln>
        </p:spPr>
      </p:sp>
      <p:sp>
        <p:nvSpPr>
          <p:cNvPr id="10" name="Text 8"/>
          <p:cNvSpPr/>
          <p:nvPr/>
        </p:nvSpPr>
        <p:spPr>
          <a:xfrm>
            <a:off x="1234440" y="4169664"/>
            <a:ext cx="1645920" cy="182880"/>
          </a:xfrm>
          <a:prstGeom prst="rect">
            <a:avLst/>
          </a:prstGeom>
          <a:noFill/>
          <a:ln/>
        </p:spPr>
        <p:txBody>
          <a:bodyPr wrap="square" lIns="0" tIns="0" rIns="0" bIns="0" rtlCol="0" anchor="ctr"/>
          <a:lstStyle/>
          <a:p>
            <a:pPr indent="0" marL="0">
              <a:buNone/>
            </a:pPr>
            <a:r>
              <a:rPr lang="en-US" sz="1400" b="1" dirty="0">
                <a:solidFill>
                  <a:srgbClr val="071B4D"/>
                </a:solidFill>
              </a:rPr>
              <a:t>Interpretation</a:t>
            </a:r>
            <a:endParaRPr lang="en-US" sz="1400" dirty="0"/>
          </a:p>
        </p:txBody>
      </p:sp>
      <p:sp>
        <p:nvSpPr>
          <p:cNvPr id="11" name="Text 9"/>
          <p:cNvSpPr/>
          <p:nvPr/>
        </p:nvSpPr>
        <p:spPr>
          <a:xfrm>
            <a:off x="2926080" y="4096512"/>
            <a:ext cx="7772400" cy="292608"/>
          </a:xfrm>
          <a:prstGeom prst="rect">
            <a:avLst/>
          </a:prstGeom>
          <a:noFill/>
          <a:ln/>
        </p:spPr>
        <p:txBody>
          <a:bodyPr wrap="square" lIns="0" tIns="0" rIns="0" bIns="0" rtlCol="0" anchor="ctr">
            <a:normAutofit/>
          </a:bodyPr>
          <a:lstStyle/>
          <a:p>
            <a:pPr indent="0" marL="0">
              <a:buNone/>
            </a:pPr>
            <a:r>
              <a:rPr lang="en-US" sz="1300" dirty="0">
                <a:solidFill>
                  <a:srgbClr val="071B4D"/>
                </a:solidFill>
              </a:rPr>
              <a:t>These limitations are expected in black-box forensic evaluation and motivate periodic re-testing, version tracking, and transparent validation protocols.</a:t>
            </a:r>
            <a:endParaRPr lang="en-US" sz="1300" dirty="0"/>
          </a:p>
        </p:txBody>
      </p:sp>
      <p:sp>
        <p:nvSpPr>
          <p:cNvPr id="12" name="Text 10"/>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14</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Conclusions and Future Work</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Towards robustness-aware forensic tool evaluation</a:t>
            </a:r>
            <a:endParaRPr lang="en-US" sz="880" dirty="0"/>
          </a:p>
        </p:txBody>
      </p:sp>
      <p:sp>
        <p:nvSpPr>
          <p:cNvPr id="8" name="Shape 6"/>
          <p:cNvSpPr/>
          <p:nvPr/>
        </p:nvSpPr>
        <p:spPr>
          <a:xfrm>
            <a:off x="868680" y="1325880"/>
            <a:ext cx="5120640" cy="3063240"/>
          </a:xfrm>
          <a:prstGeom prst="roundRect">
            <a:avLst>
              <a:gd name="adj" fmla="val 2388"/>
            </a:avLst>
          </a:prstGeom>
          <a:solidFill>
            <a:srgbClr val="FFFFFF"/>
          </a:solidFill>
          <a:ln w="12700">
            <a:solidFill>
              <a:srgbClr val="D6DEE8"/>
            </a:solidFill>
            <a:prstDash val="solid"/>
          </a:ln>
        </p:spPr>
      </p:sp>
      <p:sp>
        <p:nvSpPr>
          <p:cNvPr id="9" name="Shape 7"/>
          <p:cNvSpPr/>
          <p:nvPr/>
        </p:nvSpPr>
        <p:spPr>
          <a:xfrm>
            <a:off x="868680" y="1325880"/>
            <a:ext cx="5120640" cy="429768"/>
          </a:xfrm>
          <a:prstGeom prst="roundRect">
            <a:avLst>
              <a:gd name="adj" fmla="val 17021"/>
            </a:avLst>
          </a:prstGeom>
          <a:solidFill>
            <a:srgbClr val="0E8A8A"/>
          </a:solidFill>
          <a:ln w="12700">
            <a:solidFill>
              <a:srgbClr val="0E8A8A"/>
            </a:solidFill>
            <a:prstDash val="solid"/>
          </a:ln>
        </p:spPr>
      </p:sp>
      <p:sp>
        <p:nvSpPr>
          <p:cNvPr id="10" name="Text 8"/>
          <p:cNvSpPr/>
          <p:nvPr/>
        </p:nvSpPr>
        <p:spPr>
          <a:xfrm>
            <a:off x="978408" y="1426464"/>
            <a:ext cx="490118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Conclusions</a:t>
            </a:r>
            <a:endParaRPr lang="en-US" sz="1030" dirty="0"/>
          </a:p>
        </p:txBody>
      </p:sp>
      <p:sp>
        <p:nvSpPr>
          <p:cNvPr id="11" name="Shape 9"/>
          <p:cNvSpPr/>
          <p:nvPr/>
        </p:nvSpPr>
        <p:spPr>
          <a:xfrm>
            <a:off x="1033272" y="2039112"/>
            <a:ext cx="82296" cy="82296"/>
          </a:xfrm>
          <a:prstGeom prst="ellipse">
            <a:avLst/>
          </a:prstGeom>
          <a:solidFill>
            <a:srgbClr val="0E8A8A"/>
          </a:solidFill>
          <a:ln w="12700">
            <a:solidFill>
              <a:srgbClr val="0E8A8A"/>
            </a:solidFill>
            <a:prstDash val="solid"/>
          </a:ln>
        </p:spPr>
      </p:sp>
      <p:sp>
        <p:nvSpPr>
          <p:cNvPr id="12" name="Text 10"/>
          <p:cNvSpPr/>
          <p:nvPr/>
        </p:nvSpPr>
        <p:spPr>
          <a:xfrm>
            <a:off x="1188720" y="1984248"/>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AI-assisted forensic tools require robustness evaluation.</a:t>
            </a:r>
            <a:endParaRPr lang="en-US" sz="870" dirty="0"/>
          </a:p>
        </p:txBody>
      </p:sp>
      <p:sp>
        <p:nvSpPr>
          <p:cNvPr id="13" name="Shape 11"/>
          <p:cNvSpPr/>
          <p:nvPr/>
        </p:nvSpPr>
        <p:spPr>
          <a:xfrm>
            <a:off x="1033272" y="2432304"/>
            <a:ext cx="82296" cy="82296"/>
          </a:xfrm>
          <a:prstGeom prst="ellipse">
            <a:avLst/>
          </a:prstGeom>
          <a:solidFill>
            <a:srgbClr val="0E8A8A"/>
          </a:solidFill>
          <a:ln w="12700">
            <a:solidFill>
              <a:srgbClr val="0E8A8A"/>
            </a:solidFill>
            <a:prstDash val="solid"/>
          </a:ln>
        </p:spPr>
      </p:sp>
      <p:sp>
        <p:nvSpPr>
          <p:cNvPr id="14" name="Text 12"/>
          <p:cNvSpPr/>
          <p:nvPr/>
        </p:nvSpPr>
        <p:spPr>
          <a:xfrm>
            <a:off x="1188720" y="2377440"/>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Controlled perturbation testing reveals operational failure modes.</a:t>
            </a:r>
            <a:endParaRPr lang="en-US" sz="870" dirty="0"/>
          </a:p>
        </p:txBody>
      </p:sp>
      <p:sp>
        <p:nvSpPr>
          <p:cNvPr id="15" name="Shape 13"/>
          <p:cNvSpPr/>
          <p:nvPr/>
        </p:nvSpPr>
        <p:spPr>
          <a:xfrm>
            <a:off x="1033272" y="2825496"/>
            <a:ext cx="82296" cy="82296"/>
          </a:xfrm>
          <a:prstGeom prst="ellipse">
            <a:avLst/>
          </a:prstGeom>
          <a:solidFill>
            <a:srgbClr val="0E8A8A"/>
          </a:solidFill>
          <a:ln w="12700">
            <a:solidFill>
              <a:srgbClr val="0E8A8A"/>
            </a:solidFill>
            <a:prstDash val="solid"/>
          </a:ln>
        </p:spPr>
      </p:sp>
      <p:sp>
        <p:nvSpPr>
          <p:cNvPr id="16" name="Text 14"/>
          <p:cNvSpPr/>
          <p:nvPr/>
        </p:nvSpPr>
        <p:spPr>
          <a:xfrm>
            <a:off x="1188720" y="2770632"/>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Proxy and commercial evaluations are complementary.</a:t>
            </a:r>
            <a:endParaRPr lang="en-US" sz="870" dirty="0"/>
          </a:p>
        </p:txBody>
      </p:sp>
      <p:sp>
        <p:nvSpPr>
          <p:cNvPr id="17" name="Shape 15"/>
          <p:cNvSpPr/>
          <p:nvPr/>
        </p:nvSpPr>
        <p:spPr>
          <a:xfrm>
            <a:off x="1033272" y="3218688"/>
            <a:ext cx="82296" cy="82296"/>
          </a:xfrm>
          <a:prstGeom prst="ellipse">
            <a:avLst/>
          </a:prstGeom>
          <a:solidFill>
            <a:srgbClr val="0E8A8A"/>
          </a:solidFill>
          <a:ln w="12700">
            <a:solidFill>
              <a:srgbClr val="0E8A8A"/>
            </a:solidFill>
            <a:prstDash val="solid"/>
          </a:ln>
        </p:spPr>
      </p:sp>
      <p:sp>
        <p:nvSpPr>
          <p:cNvPr id="18" name="Text 16"/>
          <p:cNvSpPr/>
          <p:nvPr/>
        </p:nvSpPr>
        <p:spPr>
          <a:xfrm>
            <a:off x="1188720" y="3163824"/>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Normalization and traceability support forensic reliability.</a:t>
            </a:r>
            <a:endParaRPr lang="en-US" sz="870" dirty="0"/>
          </a:p>
        </p:txBody>
      </p:sp>
      <p:sp>
        <p:nvSpPr>
          <p:cNvPr id="19" name="Shape 17"/>
          <p:cNvSpPr/>
          <p:nvPr/>
        </p:nvSpPr>
        <p:spPr>
          <a:xfrm>
            <a:off x="6263640" y="1325880"/>
            <a:ext cx="5120640" cy="3063240"/>
          </a:xfrm>
          <a:prstGeom prst="roundRect">
            <a:avLst>
              <a:gd name="adj" fmla="val 2388"/>
            </a:avLst>
          </a:prstGeom>
          <a:solidFill>
            <a:srgbClr val="FFFFFF"/>
          </a:solidFill>
          <a:ln w="12700">
            <a:solidFill>
              <a:srgbClr val="D6DEE8"/>
            </a:solidFill>
            <a:prstDash val="solid"/>
          </a:ln>
        </p:spPr>
      </p:sp>
      <p:sp>
        <p:nvSpPr>
          <p:cNvPr id="20" name="Shape 18"/>
          <p:cNvSpPr/>
          <p:nvPr/>
        </p:nvSpPr>
        <p:spPr>
          <a:xfrm>
            <a:off x="6263640" y="1325880"/>
            <a:ext cx="5120640" cy="429768"/>
          </a:xfrm>
          <a:prstGeom prst="roundRect">
            <a:avLst>
              <a:gd name="adj" fmla="val 17021"/>
            </a:avLst>
          </a:prstGeom>
          <a:solidFill>
            <a:srgbClr val="F26419"/>
          </a:solidFill>
          <a:ln w="12700">
            <a:solidFill>
              <a:srgbClr val="F26419"/>
            </a:solidFill>
            <a:prstDash val="solid"/>
          </a:ln>
        </p:spPr>
      </p:sp>
      <p:sp>
        <p:nvSpPr>
          <p:cNvPr id="21" name="Text 19"/>
          <p:cNvSpPr/>
          <p:nvPr/>
        </p:nvSpPr>
        <p:spPr>
          <a:xfrm>
            <a:off x="6373368" y="1426464"/>
            <a:ext cx="490118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Future Work</a:t>
            </a:r>
            <a:endParaRPr lang="en-US" sz="1030" dirty="0"/>
          </a:p>
        </p:txBody>
      </p:sp>
      <p:sp>
        <p:nvSpPr>
          <p:cNvPr id="22" name="Shape 20"/>
          <p:cNvSpPr/>
          <p:nvPr/>
        </p:nvSpPr>
        <p:spPr>
          <a:xfrm>
            <a:off x="6428232" y="2039112"/>
            <a:ext cx="82296" cy="82296"/>
          </a:xfrm>
          <a:prstGeom prst="ellipse">
            <a:avLst/>
          </a:prstGeom>
          <a:solidFill>
            <a:srgbClr val="F26419"/>
          </a:solidFill>
          <a:ln w="12700">
            <a:solidFill>
              <a:srgbClr val="F26419"/>
            </a:solidFill>
            <a:prstDash val="solid"/>
          </a:ln>
        </p:spPr>
      </p:sp>
      <p:sp>
        <p:nvSpPr>
          <p:cNvPr id="23" name="Text 21"/>
          <p:cNvSpPr/>
          <p:nvPr/>
        </p:nvSpPr>
        <p:spPr>
          <a:xfrm>
            <a:off x="6583680" y="1984248"/>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additional tools and versions</a:t>
            </a:r>
            <a:endParaRPr lang="en-US" sz="870" dirty="0"/>
          </a:p>
        </p:txBody>
      </p:sp>
      <p:sp>
        <p:nvSpPr>
          <p:cNvPr id="24" name="Shape 22"/>
          <p:cNvSpPr/>
          <p:nvPr/>
        </p:nvSpPr>
        <p:spPr>
          <a:xfrm>
            <a:off x="6428232" y="2432304"/>
            <a:ext cx="82296" cy="82296"/>
          </a:xfrm>
          <a:prstGeom prst="ellipse">
            <a:avLst/>
          </a:prstGeom>
          <a:solidFill>
            <a:srgbClr val="F26419"/>
          </a:solidFill>
          <a:ln w="12700">
            <a:solidFill>
              <a:srgbClr val="F26419"/>
            </a:solidFill>
            <a:prstDash val="solid"/>
          </a:ln>
        </p:spPr>
      </p:sp>
      <p:sp>
        <p:nvSpPr>
          <p:cNvPr id="25" name="Text 23"/>
          <p:cNvSpPr/>
          <p:nvPr/>
        </p:nvSpPr>
        <p:spPr>
          <a:xfrm>
            <a:off x="6583680" y="2377440"/>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larger datasets and categories</a:t>
            </a:r>
            <a:endParaRPr lang="en-US" sz="870" dirty="0"/>
          </a:p>
        </p:txBody>
      </p:sp>
      <p:sp>
        <p:nvSpPr>
          <p:cNvPr id="26" name="Shape 24"/>
          <p:cNvSpPr/>
          <p:nvPr/>
        </p:nvSpPr>
        <p:spPr>
          <a:xfrm>
            <a:off x="6428232" y="2825496"/>
            <a:ext cx="82296" cy="82296"/>
          </a:xfrm>
          <a:prstGeom prst="ellipse">
            <a:avLst/>
          </a:prstGeom>
          <a:solidFill>
            <a:srgbClr val="F26419"/>
          </a:solidFill>
          <a:ln w="12700">
            <a:solidFill>
              <a:srgbClr val="F26419"/>
            </a:solidFill>
            <a:prstDash val="solid"/>
          </a:ln>
        </p:spPr>
      </p:sp>
      <p:sp>
        <p:nvSpPr>
          <p:cNvPr id="27" name="Text 25"/>
          <p:cNvSpPr/>
          <p:nvPr/>
        </p:nvSpPr>
        <p:spPr>
          <a:xfrm>
            <a:off x="6583680" y="2770632"/>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extended attack models</a:t>
            </a:r>
            <a:endParaRPr lang="en-US" sz="870" dirty="0"/>
          </a:p>
        </p:txBody>
      </p:sp>
      <p:sp>
        <p:nvSpPr>
          <p:cNvPr id="28" name="Shape 26"/>
          <p:cNvSpPr/>
          <p:nvPr/>
        </p:nvSpPr>
        <p:spPr>
          <a:xfrm>
            <a:off x="6428232" y="3218688"/>
            <a:ext cx="82296" cy="82296"/>
          </a:xfrm>
          <a:prstGeom prst="ellipse">
            <a:avLst/>
          </a:prstGeom>
          <a:solidFill>
            <a:srgbClr val="F26419"/>
          </a:solidFill>
          <a:ln w="12700">
            <a:solidFill>
              <a:srgbClr val="F26419"/>
            </a:solidFill>
            <a:prstDash val="solid"/>
          </a:ln>
        </p:spPr>
      </p:sp>
      <p:sp>
        <p:nvSpPr>
          <p:cNvPr id="29" name="Text 27"/>
          <p:cNvSpPr/>
          <p:nvPr/>
        </p:nvSpPr>
        <p:spPr>
          <a:xfrm>
            <a:off x="6583680" y="3163824"/>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uncertainty-aware triage</a:t>
            </a:r>
            <a:endParaRPr lang="en-US" sz="870" dirty="0"/>
          </a:p>
        </p:txBody>
      </p:sp>
      <p:sp>
        <p:nvSpPr>
          <p:cNvPr id="30" name="Shape 28"/>
          <p:cNvSpPr/>
          <p:nvPr/>
        </p:nvSpPr>
        <p:spPr>
          <a:xfrm>
            <a:off x="6428232" y="3611880"/>
            <a:ext cx="82296" cy="82296"/>
          </a:xfrm>
          <a:prstGeom prst="ellipse">
            <a:avLst/>
          </a:prstGeom>
          <a:solidFill>
            <a:srgbClr val="F26419"/>
          </a:solidFill>
          <a:ln w="12700">
            <a:solidFill>
              <a:srgbClr val="F26419"/>
            </a:solidFill>
            <a:prstDash val="solid"/>
          </a:ln>
        </p:spPr>
      </p:sp>
      <p:sp>
        <p:nvSpPr>
          <p:cNvPr id="31" name="Text 29"/>
          <p:cNvSpPr/>
          <p:nvPr/>
        </p:nvSpPr>
        <p:spPr>
          <a:xfrm>
            <a:off x="6583680" y="3557016"/>
            <a:ext cx="464515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stronger validation protocols</a:t>
            </a:r>
            <a:endParaRPr lang="en-US" sz="870" dirty="0"/>
          </a:p>
        </p:txBody>
      </p:sp>
      <p:sp>
        <p:nvSpPr>
          <p:cNvPr id="32" name="Shape 30"/>
          <p:cNvSpPr/>
          <p:nvPr/>
        </p:nvSpPr>
        <p:spPr>
          <a:xfrm>
            <a:off x="1051560" y="5184648"/>
            <a:ext cx="10104120" cy="658368"/>
          </a:xfrm>
          <a:prstGeom prst="roundRect">
            <a:avLst>
              <a:gd name="adj" fmla="val 11111"/>
            </a:avLst>
          </a:prstGeom>
          <a:solidFill>
            <a:srgbClr val="071B4D"/>
          </a:solidFill>
          <a:ln w="12700">
            <a:solidFill>
              <a:srgbClr val="071B4D"/>
            </a:solidFill>
            <a:prstDash val="solid"/>
          </a:ln>
        </p:spPr>
      </p:sp>
      <p:sp>
        <p:nvSpPr>
          <p:cNvPr id="33" name="Text 31"/>
          <p:cNvSpPr/>
          <p:nvPr/>
        </p:nvSpPr>
        <p:spPr>
          <a:xfrm>
            <a:off x="1325880" y="5376672"/>
            <a:ext cx="9555480" cy="29260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rPr>
              <a:t>Final takeaway: AI-assisted forensic triage should be evaluated not only for accuracy,</a:t>
            </a:r>
            <a:endParaRPr lang="en-US" sz="1400" dirty="0"/>
          </a:p>
          <a:p>
            <a:pPr algn="ctr" indent="0" marL="0">
              <a:buNone/>
            </a:pPr>
            <a:r>
              <a:rPr lang="en-US" sz="1400" b="1" dirty="0">
                <a:solidFill>
                  <a:srgbClr val="FFFFFF"/>
                </a:solidFill>
              </a:rPr>
              <a:t>but for operational robustness under manipulated inputs.</a:t>
            </a:r>
            <a:endParaRPr lang="en-US" sz="1400" dirty="0"/>
          </a:p>
        </p:txBody>
      </p:sp>
      <p:sp>
        <p:nvSpPr>
          <p:cNvPr id="34" name="Text 32"/>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15</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Backup: Metric Definitions</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For Q&amp;A</a:t>
            </a:r>
            <a:endParaRPr lang="en-US" sz="880" dirty="0"/>
          </a:p>
        </p:txBody>
      </p:sp>
      <p:sp>
        <p:nvSpPr>
          <p:cNvPr id="8" name="Shape 6"/>
          <p:cNvSpPr/>
          <p:nvPr/>
        </p:nvSpPr>
        <p:spPr>
          <a:xfrm>
            <a:off x="914400" y="1234440"/>
            <a:ext cx="4800600" cy="603504"/>
          </a:xfrm>
          <a:prstGeom prst="roundRect">
            <a:avLst>
              <a:gd name="adj" fmla="val 12121"/>
            </a:avLst>
          </a:prstGeom>
          <a:solidFill>
            <a:srgbClr val="FFFFFF"/>
          </a:solidFill>
          <a:ln w="12700">
            <a:solidFill>
              <a:srgbClr val="D6DEE8"/>
            </a:solidFill>
            <a:prstDash val="solid"/>
          </a:ln>
        </p:spPr>
      </p:sp>
      <p:sp>
        <p:nvSpPr>
          <p:cNvPr id="9" name="Text 7"/>
          <p:cNvSpPr/>
          <p:nvPr/>
        </p:nvSpPr>
        <p:spPr>
          <a:xfrm>
            <a:off x="1078992" y="1435608"/>
            <a:ext cx="685800" cy="109728"/>
          </a:xfrm>
          <a:prstGeom prst="rect">
            <a:avLst/>
          </a:prstGeom>
          <a:noFill/>
          <a:ln/>
        </p:spPr>
        <p:txBody>
          <a:bodyPr wrap="square" lIns="0" tIns="0" rIns="0" bIns="0" rtlCol="0" anchor="ctr"/>
          <a:lstStyle/>
          <a:p>
            <a:pPr indent="0" marL="0">
              <a:buNone/>
            </a:pPr>
            <a:r>
              <a:rPr lang="en-US" sz="1000" b="1" dirty="0">
                <a:solidFill>
                  <a:srgbClr val="F26419"/>
                </a:solidFill>
              </a:rPr>
              <a:t>TP</a:t>
            </a:r>
            <a:endParaRPr lang="en-US" sz="1000" dirty="0"/>
          </a:p>
        </p:txBody>
      </p:sp>
      <p:sp>
        <p:nvSpPr>
          <p:cNvPr id="10" name="Text 8"/>
          <p:cNvSpPr/>
          <p:nvPr/>
        </p:nvSpPr>
        <p:spPr>
          <a:xfrm>
            <a:off x="1920240" y="1417320"/>
            <a:ext cx="3611880" cy="128016"/>
          </a:xfrm>
          <a:prstGeom prst="rect">
            <a:avLst/>
          </a:prstGeom>
          <a:noFill/>
          <a:ln/>
        </p:spPr>
        <p:txBody>
          <a:bodyPr wrap="square" lIns="0" tIns="0" rIns="0" bIns="0" rtlCol="0" anchor="ctr">
            <a:normAutofit/>
          </a:bodyPr>
          <a:lstStyle/>
          <a:p>
            <a:pPr indent="0" marL="0">
              <a:buNone/>
            </a:pPr>
            <a:r>
              <a:rPr lang="en-US" sz="960" dirty="0">
                <a:solidFill>
                  <a:srgbClr val="071B4D"/>
                </a:solidFill>
              </a:rPr>
              <a:t>weapon image correctly flagged as weapon</a:t>
            </a:r>
            <a:endParaRPr lang="en-US" sz="960" dirty="0"/>
          </a:p>
        </p:txBody>
      </p:sp>
      <p:sp>
        <p:nvSpPr>
          <p:cNvPr id="11" name="Shape 9"/>
          <p:cNvSpPr/>
          <p:nvPr/>
        </p:nvSpPr>
        <p:spPr>
          <a:xfrm>
            <a:off x="6309360" y="1234440"/>
            <a:ext cx="4800600" cy="603504"/>
          </a:xfrm>
          <a:prstGeom prst="roundRect">
            <a:avLst>
              <a:gd name="adj" fmla="val 12121"/>
            </a:avLst>
          </a:prstGeom>
          <a:solidFill>
            <a:srgbClr val="FFFFFF"/>
          </a:solidFill>
          <a:ln w="12700">
            <a:solidFill>
              <a:srgbClr val="D6DEE8"/>
            </a:solidFill>
            <a:prstDash val="solid"/>
          </a:ln>
        </p:spPr>
      </p:sp>
      <p:sp>
        <p:nvSpPr>
          <p:cNvPr id="12" name="Text 10"/>
          <p:cNvSpPr/>
          <p:nvPr/>
        </p:nvSpPr>
        <p:spPr>
          <a:xfrm>
            <a:off x="6473952" y="1435608"/>
            <a:ext cx="685800" cy="109728"/>
          </a:xfrm>
          <a:prstGeom prst="rect">
            <a:avLst/>
          </a:prstGeom>
          <a:noFill/>
          <a:ln/>
        </p:spPr>
        <p:txBody>
          <a:bodyPr wrap="square" lIns="0" tIns="0" rIns="0" bIns="0" rtlCol="0" anchor="ctr"/>
          <a:lstStyle/>
          <a:p>
            <a:pPr indent="0" marL="0">
              <a:buNone/>
            </a:pPr>
            <a:r>
              <a:rPr lang="en-US" sz="1000" b="1" dirty="0">
                <a:solidFill>
                  <a:srgbClr val="F26419"/>
                </a:solidFill>
              </a:rPr>
              <a:t>FP</a:t>
            </a:r>
            <a:endParaRPr lang="en-US" sz="1000" dirty="0"/>
          </a:p>
        </p:txBody>
      </p:sp>
      <p:sp>
        <p:nvSpPr>
          <p:cNvPr id="13" name="Text 11"/>
          <p:cNvSpPr/>
          <p:nvPr/>
        </p:nvSpPr>
        <p:spPr>
          <a:xfrm>
            <a:off x="7315200" y="1417320"/>
            <a:ext cx="3611880" cy="128016"/>
          </a:xfrm>
          <a:prstGeom prst="rect">
            <a:avLst/>
          </a:prstGeom>
          <a:noFill/>
          <a:ln/>
        </p:spPr>
        <p:txBody>
          <a:bodyPr wrap="square" lIns="0" tIns="0" rIns="0" bIns="0" rtlCol="0" anchor="ctr">
            <a:normAutofit/>
          </a:bodyPr>
          <a:lstStyle/>
          <a:p>
            <a:pPr indent="0" marL="0">
              <a:buNone/>
            </a:pPr>
            <a:r>
              <a:rPr lang="en-US" sz="960" dirty="0">
                <a:solidFill>
                  <a:srgbClr val="071B4D"/>
                </a:solidFill>
              </a:rPr>
              <a:t>non-weapon image incorrectly flagged as weapon</a:t>
            </a:r>
            <a:endParaRPr lang="en-US" sz="960" dirty="0"/>
          </a:p>
        </p:txBody>
      </p:sp>
      <p:sp>
        <p:nvSpPr>
          <p:cNvPr id="14" name="Shape 12"/>
          <p:cNvSpPr/>
          <p:nvPr/>
        </p:nvSpPr>
        <p:spPr>
          <a:xfrm>
            <a:off x="914400" y="2148840"/>
            <a:ext cx="4800600" cy="603504"/>
          </a:xfrm>
          <a:prstGeom prst="roundRect">
            <a:avLst>
              <a:gd name="adj" fmla="val 12121"/>
            </a:avLst>
          </a:prstGeom>
          <a:solidFill>
            <a:srgbClr val="FFFFFF"/>
          </a:solidFill>
          <a:ln w="12700">
            <a:solidFill>
              <a:srgbClr val="D6DEE8"/>
            </a:solidFill>
            <a:prstDash val="solid"/>
          </a:ln>
        </p:spPr>
      </p:sp>
      <p:sp>
        <p:nvSpPr>
          <p:cNvPr id="15" name="Text 13"/>
          <p:cNvSpPr/>
          <p:nvPr/>
        </p:nvSpPr>
        <p:spPr>
          <a:xfrm>
            <a:off x="1078992" y="2350008"/>
            <a:ext cx="685800" cy="109728"/>
          </a:xfrm>
          <a:prstGeom prst="rect">
            <a:avLst/>
          </a:prstGeom>
          <a:noFill/>
          <a:ln/>
        </p:spPr>
        <p:txBody>
          <a:bodyPr wrap="square" lIns="0" tIns="0" rIns="0" bIns="0" rtlCol="0" anchor="ctr"/>
          <a:lstStyle/>
          <a:p>
            <a:pPr indent="0" marL="0">
              <a:buNone/>
            </a:pPr>
            <a:r>
              <a:rPr lang="en-US" sz="1000" b="1" dirty="0">
                <a:solidFill>
                  <a:srgbClr val="F26419"/>
                </a:solidFill>
              </a:rPr>
              <a:t>FN</a:t>
            </a:r>
            <a:endParaRPr lang="en-US" sz="1000" dirty="0"/>
          </a:p>
        </p:txBody>
      </p:sp>
      <p:sp>
        <p:nvSpPr>
          <p:cNvPr id="16" name="Text 14"/>
          <p:cNvSpPr/>
          <p:nvPr/>
        </p:nvSpPr>
        <p:spPr>
          <a:xfrm>
            <a:off x="1920240" y="2331720"/>
            <a:ext cx="3611880" cy="128016"/>
          </a:xfrm>
          <a:prstGeom prst="rect">
            <a:avLst/>
          </a:prstGeom>
          <a:noFill/>
          <a:ln/>
        </p:spPr>
        <p:txBody>
          <a:bodyPr wrap="square" lIns="0" tIns="0" rIns="0" bIns="0" rtlCol="0" anchor="ctr">
            <a:normAutofit/>
          </a:bodyPr>
          <a:lstStyle/>
          <a:p>
            <a:pPr indent="0" marL="0">
              <a:buNone/>
            </a:pPr>
            <a:r>
              <a:rPr lang="en-US" sz="960" dirty="0">
                <a:solidFill>
                  <a:srgbClr val="071B4D"/>
                </a:solidFill>
              </a:rPr>
              <a:t>weapon image missed or mapped as non-weapon/unknown depending on metric</a:t>
            </a:r>
            <a:endParaRPr lang="en-US" sz="960" dirty="0"/>
          </a:p>
        </p:txBody>
      </p:sp>
      <p:sp>
        <p:nvSpPr>
          <p:cNvPr id="17" name="Shape 15"/>
          <p:cNvSpPr/>
          <p:nvPr/>
        </p:nvSpPr>
        <p:spPr>
          <a:xfrm>
            <a:off x="6309360" y="2148840"/>
            <a:ext cx="4800600" cy="603504"/>
          </a:xfrm>
          <a:prstGeom prst="roundRect">
            <a:avLst>
              <a:gd name="adj" fmla="val 12121"/>
            </a:avLst>
          </a:prstGeom>
          <a:solidFill>
            <a:srgbClr val="FFFFFF"/>
          </a:solidFill>
          <a:ln w="12700">
            <a:solidFill>
              <a:srgbClr val="D6DEE8"/>
            </a:solidFill>
            <a:prstDash val="solid"/>
          </a:ln>
        </p:spPr>
      </p:sp>
      <p:sp>
        <p:nvSpPr>
          <p:cNvPr id="18" name="Text 16"/>
          <p:cNvSpPr/>
          <p:nvPr/>
        </p:nvSpPr>
        <p:spPr>
          <a:xfrm>
            <a:off x="6473952" y="2350008"/>
            <a:ext cx="685800" cy="109728"/>
          </a:xfrm>
          <a:prstGeom prst="rect">
            <a:avLst/>
          </a:prstGeom>
          <a:noFill/>
          <a:ln/>
        </p:spPr>
        <p:txBody>
          <a:bodyPr wrap="square" lIns="0" tIns="0" rIns="0" bIns="0" rtlCol="0" anchor="ctr"/>
          <a:lstStyle/>
          <a:p>
            <a:pPr indent="0" marL="0">
              <a:buNone/>
            </a:pPr>
            <a:r>
              <a:rPr lang="en-US" sz="1000" b="1" dirty="0">
                <a:solidFill>
                  <a:srgbClr val="F26419"/>
                </a:solidFill>
              </a:rPr>
              <a:t>TN</a:t>
            </a:r>
            <a:endParaRPr lang="en-US" sz="1000" dirty="0"/>
          </a:p>
        </p:txBody>
      </p:sp>
      <p:sp>
        <p:nvSpPr>
          <p:cNvPr id="19" name="Text 17"/>
          <p:cNvSpPr/>
          <p:nvPr/>
        </p:nvSpPr>
        <p:spPr>
          <a:xfrm>
            <a:off x="7315200" y="2331720"/>
            <a:ext cx="3611880" cy="128016"/>
          </a:xfrm>
          <a:prstGeom prst="rect">
            <a:avLst/>
          </a:prstGeom>
          <a:noFill/>
          <a:ln/>
        </p:spPr>
        <p:txBody>
          <a:bodyPr wrap="square" lIns="0" tIns="0" rIns="0" bIns="0" rtlCol="0" anchor="ctr">
            <a:normAutofit/>
          </a:bodyPr>
          <a:lstStyle/>
          <a:p>
            <a:pPr indent="0" marL="0">
              <a:buNone/>
            </a:pPr>
            <a:r>
              <a:rPr lang="en-US" sz="960" dirty="0">
                <a:solidFill>
                  <a:srgbClr val="071B4D"/>
                </a:solidFill>
              </a:rPr>
              <a:t>non-weapon image correctly not flagged as weapon</a:t>
            </a:r>
            <a:endParaRPr lang="en-US" sz="960" dirty="0"/>
          </a:p>
        </p:txBody>
      </p:sp>
      <p:sp>
        <p:nvSpPr>
          <p:cNvPr id="20" name="Shape 18"/>
          <p:cNvSpPr/>
          <p:nvPr/>
        </p:nvSpPr>
        <p:spPr>
          <a:xfrm>
            <a:off x="914400" y="3063240"/>
            <a:ext cx="4800600" cy="603504"/>
          </a:xfrm>
          <a:prstGeom prst="roundRect">
            <a:avLst>
              <a:gd name="adj" fmla="val 12121"/>
            </a:avLst>
          </a:prstGeom>
          <a:solidFill>
            <a:srgbClr val="FFFFFF"/>
          </a:solidFill>
          <a:ln w="12700">
            <a:solidFill>
              <a:srgbClr val="D6DEE8"/>
            </a:solidFill>
            <a:prstDash val="solid"/>
          </a:ln>
        </p:spPr>
      </p:sp>
      <p:sp>
        <p:nvSpPr>
          <p:cNvPr id="21" name="Text 19"/>
          <p:cNvSpPr/>
          <p:nvPr/>
        </p:nvSpPr>
        <p:spPr>
          <a:xfrm>
            <a:off x="1078992" y="3264408"/>
            <a:ext cx="685800" cy="109728"/>
          </a:xfrm>
          <a:prstGeom prst="rect">
            <a:avLst/>
          </a:prstGeom>
          <a:noFill/>
          <a:ln/>
        </p:spPr>
        <p:txBody>
          <a:bodyPr wrap="square" lIns="0" tIns="0" rIns="0" bIns="0" rtlCol="0" anchor="ctr"/>
          <a:lstStyle/>
          <a:p>
            <a:pPr indent="0" marL="0">
              <a:buNone/>
            </a:pPr>
            <a:r>
              <a:rPr lang="en-US" sz="1000" b="1" dirty="0">
                <a:solidFill>
                  <a:srgbClr val="F26419"/>
                </a:solidFill>
              </a:rPr>
              <a:t>FNR</a:t>
            </a:r>
            <a:endParaRPr lang="en-US" sz="1000" dirty="0"/>
          </a:p>
        </p:txBody>
      </p:sp>
      <p:sp>
        <p:nvSpPr>
          <p:cNvPr id="22" name="Text 20"/>
          <p:cNvSpPr/>
          <p:nvPr/>
        </p:nvSpPr>
        <p:spPr>
          <a:xfrm>
            <a:off x="1920240" y="3246120"/>
            <a:ext cx="3611880" cy="128016"/>
          </a:xfrm>
          <a:prstGeom prst="rect">
            <a:avLst/>
          </a:prstGeom>
          <a:noFill/>
          <a:ln/>
        </p:spPr>
        <p:txBody>
          <a:bodyPr wrap="square" lIns="0" tIns="0" rIns="0" bIns="0" rtlCol="0" anchor="ctr">
            <a:normAutofit/>
          </a:bodyPr>
          <a:lstStyle/>
          <a:p>
            <a:pPr indent="0" marL="0">
              <a:buNone/>
            </a:pPr>
            <a:r>
              <a:rPr lang="en-US" sz="960" dirty="0">
                <a:solidFill>
                  <a:srgbClr val="071B4D"/>
                </a:solidFill>
              </a:rPr>
              <a:t>FN / (TP + FN)</a:t>
            </a:r>
            <a:endParaRPr lang="en-US" sz="960" dirty="0"/>
          </a:p>
        </p:txBody>
      </p:sp>
      <p:sp>
        <p:nvSpPr>
          <p:cNvPr id="23" name="Shape 21"/>
          <p:cNvSpPr/>
          <p:nvPr/>
        </p:nvSpPr>
        <p:spPr>
          <a:xfrm>
            <a:off x="6309360" y="3063240"/>
            <a:ext cx="4800600" cy="603504"/>
          </a:xfrm>
          <a:prstGeom prst="roundRect">
            <a:avLst>
              <a:gd name="adj" fmla="val 12121"/>
            </a:avLst>
          </a:prstGeom>
          <a:solidFill>
            <a:srgbClr val="FFFFFF"/>
          </a:solidFill>
          <a:ln w="12700">
            <a:solidFill>
              <a:srgbClr val="D6DEE8"/>
            </a:solidFill>
            <a:prstDash val="solid"/>
          </a:ln>
        </p:spPr>
      </p:sp>
      <p:sp>
        <p:nvSpPr>
          <p:cNvPr id="24" name="Text 22"/>
          <p:cNvSpPr/>
          <p:nvPr/>
        </p:nvSpPr>
        <p:spPr>
          <a:xfrm>
            <a:off x="6473952" y="3264408"/>
            <a:ext cx="685800" cy="109728"/>
          </a:xfrm>
          <a:prstGeom prst="rect">
            <a:avLst/>
          </a:prstGeom>
          <a:noFill/>
          <a:ln/>
        </p:spPr>
        <p:txBody>
          <a:bodyPr wrap="square" lIns="0" tIns="0" rIns="0" bIns="0" rtlCol="0" anchor="ctr"/>
          <a:lstStyle/>
          <a:p>
            <a:pPr indent="0" marL="0">
              <a:buNone/>
            </a:pPr>
            <a:r>
              <a:rPr lang="en-US" sz="1000" b="1" dirty="0">
                <a:solidFill>
                  <a:srgbClr val="F26419"/>
                </a:solidFill>
              </a:rPr>
              <a:t>FPR</a:t>
            </a:r>
            <a:endParaRPr lang="en-US" sz="1000" dirty="0"/>
          </a:p>
        </p:txBody>
      </p:sp>
      <p:sp>
        <p:nvSpPr>
          <p:cNvPr id="25" name="Text 23"/>
          <p:cNvSpPr/>
          <p:nvPr/>
        </p:nvSpPr>
        <p:spPr>
          <a:xfrm>
            <a:off x="7315200" y="3246120"/>
            <a:ext cx="3611880" cy="128016"/>
          </a:xfrm>
          <a:prstGeom prst="rect">
            <a:avLst/>
          </a:prstGeom>
          <a:noFill/>
          <a:ln/>
        </p:spPr>
        <p:txBody>
          <a:bodyPr wrap="square" lIns="0" tIns="0" rIns="0" bIns="0" rtlCol="0" anchor="ctr">
            <a:normAutofit/>
          </a:bodyPr>
          <a:lstStyle/>
          <a:p>
            <a:pPr indent="0" marL="0">
              <a:buNone/>
            </a:pPr>
            <a:r>
              <a:rPr lang="en-US" sz="960" dirty="0">
                <a:solidFill>
                  <a:srgbClr val="071B4D"/>
                </a:solidFill>
              </a:rPr>
              <a:t>FP / (FP + TN)</a:t>
            </a:r>
            <a:endParaRPr lang="en-US" sz="960" dirty="0"/>
          </a:p>
        </p:txBody>
      </p:sp>
      <p:sp>
        <p:nvSpPr>
          <p:cNvPr id="26" name="Shape 24"/>
          <p:cNvSpPr/>
          <p:nvPr/>
        </p:nvSpPr>
        <p:spPr>
          <a:xfrm>
            <a:off x="914400" y="3977640"/>
            <a:ext cx="4800600" cy="603504"/>
          </a:xfrm>
          <a:prstGeom prst="roundRect">
            <a:avLst>
              <a:gd name="adj" fmla="val 12121"/>
            </a:avLst>
          </a:prstGeom>
          <a:solidFill>
            <a:srgbClr val="FFFFFF"/>
          </a:solidFill>
          <a:ln w="12700">
            <a:solidFill>
              <a:srgbClr val="D6DEE8"/>
            </a:solidFill>
            <a:prstDash val="solid"/>
          </a:ln>
        </p:spPr>
      </p:sp>
      <p:sp>
        <p:nvSpPr>
          <p:cNvPr id="27" name="Text 25"/>
          <p:cNvSpPr/>
          <p:nvPr/>
        </p:nvSpPr>
        <p:spPr>
          <a:xfrm>
            <a:off x="1078992" y="4178808"/>
            <a:ext cx="685800" cy="109728"/>
          </a:xfrm>
          <a:prstGeom prst="rect">
            <a:avLst/>
          </a:prstGeom>
          <a:noFill/>
          <a:ln/>
        </p:spPr>
        <p:txBody>
          <a:bodyPr wrap="square" lIns="0" tIns="0" rIns="0" bIns="0" rtlCol="0" anchor="ctr"/>
          <a:lstStyle/>
          <a:p>
            <a:pPr indent="0" marL="0">
              <a:buNone/>
            </a:pPr>
            <a:r>
              <a:rPr lang="en-US" sz="1000" b="1" dirty="0">
                <a:solidFill>
                  <a:srgbClr val="F26419"/>
                </a:solidFill>
              </a:rPr>
              <a:t>Unknown rate</a:t>
            </a:r>
            <a:endParaRPr lang="en-US" sz="1000" dirty="0"/>
          </a:p>
        </p:txBody>
      </p:sp>
      <p:sp>
        <p:nvSpPr>
          <p:cNvPr id="28" name="Text 26"/>
          <p:cNvSpPr/>
          <p:nvPr/>
        </p:nvSpPr>
        <p:spPr>
          <a:xfrm>
            <a:off x="1920240" y="4160520"/>
            <a:ext cx="3611880" cy="128016"/>
          </a:xfrm>
          <a:prstGeom prst="rect">
            <a:avLst/>
          </a:prstGeom>
          <a:noFill/>
          <a:ln/>
        </p:spPr>
        <p:txBody>
          <a:bodyPr wrap="square" lIns="0" tIns="0" rIns="0" bIns="0" rtlCol="0" anchor="ctr">
            <a:normAutofit/>
          </a:bodyPr>
          <a:lstStyle/>
          <a:p>
            <a:pPr indent="0" marL="0">
              <a:buNone/>
            </a:pPr>
            <a:r>
              <a:rPr lang="en-US" sz="960" dirty="0">
                <a:solidFill>
                  <a:srgbClr val="071B4D"/>
                </a:solidFill>
              </a:rPr>
              <a:t>share of outputs not mapped to binary classes</a:t>
            </a:r>
            <a:endParaRPr lang="en-US" sz="960" dirty="0"/>
          </a:p>
        </p:txBody>
      </p:sp>
      <p:sp>
        <p:nvSpPr>
          <p:cNvPr id="29" name="Shape 27"/>
          <p:cNvSpPr/>
          <p:nvPr/>
        </p:nvSpPr>
        <p:spPr>
          <a:xfrm>
            <a:off x="6309360" y="3977640"/>
            <a:ext cx="4800600" cy="603504"/>
          </a:xfrm>
          <a:prstGeom prst="roundRect">
            <a:avLst>
              <a:gd name="adj" fmla="val 12121"/>
            </a:avLst>
          </a:prstGeom>
          <a:solidFill>
            <a:srgbClr val="FFFFFF"/>
          </a:solidFill>
          <a:ln w="12700">
            <a:solidFill>
              <a:srgbClr val="D6DEE8"/>
            </a:solidFill>
            <a:prstDash val="solid"/>
          </a:ln>
        </p:spPr>
      </p:sp>
      <p:sp>
        <p:nvSpPr>
          <p:cNvPr id="30" name="Text 28"/>
          <p:cNvSpPr/>
          <p:nvPr/>
        </p:nvSpPr>
        <p:spPr>
          <a:xfrm>
            <a:off x="6473952" y="4178808"/>
            <a:ext cx="685800" cy="109728"/>
          </a:xfrm>
          <a:prstGeom prst="rect">
            <a:avLst/>
          </a:prstGeom>
          <a:noFill/>
          <a:ln/>
        </p:spPr>
        <p:txBody>
          <a:bodyPr wrap="square" lIns="0" tIns="0" rIns="0" bIns="0" rtlCol="0" anchor="ctr"/>
          <a:lstStyle/>
          <a:p>
            <a:pPr indent="0" marL="0">
              <a:buNone/>
            </a:pPr>
            <a:r>
              <a:rPr lang="en-US" sz="1000" b="1" dirty="0">
                <a:solidFill>
                  <a:srgbClr val="F26419"/>
                </a:solidFill>
              </a:rPr>
              <a:t>OOD weapon-flag rate</a:t>
            </a:r>
            <a:endParaRPr lang="en-US" sz="1000" dirty="0"/>
          </a:p>
        </p:txBody>
      </p:sp>
      <p:sp>
        <p:nvSpPr>
          <p:cNvPr id="31" name="Text 29"/>
          <p:cNvSpPr/>
          <p:nvPr/>
        </p:nvSpPr>
        <p:spPr>
          <a:xfrm>
            <a:off x="7315200" y="4160520"/>
            <a:ext cx="3611880" cy="128016"/>
          </a:xfrm>
          <a:prstGeom prst="rect">
            <a:avLst/>
          </a:prstGeom>
          <a:noFill/>
          <a:ln/>
        </p:spPr>
        <p:txBody>
          <a:bodyPr wrap="square" lIns="0" tIns="0" rIns="0" bIns="0" rtlCol="0" anchor="ctr">
            <a:normAutofit/>
          </a:bodyPr>
          <a:lstStyle/>
          <a:p>
            <a:pPr indent="0" marL="0">
              <a:buNone/>
            </a:pPr>
            <a:r>
              <a:rPr lang="en-US" sz="960" dirty="0">
                <a:solidFill>
                  <a:srgbClr val="071B4D"/>
                </a:solidFill>
              </a:rPr>
              <a:t>share of OOD images mapped to weapon</a:t>
            </a:r>
            <a:endParaRPr lang="en-US" sz="960" dirty="0"/>
          </a:p>
        </p:txBody>
      </p:sp>
      <p:sp>
        <p:nvSpPr>
          <p:cNvPr id="32" name="Text 30"/>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16</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Backup: Why OOD Remains Clean</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Separation between distribution shift and perturbation robustness</a:t>
            </a:r>
            <a:endParaRPr lang="en-US" sz="880" dirty="0"/>
          </a:p>
        </p:txBody>
      </p:sp>
      <p:sp>
        <p:nvSpPr>
          <p:cNvPr id="8" name="Shape 6"/>
          <p:cNvSpPr/>
          <p:nvPr/>
        </p:nvSpPr>
        <p:spPr>
          <a:xfrm>
            <a:off x="914400" y="1417320"/>
            <a:ext cx="10378440" cy="914400"/>
          </a:xfrm>
          <a:prstGeom prst="roundRect">
            <a:avLst>
              <a:gd name="adj" fmla="val 8000"/>
            </a:avLst>
          </a:prstGeom>
          <a:solidFill>
            <a:srgbClr val="EAF7F7"/>
          </a:solidFill>
          <a:ln w="12700">
            <a:solidFill>
              <a:srgbClr val="0E8A8A"/>
            </a:solidFill>
            <a:prstDash val="solid"/>
          </a:ln>
        </p:spPr>
      </p:sp>
      <p:sp>
        <p:nvSpPr>
          <p:cNvPr id="9" name="Text 7"/>
          <p:cNvSpPr/>
          <p:nvPr/>
        </p:nvSpPr>
        <p:spPr>
          <a:xfrm>
            <a:off x="1280160" y="1737360"/>
            <a:ext cx="9692640" cy="164592"/>
          </a:xfrm>
          <a:prstGeom prst="rect">
            <a:avLst/>
          </a:prstGeom>
          <a:noFill/>
          <a:ln/>
        </p:spPr>
        <p:txBody>
          <a:bodyPr wrap="square" lIns="0" tIns="0" rIns="0" bIns="0" rtlCol="0" anchor="ctr"/>
          <a:lstStyle/>
          <a:p>
            <a:pPr algn="ctr" indent="0" marL="0">
              <a:buNone/>
            </a:pPr>
            <a:r>
              <a:rPr lang="en-US" sz="1400" b="1" dirty="0">
                <a:solidFill>
                  <a:srgbClr val="071B4D"/>
                </a:solidFill>
              </a:rPr>
              <a:t>OOD is used to test how systems react to unfamiliar images, not how they react to attacked images.</a:t>
            </a:r>
            <a:endParaRPr lang="en-US" sz="1400" dirty="0"/>
          </a:p>
        </p:txBody>
      </p:sp>
      <p:sp>
        <p:nvSpPr>
          <p:cNvPr id="10" name="Shape 8"/>
          <p:cNvSpPr/>
          <p:nvPr/>
        </p:nvSpPr>
        <p:spPr>
          <a:xfrm>
            <a:off x="1051560" y="2788920"/>
            <a:ext cx="4800600" cy="1920240"/>
          </a:xfrm>
          <a:prstGeom prst="roundRect">
            <a:avLst>
              <a:gd name="adj" fmla="val 3810"/>
            </a:avLst>
          </a:prstGeom>
          <a:solidFill>
            <a:srgbClr val="FFFFFF"/>
          </a:solidFill>
          <a:ln w="12700">
            <a:solidFill>
              <a:srgbClr val="D6DEE8"/>
            </a:solidFill>
            <a:prstDash val="solid"/>
          </a:ln>
        </p:spPr>
      </p:sp>
      <p:sp>
        <p:nvSpPr>
          <p:cNvPr id="11" name="Shape 9"/>
          <p:cNvSpPr/>
          <p:nvPr/>
        </p:nvSpPr>
        <p:spPr>
          <a:xfrm>
            <a:off x="1051560" y="2788920"/>
            <a:ext cx="4800600" cy="429768"/>
          </a:xfrm>
          <a:prstGeom prst="roundRect">
            <a:avLst>
              <a:gd name="adj" fmla="val 17021"/>
            </a:avLst>
          </a:prstGeom>
          <a:solidFill>
            <a:srgbClr val="0E8A8A"/>
          </a:solidFill>
          <a:ln w="12700">
            <a:solidFill>
              <a:srgbClr val="0E8A8A"/>
            </a:solidFill>
            <a:prstDash val="solid"/>
          </a:ln>
        </p:spPr>
      </p:sp>
      <p:sp>
        <p:nvSpPr>
          <p:cNvPr id="12" name="Text 10"/>
          <p:cNvSpPr/>
          <p:nvPr/>
        </p:nvSpPr>
        <p:spPr>
          <a:xfrm>
            <a:off x="1161288" y="2889504"/>
            <a:ext cx="4581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What OOD measures</a:t>
            </a:r>
            <a:endParaRPr lang="en-US" sz="1030" dirty="0"/>
          </a:p>
        </p:txBody>
      </p:sp>
      <p:sp>
        <p:nvSpPr>
          <p:cNvPr id="13" name="Shape 11"/>
          <p:cNvSpPr/>
          <p:nvPr/>
        </p:nvSpPr>
        <p:spPr>
          <a:xfrm>
            <a:off x="1216152" y="3502152"/>
            <a:ext cx="82296" cy="82296"/>
          </a:xfrm>
          <a:prstGeom prst="ellipse">
            <a:avLst/>
          </a:prstGeom>
          <a:solidFill>
            <a:srgbClr val="0E8A8A"/>
          </a:solidFill>
          <a:ln w="12700">
            <a:solidFill>
              <a:srgbClr val="0E8A8A"/>
            </a:solidFill>
            <a:prstDash val="solid"/>
          </a:ln>
        </p:spPr>
      </p:sp>
      <p:sp>
        <p:nvSpPr>
          <p:cNvPr id="14" name="Text 12"/>
          <p:cNvSpPr/>
          <p:nvPr/>
        </p:nvSpPr>
        <p:spPr>
          <a:xfrm>
            <a:off x="1371600" y="3447288"/>
            <a:ext cx="4325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tendency to map unfamiliar content into weapon</a:t>
            </a:r>
            <a:endParaRPr lang="en-US" sz="870" dirty="0"/>
          </a:p>
        </p:txBody>
      </p:sp>
      <p:sp>
        <p:nvSpPr>
          <p:cNvPr id="15" name="Shape 13"/>
          <p:cNvSpPr/>
          <p:nvPr/>
        </p:nvSpPr>
        <p:spPr>
          <a:xfrm>
            <a:off x="1216152" y="3895344"/>
            <a:ext cx="82296" cy="82296"/>
          </a:xfrm>
          <a:prstGeom prst="ellipse">
            <a:avLst/>
          </a:prstGeom>
          <a:solidFill>
            <a:srgbClr val="0E8A8A"/>
          </a:solidFill>
          <a:ln w="12700">
            <a:solidFill>
              <a:srgbClr val="0E8A8A"/>
            </a:solidFill>
            <a:prstDash val="solid"/>
          </a:ln>
        </p:spPr>
      </p:sp>
      <p:sp>
        <p:nvSpPr>
          <p:cNvPr id="16" name="Text 14"/>
          <p:cNvSpPr/>
          <p:nvPr/>
        </p:nvSpPr>
        <p:spPr>
          <a:xfrm>
            <a:off x="1371600" y="3840480"/>
            <a:ext cx="4325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confidence under distribution shift</a:t>
            </a:r>
            <a:endParaRPr lang="en-US" sz="870" dirty="0"/>
          </a:p>
        </p:txBody>
      </p:sp>
      <p:sp>
        <p:nvSpPr>
          <p:cNvPr id="17" name="Shape 15"/>
          <p:cNvSpPr/>
          <p:nvPr/>
        </p:nvSpPr>
        <p:spPr>
          <a:xfrm>
            <a:off x="1216152" y="4288536"/>
            <a:ext cx="82296" cy="82296"/>
          </a:xfrm>
          <a:prstGeom prst="ellipse">
            <a:avLst/>
          </a:prstGeom>
          <a:solidFill>
            <a:srgbClr val="0E8A8A"/>
          </a:solidFill>
          <a:ln w="12700">
            <a:solidFill>
              <a:srgbClr val="0E8A8A"/>
            </a:solidFill>
            <a:prstDash val="solid"/>
          </a:ln>
        </p:spPr>
      </p:sp>
      <p:sp>
        <p:nvSpPr>
          <p:cNvPr id="18" name="Text 16"/>
          <p:cNvSpPr/>
          <p:nvPr/>
        </p:nvSpPr>
        <p:spPr>
          <a:xfrm>
            <a:off x="1371600" y="4233672"/>
            <a:ext cx="4325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separation from the binary task</a:t>
            </a:r>
            <a:endParaRPr lang="en-US" sz="870" dirty="0"/>
          </a:p>
        </p:txBody>
      </p:sp>
      <p:sp>
        <p:nvSpPr>
          <p:cNvPr id="19" name="Shape 17"/>
          <p:cNvSpPr/>
          <p:nvPr/>
        </p:nvSpPr>
        <p:spPr>
          <a:xfrm>
            <a:off x="6309360" y="2788920"/>
            <a:ext cx="4800600" cy="1920240"/>
          </a:xfrm>
          <a:prstGeom prst="roundRect">
            <a:avLst>
              <a:gd name="adj" fmla="val 3810"/>
            </a:avLst>
          </a:prstGeom>
          <a:solidFill>
            <a:srgbClr val="FFFFFF"/>
          </a:solidFill>
          <a:ln w="12700">
            <a:solidFill>
              <a:srgbClr val="D6DEE8"/>
            </a:solidFill>
            <a:prstDash val="solid"/>
          </a:ln>
        </p:spPr>
      </p:sp>
      <p:sp>
        <p:nvSpPr>
          <p:cNvPr id="20" name="Shape 18"/>
          <p:cNvSpPr/>
          <p:nvPr/>
        </p:nvSpPr>
        <p:spPr>
          <a:xfrm>
            <a:off x="6309360" y="2788920"/>
            <a:ext cx="4800600" cy="429768"/>
          </a:xfrm>
          <a:prstGeom prst="roundRect">
            <a:avLst>
              <a:gd name="adj" fmla="val 17021"/>
            </a:avLst>
          </a:prstGeom>
          <a:solidFill>
            <a:srgbClr val="F26419"/>
          </a:solidFill>
          <a:ln w="12700">
            <a:solidFill>
              <a:srgbClr val="F26419"/>
            </a:solidFill>
            <a:prstDash val="solid"/>
          </a:ln>
        </p:spPr>
      </p:sp>
      <p:sp>
        <p:nvSpPr>
          <p:cNvPr id="21" name="Text 19"/>
          <p:cNvSpPr/>
          <p:nvPr/>
        </p:nvSpPr>
        <p:spPr>
          <a:xfrm>
            <a:off x="6419088" y="2889504"/>
            <a:ext cx="4581144" cy="201168"/>
          </a:xfrm>
          <a:prstGeom prst="rect">
            <a:avLst/>
          </a:prstGeom>
          <a:noFill/>
          <a:ln/>
        </p:spPr>
        <p:txBody>
          <a:bodyPr wrap="square" lIns="0" tIns="0" rIns="0" bIns="0" rtlCol="0" anchor="ctr">
            <a:normAutofit/>
          </a:bodyPr>
          <a:lstStyle/>
          <a:p>
            <a:pPr indent="0" marL="0">
              <a:buNone/>
            </a:pPr>
            <a:r>
              <a:rPr lang="en-US" sz="1030" b="1" dirty="0">
                <a:solidFill>
                  <a:srgbClr val="FFFFFF"/>
                </a:solidFill>
              </a:rPr>
              <a:t>Why not perturb OOD</a:t>
            </a:r>
            <a:endParaRPr lang="en-US" sz="1030" dirty="0"/>
          </a:p>
        </p:txBody>
      </p:sp>
      <p:sp>
        <p:nvSpPr>
          <p:cNvPr id="22" name="Shape 20"/>
          <p:cNvSpPr/>
          <p:nvPr/>
        </p:nvSpPr>
        <p:spPr>
          <a:xfrm>
            <a:off x="6473952" y="3502152"/>
            <a:ext cx="82296" cy="82296"/>
          </a:xfrm>
          <a:prstGeom prst="ellipse">
            <a:avLst/>
          </a:prstGeom>
          <a:solidFill>
            <a:srgbClr val="F26419"/>
          </a:solidFill>
          <a:ln w="12700">
            <a:solidFill>
              <a:srgbClr val="F26419"/>
            </a:solidFill>
            <a:prstDash val="solid"/>
          </a:ln>
        </p:spPr>
      </p:sp>
      <p:sp>
        <p:nvSpPr>
          <p:cNvPr id="23" name="Text 21"/>
          <p:cNvSpPr/>
          <p:nvPr/>
        </p:nvSpPr>
        <p:spPr>
          <a:xfrm>
            <a:off x="6629400" y="3447288"/>
            <a:ext cx="4325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avoids mixing two stressors</a:t>
            </a:r>
            <a:endParaRPr lang="en-US" sz="870" dirty="0"/>
          </a:p>
        </p:txBody>
      </p:sp>
      <p:sp>
        <p:nvSpPr>
          <p:cNvPr id="24" name="Shape 22"/>
          <p:cNvSpPr/>
          <p:nvPr/>
        </p:nvSpPr>
        <p:spPr>
          <a:xfrm>
            <a:off x="6473952" y="3895344"/>
            <a:ext cx="82296" cy="82296"/>
          </a:xfrm>
          <a:prstGeom prst="ellipse">
            <a:avLst/>
          </a:prstGeom>
          <a:solidFill>
            <a:srgbClr val="F26419"/>
          </a:solidFill>
          <a:ln w="12700">
            <a:solidFill>
              <a:srgbClr val="F26419"/>
            </a:solidFill>
            <a:prstDash val="solid"/>
          </a:ln>
        </p:spPr>
      </p:sp>
      <p:sp>
        <p:nvSpPr>
          <p:cNvPr id="25" name="Text 23"/>
          <p:cNvSpPr/>
          <p:nvPr/>
        </p:nvSpPr>
        <p:spPr>
          <a:xfrm>
            <a:off x="6629400" y="3840480"/>
            <a:ext cx="4325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keeps interpretation clean</a:t>
            </a:r>
            <a:endParaRPr lang="en-US" sz="870" dirty="0"/>
          </a:p>
        </p:txBody>
      </p:sp>
      <p:sp>
        <p:nvSpPr>
          <p:cNvPr id="26" name="Shape 24"/>
          <p:cNvSpPr/>
          <p:nvPr/>
        </p:nvSpPr>
        <p:spPr>
          <a:xfrm>
            <a:off x="6473952" y="4288536"/>
            <a:ext cx="82296" cy="82296"/>
          </a:xfrm>
          <a:prstGeom prst="ellipse">
            <a:avLst/>
          </a:prstGeom>
          <a:solidFill>
            <a:srgbClr val="F26419"/>
          </a:solidFill>
          <a:ln w="12700">
            <a:solidFill>
              <a:srgbClr val="F26419"/>
            </a:solidFill>
            <a:prstDash val="solid"/>
          </a:ln>
        </p:spPr>
      </p:sp>
      <p:sp>
        <p:nvSpPr>
          <p:cNvPr id="27" name="Text 25"/>
          <p:cNvSpPr/>
          <p:nvPr/>
        </p:nvSpPr>
        <p:spPr>
          <a:xfrm>
            <a:off x="6629400" y="4233672"/>
            <a:ext cx="4325112" cy="228600"/>
          </a:xfrm>
          <a:prstGeom prst="rect">
            <a:avLst/>
          </a:prstGeom>
          <a:noFill/>
          <a:ln/>
        </p:spPr>
        <p:txBody>
          <a:bodyPr wrap="square" lIns="0" tIns="0" rIns="0" bIns="0" rtlCol="0" anchor="ctr">
            <a:normAutofit/>
          </a:bodyPr>
          <a:lstStyle/>
          <a:p>
            <a:pPr indent="0" marL="0">
              <a:buNone/>
            </a:pPr>
            <a:r>
              <a:rPr lang="en-US" sz="870" dirty="0">
                <a:solidFill>
                  <a:srgbClr val="071B4D"/>
                </a:solidFill>
              </a:rPr>
              <a:t>preserves experimental traceability</a:t>
            </a:r>
            <a:endParaRPr lang="en-US" sz="870" dirty="0"/>
          </a:p>
        </p:txBody>
      </p:sp>
      <p:sp>
        <p:nvSpPr>
          <p:cNvPr id="28" name="Text 26"/>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17</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1737360" y="-1188720"/>
            <a:ext cx="3840480" cy="3840480"/>
          </a:xfrm>
          <a:prstGeom prst="arc">
            <a:avLst/>
          </a:prstGeom>
          <a:noFill/>
          <a:ln w="12700">
            <a:solidFill>
              <a:srgbClr val="E6EEF7">
                <a:alpha val="65000"/>
              </a:srgbClr>
            </a:solidFill>
            <a:prstDash val="solid"/>
          </a:ln>
        </p:spPr>
      </p:sp>
      <p:sp>
        <p:nvSpPr>
          <p:cNvPr id="4" name="Shape 2"/>
          <p:cNvSpPr/>
          <p:nvPr/>
        </p:nvSpPr>
        <p:spPr>
          <a:xfrm>
            <a:off x="9966960" y="5120640"/>
            <a:ext cx="3474720" cy="3474720"/>
          </a:xfrm>
          <a:prstGeom prst="arc">
            <a:avLst/>
          </a:prstGeom>
          <a:noFill/>
          <a:ln w="15240">
            <a:solidFill>
              <a:srgbClr val="FFE0CC">
                <a:alpha val="65000"/>
              </a:srgbClr>
            </a:solidFill>
            <a:prstDash val="solid"/>
          </a:ln>
        </p:spPr>
      </p:sp>
      <p:sp>
        <p:nvSpPr>
          <p:cNvPr id="5" name="Text 3"/>
          <p:cNvSpPr/>
          <p:nvPr/>
        </p:nvSpPr>
        <p:spPr>
          <a:xfrm>
            <a:off x="530352" y="228600"/>
            <a:ext cx="9966960" cy="411480"/>
          </a:xfrm>
          <a:prstGeom prst="rect">
            <a:avLst/>
          </a:prstGeom>
          <a:noFill/>
          <a:ln/>
        </p:spPr>
        <p:txBody>
          <a:bodyPr wrap="square" lIns="0" tIns="0" rIns="0" bIns="0" rtlCol="0" anchor="ctr">
            <a:normAutofit/>
          </a:bodyPr>
          <a:lstStyle/>
          <a:p>
            <a:pPr indent="0" marL="0">
              <a:buNone/>
            </a:pPr>
            <a:r>
              <a:rPr lang="en-US" sz="2500" b="1" dirty="0">
                <a:solidFill>
                  <a:srgbClr val="071B4D"/>
                </a:solidFill>
                <a:latin typeface="Aptos Display" pitchFamily="34" charset="0"/>
                <a:ea typeface="Aptos Display" pitchFamily="34" charset="-122"/>
                <a:cs typeface="Aptos Display" pitchFamily="34" charset="-120"/>
              </a:rPr>
              <a:t>Backup: Why Proxy Models Are Needed</a:t>
            </a:r>
            <a:endParaRPr lang="en-US" sz="2500" dirty="0"/>
          </a:p>
        </p:txBody>
      </p:sp>
      <p:sp>
        <p:nvSpPr>
          <p:cNvPr id="6" name="Shape 4"/>
          <p:cNvSpPr/>
          <p:nvPr/>
        </p:nvSpPr>
        <p:spPr>
          <a:xfrm>
            <a:off x="530352" y="758952"/>
            <a:ext cx="713232" cy="50292"/>
          </a:xfrm>
          <a:prstGeom prst="rect">
            <a:avLst/>
          </a:prstGeom>
          <a:solidFill>
            <a:srgbClr val="F26419"/>
          </a:solidFill>
          <a:ln w="12700">
            <a:solidFill>
              <a:srgbClr val="F26419"/>
            </a:solidFill>
            <a:prstDash val="solid"/>
          </a:ln>
        </p:spPr>
      </p:sp>
      <p:sp>
        <p:nvSpPr>
          <p:cNvPr id="7" name="Text 5"/>
          <p:cNvSpPr/>
          <p:nvPr/>
        </p:nvSpPr>
        <p:spPr>
          <a:xfrm>
            <a:off x="1353312" y="694944"/>
            <a:ext cx="9784080" cy="256032"/>
          </a:xfrm>
          <a:prstGeom prst="rect">
            <a:avLst/>
          </a:prstGeom>
          <a:noFill/>
          <a:ln/>
        </p:spPr>
        <p:txBody>
          <a:bodyPr wrap="square" lIns="0" tIns="0" rIns="0" bIns="0" rtlCol="0" anchor="ctr">
            <a:normAutofit/>
          </a:bodyPr>
          <a:lstStyle/>
          <a:p>
            <a:pPr indent="0" marL="0">
              <a:buNone/>
            </a:pPr>
            <a:r>
              <a:rPr lang="en-US" sz="880" dirty="0">
                <a:solidFill>
                  <a:srgbClr val="64748B"/>
                </a:solidFill>
              </a:rPr>
              <a:t>Controlled access unavailable in commercial tools</a:t>
            </a:r>
            <a:endParaRPr lang="en-US" sz="880" dirty="0"/>
          </a:p>
        </p:txBody>
      </p:sp>
      <p:sp>
        <p:nvSpPr>
          <p:cNvPr id="8" name="Text 6"/>
          <p:cNvSpPr/>
          <p:nvPr/>
        </p:nvSpPr>
        <p:spPr>
          <a:xfrm>
            <a:off x="1051560" y="1417320"/>
            <a:ext cx="4937760" cy="1828800"/>
          </a:xfrm>
          <a:prstGeom prst="rect">
            <a:avLst/>
          </a:prstGeom>
          <a:noFill/>
          <a:ln/>
        </p:spPr>
        <p:txBody>
          <a:bodyPr wrap="square" lIns="762" tIns="762" rIns="762" bIns="762" rtlCol="0" anchor="ctr">
            <a:normAutofit/>
          </a:bodyPr>
          <a:lstStyle/>
          <a:p>
            <a:pPr indent="0" marL="0">
              <a:buNone/>
            </a:pPr>
            <a:r>
              <a:rPr lang="en-US" sz="1600" dirty="0">
                <a:solidFill>
                  <a:srgbClr val="071B4D"/>
                </a:solidFill>
              </a:rPr>
              <a:t>• Gradients for adversarial generation</a:t>
            </a:r>
            <a:endParaRPr lang="en-US" sz="1600" dirty="0"/>
          </a:p>
          <a:p>
            <a:pPr indent="0" marL="0">
              <a:buNone/>
            </a:pPr>
            <a:r>
              <a:rPr lang="en-US" sz="1600" dirty="0">
                <a:solidFill>
                  <a:srgbClr val="071B4D"/>
                </a:solidFill>
              </a:rPr>
              <a:t>• Confidence values and true-label confidence</a:t>
            </a:r>
            <a:endParaRPr lang="en-US" sz="1600" dirty="0"/>
          </a:p>
          <a:p>
            <a:pPr indent="0" marL="0">
              <a:buNone/>
            </a:pPr>
            <a:r>
              <a:rPr lang="en-US" sz="1600" dirty="0">
                <a:solidFill>
                  <a:srgbClr val="071B4D"/>
                </a:solidFill>
              </a:rPr>
              <a:t>• Confusion matrices and fold-aware evaluation</a:t>
            </a:r>
            <a:endParaRPr lang="en-US" sz="1600" dirty="0"/>
          </a:p>
          <a:p>
            <a:pPr indent="0" marL="0">
              <a:buNone/>
            </a:pPr>
            <a:r>
              <a:rPr lang="en-US" sz="1600" dirty="0">
                <a:solidFill>
                  <a:srgbClr val="071B4D"/>
                </a:solidFill>
              </a:rPr>
              <a:t>• XAI heatmaps and attribution maps</a:t>
            </a:r>
            <a:endParaRPr lang="en-US" sz="1600" dirty="0"/>
          </a:p>
          <a:p>
            <a:pPr indent="0" marL="0">
              <a:buNone/>
            </a:pPr>
            <a:r>
              <a:rPr lang="en-US" sz="1600" dirty="0">
                <a:solidFill>
                  <a:srgbClr val="071B4D"/>
                </a:solidFill>
              </a:rPr>
              <a:t>• Reproducible stress testing</a:t>
            </a:r>
            <a:endParaRPr lang="en-US" sz="1600" dirty="0"/>
          </a:p>
        </p:txBody>
      </p:sp>
      <p:sp>
        <p:nvSpPr>
          <p:cNvPr id="9" name="Shape 7"/>
          <p:cNvSpPr/>
          <p:nvPr/>
        </p:nvSpPr>
        <p:spPr>
          <a:xfrm>
            <a:off x="6492240" y="1417320"/>
            <a:ext cx="4480560" cy="2514600"/>
          </a:xfrm>
          <a:prstGeom prst="roundRect">
            <a:avLst>
              <a:gd name="adj" fmla="val 2909"/>
            </a:avLst>
          </a:prstGeom>
          <a:solidFill>
            <a:srgbClr val="EEF5FF"/>
          </a:solidFill>
          <a:ln w="12700">
            <a:solidFill>
              <a:srgbClr val="071B4D"/>
            </a:solidFill>
            <a:prstDash val="solid"/>
          </a:ln>
        </p:spPr>
      </p:sp>
      <p:sp>
        <p:nvSpPr>
          <p:cNvPr id="10" name="Text 8"/>
          <p:cNvSpPr/>
          <p:nvPr/>
        </p:nvSpPr>
        <p:spPr>
          <a:xfrm>
            <a:off x="6812280" y="2148840"/>
            <a:ext cx="3840480" cy="530352"/>
          </a:xfrm>
          <a:prstGeom prst="rect">
            <a:avLst/>
          </a:prstGeom>
          <a:noFill/>
          <a:ln/>
        </p:spPr>
        <p:txBody>
          <a:bodyPr wrap="square" lIns="0" tIns="0" rIns="0" bIns="0" rtlCol="0" anchor="ctr">
            <a:normAutofit/>
          </a:bodyPr>
          <a:lstStyle/>
          <a:p>
            <a:pPr algn="ctr" indent="0" marL="0">
              <a:buNone/>
            </a:pPr>
            <a:r>
              <a:rPr lang="en-US" sz="1500" b="1" dirty="0">
                <a:solidFill>
                  <a:srgbClr val="071B4D"/>
                </a:solidFill>
              </a:rPr>
              <a:t>Commercial tools remain necessary for operational realism,</a:t>
            </a:r>
            <a:endParaRPr lang="en-US" sz="1500" dirty="0"/>
          </a:p>
          <a:p>
            <a:pPr algn="ctr" indent="0" marL="0">
              <a:buNone/>
            </a:pPr>
            <a:r>
              <a:rPr lang="en-US" sz="1500" b="1" dirty="0">
                <a:solidFill>
                  <a:srgbClr val="071B4D"/>
                </a:solidFill>
              </a:rPr>
              <a:t>but proxy models provide experimental control.</a:t>
            </a:r>
            <a:endParaRPr lang="en-US" sz="1500" dirty="0"/>
          </a:p>
        </p:txBody>
      </p:sp>
      <p:sp>
        <p:nvSpPr>
          <p:cNvPr id="11" name="Shape 9"/>
          <p:cNvSpPr/>
          <p:nvPr/>
        </p:nvSpPr>
        <p:spPr>
          <a:xfrm>
            <a:off x="1097280" y="4754880"/>
            <a:ext cx="9966960" cy="566928"/>
          </a:xfrm>
          <a:prstGeom prst="roundRect">
            <a:avLst>
              <a:gd name="adj" fmla="val 12903"/>
            </a:avLst>
          </a:prstGeom>
          <a:solidFill>
            <a:srgbClr val="FFF1E8"/>
          </a:solidFill>
          <a:ln w="12700">
            <a:solidFill>
              <a:srgbClr val="F26419"/>
            </a:solidFill>
            <a:prstDash val="solid"/>
          </a:ln>
        </p:spPr>
      </p:sp>
      <p:sp>
        <p:nvSpPr>
          <p:cNvPr id="12" name="Text 10"/>
          <p:cNvSpPr/>
          <p:nvPr/>
        </p:nvSpPr>
        <p:spPr>
          <a:xfrm>
            <a:off x="1417320" y="4965192"/>
            <a:ext cx="9326880" cy="137160"/>
          </a:xfrm>
          <a:prstGeom prst="rect">
            <a:avLst/>
          </a:prstGeom>
          <a:noFill/>
          <a:ln/>
        </p:spPr>
        <p:txBody>
          <a:bodyPr wrap="square" lIns="0" tIns="0" rIns="0" bIns="0" rtlCol="0" anchor="ctr"/>
          <a:lstStyle/>
          <a:p>
            <a:pPr algn="ctr" indent="0" marL="0">
              <a:buNone/>
            </a:pPr>
            <a:r>
              <a:rPr lang="en-US" sz="1200" b="1" dirty="0">
                <a:solidFill>
                  <a:srgbClr val="071B4D"/>
                </a:solidFill>
              </a:rPr>
              <a:t>Proxy and black-box evaluation are complementary, not interchangeable.</a:t>
            </a:r>
            <a:endParaRPr lang="en-US" sz="1200" dirty="0"/>
          </a:p>
        </p:txBody>
      </p:sp>
      <p:sp>
        <p:nvSpPr>
          <p:cNvPr id="13" name="Text 11"/>
          <p:cNvSpPr/>
          <p:nvPr/>
        </p:nvSpPr>
        <p:spPr>
          <a:xfrm>
            <a:off x="11475720" y="6537960"/>
            <a:ext cx="365760" cy="146304"/>
          </a:xfrm>
          <a:prstGeom prst="rect">
            <a:avLst/>
          </a:prstGeom>
          <a:noFill/>
          <a:ln/>
        </p:spPr>
        <p:txBody>
          <a:bodyPr wrap="square" lIns="0" tIns="0" rIns="0" bIns="0" rtlCol="0" anchor="ctr"/>
          <a:lstStyle/>
          <a:p>
            <a:pPr algn="r" indent="0" marL="0">
              <a:buNone/>
            </a:pPr>
            <a:r>
              <a:rPr lang="en-US" sz="700" dirty="0">
                <a:solidFill>
                  <a:srgbClr val="64748B"/>
                </a:solidFill>
              </a:rPr>
              <a:t>18</a:t>
            </a:r>
            <a:endParaRPr lang="en-US" sz="700" dirty="0"/>
          </a:p>
        </p:txBody>
      </p:sp>
      <p:sp>
        <p:nvSpPr>
          <p:cNvPr id="25" name="Slide Number Placeholder 0"/>
          <p:cNvSpPr>
            <a:spLocks noGrp="1"/>
          </p:cNvSpPr>
          <p:nvPr>
            <p:ph type="sldNum" sz="quarter" idx="4294967295"/>
          </p:nvPr>
        </p:nvSpPr>
        <p:spPr>
          <a:xfrm>
            <a:off x="11292840"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4748B"/>
                </a:solidFill>
              </a:defRPr>
            </a:lvl1pPr>
          </a:lstStyle>
          <a:p>
            <a:pPr algn="l"/>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University of Cagliari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the Robustness of AI-Based Forensic Tools under Adversarial and Anti-Forensic Attacks</dc:title>
  <dc:subject>Master thesis defense</dc:subject>
  <dc:creator>Lello Molinario</dc:creator>
  <cp:lastModifiedBy>Lello Molinario</cp:lastModifiedBy>
  <cp:revision>1</cp:revision>
  <dcterms:created xsi:type="dcterms:W3CDTF">2026-07-03T07:10:13Z</dcterms:created>
  <dcterms:modified xsi:type="dcterms:W3CDTF">2026-07-03T07:10:13Z</dcterms:modified>
</cp:coreProperties>
</file>