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3"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DF3415-FB48-4CB0-8F5F-0B47D517F724}" v="4" dt="2026-09-23T09:49:49.8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930" autoAdjust="0"/>
  </p:normalViewPr>
  <p:slideViewPr>
    <p:cSldViewPr snapToGrid="0" snapToObjects="1">
      <p:cViewPr varScale="1">
        <p:scale>
          <a:sx n="88" d="100"/>
          <a:sy n="88" d="100"/>
        </p:scale>
        <p:origin x="1356" y="72"/>
      </p:cViewPr>
      <p:guideLst/>
    </p:cSldViewPr>
  </p:slideViewPr>
  <p:notesTextViewPr>
    <p:cViewPr>
      <p:scale>
        <a:sx n="1" d="1"/>
        <a:sy n="1" d="1"/>
      </p:scale>
      <p:origin x="0" y="-6"/>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6/11/relationships/changesInfo" Target="changesInfos/changesInfo1.xml"/><Relationship Id="rId3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LLO MOLINARIO" userId="675167b3-0327-4eb0-b712-ad5d2d77a8a3" providerId="ADAL" clId="{9715378B-D33F-4C88-8CE1-003C56922897}"/>
    <pc:docChg chg="modSld">
      <pc:chgData name="LELLO MOLINARIO" userId="675167b3-0327-4eb0-b712-ad5d2d77a8a3" providerId="ADAL" clId="{9715378B-D33F-4C88-8CE1-003C56922897}" dt="2026-09-23T09:38:06.639" v="0" actId="20577"/>
      <pc:docMkLst>
        <pc:docMk/>
      </pc:docMkLst>
      <pc:sldChg chg="modNotesTx">
        <pc:chgData name="LELLO MOLINARIO" userId="675167b3-0327-4eb0-b712-ad5d2d77a8a3" providerId="ADAL" clId="{9715378B-D33F-4C88-8CE1-003C56922897}" dt="2026-09-23T09:38:06.639" v="0" actId="20577"/>
        <pc:sldMkLst>
          <pc:docMk/>
          <pc:sldMk cId="7108233" sldId="257"/>
        </pc:sldMkLst>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FNR · missed-target risk</c:v>
          </c:tx>
          <c:spPr>
            <a:solidFill>
              <a:srgbClr val="BE3C37"/>
            </a:solidFill>
          </c:spPr>
          <c:invertIfNegative val="1"/>
          <c:dLbls>
            <c:spPr>
              <a:noFill/>
              <a:ln>
                <a:noFill/>
              </a:ln>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7.0000000000000007E-2</c:v>
              </c:pt>
              <c:pt idx="1">
                <c:v>0.12</c:v>
              </c:pt>
              <c:pt idx="2">
                <c:v>4.2000000000000003E-2</c:v>
              </c:pt>
              <c:pt idx="3">
                <c:v>1.4E-2</c:v>
              </c:pt>
              <c:pt idx="4">
                <c:v>3.2000000000000001E-2</c:v>
              </c:pt>
              <c:pt idx="5">
                <c:v>3.5999999999999997E-2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173-4757-916B-D1825A920195}"/>
            </c:ext>
          </c:extLst>
        </c:ser>
        <c:ser>
          <c:idx val="1"/>
          <c:order val="1"/>
          <c:tx>
            <c:v>FPR · review workload</c:v>
          </c:tx>
          <c:spPr>
            <a:solidFill>
              <a:srgbClr val="C89B14"/>
            </a:solidFill>
          </c:spPr>
          <c:invertIfNegative val="1"/>
          <c:dLbls>
            <c:spPr>
              <a:noFill/>
              <a:ln>
                <a:noFill/>
              </a:ln>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0.03</c:v>
              </c:pt>
              <c:pt idx="1">
                <c:v>2.5999999999999999E-2</c:v>
              </c:pt>
              <c:pt idx="2">
                <c:v>7.0000000000000007E-2</c:v>
              </c:pt>
              <c:pt idx="3">
                <c:v>0.156</c:v>
              </c:pt>
              <c:pt idx="4">
                <c:v>0.04</c:v>
              </c:pt>
              <c:pt idx="5">
                <c:v>8.0000000000000002E-3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173-4757-916B-D1825A920195}"/>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75">
                <a:solidFill>
                  <a:srgbClr val="172033"/>
                </a:solidFill>
              </a:defRPr>
            </a:pPr>
            <a:endParaRPr lang="it-IT"/>
          </a:p>
        </c:txPr>
        <c:crossAx val="48650112"/>
        <c:crosses val="autoZero"/>
        <c:crossBetween val="between"/>
      </c:valAx>
      <c:spPr>
        <a:solidFill>
          <a:srgbClr val="F7F8FA"/>
        </a:solidFill>
        <a:ln w="0">
          <a:noFill/>
          <a:prstDash val="solid"/>
        </a:ln>
      </c:spPr>
    </c:plotArea>
    <c:legend>
      <c:legendPos val="b"/>
      <c:overlay val="0"/>
      <c:txPr>
        <a:bodyPr anchorCtr="1"/>
        <a:lstStyle/>
        <a:p>
          <a:pPr>
            <a:defRPr sz="1200">
              <a:solidFill>
                <a:srgbClr val="5B6577"/>
              </a:solidFill>
            </a:defRPr>
          </a:pPr>
          <a:endParaRPr lang="it-IT"/>
        </a:p>
      </c:txPr>
    </c:legend>
    <c:plotVisOnly val="1"/>
    <c:dispBlanksAs val="zero"/>
    <c:showDLblsOverMax val="1"/>
  </c:chart>
  <c:spPr>
    <a:solidFill>
      <a:srgbClr val="F7F8FA"/>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OOD weapon-assignment rate</c:v>
          </c:tx>
          <c:spPr>
            <a:solidFill>
              <a:srgbClr val="233A70"/>
            </a:solidFill>
          </c:spPr>
          <c:invertIfNegative val="1"/>
          <c:dPt>
            <c:idx val="2"/>
            <c:invertIfNegative val="0"/>
            <c:bubble3D val="0"/>
            <c:spPr>
              <a:solidFill>
                <a:srgbClr val="BE3C37"/>
              </a:solidFill>
            </c:spPr>
            <c:extLst>
              <c:ext xmlns:c16="http://schemas.microsoft.com/office/drawing/2014/chart" uri="{C3380CC4-5D6E-409C-BE32-E72D297353CC}">
                <c16:uniqueId val="{00000001-17A7-4A15-9920-6B2EF4D0E65B}"/>
              </c:ext>
            </c:extLst>
          </c:dPt>
          <c:dPt>
            <c:idx val="3"/>
            <c:invertIfNegative val="0"/>
            <c:bubble3D val="0"/>
            <c:spPr>
              <a:solidFill>
                <a:srgbClr val="087A50"/>
              </a:solidFill>
            </c:spPr>
            <c:extLst>
              <c:ext xmlns:c16="http://schemas.microsoft.com/office/drawing/2014/chart" uri="{C3380CC4-5D6E-409C-BE32-E72D297353CC}">
                <c16:uniqueId val="{00000003-17A7-4A15-9920-6B2EF4D0E65B}"/>
              </c:ext>
            </c:extLst>
          </c:dPt>
          <c:dPt>
            <c:idx val="4"/>
            <c:invertIfNegative val="0"/>
            <c:bubble3D val="0"/>
            <c:spPr>
              <a:solidFill>
                <a:srgbClr val="087A50"/>
              </a:solidFill>
            </c:spPr>
            <c:extLst>
              <c:ext xmlns:c16="http://schemas.microsoft.com/office/drawing/2014/chart" uri="{C3380CC4-5D6E-409C-BE32-E72D297353CC}">
                <c16:uniqueId val="{00000005-17A7-4A15-9920-6B2EF4D0E65B}"/>
              </c:ext>
            </c:extLst>
          </c:dPt>
          <c:dPt>
            <c:idx val="5"/>
            <c:invertIfNegative val="0"/>
            <c:bubble3D val="0"/>
            <c:spPr>
              <a:solidFill>
                <a:srgbClr val="087A50"/>
              </a:solidFill>
            </c:spPr>
            <c:extLst>
              <c:ext xmlns:c16="http://schemas.microsoft.com/office/drawing/2014/chart" uri="{C3380CC4-5D6E-409C-BE32-E72D297353CC}">
                <c16:uniqueId val="{00000007-17A7-4A15-9920-6B2EF4D0E65B}"/>
              </c:ext>
            </c:extLst>
          </c:dPt>
          <c:dPt>
            <c:idx val="6"/>
            <c:invertIfNegative val="0"/>
            <c:bubble3D val="0"/>
            <c:spPr>
              <a:solidFill>
                <a:srgbClr val="C89B14"/>
              </a:solidFill>
            </c:spPr>
            <c:extLst>
              <c:ext xmlns:c16="http://schemas.microsoft.com/office/drawing/2014/chart" uri="{C3380CC4-5D6E-409C-BE32-E72D297353CC}">
                <c16:uniqueId val="{00000009-17A7-4A15-9920-6B2EF4D0E65B}"/>
              </c:ext>
            </c:extLst>
          </c:dPt>
          <c:dPt>
            <c:idx val="7"/>
            <c:invertIfNegative val="0"/>
            <c:bubble3D val="0"/>
            <c:spPr>
              <a:solidFill>
                <a:srgbClr val="087A50"/>
              </a:solidFill>
            </c:spPr>
            <c:extLst>
              <c:ext xmlns:c16="http://schemas.microsoft.com/office/drawing/2014/chart" uri="{C3380CC4-5D6E-409C-BE32-E72D297353CC}">
                <c16:uniqueId val="{0000000B-17A7-4A15-9920-6B2EF4D0E65B}"/>
              </c:ext>
            </c:extLst>
          </c:dPt>
          <c:dPt>
            <c:idx val="8"/>
            <c:invertIfNegative val="0"/>
            <c:bubble3D val="0"/>
            <c:spPr>
              <a:solidFill>
                <a:srgbClr val="087A50"/>
              </a:solidFill>
            </c:spPr>
            <c:extLst>
              <c:ext xmlns:c16="http://schemas.microsoft.com/office/drawing/2014/chart" uri="{C3380CC4-5D6E-409C-BE32-E72D297353CC}">
                <c16:uniqueId val="{0000000D-17A7-4A15-9920-6B2EF4D0E65B}"/>
              </c:ext>
            </c:extLst>
          </c:dPt>
          <c:dLbls>
            <c:spPr>
              <a:noFill/>
              <a:ln>
                <a:noFill/>
              </a:ln>
            </c:spPr>
            <c:txPr>
              <a:bodyPr anchorCtr="1"/>
              <a:lstStyle/>
              <a:p>
                <a:pPr>
                  <a:defRPr sz="1050"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9"/>
              <c:pt idx="0">
                <c:v>EfficientNet-B0</c:v>
              </c:pt>
              <c:pt idx="1">
                <c:v>ResNet18</c:v>
              </c:pt>
              <c:pt idx="2">
                <c:v>CLIP proxy</c:v>
              </c:pt>
              <c:pt idx="3">
                <c:v>Magnet.AI</c:v>
              </c:pt>
              <c:pt idx="4">
                <c:v>Excire D20</c:v>
              </c:pt>
              <c:pt idx="5">
                <c:v>Excire D50</c:v>
              </c:pt>
              <c:pt idx="6">
                <c:v>Excire D80</c:v>
              </c:pt>
              <c:pt idx="7">
                <c:v>Cellebrite</c:v>
              </c:pt>
              <c:pt idx="8">
                <c:v>Griffeye / T3K</c:v>
              </c:pt>
            </c:strLit>
          </c:cat>
          <c:val>
            <c:numLit>
              <c:formatCode>0.0%</c:formatCode>
              <c:ptCount val="9"/>
              <c:pt idx="0">
                <c:v>0.36959999999999998</c:v>
              </c:pt>
              <c:pt idx="1">
                <c:v>0.43759999999999999</c:v>
              </c:pt>
              <c:pt idx="2">
                <c:v>0.83560000000000001</c:v>
              </c:pt>
              <c:pt idx="3">
                <c:v>0.36</c:v>
              </c:pt>
              <c:pt idx="4">
                <c:v>0.23799999999999999</c:v>
              </c:pt>
              <c:pt idx="5">
                <c:v>0.34</c:v>
              </c:pt>
              <c:pt idx="6">
                <c:v>0.52200000000000002</c:v>
              </c:pt>
              <c:pt idx="7">
                <c:v>0.29199999999999998</c:v>
              </c:pt>
              <c:pt idx="8">
                <c:v>0.26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E-17A7-4A15-9920-6B2EF4D0E65B}"/>
            </c:ext>
          </c:extLst>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00">
                <a:solidFill>
                  <a:srgbClr val="172033"/>
                </a:solidFill>
              </a:defRPr>
            </a:pPr>
            <a:endParaRPr lang="it-IT"/>
          </a:p>
        </c:txPr>
        <c:crossAx val="48650112"/>
        <c:crosses val="autoZero"/>
        <c:crossBetween val="between"/>
      </c:valAx>
      <c:spPr>
        <a:solidFill>
          <a:srgbClr val="F7F8FA"/>
        </a:solidFill>
        <a:ln w="0">
          <a:noFill/>
          <a:prstDash val="solid"/>
        </a:ln>
      </c:spPr>
    </c:plotArea>
    <c:plotVisOnly val="1"/>
    <c:dispBlanksAs val="zero"/>
    <c:showDLblsOverMax val="1"/>
  </c:chart>
  <c:spPr>
    <a:solidFill>
      <a:srgbClr val="F7F8FA"/>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0:00–0:40</a:t>
            </a:r>
          </a:p>
          <a:p/>
          <a:p>
            <a:r>
              <a:t>SPEAKER SCRIPT</a:t>
            </a:r>
          </a:p>
          <a:p>
            <a:r>
              <a:t>Good morning. My name is Lello Molinario, and today I will present my Master's thesis entitled “Evaluating the Robustness of AI-Based Forensic Tools under Adversarial and Anti-Forensic Attacks”.</a:t>
            </a:r>
          </a:p>
          <a:p/>
          <a:p>
            <a:r>
              <a:t>Artificial intelligence is increasingly integrated into digital forensic tools to help investigators analyze and classify relevant data. However, this introduces an important question: what happens when the data analyzed by these systems are intentionally manipulated to evade detection?</a:t>
            </a:r>
          </a:p>
          <a:p/>
          <a:p>
            <a:r>
              <a:t>The main goal of my thesis is to investigate the operational robustness of AI-based forensic tools under adversarial and anti-forensic conditions. To study this problem experimentally, I use automated image classification as a representative case study.</a:t>
            </a:r>
          </a:p>
          <a:p/>
          <a:p>
            <a:r>
              <a:t>MEMORY ANCHORS</a:t>
            </a:r>
          </a:p>
          <a:p>
            <a:r>
              <a:t>AI forensic tools → relevant data → manipulation → operational robustness → image classification as case study</a:t>
            </a:r>
          </a:p>
          <a:p/>
          <a:p>
            <a:r>
              <a:t>TRANSITION</a:t>
            </a:r>
          </a:p>
          <a:p>
            <a:r>
              <a:t>I will start from the operational risk that motivated this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0:40–1:25</a:t>
            </a:r>
          </a:p>
          <a:p/>
          <a:p>
            <a:r>
              <a:t>SPEAKER SCRIPT</a:t>
            </a:r>
          </a:p>
          <a:p>
            <a:r>
              <a:t>Digital investigations may involve very large amounts of data, and AI-based tools can help investigators prioritize what should be reviewed first.</a:t>
            </a:r>
          </a:p>
          <a:p/>
          <a:p>
            <a:r>
              <a:t>However, the main operational risk is a false negative. A false positive creates additional work for the analyst, but a false negative may silently move relevant evidence out of the priority queue.</a:t>
            </a:r>
          </a:p>
          <a:p/>
          <a:p>
            <a:r>
              <a:t>For this reason, good performance on clean data is not enough. The key question is how forensic triage behaves when the input is adversarial, anti-forensic, or out of distribution.</a:t>
            </a:r>
          </a:p>
          <a:p/>
          <a:p>
            <a:r>
              <a:t>My contribution is therefore an auditable robustness assessment, not the development of a new firearm classifier.</a:t>
            </a:r>
          </a:p>
          <a:p/>
          <a:p>
            <a:r>
              <a:t>MEMORY ANCHORS</a:t>
            </a:r>
          </a:p>
          <a:p>
            <a:r>
              <a:t>large data → AI triage → false positive = workload → false negative = silent exclusion → robustness</a:t>
            </a:r>
          </a:p>
          <a:p/>
          <a:p>
            <a:r>
              <a:t>TRANSITION</a:t>
            </a:r>
          </a:p>
          <a:p>
            <a:r>
              <a:t>To evaluate this problem systematically, I designed the FAIRLab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1:25–2:15</a:t>
            </a:r>
          </a:p>
          <a:p/>
          <a:p>
            <a:r>
              <a:t>SPEAKER SCRIPT</a:t>
            </a:r>
          </a:p>
          <a:p>
            <a:r>
              <a:t>FAIRLab is the experimental protocol used to make the robustness assessment traceable and auditable.</a:t>
            </a:r>
          </a:p>
          <a:p/>
          <a:p>
            <a:r>
              <a:t>It connects six stages. I start from a heterogeneous image pool, validate and deduplicate it, and then freeze the source population. Next, I generate controlled perturbations, evaluate both transparent proxy models and commercial black-box configurations, normalize the observable outputs, and finally interpret the results in forensic terms.</a:t>
            </a:r>
          </a:p>
          <a:p/>
          <a:p>
            <a:r>
              <a:t>Traceability is maintained throughout the process using deterministic identifiers, manifests, checksums, frozen configurations, and source-to-output links.</a:t>
            </a:r>
          </a:p>
          <a:p/>
          <a:p>
            <a:r>
              <a:t>This is important because every reported result must be connected back to the original source and to the exact experimental condition.</a:t>
            </a:r>
          </a:p>
          <a:p/>
          <a:p>
            <a:r>
              <a:t>MEMORY ANCHORS</a:t>
            </a:r>
          </a:p>
          <a:p>
            <a:r>
              <a:t>source → validate → freeze → perturb → evaluate → interpret → traceability throughout</a:t>
            </a:r>
          </a:p>
          <a:p/>
          <a:p>
            <a:r>
              <a:t>TRANSITION</a:t>
            </a:r>
          </a:p>
          <a:p>
            <a:r>
              <a:t>The next slide shows the exact experimental population behind every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2:15–2:55</a:t>
            </a:r>
          </a:p>
          <a:p/>
          <a:p>
            <a:r>
              <a:t>SPEAKER SCRIPT</a:t>
            </a:r>
          </a:p>
          <a:p>
            <a:r>
              <a:t>The frozen population contains 1,500 source images: 500 weapon, 500 non-weapon, and 500 images in a separate out-of-distribution branch.</a:t>
            </a:r>
          </a:p>
          <a:p/>
          <a:p>
            <a:r>
              <a:t>The 1,000 images belonging to the binary task are each linked to ten manipulated conditions, producing 10,000 adversarial and anti-forensic variants. Together with the 1,500 clean sources, the tool-facing bundle contains 11,500 files.</a:t>
            </a:r>
          </a:p>
          <a:p/>
          <a:p>
            <a:r>
              <a:t>An important point is that these 10,000 manipulated files are not independent cases. They remain source-condition variants linked to the original images. The OOD branch is also evaluated separately and is not treated as a third supervised class.</a:t>
            </a:r>
          </a:p>
          <a:p/>
          <a:p>
            <a:r>
              <a:t>MEMORY ANCHORS</a:t>
            </a:r>
          </a:p>
          <a:p>
            <a:r>
              <a:t>1,500 sources → 500 / 500 / 500 OOD → 10,000 linked variants → 11,500 files → OOD separate</a:t>
            </a:r>
          </a:p>
          <a:p/>
          <a:p>
            <a:r>
              <a:t>TRANSITION</a:t>
            </a:r>
          </a:p>
          <a:p>
            <a:r>
              <a:t>I then evaluate this same experimental basis at two different evidence levels.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2:55–3:50</a:t>
            </a:r>
          </a:p>
          <a:p/>
          <a:p>
            <a:r>
              <a:t>SPEAKER SCRIPT</a:t>
            </a:r>
          </a:p>
          <a:p>
            <a:r>
              <a:t>The evaluation uses two evidence levels.</a:t>
            </a:r>
          </a:p>
          <a:p/>
          <a:p>
            <a:r>
              <a:t>The first level consists of three transparent proxy models: EfficientNet-B0, ResNet18, and a CLIP-based proxy. These models allow inspection of predictions, gradients, and fold-aware checkpoints.</a:t>
            </a:r>
          </a:p>
          <a:p/>
          <a:p>
            <a:r>
              <a:t>The second level consists of four commercial black-box systems evaluated through six configurations. Here I can only observe analyst-visible outputs such as tags, bookmarks, labels, or semantic retrieval results.</a:t>
            </a:r>
          </a:p>
          <a:p/>
          <a:p>
            <a:r>
              <a:t>The threat-model distinction is essential. Model-dependent adversarial attacks are generated directly against EfficientNet-B0. When the same artifacts are evaluated on the other proxies or commercial systems, I measure empirical transfer, not a direct attack. Color Shift and the five anti-forensic transformations are model-agnostic conditions.</a:t>
            </a:r>
          </a:p>
          <a:p/>
          <a:p>
            <a:r>
              <a:t>MEMORY ANCHORS</a:t>
            </a:r>
          </a:p>
          <a:p>
            <a:r>
              <a:t>transparent proxies → black-box tools → direct target = EfficientNet-B0 → transfer elsewhere → model-agnostic conditions</a:t>
            </a:r>
          </a:p>
          <a:p/>
          <a:p>
            <a:r>
              <a:t>TRANSITION</a:t>
            </a:r>
          </a:p>
          <a:p>
            <a:r>
              <a:t>Because these systems expose different outputs, I need an explicit normalization step before comparing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3:50–4:40</a:t>
            </a:r>
          </a:p>
          <a:p/>
          <a:p>
            <a:r>
              <a:t>SPEAKER SCRIPT</a:t>
            </a:r>
          </a:p>
          <a:p>
            <a:r>
              <a:t>Commercial forensic tools do not expose one common prediction interface. Depending on the tool, the observable result may be a tag, a bookmark, a label, or a retrieval hit.</a:t>
            </a:r>
          </a:p>
          <a:p/>
          <a:p>
            <a:r>
              <a:t>For this reason, I freeze an output mapping for every tool version and configuration and normalize each observable result into three operational states: weapon, non-weapon, or unknown.</a:t>
            </a:r>
          </a:p>
          <a:p/>
          <a:p>
            <a:r>
              <a:t>This allows directional errors to be compared consistently. The false-negative rate represents missed-target risk, while the false-positive rate represents additional review workload. OOD weapon assignment is reported separately because OOD images do not belong to the supervised binary task.</a:t>
            </a:r>
          </a:p>
          <a:p/>
          <a:p>
            <a:r>
              <a:t>In the final 69,000 normalized commercial decisions, no unknown state occurred, but the protocol keeps this state explicit rather than silently treating unsupported output as negative.</a:t>
            </a:r>
          </a:p>
          <a:p/>
          <a:p>
            <a:r>
              <a:t>MEMORY ANCHORS</a:t>
            </a:r>
          </a:p>
          <a:p>
            <a:r>
              <a:t>heterogeneous outputs → frozen mapping → weapon / non_weapon / unknown → FNR = misses → FPR = workload → OOD separate</a:t>
            </a:r>
          </a:p>
          <a:p/>
          <a:p>
            <a:r>
              <a:t>TRANSITION</a:t>
            </a:r>
          </a:p>
          <a:p>
            <a:r>
              <a:t>With the comparison rules fixed, we can now examine the main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4:40–5:40</a:t>
            </a:r>
          </a:p>
          <a:p/>
          <a:p>
            <a:r>
              <a:t>SPEAKER SCRIPT</a:t>
            </a:r>
          </a:p>
          <a:p>
            <a:r>
              <a:t>This slide shows the difference between direct vulnerability and transferability.</a:t>
            </a:r>
          </a:p>
          <a:p/>
          <a:p>
            <a:r>
              <a:t>EfficientNet-B0 reaches 97.8 percent accuracy on clean data. Under the strongest direct Sigma Zero condition, accuracy falls to 1.5 percent, corresponding to a drop of 96.3 percentage points.</a:t>
            </a:r>
          </a:p>
          <a:p/>
          <a:p>
            <a:r>
              <a:t>However, the same generated artifacts do not transfer uniformly. The worst transferred accuracy is 91.8 percent for ResNet18 and 91.4 percent for the CLIP proxy.</a:t>
            </a:r>
          </a:p>
          <a:p/>
          <a:p>
            <a:r>
              <a:t>So these results support two different claims. EfficientNet-B0 shows a severe direct-target vulnerability, while cross-architecture transfer is much more limited in these frozen conditions.</a:t>
            </a:r>
          </a:p>
          <a:p/>
          <a:p>
            <a:r>
              <a:t>The largest aggregate anti-forensic proxy drop is smaller, at 3.0 percentage points, although directional errors still need to be considered.</a:t>
            </a:r>
          </a:p>
          <a:p/>
          <a:p>
            <a:r>
              <a:t>MEMORY ANCHORS</a:t>
            </a:r>
          </a:p>
          <a:p>
            <a:r>
              <a:t>97.8 clean → 1.5 Sigma Zero direct → −96.3 pp → limited transfer → anti-forensic aggregate drop smaller</a:t>
            </a:r>
          </a:p>
          <a:p/>
          <a:p>
            <a:r>
              <a:t>TRANSITION</a:t>
            </a:r>
          </a:p>
          <a:p>
            <a:r>
              <a:t>The commercial black-box results show that transfer is also strongly configuration-dependent.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5:40–6:35</a:t>
            </a:r>
          </a:p>
          <a:p/>
          <a:p>
            <a:r>
              <a:t>SPEAKER SCRIPT</a:t>
            </a:r>
          </a:p>
          <a:p>
            <a:r>
              <a:t>This heatmap summarizes empirical transfer on the commercial black-box configurations.</a:t>
            </a:r>
          </a:p>
          <a:p/>
          <a:p>
            <a:r>
              <a:t>I would not interpret every cell individually. The important message is heterogeneity: artifacts generated against EfficientNet-B0 produce different effects across different tools and even across different settings of the same tool.</a:t>
            </a:r>
          </a:p>
          <a:p/>
          <a:p>
            <a:r>
              <a:t>The largest observed transfer effects are produced by Sigma Zero on Excire D50 and D80, with accuracy drops of 20.2 and 25.8 percentage points.</a:t>
            </a:r>
          </a:p>
          <a:p/>
          <a:p>
            <a:r>
              <a:t>These are transfer results from EfficientNet-B0 artifacts. They are not direct attacks against the proprietary models, because their internal models and gradients are not available.</a:t>
            </a:r>
          </a:p>
          <a:p/>
          <a:p>
            <a:r>
              <a:t>For the same reason, this heatmap should be interpreted as a protocol-specific robustness profile, not as a universal ranking of products.</a:t>
            </a:r>
          </a:p>
          <a:p/>
          <a:p>
            <a:r>
              <a:t>MEMORY ANCHORS</a:t>
            </a:r>
          </a:p>
          <a:p>
            <a:r>
              <a:t>heatmap → heterogeneity → Sigma Zero → D50 −20.2 pp → D80 −25.8 pp → transfer, not direct attack</a:t>
            </a:r>
          </a:p>
          <a:p/>
          <a:p>
            <a:r>
              <a:t>TRANSITION</a:t>
            </a:r>
          </a:p>
          <a:p>
            <a:r>
              <a:t>Configuration choices also change the ordinary clean-condition trade-off between misses and review workload.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6:35–7:30</a:t>
            </a:r>
          </a:p>
          <a:p/>
          <a:p>
            <a:r>
              <a:t>SPEAKER SCRIPT</a:t>
            </a:r>
          </a:p>
          <a:p>
            <a:r>
              <a:t>This slide shows why one overall accuracy value is not enough for forensic triage.</a:t>
            </a:r>
          </a:p>
          <a:p/>
          <a:p>
            <a:r>
              <a:t>For Excire, moving from distance 20 to distance 80 reduces the missed-target rate from 12.0 percent to 1.4 percent. This looks positive from the perspective of silent exclusion.</a:t>
            </a:r>
          </a:p>
          <a:p/>
          <a:p>
            <a:r>
              <a:t>However, the false-positive rate increases from 2.6 to 15.6 percent, creating substantially more review work. At the same time, the OOD weapon-assignment rate increases from 23.8 to 52.2 percent.</a:t>
            </a:r>
          </a:p>
          <a:p/>
          <a:p>
            <a:r>
              <a:t>So no configuration simultaneously minimizes missed targets, review workload, and OOD assignments. The operating point must therefore be interpreted according to the forensic use case rather than by selecting a single headline metric.</a:t>
            </a:r>
          </a:p>
          <a:p/>
          <a:p>
            <a:r>
              <a:t>MEMORY ANCHORS</a:t>
            </a:r>
          </a:p>
          <a:p>
            <a:r>
              <a:t>Excire D20 → D80 → FNR down 12.0 to 1.4 → FPR up 2.6 to 15.6 → OOD up 23.8 to 52.2</a:t>
            </a:r>
          </a:p>
          <a:p/>
          <a:p>
            <a:r>
              <a:t>TRANSITION</a:t>
            </a:r>
          </a:p>
          <a:p>
            <a:r>
              <a:t>The separate OOD branch makes this third type of behavior directly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7:30–8:20</a:t>
            </a:r>
          </a:p>
          <a:p/>
          <a:p>
            <a:r>
              <a:t>SPEAKER SCRIPT</a:t>
            </a:r>
          </a:p>
          <a:p>
            <a:r>
              <a:t>All evaluated systems assign at least some out-of-distribution images to the weapon-oriented state.</a:t>
            </a:r>
          </a:p>
          <a:p/>
          <a:p>
            <a:r>
              <a:t>The CLIP proxy reaches an OOD weapon-assignment rate of 83.6 percent, while the commercial configurations range from 23.8 to 52.2 percent.</a:t>
            </a:r>
          </a:p>
          <a:p/>
          <a:p>
            <a:r>
              <a:t>These values must be interpreted carefully. OOD images are not part of the supervised weapon versus non-weapon task, so these are not ordinary supervised false-positive rates. They describe closed-set operating behavior when the system is forced to process inputs outside the intended binary distribution.</a:t>
            </a:r>
          </a:p>
          <a:p/>
          <a:p>
            <a:r>
              <a:t>For CLIP, the reported value aggregates five fold-specific responses for each of the 500 OOD images. Each commercial configuration instead produces one normalized decision per OOD image.</a:t>
            </a:r>
          </a:p>
          <a:p/>
          <a:p>
            <a:r>
              <a:t>MEMORY ANCHORS</a:t>
            </a:r>
          </a:p>
          <a:p>
            <a:r>
              <a:t>OOD → weapon assignment exists in every system → CLIP 83.6 → black-box 23.8–52.2 → not supervised FPR</a:t>
            </a:r>
          </a:p>
          <a:p/>
          <a:p>
            <a:r>
              <a:t>TRANSITION</a:t>
            </a:r>
          </a:p>
          <a:p>
            <a:r>
              <a:t>The next example shows why even a maximally concentrated model output does not guarantee correctness.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8:20–9:05</a:t>
            </a:r>
          </a:p>
          <a:p/>
          <a:p>
            <a:r>
              <a:t>SPEAKER SCRIPT</a:t>
            </a:r>
          </a:p>
          <a:p>
            <a:r>
              <a:t>This is a qualitative explainability example from the transparent proxy analysis.</a:t>
            </a:r>
          </a:p>
          <a:p/>
          <a:p>
            <a:r>
              <a:t>In case 0015, the reference class is non-weapon. After the Sigma Zero perturbation, the proxy predicts weapon with a maximum predicted-class probability of 1.000.</a:t>
            </a:r>
          </a:p>
          <a:p/>
          <a:p>
            <a:r>
              <a:t>Integrated Gradients is used here to inspect where the selected proxy response is concentrated. However, I deliberately keep the claim limited. The attribution is a diagnostic aid: it does not certify that the prediction is correct, it does not calibrate confidence, and it does not explain the internal behavior of proprietary black-box tools.</a:t>
            </a:r>
          </a:p>
          <a:p/>
          <a:p>
            <a:r>
              <a:t>The important point is that a highly concentrated or apparently confident output can still be wrong.</a:t>
            </a:r>
          </a:p>
          <a:p/>
          <a:p>
            <a:r>
              <a:t>MEMORY ANCHORS</a:t>
            </a:r>
          </a:p>
          <a:p>
            <a:r>
              <a:t>case 0015 → non_weapon reference → Sigma Zero → weapon prediction → max-P 1.000 → IG diagnostic only</a:t>
            </a:r>
          </a:p>
          <a:p/>
          <a:p>
            <a:r>
              <a:t>TRANSITION</a:t>
            </a:r>
          </a:p>
          <a:p>
            <a:r>
              <a:t>These findings lead to a simple operational principle for the use of AI in forensic triage.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9:05–9:45</a:t>
            </a:r>
          </a:p>
          <a:p/>
          <a:p>
            <a:r>
              <a:t>SPEAKER SCRIPT</a:t>
            </a:r>
          </a:p>
          <a:p>
            <a:r>
              <a:t>AI can still provide substantial value in forensic workflows, but it should support prioritization rather than irreversible exclusion.</a:t>
            </a:r>
          </a:p>
          <a:p/>
          <a:p>
            <a:r>
              <a:t>The AI output can create a prioritized review queue and reduce workload. The human analyst then validates the result in context and makes the final decision.</a:t>
            </a:r>
          </a:p>
          <a:p/>
          <a:p>
            <a:r>
              <a:t>At the same time, each decision should preserve the tool version, configuration, output mapping, and validation context. This makes the workflow traceable and defensible.</a:t>
            </a:r>
          </a:p>
          <a:p/>
          <a:p>
            <a:r>
              <a:t>The practical rule is therefore simple: use AI to prioritize evidence review, but never allow it to silently exclude potentially relevant evidence without human review.</a:t>
            </a:r>
          </a:p>
          <a:p/>
          <a:p>
            <a:r>
              <a:t>MEMORY ANCHORS</a:t>
            </a:r>
          </a:p>
          <a:p>
            <a:r>
              <a:t>AI output → prioritized queue → human review → documented action → trace every decision</a:t>
            </a:r>
          </a:p>
          <a:p/>
          <a:p>
            <a:r>
              <a:t>TRANSITION</a:t>
            </a:r>
          </a:p>
          <a:p>
            <a:r>
              <a:t>Before concluding, I will state the main boundaries of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9:45–10:30</a:t>
            </a:r>
          </a:p>
          <a:p/>
          <a:p>
            <a:r>
              <a:t>SPEAKER SCRIPT</a:t>
            </a:r>
          </a:p>
          <a:p>
            <a:r>
              <a:t>The results should be interpreted within the boundaries of the frozen protocol.</a:t>
            </a:r>
          </a:p>
          <a:p/>
          <a:p>
            <a:r>
              <a:t>The main limitations are the 1,500-image corpus with one reviewer, one frozen parameter setting for each perturbation condition, direct model-dependent attacks only against EfficientNet-B0, and commercial outputs that depend on the specific tool version and configuration.</a:t>
            </a:r>
          </a:p>
          <a:p/>
          <a:p>
            <a:r>
              <a:t>I also evaluated possible metadata sensitivity. Fifteen of the 11,500 files matched a predefined sensitive metadata term. The leave-out differences were small, but this does not prove that metadata was causally irrelevant to every individual decision.</a:t>
            </a:r>
          </a:p>
          <a:p/>
          <a:p>
            <a:r>
              <a:t>Finally, this work evaluates operational triage robustness. It does not claim legal admissibility, certification, or a universal ranking of commercial products.</a:t>
            </a:r>
          </a:p>
          <a:p/>
          <a:p>
            <a:r>
              <a:t>MEMORY ANCHORS</a:t>
            </a:r>
          </a:p>
          <a:p>
            <a:r>
              <a:t>1,500 / one reviewer → frozen settings → direct target only EfficientNet → version-dependent black-box → metadata caveat → no legal claim</a:t>
            </a:r>
          </a:p>
          <a:p/>
          <a:p>
            <a:r>
              <a:t>TRANSITION</a:t>
            </a:r>
          </a:p>
          <a:p>
            <a:r>
              <a:t>I will finish with three messages to remember.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10:30–11:10</a:t>
            </a:r>
          </a:p>
          <a:p/>
          <a:p>
            <a:r>
              <a:t>SPEAKER SCRIPT</a:t>
            </a:r>
          </a:p>
          <a:p>
            <a:r>
              <a:t>I would like to conclude with three points.</a:t>
            </a:r>
          </a:p>
          <a:p/>
          <a:p>
            <a:r>
              <a:t>First, clean performance is only the baseline. Robustness is condition-dependent, so clean accuracy alone is not sufficient.</a:t>
            </a:r>
          </a:p>
          <a:p/>
          <a:p>
            <a:r>
              <a:t>Second, direct attacks, empirical transfer, out-of-distribution behavior, and configuration trade-offs are different dimensions and should not be mixed into one single measure.</a:t>
            </a:r>
          </a:p>
          <a:p/>
          <a:p>
            <a:r>
              <a:t>Third, FAIRLab makes these dimensions traceable, auditable, and reviewable by a forensic expert.</a:t>
            </a:r>
          </a:p>
          <a:p/>
          <a:p>
            <a:r>
              <a:t>The final message of the thesis is therefore: AI can prioritize evidence, but it must not silently exclude it.</a:t>
            </a:r>
          </a:p>
          <a:p/>
          <a:p>
            <a:r>
              <a:t>MEMORY ANCHORS</a:t>
            </a:r>
          </a:p>
          <a:p>
            <a:r>
              <a:t>clean is baseline → separate robustness dimensions → FAIRLab = traceable and auditable → AI prioritizes, never silently excludes</a:t>
            </a:r>
          </a:p>
          <a:p/>
          <a:p>
            <a:r>
              <a:t>TRANSITION</a:t>
            </a:r>
          </a:p>
          <a:p>
            <a:r>
              <a:t>Thank you for your attention.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B1 — RESEARCH QUESTIONS AND CLAIM SCOPE</a:t>
            </a:r>
          </a:p>
          <a:p/>
          <a:p>
            <a:r>
              <a:t>USE WHEN</a:t>
            </a:r>
          </a:p>
          <a:p>
            <a:r>
              <a:t>The commission asks: “What are your formal research questions?” or “What exactly does the thesis claim?”</a:t>
            </a:r>
          </a:p>
          <a:p/>
          <a:p>
            <a:r>
              <a:t>COMMISSION ANSWER</a:t>
            </a:r>
          </a:p>
          <a:p>
            <a:r>
              <a:t>The thesis has four research questions. RQ1 evaluates whether the proxy models maintain clean-baseline performance under separate OOD, adversarial, and anti-forensic conditions. RQ2 separates direct source-model attacks, cross-architecture transfer, and model-agnostic Color Shift. RQ3 examines how black-box outputs and configuration choices shape the observed operational profiles. RQ4 focuses on which directional errors, degradations, OOD assignments, and unknown states matter for continued human review.</a:t>
            </a:r>
          </a:p>
          <a:p/>
          <a:p>
            <a:r>
              <a:t>The claim scope is deliberately limited: this is an operational robustness assessment under one frozen and traceable protocol. It is not a certification, a legal-admissibility assessment, or a universal product ranking.</a:t>
            </a:r>
          </a:p>
          <a:p/>
          <a:p>
            <a:r>
              <a:t>KEY WORDS</a:t>
            </a:r>
          </a:p>
          <a:p>
            <a:r>
              <a:t>RQ1 robustness conditions → RQ2 direct vs transfer → RQ3 black-box configuration → RQ4 operational risk → protocol-specific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B2 — PERTURBATION SUITE AND THREAT PATHS</a:t>
            </a:r>
          </a:p>
          <a:p/>
          <a:p>
            <a:r>
              <a:t>USE WHEN</a:t>
            </a:r>
          </a:p>
          <a:p>
            <a:r>
              <a:t>The commission asks: “Which attacks and transformations did you evaluate?” or “Which ones are direct attacks?”</a:t>
            </a:r>
          </a:p>
          <a:p/>
          <a:p>
            <a:r>
              <a:t>COMMISSION ANSWER</a:t>
            </a:r>
          </a:p>
          <a:p>
            <a:r>
              <a:t>The adversarial or adversarial-style group includes FGSM, One Pixel, Sigma Zero, SuperDeepFool, and deterministic Color Shift. The anti-forensic group includes JPEG recompression, resampling or resize, Gaussian blur, histogram modification, and contrast stretching.</a:t>
            </a:r>
          </a:p>
          <a:p/>
          <a:p>
            <a:r>
              <a:t>The critical distinction is the threat path. Model-dependent attacks are generated directly only against EfficientNet-B0. When those same files are evaluated on ResNet18, CLIP, or the commercial systems, the result is empirical transfer. Color Shift and all five anti-forensic transformations are model-agnostic conditions.</a:t>
            </a:r>
          </a:p>
          <a:p/>
          <a:p>
            <a:r>
              <a:t>KEY WORDS</a:t>
            </a:r>
          </a:p>
          <a:p>
            <a:r>
              <a:t>5 adversarial/adversarial-style → 5 anti-forensic → direct only EfficientNet-B0 → transfer elsewhere → model-agnostic Color Shift/AF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B3 — TRACEABILITY AND REPRODUCIBILITY</a:t>
            </a:r>
          </a:p>
          <a:p/>
          <a:p>
            <a:r>
              <a:t>USE WHEN</a:t>
            </a:r>
          </a:p>
          <a:p>
            <a:r>
              <a:t>The commission asks: “How can a reported result be audited?” or “How reproducible is the experiment?”</a:t>
            </a:r>
          </a:p>
          <a:p/>
          <a:p>
            <a:r>
              <a:t>COMMISSION ANSWER</a:t>
            </a:r>
          </a:p>
          <a:p>
            <a:r>
              <a:t>A reported result can be followed through a complete chain. I start from the source manifest and manual review, then use the source-condition identifier to link the derived variant. From there I can identify the proxy prediction or normalized commercial output, the metric table, and finally the figure or conclusion reported in the thesis.</a:t>
            </a:r>
          </a:p>
          <a:p/>
          <a:p>
            <a:r>
              <a:t>Integrity is supported by SHA-256 digests, frozen model and tool-version registries, frozen configurations, and explicit normalization rules. The repository scripts regenerate the main metrics and thesis-ready reporting assets.</a:t>
            </a:r>
          </a:p>
          <a:p/>
          <a:p>
            <a:r>
              <a:t>KEY WORDS</a:t>
            </a:r>
          </a:p>
          <a:p>
            <a:r>
              <a:t>source → derivation → decision → metric → report → SHA-256 → frozen registries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B4 — COMMERCIAL CLEAN METRICS AND OOD BEHAVIOR</a:t>
            </a:r>
          </a:p>
          <a:p/>
          <a:p>
            <a:r>
              <a:t>USE WHEN</a:t>
            </a:r>
          </a:p>
          <a:p>
            <a:r>
              <a:t>The commission asks for an exact number or compares two commercial configurations.</a:t>
            </a:r>
          </a:p>
          <a:p/>
          <a:p>
            <a:r>
              <a:t>COMMISSION ANSWER</a:t>
            </a:r>
          </a:p>
          <a:p>
            <a:r>
              <a:t>This table reports clean binary accuracy, recall, false-negative rate, false-positive rate, and a separate OOD weapon-assignment rate for each frozen configuration.</a:t>
            </a:r>
          </a:p>
          <a:p/>
          <a:p>
            <a:r>
              <a:t>For example, Griffeye/T3K has 97.8 percent clean accuracy and 0.8 percent FPR in this protocol, while Excire D80 has the lowest FNR at 1.4 percent but a much higher FPR of 15.6 percent and an OOD weapon-assignment rate of 52.2 percent.</a:t>
            </a:r>
          </a:p>
          <a:p/>
          <a:p>
            <a:r>
              <a:t>I would not use the table to declare a universally best product. These rows describe operating profiles under specific tool versions, settings, mappings, and one frozen dataset.</a:t>
            </a:r>
          </a:p>
          <a:p/>
          <a:p>
            <a:r>
              <a:t>KEY WORDS</a:t>
            </a:r>
          </a:p>
          <a:p>
            <a:r>
              <a:t>exact numbers → clean and OOD separate → operating profiles → no universal ranking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B5 — FROZEN ADVERSARIAL SETTINGS</a:t>
            </a:r>
          </a:p>
          <a:p/>
          <a:p>
            <a:r>
              <a:t>USE WHEN</a:t>
            </a:r>
          </a:p>
          <a:p>
            <a:r>
              <a:t>The commission asks: “Which attack parameters did you use?” or “Were the attacks reproducible?”</a:t>
            </a:r>
          </a:p>
          <a:p/>
          <a:p>
            <a:r>
              <a:t>COMMISSION ANSWER</a:t>
            </a:r>
          </a:p>
          <a:p>
            <a:r>
              <a:t>All adversarial settings were frozen before evaluation. FGSM is untargeted with epsilon equal to 8 over 255 in pixel space and uses the fold-aware white-box EfficientNet-B0 checkpoint. One Pixel uses differential evolution over x, y, R, G, and B, with 50 iterations, an effective population of about 100, seed 42, and early stopping after misclassification.</a:t>
            </a:r>
          </a:p>
          <a:p/>
          <a:p>
            <a:r>
              <a:t>Sigma Zero uses 1,000 steps with eta zero 1.0, sigma 0.001, and tau zero 0.3. SuperDeepFool uses SDF infinity-one, with 20 outer iterations, 50 inner DeepFool iterations, and one projection step. Color Shift is deterministic and model-agnostic.</a:t>
            </a:r>
          </a:p>
          <a:p/>
          <a:p>
            <a:r>
              <a:t>KEY WORDS</a:t>
            </a:r>
          </a:p>
          <a:p>
            <a:r>
              <a:t>FGSM 8/255 → One Pixel DE 50/100 seed42 → Sigma Zero 1000 steps → SDF 20/50/1 → EfficientNet target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B6 — FROZEN ANTI-FORENSIC SETTINGS</a:t>
            </a:r>
          </a:p>
          <a:p/>
          <a:p>
            <a:r>
              <a:t>USE WHEN</a:t>
            </a:r>
          </a:p>
          <a:p>
            <a:r>
              <a:t>The commission asks: “How did you control the anti-forensic transformations?”</a:t>
            </a:r>
          </a:p>
          <a:p/>
          <a:p>
            <a:r>
              <a:t>COMMISSION ANSWER</a:t>
            </a:r>
          </a:p>
          <a:p>
            <a:r>
              <a:t>Each anti-forensic condition uses one frozen, model-agnostic setting. JPEG recompression uses quality 70 without changing dimensions. Resize downsamples to 50 percent and restores the original size with bicubic interpolation. Gaussian blur uses radius 1.5. Histogram modification applies per-channel equalization, while contrast stretching uses autocontrast with a 1 percent cutoff.</a:t>
            </a:r>
          </a:p>
          <a:p/>
          <a:p>
            <a:r>
              <a:t>The transformations other than the dedicated JPEG recompression condition are serialized at JPEG quality 95. Each condition contains 1,000 source-linked artifacts, so comparisons remain paired to the same binary source population.</a:t>
            </a:r>
          </a:p>
          <a:p/>
          <a:p>
            <a:r>
              <a:t>KEY WORDS</a:t>
            </a:r>
          </a:p>
          <a:p>
            <a:r>
              <a:t>JPEG q70 → resize 50% bicubic → blur 1.5 → histogram equalization → autocontrast 1% → frozen/model-agnostic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B7 — BLACK-BOX OUTPUT NORMALIZATION</a:t>
            </a:r>
          </a:p>
          <a:p/>
          <a:p>
            <a:r>
              <a:t>USE WHEN</a:t>
            </a:r>
          </a:p>
          <a:p>
            <a:r>
              <a:t>The commission asks: “How did you compare tools that produce different kinds of outputs?”</a:t>
            </a:r>
          </a:p>
          <a:p/>
          <a:p>
            <a:r>
              <a:t>COMMISSION ANSWER</a:t>
            </a:r>
          </a:p>
          <a:p>
            <a:r>
              <a:t>I did not assume that the commercial systems expose the same classifier interface. Instead, I defined a frozen mapping for the analyst-visible output of each system.</a:t>
            </a:r>
          </a:p>
          <a:p/>
          <a:p>
            <a:r>
              <a:t>Magnet uses the “Possible weapons” tag. Griffeye/T3K uses the CORE/Violence/Firearm bookmark. Excire uses a hit in at least one of eight frozen firearm-oriented prompt lists, with D20, D50, and D80 kept as separate configurations. Cellebrite uses the “Armi”, “Pistola”, or “Fucile” classifications.</a:t>
            </a:r>
          </a:p>
          <a:p/>
          <a:p>
            <a:r>
              <a:t>The observable states are mapped to weapon, non-weapon, or unknown. Unsupported output is never silently converted to negative. No unknown state occurred in the final 69,000 normalized decisions.</a:t>
            </a:r>
          </a:p>
          <a:p/>
          <a:p>
            <a:r>
              <a:t>KEY WORDS</a:t>
            </a:r>
          </a:p>
          <a:p>
            <a:r>
              <a:t>observable outputs → frozen mapping → per-tool rule → unsupported = unknown, never negative → 0 unknown 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B8 — METRIC FORMULAS AND DENOMINATORS</a:t>
            </a:r>
          </a:p>
          <a:p/>
          <a:p>
            <a:r>
              <a:t>USE WHEN</a:t>
            </a:r>
          </a:p>
          <a:p>
            <a:r>
              <a:t>The commission asks about FNR, FPR, OOD rates, or why denominators differ.</a:t>
            </a:r>
          </a:p>
          <a:p/>
          <a:p>
            <a:r>
              <a:t>COMMISSION ANSWER</a:t>
            </a:r>
          </a:p>
          <a:p>
            <a:r>
              <a:t>Accuracy is the proportion of correct evaluated binary decisions. FNR is false negatives divided by true positives plus false negatives, so operationally it represents missed-target risk. FPR is false positives divided by false positives plus true negatives, so it represents additional review workload.</a:t>
            </a:r>
          </a:p>
          <a:p/>
          <a:p>
            <a:r>
              <a:t>OOD weapon assignment is reported separately because OOD images do not belong to the supervised weapon/non-weapon task. For proxy OOD evaluation, five fold-specific checkpoints produce 2,500 responses from 500 images. Each commercial configuration produces one decision per OOD image, so its denominator is 500. Unknown outputs would be excluded from binary denominators and reported separately.</a:t>
            </a:r>
          </a:p>
          <a:p/>
          <a:p>
            <a:r>
              <a:t>KEY WORDS</a:t>
            </a:r>
          </a:p>
          <a:p>
            <a:r>
              <a:t>FNR = misses → FPR = workload → OOD separate → proxy denominator 2,500 → commercial denominator 500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B9 — LIMITATIONS AND FUTURE VALIDATION</a:t>
            </a:r>
          </a:p>
          <a:p/>
          <a:p>
            <a:r>
              <a:t>USE WHEN</a:t>
            </a:r>
          </a:p>
          <a:p>
            <a:r>
              <a:t>The commission asks: “What would you do next?” or “How generalizable are these results?”</a:t>
            </a:r>
          </a:p>
          <a:p/>
          <a:p>
            <a:r>
              <a:t>COMMISSION ANSWER</a:t>
            </a:r>
          </a:p>
          <a:p>
            <a:r>
              <a:t>Generalizability must be tested rather than assumed from one frozen protocol. The next validation steps are to use larger and more heterogeneous datasets with multiple reviewers, perform parameter sweeps and adaptive attacks, repeat the evaluation across new commercial-tool versions to measure drift, extend the protocol beyond still images, and strengthen audit and human-review controls.</a:t>
            </a:r>
          </a:p>
          <a:p/>
          <a:p>
            <a:r>
              <a:t>The objective is not simply to maximize accuracy. It is to test whether the observed operating profiles remain stable across data, tools, conditions, and time while preserving the traceability of every experimental decision.</a:t>
            </a:r>
          </a:p>
          <a:p/>
          <a:p>
            <a:r>
              <a:t>KEY WORDS</a:t>
            </a:r>
          </a:p>
          <a:p>
            <a:r>
              <a:t>larger multi-reviewer data → parameter sweeps/adaptive attacks → version drift → other modalities → stronger governance → preserve traceability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t>Q&amp;A SLIDE</a:t>
            </a:r>
          </a:p>
          <a:p/>
          <a:p>
            <a:r>
              <a:t>SPEAKER SCRIPT</a:t>
            </a:r>
          </a:p>
          <a:p>
            <a:r>
              <a:t>Thank you for your attention. I am happy to answer your questions.</a:t>
            </a:r>
          </a:p>
          <a:p/>
          <a:p>
            <a:r>
              <a:t>PRESENTER CUE</a:t>
            </a:r>
          </a:p>
          <a:p>
            <a:r>
              <a:t>Stop here. Do not continue speaking unless the commission asks a question. Open a backup slide only when it directly supports the answer.</a:t>
            </a:r>
          </a:p>
          <a:p/>
          <a:p>
            <a:r>
              <a:t>BACKUP MAP</a:t>
            </a:r>
          </a:p>
          <a:p>
            <a:r>
              <a:t>B1 → formal research questions and claim scope</a:t>
            </a:r>
          </a:p>
          <a:p>
            <a:r>
              <a:t>B2 → perturbation suite and threat paths</a:t>
            </a:r>
          </a:p>
          <a:p>
            <a:r>
              <a:t>B3 → traceability and reproducibility</a:t>
            </a:r>
          </a:p>
          <a:p>
            <a:r>
              <a:t>B4 → exact commercial clean/OOD metrics</a:t>
            </a:r>
          </a:p>
          <a:p>
            <a:r>
              <a:t>B5 → frozen adversarial parameters</a:t>
            </a:r>
          </a:p>
          <a:p>
            <a:r>
              <a:t>B6 → frozen anti-forensic parameters</a:t>
            </a:r>
          </a:p>
          <a:p>
            <a:r>
              <a:t>B7 → black-box output normalization</a:t>
            </a:r>
          </a:p>
          <a:p>
            <a:r>
              <a:t>B8 → metric formulas and denominators</a:t>
            </a:r>
          </a:p>
          <a:p>
            <a:r>
              <a:t>B9 → limitations and future validation</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B6DC-E063-4C95-B7B6-18A89B193093}"/>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0B6458F3-DEF4-4E74-90D7-A6CFC6E9EEC7}"/>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68E6159-AEF2-436B-AD0D-300A104E7B1B}"/>
              </a:ext>
            </a:extLst>
          </p:cNvPr>
          <p:cNvSpPr>
            <a:spLocks noGrp="1"/>
          </p:cNvSpPr>
          <p:nvPr>
            <p:ph type="dt" idx="10"/>
          </p:nvPr>
        </p:nvSpPr>
        <p:spPr/>
        <p:txBody>
          <a:bodyPr/>
          <a:lstStyle/>
          <a:p>
            <a:fld id="{5BCAD085-E8A6-8845-BD4E-CB4CCA059FC4}" type="datetimeFigureOut">
              <a:t>23/09/2026</a:t>
            </a:fld>
            <a:endParaRPr/>
          </a:p>
        </p:txBody>
      </p:sp>
      <p:sp>
        <p:nvSpPr>
          <p:cNvPr id="5" name="Footer Placeholder 4">
            <a:extLst>
              <a:ext uri="{FF2B5EF4-FFF2-40B4-BE49-F238E27FC236}">
                <a16:creationId xmlns:a16="http://schemas.microsoft.com/office/drawing/2014/main" id="{8D0553C7-FFA7-49E1-A235-16CA36E4E67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C081E00-2BEC-4075-90C4-CFC44EDE307E}"/>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CDE2-EC61-4F5B-880C-33A7790A7C4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79B4628-C1DE-40AC-BDA3-B903DF2A384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AFDE277-33BE-4446-97AE-44467DBA3D58}"/>
              </a:ext>
            </a:extLst>
          </p:cNvPr>
          <p:cNvSpPr>
            <a:spLocks noGrp="1"/>
          </p:cNvSpPr>
          <p:nvPr>
            <p:ph type="dt" idx="10"/>
          </p:nvPr>
        </p:nvSpPr>
        <p:spPr/>
        <p:txBody>
          <a:bodyPr/>
          <a:lstStyle/>
          <a:p>
            <a:fld id="{5BCAD085-E8A6-8845-BD4E-CB4CCA059FC4}" type="datetimeFigureOut">
              <a:t>23/09/2026</a:t>
            </a:fld>
            <a:endParaRPr/>
          </a:p>
        </p:txBody>
      </p:sp>
      <p:sp>
        <p:nvSpPr>
          <p:cNvPr id="5" name="Footer Placeholder 4">
            <a:extLst>
              <a:ext uri="{FF2B5EF4-FFF2-40B4-BE49-F238E27FC236}">
                <a16:creationId xmlns:a16="http://schemas.microsoft.com/office/drawing/2014/main" id="{3B517663-0F9B-47BC-BDE8-9142A67B5EE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B0C35A8-30BB-466D-92CB-18D515428729}"/>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8B1F-DD36-4780-BFC5-310492F5FE4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B860CB1-3D2D-4251-9A8A-4FF50D93991F}"/>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75557EC-AFCA-4E22-9F26-0FB019F0BA9B}"/>
              </a:ext>
            </a:extLst>
          </p:cNvPr>
          <p:cNvSpPr>
            <a:spLocks noGrp="1"/>
          </p:cNvSpPr>
          <p:nvPr>
            <p:ph type="dt" idx="10"/>
          </p:nvPr>
        </p:nvSpPr>
        <p:spPr/>
        <p:txBody>
          <a:bodyPr/>
          <a:lstStyle/>
          <a:p>
            <a:fld id="{5BCAD085-E8A6-8845-BD4E-CB4CCA059FC4}" type="datetimeFigureOut">
              <a:t>23/09/2026</a:t>
            </a:fld>
            <a:endParaRPr/>
          </a:p>
        </p:txBody>
      </p:sp>
      <p:sp>
        <p:nvSpPr>
          <p:cNvPr id="5" name="Footer Placeholder 4">
            <a:extLst>
              <a:ext uri="{FF2B5EF4-FFF2-40B4-BE49-F238E27FC236}">
                <a16:creationId xmlns:a16="http://schemas.microsoft.com/office/drawing/2014/main" id="{175A50AD-4A24-409F-A142-AE6C1EE1ACE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B1A7DB3-0CCE-4B73-823D-F04AC0D1EB49}"/>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CD41A-3909-47A2-95D9-38FEE703760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B5B6AAF-BEEA-4CEA-A916-D654B1375A59}"/>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C389DD6A-2D90-4166-A9EE-903D16CAA7BF}"/>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780A4F4A-B7E3-4623-9AEA-A4CD8EAECF46}"/>
              </a:ext>
            </a:extLst>
          </p:cNvPr>
          <p:cNvSpPr>
            <a:spLocks noGrp="1"/>
          </p:cNvSpPr>
          <p:nvPr>
            <p:ph type="dt" idx="10"/>
          </p:nvPr>
        </p:nvSpPr>
        <p:spPr/>
        <p:txBody>
          <a:bodyPr/>
          <a:lstStyle/>
          <a:p>
            <a:fld id="{5BCAD085-E8A6-8845-BD4E-CB4CCA059FC4}" type="datetimeFigureOut">
              <a:t>23/09/2026</a:t>
            </a:fld>
            <a:endParaRPr/>
          </a:p>
        </p:txBody>
      </p:sp>
      <p:sp>
        <p:nvSpPr>
          <p:cNvPr id="6" name="Footer Placeholder 5">
            <a:extLst>
              <a:ext uri="{FF2B5EF4-FFF2-40B4-BE49-F238E27FC236}">
                <a16:creationId xmlns:a16="http://schemas.microsoft.com/office/drawing/2014/main" id="{C2CC5959-F783-4E91-B12E-EDAD95F1084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91C8CAC-6FA5-4F6C-A71A-27061AB321DD}"/>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E595-36FE-428E-BE96-BD221BACB6CB}"/>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73819F1B-B435-4117-AA3D-8C0CAF9C30BC}"/>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CE6DA375-0CC3-4E73-9EB5-CCB3FD21EF5B}"/>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F7DD439-42EA-45E1-BDE6-318C9D104E42}"/>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746805BB-EB86-4603-A671-DC22CC8DF44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A69D72F-70A5-4C5C-AD07-00B42AB26818}"/>
              </a:ext>
            </a:extLst>
          </p:cNvPr>
          <p:cNvSpPr>
            <a:spLocks noGrp="1"/>
          </p:cNvSpPr>
          <p:nvPr>
            <p:ph type="dt" idx="10"/>
          </p:nvPr>
        </p:nvSpPr>
        <p:spPr/>
        <p:txBody>
          <a:bodyPr/>
          <a:lstStyle/>
          <a:p>
            <a:fld id="{5BCAD085-E8A6-8845-BD4E-CB4CCA059FC4}" type="datetimeFigureOut">
              <a:t>23/09/2026</a:t>
            </a:fld>
            <a:endParaRPr/>
          </a:p>
        </p:txBody>
      </p:sp>
      <p:sp>
        <p:nvSpPr>
          <p:cNvPr id="8" name="Footer Placeholder 7">
            <a:extLst>
              <a:ext uri="{FF2B5EF4-FFF2-40B4-BE49-F238E27FC236}">
                <a16:creationId xmlns:a16="http://schemas.microsoft.com/office/drawing/2014/main" id="{099064B0-BBC0-4762-A0C7-CFB35B3E0F4E}"/>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215CA60-B417-4C38-9CEF-45D71C32AA11}"/>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578BC-66CB-4605-8371-D7CE3C096885}"/>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FA87690-DE1A-4C8D-BDDE-AD99E99A5CE1}"/>
              </a:ext>
            </a:extLst>
          </p:cNvPr>
          <p:cNvSpPr>
            <a:spLocks noGrp="1"/>
          </p:cNvSpPr>
          <p:nvPr>
            <p:ph type="dt" idx="10"/>
          </p:nvPr>
        </p:nvSpPr>
        <p:spPr/>
        <p:txBody>
          <a:bodyPr/>
          <a:lstStyle/>
          <a:p>
            <a:fld id="{5BCAD085-E8A6-8845-BD4E-CB4CCA059FC4}" type="datetimeFigureOut">
              <a:t>23/09/2026</a:t>
            </a:fld>
            <a:endParaRPr/>
          </a:p>
        </p:txBody>
      </p:sp>
      <p:sp>
        <p:nvSpPr>
          <p:cNvPr id="4" name="Footer Placeholder 3">
            <a:extLst>
              <a:ext uri="{FF2B5EF4-FFF2-40B4-BE49-F238E27FC236}">
                <a16:creationId xmlns:a16="http://schemas.microsoft.com/office/drawing/2014/main" id="{3F680584-8E32-4755-A818-91F7B782EE2E}"/>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779BFB0-617E-429E-B7B9-7C6BB54E173D}"/>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E7E42A-7458-42ED-A3B7-AD723AA2CC4A}"/>
              </a:ext>
            </a:extLst>
          </p:cNvPr>
          <p:cNvSpPr>
            <a:spLocks noGrp="1"/>
          </p:cNvSpPr>
          <p:nvPr>
            <p:ph type="dt" idx="10"/>
          </p:nvPr>
        </p:nvSpPr>
        <p:spPr/>
        <p:txBody>
          <a:bodyPr/>
          <a:lstStyle/>
          <a:p>
            <a:fld id="{5BCAD085-E8A6-8845-BD4E-CB4CCA059FC4}" type="datetimeFigureOut">
              <a:t>23/09/2026</a:t>
            </a:fld>
            <a:endParaRPr/>
          </a:p>
        </p:txBody>
      </p:sp>
      <p:sp>
        <p:nvSpPr>
          <p:cNvPr id="3" name="Footer Placeholder 2">
            <a:extLst>
              <a:ext uri="{FF2B5EF4-FFF2-40B4-BE49-F238E27FC236}">
                <a16:creationId xmlns:a16="http://schemas.microsoft.com/office/drawing/2014/main" id="{8761F3E5-4678-4403-B401-D64A135C4E70}"/>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AC9EF1D2-B6B8-45DA-B76E-8FA56FDEE907}"/>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A6176-68E0-4FA0-9BDC-287A293ED3D1}"/>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F26C89E-D46D-4222-8E58-66D988513029}"/>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541E7EA-2690-4907-A27C-945DDB4C41DA}"/>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BB577236-C748-4945-88C1-A0D7A3F00BBD}"/>
              </a:ext>
            </a:extLst>
          </p:cNvPr>
          <p:cNvSpPr>
            <a:spLocks noGrp="1"/>
          </p:cNvSpPr>
          <p:nvPr>
            <p:ph type="dt" idx="10"/>
          </p:nvPr>
        </p:nvSpPr>
        <p:spPr/>
        <p:txBody>
          <a:bodyPr/>
          <a:lstStyle/>
          <a:p>
            <a:fld id="{5BCAD085-E8A6-8845-BD4E-CB4CCA059FC4}" type="datetimeFigureOut">
              <a:t>23/09/2026</a:t>
            </a:fld>
            <a:endParaRPr/>
          </a:p>
        </p:txBody>
      </p:sp>
      <p:sp>
        <p:nvSpPr>
          <p:cNvPr id="6" name="Footer Placeholder 5">
            <a:extLst>
              <a:ext uri="{FF2B5EF4-FFF2-40B4-BE49-F238E27FC236}">
                <a16:creationId xmlns:a16="http://schemas.microsoft.com/office/drawing/2014/main" id="{C6010D2C-380A-4777-B04C-010EC9C3366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FEF9276-37EF-4AB6-9801-C549160E029C}"/>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C540-6228-445D-86C0-D79BF7AA0DC2}"/>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2312FC71-A96C-44BB-A277-8A81822FE9A2}"/>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40EBC7F-89EB-4D1A-965E-6EB9F82A492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77EF697E-1F7D-42F8-9E1A-0EC7F1A3B3FC}"/>
              </a:ext>
            </a:extLst>
          </p:cNvPr>
          <p:cNvSpPr>
            <a:spLocks noGrp="1"/>
          </p:cNvSpPr>
          <p:nvPr>
            <p:ph type="dt" idx="10"/>
          </p:nvPr>
        </p:nvSpPr>
        <p:spPr/>
        <p:txBody>
          <a:bodyPr/>
          <a:lstStyle/>
          <a:p>
            <a:fld id="{5BCAD085-E8A6-8845-BD4E-CB4CCA059FC4}" type="datetimeFigureOut">
              <a:t>23/09/2026</a:t>
            </a:fld>
            <a:endParaRPr/>
          </a:p>
        </p:txBody>
      </p:sp>
      <p:sp>
        <p:nvSpPr>
          <p:cNvPr id="6" name="Footer Placeholder 5">
            <a:extLst>
              <a:ext uri="{FF2B5EF4-FFF2-40B4-BE49-F238E27FC236}">
                <a16:creationId xmlns:a16="http://schemas.microsoft.com/office/drawing/2014/main" id="{FF0F8D75-D6BB-4D73-9D65-D17EA5BB52A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B7FB32C-3732-44E4-9220-E015D01AB6A0}"/>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8B4B-CC31-495B-A04F-A6C392A2380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A7DADADB-A65B-4E39-8B9D-8CAE0D78A24F}"/>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DE9904A-A67A-4F38-BF91-4D30D967DCF4}"/>
              </a:ext>
            </a:extLst>
          </p:cNvPr>
          <p:cNvSpPr>
            <a:spLocks noGrp="1"/>
          </p:cNvSpPr>
          <p:nvPr>
            <p:ph type="dt" idx="10"/>
          </p:nvPr>
        </p:nvSpPr>
        <p:spPr/>
        <p:txBody>
          <a:bodyPr/>
          <a:lstStyle/>
          <a:p>
            <a:fld id="{5BCAD085-E8A6-8845-BD4E-CB4CCA059FC4}" type="datetimeFigureOut">
              <a:t>23/09/2026</a:t>
            </a:fld>
            <a:endParaRPr/>
          </a:p>
        </p:txBody>
      </p:sp>
      <p:sp>
        <p:nvSpPr>
          <p:cNvPr id="5" name="Footer Placeholder 4">
            <a:extLst>
              <a:ext uri="{FF2B5EF4-FFF2-40B4-BE49-F238E27FC236}">
                <a16:creationId xmlns:a16="http://schemas.microsoft.com/office/drawing/2014/main" id="{FB20E72A-1994-4537-86B6-465DABE14D5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34082B7-07AA-4036-9DDD-DC724348399C}"/>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0B8711-C9F4-413D-8B29-0029BDA2BE21}"/>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50DE2CF-B073-4D05-9BF4-0AFDD831769B}"/>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A55F7D-C61A-43EC-BDE6-728D1D648991}"/>
              </a:ext>
            </a:extLst>
          </p:cNvPr>
          <p:cNvSpPr>
            <a:spLocks noGrp="1"/>
          </p:cNvSpPr>
          <p:nvPr>
            <p:ph type="dt" idx="10"/>
          </p:nvPr>
        </p:nvSpPr>
        <p:spPr/>
        <p:txBody>
          <a:bodyPr/>
          <a:lstStyle/>
          <a:p>
            <a:fld id="{5BCAD085-E8A6-8845-BD4E-CB4CCA059FC4}" type="datetimeFigureOut">
              <a:t>23/09/2026</a:t>
            </a:fld>
            <a:endParaRPr/>
          </a:p>
        </p:txBody>
      </p:sp>
      <p:sp>
        <p:nvSpPr>
          <p:cNvPr id="5" name="Footer Placeholder 4">
            <a:extLst>
              <a:ext uri="{FF2B5EF4-FFF2-40B4-BE49-F238E27FC236}">
                <a16:creationId xmlns:a16="http://schemas.microsoft.com/office/drawing/2014/main" id="{B307FD32-5EAC-4BCB-9FF0-E6F3F490218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1DE324-D168-4B61-BF7A-4C9215F4B2B5}"/>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A03E93-00E9-4A6B-A0E2-6EFE99D38EDE}"/>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B55EB488-BBB0-4243-BBDE-AA2306824745}"/>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A46BD0A-CC69-499C-8F43-F4C52E467D27}"/>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23/09/2026</a:t>
            </a:fld>
            <a:endParaRPr/>
          </a:p>
        </p:txBody>
      </p:sp>
      <p:sp>
        <p:nvSpPr>
          <p:cNvPr id="5" name="Footer Placeholder 4">
            <a:extLst>
              <a:ext uri="{FF2B5EF4-FFF2-40B4-BE49-F238E27FC236}">
                <a16:creationId xmlns:a16="http://schemas.microsoft.com/office/drawing/2014/main" id="{50272A18-0833-4409-B631-EFC143341D19}"/>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7B78FB27-D5F1-4963-AD32-CC01B1D84F5D}"/>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AD3ADBD0-72C3-4D60-A6FB-9276160845E1}"/>
              </a:ext>
            </a:extLst>
          </p:cNvPr>
          <p:cNvSpPr>
            <a:spLocks noGrp="1"/>
          </p:cNvSpPr>
          <p:nvPr/>
        </p:nvSpPr>
        <p:spPr>
          <a:xfrm>
            <a:off x="6830569" y="0"/>
            <a:ext cx="5361431" cy="6858000"/>
          </a:xfrm>
          <a:custGeom>
            <a:avLst/>
            <a:gdLst/>
            <a:ahLst/>
            <a:cxnLst/>
            <a:rect l="l" t="t" r="r" b="b"/>
            <a:pathLst>
              <a:path w="5361431" h="6858000">
                <a:moveTo>
                  <a:pt x="2496312" y="0"/>
                </a:moveTo>
                <a:lnTo>
                  <a:pt x="5361431" y="0"/>
                </a:lnTo>
                <a:lnTo>
                  <a:pt x="5361431" y="6858000"/>
                </a:lnTo>
                <a:lnTo>
                  <a:pt x="0" y="6858000"/>
                </a:lnTo>
                <a:close/>
              </a:path>
            </a:pathLst>
          </a:cu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9" name="Picture 2"/>
          <p:cNvPicPr>
            <a:picLocks noChangeAspect="1"/>
          </p:cNvPicPr>
          <p:nvPr/>
        </p:nvPicPr>
        <p:blipFill>
          <a:blip r:embed="rId3"/>
          <a:stretch>
            <a:fillRect/>
          </a:stretch>
        </p:blipFill>
        <p:spPr>
          <a:xfrm>
            <a:off x="7787251" y="4572000"/>
            <a:ext cx="4370832" cy="1170432"/>
          </a:xfrm>
          <a:prstGeom prst="rect">
            <a:avLst/>
          </a:prstGeom>
        </p:spPr>
      </p:pic>
      <p:sp>
        <p:nvSpPr>
          <p:cNvPr id="4" name="TextBox 3">
            <a:extLst>
              <a:ext uri="{FF2B5EF4-FFF2-40B4-BE49-F238E27FC236}">
                <a16:creationId xmlns:a16="http://schemas.microsoft.com/office/drawing/2014/main" id="{5F6D6B5F-566D-4D15-A4E4-289A74BD800B}"/>
              </a:ext>
            </a:extLst>
          </p:cNvPr>
          <p:cNvSpPr>
            <a:spLocks noGrp="1"/>
          </p:cNvSpPr>
          <p:nvPr/>
        </p:nvSpPr>
        <p:spPr>
          <a:xfrm>
            <a:off x="1245455" y="1092127"/>
            <a:ext cx="6234784"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Evaluating the Robustness of AI-Based</a:t>
            </a:r>
          </a:p>
        </p:txBody>
      </p:sp>
      <p:sp>
        <p:nvSpPr>
          <p:cNvPr id="5" name="TextBox 4">
            <a:extLst>
              <a:ext uri="{FF2B5EF4-FFF2-40B4-BE49-F238E27FC236}">
                <a16:creationId xmlns:a16="http://schemas.microsoft.com/office/drawing/2014/main" id="{4C68C7AD-E9E1-4269-A322-11CC58D220E5}"/>
              </a:ext>
            </a:extLst>
          </p:cNvPr>
          <p:cNvSpPr>
            <a:spLocks noGrp="1"/>
          </p:cNvSpPr>
          <p:nvPr/>
        </p:nvSpPr>
        <p:spPr>
          <a:xfrm>
            <a:off x="1369406" y="1574169"/>
            <a:ext cx="5987582"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Forensic Tools under Adversarial and</a:t>
            </a:r>
          </a:p>
        </p:txBody>
      </p:sp>
      <p:sp>
        <p:nvSpPr>
          <p:cNvPr id="6" name="TextBox 5">
            <a:extLst>
              <a:ext uri="{FF2B5EF4-FFF2-40B4-BE49-F238E27FC236}">
                <a16:creationId xmlns:a16="http://schemas.microsoft.com/office/drawing/2014/main" id="{AE37D7BF-E7C8-4B80-AA3E-D277CB4D3227}"/>
              </a:ext>
            </a:extLst>
          </p:cNvPr>
          <p:cNvSpPr>
            <a:spLocks noGrp="1"/>
          </p:cNvSpPr>
          <p:nvPr/>
        </p:nvSpPr>
        <p:spPr>
          <a:xfrm>
            <a:off x="2616367" y="2056238"/>
            <a:ext cx="3492427"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Anti-Forensic Attacks</a:t>
            </a:r>
          </a:p>
        </p:txBody>
      </p:sp>
      <p:sp>
        <p:nvSpPr>
          <p:cNvPr id="7" name="TextBox 6">
            <a:extLst>
              <a:ext uri="{FF2B5EF4-FFF2-40B4-BE49-F238E27FC236}">
                <a16:creationId xmlns:a16="http://schemas.microsoft.com/office/drawing/2014/main" id="{714EF284-A801-4261-926C-2EEAFEA761DF}"/>
              </a:ext>
            </a:extLst>
          </p:cNvPr>
          <p:cNvSpPr>
            <a:spLocks noGrp="1"/>
          </p:cNvSpPr>
          <p:nvPr/>
        </p:nvSpPr>
        <p:spPr>
          <a:xfrm>
            <a:off x="1143000" y="2816638"/>
            <a:ext cx="6438900" cy="349472"/>
          </a:xfrm>
          <a:prstGeom prst="rect">
            <a:avLst/>
          </a:prstGeom>
          <a:noFill/>
        </p:spPr>
        <p:txBody>
          <a:bodyPr wrap="none" lIns="0" tIns="0" rIns="0" bIns="0" anchor="t">
            <a:noAutofit/>
          </a:bodyPr>
          <a:lstStyle/>
          <a:p>
            <a:pPr algn="l">
              <a:lnSpc>
                <a:spcPct val="100000"/>
              </a:lnSpc>
              <a:spcBef>
                <a:spcPts val="0"/>
              </a:spcBef>
              <a:spcAft>
                <a:spcPts val="0"/>
              </a:spcAft>
              <a:buNone/>
            </a:pPr>
            <a:r>
              <a:rPr sz="1897" b="0" i="0">
                <a:solidFill>
                  <a:srgbClr val="404040"/>
                </a:solidFill>
                <a:latin typeface="Carlito"/>
                <a:ea typeface="Carlito"/>
                <a:cs typeface="Carlito"/>
              </a:rPr>
              <a:t>Master’s Degree in Computer Engineering</a:t>
            </a:r>
          </a:p>
        </p:txBody>
      </p:sp>
      <p:sp>
        <p:nvSpPr>
          <p:cNvPr id="8" name="TextBox 7">
            <a:extLst>
              <a:ext uri="{FF2B5EF4-FFF2-40B4-BE49-F238E27FC236}">
                <a16:creationId xmlns:a16="http://schemas.microsoft.com/office/drawing/2014/main" id="{B60AA5D2-5B61-455B-BBE9-086C543935C9}"/>
              </a:ext>
            </a:extLst>
          </p:cNvPr>
          <p:cNvSpPr>
            <a:spLocks noGrp="1"/>
          </p:cNvSpPr>
          <p:nvPr/>
        </p:nvSpPr>
        <p:spPr>
          <a:xfrm>
            <a:off x="1428750" y="3111246"/>
            <a:ext cx="5867400" cy="349472"/>
          </a:xfrm>
          <a:prstGeom prst="rect">
            <a:avLst/>
          </a:prstGeom>
          <a:noFill/>
        </p:spPr>
        <p:txBody>
          <a:bodyPr wrap="none" lIns="0" tIns="0" rIns="0" bIns="0" anchor="t">
            <a:noAutofit/>
          </a:bodyPr>
          <a:lstStyle/>
          <a:p>
            <a:pPr algn="l">
              <a:lnSpc>
                <a:spcPct val="100000"/>
              </a:lnSpc>
              <a:spcBef>
                <a:spcPts val="0"/>
              </a:spcBef>
              <a:spcAft>
                <a:spcPts val="0"/>
              </a:spcAft>
              <a:buNone/>
            </a:pPr>
            <a:r>
              <a:rPr sz="1897" b="0" i="0">
                <a:solidFill>
                  <a:srgbClr val="404040"/>
                </a:solidFill>
                <a:latin typeface="Carlito"/>
                <a:ea typeface="Carlito"/>
                <a:cs typeface="Carlito"/>
              </a:rPr>
              <a:t>Cybersecurity and Artificial Intelligence</a:t>
            </a:r>
          </a:p>
        </p:txBody>
      </p:sp>
      <p:sp>
        <p:nvSpPr>
          <p:cNvPr id="9" name="TextBox 8">
            <a:extLst>
              <a:ext uri="{FF2B5EF4-FFF2-40B4-BE49-F238E27FC236}">
                <a16:creationId xmlns:a16="http://schemas.microsoft.com/office/drawing/2014/main" id="{8CC206C0-8612-4C95-88BD-073E5D709139}"/>
              </a:ext>
            </a:extLst>
          </p:cNvPr>
          <p:cNvSpPr>
            <a:spLocks noGrp="1"/>
          </p:cNvSpPr>
          <p:nvPr/>
        </p:nvSpPr>
        <p:spPr>
          <a:xfrm>
            <a:off x="761986" y="3996866"/>
            <a:ext cx="803973"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Advisor</a:t>
            </a:r>
          </a:p>
        </p:txBody>
      </p:sp>
      <p:sp>
        <p:nvSpPr>
          <p:cNvPr id="10" name="TextBox 9">
            <a:extLst>
              <a:ext uri="{FF2B5EF4-FFF2-40B4-BE49-F238E27FC236}">
                <a16:creationId xmlns:a16="http://schemas.microsoft.com/office/drawing/2014/main" id="{8597C9F5-C83C-46EA-B5F8-9BA5795DFE33}"/>
              </a:ext>
            </a:extLst>
          </p:cNvPr>
          <p:cNvSpPr>
            <a:spLocks noGrp="1"/>
          </p:cNvSpPr>
          <p:nvPr/>
        </p:nvSpPr>
        <p:spPr>
          <a:xfrm>
            <a:off x="761986" y="4224775"/>
            <a:ext cx="1940354"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Prof. Davide Maiorca</a:t>
            </a:r>
          </a:p>
        </p:txBody>
      </p:sp>
      <p:sp>
        <p:nvSpPr>
          <p:cNvPr id="11" name="TextBox 10">
            <a:extLst>
              <a:ext uri="{FF2B5EF4-FFF2-40B4-BE49-F238E27FC236}">
                <a16:creationId xmlns:a16="http://schemas.microsoft.com/office/drawing/2014/main" id="{31C97160-9434-4274-86A4-31180B678549}"/>
              </a:ext>
            </a:extLst>
          </p:cNvPr>
          <p:cNvSpPr>
            <a:spLocks noGrp="1"/>
          </p:cNvSpPr>
          <p:nvPr/>
        </p:nvSpPr>
        <p:spPr>
          <a:xfrm>
            <a:off x="761986" y="4627618"/>
            <a:ext cx="1091282"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Co-Advisor</a:t>
            </a:r>
          </a:p>
        </p:txBody>
      </p:sp>
      <p:sp>
        <p:nvSpPr>
          <p:cNvPr id="12" name="TextBox 11">
            <a:extLst>
              <a:ext uri="{FF2B5EF4-FFF2-40B4-BE49-F238E27FC236}">
                <a16:creationId xmlns:a16="http://schemas.microsoft.com/office/drawing/2014/main" id="{5B16A2C5-AD4B-43D8-80B7-E209C671B2FA}"/>
              </a:ext>
            </a:extLst>
          </p:cNvPr>
          <p:cNvSpPr>
            <a:spLocks noGrp="1"/>
          </p:cNvSpPr>
          <p:nvPr/>
        </p:nvSpPr>
        <p:spPr>
          <a:xfrm>
            <a:off x="761986" y="4855554"/>
            <a:ext cx="2204524"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Silvia Lucia Sanna, Ph.D.</a:t>
            </a:r>
          </a:p>
        </p:txBody>
      </p:sp>
      <p:sp>
        <p:nvSpPr>
          <p:cNvPr id="13" name="TextBox 12">
            <a:extLst>
              <a:ext uri="{FF2B5EF4-FFF2-40B4-BE49-F238E27FC236}">
                <a16:creationId xmlns:a16="http://schemas.microsoft.com/office/drawing/2014/main" id="{2A1750C7-FF88-40A1-81A0-843EF4A32EDF}"/>
              </a:ext>
            </a:extLst>
          </p:cNvPr>
          <p:cNvSpPr>
            <a:spLocks noGrp="1"/>
          </p:cNvSpPr>
          <p:nvPr/>
        </p:nvSpPr>
        <p:spPr>
          <a:xfrm>
            <a:off x="6201901" y="3971544"/>
            <a:ext cx="1028293"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Candidate</a:t>
            </a:r>
          </a:p>
        </p:txBody>
      </p:sp>
      <p:sp>
        <p:nvSpPr>
          <p:cNvPr id="14" name="TextBox 13">
            <a:extLst>
              <a:ext uri="{FF2B5EF4-FFF2-40B4-BE49-F238E27FC236}">
                <a16:creationId xmlns:a16="http://schemas.microsoft.com/office/drawing/2014/main" id="{5F83D23B-74B9-4F5E-8934-E6D373922EF3}"/>
              </a:ext>
            </a:extLst>
          </p:cNvPr>
          <p:cNvSpPr>
            <a:spLocks noGrp="1"/>
          </p:cNvSpPr>
          <p:nvPr/>
        </p:nvSpPr>
        <p:spPr>
          <a:xfrm>
            <a:off x="5798944" y="4229963"/>
            <a:ext cx="1431297"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Lello Molinario</a:t>
            </a:r>
          </a:p>
        </p:txBody>
      </p:sp>
      <p:sp>
        <p:nvSpPr>
          <p:cNvPr id="15" name="TextBox 14">
            <a:extLst>
              <a:ext uri="{FF2B5EF4-FFF2-40B4-BE49-F238E27FC236}">
                <a16:creationId xmlns:a16="http://schemas.microsoft.com/office/drawing/2014/main" id="{459D83A5-BA59-4DBD-A175-A13844B7B58E}"/>
              </a:ext>
            </a:extLst>
          </p:cNvPr>
          <p:cNvSpPr>
            <a:spLocks noGrp="1"/>
          </p:cNvSpPr>
          <p:nvPr/>
        </p:nvSpPr>
        <p:spPr>
          <a:xfrm>
            <a:off x="4833354" y="4685635"/>
            <a:ext cx="2347428"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Student ID: 70/90/00369</a:t>
            </a:r>
          </a:p>
        </p:txBody>
      </p:sp>
      <p:sp>
        <p:nvSpPr>
          <p:cNvPr id="16" name="TextBox 15">
            <a:extLst>
              <a:ext uri="{FF2B5EF4-FFF2-40B4-BE49-F238E27FC236}">
                <a16:creationId xmlns:a16="http://schemas.microsoft.com/office/drawing/2014/main" id="{98B901F8-0F1F-4C36-A37E-DBF9254044E0}"/>
              </a:ext>
            </a:extLst>
          </p:cNvPr>
          <p:cNvSpPr>
            <a:spLocks noGrp="1"/>
          </p:cNvSpPr>
          <p:nvPr/>
        </p:nvSpPr>
        <p:spPr>
          <a:xfrm>
            <a:off x="2372525" y="5618318"/>
            <a:ext cx="3246783" cy="425219"/>
          </a:xfrm>
          <a:prstGeom prst="rect">
            <a:avLst/>
          </a:prstGeom>
          <a:noFill/>
        </p:spPr>
        <p:txBody>
          <a:bodyPr wrap="none" lIns="0" tIns="0" rIns="0" bIns="0" anchor="t">
            <a:noAutofit/>
          </a:bodyPr>
          <a:lstStyle/>
          <a:p>
            <a:pPr algn="l">
              <a:lnSpc>
                <a:spcPct val="100000"/>
              </a:lnSpc>
              <a:spcBef>
                <a:spcPts val="0"/>
              </a:spcBef>
              <a:spcAft>
                <a:spcPts val="0"/>
              </a:spcAft>
              <a:buNone/>
            </a:pPr>
            <a:r>
              <a:rPr sz="2309" b="0" i="0">
                <a:solidFill>
                  <a:srgbClr val="000000"/>
                </a:solidFill>
                <a:latin typeface="Carlito"/>
                <a:ea typeface="Carlito"/>
                <a:cs typeface="Carlito"/>
              </a:rPr>
              <a:t>Academic Year 2025/2026</a:t>
            </a:r>
          </a:p>
        </p:txBody>
      </p:sp>
    </p:spTree>
    <p:extLst>
      <p:ext uri="{BB962C8B-B14F-4D97-AF65-F5344CB8AC3E}">
        <p14:creationId xmlns:p14="http://schemas.microsoft.com/office/powerpoint/2010/main" val="374676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B8A7D5BD-3F8A-4BB6-975D-5266EF1DB7CC}"/>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588B664-C98E-41C9-A1E0-71858EDC400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The operational risk is silent exclusion</a:t>
            </a:r>
          </a:p>
        </p:txBody>
      </p:sp>
      <p:sp>
        <p:nvSpPr>
          <p:cNvPr id="3" name="Rettangolo 2">
            <a:extLst>
              <a:ext uri="{FF2B5EF4-FFF2-40B4-BE49-F238E27FC236}">
                <a16:creationId xmlns:a16="http://schemas.microsoft.com/office/drawing/2014/main" id="{8C61DB06-AF65-4B2C-AA7F-B35A9C8C91A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965599AD-B896-4974-A1A2-CBC1B2481DA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E12A901-ED39-4DD2-822A-E7619785E99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02</a:t>
            </a:r>
          </a:p>
        </p:txBody>
      </p:sp>
      <p:sp>
        <p:nvSpPr>
          <p:cNvPr id="6" name="Rettangolo con angoli arrotondati 5">
            <a:extLst>
              <a:ext uri="{FF2B5EF4-FFF2-40B4-BE49-F238E27FC236}">
                <a16:creationId xmlns:a16="http://schemas.microsoft.com/office/drawing/2014/main" id="{295FDD48-F0EC-46C5-B827-2A805C95A516}"/>
              </a:ext>
            </a:extLst>
          </p:cNvPr>
          <p:cNvSpPr>
            <a:spLocks noGrp="1"/>
          </p:cNvSpPr>
          <p:nvPr/>
        </p:nvSpPr>
        <p:spPr>
          <a:xfrm>
            <a:off x="685800" y="1524000"/>
            <a:ext cx="3048000" cy="1200150"/>
          </a:xfrm>
          <a:prstGeom prst="roundRect">
            <a:avLst>
              <a:gd name="adj" fmla="val 14286"/>
            </a:avLst>
          </a:prstGeom>
          <a:solidFill>
            <a:srgbClr val="FFFFFF"/>
          </a:solidFill>
          <a:ln w="9525">
            <a:solidFill>
              <a:srgbClr val="D9DEE8"/>
            </a:solidFill>
            <a:prstDash val="solid"/>
          </a:ln>
        </p:spPr>
        <p:txBody>
          <a:bodyPr/>
          <a:lstStyle/>
          <a:p>
            <a:endParaRPr/>
          </a:p>
        </p:txBody>
      </p:sp>
      <p:sp>
        <p:nvSpPr>
          <p:cNvPr id="7" name="Rettangolo 6">
            <a:extLst>
              <a:ext uri="{FF2B5EF4-FFF2-40B4-BE49-F238E27FC236}">
                <a16:creationId xmlns:a16="http://schemas.microsoft.com/office/drawing/2014/main" id="{134106DB-7DBE-4BE2-AF47-E9B1070376D7}"/>
              </a:ext>
            </a:extLst>
          </p:cNvPr>
          <p:cNvSpPr>
            <a:spLocks noGrp="1"/>
          </p:cNvSpPr>
          <p:nvPr/>
        </p:nvSpPr>
        <p:spPr>
          <a:xfrm>
            <a:off x="8763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LARGE</a:t>
            </a:r>
          </a:p>
        </p:txBody>
      </p:sp>
      <p:sp>
        <p:nvSpPr>
          <p:cNvPr id="8" name="Rettangolo 7">
            <a:extLst>
              <a:ext uri="{FF2B5EF4-FFF2-40B4-BE49-F238E27FC236}">
                <a16:creationId xmlns:a16="http://schemas.microsoft.com/office/drawing/2014/main" id="{6866549D-9D17-463F-9BE9-DC9437B3FE8D}"/>
              </a:ext>
            </a:extLst>
          </p:cNvPr>
          <p:cNvSpPr>
            <a:spLocks noGrp="1"/>
          </p:cNvSpPr>
          <p:nvPr/>
        </p:nvSpPr>
        <p:spPr>
          <a:xfrm>
            <a:off x="8763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image collections</a:t>
            </a:r>
          </a:p>
        </p:txBody>
      </p:sp>
      <p:sp>
        <p:nvSpPr>
          <p:cNvPr id="9" name="Rettangolo con angoli arrotondati 8">
            <a:extLst>
              <a:ext uri="{FF2B5EF4-FFF2-40B4-BE49-F238E27FC236}">
                <a16:creationId xmlns:a16="http://schemas.microsoft.com/office/drawing/2014/main" id="{1B4F03EB-5A2C-471C-ABF0-97B8F80F2258}"/>
              </a:ext>
            </a:extLst>
          </p:cNvPr>
          <p:cNvSpPr>
            <a:spLocks noGrp="1"/>
          </p:cNvSpPr>
          <p:nvPr/>
        </p:nvSpPr>
        <p:spPr>
          <a:xfrm>
            <a:off x="4343400" y="1524000"/>
            <a:ext cx="3048000" cy="1200150"/>
          </a:xfrm>
          <a:prstGeom prst="roundRect">
            <a:avLst>
              <a:gd name="adj" fmla="val 14286"/>
            </a:avLst>
          </a:prstGeom>
          <a:solidFill>
            <a:srgbClr val="E9EEF8"/>
          </a:solidFill>
          <a:ln w="9525">
            <a:solidFill>
              <a:srgbClr val="E9EEF8"/>
            </a:solidFill>
            <a:prstDash val="solid"/>
          </a:ln>
        </p:spPr>
        <p:txBody>
          <a:bodyPr/>
          <a:lstStyle/>
          <a:p>
            <a:endParaRPr/>
          </a:p>
        </p:txBody>
      </p:sp>
      <p:sp>
        <p:nvSpPr>
          <p:cNvPr id="10" name="Rettangolo 9">
            <a:extLst>
              <a:ext uri="{FF2B5EF4-FFF2-40B4-BE49-F238E27FC236}">
                <a16:creationId xmlns:a16="http://schemas.microsoft.com/office/drawing/2014/main" id="{AFC8020C-45AE-4038-A8C9-738588A763B5}"/>
              </a:ext>
            </a:extLst>
          </p:cNvPr>
          <p:cNvSpPr>
            <a:spLocks noGrp="1"/>
          </p:cNvSpPr>
          <p:nvPr/>
        </p:nvSpPr>
        <p:spPr>
          <a:xfrm>
            <a:off x="45339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AI</a:t>
            </a:r>
          </a:p>
        </p:txBody>
      </p:sp>
      <p:sp>
        <p:nvSpPr>
          <p:cNvPr id="11" name="Rettangolo 10">
            <a:extLst>
              <a:ext uri="{FF2B5EF4-FFF2-40B4-BE49-F238E27FC236}">
                <a16:creationId xmlns:a16="http://schemas.microsoft.com/office/drawing/2014/main" id="{C33FDAE1-0BA9-4918-83D0-329C1792220C}"/>
              </a:ext>
            </a:extLst>
          </p:cNvPr>
          <p:cNvSpPr>
            <a:spLocks noGrp="1"/>
          </p:cNvSpPr>
          <p:nvPr/>
        </p:nvSpPr>
        <p:spPr>
          <a:xfrm>
            <a:off x="45339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assisted triage</a:t>
            </a:r>
          </a:p>
        </p:txBody>
      </p:sp>
      <p:sp>
        <p:nvSpPr>
          <p:cNvPr id="12" name="Rettangolo con angoli arrotondati 11">
            <a:extLst>
              <a:ext uri="{FF2B5EF4-FFF2-40B4-BE49-F238E27FC236}">
                <a16:creationId xmlns:a16="http://schemas.microsoft.com/office/drawing/2014/main" id="{4C845868-F781-47A9-940E-F0CDBB7371DC}"/>
              </a:ext>
            </a:extLst>
          </p:cNvPr>
          <p:cNvSpPr>
            <a:spLocks noGrp="1"/>
          </p:cNvSpPr>
          <p:nvPr/>
        </p:nvSpPr>
        <p:spPr>
          <a:xfrm>
            <a:off x="8001000" y="1524000"/>
            <a:ext cx="3048000" cy="1200150"/>
          </a:xfrm>
          <a:prstGeom prst="roundRect">
            <a:avLst>
              <a:gd name="adj" fmla="val 14286"/>
            </a:avLst>
          </a:prstGeom>
          <a:solidFill>
            <a:srgbClr val="FBEAEA"/>
          </a:solidFill>
          <a:ln w="9525">
            <a:solidFill>
              <a:srgbClr val="FBEAEA"/>
            </a:solidFill>
            <a:prstDash val="solid"/>
          </a:ln>
        </p:spPr>
        <p:txBody>
          <a:bodyPr/>
          <a:lstStyle/>
          <a:p>
            <a:endParaRPr/>
          </a:p>
        </p:txBody>
      </p:sp>
      <p:sp>
        <p:nvSpPr>
          <p:cNvPr id="13" name="Rettangolo 12">
            <a:extLst>
              <a:ext uri="{FF2B5EF4-FFF2-40B4-BE49-F238E27FC236}">
                <a16:creationId xmlns:a16="http://schemas.microsoft.com/office/drawing/2014/main" id="{E1D87471-E992-400B-8BA5-98A79A7C8C69}"/>
              </a:ext>
            </a:extLst>
          </p:cNvPr>
          <p:cNvSpPr>
            <a:spLocks noGrp="1"/>
          </p:cNvSpPr>
          <p:nvPr/>
        </p:nvSpPr>
        <p:spPr>
          <a:xfrm>
            <a:off x="81915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MISS</a:t>
            </a:r>
          </a:p>
        </p:txBody>
      </p:sp>
      <p:sp>
        <p:nvSpPr>
          <p:cNvPr id="14" name="Rettangolo 13">
            <a:extLst>
              <a:ext uri="{FF2B5EF4-FFF2-40B4-BE49-F238E27FC236}">
                <a16:creationId xmlns:a16="http://schemas.microsoft.com/office/drawing/2014/main" id="{B0C05342-6D6D-4097-A670-5979C502D4B5}"/>
              </a:ext>
            </a:extLst>
          </p:cNvPr>
          <p:cNvSpPr>
            <a:spLocks noGrp="1"/>
          </p:cNvSpPr>
          <p:nvPr/>
        </p:nvSpPr>
        <p:spPr>
          <a:xfrm>
            <a:off x="81915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relevant evidence</a:t>
            </a:r>
          </a:p>
        </p:txBody>
      </p:sp>
      <p:sp>
        <p:nvSpPr>
          <p:cNvPr id="15" name="Rettangolo 14">
            <a:extLst>
              <a:ext uri="{FF2B5EF4-FFF2-40B4-BE49-F238E27FC236}">
                <a16:creationId xmlns:a16="http://schemas.microsoft.com/office/drawing/2014/main" id="{BE95789F-29F4-458B-9109-B5F4176210EA}"/>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6" name="Rettangolo 15">
            <a:extLst>
              <a:ext uri="{FF2B5EF4-FFF2-40B4-BE49-F238E27FC236}">
                <a16:creationId xmlns:a16="http://schemas.microsoft.com/office/drawing/2014/main" id="{B813C1EC-E4C9-443B-9424-97804AB1F480}"/>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7" name="Rettangolo con angoli arrotondati 16">
            <a:extLst>
              <a:ext uri="{FF2B5EF4-FFF2-40B4-BE49-F238E27FC236}">
                <a16:creationId xmlns:a16="http://schemas.microsoft.com/office/drawing/2014/main" id="{4EBFE33E-8979-4761-84B8-587E7AC16DD3}"/>
              </a:ext>
            </a:extLst>
          </p:cNvPr>
          <p:cNvSpPr>
            <a:spLocks noGrp="1"/>
          </p:cNvSpPr>
          <p:nvPr/>
        </p:nvSpPr>
        <p:spPr>
          <a:xfrm>
            <a:off x="1123950" y="3162300"/>
            <a:ext cx="9944100" cy="1352550"/>
          </a:xfrm>
          <a:prstGeom prst="roundRect">
            <a:avLst>
              <a:gd name="adj" fmla="val 12676"/>
            </a:avLst>
          </a:prstGeom>
          <a:solidFill>
            <a:srgbClr val="233A70"/>
          </a:solidFill>
          <a:ln w="0">
            <a:noFill/>
            <a:prstDash val="solid"/>
          </a:ln>
        </p:spPr>
        <p:txBody>
          <a:bodyPr/>
          <a:lstStyle/>
          <a:p>
            <a:endParaRPr/>
          </a:p>
        </p:txBody>
      </p:sp>
      <p:sp>
        <p:nvSpPr>
          <p:cNvPr id="18" name="Rettangolo 17">
            <a:extLst>
              <a:ext uri="{FF2B5EF4-FFF2-40B4-BE49-F238E27FC236}">
                <a16:creationId xmlns:a16="http://schemas.microsoft.com/office/drawing/2014/main" id="{77611C6C-126C-490B-8FFB-2004E5871B70}"/>
              </a:ext>
            </a:extLst>
          </p:cNvPr>
          <p:cNvSpPr>
            <a:spLocks noGrp="1"/>
          </p:cNvSpPr>
          <p:nvPr/>
        </p:nvSpPr>
        <p:spPr>
          <a:xfrm>
            <a:off x="1504950" y="3429000"/>
            <a:ext cx="9182100" cy="800100"/>
          </a:xfrm>
          <a:prstGeom prst="rect">
            <a:avLst/>
          </a:prstGeom>
          <a:noFill/>
          <a:ln w="0">
            <a:noFill/>
            <a:prstDash val="solid"/>
          </a:ln>
        </p:spPr>
        <p:txBody>
          <a:bodyPr wrap="square" lIns="0" tIns="0" rIns="0" bIns="0" anchor="ctr">
            <a:noAutofit/>
          </a:bodyPr>
          <a:lstStyle/>
          <a:p>
            <a:pPr algn="ctr">
              <a:buNone/>
              <a:defRPr sz="2400" b="1">
                <a:solidFill>
                  <a:srgbClr val="FFFFFF"/>
                </a:solidFill>
                <a:latin typeface="Arial"/>
                <a:ea typeface="Arial"/>
                <a:cs typeface="Arial"/>
              </a:defRPr>
            </a:pPr>
            <a:r>
              <a:rPr sz="2400" b="1">
                <a:solidFill>
                  <a:srgbClr val="FFFFFF"/>
                </a:solidFill>
                <a:latin typeface="Arial"/>
                <a:ea typeface="Arial"/>
                <a:cs typeface="Arial"/>
              </a:rPr>
              <a:t>How does forensic image triage behave under</a:t>
            </a:r>
          </a:p>
          <a:p>
            <a:pPr algn="ctr">
              <a:buNone/>
              <a:defRPr sz="2400" b="1">
                <a:solidFill>
                  <a:srgbClr val="FFFFFF"/>
                </a:solidFill>
                <a:latin typeface="Arial"/>
                <a:ea typeface="Arial"/>
                <a:cs typeface="Arial"/>
              </a:defRPr>
            </a:pPr>
            <a:r>
              <a:rPr sz="2400" b="1">
                <a:solidFill>
                  <a:srgbClr val="FFFFFF"/>
                </a:solidFill>
                <a:latin typeface="Arial"/>
                <a:ea typeface="Arial"/>
                <a:cs typeface="Arial"/>
              </a:rPr>
              <a:t>adversarial, anti-forensic and OOD inputs?</a:t>
            </a:r>
          </a:p>
        </p:txBody>
      </p:sp>
      <p:sp>
        <p:nvSpPr>
          <p:cNvPr id="19" name="Rettangolo 18">
            <a:extLst>
              <a:ext uri="{FF2B5EF4-FFF2-40B4-BE49-F238E27FC236}">
                <a16:creationId xmlns:a16="http://schemas.microsoft.com/office/drawing/2014/main" id="{DDA7D3C5-CB47-4C4D-BA38-0571EC45CEF8}"/>
              </a:ext>
            </a:extLst>
          </p:cNvPr>
          <p:cNvSpPr>
            <a:spLocks noGrp="1"/>
          </p:cNvSpPr>
          <p:nvPr/>
        </p:nvSpPr>
        <p:spPr>
          <a:xfrm>
            <a:off x="876300" y="4857750"/>
            <a:ext cx="9982200" cy="476250"/>
          </a:xfrm>
          <a:prstGeom prst="rect">
            <a:avLst/>
          </a:prstGeom>
          <a:noFill/>
          <a:ln w="0">
            <a:noFill/>
            <a:prstDash val="solid"/>
          </a:ln>
        </p:spPr>
        <p:txBody>
          <a:bodyPr wrap="square" lIns="0" tIns="0" rIns="0" bIns="0" anchor="ctr">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Clean accuracy may look reassuring while a relevant item is quietly moved out of the analyst’s priority queue.</a:t>
            </a:r>
          </a:p>
        </p:txBody>
      </p:sp>
      <p:sp>
        <p:nvSpPr>
          <p:cNvPr id="20" name="Rettangolo con angoli arrotondati 19">
            <a:extLst>
              <a:ext uri="{FF2B5EF4-FFF2-40B4-BE49-F238E27FC236}">
                <a16:creationId xmlns:a16="http://schemas.microsoft.com/office/drawing/2014/main" id="{59855B48-B64C-42AD-8C97-0C65B6AAAAF3}"/>
              </a:ext>
            </a:extLst>
          </p:cNvPr>
          <p:cNvSpPr>
            <a:spLocks noGrp="1"/>
          </p:cNvSpPr>
          <p:nvPr/>
        </p:nvSpPr>
        <p:spPr>
          <a:xfrm>
            <a:off x="2000250" y="5600700"/>
            <a:ext cx="8191500" cy="514350"/>
          </a:xfrm>
          <a:prstGeom prst="roundRect">
            <a:avLst>
              <a:gd name="adj" fmla="val 25926"/>
            </a:avLst>
          </a:prstGeom>
          <a:solidFill>
            <a:srgbClr val="E7F8F0"/>
          </a:solidFill>
          <a:ln w="0">
            <a:noFill/>
            <a:prstDash val="solid"/>
          </a:ln>
        </p:spPr>
        <p:txBody>
          <a:bodyPr/>
          <a:lstStyle/>
          <a:p>
            <a:endParaRPr/>
          </a:p>
        </p:txBody>
      </p:sp>
      <p:sp>
        <p:nvSpPr>
          <p:cNvPr id="21" name="Rettangolo 20">
            <a:extLst>
              <a:ext uri="{FF2B5EF4-FFF2-40B4-BE49-F238E27FC236}">
                <a16:creationId xmlns:a16="http://schemas.microsoft.com/office/drawing/2014/main" id="{C5A6713C-2452-4272-91E6-86D11A7F5573}"/>
              </a:ext>
            </a:extLst>
          </p:cNvPr>
          <p:cNvSpPr>
            <a:spLocks noGrp="1"/>
          </p:cNvSpPr>
          <p:nvPr/>
        </p:nvSpPr>
        <p:spPr>
          <a:xfrm>
            <a:off x="2266950" y="5743575"/>
            <a:ext cx="7658100" cy="2476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Contribution: auditable robustness assessment—not a new firearm classifier.</a:t>
            </a:r>
          </a:p>
        </p:txBody>
      </p:sp>
    </p:spTree>
    <p:extLst>
      <p:ext uri="{BB962C8B-B14F-4D97-AF65-F5344CB8AC3E}">
        <p14:creationId xmlns:p14="http://schemas.microsoft.com/office/powerpoint/2010/main" val="7108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2" name="Rettangolo 31">
            <a:extLst>
              <a:ext uri="{FF2B5EF4-FFF2-40B4-BE49-F238E27FC236}">
                <a16:creationId xmlns:a16="http://schemas.microsoft.com/office/drawing/2014/main" id="{6C0B1A53-D25B-4A63-AC3D-8F73AF1B454A}"/>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BB695DD-AE95-440C-B8F5-952448E18C0F}"/>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FAIRLab makes robustness auditable</a:t>
            </a:r>
          </a:p>
        </p:txBody>
      </p:sp>
      <p:sp>
        <p:nvSpPr>
          <p:cNvPr id="3" name="Rettangolo 2">
            <a:extLst>
              <a:ext uri="{FF2B5EF4-FFF2-40B4-BE49-F238E27FC236}">
                <a16:creationId xmlns:a16="http://schemas.microsoft.com/office/drawing/2014/main" id="{043FF31C-DB46-4E33-817A-CBBE738643F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D319FC2A-5C48-4679-98E3-D8A119AEE97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B214099-1E39-4983-88F2-9CF7A1ED250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03</a:t>
            </a:r>
          </a:p>
        </p:txBody>
      </p:sp>
      <p:sp>
        <p:nvSpPr>
          <p:cNvPr id="6" name="Rettangolo con angoli arrotondati 5">
            <a:extLst>
              <a:ext uri="{FF2B5EF4-FFF2-40B4-BE49-F238E27FC236}">
                <a16:creationId xmlns:a16="http://schemas.microsoft.com/office/drawing/2014/main" id="{F91845BA-A49A-4FC8-8C94-20F23A40393D}"/>
              </a:ext>
            </a:extLst>
          </p:cNvPr>
          <p:cNvSpPr>
            <a:spLocks noGrp="1"/>
          </p:cNvSpPr>
          <p:nvPr/>
        </p:nvSpPr>
        <p:spPr>
          <a:xfrm>
            <a:off x="685800" y="1524000"/>
            <a:ext cx="3048000" cy="1200150"/>
          </a:xfrm>
          <a:prstGeom prst="roundRect">
            <a:avLst>
              <a:gd name="adj" fmla="val 12698"/>
            </a:avLst>
          </a:prstGeom>
          <a:solidFill>
            <a:srgbClr val="FFFFFF"/>
          </a:solidFill>
          <a:ln w="9525">
            <a:solidFill>
              <a:srgbClr val="D9DEE8"/>
            </a:solidFill>
            <a:prstDash val="solid"/>
          </a:ln>
        </p:spPr>
        <p:txBody>
          <a:bodyPr/>
          <a:lstStyle/>
          <a:p>
            <a:endParaRPr/>
          </a:p>
        </p:txBody>
      </p:sp>
      <p:sp>
        <p:nvSpPr>
          <p:cNvPr id="7" name="Rettangolo 6">
            <a:extLst>
              <a:ext uri="{FF2B5EF4-FFF2-40B4-BE49-F238E27FC236}">
                <a16:creationId xmlns:a16="http://schemas.microsoft.com/office/drawing/2014/main" id="{4B2F791D-898D-4C09-88CD-BCF8DAF22C9B}"/>
              </a:ext>
            </a:extLst>
          </p:cNvPr>
          <p:cNvSpPr>
            <a:spLocks noGrp="1"/>
          </p:cNvSpPr>
          <p:nvPr/>
        </p:nvSpPr>
        <p:spPr>
          <a:xfrm>
            <a:off x="8763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 · SOURCE</a:t>
            </a:r>
          </a:p>
        </p:txBody>
      </p:sp>
      <p:sp>
        <p:nvSpPr>
          <p:cNvPr id="8" name="Rettangolo 7">
            <a:extLst>
              <a:ext uri="{FF2B5EF4-FFF2-40B4-BE49-F238E27FC236}">
                <a16:creationId xmlns:a16="http://schemas.microsoft.com/office/drawing/2014/main" id="{DD23DB3C-604D-4EEA-A4FA-3C66E44C8E4F}"/>
              </a:ext>
            </a:extLst>
          </p:cNvPr>
          <p:cNvSpPr>
            <a:spLocks noGrp="1"/>
          </p:cNvSpPr>
          <p:nvPr/>
        </p:nvSpPr>
        <p:spPr>
          <a:xfrm>
            <a:off x="8763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heterogeneous pool</a:t>
            </a:r>
          </a:p>
        </p:txBody>
      </p:sp>
      <p:sp>
        <p:nvSpPr>
          <p:cNvPr id="9" name="Rettangolo con angoli arrotondati 8">
            <a:extLst>
              <a:ext uri="{FF2B5EF4-FFF2-40B4-BE49-F238E27FC236}">
                <a16:creationId xmlns:a16="http://schemas.microsoft.com/office/drawing/2014/main" id="{99A661A2-1646-46C8-B23D-CEAE1DEB18C1}"/>
              </a:ext>
            </a:extLst>
          </p:cNvPr>
          <p:cNvSpPr>
            <a:spLocks noGrp="1"/>
          </p:cNvSpPr>
          <p:nvPr/>
        </p:nvSpPr>
        <p:spPr>
          <a:xfrm>
            <a:off x="4343400" y="1524000"/>
            <a:ext cx="3048000" cy="1200150"/>
          </a:xfrm>
          <a:prstGeom prst="roundRect">
            <a:avLst>
              <a:gd name="adj" fmla="val 12698"/>
            </a:avLst>
          </a:prstGeom>
          <a:solidFill>
            <a:srgbClr val="E7F8F0"/>
          </a:solidFill>
          <a:ln w="9525">
            <a:solidFill>
              <a:srgbClr val="E7F8F0"/>
            </a:solidFill>
            <a:prstDash val="solid"/>
          </a:ln>
        </p:spPr>
        <p:txBody>
          <a:bodyPr/>
          <a:lstStyle/>
          <a:p>
            <a:endParaRPr/>
          </a:p>
        </p:txBody>
      </p:sp>
      <p:sp>
        <p:nvSpPr>
          <p:cNvPr id="10" name="Rettangolo 9">
            <a:extLst>
              <a:ext uri="{FF2B5EF4-FFF2-40B4-BE49-F238E27FC236}">
                <a16:creationId xmlns:a16="http://schemas.microsoft.com/office/drawing/2014/main" id="{AFED12D9-FF88-4E60-BD67-EFEB869BA78A}"/>
              </a:ext>
            </a:extLst>
          </p:cNvPr>
          <p:cNvSpPr>
            <a:spLocks noGrp="1"/>
          </p:cNvSpPr>
          <p:nvPr/>
        </p:nvSpPr>
        <p:spPr>
          <a:xfrm>
            <a:off x="45339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02 · VALIDATE</a:t>
            </a:r>
          </a:p>
        </p:txBody>
      </p:sp>
      <p:sp>
        <p:nvSpPr>
          <p:cNvPr id="11" name="Rettangolo 10">
            <a:extLst>
              <a:ext uri="{FF2B5EF4-FFF2-40B4-BE49-F238E27FC236}">
                <a16:creationId xmlns:a16="http://schemas.microsoft.com/office/drawing/2014/main" id="{3160162F-71B4-4503-94D0-C14C526A20C3}"/>
              </a:ext>
            </a:extLst>
          </p:cNvPr>
          <p:cNvSpPr>
            <a:spLocks noGrp="1"/>
          </p:cNvSpPr>
          <p:nvPr/>
        </p:nvSpPr>
        <p:spPr>
          <a:xfrm>
            <a:off x="45339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review + dedup</a:t>
            </a:r>
          </a:p>
        </p:txBody>
      </p:sp>
      <p:sp>
        <p:nvSpPr>
          <p:cNvPr id="12" name="Rettangolo con angoli arrotondati 11">
            <a:extLst>
              <a:ext uri="{FF2B5EF4-FFF2-40B4-BE49-F238E27FC236}">
                <a16:creationId xmlns:a16="http://schemas.microsoft.com/office/drawing/2014/main" id="{4441295A-C9D9-4A2C-BE6D-DA5D40668718}"/>
              </a:ext>
            </a:extLst>
          </p:cNvPr>
          <p:cNvSpPr>
            <a:spLocks noGrp="1"/>
          </p:cNvSpPr>
          <p:nvPr/>
        </p:nvSpPr>
        <p:spPr>
          <a:xfrm>
            <a:off x="8001000" y="1524000"/>
            <a:ext cx="3048000" cy="1200150"/>
          </a:xfrm>
          <a:prstGeom prst="roundRect">
            <a:avLst>
              <a:gd name="adj" fmla="val 12698"/>
            </a:avLst>
          </a:prstGeom>
          <a:solidFill>
            <a:srgbClr val="E9EEF8"/>
          </a:solidFill>
          <a:ln w="9525">
            <a:solidFill>
              <a:srgbClr val="E9EEF8"/>
            </a:solidFill>
            <a:prstDash val="solid"/>
          </a:ln>
        </p:spPr>
        <p:txBody>
          <a:bodyPr/>
          <a:lstStyle/>
          <a:p>
            <a:endParaRPr/>
          </a:p>
        </p:txBody>
      </p:sp>
      <p:sp>
        <p:nvSpPr>
          <p:cNvPr id="13" name="Rettangolo 12">
            <a:extLst>
              <a:ext uri="{FF2B5EF4-FFF2-40B4-BE49-F238E27FC236}">
                <a16:creationId xmlns:a16="http://schemas.microsoft.com/office/drawing/2014/main" id="{338253A6-A215-4512-91B2-D613B8843D99}"/>
              </a:ext>
            </a:extLst>
          </p:cNvPr>
          <p:cNvSpPr>
            <a:spLocks noGrp="1"/>
          </p:cNvSpPr>
          <p:nvPr/>
        </p:nvSpPr>
        <p:spPr>
          <a:xfrm>
            <a:off x="81915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03 · FREEZE</a:t>
            </a:r>
          </a:p>
        </p:txBody>
      </p:sp>
      <p:sp>
        <p:nvSpPr>
          <p:cNvPr id="14" name="Rettangolo 13">
            <a:extLst>
              <a:ext uri="{FF2B5EF4-FFF2-40B4-BE49-F238E27FC236}">
                <a16:creationId xmlns:a16="http://schemas.microsoft.com/office/drawing/2014/main" id="{2E74B2CF-06EF-494C-B330-0AB6D414FA74}"/>
              </a:ext>
            </a:extLst>
          </p:cNvPr>
          <p:cNvSpPr>
            <a:spLocks noGrp="1"/>
          </p:cNvSpPr>
          <p:nvPr/>
        </p:nvSpPr>
        <p:spPr>
          <a:xfrm>
            <a:off x="81915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1,500 sources</a:t>
            </a:r>
          </a:p>
        </p:txBody>
      </p:sp>
      <p:sp>
        <p:nvSpPr>
          <p:cNvPr id="15" name="Rettangolo con angoli arrotondati 14">
            <a:extLst>
              <a:ext uri="{FF2B5EF4-FFF2-40B4-BE49-F238E27FC236}">
                <a16:creationId xmlns:a16="http://schemas.microsoft.com/office/drawing/2014/main" id="{D680E11F-9529-4EA7-B8B2-3E7934F1DACD}"/>
              </a:ext>
            </a:extLst>
          </p:cNvPr>
          <p:cNvSpPr>
            <a:spLocks noGrp="1"/>
          </p:cNvSpPr>
          <p:nvPr/>
        </p:nvSpPr>
        <p:spPr>
          <a:xfrm>
            <a:off x="8001000" y="3409950"/>
            <a:ext cx="3048000" cy="1200150"/>
          </a:xfrm>
          <a:prstGeom prst="roundRect">
            <a:avLst>
              <a:gd name="adj" fmla="val 12698"/>
            </a:avLst>
          </a:prstGeom>
          <a:solidFill>
            <a:srgbClr val="FFF4CD"/>
          </a:solidFill>
          <a:ln w="9525">
            <a:solidFill>
              <a:srgbClr val="FFF4CD"/>
            </a:solidFill>
            <a:prstDash val="solid"/>
          </a:ln>
        </p:spPr>
        <p:txBody>
          <a:bodyPr/>
          <a:lstStyle/>
          <a:p>
            <a:endParaRPr/>
          </a:p>
        </p:txBody>
      </p:sp>
      <p:sp>
        <p:nvSpPr>
          <p:cNvPr id="16" name="Rettangolo 15">
            <a:extLst>
              <a:ext uri="{FF2B5EF4-FFF2-40B4-BE49-F238E27FC236}">
                <a16:creationId xmlns:a16="http://schemas.microsoft.com/office/drawing/2014/main" id="{2EEF2A37-33E3-4CAF-8CCD-8C45ED364321}"/>
              </a:ext>
            </a:extLst>
          </p:cNvPr>
          <p:cNvSpPr>
            <a:spLocks noGrp="1"/>
          </p:cNvSpPr>
          <p:nvPr/>
        </p:nvSpPr>
        <p:spPr>
          <a:xfrm>
            <a:off x="81915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04 · PERTURB</a:t>
            </a:r>
          </a:p>
        </p:txBody>
      </p:sp>
      <p:sp>
        <p:nvSpPr>
          <p:cNvPr id="17" name="Rettangolo 16">
            <a:extLst>
              <a:ext uri="{FF2B5EF4-FFF2-40B4-BE49-F238E27FC236}">
                <a16:creationId xmlns:a16="http://schemas.microsoft.com/office/drawing/2014/main" id="{BE58FD48-63A5-43A4-AE2D-68109E9A97B5}"/>
              </a:ext>
            </a:extLst>
          </p:cNvPr>
          <p:cNvSpPr>
            <a:spLocks noGrp="1"/>
          </p:cNvSpPr>
          <p:nvPr/>
        </p:nvSpPr>
        <p:spPr>
          <a:xfrm>
            <a:off x="81915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10,000 variants</a:t>
            </a:r>
          </a:p>
        </p:txBody>
      </p:sp>
      <p:sp>
        <p:nvSpPr>
          <p:cNvPr id="18" name="Rettangolo con angoli arrotondati 17">
            <a:extLst>
              <a:ext uri="{FF2B5EF4-FFF2-40B4-BE49-F238E27FC236}">
                <a16:creationId xmlns:a16="http://schemas.microsoft.com/office/drawing/2014/main" id="{6D80ED9B-D274-464D-8DFA-5D4EB141CE12}"/>
              </a:ext>
            </a:extLst>
          </p:cNvPr>
          <p:cNvSpPr>
            <a:spLocks noGrp="1"/>
          </p:cNvSpPr>
          <p:nvPr/>
        </p:nvSpPr>
        <p:spPr>
          <a:xfrm>
            <a:off x="4343400" y="3409950"/>
            <a:ext cx="3048000" cy="1200150"/>
          </a:xfrm>
          <a:prstGeom prst="roundRect">
            <a:avLst>
              <a:gd name="adj" fmla="val 12698"/>
            </a:avLst>
          </a:prstGeom>
          <a:solidFill>
            <a:srgbClr val="FFFFFF"/>
          </a:solidFill>
          <a:ln w="9525">
            <a:solidFill>
              <a:srgbClr val="D9DEE8"/>
            </a:solidFill>
            <a:prstDash val="solid"/>
          </a:ln>
        </p:spPr>
        <p:txBody>
          <a:bodyPr/>
          <a:lstStyle/>
          <a:p>
            <a:endParaRPr/>
          </a:p>
        </p:txBody>
      </p:sp>
      <p:sp>
        <p:nvSpPr>
          <p:cNvPr id="19" name="Rettangolo 18">
            <a:extLst>
              <a:ext uri="{FF2B5EF4-FFF2-40B4-BE49-F238E27FC236}">
                <a16:creationId xmlns:a16="http://schemas.microsoft.com/office/drawing/2014/main" id="{8C00595D-2E4C-4798-9AFA-918EB03D6CE1}"/>
              </a:ext>
            </a:extLst>
          </p:cNvPr>
          <p:cNvSpPr>
            <a:spLocks noGrp="1"/>
          </p:cNvSpPr>
          <p:nvPr/>
        </p:nvSpPr>
        <p:spPr>
          <a:xfrm>
            <a:off x="45339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05 · EVALUATE</a:t>
            </a:r>
          </a:p>
        </p:txBody>
      </p:sp>
      <p:sp>
        <p:nvSpPr>
          <p:cNvPr id="20" name="Rettangolo 19">
            <a:extLst>
              <a:ext uri="{FF2B5EF4-FFF2-40B4-BE49-F238E27FC236}">
                <a16:creationId xmlns:a16="http://schemas.microsoft.com/office/drawing/2014/main" id="{25CC8402-52F3-415B-8334-9D28329B23A7}"/>
              </a:ext>
            </a:extLst>
          </p:cNvPr>
          <p:cNvSpPr>
            <a:spLocks noGrp="1"/>
          </p:cNvSpPr>
          <p:nvPr/>
        </p:nvSpPr>
        <p:spPr>
          <a:xfrm>
            <a:off x="45339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3 proxies + 6 configs</a:t>
            </a:r>
          </a:p>
        </p:txBody>
      </p:sp>
      <p:sp>
        <p:nvSpPr>
          <p:cNvPr id="21" name="Rettangolo con angoli arrotondati 20">
            <a:extLst>
              <a:ext uri="{FF2B5EF4-FFF2-40B4-BE49-F238E27FC236}">
                <a16:creationId xmlns:a16="http://schemas.microsoft.com/office/drawing/2014/main" id="{F96800EB-DDFB-441A-ACC4-724820F4F532}"/>
              </a:ext>
            </a:extLst>
          </p:cNvPr>
          <p:cNvSpPr>
            <a:spLocks noGrp="1"/>
          </p:cNvSpPr>
          <p:nvPr/>
        </p:nvSpPr>
        <p:spPr>
          <a:xfrm>
            <a:off x="685800" y="3409950"/>
            <a:ext cx="3048000" cy="1200150"/>
          </a:xfrm>
          <a:prstGeom prst="roundRect">
            <a:avLst>
              <a:gd name="adj" fmla="val 12698"/>
            </a:avLst>
          </a:prstGeom>
          <a:solidFill>
            <a:srgbClr val="E7F8F0"/>
          </a:solidFill>
          <a:ln w="9525">
            <a:solidFill>
              <a:srgbClr val="E7F8F0"/>
            </a:solidFill>
            <a:prstDash val="solid"/>
          </a:ln>
        </p:spPr>
        <p:txBody>
          <a:bodyPr/>
          <a:lstStyle/>
          <a:p>
            <a:endParaRPr/>
          </a:p>
        </p:txBody>
      </p:sp>
      <p:sp>
        <p:nvSpPr>
          <p:cNvPr id="22" name="Rettangolo 21">
            <a:extLst>
              <a:ext uri="{FF2B5EF4-FFF2-40B4-BE49-F238E27FC236}">
                <a16:creationId xmlns:a16="http://schemas.microsoft.com/office/drawing/2014/main" id="{445E9920-1B66-4358-8F69-F6C653EC3630}"/>
              </a:ext>
            </a:extLst>
          </p:cNvPr>
          <p:cNvSpPr>
            <a:spLocks noGrp="1"/>
          </p:cNvSpPr>
          <p:nvPr/>
        </p:nvSpPr>
        <p:spPr>
          <a:xfrm>
            <a:off x="8763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06 · INTERPRET</a:t>
            </a:r>
          </a:p>
        </p:txBody>
      </p:sp>
      <p:sp>
        <p:nvSpPr>
          <p:cNvPr id="23" name="Rettangolo 22">
            <a:extLst>
              <a:ext uri="{FF2B5EF4-FFF2-40B4-BE49-F238E27FC236}">
                <a16:creationId xmlns:a16="http://schemas.microsoft.com/office/drawing/2014/main" id="{80975C52-4A62-447C-ADE4-34216CFBF10A}"/>
              </a:ext>
            </a:extLst>
          </p:cNvPr>
          <p:cNvSpPr>
            <a:spLocks noGrp="1"/>
          </p:cNvSpPr>
          <p:nvPr/>
        </p:nvSpPr>
        <p:spPr>
          <a:xfrm>
            <a:off x="8763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normalize + interpret</a:t>
            </a:r>
          </a:p>
        </p:txBody>
      </p:sp>
      <p:sp>
        <p:nvSpPr>
          <p:cNvPr id="24" name="Rettangolo 23">
            <a:extLst>
              <a:ext uri="{FF2B5EF4-FFF2-40B4-BE49-F238E27FC236}">
                <a16:creationId xmlns:a16="http://schemas.microsoft.com/office/drawing/2014/main" id="{38172E1D-A294-4F18-8D9E-59C9800F9A07}"/>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5" name="Rettangolo 24">
            <a:extLst>
              <a:ext uri="{FF2B5EF4-FFF2-40B4-BE49-F238E27FC236}">
                <a16:creationId xmlns:a16="http://schemas.microsoft.com/office/drawing/2014/main" id="{B0C79570-604F-4B83-988C-6FFC8922885B}"/>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6" name="Rettangolo 25">
            <a:extLst>
              <a:ext uri="{FF2B5EF4-FFF2-40B4-BE49-F238E27FC236}">
                <a16:creationId xmlns:a16="http://schemas.microsoft.com/office/drawing/2014/main" id="{F96F2BBD-EA80-4DB4-86CA-2A3F56F711DE}"/>
              </a:ext>
            </a:extLst>
          </p:cNvPr>
          <p:cNvSpPr>
            <a:spLocks noGrp="1"/>
          </p:cNvSpPr>
          <p:nvPr/>
        </p:nvSpPr>
        <p:spPr>
          <a:xfrm>
            <a:off x="9239250" y="28194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7" name="Rettangolo 26">
            <a:extLst>
              <a:ext uri="{FF2B5EF4-FFF2-40B4-BE49-F238E27FC236}">
                <a16:creationId xmlns:a16="http://schemas.microsoft.com/office/drawing/2014/main" id="{44084EFE-410F-44E2-89FE-E361686FEAB1}"/>
              </a:ext>
            </a:extLst>
          </p:cNvPr>
          <p:cNvSpPr>
            <a:spLocks noGrp="1"/>
          </p:cNvSpPr>
          <p:nvPr/>
        </p:nvSpPr>
        <p:spPr>
          <a:xfrm>
            <a:off x="74104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8" name="Rettangolo 27">
            <a:extLst>
              <a:ext uri="{FF2B5EF4-FFF2-40B4-BE49-F238E27FC236}">
                <a16:creationId xmlns:a16="http://schemas.microsoft.com/office/drawing/2014/main" id="{28D85B2B-3959-47A8-B720-64C081695514}"/>
              </a:ext>
            </a:extLst>
          </p:cNvPr>
          <p:cNvSpPr>
            <a:spLocks noGrp="1"/>
          </p:cNvSpPr>
          <p:nvPr/>
        </p:nvSpPr>
        <p:spPr>
          <a:xfrm>
            <a:off x="37528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9" name="Rettangolo con angoli arrotondati 28">
            <a:extLst>
              <a:ext uri="{FF2B5EF4-FFF2-40B4-BE49-F238E27FC236}">
                <a16:creationId xmlns:a16="http://schemas.microsoft.com/office/drawing/2014/main" id="{2A76AEB6-1FF2-487B-8819-3E7FBEC77FE1}"/>
              </a:ext>
            </a:extLst>
          </p:cNvPr>
          <p:cNvSpPr>
            <a:spLocks noGrp="1"/>
          </p:cNvSpPr>
          <p:nvPr/>
        </p:nvSpPr>
        <p:spPr>
          <a:xfrm>
            <a:off x="1123950" y="5181600"/>
            <a:ext cx="9944100" cy="895350"/>
          </a:xfrm>
          <a:prstGeom prst="roundRect">
            <a:avLst>
              <a:gd name="adj" fmla="val 17021"/>
            </a:avLst>
          </a:prstGeom>
          <a:solidFill>
            <a:srgbClr val="233A70"/>
          </a:solidFill>
          <a:ln w="0">
            <a:noFill/>
            <a:prstDash val="solid"/>
          </a:ln>
        </p:spPr>
        <p:txBody>
          <a:bodyPr/>
          <a:lstStyle/>
          <a:p>
            <a:endParaRPr/>
          </a:p>
        </p:txBody>
      </p:sp>
      <p:sp>
        <p:nvSpPr>
          <p:cNvPr id="30" name="Rettangolo 29">
            <a:extLst>
              <a:ext uri="{FF2B5EF4-FFF2-40B4-BE49-F238E27FC236}">
                <a16:creationId xmlns:a16="http://schemas.microsoft.com/office/drawing/2014/main" id="{E50CBE53-BF18-4A80-A29D-95B884CE3AAD}"/>
              </a:ext>
            </a:extLst>
          </p:cNvPr>
          <p:cNvSpPr>
            <a:spLocks noGrp="1"/>
          </p:cNvSpPr>
          <p:nvPr/>
        </p:nvSpPr>
        <p:spPr>
          <a:xfrm>
            <a:off x="1524000" y="5314950"/>
            <a:ext cx="9144000" cy="2286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TRACEABILITY THROUGHOUT</a:t>
            </a:r>
          </a:p>
        </p:txBody>
      </p:sp>
      <p:sp>
        <p:nvSpPr>
          <p:cNvPr id="31" name="Rettangolo 30">
            <a:extLst>
              <a:ext uri="{FF2B5EF4-FFF2-40B4-BE49-F238E27FC236}">
                <a16:creationId xmlns:a16="http://schemas.microsoft.com/office/drawing/2014/main" id="{3A3D9C14-794F-4016-9A53-92CC5AA4F5CE}"/>
              </a:ext>
            </a:extLst>
          </p:cNvPr>
          <p:cNvSpPr>
            <a:spLocks noGrp="1"/>
          </p:cNvSpPr>
          <p:nvPr/>
        </p:nvSpPr>
        <p:spPr>
          <a:xfrm>
            <a:off x="1381125" y="5676900"/>
            <a:ext cx="9429750" cy="228600"/>
          </a:xfrm>
          <a:prstGeom prst="rect">
            <a:avLst/>
          </a:prstGeom>
          <a:noFill/>
          <a:ln w="0">
            <a:noFill/>
            <a:prstDash val="solid"/>
          </a:ln>
        </p:spPr>
        <p:txBody>
          <a:bodyPr wrap="square" lIns="0" tIns="0" rIns="0" bIns="0" anchor="t">
            <a:noAutofit/>
          </a:bodyPr>
          <a:lstStyle/>
          <a:p>
            <a:pPr algn="ctr">
              <a:buNone/>
              <a:defRPr sz="1425" b="0">
                <a:solidFill>
                  <a:srgbClr val="FFFFFF"/>
                </a:solidFill>
                <a:latin typeface="Arial"/>
                <a:ea typeface="Arial"/>
                <a:cs typeface="Arial"/>
              </a:defRPr>
            </a:pPr>
            <a:r>
              <a:rPr sz="1425" b="0">
                <a:solidFill>
                  <a:srgbClr val="FFFFFF"/>
                </a:solidFill>
                <a:latin typeface="Arial"/>
                <a:ea typeface="Arial"/>
                <a:cs typeface="Arial"/>
              </a:rPr>
              <a:t>deterministic identifiers  ·  manifests  ·  checksums  ·  frozen configurations  ·  source-to-output links</a:t>
            </a:r>
          </a:p>
        </p:txBody>
      </p:sp>
    </p:spTree>
    <p:extLst>
      <p:ext uri="{BB962C8B-B14F-4D97-AF65-F5344CB8AC3E}">
        <p14:creationId xmlns:p14="http://schemas.microsoft.com/office/powerpoint/2010/main" val="485154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F233B7B-EA32-4CE0-BCAD-4A6722324753}"/>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19E34FA-C1B9-47A3-8BA3-61812BD51E7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One population becomes 11,500 traceable files</a:t>
            </a:r>
          </a:p>
        </p:txBody>
      </p:sp>
      <p:sp>
        <p:nvSpPr>
          <p:cNvPr id="3" name="Rettangolo 2">
            <a:extLst>
              <a:ext uri="{FF2B5EF4-FFF2-40B4-BE49-F238E27FC236}">
                <a16:creationId xmlns:a16="http://schemas.microsoft.com/office/drawing/2014/main" id="{0D8F709E-76E6-4E38-8E82-5BE12BAB121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C66E610D-CF25-46AB-B840-2131076D741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51A81E0D-402E-4998-85C6-567245A7304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04</a:t>
            </a:r>
          </a:p>
        </p:txBody>
      </p:sp>
      <p:sp>
        <p:nvSpPr>
          <p:cNvPr id="6" name="Rettangolo 5">
            <a:extLst>
              <a:ext uri="{FF2B5EF4-FFF2-40B4-BE49-F238E27FC236}">
                <a16:creationId xmlns:a16="http://schemas.microsoft.com/office/drawing/2014/main" id="{52FE96BF-C5D8-4EBB-ADFA-45DAE60C8A98}"/>
              </a:ext>
            </a:extLst>
          </p:cNvPr>
          <p:cNvSpPr>
            <a:spLocks noGrp="1"/>
          </p:cNvSpPr>
          <p:nvPr/>
        </p:nvSpPr>
        <p:spPr>
          <a:xfrm>
            <a:off x="685800" y="1390650"/>
            <a:ext cx="10820400" cy="533400"/>
          </a:xfrm>
          <a:prstGeom prst="rect">
            <a:avLst/>
          </a:prstGeom>
          <a:noFill/>
          <a:ln w="0">
            <a:noFill/>
            <a:prstDash val="solid"/>
          </a:ln>
        </p:spPr>
        <p:txBody>
          <a:bodyPr wrap="square" lIns="0" tIns="0" rIns="0" bIns="0" anchor="t">
            <a:noAutofit/>
          </a:bodyPr>
          <a:lstStyle/>
          <a:p>
            <a:pPr algn="ctr">
              <a:buNone/>
              <a:defRPr sz="3225" b="1">
                <a:solidFill>
                  <a:srgbClr val="233A70"/>
                </a:solidFill>
                <a:latin typeface="Arial"/>
                <a:ea typeface="Arial"/>
                <a:cs typeface="Arial"/>
              </a:defRPr>
            </a:pPr>
            <a:r>
              <a:rPr sz="3225" b="1">
                <a:solidFill>
                  <a:srgbClr val="233A70"/>
                </a:solidFill>
                <a:latin typeface="Arial"/>
                <a:ea typeface="Arial"/>
                <a:cs typeface="Arial"/>
              </a:rPr>
              <a:t>1,500 SOURCE IMAGES</a:t>
            </a:r>
          </a:p>
        </p:txBody>
      </p:sp>
      <p:sp>
        <p:nvSpPr>
          <p:cNvPr id="7" name="Rettangolo con angoli arrotondati 6">
            <a:extLst>
              <a:ext uri="{FF2B5EF4-FFF2-40B4-BE49-F238E27FC236}">
                <a16:creationId xmlns:a16="http://schemas.microsoft.com/office/drawing/2014/main" id="{A8148055-D97E-4B5A-9B6A-F238DC4DBA1C}"/>
              </a:ext>
            </a:extLst>
          </p:cNvPr>
          <p:cNvSpPr>
            <a:spLocks noGrp="1"/>
          </p:cNvSpPr>
          <p:nvPr/>
        </p:nvSpPr>
        <p:spPr>
          <a:xfrm>
            <a:off x="685800" y="2114550"/>
            <a:ext cx="3048000" cy="1181100"/>
          </a:xfrm>
          <a:prstGeom prst="roundRect">
            <a:avLst>
              <a:gd name="adj" fmla="val 12903"/>
            </a:avLst>
          </a:prstGeom>
          <a:solidFill>
            <a:srgbClr val="FBEAEA"/>
          </a:solidFill>
          <a:ln w="0">
            <a:noFill/>
            <a:prstDash val="solid"/>
          </a:ln>
        </p:spPr>
        <p:txBody>
          <a:bodyPr/>
          <a:lstStyle/>
          <a:p>
            <a:endParaRPr/>
          </a:p>
        </p:txBody>
      </p:sp>
      <p:sp>
        <p:nvSpPr>
          <p:cNvPr id="8" name="Rettangolo 7">
            <a:extLst>
              <a:ext uri="{FF2B5EF4-FFF2-40B4-BE49-F238E27FC236}">
                <a16:creationId xmlns:a16="http://schemas.microsoft.com/office/drawing/2014/main" id="{67CF2057-B56B-4EF8-B891-1D8A8FB5D789}"/>
              </a:ext>
            </a:extLst>
          </p:cNvPr>
          <p:cNvSpPr>
            <a:spLocks noGrp="1"/>
          </p:cNvSpPr>
          <p:nvPr/>
        </p:nvSpPr>
        <p:spPr>
          <a:xfrm>
            <a:off x="8763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BE3C37"/>
                </a:solidFill>
                <a:latin typeface="Arial"/>
                <a:ea typeface="Arial"/>
                <a:cs typeface="Arial"/>
              </a:defRPr>
            </a:pPr>
            <a:r>
              <a:rPr sz="3150" b="1">
                <a:solidFill>
                  <a:srgbClr val="BE3C37"/>
                </a:solidFill>
                <a:latin typeface="Arial"/>
                <a:ea typeface="Arial"/>
                <a:cs typeface="Arial"/>
              </a:rPr>
              <a:t>500</a:t>
            </a:r>
          </a:p>
        </p:txBody>
      </p:sp>
      <p:sp>
        <p:nvSpPr>
          <p:cNvPr id="9" name="Rettangolo 8">
            <a:extLst>
              <a:ext uri="{FF2B5EF4-FFF2-40B4-BE49-F238E27FC236}">
                <a16:creationId xmlns:a16="http://schemas.microsoft.com/office/drawing/2014/main" id="{C91F0788-58B8-4BE5-B7B6-9DA31BD87AB9}"/>
              </a:ext>
            </a:extLst>
          </p:cNvPr>
          <p:cNvSpPr>
            <a:spLocks noGrp="1"/>
          </p:cNvSpPr>
          <p:nvPr/>
        </p:nvSpPr>
        <p:spPr>
          <a:xfrm>
            <a:off x="8763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weapon</a:t>
            </a:r>
          </a:p>
        </p:txBody>
      </p:sp>
      <p:sp>
        <p:nvSpPr>
          <p:cNvPr id="10" name="Rettangolo con angoli arrotondati 9">
            <a:extLst>
              <a:ext uri="{FF2B5EF4-FFF2-40B4-BE49-F238E27FC236}">
                <a16:creationId xmlns:a16="http://schemas.microsoft.com/office/drawing/2014/main" id="{DAD1981F-B9B3-4955-8E93-2C4366243B80}"/>
              </a:ext>
            </a:extLst>
          </p:cNvPr>
          <p:cNvSpPr>
            <a:spLocks noGrp="1"/>
          </p:cNvSpPr>
          <p:nvPr/>
        </p:nvSpPr>
        <p:spPr>
          <a:xfrm>
            <a:off x="4343400" y="2114550"/>
            <a:ext cx="3048000" cy="1181100"/>
          </a:xfrm>
          <a:prstGeom prst="roundRect">
            <a:avLst>
              <a:gd name="adj" fmla="val 12903"/>
            </a:avLst>
          </a:prstGeom>
          <a:solidFill>
            <a:srgbClr val="E7F8F0"/>
          </a:solidFill>
          <a:ln w="0">
            <a:noFill/>
            <a:prstDash val="solid"/>
          </a:ln>
        </p:spPr>
        <p:txBody>
          <a:bodyPr/>
          <a:lstStyle/>
          <a:p>
            <a:endParaRPr/>
          </a:p>
        </p:txBody>
      </p:sp>
      <p:sp>
        <p:nvSpPr>
          <p:cNvPr id="11" name="Rettangolo 10">
            <a:extLst>
              <a:ext uri="{FF2B5EF4-FFF2-40B4-BE49-F238E27FC236}">
                <a16:creationId xmlns:a16="http://schemas.microsoft.com/office/drawing/2014/main" id="{F51DE534-5451-426F-8C55-A3847300037B}"/>
              </a:ext>
            </a:extLst>
          </p:cNvPr>
          <p:cNvSpPr>
            <a:spLocks noGrp="1"/>
          </p:cNvSpPr>
          <p:nvPr/>
        </p:nvSpPr>
        <p:spPr>
          <a:xfrm>
            <a:off x="45339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087A50"/>
                </a:solidFill>
                <a:latin typeface="Arial"/>
                <a:ea typeface="Arial"/>
                <a:cs typeface="Arial"/>
              </a:defRPr>
            </a:pPr>
            <a:r>
              <a:rPr sz="3150" b="1">
                <a:solidFill>
                  <a:srgbClr val="087A50"/>
                </a:solidFill>
                <a:latin typeface="Arial"/>
                <a:ea typeface="Arial"/>
                <a:cs typeface="Arial"/>
              </a:rPr>
              <a:t>500</a:t>
            </a:r>
          </a:p>
        </p:txBody>
      </p:sp>
      <p:sp>
        <p:nvSpPr>
          <p:cNvPr id="12" name="Rettangolo 11">
            <a:extLst>
              <a:ext uri="{FF2B5EF4-FFF2-40B4-BE49-F238E27FC236}">
                <a16:creationId xmlns:a16="http://schemas.microsoft.com/office/drawing/2014/main" id="{B95C25BE-E0AC-4211-88DD-AF36BE27D58C}"/>
              </a:ext>
            </a:extLst>
          </p:cNvPr>
          <p:cNvSpPr>
            <a:spLocks noGrp="1"/>
          </p:cNvSpPr>
          <p:nvPr/>
        </p:nvSpPr>
        <p:spPr>
          <a:xfrm>
            <a:off x="45339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non-weapon</a:t>
            </a:r>
          </a:p>
        </p:txBody>
      </p:sp>
      <p:sp>
        <p:nvSpPr>
          <p:cNvPr id="13" name="Rettangolo con angoli arrotondati 12">
            <a:extLst>
              <a:ext uri="{FF2B5EF4-FFF2-40B4-BE49-F238E27FC236}">
                <a16:creationId xmlns:a16="http://schemas.microsoft.com/office/drawing/2014/main" id="{AA057755-0908-41EF-9861-B5B3136090A8}"/>
              </a:ext>
            </a:extLst>
          </p:cNvPr>
          <p:cNvSpPr>
            <a:spLocks noGrp="1"/>
          </p:cNvSpPr>
          <p:nvPr/>
        </p:nvSpPr>
        <p:spPr>
          <a:xfrm>
            <a:off x="8001000" y="2114550"/>
            <a:ext cx="3048000" cy="1181100"/>
          </a:xfrm>
          <a:prstGeom prst="roundRect">
            <a:avLst>
              <a:gd name="adj" fmla="val 12903"/>
            </a:avLst>
          </a:prstGeom>
          <a:solidFill>
            <a:srgbClr val="FFF4CD"/>
          </a:solidFill>
          <a:ln w="0">
            <a:noFill/>
            <a:prstDash val="solid"/>
          </a:ln>
        </p:spPr>
        <p:txBody>
          <a:bodyPr/>
          <a:lstStyle/>
          <a:p>
            <a:endParaRPr/>
          </a:p>
        </p:txBody>
      </p:sp>
      <p:sp>
        <p:nvSpPr>
          <p:cNvPr id="14" name="Rettangolo 13">
            <a:extLst>
              <a:ext uri="{FF2B5EF4-FFF2-40B4-BE49-F238E27FC236}">
                <a16:creationId xmlns:a16="http://schemas.microsoft.com/office/drawing/2014/main" id="{FBF595D1-D2F2-4609-90AA-9836312F8BEA}"/>
              </a:ext>
            </a:extLst>
          </p:cNvPr>
          <p:cNvSpPr>
            <a:spLocks noGrp="1"/>
          </p:cNvSpPr>
          <p:nvPr/>
        </p:nvSpPr>
        <p:spPr>
          <a:xfrm>
            <a:off x="81915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C89B14"/>
                </a:solidFill>
                <a:latin typeface="Arial"/>
                <a:ea typeface="Arial"/>
                <a:cs typeface="Arial"/>
              </a:defRPr>
            </a:pPr>
            <a:r>
              <a:rPr sz="3150" b="1">
                <a:solidFill>
                  <a:srgbClr val="C89B14"/>
                </a:solidFill>
                <a:latin typeface="Arial"/>
                <a:ea typeface="Arial"/>
                <a:cs typeface="Arial"/>
              </a:rPr>
              <a:t>500</a:t>
            </a:r>
          </a:p>
        </p:txBody>
      </p:sp>
      <p:sp>
        <p:nvSpPr>
          <p:cNvPr id="15" name="Rettangolo 14">
            <a:extLst>
              <a:ext uri="{FF2B5EF4-FFF2-40B4-BE49-F238E27FC236}">
                <a16:creationId xmlns:a16="http://schemas.microsoft.com/office/drawing/2014/main" id="{CA31140D-6563-486C-A3B6-00812F0790B5}"/>
              </a:ext>
            </a:extLst>
          </p:cNvPr>
          <p:cNvSpPr>
            <a:spLocks noGrp="1"/>
          </p:cNvSpPr>
          <p:nvPr/>
        </p:nvSpPr>
        <p:spPr>
          <a:xfrm>
            <a:off x="81915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separate OOD branch</a:t>
            </a:r>
          </a:p>
        </p:txBody>
      </p:sp>
      <p:sp>
        <p:nvSpPr>
          <p:cNvPr id="16" name="Rettangolo con angoli arrotondati 15">
            <a:extLst>
              <a:ext uri="{FF2B5EF4-FFF2-40B4-BE49-F238E27FC236}">
                <a16:creationId xmlns:a16="http://schemas.microsoft.com/office/drawing/2014/main" id="{E8AE0E5F-D588-4518-BA59-676FC615A528}"/>
              </a:ext>
            </a:extLst>
          </p:cNvPr>
          <p:cNvSpPr>
            <a:spLocks noGrp="1"/>
          </p:cNvSpPr>
          <p:nvPr/>
        </p:nvSpPr>
        <p:spPr>
          <a:xfrm>
            <a:off x="685800" y="3714750"/>
            <a:ext cx="6667500" cy="1352550"/>
          </a:xfrm>
          <a:prstGeom prst="roundRect">
            <a:avLst>
              <a:gd name="adj" fmla="val 12676"/>
            </a:avLst>
          </a:prstGeom>
          <a:solidFill>
            <a:srgbClr val="E9EEF8"/>
          </a:solidFill>
          <a:ln w="0">
            <a:noFill/>
            <a:prstDash val="solid"/>
          </a:ln>
        </p:spPr>
        <p:txBody>
          <a:bodyPr/>
          <a:lstStyle/>
          <a:p>
            <a:endParaRPr/>
          </a:p>
        </p:txBody>
      </p:sp>
      <p:sp>
        <p:nvSpPr>
          <p:cNvPr id="17" name="Rettangolo 16">
            <a:extLst>
              <a:ext uri="{FF2B5EF4-FFF2-40B4-BE49-F238E27FC236}">
                <a16:creationId xmlns:a16="http://schemas.microsoft.com/office/drawing/2014/main" id="{86E49BA0-1207-489F-96D4-25FAF47B2880}"/>
              </a:ext>
            </a:extLst>
          </p:cNvPr>
          <p:cNvSpPr>
            <a:spLocks noGrp="1"/>
          </p:cNvSpPr>
          <p:nvPr/>
        </p:nvSpPr>
        <p:spPr>
          <a:xfrm>
            <a:off x="952500" y="3962400"/>
            <a:ext cx="61341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1,000 × 10 = 10,000</a:t>
            </a:r>
          </a:p>
        </p:txBody>
      </p:sp>
      <p:sp>
        <p:nvSpPr>
          <p:cNvPr id="18" name="Rettangolo 17">
            <a:extLst>
              <a:ext uri="{FF2B5EF4-FFF2-40B4-BE49-F238E27FC236}">
                <a16:creationId xmlns:a16="http://schemas.microsoft.com/office/drawing/2014/main" id="{2E908EB8-C4F4-4547-90E0-2C16671F8D2D}"/>
              </a:ext>
            </a:extLst>
          </p:cNvPr>
          <p:cNvSpPr>
            <a:spLocks noGrp="1"/>
          </p:cNvSpPr>
          <p:nvPr/>
        </p:nvSpPr>
        <p:spPr>
          <a:xfrm>
            <a:off x="952500" y="4572000"/>
            <a:ext cx="6134100" cy="266700"/>
          </a:xfrm>
          <a:prstGeom prst="rect">
            <a:avLst/>
          </a:prstGeom>
          <a:noFill/>
          <a:ln w="0">
            <a:noFill/>
            <a:prstDash val="solid"/>
          </a:ln>
        </p:spPr>
        <p:txBody>
          <a:bodyPr wrap="square" lIns="0" tIns="0" rIns="0" bIns="0" anchor="t">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linked adversarial and anti-forensic variants</a:t>
            </a:r>
          </a:p>
        </p:txBody>
      </p:sp>
      <p:sp>
        <p:nvSpPr>
          <p:cNvPr id="19" name="Rettangolo con angoli arrotondati 18">
            <a:extLst>
              <a:ext uri="{FF2B5EF4-FFF2-40B4-BE49-F238E27FC236}">
                <a16:creationId xmlns:a16="http://schemas.microsoft.com/office/drawing/2014/main" id="{493E70C3-409B-43B7-A636-07BDD643C977}"/>
              </a:ext>
            </a:extLst>
          </p:cNvPr>
          <p:cNvSpPr>
            <a:spLocks noGrp="1"/>
          </p:cNvSpPr>
          <p:nvPr/>
        </p:nvSpPr>
        <p:spPr>
          <a:xfrm>
            <a:off x="7734300" y="3714750"/>
            <a:ext cx="3771900" cy="1352550"/>
          </a:xfrm>
          <a:prstGeom prst="roundRect">
            <a:avLst>
              <a:gd name="adj" fmla="val 12676"/>
            </a:avLst>
          </a:prstGeom>
          <a:solidFill>
            <a:srgbClr val="233A70"/>
          </a:solidFill>
          <a:ln w="0">
            <a:noFill/>
            <a:prstDash val="solid"/>
          </a:ln>
        </p:spPr>
        <p:txBody>
          <a:bodyPr/>
          <a:lstStyle/>
          <a:p>
            <a:endParaRPr/>
          </a:p>
        </p:txBody>
      </p:sp>
      <p:sp>
        <p:nvSpPr>
          <p:cNvPr id="20" name="Rettangolo 19">
            <a:extLst>
              <a:ext uri="{FF2B5EF4-FFF2-40B4-BE49-F238E27FC236}">
                <a16:creationId xmlns:a16="http://schemas.microsoft.com/office/drawing/2014/main" id="{CFA7B9EC-C8CD-4FB2-B247-F8C9592B3AAE}"/>
              </a:ext>
            </a:extLst>
          </p:cNvPr>
          <p:cNvSpPr>
            <a:spLocks noGrp="1"/>
          </p:cNvSpPr>
          <p:nvPr/>
        </p:nvSpPr>
        <p:spPr>
          <a:xfrm>
            <a:off x="8001000" y="3924300"/>
            <a:ext cx="3238500" cy="514350"/>
          </a:xfrm>
          <a:prstGeom prst="rect">
            <a:avLst/>
          </a:prstGeom>
          <a:noFill/>
          <a:ln w="0">
            <a:noFill/>
            <a:prstDash val="solid"/>
          </a:ln>
        </p:spPr>
        <p:txBody>
          <a:bodyPr wrap="square" lIns="0" tIns="0" rIns="0" bIns="0" anchor="t">
            <a:noAutofit/>
          </a:bodyPr>
          <a:lstStyle/>
          <a:p>
            <a:pPr algn="ctr">
              <a:buNone/>
              <a:defRPr sz="3450" b="1">
                <a:solidFill>
                  <a:srgbClr val="FFFFFF"/>
                </a:solidFill>
                <a:latin typeface="Arial"/>
                <a:ea typeface="Arial"/>
                <a:cs typeface="Arial"/>
              </a:defRPr>
            </a:pPr>
            <a:r>
              <a:rPr sz="3450" b="1">
                <a:solidFill>
                  <a:srgbClr val="FFFFFF"/>
                </a:solidFill>
                <a:latin typeface="Arial"/>
                <a:ea typeface="Arial"/>
                <a:cs typeface="Arial"/>
              </a:rPr>
              <a:t>11,500</a:t>
            </a:r>
          </a:p>
        </p:txBody>
      </p:sp>
      <p:sp>
        <p:nvSpPr>
          <p:cNvPr id="21" name="Rettangolo 20">
            <a:extLst>
              <a:ext uri="{FF2B5EF4-FFF2-40B4-BE49-F238E27FC236}">
                <a16:creationId xmlns:a16="http://schemas.microsoft.com/office/drawing/2014/main" id="{C59CA103-07C3-4D93-ABAE-B985C7F5307B}"/>
              </a:ext>
            </a:extLst>
          </p:cNvPr>
          <p:cNvSpPr>
            <a:spLocks noGrp="1"/>
          </p:cNvSpPr>
          <p:nvPr/>
        </p:nvSpPr>
        <p:spPr>
          <a:xfrm>
            <a:off x="8001000" y="4572000"/>
            <a:ext cx="3238500" cy="266700"/>
          </a:xfrm>
          <a:prstGeom prst="rect">
            <a:avLst/>
          </a:prstGeom>
          <a:noFill/>
          <a:ln w="0">
            <a:noFill/>
            <a:prstDash val="solid"/>
          </a:ln>
        </p:spPr>
        <p:txBody>
          <a:bodyPr wrap="square" lIns="0" tIns="0" rIns="0" bIns="0" anchor="t">
            <a:noAutofit/>
          </a:bodyPr>
          <a:lstStyle/>
          <a:p>
            <a:pPr algn="ctr">
              <a:buNone/>
              <a:defRPr sz="1650" b="1">
                <a:solidFill>
                  <a:srgbClr val="14B978"/>
                </a:solidFill>
                <a:latin typeface="Arial"/>
                <a:ea typeface="Arial"/>
                <a:cs typeface="Arial"/>
              </a:defRPr>
            </a:pPr>
            <a:r>
              <a:rPr sz="1650" b="1">
                <a:solidFill>
                  <a:srgbClr val="14B978"/>
                </a:solidFill>
                <a:latin typeface="Arial"/>
                <a:ea typeface="Arial"/>
                <a:cs typeface="Arial"/>
              </a:rPr>
              <a:t>tool-facing files</a:t>
            </a:r>
          </a:p>
        </p:txBody>
      </p:sp>
      <p:sp>
        <p:nvSpPr>
          <p:cNvPr id="22" name="Rettangolo 21">
            <a:extLst>
              <a:ext uri="{FF2B5EF4-FFF2-40B4-BE49-F238E27FC236}">
                <a16:creationId xmlns:a16="http://schemas.microsoft.com/office/drawing/2014/main" id="{97064189-DD4E-40F9-A7D8-F52355D532F4}"/>
              </a:ext>
            </a:extLst>
          </p:cNvPr>
          <p:cNvSpPr>
            <a:spLocks noGrp="1"/>
          </p:cNvSpPr>
          <p:nvPr/>
        </p:nvSpPr>
        <p:spPr>
          <a:xfrm>
            <a:off x="1428750" y="5448300"/>
            <a:ext cx="9334500" cy="304800"/>
          </a:xfrm>
          <a:prstGeom prst="rect">
            <a:avLst/>
          </a:prstGeom>
          <a:noFill/>
          <a:ln w="0">
            <a:noFill/>
            <a:prstDash val="solid"/>
          </a:ln>
        </p:spPr>
        <p:txBody>
          <a:bodyPr wrap="square" lIns="0" tIns="0" rIns="0" bIns="0" anchor="t">
            <a:noAutofit/>
          </a:bodyPr>
          <a:lstStyle/>
          <a:p>
            <a:pPr algn="ctr">
              <a:buNone/>
              <a:defRPr sz="1500" b="1">
                <a:solidFill>
                  <a:srgbClr val="5B6577"/>
                </a:solidFill>
                <a:latin typeface="Arial"/>
                <a:ea typeface="Arial"/>
                <a:cs typeface="Arial"/>
              </a:defRPr>
            </a:pPr>
            <a:r>
              <a:rPr sz="1500" b="1">
                <a:solidFill>
                  <a:srgbClr val="5B6577"/>
                </a:solidFill>
                <a:latin typeface="Arial"/>
                <a:ea typeface="Arial"/>
                <a:cs typeface="Arial"/>
              </a:rPr>
              <a:t>The manipulated files are linked source–condition variants—not 10,000 independent cases.</a:t>
            </a:r>
          </a:p>
        </p:txBody>
      </p:sp>
      <p:sp>
        <p:nvSpPr>
          <p:cNvPr id="23" name="Rettangolo 22">
            <a:extLst>
              <a:ext uri="{FF2B5EF4-FFF2-40B4-BE49-F238E27FC236}">
                <a16:creationId xmlns:a16="http://schemas.microsoft.com/office/drawing/2014/main" id="{54B01487-7E01-457B-8FE5-D55CB28A858C}"/>
              </a:ext>
            </a:extLst>
          </p:cNvPr>
          <p:cNvSpPr>
            <a:spLocks noGrp="1"/>
          </p:cNvSpPr>
          <p:nvPr/>
        </p:nvSpPr>
        <p:spPr>
          <a:xfrm>
            <a:off x="1714500" y="5829300"/>
            <a:ext cx="87630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OOD is evaluated separately and is not a third supervised class.</a:t>
            </a:r>
          </a:p>
        </p:txBody>
      </p:sp>
    </p:spTree>
    <p:extLst>
      <p:ext uri="{BB962C8B-B14F-4D97-AF65-F5344CB8AC3E}">
        <p14:creationId xmlns:p14="http://schemas.microsoft.com/office/powerpoint/2010/main" val="714570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A9DF18E-4042-467C-97B9-4589B37E30B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13CC87C-9B72-4C2C-AD30-2FB203B4699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Two evidence levels, one experimental basis</a:t>
            </a:r>
          </a:p>
        </p:txBody>
      </p:sp>
      <p:sp>
        <p:nvSpPr>
          <p:cNvPr id="3" name="Rettangolo 2">
            <a:extLst>
              <a:ext uri="{FF2B5EF4-FFF2-40B4-BE49-F238E27FC236}">
                <a16:creationId xmlns:a16="http://schemas.microsoft.com/office/drawing/2014/main" id="{BCB0685F-E48D-4052-8734-E6910A0E4C4F}"/>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4F4A7D0-C37E-4471-9B99-5FD96688AE1B}"/>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A482C16-A30B-415B-84DE-F197B421E06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05</a:t>
            </a:r>
          </a:p>
        </p:txBody>
      </p:sp>
      <p:sp>
        <p:nvSpPr>
          <p:cNvPr id="6" name="Rettangolo con angoli arrotondati 5">
            <a:extLst>
              <a:ext uri="{FF2B5EF4-FFF2-40B4-BE49-F238E27FC236}">
                <a16:creationId xmlns:a16="http://schemas.microsoft.com/office/drawing/2014/main" id="{19694DF6-BA12-4007-B98D-CE24074B6695}"/>
              </a:ext>
            </a:extLst>
          </p:cNvPr>
          <p:cNvSpPr>
            <a:spLocks noGrp="1"/>
          </p:cNvSpPr>
          <p:nvPr/>
        </p:nvSpPr>
        <p:spPr>
          <a:xfrm>
            <a:off x="685800" y="1409700"/>
            <a:ext cx="5143500" cy="2705100"/>
          </a:xfrm>
          <a:prstGeom prst="roundRect">
            <a:avLst>
              <a:gd name="adj" fmla="val 6338"/>
            </a:avLst>
          </a:prstGeom>
          <a:solidFill>
            <a:srgbClr val="E9EEF8"/>
          </a:solidFill>
          <a:ln w="0">
            <a:noFill/>
            <a:prstDash val="solid"/>
          </a:ln>
        </p:spPr>
        <p:txBody>
          <a:bodyPr/>
          <a:lstStyle/>
          <a:p>
            <a:endParaRPr/>
          </a:p>
        </p:txBody>
      </p:sp>
      <p:sp>
        <p:nvSpPr>
          <p:cNvPr id="7" name="Rettangolo 6">
            <a:extLst>
              <a:ext uri="{FF2B5EF4-FFF2-40B4-BE49-F238E27FC236}">
                <a16:creationId xmlns:a16="http://schemas.microsoft.com/office/drawing/2014/main" id="{C754D5C3-C7C7-47E3-B4A6-F28E654F1A1F}"/>
              </a:ext>
            </a:extLst>
          </p:cNvPr>
          <p:cNvSpPr>
            <a:spLocks noGrp="1"/>
          </p:cNvSpPr>
          <p:nvPr/>
        </p:nvSpPr>
        <p:spPr>
          <a:xfrm>
            <a:off x="9906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TRANSPARENT PROXIES</a:t>
            </a:r>
          </a:p>
        </p:txBody>
      </p:sp>
      <p:sp>
        <p:nvSpPr>
          <p:cNvPr id="8" name="Rettangolo 7">
            <a:extLst>
              <a:ext uri="{FF2B5EF4-FFF2-40B4-BE49-F238E27FC236}">
                <a16:creationId xmlns:a16="http://schemas.microsoft.com/office/drawing/2014/main" id="{DFFB7302-4FE1-4F8C-B8DE-30ECA9608832}"/>
              </a:ext>
            </a:extLst>
          </p:cNvPr>
          <p:cNvSpPr>
            <a:spLocks noGrp="1"/>
          </p:cNvSpPr>
          <p:nvPr/>
        </p:nvSpPr>
        <p:spPr>
          <a:xfrm>
            <a:off x="990600" y="2114550"/>
            <a:ext cx="2857500" cy="1181100"/>
          </a:xfrm>
          <a:prstGeom prst="rect">
            <a:avLst/>
          </a:prstGeom>
          <a:noFill/>
          <a:ln w="0">
            <a:noFill/>
            <a:prstDash val="solid"/>
          </a:ln>
        </p:spPr>
        <p:txBody>
          <a:bodyPr wrap="square" lIns="0" tIns="0" rIns="0" bIns="0" anchor="t">
            <a:noAutofit/>
          </a:bodyPr>
          <a:lstStyle/>
          <a:p>
            <a:pPr algn="l">
              <a:buNone/>
              <a:defRPr sz="2250" b="1">
                <a:solidFill>
                  <a:srgbClr val="172033"/>
                </a:solidFill>
                <a:latin typeface="Arial"/>
                <a:ea typeface="Arial"/>
                <a:cs typeface="Arial"/>
              </a:defRPr>
            </a:pPr>
            <a:r>
              <a:rPr sz="2250" b="1">
                <a:solidFill>
                  <a:srgbClr val="172033"/>
                </a:solidFill>
                <a:latin typeface="Arial"/>
                <a:ea typeface="Arial"/>
                <a:cs typeface="Arial"/>
              </a:rPr>
              <a:t>EfficientNet-B0</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ResNet18</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CLIP-based proxy</a:t>
            </a:r>
          </a:p>
        </p:txBody>
      </p:sp>
      <p:sp>
        <p:nvSpPr>
          <p:cNvPr id="9" name="Rettangolo 8">
            <a:extLst>
              <a:ext uri="{FF2B5EF4-FFF2-40B4-BE49-F238E27FC236}">
                <a16:creationId xmlns:a16="http://schemas.microsoft.com/office/drawing/2014/main" id="{2C5E08B1-D6FC-4045-B482-500474653204}"/>
              </a:ext>
            </a:extLst>
          </p:cNvPr>
          <p:cNvSpPr>
            <a:spLocks noGrp="1"/>
          </p:cNvSpPr>
          <p:nvPr/>
        </p:nvSpPr>
        <p:spPr>
          <a:xfrm>
            <a:off x="990600" y="3524250"/>
            <a:ext cx="4286250" cy="3619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Inspectable predictions · gradients · fold-aware checkpoints</a:t>
            </a:r>
          </a:p>
        </p:txBody>
      </p:sp>
      <p:sp>
        <p:nvSpPr>
          <p:cNvPr id="10" name="Rettangolo con angoli arrotondati 9">
            <a:extLst>
              <a:ext uri="{FF2B5EF4-FFF2-40B4-BE49-F238E27FC236}">
                <a16:creationId xmlns:a16="http://schemas.microsoft.com/office/drawing/2014/main" id="{98A93300-E588-4524-BF87-E02F18B50A9D}"/>
              </a:ext>
            </a:extLst>
          </p:cNvPr>
          <p:cNvSpPr>
            <a:spLocks noGrp="1"/>
          </p:cNvSpPr>
          <p:nvPr/>
        </p:nvSpPr>
        <p:spPr>
          <a:xfrm>
            <a:off x="6362700" y="1409700"/>
            <a:ext cx="5143500" cy="2705100"/>
          </a:xfrm>
          <a:prstGeom prst="roundRect">
            <a:avLst>
              <a:gd name="adj" fmla="val 6338"/>
            </a:avLst>
          </a:prstGeom>
          <a:solidFill>
            <a:srgbClr val="FFFFFF"/>
          </a:solidFill>
          <a:ln w="9525">
            <a:solidFill>
              <a:srgbClr val="D9DEE8"/>
            </a:solidFill>
            <a:prstDash val="solid"/>
          </a:ln>
        </p:spPr>
        <p:txBody>
          <a:bodyPr/>
          <a:lstStyle/>
          <a:p>
            <a:endParaRPr/>
          </a:p>
        </p:txBody>
      </p:sp>
      <p:sp>
        <p:nvSpPr>
          <p:cNvPr id="11" name="Rettangolo 10">
            <a:extLst>
              <a:ext uri="{FF2B5EF4-FFF2-40B4-BE49-F238E27FC236}">
                <a16:creationId xmlns:a16="http://schemas.microsoft.com/office/drawing/2014/main" id="{56EC00C9-A240-4103-BF94-6EB97877400B}"/>
              </a:ext>
            </a:extLst>
          </p:cNvPr>
          <p:cNvSpPr>
            <a:spLocks noGrp="1"/>
          </p:cNvSpPr>
          <p:nvPr/>
        </p:nvSpPr>
        <p:spPr>
          <a:xfrm>
            <a:off x="66675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BLACK-BOX SOFTWARE · 4 SYSTEMS / 6 CONFIGURATIONS</a:t>
            </a:r>
          </a:p>
        </p:txBody>
      </p:sp>
      <p:sp>
        <p:nvSpPr>
          <p:cNvPr id="12" name="Rettangolo 11">
            <a:extLst>
              <a:ext uri="{FF2B5EF4-FFF2-40B4-BE49-F238E27FC236}">
                <a16:creationId xmlns:a16="http://schemas.microsoft.com/office/drawing/2014/main" id="{4EB6323D-5229-4FB7-99FB-3FC21DAEEEBD}"/>
              </a:ext>
            </a:extLst>
          </p:cNvPr>
          <p:cNvSpPr>
            <a:spLocks noGrp="1"/>
          </p:cNvSpPr>
          <p:nvPr/>
        </p:nvSpPr>
        <p:spPr>
          <a:xfrm>
            <a:off x="6667500" y="2114550"/>
            <a:ext cx="4333875" cy="1428750"/>
          </a:xfrm>
          <a:prstGeom prst="rect">
            <a:avLst/>
          </a:prstGeom>
          <a:noFill/>
          <a:ln w="0">
            <a:noFill/>
            <a:prstDash val="solid"/>
          </a:ln>
        </p:spPr>
        <p:txBody>
          <a:bodyPr wrap="square" lIns="0" tIns="0" rIns="0" bIns="0" anchor="t">
            <a:noAutofit/>
          </a:bodyPr>
          <a:lstStyle/>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AXIOM / Magnet.AI</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Excire Foto 2025 · D20 / D50 / D80</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Cellebrite Inseyets</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Griffeye / T3K CORE</a:t>
            </a:r>
          </a:p>
        </p:txBody>
      </p:sp>
      <p:sp>
        <p:nvSpPr>
          <p:cNvPr id="13" name="Rettangolo 12">
            <a:extLst>
              <a:ext uri="{FF2B5EF4-FFF2-40B4-BE49-F238E27FC236}">
                <a16:creationId xmlns:a16="http://schemas.microsoft.com/office/drawing/2014/main" id="{1940F821-DB94-4198-A67D-0F34539A9B01}"/>
              </a:ext>
            </a:extLst>
          </p:cNvPr>
          <p:cNvSpPr>
            <a:spLocks noGrp="1"/>
          </p:cNvSpPr>
          <p:nvPr/>
        </p:nvSpPr>
        <p:spPr>
          <a:xfrm>
            <a:off x="6667500" y="3657600"/>
            <a:ext cx="4286250" cy="3238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Observable tags · bookmarks · labels · semantic retrieval</a:t>
            </a:r>
          </a:p>
        </p:txBody>
      </p:sp>
      <p:sp>
        <p:nvSpPr>
          <p:cNvPr id="14" name="Rettangolo 13">
            <a:extLst>
              <a:ext uri="{FF2B5EF4-FFF2-40B4-BE49-F238E27FC236}">
                <a16:creationId xmlns:a16="http://schemas.microsoft.com/office/drawing/2014/main" id="{88C109F7-273D-459C-BB14-90A9205313D4}"/>
              </a:ext>
            </a:extLst>
          </p:cNvPr>
          <p:cNvSpPr>
            <a:spLocks noGrp="1"/>
          </p:cNvSpPr>
          <p:nvPr/>
        </p:nvSpPr>
        <p:spPr>
          <a:xfrm>
            <a:off x="685800" y="4457700"/>
            <a:ext cx="10820400" cy="24765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THREAT-MODEL PATHS</a:t>
            </a:r>
          </a:p>
        </p:txBody>
      </p:sp>
      <p:sp>
        <p:nvSpPr>
          <p:cNvPr id="15" name="Rettangolo con angoli arrotondati 14">
            <a:extLst>
              <a:ext uri="{FF2B5EF4-FFF2-40B4-BE49-F238E27FC236}">
                <a16:creationId xmlns:a16="http://schemas.microsoft.com/office/drawing/2014/main" id="{D0FAD262-96F1-4338-83F7-F0766FE9CDD5}"/>
              </a:ext>
            </a:extLst>
          </p:cNvPr>
          <p:cNvSpPr>
            <a:spLocks noGrp="1"/>
          </p:cNvSpPr>
          <p:nvPr/>
        </p:nvSpPr>
        <p:spPr>
          <a:xfrm>
            <a:off x="685800" y="4857750"/>
            <a:ext cx="3505200" cy="1104900"/>
          </a:xfrm>
          <a:prstGeom prst="roundRect">
            <a:avLst>
              <a:gd name="adj" fmla="val 12069"/>
            </a:avLst>
          </a:prstGeom>
          <a:solidFill>
            <a:srgbClr val="FBEAEA"/>
          </a:solidFill>
          <a:ln w="0">
            <a:noFill/>
            <a:prstDash val="solid"/>
          </a:ln>
        </p:spPr>
        <p:txBody>
          <a:bodyPr/>
          <a:lstStyle/>
          <a:p>
            <a:endParaRPr/>
          </a:p>
        </p:txBody>
      </p:sp>
      <p:sp>
        <p:nvSpPr>
          <p:cNvPr id="16" name="Rettangolo 15">
            <a:extLst>
              <a:ext uri="{FF2B5EF4-FFF2-40B4-BE49-F238E27FC236}">
                <a16:creationId xmlns:a16="http://schemas.microsoft.com/office/drawing/2014/main" id="{A1BC2A9B-3EA3-421B-B9EF-D8552CAA31A6}"/>
              </a:ext>
            </a:extLst>
          </p:cNvPr>
          <p:cNvSpPr>
            <a:spLocks noGrp="1"/>
          </p:cNvSpPr>
          <p:nvPr/>
        </p:nvSpPr>
        <p:spPr>
          <a:xfrm>
            <a:off x="8572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DIRECT TARGET</a:t>
            </a:r>
          </a:p>
        </p:txBody>
      </p:sp>
      <p:sp>
        <p:nvSpPr>
          <p:cNvPr id="17" name="Rettangolo 16">
            <a:extLst>
              <a:ext uri="{FF2B5EF4-FFF2-40B4-BE49-F238E27FC236}">
                <a16:creationId xmlns:a16="http://schemas.microsoft.com/office/drawing/2014/main" id="{F37C7E16-C6EA-40E2-8936-26BD745EF6C6}"/>
              </a:ext>
            </a:extLst>
          </p:cNvPr>
          <p:cNvSpPr>
            <a:spLocks noGrp="1"/>
          </p:cNvSpPr>
          <p:nvPr/>
        </p:nvSpPr>
        <p:spPr>
          <a:xfrm>
            <a:off x="9144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Model-dependent attacks evaluated on EfficientNet-B0</a:t>
            </a:r>
          </a:p>
        </p:txBody>
      </p:sp>
      <p:sp>
        <p:nvSpPr>
          <p:cNvPr id="18" name="Rettangolo con angoli arrotondati 17">
            <a:extLst>
              <a:ext uri="{FF2B5EF4-FFF2-40B4-BE49-F238E27FC236}">
                <a16:creationId xmlns:a16="http://schemas.microsoft.com/office/drawing/2014/main" id="{FC128AEF-92C5-4E35-BDB3-6D38879C6AD4}"/>
              </a:ext>
            </a:extLst>
          </p:cNvPr>
          <p:cNvSpPr>
            <a:spLocks noGrp="1"/>
          </p:cNvSpPr>
          <p:nvPr/>
        </p:nvSpPr>
        <p:spPr>
          <a:xfrm>
            <a:off x="4343400" y="4857750"/>
            <a:ext cx="3505200" cy="1104900"/>
          </a:xfrm>
          <a:prstGeom prst="roundRect">
            <a:avLst>
              <a:gd name="adj" fmla="val 12069"/>
            </a:avLst>
          </a:prstGeom>
          <a:solidFill>
            <a:srgbClr val="FFF4CD"/>
          </a:solidFill>
          <a:ln w="0">
            <a:noFill/>
            <a:prstDash val="solid"/>
          </a:ln>
        </p:spPr>
        <p:txBody>
          <a:bodyPr/>
          <a:lstStyle/>
          <a:p>
            <a:endParaRPr/>
          </a:p>
        </p:txBody>
      </p:sp>
      <p:sp>
        <p:nvSpPr>
          <p:cNvPr id="19" name="Rettangolo 18">
            <a:extLst>
              <a:ext uri="{FF2B5EF4-FFF2-40B4-BE49-F238E27FC236}">
                <a16:creationId xmlns:a16="http://schemas.microsoft.com/office/drawing/2014/main" id="{2CE88DA7-3406-417C-9434-A21622865CD5}"/>
              </a:ext>
            </a:extLst>
          </p:cNvPr>
          <p:cNvSpPr>
            <a:spLocks noGrp="1"/>
          </p:cNvSpPr>
          <p:nvPr/>
        </p:nvSpPr>
        <p:spPr>
          <a:xfrm>
            <a:off x="45148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EMPIRICAL TRANSFER</a:t>
            </a:r>
          </a:p>
        </p:txBody>
      </p:sp>
      <p:sp>
        <p:nvSpPr>
          <p:cNvPr id="20" name="Rettangolo 19">
            <a:extLst>
              <a:ext uri="{FF2B5EF4-FFF2-40B4-BE49-F238E27FC236}">
                <a16:creationId xmlns:a16="http://schemas.microsoft.com/office/drawing/2014/main" id="{3B11CD2C-E9E6-4F62-8369-743441D1FC5E}"/>
              </a:ext>
            </a:extLst>
          </p:cNvPr>
          <p:cNvSpPr>
            <a:spLocks noGrp="1"/>
          </p:cNvSpPr>
          <p:nvPr/>
        </p:nvSpPr>
        <p:spPr>
          <a:xfrm>
            <a:off x="45720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The same artifacts applied to non-target systems</a:t>
            </a:r>
          </a:p>
        </p:txBody>
      </p:sp>
      <p:sp>
        <p:nvSpPr>
          <p:cNvPr id="21" name="Rettangolo con angoli arrotondati 20">
            <a:extLst>
              <a:ext uri="{FF2B5EF4-FFF2-40B4-BE49-F238E27FC236}">
                <a16:creationId xmlns:a16="http://schemas.microsoft.com/office/drawing/2014/main" id="{67DA1114-C657-4C88-BA6D-0A11C4C0C09D}"/>
              </a:ext>
            </a:extLst>
          </p:cNvPr>
          <p:cNvSpPr>
            <a:spLocks noGrp="1"/>
          </p:cNvSpPr>
          <p:nvPr/>
        </p:nvSpPr>
        <p:spPr>
          <a:xfrm>
            <a:off x="8001000" y="4857750"/>
            <a:ext cx="3505200" cy="1104900"/>
          </a:xfrm>
          <a:prstGeom prst="roundRect">
            <a:avLst>
              <a:gd name="adj" fmla="val 12069"/>
            </a:avLst>
          </a:prstGeom>
          <a:solidFill>
            <a:srgbClr val="E7F8F0"/>
          </a:solidFill>
          <a:ln w="0">
            <a:noFill/>
            <a:prstDash val="solid"/>
          </a:ln>
        </p:spPr>
        <p:txBody>
          <a:bodyPr/>
          <a:lstStyle/>
          <a:p>
            <a:endParaRPr/>
          </a:p>
        </p:txBody>
      </p:sp>
      <p:sp>
        <p:nvSpPr>
          <p:cNvPr id="22" name="Rettangolo 21">
            <a:extLst>
              <a:ext uri="{FF2B5EF4-FFF2-40B4-BE49-F238E27FC236}">
                <a16:creationId xmlns:a16="http://schemas.microsoft.com/office/drawing/2014/main" id="{28CECFA8-8A49-4567-8CE6-BD12F2E08422}"/>
              </a:ext>
            </a:extLst>
          </p:cNvPr>
          <p:cNvSpPr>
            <a:spLocks noGrp="1"/>
          </p:cNvSpPr>
          <p:nvPr/>
        </p:nvSpPr>
        <p:spPr>
          <a:xfrm>
            <a:off x="81724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MODEL-AGNOSTIC</a:t>
            </a:r>
          </a:p>
        </p:txBody>
      </p:sp>
      <p:sp>
        <p:nvSpPr>
          <p:cNvPr id="23" name="Rettangolo 22">
            <a:extLst>
              <a:ext uri="{FF2B5EF4-FFF2-40B4-BE49-F238E27FC236}">
                <a16:creationId xmlns:a16="http://schemas.microsoft.com/office/drawing/2014/main" id="{C604F757-AFD3-46F8-BFBF-FDE0793FAF4D}"/>
              </a:ext>
            </a:extLst>
          </p:cNvPr>
          <p:cNvSpPr>
            <a:spLocks noGrp="1"/>
          </p:cNvSpPr>
          <p:nvPr/>
        </p:nvSpPr>
        <p:spPr>
          <a:xfrm>
            <a:off x="82296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Color Shift and five anti-forensic transformations</a:t>
            </a:r>
          </a:p>
        </p:txBody>
      </p:sp>
    </p:spTree>
    <p:extLst>
      <p:ext uri="{BB962C8B-B14F-4D97-AF65-F5344CB8AC3E}">
        <p14:creationId xmlns:p14="http://schemas.microsoft.com/office/powerpoint/2010/main" val="700163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7" name="Rettangolo 26">
            <a:extLst>
              <a:ext uri="{FF2B5EF4-FFF2-40B4-BE49-F238E27FC236}">
                <a16:creationId xmlns:a16="http://schemas.microsoft.com/office/drawing/2014/main" id="{81E6EA5E-1BA3-4F66-A39C-B36EC754644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030D2A4-C965-47CF-8557-481DDBF7BAD0}"/>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Explicit mappings enable comparison</a:t>
            </a:r>
          </a:p>
        </p:txBody>
      </p:sp>
      <p:sp>
        <p:nvSpPr>
          <p:cNvPr id="3" name="Rettangolo 2">
            <a:extLst>
              <a:ext uri="{FF2B5EF4-FFF2-40B4-BE49-F238E27FC236}">
                <a16:creationId xmlns:a16="http://schemas.microsoft.com/office/drawing/2014/main" id="{574AC689-33AE-4188-BD30-A98CE3C1F13C}"/>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89D44508-8BE4-44DA-A23D-C69ABEFD103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874DB88-CD45-410D-B418-22DA962B98F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06</a:t>
            </a:r>
          </a:p>
        </p:txBody>
      </p:sp>
      <p:sp>
        <p:nvSpPr>
          <p:cNvPr id="6" name="Rettangolo 5">
            <a:extLst>
              <a:ext uri="{FF2B5EF4-FFF2-40B4-BE49-F238E27FC236}">
                <a16:creationId xmlns:a16="http://schemas.microsoft.com/office/drawing/2014/main" id="{C4E232F5-EA03-4FB1-8CD5-60017B2B3666}"/>
              </a:ext>
            </a:extLst>
          </p:cNvPr>
          <p:cNvSpPr>
            <a:spLocks noGrp="1"/>
          </p:cNvSpPr>
          <p:nvPr/>
        </p:nvSpPr>
        <p:spPr>
          <a:xfrm>
            <a:off x="1733550" y="2266950"/>
            <a:ext cx="8724900" cy="57150"/>
          </a:xfrm>
          <a:prstGeom prst="rect">
            <a:avLst/>
          </a:prstGeom>
          <a:solidFill>
            <a:srgbClr val="D9DEE8"/>
          </a:solidFill>
          <a:ln w="0">
            <a:noFill/>
            <a:prstDash val="solid"/>
          </a:ln>
        </p:spPr>
        <p:txBody>
          <a:bodyPr/>
          <a:lstStyle/>
          <a:p>
            <a:endParaRPr/>
          </a:p>
        </p:txBody>
      </p:sp>
      <p:sp>
        <p:nvSpPr>
          <p:cNvPr id="7" name="Rettangolo con angoli arrotondati 6">
            <a:extLst>
              <a:ext uri="{FF2B5EF4-FFF2-40B4-BE49-F238E27FC236}">
                <a16:creationId xmlns:a16="http://schemas.microsoft.com/office/drawing/2014/main" id="{A546D0B0-58E3-4310-ABD1-CC65AA1F65B9}"/>
              </a:ext>
            </a:extLst>
          </p:cNvPr>
          <p:cNvSpPr>
            <a:spLocks noGrp="1"/>
          </p:cNvSpPr>
          <p:nvPr/>
        </p:nvSpPr>
        <p:spPr>
          <a:xfrm>
            <a:off x="685800" y="1657350"/>
            <a:ext cx="2667000" cy="1257300"/>
          </a:xfrm>
          <a:prstGeom prst="roundRect">
            <a:avLst>
              <a:gd name="adj" fmla="val 12121"/>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A81CFEC4-5E35-4C15-A807-197F3453E411}"/>
              </a:ext>
            </a:extLst>
          </p:cNvPr>
          <p:cNvSpPr>
            <a:spLocks noGrp="1"/>
          </p:cNvSpPr>
          <p:nvPr/>
        </p:nvSpPr>
        <p:spPr>
          <a:xfrm>
            <a:off x="8572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Observable outputs</a:t>
            </a:r>
          </a:p>
        </p:txBody>
      </p:sp>
      <p:sp>
        <p:nvSpPr>
          <p:cNvPr id="9" name="Rettangolo 8">
            <a:extLst>
              <a:ext uri="{FF2B5EF4-FFF2-40B4-BE49-F238E27FC236}">
                <a16:creationId xmlns:a16="http://schemas.microsoft.com/office/drawing/2014/main" id="{0C82864D-2992-412D-87C9-C8116242CB92}"/>
              </a:ext>
            </a:extLst>
          </p:cNvPr>
          <p:cNvSpPr>
            <a:spLocks noGrp="1"/>
          </p:cNvSpPr>
          <p:nvPr/>
        </p:nvSpPr>
        <p:spPr>
          <a:xfrm>
            <a:off x="8572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tags · bookmarks · labels · retrieval</a:t>
            </a:r>
          </a:p>
        </p:txBody>
      </p:sp>
      <p:sp>
        <p:nvSpPr>
          <p:cNvPr id="10" name="Rettangolo con angoli arrotondati 9">
            <a:extLst>
              <a:ext uri="{FF2B5EF4-FFF2-40B4-BE49-F238E27FC236}">
                <a16:creationId xmlns:a16="http://schemas.microsoft.com/office/drawing/2014/main" id="{52BB320A-88DF-4212-9748-1A81E55A6509}"/>
              </a:ext>
            </a:extLst>
          </p:cNvPr>
          <p:cNvSpPr>
            <a:spLocks noGrp="1"/>
          </p:cNvSpPr>
          <p:nvPr/>
        </p:nvSpPr>
        <p:spPr>
          <a:xfrm>
            <a:off x="4762500" y="1657350"/>
            <a:ext cx="2667000" cy="1257300"/>
          </a:xfrm>
          <a:prstGeom prst="roundRect">
            <a:avLst>
              <a:gd name="adj" fmla="val 12121"/>
            </a:avLst>
          </a:prstGeom>
          <a:solidFill>
            <a:srgbClr val="E9EEF8"/>
          </a:solidFill>
          <a:ln w="9525">
            <a:solidFill>
              <a:srgbClr val="E9EEF8"/>
            </a:solidFill>
            <a:prstDash val="solid"/>
          </a:ln>
        </p:spPr>
        <p:txBody>
          <a:bodyPr/>
          <a:lstStyle/>
          <a:p>
            <a:endParaRPr/>
          </a:p>
        </p:txBody>
      </p:sp>
      <p:sp>
        <p:nvSpPr>
          <p:cNvPr id="11" name="Rettangolo 10">
            <a:extLst>
              <a:ext uri="{FF2B5EF4-FFF2-40B4-BE49-F238E27FC236}">
                <a16:creationId xmlns:a16="http://schemas.microsoft.com/office/drawing/2014/main" id="{FD74F8E5-4D60-416B-B482-9CAE4E4D1E2F}"/>
              </a:ext>
            </a:extLst>
          </p:cNvPr>
          <p:cNvSpPr>
            <a:spLocks noGrp="1"/>
          </p:cNvSpPr>
          <p:nvPr/>
        </p:nvSpPr>
        <p:spPr>
          <a:xfrm>
            <a:off x="49339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Output mapping</a:t>
            </a:r>
          </a:p>
        </p:txBody>
      </p:sp>
      <p:sp>
        <p:nvSpPr>
          <p:cNvPr id="12" name="Rettangolo 11">
            <a:extLst>
              <a:ext uri="{FF2B5EF4-FFF2-40B4-BE49-F238E27FC236}">
                <a16:creationId xmlns:a16="http://schemas.microsoft.com/office/drawing/2014/main" id="{6EB043F8-9E47-4F79-A3FB-61719463254C}"/>
              </a:ext>
            </a:extLst>
          </p:cNvPr>
          <p:cNvSpPr>
            <a:spLocks noGrp="1"/>
          </p:cNvSpPr>
          <p:nvPr/>
        </p:nvSpPr>
        <p:spPr>
          <a:xfrm>
            <a:off x="49339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version + configuration + export semantics</a:t>
            </a:r>
          </a:p>
        </p:txBody>
      </p:sp>
      <p:sp>
        <p:nvSpPr>
          <p:cNvPr id="13" name="Rettangolo con angoli arrotondati 12">
            <a:extLst>
              <a:ext uri="{FF2B5EF4-FFF2-40B4-BE49-F238E27FC236}">
                <a16:creationId xmlns:a16="http://schemas.microsoft.com/office/drawing/2014/main" id="{3BB1E76B-72A2-4DBC-842E-AEA144C0BA95}"/>
              </a:ext>
            </a:extLst>
          </p:cNvPr>
          <p:cNvSpPr>
            <a:spLocks noGrp="1"/>
          </p:cNvSpPr>
          <p:nvPr/>
        </p:nvSpPr>
        <p:spPr>
          <a:xfrm>
            <a:off x="8839200" y="1657350"/>
            <a:ext cx="2667000" cy="1257300"/>
          </a:xfrm>
          <a:prstGeom prst="roundRect">
            <a:avLst>
              <a:gd name="adj" fmla="val 12121"/>
            </a:avLst>
          </a:prstGeom>
          <a:solidFill>
            <a:srgbClr val="FFFFFF"/>
          </a:solidFill>
          <a:ln w="9525">
            <a:solidFill>
              <a:srgbClr val="D9DEE8"/>
            </a:solidFill>
            <a:prstDash val="solid"/>
          </a:ln>
        </p:spPr>
        <p:txBody>
          <a:bodyPr/>
          <a:lstStyle/>
          <a:p>
            <a:endParaRPr/>
          </a:p>
        </p:txBody>
      </p:sp>
      <p:sp>
        <p:nvSpPr>
          <p:cNvPr id="14" name="Rettangolo 13">
            <a:extLst>
              <a:ext uri="{FF2B5EF4-FFF2-40B4-BE49-F238E27FC236}">
                <a16:creationId xmlns:a16="http://schemas.microsoft.com/office/drawing/2014/main" id="{A556E7B6-FC90-493A-BF1D-397EFBDE7A22}"/>
              </a:ext>
            </a:extLst>
          </p:cNvPr>
          <p:cNvSpPr>
            <a:spLocks noGrp="1"/>
          </p:cNvSpPr>
          <p:nvPr/>
        </p:nvSpPr>
        <p:spPr>
          <a:xfrm>
            <a:off x="90106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Operational states</a:t>
            </a:r>
          </a:p>
        </p:txBody>
      </p:sp>
      <p:sp>
        <p:nvSpPr>
          <p:cNvPr id="15" name="Rettangolo 14">
            <a:extLst>
              <a:ext uri="{FF2B5EF4-FFF2-40B4-BE49-F238E27FC236}">
                <a16:creationId xmlns:a16="http://schemas.microsoft.com/office/drawing/2014/main" id="{7D3EA51E-91B9-4C0F-9EBE-F9DF968A206F}"/>
              </a:ext>
            </a:extLst>
          </p:cNvPr>
          <p:cNvSpPr>
            <a:spLocks noGrp="1"/>
          </p:cNvSpPr>
          <p:nvPr/>
        </p:nvSpPr>
        <p:spPr>
          <a:xfrm>
            <a:off x="90106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 · non_weapon · unknown</a:t>
            </a:r>
          </a:p>
        </p:txBody>
      </p:sp>
      <p:sp>
        <p:nvSpPr>
          <p:cNvPr id="16" name="Rettangolo 15">
            <a:extLst>
              <a:ext uri="{FF2B5EF4-FFF2-40B4-BE49-F238E27FC236}">
                <a16:creationId xmlns:a16="http://schemas.microsoft.com/office/drawing/2014/main" id="{4063CCF0-7B01-49ED-91C7-126039BFBC3F}"/>
              </a:ext>
            </a:extLst>
          </p:cNvPr>
          <p:cNvSpPr>
            <a:spLocks noGrp="1"/>
          </p:cNvSpPr>
          <p:nvPr/>
        </p:nvSpPr>
        <p:spPr>
          <a:xfrm>
            <a:off x="35909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7" name="Rettangolo 16">
            <a:extLst>
              <a:ext uri="{FF2B5EF4-FFF2-40B4-BE49-F238E27FC236}">
                <a16:creationId xmlns:a16="http://schemas.microsoft.com/office/drawing/2014/main" id="{2F1F406C-D78B-4AA1-80BA-9D9321429CEC}"/>
              </a:ext>
            </a:extLst>
          </p:cNvPr>
          <p:cNvSpPr>
            <a:spLocks noGrp="1"/>
          </p:cNvSpPr>
          <p:nvPr/>
        </p:nvSpPr>
        <p:spPr>
          <a:xfrm>
            <a:off x="76676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8" name="Rettangolo 17">
            <a:extLst>
              <a:ext uri="{FF2B5EF4-FFF2-40B4-BE49-F238E27FC236}">
                <a16:creationId xmlns:a16="http://schemas.microsoft.com/office/drawing/2014/main" id="{91253F60-E8B5-495D-AEBF-8CC9D8FD6960}"/>
              </a:ext>
            </a:extLst>
          </p:cNvPr>
          <p:cNvSpPr>
            <a:spLocks noGrp="1"/>
          </p:cNvSpPr>
          <p:nvPr/>
        </p:nvSpPr>
        <p:spPr>
          <a:xfrm>
            <a:off x="106680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MISSED-TARGET RISK</a:t>
            </a:r>
          </a:p>
        </p:txBody>
      </p:sp>
      <p:sp>
        <p:nvSpPr>
          <p:cNvPr id="19" name="Rettangolo 18">
            <a:extLst>
              <a:ext uri="{FF2B5EF4-FFF2-40B4-BE49-F238E27FC236}">
                <a16:creationId xmlns:a16="http://schemas.microsoft.com/office/drawing/2014/main" id="{BC8311FB-C066-4072-B667-B34AD4D0E420}"/>
              </a:ext>
            </a:extLst>
          </p:cNvPr>
          <p:cNvSpPr>
            <a:spLocks noGrp="1"/>
          </p:cNvSpPr>
          <p:nvPr/>
        </p:nvSpPr>
        <p:spPr>
          <a:xfrm>
            <a:off x="106680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BE3C37"/>
                </a:solidFill>
                <a:latin typeface="Arial"/>
                <a:ea typeface="Arial"/>
                <a:cs typeface="Arial"/>
              </a:defRPr>
            </a:pPr>
            <a:r>
              <a:rPr sz="4050" b="1">
                <a:solidFill>
                  <a:srgbClr val="BE3C37"/>
                </a:solidFill>
                <a:latin typeface="Arial"/>
                <a:ea typeface="Arial"/>
                <a:cs typeface="Arial"/>
              </a:rPr>
              <a:t>FNR</a:t>
            </a:r>
          </a:p>
        </p:txBody>
      </p:sp>
      <p:sp>
        <p:nvSpPr>
          <p:cNvPr id="20" name="Rettangolo 19">
            <a:extLst>
              <a:ext uri="{FF2B5EF4-FFF2-40B4-BE49-F238E27FC236}">
                <a16:creationId xmlns:a16="http://schemas.microsoft.com/office/drawing/2014/main" id="{97D0AD05-5F40-433E-89C0-32EEE5F2F868}"/>
              </a:ext>
            </a:extLst>
          </p:cNvPr>
          <p:cNvSpPr>
            <a:spLocks noGrp="1"/>
          </p:cNvSpPr>
          <p:nvPr/>
        </p:nvSpPr>
        <p:spPr>
          <a:xfrm>
            <a:off x="106680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weapon → non_weapon</a:t>
            </a:r>
          </a:p>
        </p:txBody>
      </p:sp>
      <p:sp>
        <p:nvSpPr>
          <p:cNvPr id="21" name="Rettangolo 20">
            <a:extLst>
              <a:ext uri="{FF2B5EF4-FFF2-40B4-BE49-F238E27FC236}">
                <a16:creationId xmlns:a16="http://schemas.microsoft.com/office/drawing/2014/main" id="{5E474FE5-9B28-42E6-B688-9EA5D69086EE}"/>
              </a:ext>
            </a:extLst>
          </p:cNvPr>
          <p:cNvSpPr>
            <a:spLocks noGrp="1"/>
          </p:cNvSpPr>
          <p:nvPr/>
        </p:nvSpPr>
        <p:spPr>
          <a:xfrm>
            <a:off x="6076950" y="3390900"/>
            <a:ext cx="28575" cy="1809750"/>
          </a:xfrm>
          <a:prstGeom prst="rect">
            <a:avLst/>
          </a:prstGeom>
          <a:solidFill>
            <a:srgbClr val="D9DEE8"/>
          </a:solidFill>
          <a:ln w="0">
            <a:noFill/>
            <a:prstDash val="solid"/>
          </a:ln>
        </p:spPr>
        <p:txBody>
          <a:bodyPr/>
          <a:lstStyle/>
          <a:p>
            <a:endParaRPr/>
          </a:p>
        </p:txBody>
      </p:sp>
      <p:sp>
        <p:nvSpPr>
          <p:cNvPr id="22" name="Rettangolo 21">
            <a:extLst>
              <a:ext uri="{FF2B5EF4-FFF2-40B4-BE49-F238E27FC236}">
                <a16:creationId xmlns:a16="http://schemas.microsoft.com/office/drawing/2014/main" id="{A074807C-4784-4903-B750-5BECA1BD3546}"/>
              </a:ext>
            </a:extLst>
          </p:cNvPr>
          <p:cNvSpPr>
            <a:spLocks noGrp="1"/>
          </p:cNvSpPr>
          <p:nvPr/>
        </p:nvSpPr>
        <p:spPr>
          <a:xfrm>
            <a:off x="702945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C89B14"/>
                </a:solidFill>
                <a:latin typeface="Arial"/>
                <a:ea typeface="Arial"/>
                <a:cs typeface="Arial"/>
              </a:defRPr>
            </a:pPr>
            <a:r>
              <a:rPr sz="1425" b="1">
                <a:solidFill>
                  <a:srgbClr val="C89B14"/>
                </a:solidFill>
                <a:latin typeface="Arial"/>
                <a:ea typeface="Arial"/>
                <a:cs typeface="Arial"/>
              </a:rPr>
              <a:t>REVIEW-WORKLOAD RISK</a:t>
            </a:r>
          </a:p>
        </p:txBody>
      </p:sp>
      <p:sp>
        <p:nvSpPr>
          <p:cNvPr id="23" name="Rettangolo 22">
            <a:extLst>
              <a:ext uri="{FF2B5EF4-FFF2-40B4-BE49-F238E27FC236}">
                <a16:creationId xmlns:a16="http://schemas.microsoft.com/office/drawing/2014/main" id="{5FC9D189-EFC1-4DC8-81D2-005B26D5BFA5}"/>
              </a:ext>
            </a:extLst>
          </p:cNvPr>
          <p:cNvSpPr>
            <a:spLocks noGrp="1"/>
          </p:cNvSpPr>
          <p:nvPr/>
        </p:nvSpPr>
        <p:spPr>
          <a:xfrm>
            <a:off x="702945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C89B14"/>
                </a:solidFill>
                <a:latin typeface="Arial"/>
                <a:ea typeface="Arial"/>
                <a:cs typeface="Arial"/>
              </a:defRPr>
            </a:pPr>
            <a:r>
              <a:rPr sz="4050" b="1">
                <a:solidFill>
                  <a:srgbClr val="C89B14"/>
                </a:solidFill>
                <a:latin typeface="Arial"/>
                <a:ea typeface="Arial"/>
                <a:cs typeface="Arial"/>
              </a:rPr>
              <a:t>FPR</a:t>
            </a:r>
          </a:p>
        </p:txBody>
      </p:sp>
      <p:sp>
        <p:nvSpPr>
          <p:cNvPr id="24" name="Rettangolo 23">
            <a:extLst>
              <a:ext uri="{FF2B5EF4-FFF2-40B4-BE49-F238E27FC236}">
                <a16:creationId xmlns:a16="http://schemas.microsoft.com/office/drawing/2014/main" id="{C1CE03FA-0D68-42C1-89E8-C743E7BB7F52}"/>
              </a:ext>
            </a:extLst>
          </p:cNvPr>
          <p:cNvSpPr>
            <a:spLocks noGrp="1"/>
          </p:cNvSpPr>
          <p:nvPr/>
        </p:nvSpPr>
        <p:spPr>
          <a:xfrm>
            <a:off x="702945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non_weapon → weapon</a:t>
            </a:r>
          </a:p>
        </p:txBody>
      </p:sp>
      <p:sp>
        <p:nvSpPr>
          <p:cNvPr id="25" name="Rettangolo con angoli arrotondati 24">
            <a:extLst>
              <a:ext uri="{FF2B5EF4-FFF2-40B4-BE49-F238E27FC236}">
                <a16:creationId xmlns:a16="http://schemas.microsoft.com/office/drawing/2014/main" id="{679C6CA1-E422-4B3D-A1C4-68A1B04782DB}"/>
              </a:ext>
            </a:extLst>
          </p:cNvPr>
          <p:cNvSpPr>
            <a:spLocks noGrp="1"/>
          </p:cNvSpPr>
          <p:nvPr/>
        </p:nvSpPr>
        <p:spPr>
          <a:xfrm>
            <a:off x="1790700" y="5429250"/>
            <a:ext cx="8610600" cy="552450"/>
          </a:xfrm>
          <a:prstGeom prst="roundRect">
            <a:avLst>
              <a:gd name="adj" fmla="val 24138"/>
            </a:avLst>
          </a:prstGeom>
          <a:solidFill>
            <a:srgbClr val="E7F8F0"/>
          </a:solidFill>
          <a:ln w="0">
            <a:noFill/>
            <a:prstDash val="solid"/>
          </a:ln>
        </p:spPr>
        <p:txBody>
          <a:bodyPr/>
          <a:lstStyle/>
          <a:p>
            <a:endParaRPr/>
          </a:p>
        </p:txBody>
      </p:sp>
      <p:sp>
        <p:nvSpPr>
          <p:cNvPr id="26" name="Rettangolo 25">
            <a:extLst>
              <a:ext uri="{FF2B5EF4-FFF2-40B4-BE49-F238E27FC236}">
                <a16:creationId xmlns:a16="http://schemas.microsoft.com/office/drawing/2014/main" id="{9AC02F13-9E37-4088-8708-E1F14BE825A7}"/>
              </a:ext>
            </a:extLst>
          </p:cNvPr>
          <p:cNvSpPr>
            <a:spLocks noGrp="1"/>
          </p:cNvSpPr>
          <p:nvPr/>
        </p:nvSpPr>
        <p:spPr>
          <a:xfrm>
            <a:off x="2038350" y="5581650"/>
            <a:ext cx="8115300" cy="2476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OOD weapon-assignment rate is reported separately; no unknown state occurred in 69,000 normalized decisions.</a:t>
            </a:r>
          </a:p>
        </p:txBody>
      </p:sp>
    </p:spTree>
    <p:extLst>
      <p:ext uri="{BB962C8B-B14F-4D97-AF65-F5344CB8AC3E}">
        <p14:creationId xmlns:p14="http://schemas.microsoft.com/office/powerpoint/2010/main" val="1623973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5" name="Rettangolo 34">
            <a:extLst>
              <a:ext uri="{FF2B5EF4-FFF2-40B4-BE49-F238E27FC236}">
                <a16:creationId xmlns:a16="http://schemas.microsoft.com/office/drawing/2014/main" id="{B682DB6E-8EFB-4DA0-800D-68D826B1831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C2FB14A-91A6-468C-9FBC-56EB8791369E}"/>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Direct-target collapse did not transfer uniformly</a:t>
            </a:r>
          </a:p>
        </p:txBody>
      </p:sp>
      <p:sp>
        <p:nvSpPr>
          <p:cNvPr id="3" name="Rettangolo 2">
            <a:extLst>
              <a:ext uri="{FF2B5EF4-FFF2-40B4-BE49-F238E27FC236}">
                <a16:creationId xmlns:a16="http://schemas.microsoft.com/office/drawing/2014/main" id="{C191ECC7-CDAF-4D9F-AF0A-FC4F6D1F8648}"/>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4E86AFB-EC30-4BB1-A97A-884CD498C0D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1BC9993-142B-4F39-8B3D-F8FBFA60361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07</a:t>
            </a:r>
          </a:p>
        </p:txBody>
      </p:sp>
      <p:sp>
        <p:nvSpPr>
          <p:cNvPr id="6" name="Rettangolo 5">
            <a:extLst>
              <a:ext uri="{FF2B5EF4-FFF2-40B4-BE49-F238E27FC236}">
                <a16:creationId xmlns:a16="http://schemas.microsoft.com/office/drawing/2014/main" id="{16658F52-9BE9-415C-BF14-A5CB15AB43AB}"/>
              </a:ext>
            </a:extLst>
          </p:cNvPr>
          <p:cNvSpPr>
            <a:spLocks noGrp="1"/>
          </p:cNvSpPr>
          <p:nvPr/>
        </p:nvSpPr>
        <p:spPr>
          <a:xfrm>
            <a:off x="685800" y="1257300"/>
            <a:ext cx="108204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Worst observed adversarial condition per proxy; attacks were optimized only for EfficientNet-B0</a:t>
            </a:r>
          </a:p>
        </p:txBody>
      </p:sp>
      <p:sp>
        <p:nvSpPr>
          <p:cNvPr id="7" name="Rettangolo con angoli arrotondati 6">
            <a:extLst>
              <a:ext uri="{FF2B5EF4-FFF2-40B4-BE49-F238E27FC236}">
                <a16:creationId xmlns:a16="http://schemas.microsoft.com/office/drawing/2014/main" id="{56AE85E9-0E8F-4E95-8EC0-7B131EEDAC00}"/>
              </a:ext>
            </a:extLst>
          </p:cNvPr>
          <p:cNvSpPr>
            <a:spLocks noGrp="1"/>
          </p:cNvSpPr>
          <p:nvPr/>
        </p:nvSpPr>
        <p:spPr>
          <a:xfrm>
            <a:off x="685800"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9577C2D9-78D1-4F27-ABC7-FD9633E30F4D}"/>
              </a:ext>
            </a:extLst>
          </p:cNvPr>
          <p:cNvSpPr>
            <a:spLocks noGrp="1"/>
          </p:cNvSpPr>
          <p:nvPr/>
        </p:nvSpPr>
        <p:spPr>
          <a:xfrm>
            <a:off x="87630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EfficientNet-B0</a:t>
            </a:r>
          </a:p>
        </p:txBody>
      </p:sp>
      <p:sp>
        <p:nvSpPr>
          <p:cNvPr id="9" name="Rettangolo 8">
            <a:extLst>
              <a:ext uri="{FF2B5EF4-FFF2-40B4-BE49-F238E27FC236}">
                <a16:creationId xmlns:a16="http://schemas.microsoft.com/office/drawing/2014/main" id="{2E82C4FA-E336-46EA-9A84-371A09CA3AEA}"/>
              </a:ext>
            </a:extLst>
          </p:cNvPr>
          <p:cNvSpPr>
            <a:spLocks noGrp="1"/>
          </p:cNvSpPr>
          <p:nvPr/>
        </p:nvSpPr>
        <p:spPr>
          <a:xfrm>
            <a:off x="87630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0" name="Rettangolo 9">
            <a:extLst>
              <a:ext uri="{FF2B5EF4-FFF2-40B4-BE49-F238E27FC236}">
                <a16:creationId xmlns:a16="http://schemas.microsoft.com/office/drawing/2014/main" id="{70F2D2A0-02D8-4A6B-9903-BE856DE2D296}"/>
              </a:ext>
            </a:extLst>
          </p:cNvPr>
          <p:cNvSpPr>
            <a:spLocks noGrp="1"/>
          </p:cNvSpPr>
          <p:nvPr/>
        </p:nvSpPr>
        <p:spPr>
          <a:xfrm>
            <a:off x="87630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97.8%</a:t>
            </a:r>
          </a:p>
        </p:txBody>
      </p:sp>
      <p:sp>
        <p:nvSpPr>
          <p:cNvPr id="11" name="Rettangolo 10">
            <a:extLst>
              <a:ext uri="{FF2B5EF4-FFF2-40B4-BE49-F238E27FC236}">
                <a16:creationId xmlns:a16="http://schemas.microsoft.com/office/drawing/2014/main" id="{49D9FAB2-354F-4D6E-AEB6-D07E9821938A}"/>
              </a:ext>
            </a:extLst>
          </p:cNvPr>
          <p:cNvSpPr>
            <a:spLocks noGrp="1"/>
          </p:cNvSpPr>
          <p:nvPr/>
        </p:nvSpPr>
        <p:spPr>
          <a:xfrm>
            <a:off x="190500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a:t>
            </a:r>
          </a:p>
        </p:txBody>
      </p:sp>
      <p:sp>
        <p:nvSpPr>
          <p:cNvPr id="12" name="Rettangolo 11">
            <a:extLst>
              <a:ext uri="{FF2B5EF4-FFF2-40B4-BE49-F238E27FC236}">
                <a16:creationId xmlns:a16="http://schemas.microsoft.com/office/drawing/2014/main" id="{F996CD3D-5C3A-40B2-A13D-7A62926E9BE4}"/>
              </a:ext>
            </a:extLst>
          </p:cNvPr>
          <p:cNvSpPr>
            <a:spLocks noGrp="1"/>
          </p:cNvSpPr>
          <p:nvPr/>
        </p:nvSpPr>
        <p:spPr>
          <a:xfrm>
            <a:off x="276225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BE3C37"/>
                </a:solidFill>
                <a:latin typeface="Arial"/>
                <a:ea typeface="Arial"/>
                <a:cs typeface="Arial"/>
              </a:defRPr>
            </a:pPr>
            <a:r>
              <a:rPr sz="1275" b="1">
                <a:solidFill>
                  <a:srgbClr val="BE3C37"/>
                </a:solidFill>
                <a:latin typeface="Arial"/>
                <a:ea typeface="Arial"/>
                <a:cs typeface="Arial"/>
              </a:rPr>
              <a:t>−96.3 pp</a:t>
            </a:r>
          </a:p>
        </p:txBody>
      </p:sp>
      <p:sp>
        <p:nvSpPr>
          <p:cNvPr id="13" name="Rettangolo 12">
            <a:extLst>
              <a:ext uri="{FF2B5EF4-FFF2-40B4-BE49-F238E27FC236}">
                <a16:creationId xmlns:a16="http://schemas.microsoft.com/office/drawing/2014/main" id="{A0E55963-0CB1-4969-8E2A-F4EB81ADF8D4}"/>
              </a:ext>
            </a:extLst>
          </p:cNvPr>
          <p:cNvSpPr>
            <a:spLocks noGrp="1"/>
          </p:cNvSpPr>
          <p:nvPr/>
        </p:nvSpPr>
        <p:spPr>
          <a:xfrm>
            <a:off x="87630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BE3C37"/>
                </a:solidFill>
                <a:latin typeface="Arial"/>
                <a:ea typeface="Arial"/>
                <a:cs typeface="Arial"/>
              </a:defRPr>
            </a:pPr>
            <a:r>
              <a:rPr sz="3225" b="1">
                <a:solidFill>
                  <a:srgbClr val="BE3C37"/>
                </a:solidFill>
                <a:latin typeface="Arial"/>
                <a:ea typeface="Arial"/>
                <a:cs typeface="Arial"/>
              </a:rPr>
              <a:t>1.5%</a:t>
            </a:r>
          </a:p>
        </p:txBody>
      </p:sp>
      <p:sp>
        <p:nvSpPr>
          <p:cNvPr id="14" name="Rettangolo con angoli arrotondati 13">
            <a:extLst>
              <a:ext uri="{FF2B5EF4-FFF2-40B4-BE49-F238E27FC236}">
                <a16:creationId xmlns:a16="http://schemas.microsoft.com/office/drawing/2014/main" id="{BF5BB6F7-3575-4024-AC7F-C44206587777}"/>
              </a:ext>
            </a:extLst>
          </p:cNvPr>
          <p:cNvSpPr>
            <a:spLocks noGrp="1"/>
          </p:cNvSpPr>
          <p:nvPr/>
        </p:nvSpPr>
        <p:spPr>
          <a:xfrm>
            <a:off x="1019175" y="4514850"/>
            <a:ext cx="2667000" cy="552450"/>
          </a:xfrm>
          <a:prstGeom prst="roundRect">
            <a:avLst>
              <a:gd name="adj" fmla="val 20690"/>
            </a:avLst>
          </a:prstGeom>
          <a:solidFill>
            <a:srgbClr val="FBEAEA"/>
          </a:solidFill>
          <a:ln w="0">
            <a:noFill/>
            <a:prstDash val="solid"/>
          </a:ln>
        </p:spPr>
        <p:txBody>
          <a:bodyPr/>
          <a:lstStyle/>
          <a:p>
            <a:endParaRPr/>
          </a:p>
        </p:txBody>
      </p:sp>
      <p:sp>
        <p:nvSpPr>
          <p:cNvPr id="15" name="Rettangolo 14">
            <a:extLst>
              <a:ext uri="{FF2B5EF4-FFF2-40B4-BE49-F238E27FC236}">
                <a16:creationId xmlns:a16="http://schemas.microsoft.com/office/drawing/2014/main" id="{AE6018B9-C8AD-41A8-89CA-38D39F49C678}"/>
              </a:ext>
            </a:extLst>
          </p:cNvPr>
          <p:cNvSpPr>
            <a:spLocks noGrp="1"/>
          </p:cNvSpPr>
          <p:nvPr/>
        </p:nvSpPr>
        <p:spPr>
          <a:xfrm>
            <a:off x="119062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Sigma Zero · direct</a:t>
            </a:r>
          </a:p>
        </p:txBody>
      </p:sp>
      <p:sp>
        <p:nvSpPr>
          <p:cNvPr id="16" name="Rettangolo con angoli arrotondati 15">
            <a:extLst>
              <a:ext uri="{FF2B5EF4-FFF2-40B4-BE49-F238E27FC236}">
                <a16:creationId xmlns:a16="http://schemas.microsoft.com/office/drawing/2014/main" id="{9E2BCEBA-C7B6-438A-99BD-F49CB0486D2F}"/>
              </a:ext>
            </a:extLst>
          </p:cNvPr>
          <p:cNvSpPr>
            <a:spLocks noGrp="1"/>
          </p:cNvSpPr>
          <p:nvPr/>
        </p:nvSpPr>
        <p:spPr>
          <a:xfrm>
            <a:off x="4429125"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17" name="Rettangolo 16">
            <a:extLst>
              <a:ext uri="{FF2B5EF4-FFF2-40B4-BE49-F238E27FC236}">
                <a16:creationId xmlns:a16="http://schemas.microsoft.com/office/drawing/2014/main" id="{394FB914-142B-4176-B281-5AF8EAC4DD42}"/>
              </a:ext>
            </a:extLst>
          </p:cNvPr>
          <p:cNvSpPr>
            <a:spLocks noGrp="1"/>
          </p:cNvSpPr>
          <p:nvPr/>
        </p:nvSpPr>
        <p:spPr>
          <a:xfrm>
            <a:off x="4619625"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ResNet18</a:t>
            </a:r>
          </a:p>
        </p:txBody>
      </p:sp>
      <p:sp>
        <p:nvSpPr>
          <p:cNvPr id="18" name="Rettangolo 17">
            <a:extLst>
              <a:ext uri="{FF2B5EF4-FFF2-40B4-BE49-F238E27FC236}">
                <a16:creationId xmlns:a16="http://schemas.microsoft.com/office/drawing/2014/main" id="{90C27F24-DDCD-4476-BEE6-9730E13D6F09}"/>
              </a:ext>
            </a:extLst>
          </p:cNvPr>
          <p:cNvSpPr>
            <a:spLocks noGrp="1"/>
          </p:cNvSpPr>
          <p:nvPr/>
        </p:nvSpPr>
        <p:spPr>
          <a:xfrm>
            <a:off x="4619625"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9" name="Rettangolo 18">
            <a:extLst>
              <a:ext uri="{FF2B5EF4-FFF2-40B4-BE49-F238E27FC236}">
                <a16:creationId xmlns:a16="http://schemas.microsoft.com/office/drawing/2014/main" id="{D2EDF698-9BB1-43E3-85CA-2599EF772F95}"/>
              </a:ext>
            </a:extLst>
          </p:cNvPr>
          <p:cNvSpPr>
            <a:spLocks noGrp="1"/>
          </p:cNvSpPr>
          <p:nvPr/>
        </p:nvSpPr>
        <p:spPr>
          <a:xfrm>
            <a:off x="4619625"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96.4%</a:t>
            </a:r>
          </a:p>
        </p:txBody>
      </p:sp>
      <p:sp>
        <p:nvSpPr>
          <p:cNvPr id="20" name="Rettangolo 19">
            <a:extLst>
              <a:ext uri="{FF2B5EF4-FFF2-40B4-BE49-F238E27FC236}">
                <a16:creationId xmlns:a16="http://schemas.microsoft.com/office/drawing/2014/main" id="{D1C64AAB-74DE-49AE-9C87-6178540E0BD2}"/>
              </a:ext>
            </a:extLst>
          </p:cNvPr>
          <p:cNvSpPr>
            <a:spLocks noGrp="1"/>
          </p:cNvSpPr>
          <p:nvPr/>
        </p:nvSpPr>
        <p:spPr>
          <a:xfrm>
            <a:off x="5648325"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21" name="Rettangolo 20">
            <a:extLst>
              <a:ext uri="{FF2B5EF4-FFF2-40B4-BE49-F238E27FC236}">
                <a16:creationId xmlns:a16="http://schemas.microsoft.com/office/drawing/2014/main" id="{2DF9C9FD-68A9-4B40-AB58-34AD20B34583}"/>
              </a:ext>
            </a:extLst>
          </p:cNvPr>
          <p:cNvSpPr>
            <a:spLocks noGrp="1"/>
          </p:cNvSpPr>
          <p:nvPr/>
        </p:nvSpPr>
        <p:spPr>
          <a:xfrm>
            <a:off x="6505575"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−4.6 pp</a:t>
            </a:r>
          </a:p>
        </p:txBody>
      </p:sp>
      <p:sp>
        <p:nvSpPr>
          <p:cNvPr id="22" name="Rettangolo 21">
            <a:extLst>
              <a:ext uri="{FF2B5EF4-FFF2-40B4-BE49-F238E27FC236}">
                <a16:creationId xmlns:a16="http://schemas.microsoft.com/office/drawing/2014/main" id="{492EA1CA-E94D-4529-9473-680D6960283D}"/>
              </a:ext>
            </a:extLst>
          </p:cNvPr>
          <p:cNvSpPr>
            <a:spLocks noGrp="1"/>
          </p:cNvSpPr>
          <p:nvPr/>
        </p:nvSpPr>
        <p:spPr>
          <a:xfrm>
            <a:off x="4619625"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91.8%</a:t>
            </a:r>
          </a:p>
        </p:txBody>
      </p:sp>
      <p:sp>
        <p:nvSpPr>
          <p:cNvPr id="23" name="Rettangolo con angoli arrotondati 22">
            <a:extLst>
              <a:ext uri="{FF2B5EF4-FFF2-40B4-BE49-F238E27FC236}">
                <a16:creationId xmlns:a16="http://schemas.microsoft.com/office/drawing/2014/main" id="{96FF0273-DED0-4DE2-8AA8-75586A24899D}"/>
              </a:ext>
            </a:extLst>
          </p:cNvPr>
          <p:cNvSpPr>
            <a:spLocks noGrp="1"/>
          </p:cNvSpPr>
          <p:nvPr/>
        </p:nvSpPr>
        <p:spPr>
          <a:xfrm>
            <a:off x="4762500" y="4514850"/>
            <a:ext cx="2667000" cy="552450"/>
          </a:xfrm>
          <a:prstGeom prst="roundRect">
            <a:avLst>
              <a:gd name="adj" fmla="val 20690"/>
            </a:avLst>
          </a:prstGeom>
          <a:solidFill>
            <a:srgbClr val="FFF4CD"/>
          </a:solidFill>
          <a:ln w="0">
            <a:noFill/>
            <a:prstDash val="solid"/>
          </a:ln>
        </p:spPr>
        <p:txBody>
          <a:bodyPr/>
          <a:lstStyle/>
          <a:p>
            <a:endParaRPr/>
          </a:p>
        </p:txBody>
      </p:sp>
      <p:sp>
        <p:nvSpPr>
          <p:cNvPr id="24" name="Rettangolo 23">
            <a:extLst>
              <a:ext uri="{FF2B5EF4-FFF2-40B4-BE49-F238E27FC236}">
                <a16:creationId xmlns:a16="http://schemas.microsoft.com/office/drawing/2014/main" id="{7F13BBE7-F396-45EB-8CD4-E163172E1B3A}"/>
              </a:ext>
            </a:extLst>
          </p:cNvPr>
          <p:cNvSpPr>
            <a:spLocks noGrp="1"/>
          </p:cNvSpPr>
          <p:nvPr/>
        </p:nvSpPr>
        <p:spPr>
          <a:xfrm>
            <a:off x="4933950"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25" name="Rettangolo con angoli arrotondati 24">
            <a:extLst>
              <a:ext uri="{FF2B5EF4-FFF2-40B4-BE49-F238E27FC236}">
                <a16:creationId xmlns:a16="http://schemas.microsoft.com/office/drawing/2014/main" id="{C70A0BA2-8F3B-41DC-9592-4F623D651E86}"/>
              </a:ext>
            </a:extLst>
          </p:cNvPr>
          <p:cNvSpPr>
            <a:spLocks noGrp="1"/>
          </p:cNvSpPr>
          <p:nvPr/>
        </p:nvSpPr>
        <p:spPr>
          <a:xfrm>
            <a:off x="8172450"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26" name="Rettangolo 25">
            <a:extLst>
              <a:ext uri="{FF2B5EF4-FFF2-40B4-BE49-F238E27FC236}">
                <a16:creationId xmlns:a16="http://schemas.microsoft.com/office/drawing/2014/main" id="{A98C1D30-9BE6-4F8C-9D4A-F416452798D5}"/>
              </a:ext>
            </a:extLst>
          </p:cNvPr>
          <p:cNvSpPr>
            <a:spLocks noGrp="1"/>
          </p:cNvSpPr>
          <p:nvPr/>
        </p:nvSpPr>
        <p:spPr>
          <a:xfrm>
            <a:off x="836295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CLIP proxy</a:t>
            </a:r>
          </a:p>
        </p:txBody>
      </p:sp>
      <p:sp>
        <p:nvSpPr>
          <p:cNvPr id="27" name="Rettangolo 26">
            <a:extLst>
              <a:ext uri="{FF2B5EF4-FFF2-40B4-BE49-F238E27FC236}">
                <a16:creationId xmlns:a16="http://schemas.microsoft.com/office/drawing/2014/main" id="{FA9C149E-EE01-4E65-8446-3CDAC9015D72}"/>
              </a:ext>
            </a:extLst>
          </p:cNvPr>
          <p:cNvSpPr>
            <a:spLocks noGrp="1"/>
          </p:cNvSpPr>
          <p:nvPr/>
        </p:nvSpPr>
        <p:spPr>
          <a:xfrm>
            <a:off x="836295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28" name="Rettangolo 27">
            <a:extLst>
              <a:ext uri="{FF2B5EF4-FFF2-40B4-BE49-F238E27FC236}">
                <a16:creationId xmlns:a16="http://schemas.microsoft.com/office/drawing/2014/main" id="{980272C0-9E9C-4040-9C6C-D012524091C6}"/>
              </a:ext>
            </a:extLst>
          </p:cNvPr>
          <p:cNvSpPr>
            <a:spLocks noGrp="1"/>
          </p:cNvSpPr>
          <p:nvPr/>
        </p:nvSpPr>
        <p:spPr>
          <a:xfrm>
            <a:off x="836295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92.7%</a:t>
            </a:r>
          </a:p>
        </p:txBody>
      </p:sp>
      <p:sp>
        <p:nvSpPr>
          <p:cNvPr id="29" name="Rettangolo 28">
            <a:extLst>
              <a:ext uri="{FF2B5EF4-FFF2-40B4-BE49-F238E27FC236}">
                <a16:creationId xmlns:a16="http://schemas.microsoft.com/office/drawing/2014/main" id="{B0237A4F-5EE2-4F91-A719-5C9D999C0C17}"/>
              </a:ext>
            </a:extLst>
          </p:cNvPr>
          <p:cNvSpPr>
            <a:spLocks noGrp="1"/>
          </p:cNvSpPr>
          <p:nvPr/>
        </p:nvSpPr>
        <p:spPr>
          <a:xfrm>
            <a:off x="939165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30" name="Rettangolo 29">
            <a:extLst>
              <a:ext uri="{FF2B5EF4-FFF2-40B4-BE49-F238E27FC236}">
                <a16:creationId xmlns:a16="http://schemas.microsoft.com/office/drawing/2014/main" id="{E068C5AC-6F4C-4F36-A557-12E2AE1E13C0}"/>
              </a:ext>
            </a:extLst>
          </p:cNvPr>
          <p:cNvSpPr>
            <a:spLocks noGrp="1"/>
          </p:cNvSpPr>
          <p:nvPr/>
        </p:nvSpPr>
        <p:spPr>
          <a:xfrm>
            <a:off x="1024890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−1.3 pp</a:t>
            </a:r>
          </a:p>
        </p:txBody>
      </p:sp>
      <p:sp>
        <p:nvSpPr>
          <p:cNvPr id="31" name="Rettangolo 30">
            <a:extLst>
              <a:ext uri="{FF2B5EF4-FFF2-40B4-BE49-F238E27FC236}">
                <a16:creationId xmlns:a16="http://schemas.microsoft.com/office/drawing/2014/main" id="{B7F6DC36-2570-45E5-AFD1-8D49B963DBCB}"/>
              </a:ext>
            </a:extLst>
          </p:cNvPr>
          <p:cNvSpPr>
            <a:spLocks noGrp="1"/>
          </p:cNvSpPr>
          <p:nvPr/>
        </p:nvSpPr>
        <p:spPr>
          <a:xfrm>
            <a:off x="836295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91.4%</a:t>
            </a:r>
          </a:p>
        </p:txBody>
      </p:sp>
      <p:sp>
        <p:nvSpPr>
          <p:cNvPr id="32" name="Rettangolo con angoli arrotondati 31">
            <a:extLst>
              <a:ext uri="{FF2B5EF4-FFF2-40B4-BE49-F238E27FC236}">
                <a16:creationId xmlns:a16="http://schemas.microsoft.com/office/drawing/2014/main" id="{E0EF1A65-1CB2-42B0-B44F-2F0165D59CB8}"/>
              </a:ext>
            </a:extLst>
          </p:cNvPr>
          <p:cNvSpPr>
            <a:spLocks noGrp="1"/>
          </p:cNvSpPr>
          <p:nvPr/>
        </p:nvSpPr>
        <p:spPr>
          <a:xfrm>
            <a:off x="8505825" y="4514850"/>
            <a:ext cx="2667000" cy="552450"/>
          </a:xfrm>
          <a:prstGeom prst="roundRect">
            <a:avLst>
              <a:gd name="adj" fmla="val 20690"/>
            </a:avLst>
          </a:prstGeom>
          <a:solidFill>
            <a:srgbClr val="FFF4CD"/>
          </a:solidFill>
          <a:ln w="0">
            <a:noFill/>
            <a:prstDash val="solid"/>
          </a:ln>
        </p:spPr>
        <p:txBody>
          <a:bodyPr/>
          <a:lstStyle/>
          <a:p>
            <a:endParaRPr/>
          </a:p>
        </p:txBody>
      </p:sp>
      <p:sp>
        <p:nvSpPr>
          <p:cNvPr id="33" name="Rettangolo 32">
            <a:extLst>
              <a:ext uri="{FF2B5EF4-FFF2-40B4-BE49-F238E27FC236}">
                <a16:creationId xmlns:a16="http://schemas.microsoft.com/office/drawing/2014/main" id="{C72A86F9-3076-4133-A78E-82EB41F3A1D6}"/>
              </a:ext>
            </a:extLst>
          </p:cNvPr>
          <p:cNvSpPr>
            <a:spLocks noGrp="1"/>
          </p:cNvSpPr>
          <p:nvPr/>
        </p:nvSpPr>
        <p:spPr>
          <a:xfrm>
            <a:off x="867727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34" name="Rettangolo 33">
            <a:extLst>
              <a:ext uri="{FF2B5EF4-FFF2-40B4-BE49-F238E27FC236}">
                <a16:creationId xmlns:a16="http://schemas.microsoft.com/office/drawing/2014/main" id="{83A62D01-9A99-4444-A378-62E9EAECF82E}"/>
              </a:ext>
            </a:extLst>
          </p:cNvPr>
          <p:cNvSpPr>
            <a:spLocks noGrp="1"/>
          </p:cNvSpPr>
          <p:nvPr/>
        </p:nvSpPr>
        <p:spPr>
          <a:xfrm>
            <a:off x="1428750" y="5753100"/>
            <a:ext cx="9334500" cy="26670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Largest anti-forensic proxy drop: 3.0 pp · ResNet18, histogram modification</a:t>
            </a:r>
          </a:p>
        </p:txBody>
      </p:sp>
    </p:spTree>
    <p:extLst>
      <p:ext uri="{BB962C8B-B14F-4D97-AF65-F5344CB8AC3E}">
        <p14:creationId xmlns:p14="http://schemas.microsoft.com/office/powerpoint/2010/main" val="602715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0" name="Rettangolo 9">
            <a:extLst>
              <a:ext uri="{FF2B5EF4-FFF2-40B4-BE49-F238E27FC236}">
                <a16:creationId xmlns:a16="http://schemas.microsoft.com/office/drawing/2014/main" id="{CBFBE0B0-4196-49D2-816F-6775E02BA4B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31AF1709-E0A2-40EF-88E7-6DDA26F6CFFD}"/>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Black-box transfer was configuration-dependent</a:t>
            </a:r>
          </a:p>
        </p:txBody>
      </p:sp>
      <p:sp>
        <p:nvSpPr>
          <p:cNvPr id="3" name="Rettangolo 2">
            <a:extLst>
              <a:ext uri="{FF2B5EF4-FFF2-40B4-BE49-F238E27FC236}">
                <a16:creationId xmlns:a16="http://schemas.microsoft.com/office/drawing/2014/main" id="{3291F0CF-6083-4E3B-9AC2-0305E98F368E}"/>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565A18C7-FE67-4009-89BB-E8C6FE7C319D}"/>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C8DA42D-E2E5-4441-9FF6-841AA3906BA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08</a:t>
            </a:r>
          </a:p>
        </p:txBody>
      </p:sp>
      <p:pic>
        <p:nvPicPr>
          <p:cNvPr id="17" name="Picture 10"/>
          <p:cNvPicPr>
            <a:picLocks noChangeAspect="1"/>
          </p:cNvPicPr>
          <p:nvPr/>
        </p:nvPicPr>
        <p:blipFill>
          <a:blip r:embed="rId3"/>
          <a:srcRect/>
          <a:stretch>
            <a:fillRect/>
          </a:stretch>
        </p:blipFill>
        <p:spPr>
          <a:xfrm>
            <a:off x="944113" y="1257300"/>
            <a:ext cx="10303774" cy="4095750"/>
          </a:xfrm>
          <a:prstGeom prst="rect">
            <a:avLst/>
          </a:prstGeom>
        </p:spPr>
      </p:pic>
      <p:sp>
        <p:nvSpPr>
          <p:cNvPr id="7" name="Rettangolo con angoli arrotondati 6">
            <a:extLst>
              <a:ext uri="{FF2B5EF4-FFF2-40B4-BE49-F238E27FC236}">
                <a16:creationId xmlns:a16="http://schemas.microsoft.com/office/drawing/2014/main" id="{AF37DDE1-913C-46CF-A2F3-12C536DDA446}"/>
              </a:ext>
            </a:extLst>
          </p:cNvPr>
          <p:cNvSpPr>
            <a:spLocks noGrp="1"/>
          </p:cNvSpPr>
          <p:nvPr/>
        </p:nvSpPr>
        <p:spPr>
          <a:xfrm>
            <a:off x="1123950" y="5467350"/>
            <a:ext cx="9944100" cy="590550"/>
          </a:xfrm>
          <a:prstGeom prst="roundRect">
            <a:avLst>
              <a:gd name="adj" fmla="val 22581"/>
            </a:avLst>
          </a:prstGeom>
          <a:solidFill>
            <a:srgbClr val="FBEAEA"/>
          </a:solidFill>
          <a:ln w="0">
            <a:noFill/>
            <a:prstDash val="solid"/>
          </a:ln>
        </p:spPr>
        <p:txBody>
          <a:bodyPr/>
          <a:lstStyle/>
          <a:p>
            <a:endParaRPr/>
          </a:p>
        </p:txBody>
      </p:sp>
      <p:sp>
        <p:nvSpPr>
          <p:cNvPr id="8" name="Rettangolo 7">
            <a:extLst>
              <a:ext uri="{FF2B5EF4-FFF2-40B4-BE49-F238E27FC236}">
                <a16:creationId xmlns:a16="http://schemas.microsoft.com/office/drawing/2014/main" id="{30C38F54-5C1E-4ADD-809B-B0B819F1C798}"/>
              </a:ext>
            </a:extLst>
          </p:cNvPr>
          <p:cNvSpPr>
            <a:spLocks noGrp="1"/>
          </p:cNvSpPr>
          <p:nvPr/>
        </p:nvSpPr>
        <p:spPr>
          <a:xfrm>
            <a:off x="1409700" y="5619750"/>
            <a:ext cx="9372600" cy="266700"/>
          </a:xfrm>
          <a:prstGeom prst="rect">
            <a:avLst/>
          </a:prstGeom>
          <a:noFill/>
          <a:ln w="0">
            <a:noFill/>
            <a:prstDash val="solid"/>
          </a:ln>
        </p:spPr>
        <p:txBody>
          <a:bodyPr wrap="square" lIns="0" tIns="0" rIns="0" bIns="0" anchor="t">
            <a:noAutofit/>
          </a:bodyPr>
          <a:lstStyle/>
          <a:p>
            <a:pPr algn="ctr">
              <a:buNone/>
              <a:defRPr sz="1575" b="1">
                <a:solidFill>
                  <a:srgbClr val="BE3C37"/>
                </a:solidFill>
                <a:latin typeface="Arial"/>
                <a:ea typeface="Arial"/>
                <a:cs typeface="Arial"/>
              </a:defRPr>
            </a:pPr>
            <a:r>
              <a:rPr sz="1575" b="1">
                <a:solidFill>
                  <a:srgbClr val="BE3C37"/>
                </a:solidFill>
                <a:latin typeface="Arial"/>
                <a:ea typeface="Arial"/>
                <a:cs typeface="Arial"/>
              </a:rPr>
              <a:t>Largest transfer effects: Sigma Zero · Excire D50 −20.2 pp · D80 −25.8 pp</a:t>
            </a:r>
          </a:p>
        </p:txBody>
      </p:sp>
      <p:sp>
        <p:nvSpPr>
          <p:cNvPr id="9" name="Rettangolo 8">
            <a:extLst>
              <a:ext uri="{FF2B5EF4-FFF2-40B4-BE49-F238E27FC236}">
                <a16:creationId xmlns:a16="http://schemas.microsoft.com/office/drawing/2014/main" id="{25396EEC-0BD8-400F-A539-2C244EEA8DC5}"/>
              </a:ext>
            </a:extLst>
          </p:cNvPr>
          <p:cNvSpPr>
            <a:spLocks noGrp="1"/>
          </p:cNvSpPr>
          <p:nvPr/>
        </p:nvSpPr>
        <p:spPr>
          <a:xfrm>
            <a:off x="1524000" y="6115050"/>
            <a:ext cx="91440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Transfer from EfficientNet-B0 artifacts—not direct attacks · Source: FAIRLab manuscript</a:t>
            </a:r>
          </a:p>
        </p:txBody>
      </p:sp>
    </p:spTree>
    <p:extLst>
      <p:ext uri="{BB962C8B-B14F-4D97-AF65-F5344CB8AC3E}">
        <p14:creationId xmlns:p14="http://schemas.microsoft.com/office/powerpoint/2010/main" val="1506196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99C5F556-E43B-4D5C-87AA-60CC7C8B790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2E59AA1-F424-40FD-9085-E34E23AA9D98}"/>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lower miss rate can create a larger review burden</a:t>
            </a:r>
          </a:p>
        </p:txBody>
      </p:sp>
      <p:sp>
        <p:nvSpPr>
          <p:cNvPr id="3" name="Rettangolo 2">
            <a:extLst>
              <a:ext uri="{FF2B5EF4-FFF2-40B4-BE49-F238E27FC236}">
                <a16:creationId xmlns:a16="http://schemas.microsoft.com/office/drawing/2014/main" id="{36849F68-D7D6-4111-82DC-6F4B34B72431}"/>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336AF14B-E51D-40CF-BE63-CFC5A20414B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BEF75CF-FB0D-4A83-BC3D-ED743ECD537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09</a:t>
            </a:r>
          </a:p>
        </p:txBody>
      </p:sp>
      <p:sp>
        <p:nvSpPr>
          <p:cNvPr id="6" name="Rettangolo 5">
            <a:extLst>
              <a:ext uri="{FF2B5EF4-FFF2-40B4-BE49-F238E27FC236}">
                <a16:creationId xmlns:a16="http://schemas.microsoft.com/office/drawing/2014/main" id="{F4EDF8AC-4E92-461B-895C-53D1DB7355BF}"/>
              </a:ext>
            </a:extLst>
          </p:cNvPr>
          <p:cNvSpPr>
            <a:spLocks noGrp="1"/>
          </p:cNvSpPr>
          <p:nvPr/>
        </p:nvSpPr>
        <p:spPr>
          <a:xfrm>
            <a:off x="685800" y="1257300"/>
            <a:ext cx="752475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Clean-condition directional error rates</a:t>
            </a:r>
          </a:p>
        </p:txBody>
      </p:sp>
      <p:graphicFrame>
        <p:nvGraphicFramePr>
          <p:cNvPr id="27" name="Chart"/>
          <p:cNvGraphicFramePr/>
          <p:nvPr/>
        </p:nvGraphicFramePr>
        <p:xfrm>
          <a:off x="533400" y="1504950"/>
          <a:ext cx="7810500" cy="440055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B32211CA-359B-48C3-B5B4-E09B47E32F88}"/>
              </a:ext>
            </a:extLst>
          </p:cNvPr>
          <p:cNvSpPr>
            <a:spLocks noGrp="1"/>
          </p:cNvSpPr>
          <p:nvPr/>
        </p:nvSpPr>
        <p:spPr>
          <a:xfrm>
            <a:off x="8648700" y="1524000"/>
            <a:ext cx="2857500" cy="3829050"/>
          </a:xfrm>
          <a:prstGeom prst="roundRect">
            <a:avLst>
              <a:gd name="adj" fmla="val 6000"/>
            </a:avLst>
          </a:prstGeom>
          <a:solidFill>
            <a:srgbClr val="233A70"/>
          </a:solidFill>
          <a:ln w="0">
            <a:noFill/>
            <a:prstDash val="solid"/>
          </a:ln>
        </p:spPr>
        <p:txBody>
          <a:bodyPr/>
          <a:lstStyle/>
          <a:p>
            <a:endParaRPr/>
          </a:p>
        </p:txBody>
      </p:sp>
      <p:sp>
        <p:nvSpPr>
          <p:cNvPr id="9" name="Rettangolo 8">
            <a:extLst>
              <a:ext uri="{FF2B5EF4-FFF2-40B4-BE49-F238E27FC236}">
                <a16:creationId xmlns:a16="http://schemas.microsoft.com/office/drawing/2014/main" id="{AA5CA415-7615-47D2-9D36-55A55C537A04}"/>
              </a:ext>
            </a:extLst>
          </p:cNvPr>
          <p:cNvSpPr>
            <a:spLocks noGrp="1"/>
          </p:cNvSpPr>
          <p:nvPr/>
        </p:nvSpPr>
        <p:spPr>
          <a:xfrm>
            <a:off x="8877300" y="1809750"/>
            <a:ext cx="2400300" cy="2667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EXCIRE D20 → D80</a:t>
            </a:r>
          </a:p>
        </p:txBody>
      </p:sp>
      <p:sp>
        <p:nvSpPr>
          <p:cNvPr id="10" name="Rettangolo 9">
            <a:extLst>
              <a:ext uri="{FF2B5EF4-FFF2-40B4-BE49-F238E27FC236}">
                <a16:creationId xmlns:a16="http://schemas.microsoft.com/office/drawing/2014/main" id="{650148F9-8ED3-4F66-9B1A-1A6CE4A7D735}"/>
              </a:ext>
            </a:extLst>
          </p:cNvPr>
          <p:cNvSpPr>
            <a:spLocks noGrp="1"/>
          </p:cNvSpPr>
          <p:nvPr/>
        </p:nvSpPr>
        <p:spPr>
          <a:xfrm>
            <a:off x="8877300" y="23622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12.0%  →  1.4%</a:t>
            </a:r>
          </a:p>
        </p:txBody>
      </p:sp>
      <p:sp>
        <p:nvSpPr>
          <p:cNvPr id="11" name="Rettangolo 10">
            <a:extLst>
              <a:ext uri="{FF2B5EF4-FFF2-40B4-BE49-F238E27FC236}">
                <a16:creationId xmlns:a16="http://schemas.microsoft.com/office/drawing/2014/main" id="{8A701E2C-D64D-4975-A8E0-8B4746B56A04}"/>
              </a:ext>
            </a:extLst>
          </p:cNvPr>
          <p:cNvSpPr>
            <a:spLocks noGrp="1"/>
          </p:cNvSpPr>
          <p:nvPr/>
        </p:nvSpPr>
        <p:spPr>
          <a:xfrm>
            <a:off x="8877300" y="27813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missed-target rate</a:t>
            </a:r>
          </a:p>
        </p:txBody>
      </p:sp>
      <p:sp>
        <p:nvSpPr>
          <p:cNvPr id="12" name="Rettangolo 11">
            <a:extLst>
              <a:ext uri="{FF2B5EF4-FFF2-40B4-BE49-F238E27FC236}">
                <a16:creationId xmlns:a16="http://schemas.microsoft.com/office/drawing/2014/main" id="{005DAFCB-DAF8-45AC-A897-4BF08C50F272}"/>
              </a:ext>
            </a:extLst>
          </p:cNvPr>
          <p:cNvSpPr>
            <a:spLocks noGrp="1"/>
          </p:cNvSpPr>
          <p:nvPr/>
        </p:nvSpPr>
        <p:spPr>
          <a:xfrm>
            <a:off x="9163050" y="3219450"/>
            <a:ext cx="1828800" cy="19050"/>
          </a:xfrm>
          <a:prstGeom prst="rect">
            <a:avLst/>
          </a:prstGeom>
          <a:solidFill>
            <a:srgbClr val="536A9B"/>
          </a:solidFill>
          <a:ln w="0">
            <a:noFill/>
            <a:prstDash val="solid"/>
          </a:ln>
        </p:spPr>
        <p:txBody>
          <a:bodyPr/>
          <a:lstStyle/>
          <a:p>
            <a:endParaRPr/>
          </a:p>
        </p:txBody>
      </p:sp>
      <p:sp>
        <p:nvSpPr>
          <p:cNvPr id="13" name="Rettangolo 12">
            <a:extLst>
              <a:ext uri="{FF2B5EF4-FFF2-40B4-BE49-F238E27FC236}">
                <a16:creationId xmlns:a16="http://schemas.microsoft.com/office/drawing/2014/main" id="{16BAF519-5148-4A1A-B484-7B42D432C6F0}"/>
              </a:ext>
            </a:extLst>
          </p:cNvPr>
          <p:cNvSpPr>
            <a:spLocks noGrp="1"/>
          </p:cNvSpPr>
          <p:nvPr/>
        </p:nvSpPr>
        <p:spPr>
          <a:xfrm>
            <a:off x="8877300" y="344805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2.6%  →  15.6%</a:t>
            </a:r>
          </a:p>
        </p:txBody>
      </p:sp>
      <p:sp>
        <p:nvSpPr>
          <p:cNvPr id="14" name="Rettangolo 13">
            <a:extLst>
              <a:ext uri="{FF2B5EF4-FFF2-40B4-BE49-F238E27FC236}">
                <a16:creationId xmlns:a16="http://schemas.microsoft.com/office/drawing/2014/main" id="{F911A9A3-7270-4526-9632-3EC112625EF3}"/>
              </a:ext>
            </a:extLst>
          </p:cNvPr>
          <p:cNvSpPr>
            <a:spLocks noGrp="1"/>
          </p:cNvSpPr>
          <p:nvPr/>
        </p:nvSpPr>
        <p:spPr>
          <a:xfrm>
            <a:off x="8877300" y="386715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false-positive rate</a:t>
            </a:r>
          </a:p>
        </p:txBody>
      </p:sp>
      <p:sp>
        <p:nvSpPr>
          <p:cNvPr id="15" name="Rettangolo 14">
            <a:extLst>
              <a:ext uri="{FF2B5EF4-FFF2-40B4-BE49-F238E27FC236}">
                <a16:creationId xmlns:a16="http://schemas.microsoft.com/office/drawing/2014/main" id="{39F04AF7-B86E-4DE5-B20C-93E90631CB11}"/>
              </a:ext>
            </a:extLst>
          </p:cNvPr>
          <p:cNvSpPr>
            <a:spLocks noGrp="1"/>
          </p:cNvSpPr>
          <p:nvPr/>
        </p:nvSpPr>
        <p:spPr>
          <a:xfrm>
            <a:off x="9163050" y="4305300"/>
            <a:ext cx="1828800" cy="19050"/>
          </a:xfrm>
          <a:prstGeom prst="rect">
            <a:avLst/>
          </a:prstGeom>
          <a:solidFill>
            <a:srgbClr val="536A9B"/>
          </a:solidFill>
          <a:ln w="0">
            <a:noFill/>
            <a:prstDash val="solid"/>
          </a:ln>
        </p:spPr>
        <p:txBody>
          <a:bodyPr/>
          <a:lstStyle/>
          <a:p>
            <a:endParaRPr/>
          </a:p>
        </p:txBody>
      </p:sp>
      <p:sp>
        <p:nvSpPr>
          <p:cNvPr id="16" name="Rettangolo 15">
            <a:extLst>
              <a:ext uri="{FF2B5EF4-FFF2-40B4-BE49-F238E27FC236}">
                <a16:creationId xmlns:a16="http://schemas.microsoft.com/office/drawing/2014/main" id="{EAAD1828-F238-4BA2-BD2C-60615842DC5B}"/>
              </a:ext>
            </a:extLst>
          </p:cNvPr>
          <p:cNvSpPr>
            <a:spLocks noGrp="1"/>
          </p:cNvSpPr>
          <p:nvPr/>
        </p:nvSpPr>
        <p:spPr>
          <a:xfrm>
            <a:off x="8877300" y="45339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23.8%  →  52.2%</a:t>
            </a:r>
          </a:p>
        </p:txBody>
      </p:sp>
      <p:sp>
        <p:nvSpPr>
          <p:cNvPr id="17" name="Rettangolo 16">
            <a:extLst>
              <a:ext uri="{FF2B5EF4-FFF2-40B4-BE49-F238E27FC236}">
                <a16:creationId xmlns:a16="http://schemas.microsoft.com/office/drawing/2014/main" id="{ABC4CE77-AF49-48BF-981A-8A6598910C9D}"/>
              </a:ext>
            </a:extLst>
          </p:cNvPr>
          <p:cNvSpPr>
            <a:spLocks noGrp="1"/>
          </p:cNvSpPr>
          <p:nvPr/>
        </p:nvSpPr>
        <p:spPr>
          <a:xfrm>
            <a:off x="8877300" y="49530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OOD weapon assignment</a:t>
            </a:r>
          </a:p>
        </p:txBody>
      </p:sp>
      <p:sp>
        <p:nvSpPr>
          <p:cNvPr id="18" name="Rettangolo 17">
            <a:extLst>
              <a:ext uri="{FF2B5EF4-FFF2-40B4-BE49-F238E27FC236}">
                <a16:creationId xmlns:a16="http://schemas.microsoft.com/office/drawing/2014/main" id="{AA7ACF6B-58A7-4567-977D-A10198E44E94}"/>
              </a:ext>
            </a:extLst>
          </p:cNvPr>
          <p:cNvSpPr>
            <a:spLocks noGrp="1"/>
          </p:cNvSpPr>
          <p:nvPr/>
        </p:nvSpPr>
        <p:spPr>
          <a:xfrm>
            <a:off x="1333500" y="6076950"/>
            <a:ext cx="9525000" cy="28575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No configuration minimizes missed targets, review workload and OOD assignments simultaneously.</a:t>
            </a:r>
          </a:p>
        </p:txBody>
      </p:sp>
    </p:spTree>
    <p:extLst>
      <p:ext uri="{BB962C8B-B14F-4D97-AF65-F5344CB8AC3E}">
        <p14:creationId xmlns:p14="http://schemas.microsoft.com/office/powerpoint/2010/main" val="18034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DED6D724-FE30-49AE-997C-C1887C78417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5EA681E0-927A-45B2-8337-239E5FF9E12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OOD images were still routed to weapon</a:t>
            </a:r>
          </a:p>
        </p:txBody>
      </p:sp>
      <p:sp>
        <p:nvSpPr>
          <p:cNvPr id="3" name="Rettangolo 2">
            <a:extLst>
              <a:ext uri="{FF2B5EF4-FFF2-40B4-BE49-F238E27FC236}">
                <a16:creationId xmlns:a16="http://schemas.microsoft.com/office/drawing/2014/main" id="{02E27C31-8D1E-4BD3-8929-482DDDC7B9E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B23CCABE-2638-4044-8CC3-F8BDA96C8E5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2AC8A4D-2588-4B15-8350-592248936756}"/>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10</a:t>
            </a:r>
          </a:p>
        </p:txBody>
      </p:sp>
      <p:sp>
        <p:nvSpPr>
          <p:cNvPr id="6" name="Rettangolo 5">
            <a:extLst>
              <a:ext uri="{FF2B5EF4-FFF2-40B4-BE49-F238E27FC236}">
                <a16:creationId xmlns:a16="http://schemas.microsoft.com/office/drawing/2014/main" id="{C8C57C77-6DBD-44DA-9192-A78EE4E2B07D}"/>
              </a:ext>
            </a:extLst>
          </p:cNvPr>
          <p:cNvSpPr>
            <a:spLocks noGrp="1"/>
          </p:cNvSpPr>
          <p:nvPr/>
        </p:nvSpPr>
        <p:spPr>
          <a:xfrm>
            <a:off x="685800" y="1257300"/>
            <a:ext cx="78105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Weapon-assignment rate on the separate 500-image OOD branch</a:t>
            </a:r>
          </a:p>
        </p:txBody>
      </p:sp>
      <p:graphicFrame>
        <p:nvGraphicFramePr>
          <p:cNvPr id="23" name="Chart"/>
          <p:cNvGraphicFramePr/>
          <p:nvPr/>
        </p:nvGraphicFramePr>
        <p:xfrm>
          <a:off x="533400" y="1466850"/>
          <a:ext cx="8001000" cy="464820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162DD1E9-B02D-4444-9572-E8249CCCA93D}"/>
              </a:ext>
            </a:extLst>
          </p:cNvPr>
          <p:cNvSpPr>
            <a:spLocks noGrp="1"/>
          </p:cNvSpPr>
          <p:nvPr/>
        </p:nvSpPr>
        <p:spPr>
          <a:xfrm>
            <a:off x="8858250" y="1619250"/>
            <a:ext cx="2647950" cy="1428750"/>
          </a:xfrm>
          <a:prstGeom prst="roundRect">
            <a:avLst>
              <a:gd name="adj" fmla="val 12000"/>
            </a:avLst>
          </a:prstGeom>
          <a:solidFill>
            <a:srgbClr val="FBEAEA"/>
          </a:solidFill>
          <a:ln w="0">
            <a:noFill/>
            <a:prstDash val="solid"/>
          </a:ln>
        </p:spPr>
        <p:txBody>
          <a:bodyPr/>
          <a:lstStyle/>
          <a:p>
            <a:endParaRPr/>
          </a:p>
        </p:txBody>
      </p:sp>
      <p:sp>
        <p:nvSpPr>
          <p:cNvPr id="9" name="Rettangolo 8">
            <a:extLst>
              <a:ext uri="{FF2B5EF4-FFF2-40B4-BE49-F238E27FC236}">
                <a16:creationId xmlns:a16="http://schemas.microsoft.com/office/drawing/2014/main" id="{C66F82BF-F8CF-4914-8747-DF7B49329C5C}"/>
              </a:ext>
            </a:extLst>
          </p:cNvPr>
          <p:cNvSpPr>
            <a:spLocks noGrp="1"/>
          </p:cNvSpPr>
          <p:nvPr/>
        </p:nvSpPr>
        <p:spPr>
          <a:xfrm>
            <a:off x="9048750" y="1943100"/>
            <a:ext cx="2266950" cy="571500"/>
          </a:xfrm>
          <a:prstGeom prst="rect">
            <a:avLst/>
          </a:prstGeom>
          <a:noFill/>
          <a:ln w="0">
            <a:noFill/>
            <a:prstDash val="solid"/>
          </a:ln>
        </p:spPr>
        <p:txBody>
          <a:bodyPr wrap="square" lIns="0" tIns="0" rIns="0" bIns="0" anchor="t">
            <a:noAutofit/>
          </a:bodyPr>
          <a:lstStyle/>
          <a:p>
            <a:pPr algn="ctr">
              <a:buNone/>
              <a:defRPr sz="3675" b="1">
                <a:solidFill>
                  <a:srgbClr val="BE3C37"/>
                </a:solidFill>
                <a:latin typeface="Arial"/>
                <a:ea typeface="Arial"/>
                <a:cs typeface="Arial"/>
              </a:defRPr>
            </a:pPr>
            <a:r>
              <a:rPr sz="3675" b="1">
                <a:solidFill>
                  <a:srgbClr val="BE3C37"/>
                </a:solidFill>
                <a:latin typeface="Arial"/>
                <a:ea typeface="Arial"/>
                <a:cs typeface="Arial"/>
              </a:rPr>
              <a:t>83.6%</a:t>
            </a:r>
          </a:p>
        </p:txBody>
      </p:sp>
      <p:sp>
        <p:nvSpPr>
          <p:cNvPr id="10" name="Rettangolo 9">
            <a:extLst>
              <a:ext uri="{FF2B5EF4-FFF2-40B4-BE49-F238E27FC236}">
                <a16:creationId xmlns:a16="http://schemas.microsoft.com/office/drawing/2014/main" id="{FB8121E6-B232-4F7B-975D-38945AFE3309}"/>
              </a:ext>
            </a:extLst>
          </p:cNvPr>
          <p:cNvSpPr>
            <a:spLocks noGrp="1"/>
          </p:cNvSpPr>
          <p:nvPr/>
        </p:nvSpPr>
        <p:spPr>
          <a:xfrm>
            <a:off x="9048750" y="259080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CLIP proxy</a:t>
            </a:r>
          </a:p>
        </p:txBody>
      </p:sp>
      <p:sp>
        <p:nvSpPr>
          <p:cNvPr id="11" name="Rettangolo con angoli arrotondati 10">
            <a:extLst>
              <a:ext uri="{FF2B5EF4-FFF2-40B4-BE49-F238E27FC236}">
                <a16:creationId xmlns:a16="http://schemas.microsoft.com/office/drawing/2014/main" id="{C227376D-1F4B-4368-B470-3C3C554720A1}"/>
              </a:ext>
            </a:extLst>
          </p:cNvPr>
          <p:cNvSpPr>
            <a:spLocks noGrp="1"/>
          </p:cNvSpPr>
          <p:nvPr/>
        </p:nvSpPr>
        <p:spPr>
          <a:xfrm>
            <a:off x="8858250" y="3314700"/>
            <a:ext cx="2647950" cy="1428750"/>
          </a:xfrm>
          <a:prstGeom prst="roundRect">
            <a:avLst>
              <a:gd name="adj" fmla="val 12000"/>
            </a:avLst>
          </a:prstGeom>
          <a:solidFill>
            <a:srgbClr val="FFF4CD"/>
          </a:solidFill>
          <a:ln w="0">
            <a:noFill/>
            <a:prstDash val="solid"/>
          </a:ln>
        </p:spPr>
        <p:txBody>
          <a:bodyPr/>
          <a:lstStyle/>
          <a:p>
            <a:endParaRPr/>
          </a:p>
        </p:txBody>
      </p:sp>
      <p:sp>
        <p:nvSpPr>
          <p:cNvPr id="12" name="Rettangolo 11">
            <a:extLst>
              <a:ext uri="{FF2B5EF4-FFF2-40B4-BE49-F238E27FC236}">
                <a16:creationId xmlns:a16="http://schemas.microsoft.com/office/drawing/2014/main" id="{F2B5D134-0109-4C0B-83F0-6B3FC048A3AC}"/>
              </a:ext>
            </a:extLst>
          </p:cNvPr>
          <p:cNvSpPr>
            <a:spLocks noGrp="1"/>
          </p:cNvSpPr>
          <p:nvPr/>
        </p:nvSpPr>
        <p:spPr>
          <a:xfrm>
            <a:off x="9048750" y="3638550"/>
            <a:ext cx="2266950" cy="571500"/>
          </a:xfrm>
          <a:prstGeom prst="rect">
            <a:avLst/>
          </a:prstGeom>
          <a:noFill/>
          <a:ln w="0">
            <a:noFill/>
            <a:prstDash val="solid"/>
          </a:ln>
        </p:spPr>
        <p:txBody>
          <a:bodyPr wrap="square" lIns="0" tIns="0" rIns="0" bIns="0" anchor="t">
            <a:noAutofit/>
          </a:bodyPr>
          <a:lstStyle/>
          <a:p>
            <a:pPr algn="ctr">
              <a:buNone/>
              <a:defRPr sz="2700" b="1">
                <a:solidFill>
                  <a:srgbClr val="C89B14"/>
                </a:solidFill>
                <a:latin typeface="Arial"/>
                <a:ea typeface="Arial"/>
                <a:cs typeface="Arial"/>
              </a:defRPr>
            </a:pPr>
            <a:r>
              <a:rPr sz="2700" b="1">
                <a:solidFill>
                  <a:srgbClr val="C89B14"/>
                </a:solidFill>
                <a:latin typeface="Arial"/>
                <a:ea typeface="Arial"/>
                <a:cs typeface="Arial"/>
              </a:rPr>
              <a:t>23.8–52.2%</a:t>
            </a:r>
          </a:p>
        </p:txBody>
      </p:sp>
      <p:sp>
        <p:nvSpPr>
          <p:cNvPr id="13" name="Rettangolo 12">
            <a:extLst>
              <a:ext uri="{FF2B5EF4-FFF2-40B4-BE49-F238E27FC236}">
                <a16:creationId xmlns:a16="http://schemas.microsoft.com/office/drawing/2014/main" id="{6C367E04-4539-48B7-95FD-25BE3AFE42D3}"/>
              </a:ext>
            </a:extLst>
          </p:cNvPr>
          <p:cNvSpPr>
            <a:spLocks noGrp="1"/>
          </p:cNvSpPr>
          <p:nvPr/>
        </p:nvSpPr>
        <p:spPr>
          <a:xfrm>
            <a:off x="9048750" y="428625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black-box range</a:t>
            </a:r>
          </a:p>
        </p:txBody>
      </p:sp>
      <p:sp>
        <p:nvSpPr>
          <p:cNvPr id="14" name="Rettangolo 13">
            <a:extLst>
              <a:ext uri="{FF2B5EF4-FFF2-40B4-BE49-F238E27FC236}">
                <a16:creationId xmlns:a16="http://schemas.microsoft.com/office/drawing/2014/main" id="{ED55BAD6-5F50-4762-AA30-51DEBFC8C1C5}"/>
              </a:ext>
            </a:extLst>
          </p:cNvPr>
          <p:cNvSpPr>
            <a:spLocks noGrp="1"/>
          </p:cNvSpPr>
          <p:nvPr/>
        </p:nvSpPr>
        <p:spPr>
          <a:xfrm>
            <a:off x="8820150" y="5143500"/>
            <a:ext cx="2724150" cy="647700"/>
          </a:xfrm>
          <a:prstGeom prst="rect">
            <a:avLst/>
          </a:prstGeom>
          <a:noFill/>
          <a:ln w="0">
            <a:noFill/>
            <a:prstDash val="solid"/>
          </a:ln>
        </p:spPr>
        <p:txBody>
          <a:bodyPr wrap="square" lIns="0" tIns="0" rIns="0" bIns="0" anchor="ctr">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These are closed-set operating behaviors—not supervised false positives.</a:t>
            </a:r>
          </a:p>
        </p:txBody>
      </p:sp>
    </p:spTree>
    <p:extLst>
      <p:ext uri="{BB962C8B-B14F-4D97-AF65-F5344CB8AC3E}">
        <p14:creationId xmlns:p14="http://schemas.microsoft.com/office/powerpoint/2010/main" val="937685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Rettangolo 25">
            <a:extLst>
              <a:ext uri="{FF2B5EF4-FFF2-40B4-BE49-F238E27FC236}">
                <a16:creationId xmlns:a16="http://schemas.microsoft.com/office/drawing/2014/main" id="{5645DA4D-5BF9-4953-8433-9A7E419FF06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E4F3758C-2532-486E-A04E-E3D13E2CDF8A}"/>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maximally concentrated output can still be wrong</a:t>
            </a:r>
          </a:p>
        </p:txBody>
      </p:sp>
      <p:sp>
        <p:nvSpPr>
          <p:cNvPr id="3" name="Rettangolo 2">
            <a:extLst>
              <a:ext uri="{FF2B5EF4-FFF2-40B4-BE49-F238E27FC236}">
                <a16:creationId xmlns:a16="http://schemas.microsoft.com/office/drawing/2014/main" id="{CA526874-FE39-4860-AE76-8FB19350DF74}"/>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A090AA1-0FBA-403D-B515-3D72E084FF70}"/>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E694E014-2838-430B-BED6-5AAAE1012DA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11</a:t>
            </a:r>
          </a:p>
        </p:txBody>
      </p:sp>
      <p:pic>
        <p:nvPicPr>
          <p:cNvPr id="35" name="Picture 26"/>
          <p:cNvPicPr>
            <a:picLocks noChangeAspect="1"/>
          </p:cNvPicPr>
          <p:nvPr/>
        </p:nvPicPr>
        <p:blipFill>
          <a:blip r:embed="rId3"/>
          <a:srcRect/>
          <a:stretch>
            <a:fillRect/>
          </a:stretch>
        </p:blipFill>
        <p:spPr>
          <a:xfrm>
            <a:off x="685800" y="1638300"/>
            <a:ext cx="2000250" cy="2000250"/>
          </a:xfrm>
          <a:prstGeom prst="rect">
            <a:avLst/>
          </a:prstGeom>
        </p:spPr>
      </p:pic>
      <p:sp>
        <p:nvSpPr>
          <p:cNvPr id="7" name="Rettangolo 6">
            <a:extLst>
              <a:ext uri="{FF2B5EF4-FFF2-40B4-BE49-F238E27FC236}">
                <a16:creationId xmlns:a16="http://schemas.microsoft.com/office/drawing/2014/main" id="{F435B978-2CD2-4500-A3CA-AAC78EA22718}"/>
              </a:ext>
            </a:extLst>
          </p:cNvPr>
          <p:cNvSpPr>
            <a:spLocks noGrp="1"/>
          </p:cNvSpPr>
          <p:nvPr/>
        </p:nvSpPr>
        <p:spPr>
          <a:xfrm>
            <a:off x="6858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Perturbed input</a:t>
            </a:r>
          </a:p>
        </p:txBody>
      </p:sp>
      <p:sp>
        <p:nvSpPr>
          <p:cNvPr id="8" name="Rettangolo 7">
            <a:extLst>
              <a:ext uri="{FF2B5EF4-FFF2-40B4-BE49-F238E27FC236}">
                <a16:creationId xmlns:a16="http://schemas.microsoft.com/office/drawing/2014/main" id="{B1989978-C8F3-45F2-99A5-CA65821A908A}"/>
              </a:ext>
            </a:extLst>
          </p:cNvPr>
          <p:cNvSpPr>
            <a:spLocks noGrp="1"/>
          </p:cNvSpPr>
          <p:nvPr/>
        </p:nvSpPr>
        <p:spPr>
          <a:xfrm>
            <a:off x="6858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Sigma Zero</a:t>
            </a:r>
          </a:p>
        </p:txBody>
      </p:sp>
      <p:pic>
        <p:nvPicPr>
          <p:cNvPr id="38" name="Picture 27"/>
          <p:cNvPicPr>
            <a:picLocks noChangeAspect="1"/>
          </p:cNvPicPr>
          <p:nvPr/>
        </p:nvPicPr>
        <p:blipFill>
          <a:blip r:embed="rId4"/>
          <a:srcRect/>
          <a:stretch>
            <a:fillRect/>
          </a:stretch>
        </p:blipFill>
        <p:spPr>
          <a:xfrm>
            <a:off x="2990850" y="1638300"/>
            <a:ext cx="2000250" cy="2000250"/>
          </a:xfrm>
          <a:prstGeom prst="rect">
            <a:avLst/>
          </a:prstGeom>
        </p:spPr>
      </p:pic>
      <p:sp>
        <p:nvSpPr>
          <p:cNvPr id="10" name="Rettangolo 9">
            <a:extLst>
              <a:ext uri="{FF2B5EF4-FFF2-40B4-BE49-F238E27FC236}">
                <a16:creationId xmlns:a16="http://schemas.microsoft.com/office/drawing/2014/main" id="{E91D850F-EA38-4FEE-BE99-2BC2EB72ECB5}"/>
              </a:ext>
            </a:extLst>
          </p:cNvPr>
          <p:cNvSpPr>
            <a:spLocks noGrp="1"/>
          </p:cNvSpPr>
          <p:nvPr/>
        </p:nvSpPr>
        <p:spPr>
          <a:xfrm>
            <a:off x="299085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IG magnitude</a:t>
            </a:r>
          </a:p>
        </p:txBody>
      </p:sp>
      <p:sp>
        <p:nvSpPr>
          <p:cNvPr id="11" name="Rettangolo 10">
            <a:extLst>
              <a:ext uri="{FF2B5EF4-FFF2-40B4-BE49-F238E27FC236}">
                <a16:creationId xmlns:a16="http://schemas.microsoft.com/office/drawing/2014/main" id="{8491799F-BA10-4AA0-9BE0-C7F292FCB7FE}"/>
              </a:ext>
            </a:extLst>
          </p:cNvPr>
          <p:cNvSpPr>
            <a:spLocks noGrp="1"/>
          </p:cNvSpPr>
          <p:nvPr/>
        </p:nvSpPr>
        <p:spPr>
          <a:xfrm>
            <a:off x="299085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predicted class</a:t>
            </a:r>
          </a:p>
        </p:txBody>
      </p:sp>
      <p:pic>
        <p:nvPicPr>
          <p:cNvPr id="41" name="Picture 28"/>
          <p:cNvPicPr>
            <a:picLocks noChangeAspect="1"/>
          </p:cNvPicPr>
          <p:nvPr/>
        </p:nvPicPr>
        <p:blipFill>
          <a:blip r:embed="rId5"/>
          <a:srcRect/>
          <a:stretch>
            <a:fillRect/>
          </a:stretch>
        </p:blipFill>
        <p:spPr>
          <a:xfrm>
            <a:off x="5295900" y="1638300"/>
            <a:ext cx="2000250" cy="2000250"/>
          </a:xfrm>
          <a:prstGeom prst="rect">
            <a:avLst/>
          </a:prstGeom>
        </p:spPr>
      </p:pic>
      <p:sp>
        <p:nvSpPr>
          <p:cNvPr id="13" name="Rettangolo 12">
            <a:extLst>
              <a:ext uri="{FF2B5EF4-FFF2-40B4-BE49-F238E27FC236}">
                <a16:creationId xmlns:a16="http://schemas.microsoft.com/office/drawing/2014/main" id="{BD18B2E2-966E-4B84-B33C-A64D6FBBD8E2}"/>
              </a:ext>
            </a:extLst>
          </p:cNvPr>
          <p:cNvSpPr>
            <a:spLocks noGrp="1"/>
          </p:cNvSpPr>
          <p:nvPr/>
        </p:nvSpPr>
        <p:spPr>
          <a:xfrm>
            <a:off x="52959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Attribution overlay</a:t>
            </a:r>
          </a:p>
        </p:txBody>
      </p:sp>
      <p:sp>
        <p:nvSpPr>
          <p:cNvPr id="14" name="Rettangolo 13">
            <a:extLst>
              <a:ext uri="{FF2B5EF4-FFF2-40B4-BE49-F238E27FC236}">
                <a16:creationId xmlns:a16="http://schemas.microsoft.com/office/drawing/2014/main" id="{F42CFE87-0CE4-4FBF-BED1-B5868165BBDA}"/>
              </a:ext>
            </a:extLst>
          </p:cNvPr>
          <p:cNvSpPr>
            <a:spLocks noGrp="1"/>
          </p:cNvSpPr>
          <p:nvPr/>
        </p:nvSpPr>
        <p:spPr>
          <a:xfrm>
            <a:off x="52959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qualitative only</a:t>
            </a:r>
          </a:p>
        </p:txBody>
      </p:sp>
      <p:sp>
        <p:nvSpPr>
          <p:cNvPr id="15" name="Rettangolo con angoli arrotondati 14">
            <a:extLst>
              <a:ext uri="{FF2B5EF4-FFF2-40B4-BE49-F238E27FC236}">
                <a16:creationId xmlns:a16="http://schemas.microsoft.com/office/drawing/2014/main" id="{FA069229-F17B-4C8B-BB46-930BCC99CC7F}"/>
              </a:ext>
            </a:extLst>
          </p:cNvPr>
          <p:cNvSpPr>
            <a:spLocks noGrp="1"/>
          </p:cNvSpPr>
          <p:nvPr/>
        </p:nvSpPr>
        <p:spPr>
          <a:xfrm>
            <a:off x="7810500" y="1562100"/>
            <a:ext cx="3695700" cy="2857500"/>
          </a:xfrm>
          <a:prstGeom prst="roundRect">
            <a:avLst>
              <a:gd name="adj" fmla="val 6667"/>
            </a:avLst>
          </a:prstGeom>
          <a:solidFill>
            <a:srgbClr val="233A70"/>
          </a:solidFill>
          <a:ln w="0">
            <a:noFill/>
            <a:prstDash val="solid"/>
          </a:ln>
        </p:spPr>
        <p:txBody>
          <a:bodyPr/>
          <a:lstStyle/>
          <a:p>
            <a:endParaRPr/>
          </a:p>
        </p:txBody>
      </p:sp>
      <p:sp>
        <p:nvSpPr>
          <p:cNvPr id="16" name="Rettangolo 15">
            <a:extLst>
              <a:ext uri="{FF2B5EF4-FFF2-40B4-BE49-F238E27FC236}">
                <a16:creationId xmlns:a16="http://schemas.microsoft.com/office/drawing/2014/main" id="{7D25BA6B-1106-4A33-832D-36A979EC83DB}"/>
              </a:ext>
            </a:extLst>
          </p:cNvPr>
          <p:cNvSpPr>
            <a:spLocks noGrp="1"/>
          </p:cNvSpPr>
          <p:nvPr/>
        </p:nvSpPr>
        <p:spPr>
          <a:xfrm>
            <a:off x="8096250" y="1828800"/>
            <a:ext cx="3124200" cy="228600"/>
          </a:xfrm>
          <a:prstGeom prst="rect">
            <a:avLst/>
          </a:prstGeom>
          <a:noFill/>
          <a:ln w="0">
            <a:noFill/>
            <a:prstDash val="solid"/>
          </a:ln>
        </p:spPr>
        <p:txBody>
          <a:bodyPr wrap="square" lIns="0" tIns="0" rIns="0" bIns="0" anchor="t">
            <a:noAutofit/>
          </a:bodyPr>
          <a:lstStyle/>
          <a:p>
            <a:pPr algn="ctr">
              <a:buNone/>
              <a:defRPr sz="1275" b="1">
                <a:solidFill>
                  <a:srgbClr val="14B978"/>
                </a:solidFill>
                <a:latin typeface="Arial"/>
                <a:ea typeface="Arial"/>
                <a:cs typeface="Arial"/>
              </a:defRPr>
            </a:pPr>
            <a:r>
              <a:rPr sz="1275" b="1">
                <a:solidFill>
                  <a:srgbClr val="14B978"/>
                </a:solidFill>
                <a:latin typeface="Arial"/>
                <a:ea typeface="Arial"/>
                <a:cs typeface="Arial"/>
              </a:rPr>
              <a:t>xai_case_0015</a:t>
            </a:r>
          </a:p>
        </p:txBody>
      </p:sp>
      <p:sp>
        <p:nvSpPr>
          <p:cNvPr id="17" name="Rettangolo 16">
            <a:extLst>
              <a:ext uri="{FF2B5EF4-FFF2-40B4-BE49-F238E27FC236}">
                <a16:creationId xmlns:a16="http://schemas.microsoft.com/office/drawing/2014/main" id="{3EAB3D39-A4EA-43CB-9D21-A6855C38A875}"/>
              </a:ext>
            </a:extLst>
          </p:cNvPr>
          <p:cNvSpPr>
            <a:spLocks noGrp="1"/>
          </p:cNvSpPr>
          <p:nvPr/>
        </p:nvSpPr>
        <p:spPr>
          <a:xfrm>
            <a:off x="80962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REFERENCE</a:t>
            </a:r>
          </a:p>
        </p:txBody>
      </p:sp>
      <p:sp>
        <p:nvSpPr>
          <p:cNvPr id="18" name="Rettangolo 17">
            <a:extLst>
              <a:ext uri="{FF2B5EF4-FFF2-40B4-BE49-F238E27FC236}">
                <a16:creationId xmlns:a16="http://schemas.microsoft.com/office/drawing/2014/main" id="{C1C5FAD1-3F30-4059-A516-5B8394AAE46E}"/>
              </a:ext>
            </a:extLst>
          </p:cNvPr>
          <p:cNvSpPr>
            <a:spLocks noGrp="1"/>
          </p:cNvSpPr>
          <p:nvPr/>
        </p:nvSpPr>
        <p:spPr>
          <a:xfrm>
            <a:off x="80962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non_weapon</a:t>
            </a:r>
          </a:p>
        </p:txBody>
      </p:sp>
      <p:sp>
        <p:nvSpPr>
          <p:cNvPr id="19" name="Rettangolo 18">
            <a:extLst>
              <a:ext uri="{FF2B5EF4-FFF2-40B4-BE49-F238E27FC236}">
                <a16:creationId xmlns:a16="http://schemas.microsoft.com/office/drawing/2014/main" id="{535795A5-21C9-4CC4-AF05-3AA3207A1EC2}"/>
              </a:ext>
            </a:extLst>
          </p:cNvPr>
          <p:cNvSpPr>
            <a:spLocks noGrp="1"/>
          </p:cNvSpPr>
          <p:nvPr/>
        </p:nvSpPr>
        <p:spPr>
          <a:xfrm>
            <a:off x="98869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PREDICTION</a:t>
            </a:r>
          </a:p>
        </p:txBody>
      </p:sp>
      <p:sp>
        <p:nvSpPr>
          <p:cNvPr id="20" name="Rettangolo 19">
            <a:extLst>
              <a:ext uri="{FF2B5EF4-FFF2-40B4-BE49-F238E27FC236}">
                <a16:creationId xmlns:a16="http://schemas.microsoft.com/office/drawing/2014/main" id="{9864EAE4-9F0E-4EF8-8279-3D124BC4010B}"/>
              </a:ext>
            </a:extLst>
          </p:cNvPr>
          <p:cNvSpPr>
            <a:spLocks noGrp="1"/>
          </p:cNvSpPr>
          <p:nvPr/>
        </p:nvSpPr>
        <p:spPr>
          <a:xfrm>
            <a:off x="98869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weapon</a:t>
            </a:r>
          </a:p>
        </p:txBody>
      </p:sp>
      <p:sp>
        <p:nvSpPr>
          <p:cNvPr id="21" name="Rettangolo 20">
            <a:extLst>
              <a:ext uri="{FF2B5EF4-FFF2-40B4-BE49-F238E27FC236}">
                <a16:creationId xmlns:a16="http://schemas.microsoft.com/office/drawing/2014/main" id="{471C4D3D-721D-4498-8EFA-1BF90F405B30}"/>
              </a:ext>
            </a:extLst>
          </p:cNvPr>
          <p:cNvSpPr>
            <a:spLocks noGrp="1"/>
          </p:cNvSpPr>
          <p:nvPr/>
        </p:nvSpPr>
        <p:spPr>
          <a:xfrm>
            <a:off x="8172450" y="3124200"/>
            <a:ext cx="2971800" cy="19050"/>
          </a:xfrm>
          <a:prstGeom prst="rect">
            <a:avLst/>
          </a:prstGeom>
          <a:solidFill>
            <a:srgbClr val="536A9B"/>
          </a:solidFill>
          <a:ln w="0">
            <a:noFill/>
            <a:prstDash val="solid"/>
          </a:ln>
        </p:spPr>
        <p:txBody>
          <a:bodyPr/>
          <a:lstStyle/>
          <a:p>
            <a:endParaRPr/>
          </a:p>
        </p:txBody>
      </p:sp>
      <p:sp>
        <p:nvSpPr>
          <p:cNvPr id="22" name="Rettangolo 21">
            <a:extLst>
              <a:ext uri="{FF2B5EF4-FFF2-40B4-BE49-F238E27FC236}">
                <a16:creationId xmlns:a16="http://schemas.microsoft.com/office/drawing/2014/main" id="{A2E0B2CD-9A4A-41BF-8D83-9380D61CA4D4}"/>
              </a:ext>
            </a:extLst>
          </p:cNvPr>
          <p:cNvSpPr>
            <a:spLocks noGrp="1"/>
          </p:cNvSpPr>
          <p:nvPr/>
        </p:nvSpPr>
        <p:spPr>
          <a:xfrm>
            <a:off x="8096250" y="3371850"/>
            <a:ext cx="3124200" cy="209550"/>
          </a:xfrm>
          <a:prstGeom prst="rect">
            <a:avLst/>
          </a:prstGeom>
          <a:noFill/>
          <a:ln w="0">
            <a:noFill/>
            <a:prstDash val="solid"/>
          </a:ln>
        </p:spPr>
        <p:txBody>
          <a:bodyPr wrap="square" lIns="0" tIns="0" rIns="0" bIns="0" anchor="t">
            <a:noAutofit/>
          </a:bodyPr>
          <a:lstStyle/>
          <a:p>
            <a:pPr algn="ctr">
              <a:buNone/>
              <a:defRPr sz="1200" b="1">
                <a:solidFill>
                  <a:srgbClr val="14B978"/>
                </a:solidFill>
                <a:latin typeface="Arial"/>
                <a:ea typeface="Arial"/>
                <a:cs typeface="Arial"/>
              </a:defRPr>
            </a:pPr>
            <a:r>
              <a:rPr sz="1200" b="1">
                <a:solidFill>
                  <a:srgbClr val="14B978"/>
                </a:solidFill>
                <a:latin typeface="Arial"/>
                <a:ea typeface="Arial"/>
                <a:cs typeface="Arial"/>
              </a:rPr>
              <a:t>MAX-P</a:t>
            </a:r>
          </a:p>
        </p:txBody>
      </p:sp>
      <p:sp>
        <p:nvSpPr>
          <p:cNvPr id="23" name="Rettangolo 22">
            <a:extLst>
              <a:ext uri="{FF2B5EF4-FFF2-40B4-BE49-F238E27FC236}">
                <a16:creationId xmlns:a16="http://schemas.microsoft.com/office/drawing/2014/main" id="{09EB84B4-E40A-4FB5-A6A0-847175A7A7AD}"/>
              </a:ext>
            </a:extLst>
          </p:cNvPr>
          <p:cNvSpPr>
            <a:spLocks noGrp="1"/>
          </p:cNvSpPr>
          <p:nvPr/>
        </p:nvSpPr>
        <p:spPr>
          <a:xfrm>
            <a:off x="8096250" y="3638550"/>
            <a:ext cx="3124200" cy="514350"/>
          </a:xfrm>
          <a:prstGeom prst="rect">
            <a:avLst/>
          </a:prstGeom>
          <a:noFill/>
          <a:ln w="0">
            <a:noFill/>
            <a:prstDash val="solid"/>
          </a:ln>
        </p:spPr>
        <p:txBody>
          <a:bodyPr wrap="square" lIns="0" tIns="0" rIns="0" bIns="0" anchor="t">
            <a:noAutofit/>
          </a:bodyPr>
          <a:lstStyle/>
          <a:p>
            <a:pPr algn="ctr">
              <a:buNone/>
              <a:defRPr sz="3375" b="1">
                <a:solidFill>
                  <a:srgbClr val="FFFFFF"/>
                </a:solidFill>
                <a:latin typeface="Arial"/>
                <a:ea typeface="Arial"/>
                <a:cs typeface="Arial"/>
              </a:defRPr>
            </a:pPr>
            <a:r>
              <a:rPr sz="3375" b="1">
                <a:solidFill>
                  <a:srgbClr val="FFFFFF"/>
                </a:solidFill>
                <a:latin typeface="Arial"/>
                <a:ea typeface="Arial"/>
                <a:cs typeface="Arial"/>
              </a:rPr>
              <a:t>1.000</a:t>
            </a:r>
          </a:p>
        </p:txBody>
      </p:sp>
      <p:sp>
        <p:nvSpPr>
          <p:cNvPr id="24" name="Rettangolo con angoli arrotondati 23">
            <a:extLst>
              <a:ext uri="{FF2B5EF4-FFF2-40B4-BE49-F238E27FC236}">
                <a16:creationId xmlns:a16="http://schemas.microsoft.com/office/drawing/2014/main" id="{18A2F9C9-4D34-4737-8B90-8118C124B94E}"/>
              </a:ext>
            </a:extLst>
          </p:cNvPr>
          <p:cNvSpPr>
            <a:spLocks noGrp="1"/>
          </p:cNvSpPr>
          <p:nvPr/>
        </p:nvSpPr>
        <p:spPr>
          <a:xfrm>
            <a:off x="1123950" y="4762500"/>
            <a:ext cx="9944100" cy="1104900"/>
          </a:xfrm>
          <a:prstGeom prst="roundRect">
            <a:avLst>
              <a:gd name="adj" fmla="val 15517"/>
            </a:avLst>
          </a:prstGeom>
          <a:solidFill>
            <a:srgbClr val="E7F8F0"/>
          </a:solidFill>
          <a:ln w="0">
            <a:noFill/>
            <a:prstDash val="solid"/>
          </a:ln>
        </p:spPr>
        <p:txBody>
          <a:bodyPr/>
          <a:lstStyle/>
          <a:p>
            <a:endParaRPr/>
          </a:p>
        </p:txBody>
      </p:sp>
      <p:sp>
        <p:nvSpPr>
          <p:cNvPr id="25" name="Rettangolo 24">
            <a:extLst>
              <a:ext uri="{FF2B5EF4-FFF2-40B4-BE49-F238E27FC236}">
                <a16:creationId xmlns:a16="http://schemas.microsoft.com/office/drawing/2014/main" id="{F063FFD0-1294-4279-B46B-EF1D1D3EB627}"/>
              </a:ext>
            </a:extLst>
          </p:cNvPr>
          <p:cNvSpPr>
            <a:spLocks noGrp="1"/>
          </p:cNvSpPr>
          <p:nvPr/>
        </p:nvSpPr>
        <p:spPr>
          <a:xfrm>
            <a:off x="1466850" y="5010150"/>
            <a:ext cx="9258300" cy="647700"/>
          </a:xfrm>
          <a:prstGeom prst="rect">
            <a:avLst/>
          </a:prstGeom>
          <a:noFill/>
          <a:ln w="0">
            <a:noFill/>
            <a:prstDash val="solid"/>
          </a:ln>
        </p:spPr>
        <p:txBody>
          <a:bodyPr wrap="square" lIns="0" tIns="0" rIns="0" bIns="0" anchor="ctr">
            <a:noAutofit/>
          </a:bodyPr>
          <a:lstStyle/>
          <a:p>
            <a:pPr algn="ctr">
              <a:buNone/>
              <a:defRPr sz="1650" b="1">
                <a:solidFill>
                  <a:srgbClr val="087A50"/>
                </a:solidFill>
                <a:latin typeface="Arial"/>
                <a:ea typeface="Arial"/>
                <a:cs typeface="Arial"/>
              </a:defRPr>
            </a:pPr>
            <a:r>
              <a:rPr sz="1650" b="1">
                <a:solidFill>
                  <a:srgbClr val="087A50"/>
                </a:solidFill>
                <a:latin typeface="Arial"/>
                <a:ea typeface="Arial"/>
                <a:cs typeface="Arial"/>
              </a:rPr>
              <a:t>Integrated Gradients supports diagnosis of selected proxy outputs.</a:t>
            </a:r>
          </a:p>
          <a:p>
            <a:pPr algn="ctr">
              <a:buNone/>
              <a:defRPr sz="1650" b="1">
                <a:solidFill>
                  <a:srgbClr val="087A50"/>
                </a:solidFill>
                <a:latin typeface="Arial"/>
                <a:ea typeface="Arial"/>
                <a:cs typeface="Arial"/>
              </a:defRPr>
            </a:pPr>
            <a:r>
              <a:rPr sz="1650" b="1">
                <a:solidFill>
                  <a:srgbClr val="087A50"/>
                </a:solidFill>
                <a:latin typeface="Arial"/>
                <a:ea typeface="Arial"/>
                <a:cs typeface="Arial"/>
              </a:rPr>
              <a:t>It does not certify correctness, calibrate confidence, or explain proprietary black-box systems.</a:t>
            </a:r>
          </a:p>
        </p:txBody>
      </p:sp>
    </p:spTree>
    <p:extLst>
      <p:ext uri="{BB962C8B-B14F-4D97-AF65-F5344CB8AC3E}">
        <p14:creationId xmlns:p14="http://schemas.microsoft.com/office/powerpoint/2010/main" val="816023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3" name="Rettangolo 32">
            <a:extLst>
              <a:ext uri="{FF2B5EF4-FFF2-40B4-BE49-F238E27FC236}">
                <a16:creationId xmlns:a16="http://schemas.microsoft.com/office/drawing/2014/main" id="{AFCF59B5-683B-474F-989A-FBD69F45330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784007D6-2081-4930-A389-03D64A1A238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Human review remains the final decision gate</a:t>
            </a:r>
          </a:p>
        </p:txBody>
      </p:sp>
      <p:sp>
        <p:nvSpPr>
          <p:cNvPr id="3" name="Rettangolo 2">
            <a:extLst>
              <a:ext uri="{FF2B5EF4-FFF2-40B4-BE49-F238E27FC236}">
                <a16:creationId xmlns:a16="http://schemas.microsoft.com/office/drawing/2014/main" id="{68493C46-8133-4462-86DB-466B3708A87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20FCC7E3-0B4D-4701-98B4-D33EB2D8663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FCFAFCCB-405C-47A7-B90B-CEB46F98CC33}"/>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12</a:t>
            </a:r>
          </a:p>
        </p:txBody>
      </p:sp>
      <p:sp>
        <p:nvSpPr>
          <p:cNvPr id="6" name="Rettangolo 5">
            <a:extLst>
              <a:ext uri="{FF2B5EF4-FFF2-40B4-BE49-F238E27FC236}">
                <a16:creationId xmlns:a16="http://schemas.microsoft.com/office/drawing/2014/main" id="{6E42C77A-5BF7-4B4F-ACB6-2B4A6D08B6F7}"/>
              </a:ext>
            </a:extLst>
          </p:cNvPr>
          <p:cNvSpPr>
            <a:spLocks noGrp="1"/>
          </p:cNvSpPr>
          <p:nvPr/>
        </p:nvSpPr>
        <p:spPr>
          <a:xfrm>
            <a:off x="1695450" y="2800350"/>
            <a:ext cx="8801100" cy="76200"/>
          </a:xfrm>
          <a:prstGeom prst="rect">
            <a:avLst/>
          </a:prstGeom>
          <a:solidFill>
            <a:srgbClr val="D9DEE8"/>
          </a:solidFill>
          <a:ln w="0">
            <a:noFill/>
            <a:prstDash val="solid"/>
          </a:ln>
        </p:spPr>
        <p:txBody>
          <a:bodyPr/>
          <a:lstStyle/>
          <a:p>
            <a:endParaRPr/>
          </a:p>
        </p:txBody>
      </p:sp>
      <p:sp>
        <p:nvSpPr>
          <p:cNvPr id="7" name="Rettangolo 6">
            <a:extLst>
              <a:ext uri="{FF2B5EF4-FFF2-40B4-BE49-F238E27FC236}">
                <a16:creationId xmlns:a16="http://schemas.microsoft.com/office/drawing/2014/main" id="{CC497960-5D6A-401D-938B-E77E37B954DF}"/>
              </a:ext>
            </a:extLst>
          </p:cNvPr>
          <p:cNvSpPr>
            <a:spLocks noGrp="1"/>
          </p:cNvSpPr>
          <p:nvPr/>
        </p:nvSpPr>
        <p:spPr>
          <a:xfrm>
            <a:off x="6858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a:t>
            </a:r>
          </a:p>
        </p:txBody>
      </p:sp>
      <p:sp>
        <p:nvSpPr>
          <p:cNvPr id="8" name="Rettangolo con angoli arrotondati 7">
            <a:extLst>
              <a:ext uri="{FF2B5EF4-FFF2-40B4-BE49-F238E27FC236}">
                <a16:creationId xmlns:a16="http://schemas.microsoft.com/office/drawing/2014/main" id="{9D4C1FD3-F2E8-481B-B8A3-6FDAC352E8B5}"/>
              </a:ext>
            </a:extLst>
          </p:cNvPr>
          <p:cNvSpPr>
            <a:spLocks noGrp="1"/>
          </p:cNvSpPr>
          <p:nvPr/>
        </p:nvSpPr>
        <p:spPr>
          <a:xfrm>
            <a:off x="685800" y="2076450"/>
            <a:ext cx="2190750" cy="1466850"/>
          </a:xfrm>
          <a:prstGeom prst="roundRect">
            <a:avLst>
              <a:gd name="adj" fmla="val 11688"/>
            </a:avLst>
          </a:prstGeom>
          <a:solidFill>
            <a:srgbClr val="FFFFFF"/>
          </a:solidFill>
          <a:ln w="9525">
            <a:solidFill>
              <a:srgbClr val="D9DEE8"/>
            </a:solidFill>
            <a:prstDash val="solid"/>
          </a:ln>
        </p:spPr>
        <p:txBody>
          <a:bodyPr/>
          <a:lstStyle/>
          <a:p>
            <a:endParaRPr/>
          </a:p>
        </p:txBody>
      </p:sp>
      <p:sp>
        <p:nvSpPr>
          <p:cNvPr id="9" name="Rettangolo 8">
            <a:extLst>
              <a:ext uri="{FF2B5EF4-FFF2-40B4-BE49-F238E27FC236}">
                <a16:creationId xmlns:a16="http://schemas.microsoft.com/office/drawing/2014/main" id="{A4596393-8F9B-4AB8-B9FA-12DDC5FEB621}"/>
              </a:ext>
            </a:extLst>
          </p:cNvPr>
          <p:cNvSpPr>
            <a:spLocks noGrp="1"/>
          </p:cNvSpPr>
          <p:nvPr/>
        </p:nvSpPr>
        <p:spPr>
          <a:xfrm>
            <a:off x="8572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AI outputs</a:t>
            </a:r>
          </a:p>
        </p:txBody>
      </p:sp>
      <p:sp>
        <p:nvSpPr>
          <p:cNvPr id="10" name="Rettangolo 9">
            <a:extLst>
              <a:ext uri="{FF2B5EF4-FFF2-40B4-BE49-F238E27FC236}">
                <a16:creationId xmlns:a16="http://schemas.microsoft.com/office/drawing/2014/main" id="{7AA4D259-8252-49D2-AC66-8CEBF46905A6}"/>
              </a:ext>
            </a:extLst>
          </p:cNvPr>
          <p:cNvSpPr>
            <a:spLocks noGrp="1"/>
          </p:cNvSpPr>
          <p:nvPr/>
        </p:nvSpPr>
        <p:spPr>
          <a:xfrm>
            <a:off x="8572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tags · labels</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semantic matches</a:t>
            </a:r>
          </a:p>
        </p:txBody>
      </p:sp>
      <p:sp>
        <p:nvSpPr>
          <p:cNvPr id="11" name="Rettangolo 10">
            <a:extLst>
              <a:ext uri="{FF2B5EF4-FFF2-40B4-BE49-F238E27FC236}">
                <a16:creationId xmlns:a16="http://schemas.microsoft.com/office/drawing/2014/main" id="{B875C228-D2D2-4ED0-AE89-A0F4D270CE44}"/>
              </a:ext>
            </a:extLst>
          </p:cNvPr>
          <p:cNvSpPr>
            <a:spLocks noGrp="1"/>
          </p:cNvSpPr>
          <p:nvPr/>
        </p:nvSpPr>
        <p:spPr>
          <a:xfrm>
            <a:off x="34671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02</a:t>
            </a:r>
          </a:p>
        </p:txBody>
      </p:sp>
      <p:sp>
        <p:nvSpPr>
          <p:cNvPr id="12" name="Rettangolo con angoli arrotondati 11">
            <a:extLst>
              <a:ext uri="{FF2B5EF4-FFF2-40B4-BE49-F238E27FC236}">
                <a16:creationId xmlns:a16="http://schemas.microsoft.com/office/drawing/2014/main" id="{F27AA906-E5AF-40DB-9F2E-5E5C26E8C25A}"/>
              </a:ext>
            </a:extLst>
          </p:cNvPr>
          <p:cNvSpPr>
            <a:spLocks noGrp="1"/>
          </p:cNvSpPr>
          <p:nvPr/>
        </p:nvSpPr>
        <p:spPr>
          <a:xfrm>
            <a:off x="3467100" y="2076450"/>
            <a:ext cx="2190750" cy="1466850"/>
          </a:xfrm>
          <a:prstGeom prst="roundRect">
            <a:avLst>
              <a:gd name="adj" fmla="val 11688"/>
            </a:avLst>
          </a:prstGeom>
          <a:solidFill>
            <a:srgbClr val="E9EEF8"/>
          </a:solidFill>
          <a:ln w="9525">
            <a:solidFill>
              <a:srgbClr val="E9EEF8"/>
            </a:solidFill>
            <a:prstDash val="solid"/>
          </a:ln>
        </p:spPr>
        <p:txBody>
          <a:bodyPr/>
          <a:lstStyle/>
          <a:p>
            <a:endParaRPr/>
          </a:p>
        </p:txBody>
      </p:sp>
      <p:sp>
        <p:nvSpPr>
          <p:cNvPr id="13" name="Rettangolo 12">
            <a:extLst>
              <a:ext uri="{FF2B5EF4-FFF2-40B4-BE49-F238E27FC236}">
                <a16:creationId xmlns:a16="http://schemas.microsoft.com/office/drawing/2014/main" id="{10A088F2-59B9-41DB-B22F-C8A142756290}"/>
              </a:ext>
            </a:extLst>
          </p:cNvPr>
          <p:cNvSpPr>
            <a:spLocks noGrp="1"/>
          </p:cNvSpPr>
          <p:nvPr/>
        </p:nvSpPr>
        <p:spPr>
          <a:xfrm>
            <a:off x="36385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Prioritized queue</a:t>
            </a:r>
          </a:p>
        </p:txBody>
      </p:sp>
      <p:sp>
        <p:nvSpPr>
          <p:cNvPr id="14" name="Rettangolo 13">
            <a:extLst>
              <a:ext uri="{FF2B5EF4-FFF2-40B4-BE49-F238E27FC236}">
                <a16:creationId xmlns:a16="http://schemas.microsoft.com/office/drawing/2014/main" id="{27D139E3-0991-49D9-9C28-1A63AF4F9EAD}"/>
              </a:ext>
            </a:extLst>
          </p:cNvPr>
          <p:cNvSpPr>
            <a:spLocks noGrp="1"/>
          </p:cNvSpPr>
          <p:nvPr/>
        </p:nvSpPr>
        <p:spPr>
          <a:xfrm>
            <a:off x="36385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workload</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reduction</a:t>
            </a:r>
          </a:p>
        </p:txBody>
      </p:sp>
      <p:sp>
        <p:nvSpPr>
          <p:cNvPr id="15" name="Rettangolo 14">
            <a:extLst>
              <a:ext uri="{FF2B5EF4-FFF2-40B4-BE49-F238E27FC236}">
                <a16:creationId xmlns:a16="http://schemas.microsoft.com/office/drawing/2014/main" id="{7F193325-1128-438B-B217-138A67DDF676}"/>
              </a:ext>
            </a:extLst>
          </p:cNvPr>
          <p:cNvSpPr>
            <a:spLocks noGrp="1"/>
          </p:cNvSpPr>
          <p:nvPr/>
        </p:nvSpPr>
        <p:spPr>
          <a:xfrm>
            <a:off x="62484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03</a:t>
            </a:r>
          </a:p>
        </p:txBody>
      </p:sp>
      <p:sp>
        <p:nvSpPr>
          <p:cNvPr id="16" name="Rettangolo con angoli arrotondati 15">
            <a:extLst>
              <a:ext uri="{FF2B5EF4-FFF2-40B4-BE49-F238E27FC236}">
                <a16:creationId xmlns:a16="http://schemas.microsoft.com/office/drawing/2014/main" id="{E8C8212D-5123-48C7-8465-CE6674A3EAFA}"/>
              </a:ext>
            </a:extLst>
          </p:cNvPr>
          <p:cNvSpPr>
            <a:spLocks noGrp="1"/>
          </p:cNvSpPr>
          <p:nvPr/>
        </p:nvSpPr>
        <p:spPr>
          <a:xfrm>
            <a:off x="6248400" y="2076450"/>
            <a:ext cx="2190750" cy="1466850"/>
          </a:xfrm>
          <a:prstGeom prst="roundRect">
            <a:avLst>
              <a:gd name="adj" fmla="val 11688"/>
            </a:avLst>
          </a:prstGeom>
          <a:solidFill>
            <a:srgbClr val="E7F8F0"/>
          </a:solidFill>
          <a:ln w="9525">
            <a:solidFill>
              <a:srgbClr val="E7F8F0"/>
            </a:solidFill>
            <a:prstDash val="solid"/>
          </a:ln>
        </p:spPr>
        <p:txBody>
          <a:bodyPr/>
          <a:lstStyle/>
          <a:p>
            <a:endParaRPr/>
          </a:p>
        </p:txBody>
      </p:sp>
      <p:sp>
        <p:nvSpPr>
          <p:cNvPr id="17" name="Rettangolo 16">
            <a:extLst>
              <a:ext uri="{FF2B5EF4-FFF2-40B4-BE49-F238E27FC236}">
                <a16:creationId xmlns:a16="http://schemas.microsoft.com/office/drawing/2014/main" id="{688DB260-266F-461B-B69D-7D7802AF0D5C}"/>
              </a:ext>
            </a:extLst>
          </p:cNvPr>
          <p:cNvSpPr>
            <a:spLocks noGrp="1"/>
          </p:cNvSpPr>
          <p:nvPr/>
        </p:nvSpPr>
        <p:spPr>
          <a:xfrm>
            <a:off x="64198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087A50"/>
                </a:solidFill>
                <a:latin typeface="Arial"/>
                <a:ea typeface="Arial"/>
                <a:cs typeface="Arial"/>
              </a:defRPr>
            </a:pPr>
            <a:r>
              <a:rPr sz="1800" b="1">
                <a:solidFill>
                  <a:srgbClr val="087A50"/>
                </a:solidFill>
                <a:latin typeface="Arial"/>
                <a:ea typeface="Arial"/>
                <a:cs typeface="Arial"/>
              </a:rPr>
              <a:t>Human review</a:t>
            </a:r>
          </a:p>
        </p:txBody>
      </p:sp>
      <p:sp>
        <p:nvSpPr>
          <p:cNvPr id="18" name="Rettangolo 17">
            <a:extLst>
              <a:ext uri="{FF2B5EF4-FFF2-40B4-BE49-F238E27FC236}">
                <a16:creationId xmlns:a16="http://schemas.microsoft.com/office/drawing/2014/main" id="{0D32C62D-AD61-47FC-9DF3-3D1D755CC850}"/>
              </a:ext>
            </a:extLst>
          </p:cNvPr>
          <p:cNvSpPr>
            <a:spLocks noGrp="1"/>
          </p:cNvSpPr>
          <p:nvPr/>
        </p:nvSpPr>
        <p:spPr>
          <a:xfrm>
            <a:off x="64198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contextual</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validation</a:t>
            </a:r>
          </a:p>
        </p:txBody>
      </p:sp>
      <p:sp>
        <p:nvSpPr>
          <p:cNvPr id="19" name="Rettangolo 18">
            <a:extLst>
              <a:ext uri="{FF2B5EF4-FFF2-40B4-BE49-F238E27FC236}">
                <a16:creationId xmlns:a16="http://schemas.microsoft.com/office/drawing/2014/main" id="{9D03034B-8F88-418E-9635-E3411B5DDEBC}"/>
              </a:ext>
            </a:extLst>
          </p:cNvPr>
          <p:cNvSpPr>
            <a:spLocks noGrp="1"/>
          </p:cNvSpPr>
          <p:nvPr/>
        </p:nvSpPr>
        <p:spPr>
          <a:xfrm>
            <a:off x="90297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04</a:t>
            </a:r>
          </a:p>
        </p:txBody>
      </p:sp>
      <p:sp>
        <p:nvSpPr>
          <p:cNvPr id="20" name="Rettangolo con angoli arrotondati 19">
            <a:extLst>
              <a:ext uri="{FF2B5EF4-FFF2-40B4-BE49-F238E27FC236}">
                <a16:creationId xmlns:a16="http://schemas.microsoft.com/office/drawing/2014/main" id="{0A7F9A2F-8B4C-4A62-8D51-C8AC9213FEC9}"/>
              </a:ext>
            </a:extLst>
          </p:cNvPr>
          <p:cNvSpPr>
            <a:spLocks noGrp="1"/>
          </p:cNvSpPr>
          <p:nvPr/>
        </p:nvSpPr>
        <p:spPr>
          <a:xfrm>
            <a:off x="9029700" y="2076450"/>
            <a:ext cx="2190750" cy="1466850"/>
          </a:xfrm>
          <a:prstGeom prst="roundRect">
            <a:avLst>
              <a:gd name="adj" fmla="val 11688"/>
            </a:avLst>
          </a:prstGeom>
          <a:solidFill>
            <a:srgbClr val="FFFFFF"/>
          </a:solidFill>
          <a:ln w="9525">
            <a:solidFill>
              <a:srgbClr val="D9DEE8"/>
            </a:solidFill>
            <a:prstDash val="solid"/>
          </a:ln>
        </p:spPr>
        <p:txBody>
          <a:bodyPr/>
          <a:lstStyle/>
          <a:p>
            <a:endParaRPr/>
          </a:p>
        </p:txBody>
      </p:sp>
      <p:sp>
        <p:nvSpPr>
          <p:cNvPr id="21" name="Rettangolo 20">
            <a:extLst>
              <a:ext uri="{FF2B5EF4-FFF2-40B4-BE49-F238E27FC236}">
                <a16:creationId xmlns:a16="http://schemas.microsoft.com/office/drawing/2014/main" id="{DC68B587-3821-4278-A721-BE8076578B8C}"/>
              </a:ext>
            </a:extLst>
          </p:cNvPr>
          <p:cNvSpPr>
            <a:spLocks noGrp="1"/>
          </p:cNvSpPr>
          <p:nvPr/>
        </p:nvSpPr>
        <p:spPr>
          <a:xfrm>
            <a:off x="92011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Documented action</a:t>
            </a:r>
          </a:p>
        </p:txBody>
      </p:sp>
      <p:sp>
        <p:nvSpPr>
          <p:cNvPr id="22" name="Rettangolo 21">
            <a:extLst>
              <a:ext uri="{FF2B5EF4-FFF2-40B4-BE49-F238E27FC236}">
                <a16:creationId xmlns:a16="http://schemas.microsoft.com/office/drawing/2014/main" id="{F2ED8D5E-2422-4B92-867E-DD3CA4ACD7CB}"/>
              </a:ext>
            </a:extLst>
          </p:cNvPr>
          <p:cNvSpPr>
            <a:spLocks noGrp="1"/>
          </p:cNvSpPr>
          <p:nvPr/>
        </p:nvSpPr>
        <p:spPr>
          <a:xfrm>
            <a:off x="92011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defensible</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forensic workflow</a:t>
            </a:r>
          </a:p>
        </p:txBody>
      </p:sp>
      <p:sp>
        <p:nvSpPr>
          <p:cNvPr id="23" name="Rettangolo 22">
            <a:extLst>
              <a:ext uri="{FF2B5EF4-FFF2-40B4-BE49-F238E27FC236}">
                <a16:creationId xmlns:a16="http://schemas.microsoft.com/office/drawing/2014/main" id="{04339118-F714-4CF4-9531-D2EFDA073425}"/>
              </a:ext>
            </a:extLst>
          </p:cNvPr>
          <p:cNvSpPr>
            <a:spLocks noGrp="1"/>
          </p:cNvSpPr>
          <p:nvPr/>
        </p:nvSpPr>
        <p:spPr>
          <a:xfrm>
            <a:off x="685800" y="4095750"/>
            <a:ext cx="108204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TRACE EVERY DECISION</a:t>
            </a:r>
          </a:p>
        </p:txBody>
      </p:sp>
      <p:sp>
        <p:nvSpPr>
          <p:cNvPr id="24" name="Rettangolo 23">
            <a:extLst>
              <a:ext uri="{FF2B5EF4-FFF2-40B4-BE49-F238E27FC236}">
                <a16:creationId xmlns:a16="http://schemas.microsoft.com/office/drawing/2014/main" id="{6DE606BC-E4EE-43D8-A10A-D6AF9A28A5DE}"/>
              </a:ext>
            </a:extLst>
          </p:cNvPr>
          <p:cNvSpPr>
            <a:spLocks noGrp="1"/>
          </p:cNvSpPr>
          <p:nvPr/>
        </p:nvSpPr>
        <p:spPr>
          <a:xfrm>
            <a:off x="8382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tool version</a:t>
            </a:r>
          </a:p>
        </p:txBody>
      </p:sp>
      <p:sp>
        <p:nvSpPr>
          <p:cNvPr id="25" name="Rettangolo 24">
            <a:extLst>
              <a:ext uri="{FF2B5EF4-FFF2-40B4-BE49-F238E27FC236}">
                <a16:creationId xmlns:a16="http://schemas.microsoft.com/office/drawing/2014/main" id="{E60E196D-BF02-4A60-AA11-C25A1BD1FBCA}"/>
              </a:ext>
            </a:extLst>
          </p:cNvPr>
          <p:cNvSpPr>
            <a:spLocks noGrp="1"/>
          </p:cNvSpPr>
          <p:nvPr/>
        </p:nvSpPr>
        <p:spPr>
          <a:xfrm>
            <a:off x="3333750" y="4533900"/>
            <a:ext cx="19050" cy="400050"/>
          </a:xfrm>
          <a:prstGeom prst="rect">
            <a:avLst/>
          </a:prstGeom>
          <a:solidFill>
            <a:srgbClr val="D9DEE8"/>
          </a:solidFill>
          <a:ln w="0">
            <a:noFill/>
            <a:prstDash val="solid"/>
          </a:ln>
        </p:spPr>
        <p:txBody>
          <a:bodyPr/>
          <a:lstStyle/>
          <a:p>
            <a:endParaRPr/>
          </a:p>
        </p:txBody>
      </p:sp>
      <p:sp>
        <p:nvSpPr>
          <p:cNvPr id="26" name="Rettangolo 25">
            <a:extLst>
              <a:ext uri="{FF2B5EF4-FFF2-40B4-BE49-F238E27FC236}">
                <a16:creationId xmlns:a16="http://schemas.microsoft.com/office/drawing/2014/main" id="{03F90BFD-8FC5-496D-B2BD-090EFE986347}"/>
              </a:ext>
            </a:extLst>
          </p:cNvPr>
          <p:cNvSpPr>
            <a:spLocks noGrp="1"/>
          </p:cNvSpPr>
          <p:nvPr/>
        </p:nvSpPr>
        <p:spPr>
          <a:xfrm>
            <a:off x="35433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configuration</a:t>
            </a:r>
          </a:p>
        </p:txBody>
      </p:sp>
      <p:sp>
        <p:nvSpPr>
          <p:cNvPr id="27" name="Rettangolo 26">
            <a:extLst>
              <a:ext uri="{FF2B5EF4-FFF2-40B4-BE49-F238E27FC236}">
                <a16:creationId xmlns:a16="http://schemas.microsoft.com/office/drawing/2014/main" id="{B2B38D1D-5BC1-489F-8CEC-BF5FD0E6DF1A}"/>
              </a:ext>
            </a:extLst>
          </p:cNvPr>
          <p:cNvSpPr>
            <a:spLocks noGrp="1"/>
          </p:cNvSpPr>
          <p:nvPr/>
        </p:nvSpPr>
        <p:spPr>
          <a:xfrm>
            <a:off x="6038850" y="4533900"/>
            <a:ext cx="19050" cy="400050"/>
          </a:xfrm>
          <a:prstGeom prst="rect">
            <a:avLst/>
          </a:prstGeom>
          <a:solidFill>
            <a:srgbClr val="D9DEE8"/>
          </a:solidFill>
          <a:ln w="0">
            <a:noFill/>
            <a:prstDash val="solid"/>
          </a:ln>
        </p:spPr>
        <p:txBody>
          <a:bodyPr/>
          <a:lstStyle/>
          <a:p>
            <a:endParaRPr/>
          </a:p>
        </p:txBody>
      </p:sp>
      <p:sp>
        <p:nvSpPr>
          <p:cNvPr id="28" name="Rettangolo 27">
            <a:extLst>
              <a:ext uri="{FF2B5EF4-FFF2-40B4-BE49-F238E27FC236}">
                <a16:creationId xmlns:a16="http://schemas.microsoft.com/office/drawing/2014/main" id="{8CBE62AC-4860-455E-BD3B-688579D32233}"/>
              </a:ext>
            </a:extLst>
          </p:cNvPr>
          <p:cNvSpPr>
            <a:spLocks noGrp="1"/>
          </p:cNvSpPr>
          <p:nvPr/>
        </p:nvSpPr>
        <p:spPr>
          <a:xfrm>
            <a:off x="62484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output mapping</a:t>
            </a:r>
          </a:p>
        </p:txBody>
      </p:sp>
      <p:sp>
        <p:nvSpPr>
          <p:cNvPr id="29" name="Rettangolo 28">
            <a:extLst>
              <a:ext uri="{FF2B5EF4-FFF2-40B4-BE49-F238E27FC236}">
                <a16:creationId xmlns:a16="http://schemas.microsoft.com/office/drawing/2014/main" id="{DAD0FA6E-44BA-4057-A6E5-205E1EA40B06}"/>
              </a:ext>
            </a:extLst>
          </p:cNvPr>
          <p:cNvSpPr>
            <a:spLocks noGrp="1"/>
          </p:cNvSpPr>
          <p:nvPr/>
        </p:nvSpPr>
        <p:spPr>
          <a:xfrm>
            <a:off x="8743950" y="4533900"/>
            <a:ext cx="19050" cy="400050"/>
          </a:xfrm>
          <a:prstGeom prst="rect">
            <a:avLst/>
          </a:prstGeom>
          <a:solidFill>
            <a:srgbClr val="D9DEE8"/>
          </a:solidFill>
          <a:ln w="0">
            <a:noFill/>
            <a:prstDash val="solid"/>
          </a:ln>
        </p:spPr>
        <p:txBody>
          <a:bodyPr/>
          <a:lstStyle/>
          <a:p>
            <a:endParaRPr/>
          </a:p>
        </p:txBody>
      </p:sp>
      <p:sp>
        <p:nvSpPr>
          <p:cNvPr id="30" name="Rettangolo 29">
            <a:extLst>
              <a:ext uri="{FF2B5EF4-FFF2-40B4-BE49-F238E27FC236}">
                <a16:creationId xmlns:a16="http://schemas.microsoft.com/office/drawing/2014/main" id="{EB7B099E-18FB-4F61-A001-312CD23DFDB3}"/>
              </a:ext>
            </a:extLst>
          </p:cNvPr>
          <p:cNvSpPr>
            <a:spLocks noGrp="1"/>
          </p:cNvSpPr>
          <p:nvPr/>
        </p:nvSpPr>
        <p:spPr>
          <a:xfrm>
            <a:off x="89535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validation context</a:t>
            </a:r>
          </a:p>
        </p:txBody>
      </p:sp>
      <p:sp>
        <p:nvSpPr>
          <p:cNvPr id="31" name="Rettangolo con angoli arrotondati 30">
            <a:extLst>
              <a:ext uri="{FF2B5EF4-FFF2-40B4-BE49-F238E27FC236}">
                <a16:creationId xmlns:a16="http://schemas.microsoft.com/office/drawing/2014/main" id="{61341085-EF38-4412-9246-C812DAAA179E}"/>
              </a:ext>
            </a:extLst>
          </p:cNvPr>
          <p:cNvSpPr>
            <a:spLocks noGrp="1"/>
          </p:cNvSpPr>
          <p:nvPr/>
        </p:nvSpPr>
        <p:spPr>
          <a:xfrm>
            <a:off x="1123950" y="5391150"/>
            <a:ext cx="9944100" cy="723900"/>
          </a:xfrm>
          <a:prstGeom prst="roundRect">
            <a:avLst>
              <a:gd name="adj" fmla="val 21053"/>
            </a:avLst>
          </a:prstGeom>
          <a:solidFill>
            <a:srgbClr val="233A70"/>
          </a:solidFill>
          <a:ln w="0">
            <a:noFill/>
            <a:prstDash val="solid"/>
          </a:ln>
        </p:spPr>
        <p:txBody>
          <a:bodyPr/>
          <a:lstStyle/>
          <a:p>
            <a:endParaRPr/>
          </a:p>
        </p:txBody>
      </p:sp>
      <p:sp>
        <p:nvSpPr>
          <p:cNvPr id="32" name="Rettangolo 31">
            <a:extLst>
              <a:ext uri="{FF2B5EF4-FFF2-40B4-BE49-F238E27FC236}">
                <a16:creationId xmlns:a16="http://schemas.microsoft.com/office/drawing/2014/main" id="{C6444606-31CF-4954-A94E-256FA6870834}"/>
              </a:ext>
            </a:extLst>
          </p:cNvPr>
          <p:cNvSpPr>
            <a:spLocks noGrp="1"/>
          </p:cNvSpPr>
          <p:nvPr/>
        </p:nvSpPr>
        <p:spPr>
          <a:xfrm>
            <a:off x="1466850" y="5581650"/>
            <a:ext cx="9258300" cy="342900"/>
          </a:xfrm>
          <a:prstGeom prst="rect">
            <a:avLst/>
          </a:prstGeom>
          <a:noFill/>
          <a:ln w="0">
            <a:noFill/>
            <a:prstDash val="solid"/>
          </a:ln>
        </p:spPr>
        <p:txBody>
          <a:bodyPr wrap="square" lIns="0" tIns="0" rIns="0" bIns="0" anchor="ctr">
            <a:noAutofit/>
          </a:bodyP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Use AI to prioritize evidence review—never to silently exclude it.</a:t>
            </a:r>
          </a:p>
        </p:txBody>
      </p:sp>
    </p:spTree>
    <p:extLst>
      <p:ext uri="{BB962C8B-B14F-4D97-AF65-F5344CB8AC3E}">
        <p14:creationId xmlns:p14="http://schemas.microsoft.com/office/powerpoint/2010/main" val="1400809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Claim boundaries keep the result defensible</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13</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METADATA SENSITIVITY</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15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of 11,500 files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matched a predefined sensitive metadata term</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Leave-out differences were small</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This does not prove causal irrelevance for every decision.</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CLAIM BOUNDARIES</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467600" y="21336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1,500 images; one reviewer</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Perturbations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467600" y="28194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one frozen setting per condition</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Attack target</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467600" y="35052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direct attacks only on EfficientNet-B0</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Black-box</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467600" y="41910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tool version + settings + output mapping</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90500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Legal scope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467600" y="48768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operational triage only; no legal claim</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Protocol-specific assessment—not certification or universal ranking.</a:t>
            </a:r>
          </a:p>
        </p:txBody>
      </p:sp>
    </p:spTree>
    <p:extLst>
      <p:ext uri="{BB962C8B-B14F-4D97-AF65-F5344CB8AC3E}">
        <p14:creationId xmlns:p14="http://schemas.microsoft.com/office/powerpoint/2010/main" val="1308217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33A70"/>
        </a:solidFill>
        <a:effectLst/>
      </p:bgPr>
    </p:bg>
    <p:spTree>
      <p:nvGrpSpPr>
        <p:cNvPr id="1" name=""/>
        <p:cNvGrpSpPr/>
        <p:nvPr/>
      </p:nvGrpSpPr>
      <p:grpSpPr>
        <a:xfrm>
          <a:off x="0" y="0"/>
          <a:ext cx="0" cy="0"/>
          <a:chOff x="0" y="0"/>
          <a:chExt cx="0" cy="0"/>
        </a:xfrm>
      </p:grpSpPr>
      <p:pic>
        <p:nvPicPr>
          <p:cNvPr id="15" name="Picture 1"/>
          <p:cNvPicPr>
            <a:picLocks noChangeAspect="1"/>
          </p:cNvPicPr>
          <p:nvPr/>
        </p:nvPicPr>
        <p:blipFill>
          <a:blip r:embed="rId3"/>
          <a:srcRect/>
          <a:stretch>
            <a:fillRect/>
          </a:stretch>
        </p:blipFill>
        <p:spPr>
          <a:xfrm>
            <a:off x="9812751" y="400050"/>
            <a:ext cx="1424748" cy="1695450"/>
          </a:xfrm>
          <a:prstGeom prst="rect">
            <a:avLst/>
          </a:prstGeom>
        </p:spPr>
      </p:pic>
      <p:sp>
        <p:nvSpPr>
          <p:cNvPr id="2" name="Rettangolo 1">
            <a:extLst>
              <a:ext uri="{FF2B5EF4-FFF2-40B4-BE49-F238E27FC236}">
                <a16:creationId xmlns:a16="http://schemas.microsoft.com/office/drawing/2014/main" id="{96233C98-1682-4713-96AF-301D7793CFAD}"/>
              </a:ext>
            </a:extLst>
          </p:cNvPr>
          <p:cNvSpPr>
            <a:spLocks noGrp="1"/>
          </p:cNvSpPr>
          <p:nvPr/>
        </p:nvSpPr>
        <p:spPr>
          <a:xfrm>
            <a:off x="685800" y="685800"/>
            <a:ext cx="8763000" cy="1524000"/>
          </a:xfrm>
          <a:prstGeom prst="rect">
            <a:avLst/>
          </a:prstGeom>
          <a:noFill/>
          <a:ln w="0">
            <a:noFill/>
            <a:prstDash val="solid"/>
          </a:ln>
        </p:spPr>
        <p:txBody>
          <a:bodyPr wrap="square" lIns="0" tIns="0" rIns="0" bIns="0" anchor="ctr">
            <a:noAutofit/>
          </a:bodyPr>
          <a:lstStyle/>
          <a:p>
            <a:pPr algn="l">
              <a:buNone/>
              <a:defRPr sz="4200" b="1">
                <a:solidFill>
                  <a:srgbClr val="FFFFFF"/>
                </a:solidFill>
                <a:latin typeface="Arial"/>
                <a:ea typeface="Arial"/>
                <a:cs typeface="Arial"/>
              </a:defRPr>
            </a:pPr>
            <a:r>
              <a:rPr sz="4200" b="1">
                <a:solidFill>
                  <a:srgbClr val="FFFFFF"/>
                </a:solidFill>
                <a:latin typeface="Arial"/>
                <a:ea typeface="Arial"/>
                <a:cs typeface="Arial"/>
              </a:rPr>
              <a:t>AI can prioritize evidence;</a:t>
            </a:r>
          </a:p>
          <a:p>
            <a:pPr algn="l">
              <a:buNone/>
              <a:defRPr sz="4200" b="1">
                <a:solidFill>
                  <a:srgbClr val="FFFFFF"/>
                </a:solidFill>
                <a:latin typeface="Arial"/>
                <a:ea typeface="Arial"/>
                <a:cs typeface="Arial"/>
              </a:defRPr>
            </a:pPr>
            <a:r>
              <a:rPr sz="4200" b="1">
                <a:solidFill>
                  <a:srgbClr val="FFFFFF"/>
                </a:solidFill>
                <a:latin typeface="Arial"/>
                <a:ea typeface="Arial"/>
                <a:cs typeface="Arial"/>
              </a:rPr>
              <a:t>it must not silently exclude it.</a:t>
            </a:r>
          </a:p>
        </p:txBody>
      </p:sp>
      <p:sp>
        <p:nvSpPr>
          <p:cNvPr id="3" name="Rettangolo 2">
            <a:extLst>
              <a:ext uri="{FF2B5EF4-FFF2-40B4-BE49-F238E27FC236}">
                <a16:creationId xmlns:a16="http://schemas.microsoft.com/office/drawing/2014/main" id="{406CEE45-9954-4129-B4CC-8763B90B9FE7}"/>
              </a:ext>
            </a:extLst>
          </p:cNvPr>
          <p:cNvSpPr>
            <a:spLocks noGrp="1"/>
          </p:cNvSpPr>
          <p:nvPr/>
        </p:nvSpPr>
        <p:spPr>
          <a:xfrm>
            <a:off x="685800" y="2381250"/>
            <a:ext cx="2000250" cy="66675"/>
          </a:xfrm>
          <a:prstGeom prst="rect">
            <a:avLst/>
          </a:prstGeom>
          <a:solidFill>
            <a:srgbClr val="14B978"/>
          </a:solidFill>
          <a:ln w="0">
            <a:noFill/>
            <a:prstDash val="solid"/>
          </a:ln>
        </p:spPr>
        <p:txBody>
          <a:bodyPr/>
          <a:lstStyle/>
          <a:p>
            <a:endParaRPr/>
          </a:p>
        </p:txBody>
      </p:sp>
      <p:sp>
        <p:nvSpPr>
          <p:cNvPr id="4" name="Rettangolo 3">
            <a:extLst>
              <a:ext uri="{FF2B5EF4-FFF2-40B4-BE49-F238E27FC236}">
                <a16:creationId xmlns:a16="http://schemas.microsoft.com/office/drawing/2014/main" id="{A87ACFBC-5913-4A14-A572-7C43C4E614CE}"/>
              </a:ext>
            </a:extLst>
          </p:cNvPr>
          <p:cNvSpPr>
            <a:spLocks noGrp="1"/>
          </p:cNvSpPr>
          <p:nvPr/>
        </p:nvSpPr>
        <p:spPr>
          <a:xfrm>
            <a:off x="685800" y="29718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01</a:t>
            </a:r>
          </a:p>
        </p:txBody>
      </p:sp>
      <p:sp>
        <p:nvSpPr>
          <p:cNvPr id="5" name="Rettangolo 4">
            <a:extLst>
              <a:ext uri="{FF2B5EF4-FFF2-40B4-BE49-F238E27FC236}">
                <a16:creationId xmlns:a16="http://schemas.microsoft.com/office/drawing/2014/main" id="{A7447639-7A70-4861-8213-2179225B1DA5}"/>
              </a:ext>
            </a:extLst>
          </p:cNvPr>
          <p:cNvSpPr>
            <a:spLocks noGrp="1"/>
          </p:cNvSpPr>
          <p:nvPr/>
        </p:nvSpPr>
        <p:spPr>
          <a:xfrm>
            <a:off x="1428750" y="28384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Clean performance is only the baseline; robustness is condition-dependent.</a:t>
            </a:r>
          </a:p>
        </p:txBody>
      </p:sp>
      <p:sp>
        <p:nvSpPr>
          <p:cNvPr id="6" name="Rettangolo 5">
            <a:extLst>
              <a:ext uri="{FF2B5EF4-FFF2-40B4-BE49-F238E27FC236}">
                <a16:creationId xmlns:a16="http://schemas.microsoft.com/office/drawing/2014/main" id="{1450CA5E-FC35-430A-9031-A11896E280CD}"/>
              </a:ext>
            </a:extLst>
          </p:cNvPr>
          <p:cNvSpPr>
            <a:spLocks noGrp="1"/>
          </p:cNvSpPr>
          <p:nvPr/>
        </p:nvSpPr>
        <p:spPr>
          <a:xfrm>
            <a:off x="1428750" y="3524250"/>
            <a:ext cx="8858250" cy="9525"/>
          </a:xfrm>
          <a:prstGeom prst="rect">
            <a:avLst/>
          </a:prstGeom>
          <a:solidFill>
            <a:srgbClr val="536A9B"/>
          </a:solidFill>
          <a:ln w="0">
            <a:noFill/>
            <a:prstDash val="solid"/>
          </a:ln>
        </p:spPr>
        <p:txBody>
          <a:bodyPr/>
          <a:lstStyle/>
          <a:p>
            <a:endParaRPr/>
          </a:p>
        </p:txBody>
      </p:sp>
      <p:sp>
        <p:nvSpPr>
          <p:cNvPr id="7" name="Rettangolo 6">
            <a:extLst>
              <a:ext uri="{FF2B5EF4-FFF2-40B4-BE49-F238E27FC236}">
                <a16:creationId xmlns:a16="http://schemas.microsoft.com/office/drawing/2014/main" id="{84B48416-48C8-47F4-8298-4F17F973B71A}"/>
              </a:ext>
            </a:extLst>
          </p:cNvPr>
          <p:cNvSpPr>
            <a:spLocks noGrp="1"/>
          </p:cNvSpPr>
          <p:nvPr/>
        </p:nvSpPr>
        <p:spPr>
          <a:xfrm>
            <a:off x="685800" y="375285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dirty="0">
                <a:solidFill>
                  <a:srgbClr val="14B978"/>
                </a:solidFill>
                <a:latin typeface="Arial"/>
                <a:ea typeface="Arial"/>
                <a:cs typeface="Arial"/>
              </a:rPr>
              <a:t>02</a:t>
            </a:r>
          </a:p>
        </p:txBody>
      </p:sp>
      <p:sp>
        <p:nvSpPr>
          <p:cNvPr id="8" name="Rettangolo 7">
            <a:extLst>
              <a:ext uri="{FF2B5EF4-FFF2-40B4-BE49-F238E27FC236}">
                <a16:creationId xmlns:a16="http://schemas.microsoft.com/office/drawing/2014/main" id="{988D7614-8FE3-475C-B612-F8C4E0C42486}"/>
              </a:ext>
            </a:extLst>
          </p:cNvPr>
          <p:cNvSpPr>
            <a:spLocks noGrp="1"/>
          </p:cNvSpPr>
          <p:nvPr/>
        </p:nvSpPr>
        <p:spPr>
          <a:xfrm>
            <a:off x="1428750" y="373380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Direct attacks, transfer and OOD behavior are distinct from configuration trade-offs.</a:t>
            </a:r>
          </a:p>
        </p:txBody>
      </p:sp>
      <p:sp>
        <p:nvSpPr>
          <p:cNvPr id="9" name="Rettangolo 8">
            <a:extLst>
              <a:ext uri="{FF2B5EF4-FFF2-40B4-BE49-F238E27FC236}">
                <a16:creationId xmlns:a16="http://schemas.microsoft.com/office/drawing/2014/main" id="{9FD6AFD3-88FF-4DC9-A60E-DD29C11BBE0F}"/>
              </a:ext>
            </a:extLst>
          </p:cNvPr>
          <p:cNvSpPr>
            <a:spLocks noGrp="1"/>
          </p:cNvSpPr>
          <p:nvPr/>
        </p:nvSpPr>
        <p:spPr>
          <a:xfrm>
            <a:off x="1428750" y="4419600"/>
            <a:ext cx="8858250" cy="9525"/>
          </a:xfrm>
          <a:prstGeom prst="rect">
            <a:avLst/>
          </a:prstGeom>
          <a:solidFill>
            <a:srgbClr val="536A9B"/>
          </a:solidFill>
          <a:ln w="0">
            <a:noFill/>
            <a:prstDash val="solid"/>
          </a:ln>
        </p:spPr>
        <p:txBody>
          <a:bodyPr/>
          <a:lstStyle/>
          <a:p>
            <a:endParaRPr/>
          </a:p>
        </p:txBody>
      </p:sp>
      <p:sp>
        <p:nvSpPr>
          <p:cNvPr id="10" name="Rettangolo 9">
            <a:extLst>
              <a:ext uri="{FF2B5EF4-FFF2-40B4-BE49-F238E27FC236}">
                <a16:creationId xmlns:a16="http://schemas.microsoft.com/office/drawing/2014/main" id="{82DD1464-6B69-4824-9D72-F6913E53C22E}"/>
              </a:ext>
            </a:extLst>
          </p:cNvPr>
          <p:cNvSpPr>
            <a:spLocks noGrp="1"/>
          </p:cNvSpPr>
          <p:nvPr/>
        </p:nvSpPr>
        <p:spPr>
          <a:xfrm>
            <a:off x="685800" y="46482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03</a:t>
            </a:r>
          </a:p>
        </p:txBody>
      </p:sp>
      <p:sp>
        <p:nvSpPr>
          <p:cNvPr id="11" name="Rettangolo 10">
            <a:extLst>
              <a:ext uri="{FF2B5EF4-FFF2-40B4-BE49-F238E27FC236}">
                <a16:creationId xmlns:a16="http://schemas.microsoft.com/office/drawing/2014/main" id="{CE069915-8C7F-4D66-A75C-DE9F676A9B58}"/>
              </a:ext>
            </a:extLst>
          </p:cNvPr>
          <p:cNvSpPr>
            <a:spLocks noGrp="1"/>
          </p:cNvSpPr>
          <p:nvPr/>
        </p:nvSpPr>
        <p:spPr>
          <a:xfrm>
            <a:off x="1428750" y="46291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FAIRLab makes those dimensions traceable, auditable and reviewable by a forensic expert.</a:t>
            </a:r>
          </a:p>
        </p:txBody>
      </p:sp>
      <p:sp>
        <p:nvSpPr>
          <p:cNvPr id="12" name="Rettangolo 11">
            <a:extLst>
              <a:ext uri="{FF2B5EF4-FFF2-40B4-BE49-F238E27FC236}">
                <a16:creationId xmlns:a16="http://schemas.microsoft.com/office/drawing/2014/main" id="{C5DB9022-7C6B-4FD6-BD9F-B0933F2FF931}"/>
              </a:ext>
            </a:extLst>
          </p:cNvPr>
          <p:cNvSpPr>
            <a:spLocks noGrp="1"/>
          </p:cNvSpPr>
          <p:nvPr/>
        </p:nvSpPr>
        <p:spPr>
          <a:xfrm>
            <a:off x="685800" y="5962650"/>
            <a:ext cx="2476500" cy="419100"/>
          </a:xfrm>
          <a:prstGeom prst="rect">
            <a:avLst/>
          </a:prstGeom>
          <a:noFill/>
          <a:ln w="0">
            <a:noFill/>
            <a:prstDash val="solid"/>
          </a:ln>
        </p:spPr>
        <p:txBody>
          <a:bodyPr wrap="square" lIns="0" tIns="0" rIns="0" bIns="0" anchor="t">
            <a:noAutofit/>
          </a:bodyPr>
          <a:lstStyle/>
          <a:p>
            <a:endParaRPr/>
          </a:p>
        </p:txBody>
      </p:sp>
      <p:sp>
        <p:nvSpPr>
          <p:cNvPr id="13" name="Rettangolo 12">
            <a:extLst>
              <a:ext uri="{FF2B5EF4-FFF2-40B4-BE49-F238E27FC236}">
                <a16:creationId xmlns:a16="http://schemas.microsoft.com/office/drawing/2014/main" id="{E270C321-849E-4038-B40F-9F6AE5428309}"/>
              </a:ext>
            </a:extLst>
          </p:cNvPr>
          <p:cNvSpPr>
            <a:spLocks noGrp="1"/>
          </p:cNvSpPr>
          <p:nvPr/>
        </p:nvSpPr>
        <p:spPr>
          <a:xfrm>
            <a:off x="8972550" y="6038850"/>
            <a:ext cx="2266950" cy="266700"/>
          </a:xfrm>
          <a:prstGeom prst="rect">
            <a:avLst/>
          </a:prstGeom>
          <a:noFill/>
          <a:ln w="0">
            <a:noFill/>
            <a:prstDash val="solid"/>
          </a:ln>
        </p:spPr>
        <p:txBody>
          <a:bodyPr wrap="square" lIns="0" tIns="0" rIns="0" bIns="0" anchor="t">
            <a:noAutofit/>
          </a:bodyPr>
          <a:lstStyle/>
          <a:p>
            <a:endParaRPr/>
          </a:p>
        </p:txBody>
      </p:sp>
    </p:spTree>
    <p:extLst>
      <p:ext uri="{BB962C8B-B14F-4D97-AF65-F5344CB8AC3E}">
        <p14:creationId xmlns:p14="http://schemas.microsoft.com/office/powerpoint/2010/main" val="1025552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2"/>
          <a:stretch>
            <a:fillRect/>
          </a:stretch>
        </p:blipFill>
        <p:spPr>
          <a:xfrm>
            <a:off x="731477" y="7"/>
            <a:ext cx="1097235" cy="1306092"/>
          </a:xfrm>
          <a:prstGeom prst="rect">
            <a:avLst/>
          </a:prstGeom>
        </p:spPr>
      </p:pic>
      <p:sp>
        <p:nvSpPr>
          <p:cNvPr id="4" name="TextBox 3"/>
          <p:cNvSpPr txBox="1"/>
          <p:nvPr/>
        </p:nvSpPr>
        <p:spPr>
          <a:xfrm>
            <a:off x="946826" y="2001618"/>
            <a:ext cx="10425310"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dirty="0">
                <a:solidFill>
                  <a:srgbClr val="FFFFFF"/>
                </a:solidFill>
                <a:latin typeface="Carlito"/>
              </a:rPr>
              <a:t>Evaluating the Robustness of AI-Based</a:t>
            </a:r>
          </a:p>
        </p:txBody>
      </p:sp>
      <p:sp>
        <p:nvSpPr>
          <p:cNvPr id="5" name="TextBox 4"/>
          <p:cNvSpPr txBox="1"/>
          <p:nvPr/>
        </p:nvSpPr>
        <p:spPr>
          <a:xfrm>
            <a:off x="1152955" y="2596456"/>
            <a:ext cx="10015521"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a:solidFill>
                  <a:srgbClr val="FFFFFF"/>
                </a:solidFill>
                <a:latin typeface="Carlito"/>
              </a:rPr>
              <a:t>Forensic Tools under Adversarial and</a:t>
            </a:r>
          </a:p>
        </p:txBody>
      </p:sp>
      <p:sp>
        <p:nvSpPr>
          <p:cNvPr id="6" name="TextBox 5"/>
          <p:cNvSpPr txBox="1"/>
          <p:nvPr/>
        </p:nvSpPr>
        <p:spPr>
          <a:xfrm>
            <a:off x="3263624" y="3078525"/>
            <a:ext cx="5794393"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dirty="0">
                <a:solidFill>
                  <a:srgbClr val="FFFFFF"/>
                </a:solidFill>
                <a:latin typeface="Carlito"/>
              </a:rPr>
              <a:t>Anti-Forensic Attacks</a:t>
            </a:r>
          </a:p>
        </p:txBody>
      </p:sp>
      <p:sp>
        <p:nvSpPr>
          <p:cNvPr id="7" name="TextBox 6"/>
          <p:cNvSpPr txBox="1"/>
          <p:nvPr/>
        </p:nvSpPr>
        <p:spPr>
          <a:xfrm>
            <a:off x="4259725" y="4161555"/>
            <a:ext cx="3800560"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Thank you for listening!</a:t>
            </a:r>
          </a:p>
        </p:txBody>
      </p:sp>
      <p:sp>
        <p:nvSpPr>
          <p:cNvPr id="8" name="TextBox 7"/>
          <p:cNvSpPr txBox="1"/>
          <p:nvPr/>
        </p:nvSpPr>
        <p:spPr>
          <a:xfrm>
            <a:off x="4924294" y="4643597"/>
            <a:ext cx="2471225"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Any questions?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Research questions and claim scope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B1</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RQ1</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To what extent do the proxy models retain clean-baseline performance across separate OOD, adversarial and anti-forensic conditions?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RQ2</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direct source-model attacks, cross-architecture transfer and model-agnostic Color Shift differ?</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RQ3</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black-box outputs and configuration choices shape the observed operational profiles?</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RQ4</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Which directional errors, degradations, OOD assignments and unknown states matter for continued human review?</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Scope: operational robustness under the frozen protocol—not certification, legal admissibility or universal ranking.</a:t>
            </a:r>
          </a:p>
        </p:txBody>
      </p:sp>
    </p:spTree>
    <p:extLst>
      <p:ext uri="{BB962C8B-B14F-4D97-AF65-F5344CB8AC3E}">
        <p14:creationId xmlns:p14="http://schemas.microsoft.com/office/powerpoint/2010/main" val="1631516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Perturbation suite and threat paths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B2</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ADVERSARIAL / ADVERSARIAL-STYLE</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Color Shift · deterministic, model-agnostic</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ANTI-FORENSIC TRANSFORMATIONS</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recompression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Resample / resize</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modification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stretching</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Model-dependent attacks: direct on EfficientNet-B0  |  empirical transfer elsewhere</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and anti-forensic transformations: model-agnostic conditions</a:t>
            </a:r>
          </a:p>
        </p:txBody>
      </p:sp>
    </p:spTree>
    <p:extLst>
      <p:ext uri="{BB962C8B-B14F-4D97-AF65-F5344CB8AC3E}">
        <p14:creationId xmlns:p14="http://schemas.microsoft.com/office/powerpoint/2010/main" val="98046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132C68E0-F7BB-4D84-B514-2E0F71B3B1B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7D20E475-2A5D-459D-8AAB-9F303C543F6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Traceability links sources to reported figures</a:t>
            </a:r>
          </a:p>
        </p:txBody>
      </p:sp>
      <p:sp>
        <p:nvSpPr>
          <p:cNvPr id="3" name="Rettangolo 2">
            <a:extLst>
              <a:ext uri="{FF2B5EF4-FFF2-40B4-BE49-F238E27FC236}">
                <a16:creationId xmlns:a16="http://schemas.microsoft.com/office/drawing/2014/main" id="{5B5396AA-6D1B-4946-9C6D-8D0F818A01C1}"/>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A3F1E25-2383-4EC9-B6D0-9445F682B414}"/>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9F56C24-1E99-42B1-9770-88B2B95F402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B3</a:t>
            </a:r>
          </a:p>
        </p:txBody>
      </p:sp>
      <p:sp>
        <p:nvSpPr>
          <p:cNvPr id="6" name="Rettangolo 5">
            <a:extLst>
              <a:ext uri="{FF2B5EF4-FFF2-40B4-BE49-F238E27FC236}">
                <a16:creationId xmlns:a16="http://schemas.microsoft.com/office/drawing/2014/main" id="{7C39DB82-1F28-4EF9-B5A0-94D0168F6F0D}"/>
              </a:ext>
            </a:extLst>
          </p:cNvPr>
          <p:cNvSpPr>
            <a:spLocks noGrp="1"/>
          </p:cNvSpPr>
          <p:nvPr/>
        </p:nvSpPr>
        <p:spPr>
          <a:xfrm>
            <a:off x="1657350" y="2609850"/>
            <a:ext cx="8877300" cy="66675"/>
          </a:xfrm>
          <a:prstGeom prst="rect">
            <a:avLst/>
          </a:prstGeom>
          <a:solidFill>
            <a:srgbClr val="D9DEE8"/>
          </a:solidFill>
          <a:ln w="0">
            <a:noFill/>
            <a:prstDash val="solid"/>
          </a:ln>
        </p:spPr>
        <p:txBody>
          <a:bodyPr/>
          <a:lstStyle/>
          <a:p>
            <a:endParaRPr/>
          </a:p>
        </p:txBody>
      </p:sp>
      <p:sp>
        <p:nvSpPr>
          <p:cNvPr id="7" name="Rettangolo con angoli arrotondati 6">
            <a:extLst>
              <a:ext uri="{FF2B5EF4-FFF2-40B4-BE49-F238E27FC236}">
                <a16:creationId xmlns:a16="http://schemas.microsoft.com/office/drawing/2014/main" id="{DD3F15EF-FC7C-4F92-836B-00742035B3B5}"/>
              </a:ext>
            </a:extLst>
          </p:cNvPr>
          <p:cNvSpPr>
            <a:spLocks noGrp="1"/>
          </p:cNvSpPr>
          <p:nvPr/>
        </p:nvSpPr>
        <p:spPr>
          <a:xfrm>
            <a:off x="685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31A8BB3B-F18E-4303-80A6-E7E762AD1EB3}"/>
              </a:ext>
            </a:extLst>
          </p:cNvPr>
          <p:cNvSpPr>
            <a:spLocks noGrp="1"/>
          </p:cNvSpPr>
          <p:nvPr/>
        </p:nvSpPr>
        <p:spPr>
          <a:xfrm>
            <a:off x="800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SOURCE</a:t>
            </a:r>
          </a:p>
        </p:txBody>
      </p:sp>
      <p:sp>
        <p:nvSpPr>
          <p:cNvPr id="9" name="Rettangolo 8">
            <a:extLst>
              <a:ext uri="{FF2B5EF4-FFF2-40B4-BE49-F238E27FC236}">
                <a16:creationId xmlns:a16="http://schemas.microsoft.com/office/drawing/2014/main" id="{9DD03EAC-F71C-40B3-80E5-2DA59F31F6F8}"/>
              </a:ext>
            </a:extLst>
          </p:cNvPr>
          <p:cNvSpPr>
            <a:spLocks noGrp="1"/>
          </p:cNvSpPr>
          <p:nvPr/>
        </p:nvSpPr>
        <p:spPr>
          <a:xfrm>
            <a:off x="800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dataset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manual review</a:t>
            </a:r>
          </a:p>
        </p:txBody>
      </p:sp>
      <p:sp>
        <p:nvSpPr>
          <p:cNvPr id="10" name="Rettangolo con angoli arrotondati 9">
            <a:extLst>
              <a:ext uri="{FF2B5EF4-FFF2-40B4-BE49-F238E27FC236}">
                <a16:creationId xmlns:a16="http://schemas.microsoft.com/office/drawing/2014/main" id="{2B26A88D-1776-4876-8181-037F2371B042}"/>
              </a:ext>
            </a:extLst>
          </p:cNvPr>
          <p:cNvSpPr>
            <a:spLocks noGrp="1"/>
          </p:cNvSpPr>
          <p:nvPr/>
        </p:nvSpPr>
        <p:spPr>
          <a:xfrm>
            <a:off x="287655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11" name="Rettangolo 10">
            <a:extLst>
              <a:ext uri="{FF2B5EF4-FFF2-40B4-BE49-F238E27FC236}">
                <a16:creationId xmlns:a16="http://schemas.microsoft.com/office/drawing/2014/main" id="{9D87A7A1-41E2-4A42-8309-D39020B20FA2}"/>
              </a:ext>
            </a:extLst>
          </p:cNvPr>
          <p:cNvSpPr>
            <a:spLocks noGrp="1"/>
          </p:cNvSpPr>
          <p:nvPr/>
        </p:nvSpPr>
        <p:spPr>
          <a:xfrm>
            <a:off x="29908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DERIVATION</a:t>
            </a:r>
          </a:p>
        </p:txBody>
      </p:sp>
      <p:sp>
        <p:nvSpPr>
          <p:cNvPr id="12" name="Rettangolo 11">
            <a:extLst>
              <a:ext uri="{FF2B5EF4-FFF2-40B4-BE49-F238E27FC236}">
                <a16:creationId xmlns:a16="http://schemas.microsoft.com/office/drawing/2014/main" id="{7C0978C2-178E-484C-97FD-18E4D03A80D0}"/>
              </a:ext>
            </a:extLst>
          </p:cNvPr>
          <p:cNvSpPr>
            <a:spLocks noGrp="1"/>
          </p:cNvSpPr>
          <p:nvPr/>
        </p:nvSpPr>
        <p:spPr>
          <a:xfrm>
            <a:off x="29908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split + attack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source–condition IDs</a:t>
            </a:r>
          </a:p>
        </p:txBody>
      </p:sp>
      <p:sp>
        <p:nvSpPr>
          <p:cNvPr id="13" name="Rettangolo con angoli arrotondati 12">
            <a:extLst>
              <a:ext uri="{FF2B5EF4-FFF2-40B4-BE49-F238E27FC236}">
                <a16:creationId xmlns:a16="http://schemas.microsoft.com/office/drawing/2014/main" id="{13E5A335-8E9A-4904-877C-CEBA763E0F88}"/>
              </a:ext>
            </a:extLst>
          </p:cNvPr>
          <p:cNvSpPr>
            <a:spLocks noGrp="1"/>
          </p:cNvSpPr>
          <p:nvPr/>
        </p:nvSpPr>
        <p:spPr>
          <a:xfrm>
            <a:off x="5067300" y="1885950"/>
            <a:ext cx="1714500" cy="1428750"/>
          </a:xfrm>
          <a:prstGeom prst="roundRect">
            <a:avLst>
              <a:gd name="adj" fmla="val 10667"/>
            </a:avLst>
          </a:prstGeom>
          <a:solidFill>
            <a:srgbClr val="E7F8F0"/>
          </a:solidFill>
          <a:ln w="9525">
            <a:solidFill>
              <a:srgbClr val="E7F8F0"/>
            </a:solidFill>
            <a:prstDash val="solid"/>
          </a:ln>
        </p:spPr>
        <p:txBody>
          <a:bodyPr/>
          <a:lstStyle/>
          <a:p>
            <a:endParaRPr/>
          </a:p>
        </p:txBody>
      </p:sp>
      <p:sp>
        <p:nvSpPr>
          <p:cNvPr id="14" name="Rettangolo 13">
            <a:extLst>
              <a:ext uri="{FF2B5EF4-FFF2-40B4-BE49-F238E27FC236}">
                <a16:creationId xmlns:a16="http://schemas.microsoft.com/office/drawing/2014/main" id="{6933333C-7762-40B6-A335-488B04D01FE9}"/>
              </a:ext>
            </a:extLst>
          </p:cNvPr>
          <p:cNvSpPr>
            <a:spLocks noGrp="1"/>
          </p:cNvSpPr>
          <p:nvPr/>
        </p:nvSpPr>
        <p:spPr>
          <a:xfrm>
            <a:off x="51816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087A50"/>
                </a:solidFill>
                <a:latin typeface="Arial"/>
                <a:ea typeface="Arial"/>
                <a:cs typeface="Arial"/>
              </a:defRPr>
            </a:pPr>
            <a:r>
              <a:rPr sz="1275" b="1">
                <a:solidFill>
                  <a:srgbClr val="087A50"/>
                </a:solidFill>
                <a:latin typeface="Arial"/>
                <a:ea typeface="Arial"/>
                <a:cs typeface="Arial"/>
              </a:rPr>
              <a:t>DECISION</a:t>
            </a:r>
          </a:p>
        </p:txBody>
      </p:sp>
      <p:sp>
        <p:nvSpPr>
          <p:cNvPr id="15" name="Rettangolo 14">
            <a:extLst>
              <a:ext uri="{FF2B5EF4-FFF2-40B4-BE49-F238E27FC236}">
                <a16:creationId xmlns:a16="http://schemas.microsoft.com/office/drawing/2014/main" id="{D6C7E621-5366-4ADA-9F42-14FFFBD21670}"/>
              </a:ext>
            </a:extLst>
          </p:cNvPr>
          <p:cNvSpPr>
            <a:spLocks noGrp="1"/>
          </p:cNvSpPr>
          <p:nvPr/>
        </p:nvSpPr>
        <p:spPr>
          <a:xfrm>
            <a:off x="51816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proxy predictions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normalized tool outputs</a:t>
            </a:r>
          </a:p>
        </p:txBody>
      </p:sp>
      <p:sp>
        <p:nvSpPr>
          <p:cNvPr id="16" name="Rettangolo con angoli arrotondati 15">
            <a:extLst>
              <a:ext uri="{FF2B5EF4-FFF2-40B4-BE49-F238E27FC236}">
                <a16:creationId xmlns:a16="http://schemas.microsoft.com/office/drawing/2014/main" id="{00315F4D-4D0F-46DA-8343-DC26FB1BF534}"/>
              </a:ext>
            </a:extLst>
          </p:cNvPr>
          <p:cNvSpPr>
            <a:spLocks noGrp="1"/>
          </p:cNvSpPr>
          <p:nvPr/>
        </p:nvSpPr>
        <p:spPr>
          <a:xfrm>
            <a:off x="725805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17" name="Rettangolo 16">
            <a:extLst>
              <a:ext uri="{FF2B5EF4-FFF2-40B4-BE49-F238E27FC236}">
                <a16:creationId xmlns:a16="http://schemas.microsoft.com/office/drawing/2014/main" id="{0EF42E65-D8F5-4F54-9D14-D8F427D0CFD4}"/>
              </a:ext>
            </a:extLst>
          </p:cNvPr>
          <p:cNvSpPr>
            <a:spLocks noGrp="1"/>
          </p:cNvSpPr>
          <p:nvPr/>
        </p:nvSpPr>
        <p:spPr>
          <a:xfrm>
            <a:off x="73723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METRIC</a:t>
            </a:r>
          </a:p>
        </p:txBody>
      </p:sp>
      <p:sp>
        <p:nvSpPr>
          <p:cNvPr id="18" name="Rettangolo 17">
            <a:extLst>
              <a:ext uri="{FF2B5EF4-FFF2-40B4-BE49-F238E27FC236}">
                <a16:creationId xmlns:a16="http://schemas.microsoft.com/office/drawing/2014/main" id="{8C403EC8-1210-44A7-826A-A435B28EDA3E}"/>
              </a:ext>
            </a:extLst>
          </p:cNvPr>
          <p:cNvSpPr>
            <a:spLocks noGrp="1"/>
          </p:cNvSpPr>
          <p:nvPr/>
        </p:nvSpPr>
        <p:spPr>
          <a:xfrm>
            <a:off x="73723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condition tables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directional errors</a:t>
            </a:r>
          </a:p>
        </p:txBody>
      </p:sp>
      <p:sp>
        <p:nvSpPr>
          <p:cNvPr id="19" name="Rettangolo con angoli arrotondati 18">
            <a:extLst>
              <a:ext uri="{FF2B5EF4-FFF2-40B4-BE49-F238E27FC236}">
                <a16:creationId xmlns:a16="http://schemas.microsoft.com/office/drawing/2014/main" id="{44A407A9-0C70-42CE-96D8-4F4090679635}"/>
              </a:ext>
            </a:extLst>
          </p:cNvPr>
          <p:cNvSpPr>
            <a:spLocks noGrp="1"/>
          </p:cNvSpPr>
          <p:nvPr/>
        </p:nvSpPr>
        <p:spPr>
          <a:xfrm>
            <a:off x="9448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20" name="Rettangolo 19">
            <a:extLst>
              <a:ext uri="{FF2B5EF4-FFF2-40B4-BE49-F238E27FC236}">
                <a16:creationId xmlns:a16="http://schemas.microsoft.com/office/drawing/2014/main" id="{F11B0350-76FB-4DB6-9B42-178EBF016A42}"/>
              </a:ext>
            </a:extLst>
          </p:cNvPr>
          <p:cNvSpPr>
            <a:spLocks noGrp="1"/>
          </p:cNvSpPr>
          <p:nvPr/>
        </p:nvSpPr>
        <p:spPr>
          <a:xfrm>
            <a:off x="9563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REPORT</a:t>
            </a:r>
          </a:p>
        </p:txBody>
      </p:sp>
      <p:sp>
        <p:nvSpPr>
          <p:cNvPr id="21" name="Rettangolo 20">
            <a:extLst>
              <a:ext uri="{FF2B5EF4-FFF2-40B4-BE49-F238E27FC236}">
                <a16:creationId xmlns:a16="http://schemas.microsoft.com/office/drawing/2014/main" id="{208868E6-4BF0-404D-BA6B-3AACD3C9C49D}"/>
              </a:ext>
            </a:extLst>
          </p:cNvPr>
          <p:cNvSpPr>
            <a:spLocks noGrp="1"/>
          </p:cNvSpPr>
          <p:nvPr/>
        </p:nvSpPr>
        <p:spPr>
          <a:xfrm>
            <a:off x="9563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thesis figures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conclusion tables</a:t>
            </a:r>
          </a:p>
        </p:txBody>
      </p:sp>
      <p:sp>
        <p:nvSpPr>
          <p:cNvPr id="22" name="Rettangolo 21">
            <a:extLst>
              <a:ext uri="{FF2B5EF4-FFF2-40B4-BE49-F238E27FC236}">
                <a16:creationId xmlns:a16="http://schemas.microsoft.com/office/drawing/2014/main" id="{143CDE96-C95C-4603-8D8F-39D3E4C03054}"/>
              </a:ext>
            </a:extLst>
          </p:cNvPr>
          <p:cNvSpPr>
            <a:spLocks noGrp="1"/>
          </p:cNvSpPr>
          <p:nvPr/>
        </p:nvSpPr>
        <p:spPr>
          <a:xfrm>
            <a:off x="685800" y="3905250"/>
            <a:ext cx="108204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Integrity and audit controls</a:t>
            </a:r>
          </a:p>
        </p:txBody>
      </p:sp>
      <p:sp>
        <p:nvSpPr>
          <p:cNvPr id="23" name="Rettangolo 22">
            <a:extLst>
              <a:ext uri="{FF2B5EF4-FFF2-40B4-BE49-F238E27FC236}">
                <a16:creationId xmlns:a16="http://schemas.microsoft.com/office/drawing/2014/main" id="{11FB0154-B506-4357-9ADE-0DC5A01E2B7D}"/>
              </a:ext>
            </a:extLst>
          </p:cNvPr>
          <p:cNvSpPr>
            <a:spLocks noGrp="1"/>
          </p:cNvSpPr>
          <p:nvPr/>
        </p:nvSpPr>
        <p:spPr>
          <a:xfrm>
            <a:off x="1714500" y="4438650"/>
            <a:ext cx="8763000" cy="1562100"/>
          </a:xfrm>
          <a:prstGeom prst="rect">
            <a:avLst/>
          </a:prstGeom>
          <a:noFill/>
          <a:ln w="0">
            <a:noFill/>
            <a:prstDash val="solid"/>
          </a:ln>
        </p:spPr>
        <p:txBody>
          <a:bodyPr wrap="square" lIns="0" tIns="0" rIns="0" bIns="0" anchor="t">
            <a:noAutofit/>
          </a:bodyPr>
          <a:lstStyle/>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SHA-256 digests for datasets, bundles, checkpoints and controlled artifacts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Frozen model, tool-version and configuration registries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Explicit output-normalization rules and unmatched/unknown handling</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Repository scripts regenerate metrics and thesis-ready reporting assets</a:t>
            </a:r>
          </a:p>
        </p:txBody>
      </p:sp>
    </p:spTree>
    <p:extLst>
      <p:ext uri="{BB962C8B-B14F-4D97-AF65-F5344CB8AC3E}">
        <p14:creationId xmlns:p14="http://schemas.microsoft.com/office/powerpoint/2010/main" val="2007090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ECFD6A99-8731-4DCC-8B9C-3FAB62ADD79F}"/>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FE25CF9-76BA-4D25-BF65-031D10FFFE1E}"/>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Commercial clean metrics and OOD behavior</a:t>
            </a:r>
          </a:p>
        </p:txBody>
      </p:sp>
      <p:sp>
        <p:nvSpPr>
          <p:cNvPr id="3" name="Rettangolo 2">
            <a:extLst>
              <a:ext uri="{FF2B5EF4-FFF2-40B4-BE49-F238E27FC236}">
                <a16:creationId xmlns:a16="http://schemas.microsoft.com/office/drawing/2014/main" id="{03D51E79-6B75-4622-885E-0AED5A11113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EE5EC74C-F846-4BB6-8F06-9C6093748B65}"/>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49061C5-1369-434C-85B4-B0C4550B308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B4</a:t>
            </a:r>
          </a:p>
        </p:txBody>
      </p:sp>
      <p:graphicFrame>
        <p:nvGraphicFramePr>
          <p:cNvPr id="16" name="Tabella 15"/>
          <p:cNvGraphicFramePr/>
          <p:nvPr/>
        </p:nvGraphicFramePr>
        <p:xfrm>
          <a:off x="685800" y="1485900"/>
          <a:ext cx="10820399" cy="3714750"/>
        </p:xfrm>
        <a:graphic>
          <a:graphicData uri="http://schemas.openxmlformats.org/drawingml/2006/table">
            <a:tbl>
              <a:tblPr/>
              <a:tblGrid>
                <a:gridCol w="3216876">
                  <a:extLst>
                    <a:ext uri="{9D8B030D-6E8A-4147-A177-3AD203B41FA5}">
                      <a16:colId xmlns:a16="http://schemas.microsoft.com/office/drawing/2014/main" val="20000"/>
                    </a:ext>
                  </a:extLst>
                </a:gridCol>
                <a:gridCol w="1462216">
                  <a:extLst>
                    <a:ext uri="{9D8B030D-6E8A-4147-A177-3AD203B41FA5}">
                      <a16:colId xmlns:a16="http://schemas.microsoft.com/office/drawing/2014/main" val="20001"/>
                    </a:ext>
                  </a:extLst>
                </a:gridCol>
                <a:gridCol w="1462216">
                  <a:extLst>
                    <a:ext uri="{9D8B030D-6E8A-4147-A177-3AD203B41FA5}">
                      <a16:colId xmlns:a16="http://schemas.microsoft.com/office/drawing/2014/main" val="20002"/>
                    </a:ext>
                  </a:extLst>
                </a:gridCol>
                <a:gridCol w="1462216">
                  <a:extLst>
                    <a:ext uri="{9D8B030D-6E8A-4147-A177-3AD203B41FA5}">
                      <a16:colId xmlns:a16="http://schemas.microsoft.com/office/drawing/2014/main" val="20003"/>
                    </a:ext>
                  </a:extLst>
                </a:gridCol>
                <a:gridCol w="1462216">
                  <a:extLst>
                    <a:ext uri="{9D8B030D-6E8A-4147-A177-3AD203B41FA5}">
                      <a16:colId xmlns:a16="http://schemas.microsoft.com/office/drawing/2014/main" val="20004"/>
                    </a:ext>
                  </a:extLst>
                </a:gridCol>
                <a:gridCol w="1754659">
                  <a:extLst>
                    <a:ext uri="{9D8B030D-6E8A-4147-A177-3AD203B41FA5}">
                      <a16:colId xmlns:a16="http://schemas.microsoft.com/office/drawing/2014/main" val="20005"/>
                    </a:ext>
                  </a:extLst>
                </a:gridCol>
              </a:tblGrid>
              <a:tr h="514350">
                <a:tc>
                  <a:txBody>
                    <a:bodyPr/>
                    <a:lstStyle/>
                    <a:p>
                      <a:pPr algn="l">
                        <a:buNone/>
                      </a:pPr>
                      <a:r>
                        <a:rPr sz="1425" b="1">
                          <a:solidFill>
                            <a:srgbClr val="FFFFFF"/>
                          </a:solidFill>
                        </a:rPr>
                        <a:t>Configuration</a:t>
                      </a:r>
                    </a:p>
                  </a:txBody>
                  <a:tcPr anchor="ctr">
                    <a:solidFill>
                      <a:srgbClr val="233A70"/>
                    </a:solidFill>
                  </a:tcPr>
                </a:tc>
                <a:tc>
                  <a:txBody>
                    <a:bodyPr/>
                    <a:lstStyle/>
                    <a:p>
                      <a:pPr algn="ctr">
                        <a:buNone/>
                      </a:pPr>
                      <a:r>
                        <a:rPr sz="1425" b="1">
                          <a:solidFill>
                            <a:srgbClr val="FFFFFF"/>
                          </a:solidFill>
                        </a:rPr>
                        <a:t>Accuracy</a:t>
                      </a:r>
                    </a:p>
                  </a:txBody>
                  <a:tcPr anchor="ctr">
                    <a:solidFill>
                      <a:srgbClr val="233A70"/>
                    </a:solidFill>
                  </a:tcPr>
                </a:tc>
                <a:tc>
                  <a:txBody>
                    <a:bodyPr/>
                    <a:lstStyle/>
                    <a:p>
                      <a:pPr algn="ctr">
                        <a:buNone/>
                      </a:pPr>
                      <a:r>
                        <a:rPr sz="1425" b="1">
                          <a:solidFill>
                            <a:srgbClr val="FFFFFF"/>
                          </a:solidFill>
                        </a:rPr>
                        <a:t>Recall</a:t>
                      </a:r>
                    </a:p>
                  </a:txBody>
                  <a:tcPr anchor="ctr">
                    <a:solidFill>
                      <a:srgbClr val="233A70"/>
                    </a:solidFill>
                  </a:tcPr>
                </a:tc>
                <a:tc>
                  <a:txBody>
                    <a:bodyPr/>
                    <a:lstStyle/>
                    <a:p>
                      <a:pPr algn="ctr">
                        <a:buNone/>
                      </a:pPr>
                      <a:r>
                        <a:rPr sz="1425" b="1">
                          <a:solidFill>
                            <a:srgbClr val="FFFFFF"/>
                          </a:solidFill>
                        </a:rPr>
                        <a:t>FNR</a:t>
                      </a:r>
                    </a:p>
                  </a:txBody>
                  <a:tcPr anchor="ctr">
                    <a:solidFill>
                      <a:srgbClr val="233A70"/>
                    </a:solidFill>
                  </a:tcPr>
                </a:tc>
                <a:tc>
                  <a:txBody>
                    <a:bodyPr/>
                    <a:lstStyle/>
                    <a:p>
                      <a:pPr algn="ctr">
                        <a:buNone/>
                      </a:pPr>
                      <a:r>
                        <a:rPr sz="1425" b="1">
                          <a:solidFill>
                            <a:srgbClr val="FFFFFF"/>
                          </a:solidFill>
                        </a:rPr>
                        <a:t>FPR</a:t>
                      </a:r>
                    </a:p>
                  </a:txBody>
                  <a:tcPr anchor="ctr">
                    <a:solidFill>
                      <a:srgbClr val="233A70"/>
                    </a:solidFill>
                  </a:tcPr>
                </a:tc>
                <a:tc>
                  <a:txBody>
                    <a:bodyPr/>
                    <a:lstStyle/>
                    <a:p>
                      <a:pPr algn="ctr">
                        <a:buNone/>
                      </a:pPr>
                      <a:r>
                        <a:rPr sz="1425" b="1">
                          <a:solidFill>
                            <a:srgbClr val="FFFFFF"/>
                          </a:solidFill>
                        </a:rPr>
                        <a:t>OOD W-rate</a:t>
                      </a:r>
                    </a:p>
                  </a:txBody>
                  <a:tcPr anchor="ctr">
                    <a:solidFill>
                      <a:srgbClr val="233A70"/>
                    </a:solidFill>
                  </a:tcPr>
                </a:tc>
                <a:extLst>
                  <a:ext uri="{0D108BD9-81ED-4DB2-BD59-A6C34878D82A}">
                    <a16:rowId xmlns:a16="http://schemas.microsoft.com/office/drawing/2014/main" val="10000"/>
                  </a:ext>
                </a:extLst>
              </a:tr>
              <a:tr h="533400">
                <a:tc>
                  <a:txBody>
                    <a:bodyPr/>
                    <a:lstStyle/>
                    <a:p>
                      <a:pPr algn="l">
                        <a:buNone/>
                      </a:pPr>
                      <a:r>
                        <a:rPr sz="1425" b="1">
                          <a:solidFill>
                            <a:srgbClr val="172033"/>
                          </a:solidFill>
                        </a:rPr>
                        <a:t>Magnet.AI</a:t>
                      </a:r>
                    </a:p>
                  </a:txBody>
                  <a:tcPr anchor="ctr">
                    <a:solidFill>
                      <a:srgbClr val="FFFFFF"/>
                    </a:solidFill>
                  </a:tcPr>
                </a:tc>
                <a:tc>
                  <a:txBody>
                    <a:bodyPr/>
                    <a:lstStyle/>
                    <a:p>
                      <a:pPr algn="ctr">
                        <a:buNone/>
                      </a:pPr>
                      <a:r>
                        <a:rPr sz="1425" b="0">
                          <a:solidFill>
                            <a:srgbClr val="172033"/>
                          </a:solidFill>
                        </a:rPr>
                        <a:t>95.0%</a:t>
                      </a:r>
                    </a:p>
                  </a:txBody>
                  <a:tcPr anchor="ctr">
                    <a:solidFill>
                      <a:srgbClr val="FFFFFF"/>
                    </a:solidFill>
                  </a:tcPr>
                </a:tc>
                <a:tc>
                  <a:txBody>
                    <a:bodyPr/>
                    <a:lstStyle/>
                    <a:p>
                      <a:pPr algn="ctr">
                        <a:buNone/>
                      </a:pPr>
                      <a:r>
                        <a:rPr sz="1425" b="0">
                          <a:solidFill>
                            <a:srgbClr val="172033"/>
                          </a:solidFill>
                        </a:rPr>
                        <a:t>93.0%</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3.0%</a:t>
                      </a:r>
                    </a:p>
                  </a:txBody>
                  <a:tcPr anchor="ctr">
                    <a:solidFill>
                      <a:srgbClr val="FFFFFF"/>
                    </a:solidFill>
                  </a:tcPr>
                </a:tc>
                <a:tc>
                  <a:txBody>
                    <a:bodyPr/>
                    <a:lstStyle/>
                    <a:p>
                      <a:pPr algn="ctr">
                        <a:buNone/>
                      </a:pPr>
                      <a:r>
                        <a:rPr sz="1425" b="0">
                          <a:solidFill>
                            <a:srgbClr val="172033"/>
                          </a:solidFill>
                        </a:rPr>
                        <a:t>36.0%</a:t>
                      </a:r>
                    </a:p>
                  </a:txBody>
                  <a:tcPr anchor="ctr">
                    <a:solidFill>
                      <a:srgbClr val="FFFFFF"/>
                    </a:solidFill>
                  </a:tcPr>
                </a:tc>
                <a:extLst>
                  <a:ext uri="{0D108BD9-81ED-4DB2-BD59-A6C34878D82A}">
                    <a16:rowId xmlns:a16="http://schemas.microsoft.com/office/drawing/2014/main" val="10001"/>
                  </a:ext>
                </a:extLst>
              </a:tr>
              <a:tr h="533400">
                <a:tc>
                  <a:txBody>
                    <a:bodyPr/>
                    <a:lstStyle/>
                    <a:p>
                      <a:pPr algn="l">
                        <a:buNone/>
                      </a:pPr>
                      <a:r>
                        <a:rPr sz="1425" b="1">
                          <a:solidFill>
                            <a:srgbClr val="172033"/>
                          </a:solidFill>
                        </a:rPr>
                        <a:t>Excire D20</a:t>
                      </a:r>
                    </a:p>
                  </a:txBody>
                  <a:tcPr anchor="ctr">
                    <a:solidFill>
                      <a:srgbClr val="E9EEF8"/>
                    </a:solidFill>
                  </a:tcPr>
                </a:tc>
                <a:tc>
                  <a:txBody>
                    <a:bodyPr/>
                    <a:lstStyle/>
                    <a:p>
                      <a:pPr algn="ctr">
                        <a:buNone/>
                      </a:pPr>
                      <a:r>
                        <a:rPr sz="1425" b="0">
                          <a:solidFill>
                            <a:srgbClr val="172033"/>
                          </a:solidFill>
                        </a:rPr>
                        <a:t>92.7%</a:t>
                      </a:r>
                    </a:p>
                  </a:txBody>
                  <a:tcPr anchor="ctr">
                    <a:solidFill>
                      <a:srgbClr val="E9EEF8"/>
                    </a:solidFill>
                  </a:tcPr>
                </a:tc>
                <a:tc>
                  <a:txBody>
                    <a:bodyPr/>
                    <a:lstStyle/>
                    <a:p>
                      <a:pPr algn="ctr">
                        <a:buNone/>
                      </a:pPr>
                      <a:r>
                        <a:rPr sz="1425" b="0">
                          <a:solidFill>
                            <a:srgbClr val="172033"/>
                          </a:solidFill>
                        </a:rPr>
                        <a:t>88.0%</a:t>
                      </a:r>
                    </a:p>
                  </a:txBody>
                  <a:tcPr anchor="ctr">
                    <a:solidFill>
                      <a:srgbClr val="E9EEF8"/>
                    </a:solidFill>
                  </a:tcPr>
                </a:tc>
                <a:tc>
                  <a:txBody>
                    <a:bodyPr/>
                    <a:lstStyle/>
                    <a:p>
                      <a:pPr algn="ctr">
                        <a:buNone/>
                      </a:pPr>
                      <a:r>
                        <a:rPr sz="1425" b="0">
                          <a:solidFill>
                            <a:srgbClr val="172033"/>
                          </a:solidFill>
                        </a:rPr>
                        <a:t>12.0%</a:t>
                      </a:r>
                    </a:p>
                  </a:txBody>
                  <a:tcPr anchor="ctr">
                    <a:solidFill>
                      <a:srgbClr val="E9EEF8"/>
                    </a:solidFill>
                  </a:tcPr>
                </a:tc>
                <a:tc>
                  <a:txBody>
                    <a:bodyPr/>
                    <a:lstStyle/>
                    <a:p>
                      <a:pPr algn="ctr">
                        <a:buNone/>
                      </a:pPr>
                      <a:r>
                        <a:rPr sz="1425" b="0">
                          <a:solidFill>
                            <a:srgbClr val="172033"/>
                          </a:solidFill>
                        </a:rPr>
                        <a:t>2.6%</a:t>
                      </a:r>
                    </a:p>
                  </a:txBody>
                  <a:tcPr anchor="ctr">
                    <a:solidFill>
                      <a:srgbClr val="E9EEF8"/>
                    </a:solidFill>
                  </a:tcPr>
                </a:tc>
                <a:tc>
                  <a:txBody>
                    <a:bodyPr/>
                    <a:lstStyle/>
                    <a:p>
                      <a:pPr algn="ctr">
                        <a:buNone/>
                      </a:pPr>
                      <a:r>
                        <a:rPr sz="1425" b="0">
                          <a:solidFill>
                            <a:srgbClr val="172033"/>
                          </a:solidFill>
                        </a:rPr>
                        <a:t>23.8%</a:t>
                      </a:r>
                    </a:p>
                  </a:txBody>
                  <a:tcPr anchor="ctr">
                    <a:solidFill>
                      <a:srgbClr val="E9EEF8"/>
                    </a:solidFill>
                  </a:tcPr>
                </a:tc>
                <a:extLst>
                  <a:ext uri="{0D108BD9-81ED-4DB2-BD59-A6C34878D82A}">
                    <a16:rowId xmlns:a16="http://schemas.microsoft.com/office/drawing/2014/main" val="10002"/>
                  </a:ext>
                </a:extLst>
              </a:tr>
              <a:tr h="533400">
                <a:tc>
                  <a:txBody>
                    <a:bodyPr/>
                    <a:lstStyle/>
                    <a:p>
                      <a:pPr algn="l">
                        <a:buNone/>
                      </a:pPr>
                      <a:r>
                        <a:rPr sz="1425" b="1">
                          <a:solidFill>
                            <a:srgbClr val="172033"/>
                          </a:solidFill>
                        </a:rPr>
                        <a:t>Excire D50</a:t>
                      </a:r>
                    </a:p>
                  </a:txBody>
                  <a:tcPr anchor="ctr">
                    <a:solidFill>
                      <a:srgbClr val="FFFFFF"/>
                    </a:solidFill>
                  </a:tcPr>
                </a:tc>
                <a:tc>
                  <a:txBody>
                    <a:bodyPr/>
                    <a:lstStyle/>
                    <a:p>
                      <a:pPr algn="ctr">
                        <a:buNone/>
                      </a:pPr>
                      <a:r>
                        <a:rPr sz="1425" b="0">
                          <a:solidFill>
                            <a:srgbClr val="172033"/>
                          </a:solidFill>
                        </a:rPr>
                        <a:t>94.4%</a:t>
                      </a:r>
                    </a:p>
                  </a:txBody>
                  <a:tcPr anchor="ctr">
                    <a:solidFill>
                      <a:srgbClr val="FFFFFF"/>
                    </a:solidFill>
                  </a:tcPr>
                </a:tc>
                <a:tc>
                  <a:txBody>
                    <a:bodyPr/>
                    <a:lstStyle/>
                    <a:p>
                      <a:pPr algn="ctr">
                        <a:buNone/>
                      </a:pPr>
                      <a:r>
                        <a:rPr sz="1425" b="0">
                          <a:solidFill>
                            <a:srgbClr val="172033"/>
                          </a:solidFill>
                        </a:rPr>
                        <a:t>95.8%</a:t>
                      </a:r>
                    </a:p>
                  </a:txBody>
                  <a:tcPr anchor="ctr">
                    <a:solidFill>
                      <a:srgbClr val="FFFFFF"/>
                    </a:solidFill>
                  </a:tcPr>
                </a:tc>
                <a:tc>
                  <a:txBody>
                    <a:bodyPr/>
                    <a:lstStyle/>
                    <a:p>
                      <a:pPr algn="ctr">
                        <a:buNone/>
                      </a:pPr>
                      <a:r>
                        <a:rPr sz="1425" b="0">
                          <a:solidFill>
                            <a:srgbClr val="172033"/>
                          </a:solidFill>
                        </a:rPr>
                        <a:t>4.2%</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34.0%</a:t>
                      </a:r>
                    </a:p>
                  </a:txBody>
                  <a:tcPr anchor="ctr">
                    <a:solidFill>
                      <a:srgbClr val="FFFFFF"/>
                    </a:solidFill>
                  </a:tcPr>
                </a:tc>
                <a:extLst>
                  <a:ext uri="{0D108BD9-81ED-4DB2-BD59-A6C34878D82A}">
                    <a16:rowId xmlns:a16="http://schemas.microsoft.com/office/drawing/2014/main" val="10003"/>
                  </a:ext>
                </a:extLst>
              </a:tr>
              <a:tr h="533400">
                <a:tc>
                  <a:txBody>
                    <a:bodyPr/>
                    <a:lstStyle/>
                    <a:p>
                      <a:pPr algn="l">
                        <a:buNone/>
                      </a:pPr>
                      <a:r>
                        <a:rPr sz="1425" b="1">
                          <a:solidFill>
                            <a:srgbClr val="172033"/>
                          </a:solidFill>
                        </a:rPr>
                        <a:t>Excire D80</a:t>
                      </a:r>
                    </a:p>
                  </a:txBody>
                  <a:tcPr anchor="ctr">
                    <a:solidFill>
                      <a:srgbClr val="E9EEF8"/>
                    </a:solidFill>
                  </a:tcPr>
                </a:tc>
                <a:tc>
                  <a:txBody>
                    <a:bodyPr/>
                    <a:lstStyle/>
                    <a:p>
                      <a:pPr algn="ctr">
                        <a:buNone/>
                      </a:pPr>
                      <a:r>
                        <a:rPr sz="1425" b="0">
                          <a:solidFill>
                            <a:srgbClr val="172033"/>
                          </a:solidFill>
                        </a:rPr>
                        <a:t>91.5%</a:t>
                      </a:r>
                    </a:p>
                  </a:txBody>
                  <a:tcPr anchor="ctr">
                    <a:solidFill>
                      <a:srgbClr val="E9EEF8"/>
                    </a:solidFill>
                  </a:tcPr>
                </a:tc>
                <a:tc>
                  <a:txBody>
                    <a:bodyPr/>
                    <a:lstStyle/>
                    <a:p>
                      <a:pPr algn="ctr">
                        <a:buNone/>
                      </a:pPr>
                      <a:r>
                        <a:rPr sz="1425" b="0">
                          <a:solidFill>
                            <a:srgbClr val="172033"/>
                          </a:solidFill>
                        </a:rPr>
                        <a:t>98.6%</a:t>
                      </a:r>
                    </a:p>
                  </a:txBody>
                  <a:tcPr anchor="ctr">
                    <a:solidFill>
                      <a:srgbClr val="E9EEF8"/>
                    </a:solidFill>
                  </a:tcPr>
                </a:tc>
                <a:tc>
                  <a:txBody>
                    <a:bodyPr/>
                    <a:lstStyle/>
                    <a:p>
                      <a:pPr algn="ctr">
                        <a:buNone/>
                      </a:pPr>
                      <a:r>
                        <a:rPr sz="1425" b="0">
                          <a:solidFill>
                            <a:srgbClr val="172033"/>
                          </a:solidFill>
                        </a:rPr>
                        <a:t>1.4%</a:t>
                      </a:r>
                    </a:p>
                  </a:txBody>
                  <a:tcPr anchor="ctr">
                    <a:solidFill>
                      <a:srgbClr val="E9EEF8"/>
                    </a:solidFill>
                  </a:tcPr>
                </a:tc>
                <a:tc>
                  <a:txBody>
                    <a:bodyPr/>
                    <a:lstStyle/>
                    <a:p>
                      <a:pPr algn="ctr">
                        <a:buNone/>
                      </a:pPr>
                      <a:r>
                        <a:rPr sz="1425" b="0">
                          <a:solidFill>
                            <a:srgbClr val="172033"/>
                          </a:solidFill>
                        </a:rPr>
                        <a:t>15.6%</a:t>
                      </a:r>
                    </a:p>
                  </a:txBody>
                  <a:tcPr anchor="ctr">
                    <a:solidFill>
                      <a:srgbClr val="E9EEF8"/>
                    </a:solidFill>
                  </a:tcPr>
                </a:tc>
                <a:tc>
                  <a:txBody>
                    <a:bodyPr/>
                    <a:lstStyle/>
                    <a:p>
                      <a:pPr algn="ctr">
                        <a:buNone/>
                      </a:pPr>
                      <a:r>
                        <a:rPr sz="1425" b="0">
                          <a:solidFill>
                            <a:srgbClr val="172033"/>
                          </a:solidFill>
                        </a:rPr>
                        <a:t>52.2%</a:t>
                      </a:r>
                    </a:p>
                  </a:txBody>
                  <a:tcPr anchor="ctr">
                    <a:solidFill>
                      <a:srgbClr val="E9EEF8"/>
                    </a:solidFill>
                  </a:tcPr>
                </a:tc>
                <a:extLst>
                  <a:ext uri="{0D108BD9-81ED-4DB2-BD59-A6C34878D82A}">
                    <a16:rowId xmlns:a16="http://schemas.microsoft.com/office/drawing/2014/main" val="10004"/>
                  </a:ext>
                </a:extLst>
              </a:tr>
              <a:tr h="533400">
                <a:tc>
                  <a:txBody>
                    <a:bodyPr/>
                    <a:lstStyle/>
                    <a:p>
                      <a:pPr algn="l">
                        <a:buNone/>
                      </a:pPr>
                      <a:r>
                        <a:rPr sz="1425" b="1">
                          <a:solidFill>
                            <a:srgbClr val="172033"/>
                          </a:solidFill>
                        </a:rPr>
                        <a:t>Cellebrite Inseyets</a:t>
                      </a:r>
                    </a:p>
                  </a:txBody>
                  <a:tcPr anchor="ctr">
                    <a:solidFill>
                      <a:srgbClr val="FFFFFF"/>
                    </a:solidFill>
                  </a:tcPr>
                </a:tc>
                <a:tc>
                  <a:txBody>
                    <a:bodyPr/>
                    <a:lstStyle/>
                    <a:p>
                      <a:pPr algn="ctr">
                        <a:buNone/>
                      </a:pPr>
                      <a:r>
                        <a:rPr sz="1425" b="0">
                          <a:solidFill>
                            <a:srgbClr val="172033"/>
                          </a:solidFill>
                        </a:rPr>
                        <a:t>96.4%</a:t>
                      </a:r>
                    </a:p>
                  </a:txBody>
                  <a:tcPr anchor="ctr">
                    <a:solidFill>
                      <a:srgbClr val="FFFFFF"/>
                    </a:solidFill>
                  </a:tcPr>
                </a:tc>
                <a:tc>
                  <a:txBody>
                    <a:bodyPr/>
                    <a:lstStyle/>
                    <a:p>
                      <a:pPr algn="ctr">
                        <a:buNone/>
                      </a:pPr>
                      <a:r>
                        <a:rPr sz="1425" b="0">
                          <a:solidFill>
                            <a:srgbClr val="172033"/>
                          </a:solidFill>
                        </a:rPr>
                        <a:t>96.8%</a:t>
                      </a:r>
                    </a:p>
                  </a:txBody>
                  <a:tcPr anchor="ctr">
                    <a:solidFill>
                      <a:srgbClr val="FFFFFF"/>
                    </a:solidFill>
                  </a:tcPr>
                </a:tc>
                <a:tc>
                  <a:txBody>
                    <a:bodyPr/>
                    <a:lstStyle/>
                    <a:p>
                      <a:pPr algn="ctr">
                        <a:buNone/>
                      </a:pPr>
                      <a:r>
                        <a:rPr sz="1425" b="0">
                          <a:solidFill>
                            <a:srgbClr val="172033"/>
                          </a:solidFill>
                        </a:rPr>
                        <a:t>3.2%</a:t>
                      </a:r>
                    </a:p>
                  </a:txBody>
                  <a:tcPr anchor="ctr">
                    <a:solidFill>
                      <a:srgbClr val="FFFFFF"/>
                    </a:solidFill>
                  </a:tcPr>
                </a:tc>
                <a:tc>
                  <a:txBody>
                    <a:bodyPr/>
                    <a:lstStyle/>
                    <a:p>
                      <a:pPr algn="ctr">
                        <a:buNone/>
                      </a:pPr>
                      <a:r>
                        <a:rPr sz="1425" b="0">
                          <a:solidFill>
                            <a:srgbClr val="172033"/>
                          </a:solidFill>
                        </a:rPr>
                        <a:t>4.0%</a:t>
                      </a:r>
                    </a:p>
                  </a:txBody>
                  <a:tcPr anchor="ctr">
                    <a:solidFill>
                      <a:srgbClr val="FFFFFF"/>
                    </a:solidFill>
                  </a:tcPr>
                </a:tc>
                <a:tc>
                  <a:txBody>
                    <a:bodyPr/>
                    <a:lstStyle/>
                    <a:p>
                      <a:pPr algn="ctr">
                        <a:buNone/>
                      </a:pPr>
                      <a:r>
                        <a:rPr sz="1425" b="0">
                          <a:solidFill>
                            <a:srgbClr val="172033"/>
                          </a:solidFill>
                        </a:rPr>
                        <a:t>29.2%</a:t>
                      </a:r>
                    </a:p>
                  </a:txBody>
                  <a:tcPr anchor="ctr">
                    <a:solidFill>
                      <a:srgbClr val="FFFFFF"/>
                    </a:solidFill>
                  </a:tcPr>
                </a:tc>
                <a:extLst>
                  <a:ext uri="{0D108BD9-81ED-4DB2-BD59-A6C34878D82A}">
                    <a16:rowId xmlns:a16="http://schemas.microsoft.com/office/drawing/2014/main" val="10005"/>
                  </a:ext>
                </a:extLst>
              </a:tr>
              <a:tr h="533400">
                <a:tc>
                  <a:txBody>
                    <a:bodyPr/>
                    <a:lstStyle/>
                    <a:p>
                      <a:pPr algn="l">
                        <a:buNone/>
                      </a:pPr>
                      <a:r>
                        <a:rPr sz="1425" b="1">
                          <a:solidFill>
                            <a:srgbClr val="172033"/>
                          </a:solidFill>
                        </a:rPr>
                        <a:t>Griffeye / T3K</a:t>
                      </a:r>
                    </a:p>
                  </a:txBody>
                  <a:tcPr anchor="ctr">
                    <a:solidFill>
                      <a:srgbClr val="E9EEF8"/>
                    </a:solidFill>
                  </a:tcPr>
                </a:tc>
                <a:tc>
                  <a:txBody>
                    <a:bodyPr/>
                    <a:lstStyle/>
                    <a:p>
                      <a:pPr algn="ctr">
                        <a:buNone/>
                      </a:pPr>
                      <a:r>
                        <a:rPr sz="1425" b="0">
                          <a:solidFill>
                            <a:srgbClr val="172033"/>
                          </a:solidFill>
                        </a:rPr>
                        <a:t>97.8%</a:t>
                      </a:r>
                    </a:p>
                  </a:txBody>
                  <a:tcPr anchor="ctr">
                    <a:solidFill>
                      <a:srgbClr val="E9EEF8"/>
                    </a:solidFill>
                  </a:tcPr>
                </a:tc>
                <a:tc>
                  <a:txBody>
                    <a:bodyPr/>
                    <a:lstStyle/>
                    <a:p>
                      <a:pPr algn="ctr">
                        <a:buNone/>
                      </a:pPr>
                      <a:r>
                        <a:rPr sz="1425" b="0">
                          <a:solidFill>
                            <a:srgbClr val="172033"/>
                          </a:solidFill>
                        </a:rPr>
                        <a:t>96.4%</a:t>
                      </a:r>
                    </a:p>
                  </a:txBody>
                  <a:tcPr anchor="ctr">
                    <a:solidFill>
                      <a:srgbClr val="E9EEF8"/>
                    </a:solidFill>
                  </a:tcPr>
                </a:tc>
                <a:tc>
                  <a:txBody>
                    <a:bodyPr/>
                    <a:lstStyle/>
                    <a:p>
                      <a:pPr algn="ctr">
                        <a:buNone/>
                      </a:pPr>
                      <a:r>
                        <a:rPr sz="1425" b="0">
                          <a:solidFill>
                            <a:srgbClr val="172033"/>
                          </a:solidFill>
                        </a:rPr>
                        <a:t>3.6%</a:t>
                      </a:r>
                    </a:p>
                  </a:txBody>
                  <a:tcPr anchor="ctr">
                    <a:solidFill>
                      <a:srgbClr val="E9EEF8"/>
                    </a:solidFill>
                  </a:tcPr>
                </a:tc>
                <a:tc>
                  <a:txBody>
                    <a:bodyPr/>
                    <a:lstStyle/>
                    <a:p>
                      <a:pPr algn="ctr">
                        <a:buNone/>
                      </a:pPr>
                      <a:r>
                        <a:rPr sz="1425" b="0">
                          <a:solidFill>
                            <a:srgbClr val="172033"/>
                          </a:solidFill>
                        </a:rPr>
                        <a:t>0.8%</a:t>
                      </a:r>
                    </a:p>
                  </a:txBody>
                  <a:tcPr anchor="ctr">
                    <a:solidFill>
                      <a:srgbClr val="E9EEF8"/>
                    </a:solidFill>
                  </a:tcPr>
                </a:tc>
                <a:tc>
                  <a:txBody>
                    <a:bodyPr/>
                    <a:lstStyle/>
                    <a:p>
                      <a:pPr algn="ctr">
                        <a:buNone/>
                      </a:pPr>
                      <a:r>
                        <a:rPr sz="1425" b="0">
                          <a:solidFill>
                            <a:srgbClr val="172033"/>
                          </a:solidFill>
                        </a:rPr>
                        <a:t>26.0%</a:t>
                      </a:r>
                    </a:p>
                  </a:txBody>
                  <a:tcPr anchor="ctr">
                    <a:solidFill>
                      <a:srgbClr val="E9EEF8"/>
                    </a:solidFill>
                  </a:tcPr>
                </a:tc>
                <a:extLst>
                  <a:ext uri="{0D108BD9-81ED-4DB2-BD59-A6C34878D82A}">
                    <a16:rowId xmlns:a16="http://schemas.microsoft.com/office/drawing/2014/main" val="10006"/>
                  </a:ext>
                </a:extLst>
              </a:tr>
            </a:tbl>
          </a:graphicData>
        </a:graphic>
      </p:graphicFrame>
      <p:sp>
        <p:nvSpPr>
          <p:cNvPr id="7" name="Rettangolo con angoli arrotondati 6">
            <a:extLst>
              <a:ext uri="{FF2B5EF4-FFF2-40B4-BE49-F238E27FC236}">
                <a16:creationId xmlns:a16="http://schemas.microsoft.com/office/drawing/2014/main" id="{D32727B6-06C1-49D9-947E-5CF838C2A296}"/>
              </a:ext>
            </a:extLst>
          </p:cNvPr>
          <p:cNvSpPr>
            <a:spLocks noGrp="1"/>
          </p:cNvSpPr>
          <p:nvPr/>
        </p:nvSpPr>
        <p:spPr>
          <a:xfrm>
            <a:off x="1123950" y="5505450"/>
            <a:ext cx="9944100" cy="609600"/>
          </a:xfrm>
          <a:prstGeom prst="roundRect">
            <a:avLst>
              <a:gd name="adj" fmla="val 21875"/>
            </a:avLst>
          </a:prstGeom>
          <a:solidFill>
            <a:srgbClr val="FFF4CD"/>
          </a:solidFill>
          <a:ln w="0">
            <a:noFill/>
            <a:prstDash val="solid"/>
          </a:ln>
        </p:spPr>
        <p:txBody>
          <a:bodyPr/>
          <a:lstStyle/>
          <a:p>
            <a:endParaRPr/>
          </a:p>
        </p:txBody>
      </p:sp>
      <p:sp>
        <p:nvSpPr>
          <p:cNvPr id="8" name="Rettangolo 7">
            <a:extLst>
              <a:ext uri="{FF2B5EF4-FFF2-40B4-BE49-F238E27FC236}">
                <a16:creationId xmlns:a16="http://schemas.microsoft.com/office/drawing/2014/main" id="{075FA7FD-80D1-4D89-BDEE-5525A60E4810}"/>
              </a:ext>
            </a:extLst>
          </p:cNvPr>
          <p:cNvSpPr>
            <a:spLocks noGrp="1"/>
          </p:cNvSpPr>
          <p:nvPr/>
        </p:nvSpPr>
        <p:spPr>
          <a:xfrm>
            <a:off x="1428750" y="5676900"/>
            <a:ext cx="933450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Interpret the rows as frozen operating profiles; the metrics do not establish a universal product ranking.</a:t>
            </a:r>
          </a:p>
        </p:txBody>
      </p:sp>
    </p:spTree>
    <p:extLst>
      <p:ext uri="{BB962C8B-B14F-4D97-AF65-F5344CB8AC3E}">
        <p14:creationId xmlns:p14="http://schemas.microsoft.com/office/powerpoint/2010/main" val="1255541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Adversarial settings were frozen before evaluation</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B5</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GRADIENT / SCORE-BASED</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 · ε = 8/255 · untargeted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fold-aware white-box checkpoint</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 · one-pixel DE</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50 iters · pop. ≈100 · seed 42</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SPARSE / BOUNDARY-BASED</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 · 1,000 steps</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η₀ = 1.0 · σ = .001 · τ₀ = .3</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 · SDF(∞,1)</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20 outer · 50 inner · 1 projection</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Primary target: EfficientNet-B0 · PNG outputs</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R +12 / G 0 / B −12 · saturation 1.10 · JPEG quality 95</a:t>
            </a:r>
          </a:p>
        </p:txBody>
      </p:sp>
    </p:spTree>
    <p:extLst>
      <p:ext uri="{BB962C8B-B14F-4D97-AF65-F5344CB8AC3E}">
        <p14:creationId xmlns:p14="http://schemas.microsoft.com/office/powerpoint/2010/main" val="98046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Frozen anti-forensic settings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B6</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SPATIAL / COMPRESSION</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 q70 · dimensions unchanged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Resize · 50% down/up · bicubic</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 · radius 1.5</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TONAL</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 per-channel equalization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 autocontrast · 1% cutoff</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Other outputs · JPEG q95</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Model-agnostic · 1,000 source-linked artifacts per condition</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One frozen setting per condition</a:t>
            </a:r>
          </a:p>
        </p:txBody>
      </p:sp>
    </p:spTree>
    <p:extLst>
      <p:ext uri="{BB962C8B-B14F-4D97-AF65-F5344CB8AC3E}">
        <p14:creationId xmlns:p14="http://schemas.microsoft.com/office/powerpoint/2010/main" val="98046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How heterogeneous outputs became comparable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B7</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MAGNET</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476500" y="1466850"/>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‘Possible weapons’ tag → weapon</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GRIFFEYE</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476500" y="2466975"/>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T3K ‘CORE/Violence/Firearm’ bookmark → weapon</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EXCIRE</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476500" y="3467100"/>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Hit in ≥1 of eight firearm-prompt lists → weapon · D20 / D50 / D80 kept separate</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INSEYETS</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476500" y="4467225"/>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Cellebrite: ‘Armi’, ‘Pistola’ or ‘Fucile’ classification → weapon</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true → weapon · false → non_weapon · unsupported → unknown · 0 unknown in 69,000 decisions</a:t>
            </a:r>
          </a:p>
        </p:txBody>
      </p:sp>
    </p:spTree>
    <p:extLst>
      <p:ext uri="{BB962C8B-B14F-4D97-AF65-F5344CB8AC3E}">
        <p14:creationId xmlns:p14="http://schemas.microsoft.com/office/powerpoint/2010/main" val="1631516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Metric denominators keep comparisons honest</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B8</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ACC</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Correct decisions / evaluated binary outputs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FNR</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FN / (TP + FN) = 1 − recall · missed-target risk</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FPR</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FP / (FP + TN) · review-workload risk</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OOD</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Weapon assignments / OOD responses · reported separately</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Proxy OOD: 5 folds × 500 = 2,500 responses · commercial OOD: 500 decisions/configuration</a:t>
            </a:r>
          </a:p>
        </p:txBody>
      </p:sp>
    </p:spTree>
    <p:extLst>
      <p:ext uri="{BB962C8B-B14F-4D97-AF65-F5344CB8AC3E}">
        <p14:creationId xmlns:p14="http://schemas.microsoft.com/office/powerpoint/2010/main" val="1631516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Limitations define the next validation steps</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B9</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FUTURE VALIDATION</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next steps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across data, tools and time</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Generalizability must be tested</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not assumed from one frozen protocol.</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BOUNDARY → NEXT STEP</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467600" y="21336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larger, heterogeneous, multi-reviewer sets</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Conditions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467600" y="28194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parameter sweeps; adaptive attacks</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Tools</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467600" y="35052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repeat across versions; track drift</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Modalities</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467600" y="41910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extend beyond still images</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90500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Governance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467600" y="48768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stronger audit and review controls</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Expand the protocol without weakening traceability.</a:t>
            </a:r>
          </a:p>
        </p:txBody>
      </p:sp>
    </p:spTree>
    <p:extLst>
      <p:ext uri="{BB962C8B-B14F-4D97-AF65-F5344CB8AC3E}">
        <p14:creationId xmlns:p14="http://schemas.microsoft.com/office/powerpoint/2010/main" val="1308217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3868</Words>
  <Application>Microsoft Office PowerPoint</Application>
  <DocSecurity>0</DocSecurity>
  <PresentationFormat>Widescreen</PresentationFormat>
  <Paragraphs>471</Paragraphs>
  <Slides>24</Slides>
  <Notes>23</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24</vt:i4>
      </vt:variant>
    </vt:vector>
  </HeadingPairs>
  <TitlesOfParts>
    <vt:vector size="28" baseType="lpstr">
      <vt:lpstr>Arial</vt:lpstr>
      <vt:lpstr>Calibri</vt:lpstr>
      <vt:lpstr>Carlito</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Lello Molinario</cp:lastModifiedBy>
  <cp:revision>7</cp:revision>
  <dcterms:created xsi:type="dcterms:W3CDTF">2026-09-06T08:00:34Z</dcterms:created>
  <dcterms:modified xsi:type="dcterms:W3CDTF">2026-09-23T09:49:58Z</dcterms:modified>
</cp:coreProperties>
</file>