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0" d="100"/>
          <a:sy n="90" d="100"/>
        </p:scale>
        <p:origin x="86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690329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This thesis evaluates whether AI-assisted forensic image classification remains operationally reliable when visual evidence is manipulated. I will present a controlled evaluation of both proxy models and commercial black-box forensic tools under adversarial and anti-forensic conditions. The goal is operational robustness, not simply optimizing an attack in isolation.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classification is useful in forensic triage because analysts cannot manually inspect every file immediately. However, if the classification is wrong, relevant evidence may be missed, or irrelevant material may be prioritized ahead of what matters. This motivates studying robustness, not just clean accuracy.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not only whether a classifier achieves high clean accuracy. It is whether the tool remains dependable when the input distribution changes, or when images are deliberately or incidentally manipulated. Four stressor categories frame the thesis: adversarial perturbations, anti-forensic transformations, out-of-distribution inputs, and the operational constraint of working with black-box commercial tools.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scientific contribution is the framework itself: it allows heterogeneous systems, from inspectable proxy models to opaque commercial tools, to be evaluated under the same protocol while preserving traceability from raw output to risk interpretation.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models allow controlled adversarial testing and full metric extraction, since we own the weights and gradients. Commercial tools represent realistic forensic environments but expose only their outputs, with limited internal visibility. The two tracks are complementary, not competing.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frozen at 1,500 images and never changes across experiments. It is important to stress that the OOD branch is never attacked — it exists to understand how tools behave when they encounter images outside the binary weapon / non-weapon task, not to test perturbation robustness.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normalization is critical. Commercial tools use different label vocabularies and confidence formats, so their raw outputs must be mapped conservatively — into true positive, false positive, false negative, true negative, or unknown — before any comparison with proxy models can be made.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clear distinction between the two families: adversarial attacks are model-oriented perturbations computed against a target model, while anti-forensic transformations are practical, model-agnostic manipulations that may occur during real evidence handling or deliberate evasion attempts.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forensic triage, false negatives on relevant images and high-confidence errors matter more than a single aggregate accuracy figure, because they directly affect what an analyst sees first and how much trust is placed in the automated label.</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EfficientNet-B0 is used as the primary proxy target for adversarial perturbations, while ResNet18 and the CLIP-based classifier provide complementary model behaviors and act as a cross-check against the primary target.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Black-box evaluation is realistic: forensic practitioners typically cannot inspect model internals. This is why traceability and conservative label mapping are essential — every output is preserved, including cases that cannot be confidently mapped, rather than being forced into a positive or negative outcome.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translates technical metrics into an operational interpretation. This matters for forensic use because AI-based tools support analysts, but should not be treated as infallible evidence evaluators — the risk framing is what makes the results actionable for practitioners.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findings use cautious phrasing deliberately. They are not universal conclusions but evidence observed under this controlled experimental setting, with this dataset, these tool versions, and this perturbation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limitations are expected in a forensic black-box evaluation and are not a weakness unique to this thesis. They motivate the need for periodic re-testing as tool versions change, and for transparent validation protocols across the field.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AI can support forensic analysts, but its outputs must be validated, traceable, and interpreted under known limitations. Thank you — I am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with formal metric definitions, for use if asked during Q&amp;A.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rationale for keeping the OOD branch unperturbed if asked in Q&amp;A.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why the thesis does not rely solely on commercial tools for the adversarial analysis.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1.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9.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33.png"/><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F3D"/>
        </a:solidFill>
        <a:effectLst/>
      </p:bgPr>
    </p:bg>
    <p:spTree>
      <p:nvGrpSpPr>
        <p:cNvPr id="1" name=""/>
        <p:cNvGrpSpPr/>
        <p:nvPr/>
      </p:nvGrpSpPr>
      <p:grpSpPr>
        <a:xfrm>
          <a:off x="0" y="0"/>
          <a:ext cx="0" cy="0"/>
          <a:chOff x="0" y="0"/>
          <a:chExt cx="0" cy="0"/>
        </a:xfrm>
      </p:grpSpPr>
      <p:sp>
        <p:nvSpPr>
          <p:cNvPr id="2" name="Shape 0"/>
          <p:cNvSpPr/>
          <p:nvPr/>
        </p:nvSpPr>
        <p:spPr>
          <a:xfrm>
            <a:off x="6492240" y="-1188720"/>
            <a:ext cx="4114800" cy="4114800"/>
          </a:xfrm>
          <a:prstGeom prst="ellipse">
            <a:avLst/>
          </a:prstGeom>
          <a:solidFill>
            <a:srgbClr val="13294F"/>
          </a:solidFill>
          <a:ln/>
        </p:spPr>
        <p:txBody>
          <a:bodyPr/>
          <a:lstStyle/>
          <a:p>
            <a:endParaRPr lang="it-IT"/>
          </a:p>
        </p:txBody>
      </p:sp>
      <p:sp>
        <p:nvSpPr>
          <p:cNvPr id="3" name="Shape 1"/>
          <p:cNvSpPr/>
          <p:nvPr/>
        </p:nvSpPr>
        <p:spPr>
          <a:xfrm>
            <a:off x="7772400" y="2743200"/>
            <a:ext cx="2743200" cy="2743200"/>
          </a:xfrm>
          <a:prstGeom prst="ellipse">
            <a:avLst/>
          </a:prstGeom>
          <a:solidFill>
            <a:srgbClr val="13294F"/>
          </a:solidFill>
          <a:ln/>
        </p:spPr>
        <p:txBody>
          <a:bodyPr/>
          <a:lstStyle/>
          <a:p>
            <a:endParaRPr lang="it-IT"/>
          </a:p>
        </p:txBody>
      </p:sp>
      <p:sp>
        <p:nvSpPr>
          <p:cNvPr id="6" name="Text 2"/>
          <p:cNvSpPr/>
          <p:nvPr/>
        </p:nvSpPr>
        <p:spPr>
          <a:xfrm>
            <a:off x="4981354" y="4701505"/>
            <a:ext cx="3578752" cy="320040"/>
          </a:xfrm>
          <a:prstGeom prst="rect">
            <a:avLst/>
          </a:prstGeom>
          <a:noFill/>
          <a:ln/>
        </p:spPr>
        <p:txBody>
          <a:bodyPr wrap="square" lIns="0" tIns="0" rIns="0" bIns="0" rtlCol="0" anchor="ctr"/>
          <a:lstStyle/>
          <a:p>
            <a:pPr marL="0" indent="0">
              <a:buNone/>
            </a:pPr>
            <a:r>
              <a:rPr lang="en-US" sz="1300" b="1" kern="0" spc="220" dirty="0">
                <a:solidFill>
                  <a:srgbClr val="0E8A8A"/>
                </a:solidFill>
                <a:latin typeface="Calibri" pitchFamily="34" charset="0"/>
                <a:ea typeface="Calibri" pitchFamily="34" charset="-122"/>
                <a:cs typeface="Calibri" pitchFamily="34" charset="-120"/>
              </a:rPr>
              <a:t>MASTER'S THESIS DEFENSE</a:t>
            </a:r>
            <a:endParaRPr lang="en-US" sz="1300" dirty="0"/>
          </a:p>
        </p:txBody>
      </p:sp>
      <p:sp>
        <p:nvSpPr>
          <p:cNvPr id="7" name="Text 3"/>
          <p:cNvSpPr/>
          <p:nvPr/>
        </p:nvSpPr>
        <p:spPr>
          <a:xfrm>
            <a:off x="685800" y="1575001"/>
            <a:ext cx="7772400" cy="1463040"/>
          </a:xfrm>
          <a:prstGeom prst="rect">
            <a:avLst/>
          </a:prstGeom>
          <a:noFill/>
          <a:ln/>
        </p:spPr>
        <p:txBody>
          <a:bodyPr wrap="square" lIns="0" tIns="0" rIns="0" bIns="0" rtlCol="0" anchor="ctr"/>
          <a:lstStyle/>
          <a:p>
            <a:pPr marL="0" indent="0" algn="ctr">
              <a:lnSpc>
                <a:spcPct val="112000"/>
              </a:lnSpc>
              <a:buNone/>
            </a:pPr>
            <a:r>
              <a:rPr lang="en-US" sz="3000" b="1" dirty="0">
                <a:solidFill>
                  <a:srgbClr val="FFFFFF"/>
                </a:solidFill>
                <a:latin typeface="Cambria" pitchFamily="34" charset="0"/>
                <a:ea typeface="Cambria" pitchFamily="34" charset="-122"/>
                <a:cs typeface="Cambria" pitchFamily="34" charset="-120"/>
              </a:rPr>
              <a:t>Evaluating the Robustness of AI-Based Forensic Tools</a:t>
            </a:r>
            <a:endParaRPr lang="en-US" sz="3000" dirty="0"/>
          </a:p>
          <a:p>
            <a:pPr marL="0" indent="0">
              <a:lnSpc>
                <a:spcPct val="112000"/>
              </a:lnSpc>
              <a:buNone/>
            </a:pPr>
            <a:r>
              <a:rPr lang="en-US" sz="3000" b="1" dirty="0">
                <a:solidFill>
                  <a:srgbClr val="FFFFFF"/>
                </a:solidFill>
                <a:latin typeface="Cambria" pitchFamily="34" charset="0"/>
                <a:ea typeface="Cambria" pitchFamily="34" charset="-122"/>
                <a:cs typeface="Cambria" pitchFamily="34" charset="-120"/>
              </a:rPr>
              <a:t>under Adversarial and Anti-Forensic Attacks</a:t>
            </a:r>
            <a:endParaRPr lang="en-US" sz="3000" dirty="0"/>
          </a:p>
        </p:txBody>
      </p:sp>
      <p:sp>
        <p:nvSpPr>
          <p:cNvPr id="8" name="Shape 4"/>
          <p:cNvSpPr/>
          <p:nvPr/>
        </p:nvSpPr>
        <p:spPr>
          <a:xfrm>
            <a:off x="722376" y="3310128"/>
            <a:ext cx="54864" cy="54864"/>
          </a:xfrm>
          <a:prstGeom prst="ellipse">
            <a:avLst/>
          </a:prstGeom>
          <a:solidFill>
            <a:srgbClr val="0E8A8A"/>
          </a:solidFill>
          <a:ln/>
        </p:spPr>
        <p:txBody>
          <a:bodyPr/>
          <a:lstStyle/>
          <a:p>
            <a:endParaRPr lang="it-IT"/>
          </a:p>
        </p:txBody>
      </p:sp>
      <p:sp>
        <p:nvSpPr>
          <p:cNvPr id="9" name="Text 5"/>
          <p:cNvSpPr/>
          <p:nvPr/>
        </p:nvSpPr>
        <p:spPr>
          <a:xfrm>
            <a:off x="-173310" y="441570"/>
            <a:ext cx="7680960" cy="685800"/>
          </a:xfrm>
          <a:prstGeom prst="rect">
            <a:avLst/>
          </a:prstGeom>
          <a:noFill/>
          <a:ln/>
        </p:spPr>
        <p:txBody>
          <a:bodyPr wrap="square" lIns="0" tIns="0" rIns="0" bIns="0" rtlCol="0" anchor="ctr"/>
          <a:lstStyle/>
          <a:p>
            <a:pPr marL="0" indent="0">
              <a:spcAft>
                <a:spcPts val="400"/>
              </a:spcAft>
              <a:buNone/>
            </a:pPr>
            <a:r>
              <a:rPr lang="en-US" sz="1400" dirty="0">
                <a:solidFill>
                  <a:schemeClr val="bg1"/>
                </a:solidFill>
                <a:latin typeface="Calibri" pitchFamily="34" charset="0"/>
                <a:ea typeface="Calibri" pitchFamily="34" charset="-122"/>
                <a:cs typeface="Calibri" pitchFamily="34" charset="-120"/>
              </a:rPr>
              <a:t>Master's Degree in Computer Engineering, Cybersecurity and Artificial Intelligence</a:t>
            </a:r>
            <a:endParaRPr lang="en-US" sz="1400" dirty="0">
              <a:solidFill>
                <a:schemeClr val="bg1"/>
              </a:solidFill>
            </a:endParaRPr>
          </a:p>
          <a:p>
            <a:r>
              <a:rPr lang="en-US" sz="1400" dirty="0" err="1">
                <a:solidFill>
                  <a:schemeClr val="bg1"/>
                </a:solidFill>
                <a:latin typeface="Calibri" pitchFamily="34" charset="0"/>
                <a:ea typeface="Calibri" pitchFamily="34" charset="-122"/>
                <a:cs typeface="Calibri" pitchFamily="34" charset="-120"/>
              </a:rPr>
              <a:t>UniversitY</a:t>
            </a:r>
            <a:endParaRPr lang="en-US" sz="1400" dirty="0">
              <a:solidFill>
                <a:schemeClr val="bg1"/>
              </a:solidFill>
              <a:latin typeface="Calibri" pitchFamily="34" charset="0"/>
              <a:ea typeface="Calibri" pitchFamily="34" charset="-122"/>
              <a:cs typeface="Calibri" pitchFamily="34" charset="-120"/>
            </a:endParaRPr>
          </a:p>
          <a:p>
            <a:r>
              <a:rPr lang="it-IT" dirty="0">
                <a:solidFill>
                  <a:schemeClr val="bg1"/>
                </a:solidFill>
              </a:rPr>
              <a:t>University of Cagliari</a:t>
            </a:r>
          </a:p>
          <a:p>
            <a:r>
              <a:rPr lang="it-IT" b="1" dirty="0">
                <a:solidFill>
                  <a:schemeClr val="bg1"/>
                </a:solidFill>
              </a:rPr>
              <a:t>Department of Engineering</a:t>
            </a:r>
          </a:p>
          <a:p>
            <a:r>
              <a:rPr lang="en-US" dirty="0">
                <a:solidFill>
                  <a:schemeClr val="bg1"/>
                </a:solidFill>
              </a:rPr>
              <a:t>Master’s Degree in “Computer Engineering,</a:t>
            </a:r>
          </a:p>
          <a:p>
            <a:r>
              <a:rPr lang="it-IT" dirty="0">
                <a:solidFill>
                  <a:schemeClr val="bg1"/>
                </a:solidFill>
              </a:rPr>
              <a:t>Cybersecurity and </a:t>
            </a:r>
            <a:r>
              <a:rPr lang="it-IT" dirty="0" err="1">
                <a:solidFill>
                  <a:schemeClr val="bg1"/>
                </a:solidFill>
              </a:rPr>
              <a:t>Artificial</a:t>
            </a:r>
            <a:r>
              <a:rPr lang="it-IT" dirty="0">
                <a:solidFill>
                  <a:schemeClr val="bg1"/>
                </a:solidFill>
              </a:rPr>
              <a:t> Intelligence”</a:t>
            </a:r>
            <a:r>
              <a:rPr lang="en-US" sz="1400" dirty="0">
                <a:solidFill>
                  <a:schemeClr val="bg1"/>
                </a:solidFill>
                <a:latin typeface="Calibri" pitchFamily="34" charset="0"/>
                <a:ea typeface="Calibri" pitchFamily="34" charset="-122"/>
                <a:cs typeface="Calibri" pitchFamily="34" charset="-120"/>
              </a:rPr>
              <a:t>y of Cagliari</a:t>
            </a:r>
            <a:endParaRPr lang="en-US" sz="1400" dirty="0">
              <a:solidFill>
                <a:schemeClr val="bg1"/>
              </a:solidFill>
            </a:endParaRPr>
          </a:p>
        </p:txBody>
      </p:sp>
      <p:sp>
        <p:nvSpPr>
          <p:cNvPr id="10" name="Text 6"/>
          <p:cNvSpPr/>
          <p:nvPr/>
        </p:nvSpPr>
        <p:spPr>
          <a:xfrm>
            <a:off x="388620" y="4367642"/>
            <a:ext cx="7680960" cy="640080"/>
          </a:xfrm>
          <a:prstGeom prst="rect">
            <a:avLst/>
          </a:prstGeom>
          <a:noFill/>
          <a:ln/>
        </p:spPr>
        <p:txBody>
          <a:bodyPr wrap="square" lIns="0" tIns="0" rIns="0" bIns="0" rtlCol="0" anchor="ctr"/>
          <a:lstStyle/>
          <a:p>
            <a:pPr marL="0" indent="0">
              <a:spcAft>
                <a:spcPts val="300"/>
              </a:spcAft>
              <a:buNone/>
            </a:pPr>
            <a:r>
              <a:rPr lang="en-US" sz="1400" dirty="0">
                <a:solidFill>
                  <a:srgbClr val="9FB1CC"/>
                </a:solidFill>
                <a:latin typeface="Calibri" pitchFamily="34" charset="0"/>
                <a:ea typeface="Calibri" pitchFamily="34" charset="-122"/>
                <a:cs typeface="Calibri" pitchFamily="34" charset="-120"/>
              </a:rPr>
              <a:t>Candidate: </a:t>
            </a:r>
            <a:r>
              <a:rPr lang="en-US" sz="1400" b="1" dirty="0">
                <a:solidFill>
                  <a:srgbClr val="FFFFFF"/>
                </a:solidFill>
                <a:latin typeface="Calibri" pitchFamily="34" charset="0"/>
                <a:ea typeface="Calibri" pitchFamily="34" charset="-122"/>
                <a:cs typeface="Calibri" pitchFamily="34" charset="-120"/>
              </a:rPr>
              <a:t>Lello Molinario</a:t>
            </a:r>
            <a:endParaRPr lang="en-US" sz="1400" dirty="0"/>
          </a:p>
          <a:p>
            <a:pPr marL="0" indent="0">
              <a:spcAft>
                <a:spcPts val="300"/>
              </a:spcAft>
              <a:buNone/>
            </a:pPr>
            <a:r>
              <a:rPr lang="en-US" sz="1400" dirty="0">
                <a:solidFill>
                  <a:srgbClr val="9FB1CC"/>
                </a:solidFill>
                <a:latin typeface="Calibri" pitchFamily="34" charset="0"/>
                <a:ea typeface="Calibri" pitchFamily="34" charset="-122"/>
                <a:cs typeface="Calibri" pitchFamily="34" charset="-120"/>
              </a:rPr>
              <a:t>Supervisor: </a:t>
            </a:r>
            <a:r>
              <a:rPr lang="en-US" sz="1400" b="1" dirty="0">
                <a:solidFill>
                  <a:srgbClr val="FFFFFF"/>
                </a:solidFill>
                <a:latin typeface="Calibri" pitchFamily="34" charset="0"/>
                <a:ea typeface="Calibri" pitchFamily="34" charset="-122"/>
                <a:cs typeface="Calibri" pitchFamily="34" charset="-120"/>
              </a:rPr>
              <a:t>Davide Maiorca</a:t>
            </a:r>
            <a:endParaRPr lang="en-US" sz="1400" dirty="0"/>
          </a:p>
        </p:txBody>
      </p:sp>
      <p:pic>
        <p:nvPicPr>
          <p:cNvPr id="12" name="Picture 11" descr="A black and white logo&#10;&#10;Description automatically generated">
            <a:extLst>
              <a:ext uri="{FF2B5EF4-FFF2-40B4-BE49-F238E27FC236}">
                <a16:creationId xmlns:a16="http://schemas.microsoft.com/office/drawing/2014/main" id="{E1799DCC-EFB2-57A2-5FF0-D01B7605240B}"/>
              </a:ext>
            </a:extLst>
          </p:cNvPr>
          <p:cNvPicPr>
            <a:picLocks noChangeAspect="1"/>
          </p:cNvPicPr>
          <p:nvPr/>
        </p:nvPicPr>
        <p:blipFill>
          <a:blip r:embed="rId3"/>
          <a:stretch>
            <a:fillRect/>
          </a:stretch>
        </p:blipFill>
        <p:spPr>
          <a:xfrm>
            <a:off x="3979446" y="276126"/>
            <a:ext cx="1185107" cy="118510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MOTIVATION</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AI in Digital Forensic Triage</a:t>
            </a:r>
            <a:endParaRPr lang="en-US" sz="2700" dirty="0"/>
          </a:p>
        </p:txBody>
      </p:sp>
      <p:sp>
        <p:nvSpPr>
          <p:cNvPr id="4" name="Text 2"/>
          <p:cNvSpPr/>
          <p:nvPr/>
        </p:nvSpPr>
        <p:spPr>
          <a:xfrm>
            <a:off x="502920" y="1371600"/>
            <a:ext cx="3977640" cy="2286000"/>
          </a:xfrm>
          <a:prstGeom prst="rect">
            <a:avLst/>
          </a:prstGeom>
          <a:noFill/>
          <a:ln/>
        </p:spPr>
        <p:txBody>
          <a:bodyPr wrap="square" rtlCol="0" anchor="t"/>
          <a:lstStyle/>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Modern investigations involve large volumes of image evidence.</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AI-assisted tools help analysts prioritize relevant material.</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Automated labels can influence forensic triage decisions.</a:t>
            </a:r>
            <a:endParaRPr lang="en-US" sz="1450" dirty="0"/>
          </a:p>
          <a:p>
            <a:pPr marL="342900" indent="-342900">
              <a:spcAft>
                <a:spcPts val="1000"/>
              </a:spcAft>
              <a:buSzPct val="100000"/>
              <a:buChar char="–"/>
            </a:pPr>
            <a:r>
              <a:rPr lang="en-US" sz="1450" dirty="0">
                <a:solidFill>
                  <a:srgbClr val="1C2B42"/>
                </a:solidFill>
                <a:latin typeface="Calibri" pitchFamily="34" charset="0"/>
                <a:ea typeface="Calibri" pitchFamily="34" charset="-122"/>
                <a:cs typeface="Calibri" pitchFamily="34" charset="-120"/>
              </a:rPr>
              <a:t>Reliability becomes critical when inputs are manipulated.</a:t>
            </a:r>
            <a:endParaRPr lang="en-US" sz="1450" dirty="0"/>
          </a:p>
        </p:txBody>
      </p:sp>
      <p:sp>
        <p:nvSpPr>
          <p:cNvPr id="5" name="Shape 3"/>
          <p:cNvSpPr/>
          <p:nvPr/>
        </p:nvSpPr>
        <p:spPr>
          <a:xfrm>
            <a:off x="502920" y="3703320"/>
            <a:ext cx="3977640" cy="868680"/>
          </a:xfrm>
          <a:prstGeom prst="roundRect">
            <a:avLst>
              <a:gd name="adj" fmla="val 9474"/>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6" name="Image 0" descr="preencoded.png"/>
          <p:cNvPicPr>
            <a:picLocks noChangeAspect="1"/>
          </p:cNvPicPr>
          <p:nvPr/>
        </p:nvPicPr>
        <p:blipFill>
          <a:blip r:embed="rId3"/>
          <a:stretch>
            <a:fillRect/>
          </a:stretch>
        </p:blipFill>
        <p:spPr>
          <a:xfrm>
            <a:off x="685800" y="3877056"/>
            <a:ext cx="384048" cy="384048"/>
          </a:xfrm>
          <a:prstGeom prst="rect">
            <a:avLst/>
          </a:prstGeom>
        </p:spPr>
      </p:pic>
      <p:sp>
        <p:nvSpPr>
          <p:cNvPr id="7" name="Text 4"/>
          <p:cNvSpPr/>
          <p:nvPr/>
        </p:nvSpPr>
        <p:spPr>
          <a:xfrm>
            <a:off x="1188720" y="3749040"/>
            <a:ext cx="3154680" cy="777240"/>
          </a:xfrm>
          <a:prstGeom prst="rect">
            <a:avLst/>
          </a:prstGeom>
          <a:noFill/>
          <a:ln/>
        </p:spPr>
        <p:txBody>
          <a:bodyPr wrap="square" lIns="0" tIns="0" rIns="0" bIns="0" rtlCol="0" anchor="ctr"/>
          <a:lstStyle/>
          <a:p>
            <a:pPr marL="0" indent="0">
              <a:buNone/>
            </a:pPr>
            <a:r>
              <a:rPr lang="en-US" sz="1250" i="1" dirty="0">
                <a:solidFill>
                  <a:srgbClr val="0A1F3D"/>
                </a:solidFill>
                <a:latin typeface="Calibri" pitchFamily="34" charset="0"/>
                <a:ea typeface="Calibri" pitchFamily="34" charset="-122"/>
                <a:cs typeface="Calibri" pitchFamily="34" charset="-120"/>
              </a:rPr>
              <a:t>AI can reduce analyst workload, but errors under manipulated inputs may create operational risk.</a:t>
            </a:r>
            <a:endParaRPr lang="en-US" sz="1250" dirty="0"/>
          </a:p>
        </p:txBody>
      </p:sp>
      <p:sp>
        <p:nvSpPr>
          <p:cNvPr id="8" name="Shape 5"/>
          <p:cNvSpPr/>
          <p:nvPr/>
        </p:nvSpPr>
        <p:spPr>
          <a:xfrm>
            <a:off x="4892040" y="1737360"/>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9" name="Image 1" descr="preencoded.png"/>
          <p:cNvPicPr>
            <a:picLocks noChangeAspect="1"/>
          </p:cNvPicPr>
          <p:nvPr/>
        </p:nvPicPr>
        <p:blipFill>
          <a:blip r:embed="rId4"/>
          <a:stretch>
            <a:fillRect/>
          </a:stretch>
        </p:blipFill>
        <p:spPr>
          <a:xfrm>
            <a:off x="5381244" y="1865376"/>
            <a:ext cx="438912" cy="438912"/>
          </a:xfrm>
          <a:prstGeom prst="rect">
            <a:avLst/>
          </a:prstGeom>
        </p:spPr>
      </p:pic>
      <p:sp>
        <p:nvSpPr>
          <p:cNvPr id="10" name="Text 6"/>
          <p:cNvSpPr/>
          <p:nvPr/>
        </p:nvSpPr>
        <p:spPr>
          <a:xfrm>
            <a:off x="4892040" y="2304288"/>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Digital</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Evidence</a:t>
            </a:r>
            <a:endParaRPr lang="en-US" sz="1050" dirty="0"/>
          </a:p>
        </p:txBody>
      </p:sp>
      <p:sp>
        <p:nvSpPr>
          <p:cNvPr id="11" name="Shape 7"/>
          <p:cNvSpPr/>
          <p:nvPr/>
        </p:nvSpPr>
        <p:spPr>
          <a:xfrm>
            <a:off x="6812280" y="1737360"/>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2" name="Image 2" descr="preencoded.png"/>
          <p:cNvPicPr>
            <a:picLocks noChangeAspect="1"/>
          </p:cNvPicPr>
          <p:nvPr/>
        </p:nvPicPr>
        <p:blipFill>
          <a:blip r:embed="rId5"/>
          <a:stretch>
            <a:fillRect/>
          </a:stretch>
        </p:blipFill>
        <p:spPr>
          <a:xfrm>
            <a:off x="7301484" y="1865376"/>
            <a:ext cx="438912" cy="438912"/>
          </a:xfrm>
          <a:prstGeom prst="rect">
            <a:avLst/>
          </a:prstGeom>
        </p:spPr>
      </p:pic>
      <p:sp>
        <p:nvSpPr>
          <p:cNvPr id="13" name="Text 8"/>
          <p:cNvSpPr/>
          <p:nvPr/>
        </p:nvSpPr>
        <p:spPr>
          <a:xfrm>
            <a:off x="6812280" y="2304288"/>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AI-Assisted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Classification</a:t>
            </a:r>
            <a:endParaRPr lang="en-US" sz="1050" dirty="0"/>
          </a:p>
        </p:txBody>
      </p:sp>
      <p:sp>
        <p:nvSpPr>
          <p:cNvPr id="14" name="Shape 9"/>
          <p:cNvSpPr/>
          <p:nvPr/>
        </p:nvSpPr>
        <p:spPr>
          <a:xfrm>
            <a:off x="8732520" y="1737360"/>
            <a:ext cx="1417320" cy="960120"/>
          </a:xfrm>
          <a:prstGeom prst="roundRect">
            <a:avLst>
              <a:gd name="adj" fmla="val 8571"/>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5" name="Image 3" descr="preencoded.png"/>
          <p:cNvPicPr>
            <a:picLocks noChangeAspect="1"/>
          </p:cNvPicPr>
          <p:nvPr/>
        </p:nvPicPr>
        <p:blipFill>
          <a:blip r:embed="rId6"/>
          <a:stretch>
            <a:fillRect/>
          </a:stretch>
        </p:blipFill>
        <p:spPr>
          <a:xfrm>
            <a:off x="9221724" y="1865376"/>
            <a:ext cx="438912" cy="438912"/>
          </a:xfrm>
          <a:prstGeom prst="rect">
            <a:avLst/>
          </a:prstGeom>
        </p:spPr>
      </p:pic>
      <p:sp>
        <p:nvSpPr>
          <p:cNvPr id="16" name="Text 10"/>
          <p:cNvSpPr/>
          <p:nvPr/>
        </p:nvSpPr>
        <p:spPr>
          <a:xfrm>
            <a:off x="8732520" y="2304288"/>
            <a:ext cx="1417320" cy="365760"/>
          </a:xfrm>
          <a:prstGeom prst="rect">
            <a:avLst/>
          </a:prstGeom>
          <a:noFill/>
          <a:ln/>
        </p:spPr>
        <p:txBody>
          <a:bodyPr wrap="square" lIns="0" tIns="0" rIns="0" bIns="0" rtlCol="0" anchor="ctr"/>
          <a:lstStyle/>
          <a:p>
            <a:pPr marL="0" indent="0" algn="ctr">
              <a:buNone/>
            </a:pPr>
            <a:r>
              <a:rPr lang="en-US" sz="1050" b="1" dirty="0">
                <a:solidFill>
                  <a:srgbClr val="1C2B42"/>
                </a:solidFill>
                <a:latin typeface="Calibri" pitchFamily="34" charset="0"/>
                <a:ea typeface="Calibri" pitchFamily="34" charset="-122"/>
                <a:cs typeface="Calibri" pitchFamily="34" charset="-120"/>
              </a:rPr>
              <a:t>Analyst</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Triage Decision</a:t>
            </a:r>
            <a:endParaRPr lang="en-US" sz="1050" dirty="0"/>
          </a:p>
        </p:txBody>
      </p:sp>
      <p:sp>
        <p:nvSpPr>
          <p:cNvPr id="17" name="Shape 11"/>
          <p:cNvSpPr/>
          <p:nvPr/>
        </p:nvSpPr>
        <p:spPr>
          <a:xfrm>
            <a:off x="6364224" y="2135124"/>
            <a:ext cx="393192" cy="164592"/>
          </a:xfrm>
          <a:prstGeom prst="rightArrow">
            <a:avLst/>
          </a:prstGeom>
          <a:solidFill>
            <a:srgbClr val="C6D2E3"/>
          </a:solidFill>
          <a:ln/>
        </p:spPr>
        <p:txBody>
          <a:bodyPr/>
          <a:lstStyle/>
          <a:p>
            <a:endParaRPr lang="it-IT"/>
          </a:p>
        </p:txBody>
      </p:sp>
      <p:sp>
        <p:nvSpPr>
          <p:cNvPr id="18" name="Shape 12"/>
          <p:cNvSpPr/>
          <p:nvPr/>
        </p:nvSpPr>
        <p:spPr>
          <a:xfrm>
            <a:off x="8284464" y="2135124"/>
            <a:ext cx="393192" cy="164592"/>
          </a:xfrm>
          <a:prstGeom prst="rightArrow">
            <a:avLst/>
          </a:prstGeom>
          <a:solidFill>
            <a:srgbClr val="C6D2E3"/>
          </a:solidFill>
          <a:ln/>
        </p:spPr>
        <p:txBody>
          <a:bodyPr/>
          <a:lstStyle/>
          <a:p>
            <a:endParaRPr lang="it-IT"/>
          </a:p>
        </p:txBody>
      </p:sp>
      <p:sp>
        <p:nvSpPr>
          <p:cNvPr id="19" name="Shape 13"/>
          <p:cNvSpPr/>
          <p:nvPr/>
        </p:nvSpPr>
        <p:spPr>
          <a:xfrm>
            <a:off x="8028432" y="1536192"/>
            <a:ext cx="402336" cy="402336"/>
          </a:xfrm>
          <a:prstGeom prst="ellipse">
            <a:avLst/>
          </a:prstGeom>
          <a:solidFill>
            <a:srgbClr val="E2692C"/>
          </a:solidFill>
          <a:ln w="19050">
            <a:solidFill>
              <a:srgbClr val="FFFFFF"/>
            </a:solidFill>
            <a:prstDash val="solid"/>
          </a:ln>
        </p:spPr>
        <p:txBody>
          <a:bodyPr/>
          <a:lstStyle/>
          <a:p>
            <a:endParaRPr lang="it-IT"/>
          </a:p>
        </p:txBody>
      </p:sp>
      <p:pic>
        <p:nvPicPr>
          <p:cNvPr id="20" name="Image 4" descr="preencoded.png"/>
          <p:cNvPicPr>
            <a:picLocks noChangeAspect="1"/>
          </p:cNvPicPr>
          <p:nvPr/>
        </p:nvPicPr>
        <p:blipFill>
          <a:blip r:embed="rId7"/>
          <a:stretch>
            <a:fillRect/>
          </a:stretch>
        </p:blipFill>
        <p:spPr>
          <a:xfrm>
            <a:off x="8110728" y="1618488"/>
            <a:ext cx="237744" cy="237744"/>
          </a:xfrm>
          <a:prstGeom prst="rect">
            <a:avLst/>
          </a:prstGeom>
        </p:spPr>
      </p:pic>
      <p:sp>
        <p:nvSpPr>
          <p:cNvPr id="21" name="Text 14"/>
          <p:cNvSpPr/>
          <p:nvPr/>
        </p:nvSpPr>
        <p:spPr>
          <a:xfrm>
            <a:off x="4892040" y="2953512"/>
            <a:ext cx="5257800" cy="274320"/>
          </a:xfrm>
          <a:prstGeom prst="rect">
            <a:avLst/>
          </a:prstGeom>
          <a:noFill/>
          <a:ln/>
        </p:spPr>
        <p:txBody>
          <a:bodyPr wrap="square" lIns="0" tIns="0" rIns="0" bIns="0" rtlCol="0" anchor="ctr"/>
          <a:lstStyle/>
          <a:p>
            <a:pPr marL="0" indent="0" algn="ctr">
              <a:buNone/>
            </a:pPr>
            <a:r>
              <a:rPr lang="en-US" sz="1050" i="1" dirty="0">
                <a:solidFill>
                  <a:srgbClr val="5C6B83"/>
                </a:solidFill>
                <a:latin typeface="Calibri" pitchFamily="34" charset="0"/>
                <a:ea typeface="Calibri" pitchFamily="34" charset="-122"/>
                <a:cs typeface="Calibri" pitchFamily="34" charset="-120"/>
              </a:rPr>
              <a:t>Where errors under manipulated inputs propagate downstream</a:t>
            </a:r>
            <a:endParaRPr lang="en-US" sz="1050" dirty="0"/>
          </a:p>
        </p:txBody>
      </p:sp>
      <p:sp>
        <p:nvSpPr>
          <p:cNvPr id="22" name="Text 1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3" name="Text 1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PROBLEM STATEMENT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When Visual Evidence Is Manipulated</a:t>
            </a:r>
            <a:endParaRPr lang="en-US" sz="2700" dirty="0"/>
          </a:p>
        </p:txBody>
      </p:sp>
      <p:sp>
        <p:nvSpPr>
          <p:cNvPr id="4" name="Shape 2"/>
          <p:cNvSpPr/>
          <p:nvPr/>
        </p:nvSpPr>
        <p:spPr>
          <a:xfrm>
            <a:off x="2788920" y="1417320"/>
            <a:ext cx="3566160" cy="960120"/>
          </a:xfrm>
          <a:prstGeom prst="roundRect">
            <a:avLst>
              <a:gd name="adj" fmla="val 8571"/>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2971800" y="1481328"/>
            <a:ext cx="3200400" cy="841248"/>
          </a:xfrm>
          <a:prstGeom prst="rect">
            <a:avLst/>
          </a:prstGeom>
          <a:noFill/>
          <a:ln/>
        </p:spPr>
        <p:txBody>
          <a:bodyPr wrap="square" lIns="0" tIns="0" rIns="0" bIns="0" rtlCol="0" anchor="ctr"/>
          <a:lstStyle/>
          <a:p>
            <a:pPr marL="0" indent="0" algn="ctr">
              <a:buNone/>
            </a:pPr>
            <a:r>
              <a:rPr lang="en-US" sz="1250" i="1" dirty="0">
                <a:solidFill>
                  <a:srgbClr val="FFFFFF"/>
                </a:solidFill>
                <a:latin typeface="Cambria" pitchFamily="34" charset="0"/>
                <a:ea typeface="Cambria" pitchFamily="34" charset="-122"/>
                <a:cs typeface="Cambria" pitchFamily="34" charset="-120"/>
              </a:rPr>
              <a:t>How robust are AI-assisted forensic image</a:t>
            </a:r>
            <a:endParaRPr lang="en-US" sz="1250" dirty="0"/>
          </a:p>
          <a:p>
            <a:pPr marL="0" indent="0" algn="ctr">
              <a:buNone/>
            </a:pPr>
            <a:r>
              <a:rPr lang="en-US" sz="1250" i="1" dirty="0">
                <a:solidFill>
                  <a:srgbClr val="FFFFFF"/>
                </a:solidFill>
                <a:latin typeface="Cambria" pitchFamily="34" charset="0"/>
                <a:ea typeface="Cambria" pitchFamily="34" charset="-122"/>
                <a:cs typeface="Cambria" pitchFamily="34" charset="-120"/>
              </a:rPr>
              <a:t>classification tools when visual inputs are</a:t>
            </a:r>
            <a:endParaRPr lang="en-US" sz="1250" dirty="0"/>
          </a:p>
          <a:p>
            <a:pPr marL="0" indent="0" algn="ctr">
              <a:buNone/>
            </a:pPr>
            <a:r>
              <a:rPr lang="en-US" sz="1250" i="1" dirty="0">
                <a:solidFill>
                  <a:srgbClr val="FFFFFF"/>
                </a:solidFill>
                <a:latin typeface="Cambria" pitchFamily="34" charset="0"/>
                <a:ea typeface="Cambria" pitchFamily="34" charset="-122"/>
                <a:cs typeface="Cambria" pitchFamily="34" charset="-120"/>
              </a:rPr>
              <a:t>intentionally or accidentally altered?</a:t>
            </a:r>
            <a:endParaRPr lang="en-US" sz="1250" dirty="0"/>
          </a:p>
        </p:txBody>
      </p:sp>
      <p:sp>
        <p:nvSpPr>
          <p:cNvPr id="6" name="Shape 4"/>
          <p:cNvSpPr/>
          <p:nvPr/>
        </p:nvSpPr>
        <p:spPr>
          <a:xfrm>
            <a:off x="338328"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7" name="Image 0" descr="preencoded.png"/>
          <p:cNvPicPr>
            <a:picLocks noChangeAspect="1"/>
          </p:cNvPicPr>
          <p:nvPr/>
        </p:nvPicPr>
        <p:blipFill>
          <a:blip r:embed="rId3"/>
          <a:stretch>
            <a:fillRect/>
          </a:stretch>
        </p:blipFill>
        <p:spPr>
          <a:xfrm>
            <a:off x="1101852" y="2953512"/>
            <a:ext cx="438912" cy="438912"/>
          </a:xfrm>
          <a:prstGeom prst="rect">
            <a:avLst/>
          </a:prstGeom>
        </p:spPr>
      </p:pic>
      <p:sp>
        <p:nvSpPr>
          <p:cNvPr id="8" name="Text 5"/>
          <p:cNvSpPr/>
          <p:nvPr/>
        </p:nvSpPr>
        <p:spPr>
          <a:xfrm>
            <a:off x="338328"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Adversarial</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Perturbations</a:t>
            </a:r>
            <a:endParaRPr lang="en-US" sz="1100" dirty="0"/>
          </a:p>
        </p:txBody>
      </p:sp>
      <p:sp>
        <p:nvSpPr>
          <p:cNvPr id="9" name="Shape 6"/>
          <p:cNvSpPr/>
          <p:nvPr/>
        </p:nvSpPr>
        <p:spPr>
          <a:xfrm>
            <a:off x="2505456"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0" name="Image 1" descr="preencoded.png"/>
          <p:cNvPicPr>
            <a:picLocks noChangeAspect="1"/>
          </p:cNvPicPr>
          <p:nvPr/>
        </p:nvPicPr>
        <p:blipFill>
          <a:blip r:embed="rId4"/>
          <a:stretch>
            <a:fillRect/>
          </a:stretch>
        </p:blipFill>
        <p:spPr>
          <a:xfrm>
            <a:off x="3268980" y="2953512"/>
            <a:ext cx="438912" cy="438912"/>
          </a:xfrm>
          <a:prstGeom prst="rect">
            <a:avLst/>
          </a:prstGeom>
        </p:spPr>
      </p:pic>
      <p:sp>
        <p:nvSpPr>
          <p:cNvPr id="11" name="Text 7"/>
          <p:cNvSpPr/>
          <p:nvPr/>
        </p:nvSpPr>
        <p:spPr>
          <a:xfrm>
            <a:off x="2505456"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Anti-Forensic</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Transformations</a:t>
            </a:r>
            <a:endParaRPr lang="en-US" sz="1100" dirty="0"/>
          </a:p>
        </p:txBody>
      </p:sp>
      <p:sp>
        <p:nvSpPr>
          <p:cNvPr id="12" name="Shape 8"/>
          <p:cNvSpPr/>
          <p:nvPr/>
        </p:nvSpPr>
        <p:spPr>
          <a:xfrm>
            <a:off x="4672584"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3" name="Image 2" descr="preencoded.png"/>
          <p:cNvPicPr>
            <a:picLocks noChangeAspect="1"/>
          </p:cNvPicPr>
          <p:nvPr/>
        </p:nvPicPr>
        <p:blipFill>
          <a:blip r:embed="rId5"/>
          <a:stretch>
            <a:fillRect/>
          </a:stretch>
        </p:blipFill>
        <p:spPr>
          <a:xfrm>
            <a:off x="5436108" y="2953512"/>
            <a:ext cx="438912" cy="438912"/>
          </a:xfrm>
          <a:prstGeom prst="rect">
            <a:avLst/>
          </a:prstGeom>
        </p:spPr>
      </p:pic>
      <p:sp>
        <p:nvSpPr>
          <p:cNvPr id="14" name="Text 9"/>
          <p:cNvSpPr/>
          <p:nvPr/>
        </p:nvSpPr>
        <p:spPr>
          <a:xfrm>
            <a:off x="4672584"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Out-of-Distribution</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Inputs</a:t>
            </a:r>
            <a:endParaRPr lang="en-US" sz="1100" dirty="0"/>
          </a:p>
        </p:txBody>
      </p:sp>
      <p:sp>
        <p:nvSpPr>
          <p:cNvPr id="15" name="Shape 10"/>
          <p:cNvSpPr/>
          <p:nvPr/>
        </p:nvSpPr>
        <p:spPr>
          <a:xfrm>
            <a:off x="6839712" y="2788920"/>
            <a:ext cx="1965960" cy="1234440"/>
          </a:xfrm>
          <a:prstGeom prst="roundRect">
            <a:avLst>
              <a:gd name="adj" fmla="val 666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6" name="Image 3" descr="preencoded.png"/>
          <p:cNvPicPr>
            <a:picLocks noChangeAspect="1"/>
          </p:cNvPicPr>
          <p:nvPr/>
        </p:nvPicPr>
        <p:blipFill>
          <a:blip r:embed="rId6"/>
          <a:stretch>
            <a:fillRect/>
          </a:stretch>
        </p:blipFill>
        <p:spPr>
          <a:xfrm>
            <a:off x="7603236" y="2953512"/>
            <a:ext cx="438912" cy="438912"/>
          </a:xfrm>
          <a:prstGeom prst="rect">
            <a:avLst/>
          </a:prstGeom>
        </p:spPr>
      </p:pic>
      <p:sp>
        <p:nvSpPr>
          <p:cNvPr id="17" name="Text 11"/>
          <p:cNvSpPr/>
          <p:nvPr/>
        </p:nvSpPr>
        <p:spPr>
          <a:xfrm>
            <a:off x="6839712" y="3447288"/>
            <a:ext cx="1965960" cy="502920"/>
          </a:xfrm>
          <a:prstGeom prst="rect">
            <a:avLst/>
          </a:prstGeom>
          <a:noFill/>
          <a:ln/>
        </p:spPr>
        <p:txBody>
          <a:bodyPr wrap="square" lIns="0" tIns="0" rIns="0" bIns="0" rtlCol="0" anchor="ctr"/>
          <a:lstStyle/>
          <a:p>
            <a:pPr marL="0" indent="0" algn="ctr">
              <a:buNone/>
            </a:pPr>
            <a:r>
              <a:rPr lang="en-US" sz="1100" b="1" dirty="0">
                <a:solidFill>
                  <a:srgbClr val="1C2B42"/>
                </a:solidFill>
                <a:latin typeface="Calibri" pitchFamily="34" charset="0"/>
                <a:ea typeface="Calibri" pitchFamily="34" charset="-122"/>
                <a:cs typeface="Calibri" pitchFamily="34" charset="-120"/>
              </a:rPr>
              <a:t>Black-Box</a:t>
            </a:r>
            <a:endParaRPr lang="en-US" sz="1100" dirty="0"/>
          </a:p>
          <a:p>
            <a:pPr marL="0" indent="0" algn="ctr">
              <a:buNone/>
            </a:pPr>
            <a:r>
              <a:rPr lang="en-US" sz="1100" b="1" dirty="0">
                <a:solidFill>
                  <a:srgbClr val="1C2B42"/>
                </a:solidFill>
                <a:latin typeface="Calibri" pitchFamily="34" charset="0"/>
                <a:ea typeface="Calibri" pitchFamily="34" charset="-122"/>
                <a:cs typeface="Calibri" pitchFamily="34" charset="-120"/>
              </a:rPr>
              <a:t>Operational Constraints</a:t>
            </a:r>
            <a:endParaRPr lang="en-US" sz="1100" dirty="0"/>
          </a:p>
        </p:txBody>
      </p:sp>
      <p:sp>
        <p:nvSpPr>
          <p:cNvPr id="18" name="Shape 12"/>
          <p:cNvSpPr/>
          <p:nvPr/>
        </p:nvSpPr>
        <p:spPr>
          <a:xfrm>
            <a:off x="4572000" y="2377440"/>
            <a:ext cx="0" cy="384048"/>
          </a:xfrm>
          <a:prstGeom prst="line">
            <a:avLst/>
          </a:prstGeom>
          <a:noFill/>
          <a:ln w="15875">
            <a:solidFill>
              <a:srgbClr val="C6D2E3"/>
            </a:solidFill>
            <a:prstDash val="solid"/>
          </a:ln>
        </p:spPr>
        <p:txBody>
          <a:bodyPr/>
          <a:lstStyle/>
          <a:p>
            <a:endParaRPr lang="it-IT"/>
          </a:p>
        </p:txBody>
      </p:sp>
      <p:sp>
        <p:nvSpPr>
          <p:cNvPr id="19" name="Text 13"/>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0" name="Text 14"/>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RESEARCH OBJECTIVE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Objective and Contributions</a:t>
            </a:r>
            <a:endParaRPr lang="en-US" sz="2700" dirty="0"/>
          </a:p>
        </p:txBody>
      </p:sp>
      <p:sp>
        <p:nvSpPr>
          <p:cNvPr id="4" name="Shape 2"/>
          <p:cNvSpPr/>
          <p:nvPr/>
        </p:nvSpPr>
        <p:spPr>
          <a:xfrm>
            <a:off x="502920" y="1371600"/>
            <a:ext cx="8138160" cy="868680"/>
          </a:xfrm>
          <a:prstGeom prst="roundRect">
            <a:avLst>
              <a:gd name="adj" fmla="val 9474"/>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31520" y="1417320"/>
            <a:ext cx="7680960" cy="777240"/>
          </a:xfrm>
          <a:prstGeom prst="rect">
            <a:avLst/>
          </a:prstGeom>
          <a:noFill/>
          <a:ln/>
        </p:spPr>
        <p:txBody>
          <a:bodyPr wrap="square" lIns="0" tIns="0" rIns="0" bIns="0" rtlCol="0" anchor="ctr"/>
          <a:lstStyle/>
          <a:p>
            <a:pPr marL="0" indent="0">
              <a:buNone/>
            </a:pPr>
            <a:r>
              <a:rPr lang="en-US" sz="1350" b="1" dirty="0">
                <a:solidFill>
                  <a:srgbClr val="0A1F3D"/>
                </a:solidFill>
                <a:latin typeface="Calibri" pitchFamily="34" charset="0"/>
                <a:ea typeface="Calibri" pitchFamily="34" charset="-122"/>
                <a:cs typeface="Calibri" pitchFamily="34" charset="-120"/>
              </a:rPr>
              <a:t>Objective: </a:t>
            </a:r>
            <a:r>
              <a:rPr lang="en-US" sz="1350" dirty="0">
                <a:solidFill>
                  <a:srgbClr val="1C2B42"/>
                </a:solidFill>
                <a:latin typeface="Calibri" pitchFamily="34" charset="0"/>
                <a:ea typeface="Calibri" pitchFamily="34" charset="-122"/>
                <a:cs typeface="Calibri" pitchFamily="34" charset="-120"/>
              </a:rPr>
              <a:t>Evaluate the operational robustness of AI-based forensic image classification systems under controlled perturbation scenarios.</a:t>
            </a:r>
            <a:endParaRPr lang="en-US" sz="1350" dirty="0"/>
          </a:p>
        </p:txBody>
      </p:sp>
      <p:sp>
        <p:nvSpPr>
          <p:cNvPr id="6" name="Shape 4"/>
          <p:cNvSpPr/>
          <p:nvPr/>
        </p:nvSpPr>
        <p:spPr>
          <a:xfrm>
            <a:off x="484632"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7" name="Shape 5"/>
          <p:cNvSpPr/>
          <p:nvPr/>
        </p:nvSpPr>
        <p:spPr>
          <a:xfrm>
            <a:off x="950976" y="2715768"/>
            <a:ext cx="585216" cy="585216"/>
          </a:xfrm>
          <a:prstGeom prst="ellipse">
            <a:avLst/>
          </a:prstGeom>
          <a:solidFill>
            <a:srgbClr val="0A1F3D"/>
          </a:solidFill>
          <a:ln/>
        </p:spPr>
        <p:txBody>
          <a:bodyPr/>
          <a:lstStyle/>
          <a:p>
            <a:endParaRPr lang="it-IT"/>
          </a:p>
        </p:txBody>
      </p:sp>
      <p:pic>
        <p:nvPicPr>
          <p:cNvPr id="8" name="Image 0" descr="preencoded.png"/>
          <p:cNvPicPr>
            <a:picLocks noChangeAspect="1"/>
          </p:cNvPicPr>
          <p:nvPr/>
        </p:nvPicPr>
        <p:blipFill>
          <a:blip r:embed="rId3"/>
          <a:stretch>
            <a:fillRect/>
          </a:stretch>
        </p:blipFill>
        <p:spPr>
          <a:xfrm>
            <a:off x="1027054" y="2791846"/>
            <a:ext cx="433060" cy="433060"/>
          </a:xfrm>
          <a:prstGeom prst="rect">
            <a:avLst/>
          </a:prstGeom>
        </p:spPr>
      </p:pic>
      <p:sp>
        <p:nvSpPr>
          <p:cNvPr id="9" name="Text 6"/>
          <p:cNvSpPr/>
          <p:nvPr/>
        </p:nvSpPr>
        <p:spPr>
          <a:xfrm>
            <a:off x="530352"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Reproducible</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Evaluation Protocol</a:t>
            </a:r>
            <a:endParaRPr lang="en-US" sz="1050" dirty="0"/>
          </a:p>
        </p:txBody>
      </p:sp>
      <p:sp>
        <p:nvSpPr>
          <p:cNvPr id="10" name="Shape 7"/>
          <p:cNvSpPr/>
          <p:nvPr/>
        </p:nvSpPr>
        <p:spPr>
          <a:xfrm>
            <a:off x="2148840"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2615184" y="2715768"/>
            <a:ext cx="585216" cy="585216"/>
          </a:xfrm>
          <a:prstGeom prst="ellipse">
            <a:avLst/>
          </a:prstGeom>
          <a:solidFill>
            <a:srgbClr val="0A1F3D"/>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2691262" y="2791846"/>
            <a:ext cx="433060" cy="433060"/>
          </a:xfrm>
          <a:prstGeom prst="rect">
            <a:avLst/>
          </a:prstGeom>
        </p:spPr>
      </p:pic>
      <p:sp>
        <p:nvSpPr>
          <p:cNvPr id="13" name="Text 9"/>
          <p:cNvSpPr/>
          <p:nvPr/>
        </p:nvSpPr>
        <p:spPr>
          <a:xfrm>
            <a:off x="2194560"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Frozen Forensic</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Evaluation Bundle</a:t>
            </a:r>
            <a:endParaRPr lang="en-US" sz="1050" dirty="0"/>
          </a:p>
        </p:txBody>
      </p:sp>
      <p:sp>
        <p:nvSpPr>
          <p:cNvPr id="14" name="Shape 10"/>
          <p:cNvSpPr/>
          <p:nvPr/>
        </p:nvSpPr>
        <p:spPr>
          <a:xfrm>
            <a:off x="3813048"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4279392" y="2715768"/>
            <a:ext cx="585216" cy="585216"/>
          </a:xfrm>
          <a:prstGeom prst="ellipse">
            <a:avLst/>
          </a:prstGeom>
          <a:solidFill>
            <a:srgbClr val="0A1F3D"/>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4355470" y="2791846"/>
            <a:ext cx="433060" cy="433060"/>
          </a:xfrm>
          <a:prstGeom prst="rect">
            <a:avLst/>
          </a:prstGeom>
        </p:spPr>
      </p:pic>
      <p:sp>
        <p:nvSpPr>
          <p:cNvPr id="17" name="Text 12"/>
          <p:cNvSpPr/>
          <p:nvPr/>
        </p:nvSpPr>
        <p:spPr>
          <a:xfrm>
            <a:off x="3858768"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Proxy Models vs.</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Black-Box Tools</a:t>
            </a:r>
            <a:endParaRPr lang="en-US" sz="1050" dirty="0"/>
          </a:p>
        </p:txBody>
      </p:sp>
      <p:sp>
        <p:nvSpPr>
          <p:cNvPr id="18" name="Shape 13"/>
          <p:cNvSpPr/>
          <p:nvPr/>
        </p:nvSpPr>
        <p:spPr>
          <a:xfrm>
            <a:off x="5477256"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9" name="Shape 14"/>
          <p:cNvSpPr/>
          <p:nvPr/>
        </p:nvSpPr>
        <p:spPr>
          <a:xfrm>
            <a:off x="5943600" y="2715768"/>
            <a:ext cx="585216" cy="585216"/>
          </a:xfrm>
          <a:prstGeom prst="ellipse">
            <a:avLst/>
          </a:prstGeom>
          <a:solidFill>
            <a:srgbClr val="0A1F3D"/>
          </a:solidFill>
          <a:ln/>
        </p:spPr>
        <p:txBody>
          <a:bodyPr/>
          <a:lstStyle/>
          <a:p>
            <a:endParaRPr lang="it-IT"/>
          </a:p>
        </p:txBody>
      </p:sp>
      <p:pic>
        <p:nvPicPr>
          <p:cNvPr id="20" name="Image 3" descr="preencoded.png"/>
          <p:cNvPicPr>
            <a:picLocks noChangeAspect="1"/>
          </p:cNvPicPr>
          <p:nvPr/>
        </p:nvPicPr>
        <p:blipFill>
          <a:blip r:embed="rId6"/>
          <a:stretch>
            <a:fillRect/>
          </a:stretch>
        </p:blipFill>
        <p:spPr>
          <a:xfrm>
            <a:off x="6019678" y="2791846"/>
            <a:ext cx="433060" cy="433060"/>
          </a:xfrm>
          <a:prstGeom prst="rect">
            <a:avLst/>
          </a:prstGeom>
        </p:spPr>
      </p:pic>
      <p:sp>
        <p:nvSpPr>
          <p:cNvPr id="21" name="Text 15"/>
          <p:cNvSpPr/>
          <p:nvPr/>
        </p:nvSpPr>
        <p:spPr>
          <a:xfrm>
            <a:off x="5522976"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Normalized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Output Mapping</a:t>
            </a:r>
            <a:endParaRPr lang="en-US" sz="1050" dirty="0"/>
          </a:p>
        </p:txBody>
      </p:sp>
      <p:sp>
        <p:nvSpPr>
          <p:cNvPr id="22" name="Shape 16"/>
          <p:cNvSpPr/>
          <p:nvPr/>
        </p:nvSpPr>
        <p:spPr>
          <a:xfrm>
            <a:off x="7141464" y="2514600"/>
            <a:ext cx="1517904" cy="1691640"/>
          </a:xfrm>
          <a:prstGeom prst="roundRect">
            <a:avLst>
              <a:gd name="adj" fmla="val 5422"/>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3" name="Shape 17"/>
          <p:cNvSpPr/>
          <p:nvPr/>
        </p:nvSpPr>
        <p:spPr>
          <a:xfrm>
            <a:off x="7607808" y="2715768"/>
            <a:ext cx="585216" cy="585216"/>
          </a:xfrm>
          <a:prstGeom prst="ellipse">
            <a:avLst/>
          </a:prstGeom>
          <a:solidFill>
            <a:srgbClr val="0A1F3D"/>
          </a:solidFill>
          <a:ln/>
        </p:spPr>
        <p:txBody>
          <a:bodyPr/>
          <a:lstStyle/>
          <a:p>
            <a:endParaRPr lang="it-IT"/>
          </a:p>
        </p:txBody>
      </p:sp>
      <p:pic>
        <p:nvPicPr>
          <p:cNvPr id="24" name="Image 4" descr="preencoded.png"/>
          <p:cNvPicPr>
            <a:picLocks noChangeAspect="1"/>
          </p:cNvPicPr>
          <p:nvPr/>
        </p:nvPicPr>
        <p:blipFill>
          <a:blip r:embed="rId7"/>
          <a:stretch>
            <a:fillRect/>
          </a:stretch>
        </p:blipFill>
        <p:spPr>
          <a:xfrm>
            <a:off x="7683886" y="2791846"/>
            <a:ext cx="433060" cy="433060"/>
          </a:xfrm>
          <a:prstGeom prst="rect">
            <a:avLst/>
          </a:prstGeom>
        </p:spPr>
      </p:pic>
      <p:sp>
        <p:nvSpPr>
          <p:cNvPr id="25" name="Text 18"/>
          <p:cNvSpPr/>
          <p:nvPr/>
        </p:nvSpPr>
        <p:spPr>
          <a:xfrm>
            <a:off x="7187184" y="3447288"/>
            <a:ext cx="1426464" cy="685800"/>
          </a:xfrm>
          <a:prstGeom prst="rect">
            <a:avLst/>
          </a:prstGeom>
          <a:noFill/>
          <a:ln/>
        </p:spPr>
        <p:txBody>
          <a:bodyPr wrap="square" lIns="0" tIns="0" rIns="0" bIns="0" rtlCol="0" anchor="t"/>
          <a:lstStyle/>
          <a:p>
            <a:pPr marL="0" indent="0" algn="ctr">
              <a:buNone/>
            </a:pPr>
            <a:r>
              <a:rPr lang="en-US" sz="1050" b="1" dirty="0">
                <a:solidFill>
                  <a:srgbClr val="1C2B42"/>
                </a:solidFill>
                <a:latin typeface="Calibri" pitchFamily="34" charset="0"/>
                <a:ea typeface="Calibri" pitchFamily="34" charset="-122"/>
                <a:cs typeface="Calibri" pitchFamily="34" charset="-120"/>
              </a:rPr>
              <a:t>Risk-Oriented</a:t>
            </a:r>
            <a:endParaRPr lang="en-US" sz="1050" dirty="0"/>
          </a:p>
          <a:p>
            <a:pPr marL="0" indent="0" algn="ctr">
              <a:buNone/>
            </a:pPr>
            <a:r>
              <a:rPr lang="en-US" sz="1050" b="1" dirty="0">
                <a:solidFill>
                  <a:srgbClr val="1C2B42"/>
                </a:solidFill>
                <a:latin typeface="Calibri" pitchFamily="34" charset="0"/>
                <a:ea typeface="Calibri" pitchFamily="34" charset="-122"/>
                <a:cs typeface="Calibri" pitchFamily="34" charset="-120"/>
              </a:rPr>
              <a:t>Interpretation</a:t>
            </a:r>
            <a:endParaRPr lang="en-US" sz="1050" dirty="0"/>
          </a:p>
        </p:txBody>
      </p:sp>
      <p:sp>
        <p:nvSpPr>
          <p:cNvPr id="26" name="Text 19"/>
          <p:cNvSpPr/>
          <p:nvPr/>
        </p:nvSpPr>
        <p:spPr>
          <a:xfrm>
            <a:off x="502920" y="4434840"/>
            <a:ext cx="8138160" cy="320040"/>
          </a:xfrm>
          <a:prstGeom prst="rect">
            <a:avLst/>
          </a:prstGeom>
          <a:noFill/>
          <a:ln/>
        </p:spPr>
        <p:txBody>
          <a:bodyPr wrap="square" lIns="0" tIns="0" rIns="0" bIns="0" rtlCol="0" anchor="ctr"/>
          <a:lstStyle/>
          <a:p>
            <a:pPr marL="0" indent="0">
              <a:buNone/>
            </a:pPr>
            <a:r>
              <a:rPr lang="en-US" sz="1200" i="1" dirty="0">
                <a:solidFill>
                  <a:srgbClr val="5C6B83"/>
                </a:solidFill>
                <a:latin typeface="Calibri" pitchFamily="34" charset="0"/>
                <a:ea typeface="Calibri" pitchFamily="34" charset="-122"/>
                <a:cs typeface="Calibri" pitchFamily="34" charset="-120"/>
              </a:rPr>
              <a:t>The thesis contributes a controlled and traceable methodology — not only raw performance results.</a:t>
            </a: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EVALUATED SYSTEMS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Proxy Models and Commercial Tools</a:t>
            </a:r>
            <a:endParaRPr lang="en-US" sz="2700" dirty="0"/>
          </a:p>
        </p:txBody>
      </p:sp>
      <p:sp>
        <p:nvSpPr>
          <p:cNvPr id="4" name="Shape 2"/>
          <p:cNvSpPr/>
          <p:nvPr/>
        </p:nvSpPr>
        <p:spPr>
          <a:xfrm>
            <a:off x="502920" y="1417320"/>
            <a:ext cx="3840480" cy="3063240"/>
          </a:xfrm>
          <a:prstGeom prst="roundRect">
            <a:avLst>
              <a:gd name="adj" fmla="val 2687"/>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77240" y="1673352"/>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43808" y="1739920"/>
            <a:ext cx="378927" cy="378927"/>
          </a:xfrm>
          <a:prstGeom prst="rect">
            <a:avLst/>
          </a:prstGeom>
        </p:spPr>
      </p:pic>
      <p:sp>
        <p:nvSpPr>
          <p:cNvPr id="7" name="Text 4"/>
          <p:cNvSpPr/>
          <p:nvPr/>
        </p:nvSpPr>
        <p:spPr>
          <a:xfrm>
            <a:off x="1417320" y="1691640"/>
            <a:ext cx="2743200" cy="457200"/>
          </a:xfrm>
          <a:prstGeom prst="rect">
            <a:avLst/>
          </a:prstGeom>
          <a:noFill/>
          <a:ln/>
        </p:spPr>
        <p:txBody>
          <a:bodyPr wrap="square" lIns="0" tIns="0" rIns="0" bIns="0" rtlCol="0" anchor="ctr"/>
          <a:lstStyle/>
          <a:p>
            <a:pPr marL="0" indent="0">
              <a:buNone/>
            </a:pPr>
            <a:r>
              <a:rPr lang="en-US" sz="1600" b="1" dirty="0">
                <a:solidFill>
                  <a:srgbClr val="0A1F3D"/>
                </a:solidFill>
                <a:latin typeface="Cambria" pitchFamily="34" charset="0"/>
                <a:ea typeface="Cambria" pitchFamily="34" charset="-122"/>
                <a:cs typeface="Cambria" pitchFamily="34" charset="-120"/>
              </a:rPr>
              <a:t>Proxy Models</a:t>
            </a:r>
            <a:endParaRPr lang="en-US" sz="1600" dirty="0"/>
          </a:p>
        </p:txBody>
      </p:sp>
      <p:sp>
        <p:nvSpPr>
          <p:cNvPr id="8" name="Text 5"/>
          <p:cNvSpPr/>
          <p:nvPr/>
        </p:nvSpPr>
        <p:spPr>
          <a:xfrm>
            <a:off x="1417320" y="2057400"/>
            <a:ext cx="2743200" cy="274320"/>
          </a:xfrm>
          <a:prstGeom prst="rect">
            <a:avLst/>
          </a:prstGeom>
          <a:noFill/>
          <a:ln/>
        </p:spPr>
        <p:txBody>
          <a:bodyPr wrap="square" lIns="0" tIns="0" rIns="0" bIns="0" rtlCol="0" anchor="ctr"/>
          <a:lstStyle/>
          <a:p>
            <a:pPr marL="0" indent="0">
              <a:buNone/>
            </a:pPr>
            <a:r>
              <a:rPr lang="en-US" sz="1100" i="1" dirty="0">
                <a:solidFill>
                  <a:srgbClr val="5C6B83"/>
                </a:solidFill>
                <a:latin typeface="Calibri" pitchFamily="34" charset="0"/>
                <a:ea typeface="Calibri" pitchFamily="34" charset="-122"/>
                <a:cs typeface="Calibri" pitchFamily="34" charset="-120"/>
              </a:rPr>
              <a:t>Controlled and inspectable</a:t>
            </a:r>
            <a:endParaRPr lang="en-US" sz="1100" dirty="0"/>
          </a:p>
        </p:txBody>
      </p:sp>
      <p:sp>
        <p:nvSpPr>
          <p:cNvPr id="9" name="Text 6"/>
          <p:cNvSpPr/>
          <p:nvPr/>
        </p:nvSpPr>
        <p:spPr>
          <a:xfrm>
            <a:off x="777240" y="2468880"/>
            <a:ext cx="3291840" cy="1737360"/>
          </a:xfrm>
          <a:prstGeom prst="rect">
            <a:avLst/>
          </a:prstGeom>
          <a:noFill/>
          <a:ln/>
        </p:spPr>
        <p:txBody>
          <a:bodyPr wrap="square" rtlCol="0" anchor="t"/>
          <a:lstStyle/>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ResNet18</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EfficientNet-B0</a:t>
            </a:r>
            <a:endParaRPr lang="en-US" sz="1300" dirty="0"/>
          </a:p>
          <a:p>
            <a:pPr marL="342900" indent="-342900">
              <a:spcAft>
                <a:spcPts val="800"/>
              </a:spcAft>
              <a:buSzPct val="100000"/>
              <a:buChar char="–"/>
            </a:pPr>
            <a:r>
              <a:rPr lang="en-US" sz="1300" dirty="0">
                <a:solidFill>
                  <a:srgbClr val="1C2B42"/>
                </a:solidFill>
                <a:latin typeface="Calibri" pitchFamily="34" charset="0"/>
                <a:ea typeface="Calibri" pitchFamily="34" charset="-122"/>
                <a:cs typeface="Calibri" pitchFamily="34" charset="-120"/>
              </a:rPr>
              <a:t>CLIP visual encoder + supervised binary head</a:t>
            </a:r>
            <a:endParaRPr lang="en-US" sz="1300" dirty="0"/>
          </a:p>
        </p:txBody>
      </p:sp>
      <p:sp>
        <p:nvSpPr>
          <p:cNvPr id="10" name="Shape 7"/>
          <p:cNvSpPr/>
          <p:nvPr/>
        </p:nvSpPr>
        <p:spPr>
          <a:xfrm>
            <a:off x="4800600" y="1417320"/>
            <a:ext cx="3840480" cy="3063240"/>
          </a:xfrm>
          <a:prstGeom prst="roundRect">
            <a:avLst>
              <a:gd name="adj" fmla="val 2687"/>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5074920" y="1673352"/>
            <a:ext cx="512064" cy="512064"/>
          </a:xfrm>
          <a:prstGeom prst="ellipse">
            <a:avLst/>
          </a:prstGeom>
          <a:solidFill>
            <a:srgbClr val="E2692C"/>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5141488" y="1739920"/>
            <a:ext cx="378927" cy="378927"/>
          </a:xfrm>
          <a:prstGeom prst="rect">
            <a:avLst/>
          </a:prstGeom>
        </p:spPr>
      </p:pic>
      <p:sp>
        <p:nvSpPr>
          <p:cNvPr id="13" name="Text 9"/>
          <p:cNvSpPr/>
          <p:nvPr/>
        </p:nvSpPr>
        <p:spPr>
          <a:xfrm>
            <a:off x="5715000" y="1691640"/>
            <a:ext cx="2743200" cy="457200"/>
          </a:xfrm>
          <a:prstGeom prst="rect">
            <a:avLst/>
          </a:prstGeom>
          <a:noFill/>
          <a:ln/>
        </p:spPr>
        <p:txBody>
          <a:bodyPr wrap="square" lIns="0" tIns="0" rIns="0" bIns="0" rtlCol="0" anchor="ctr"/>
          <a:lstStyle/>
          <a:p>
            <a:pPr marL="0" indent="0">
              <a:buNone/>
            </a:pPr>
            <a:r>
              <a:rPr lang="en-US" sz="1500" b="1" dirty="0">
                <a:solidFill>
                  <a:srgbClr val="0A1F3D"/>
                </a:solidFill>
                <a:latin typeface="Cambria" pitchFamily="34" charset="0"/>
                <a:ea typeface="Cambria" pitchFamily="34" charset="-122"/>
                <a:cs typeface="Cambria" pitchFamily="34" charset="-120"/>
              </a:rPr>
              <a:t>Commercial AI-Based Tools</a:t>
            </a:r>
            <a:endParaRPr lang="en-US" sz="1500" dirty="0"/>
          </a:p>
        </p:txBody>
      </p:sp>
      <p:sp>
        <p:nvSpPr>
          <p:cNvPr id="14" name="Text 10"/>
          <p:cNvSpPr/>
          <p:nvPr/>
        </p:nvSpPr>
        <p:spPr>
          <a:xfrm>
            <a:off x="5715000" y="2057400"/>
            <a:ext cx="2743200" cy="274320"/>
          </a:xfrm>
          <a:prstGeom prst="rect">
            <a:avLst/>
          </a:prstGeom>
          <a:noFill/>
          <a:ln/>
        </p:spPr>
        <p:txBody>
          <a:bodyPr wrap="square" lIns="0" tIns="0" rIns="0" bIns="0" rtlCol="0" anchor="ctr"/>
          <a:lstStyle/>
          <a:p>
            <a:pPr marL="0" indent="0">
              <a:buNone/>
            </a:pPr>
            <a:r>
              <a:rPr lang="en-US" sz="1100" i="1" dirty="0">
                <a:solidFill>
                  <a:srgbClr val="5C6B83"/>
                </a:solidFill>
                <a:latin typeface="Calibri" pitchFamily="34" charset="0"/>
                <a:ea typeface="Calibri" pitchFamily="34" charset="-122"/>
                <a:cs typeface="Calibri" pitchFamily="34" charset="-120"/>
              </a:rPr>
              <a:t>Operational and black-box</a:t>
            </a:r>
            <a:endParaRPr lang="en-US" sz="1100" dirty="0"/>
          </a:p>
        </p:txBody>
      </p:sp>
      <p:sp>
        <p:nvSpPr>
          <p:cNvPr id="15" name="Text 11"/>
          <p:cNvSpPr/>
          <p:nvPr/>
        </p:nvSpPr>
        <p:spPr>
          <a:xfrm>
            <a:off x="5074920" y="2468880"/>
            <a:ext cx="3291840" cy="1737360"/>
          </a:xfrm>
          <a:prstGeom prst="rect">
            <a:avLst/>
          </a:prstGeom>
          <a:noFill/>
          <a:ln/>
        </p:spPr>
        <p:txBody>
          <a:bodyPr wrap="square" rtlCol="0" anchor="t"/>
          <a:lstStyle/>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Magnet AXIOM / Magnet.AI 10.1.0.48673</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Excire Foto 2025, v4.1.5</a:t>
            </a:r>
            <a:endParaRPr lang="en-US" sz="1250" dirty="0"/>
          </a:p>
          <a:p>
            <a:pPr marL="342900" indent="-342900">
              <a:spcAft>
                <a:spcPts val="800"/>
              </a:spcAft>
              <a:buSzPct val="100000"/>
              <a:buChar char="–"/>
            </a:pPr>
            <a:r>
              <a:rPr lang="en-US" sz="1250" dirty="0">
                <a:solidFill>
                  <a:srgbClr val="1C2B42"/>
                </a:solidFill>
                <a:latin typeface="Calibri" pitchFamily="34" charset="0"/>
                <a:ea typeface="Calibri" pitchFamily="34" charset="-122"/>
                <a:cs typeface="Calibri" pitchFamily="34" charset="-120"/>
              </a:rPr>
              <a:t>Cellebrite Inseyets 10.9 / Physical Analyzer 10.9.0.3029 export</a:t>
            </a:r>
            <a:endParaRPr lang="en-US" sz="1250" dirty="0"/>
          </a:p>
        </p:txBody>
      </p:sp>
      <p:sp>
        <p:nvSpPr>
          <p:cNvPr id="16" name="Shape 12"/>
          <p:cNvSpPr/>
          <p:nvPr/>
        </p:nvSpPr>
        <p:spPr>
          <a:xfrm>
            <a:off x="4187952" y="2564892"/>
            <a:ext cx="768096" cy="768096"/>
          </a:xfrm>
          <a:prstGeom prst="ellipse">
            <a:avLst/>
          </a:prstGeom>
          <a:solidFill>
            <a:srgbClr val="0A1F3D"/>
          </a:solidFill>
          <a:ln w="38100">
            <a:solidFill>
              <a:srgbClr val="FFFFFF"/>
            </a:solidFill>
            <a:prstDash val="solid"/>
          </a:ln>
          <a:effectLst>
            <a:outerShdw blurRad="101600" dist="38100" dir="5400000" algn="bl" rotWithShape="0">
              <a:srgbClr val="000000">
                <a:alpha val="18000"/>
              </a:srgbClr>
            </a:outerShdw>
          </a:effectLst>
        </p:spPr>
        <p:txBody>
          <a:bodyPr/>
          <a:lstStyle/>
          <a:p>
            <a:endParaRPr lang="it-IT"/>
          </a:p>
        </p:txBody>
      </p:sp>
      <p:sp>
        <p:nvSpPr>
          <p:cNvPr id="17" name="Text 13"/>
          <p:cNvSpPr/>
          <p:nvPr/>
        </p:nvSpPr>
        <p:spPr>
          <a:xfrm>
            <a:off x="4069080" y="2638044"/>
            <a:ext cx="1005840" cy="621792"/>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complementary</a:t>
            </a:r>
            <a:endParaRPr lang="en-US" sz="850" dirty="0"/>
          </a:p>
          <a:p>
            <a:pPr marL="0" indent="0" algn="ctr">
              <a:buNone/>
            </a:pPr>
            <a:r>
              <a:rPr lang="en-US" sz="850" b="1" dirty="0">
                <a:solidFill>
                  <a:srgbClr val="FFFFFF"/>
                </a:solidFill>
                <a:latin typeface="Calibri" pitchFamily="34" charset="0"/>
                <a:ea typeface="Calibri" pitchFamily="34" charset="-122"/>
                <a:cs typeface="Calibri" pitchFamily="34" charset="-120"/>
              </a:rPr>
              <a:t>evaluation</a:t>
            </a:r>
            <a:endParaRPr lang="en-US" sz="850" dirty="0"/>
          </a:p>
        </p:txBody>
      </p:sp>
      <p:sp>
        <p:nvSpPr>
          <p:cNvPr id="18" name="Text 1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9" name="Text 1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DATASET</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Frozen Evaluation Bundle</a:t>
            </a:r>
            <a:endParaRPr lang="en-US" sz="2700" dirty="0"/>
          </a:p>
        </p:txBody>
      </p:sp>
      <p:sp>
        <p:nvSpPr>
          <p:cNvPr id="4" name="Shape 2"/>
          <p:cNvSpPr/>
          <p:nvPr/>
        </p:nvSpPr>
        <p:spPr>
          <a:xfrm>
            <a:off x="502920" y="1417320"/>
            <a:ext cx="2331720" cy="868680"/>
          </a:xfrm>
          <a:prstGeom prst="roundRect">
            <a:avLst>
              <a:gd name="adj" fmla="val 9474"/>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502920" y="1417320"/>
            <a:ext cx="23317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500 Weapon</a:t>
            </a:r>
            <a:endParaRPr lang="en-US" sz="1400" dirty="0"/>
          </a:p>
        </p:txBody>
      </p:sp>
      <p:sp>
        <p:nvSpPr>
          <p:cNvPr id="6" name="Shape 4"/>
          <p:cNvSpPr/>
          <p:nvPr/>
        </p:nvSpPr>
        <p:spPr>
          <a:xfrm>
            <a:off x="502920" y="2450592"/>
            <a:ext cx="2331720" cy="868680"/>
          </a:xfrm>
          <a:prstGeom prst="roundRect">
            <a:avLst>
              <a:gd name="adj" fmla="val 9474"/>
            </a:avLst>
          </a:prstGeom>
          <a:solidFill>
            <a:srgbClr val="0E8A8A"/>
          </a:solidFill>
          <a:ln/>
          <a:effectLst>
            <a:outerShdw blurRad="88900" dist="25400" dir="5400000" algn="bl" rotWithShape="0">
              <a:srgbClr val="000000">
                <a:alpha val="10000"/>
              </a:srgbClr>
            </a:outerShdw>
          </a:effectLst>
        </p:spPr>
        <p:txBody>
          <a:bodyPr/>
          <a:lstStyle/>
          <a:p>
            <a:endParaRPr lang="it-IT"/>
          </a:p>
        </p:txBody>
      </p:sp>
      <p:sp>
        <p:nvSpPr>
          <p:cNvPr id="7" name="Text 5"/>
          <p:cNvSpPr/>
          <p:nvPr/>
        </p:nvSpPr>
        <p:spPr>
          <a:xfrm>
            <a:off x="502920" y="2450592"/>
            <a:ext cx="2331720" cy="8686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500 Non-Weapon</a:t>
            </a:r>
            <a:endParaRPr lang="en-US" sz="1400" dirty="0"/>
          </a:p>
        </p:txBody>
      </p:sp>
      <p:sp>
        <p:nvSpPr>
          <p:cNvPr id="8" name="Text 6"/>
          <p:cNvSpPr/>
          <p:nvPr/>
        </p:nvSpPr>
        <p:spPr>
          <a:xfrm>
            <a:off x="1485900" y="2240280"/>
            <a:ext cx="365760" cy="365760"/>
          </a:xfrm>
          <a:prstGeom prst="rect">
            <a:avLst/>
          </a:prstGeom>
          <a:noFill/>
          <a:ln/>
        </p:spPr>
        <p:txBody>
          <a:bodyPr wrap="square" lIns="0" tIns="0" rIns="0" bIns="0" rtlCol="0" anchor="ctr"/>
          <a:lstStyle/>
          <a:p>
            <a:pPr marL="0" indent="0" algn="ctr">
              <a:buNone/>
            </a:pPr>
            <a:r>
              <a:rPr lang="en-US" sz="1800" b="1" dirty="0">
                <a:solidFill>
                  <a:srgbClr val="5C6B83"/>
                </a:solidFill>
                <a:latin typeface="Calibri" pitchFamily="34" charset="0"/>
                <a:ea typeface="Calibri" pitchFamily="34" charset="-122"/>
                <a:cs typeface="Calibri" pitchFamily="34" charset="-120"/>
              </a:rPr>
              <a:t>+</a:t>
            </a:r>
            <a:endParaRPr lang="en-US" sz="1800" dirty="0"/>
          </a:p>
        </p:txBody>
      </p:sp>
      <p:pic>
        <p:nvPicPr>
          <p:cNvPr id="9" name="Image 0" descr="preencoded.png"/>
          <p:cNvPicPr>
            <a:picLocks noChangeAspect="1"/>
          </p:cNvPicPr>
          <p:nvPr/>
        </p:nvPicPr>
        <p:blipFill>
          <a:blip r:embed="rId3"/>
          <a:stretch>
            <a:fillRect/>
          </a:stretch>
        </p:blipFill>
        <p:spPr>
          <a:xfrm>
            <a:off x="2971800" y="2231136"/>
            <a:ext cx="365760" cy="365760"/>
          </a:xfrm>
          <a:prstGeom prst="rect">
            <a:avLst/>
          </a:prstGeom>
        </p:spPr>
      </p:pic>
      <p:sp>
        <p:nvSpPr>
          <p:cNvPr id="10" name="Shape 7"/>
          <p:cNvSpPr/>
          <p:nvPr/>
        </p:nvSpPr>
        <p:spPr>
          <a:xfrm>
            <a:off x="3474720" y="1554480"/>
            <a:ext cx="2240280" cy="1600200"/>
          </a:xfrm>
          <a:prstGeom prst="roundRect">
            <a:avLst>
              <a:gd name="adj" fmla="val 5143"/>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Text 8"/>
          <p:cNvSpPr/>
          <p:nvPr/>
        </p:nvSpPr>
        <p:spPr>
          <a:xfrm>
            <a:off x="3611880" y="1664208"/>
            <a:ext cx="1965960" cy="320040"/>
          </a:xfrm>
          <a:prstGeom prst="rect">
            <a:avLst/>
          </a:prstGeom>
          <a:noFill/>
          <a:ln/>
        </p:spPr>
        <p:txBody>
          <a:bodyPr wrap="square" lIns="0" tIns="0" rIns="0" bIns="0" rtlCol="0" anchor="ctr"/>
          <a:lstStyle/>
          <a:p>
            <a:pPr marL="0" indent="0">
              <a:buNone/>
            </a:pPr>
            <a:r>
              <a:rPr lang="en-US" sz="1300" b="1" dirty="0">
                <a:solidFill>
                  <a:srgbClr val="0A1F3D"/>
                </a:solidFill>
                <a:latin typeface="Cambria" pitchFamily="34" charset="0"/>
                <a:ea typeface="Cambria" pitchFamily="34" charset="-122"/>
                <a:cs typeface="Cambria" pitchFamily="34" charset="-120"/>
              </a:rPr>
              <a:t>Binary Subset</a:t>
            </a:r>
            <a:endParaRPr lang="en-US" sz="1300" dirty="0"/>
          </a:p>
        </p:txBody>
      </p:sp>
      <p:sp>
        <p:nvSpPr>
          <p:cNvPr id="12" name="Text 9"/>
          <p:cNvSpPr/>
          <p:nvPr/>
        </p:nvSpPr>
        <p:spPr>
          <a:xfrm>
            <a:off x="3611880" y="2057400"/>
            <a:ext cx="1965960" cy="1005840"/>
          </a:xfrm>
          <a:prstGeom prst="rect">
            <a:avLst/>
          </a:prstGeom>
          <a:noFill/>
          <a:ln/>
        </p:spPr>
        <p:txBody>
          <a:bodyPr wrap="square" lIns="0" tIns="0" rIns="0" bIns="0" rtlCol="0" anchor="ctr"/>
          <a:lstStyle/>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1,000 images</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clean + perturbed evaluation</a:t>
            </a:r>
            <a:endParaRPr lang="en-US" sz="1150" dirty="0"/>
          </a:p>
        </p:txBody>
      </p:sp>
      <p:sp>
        <p:nvSpPr>
          <p:cNvPr id="13" name="Shape 10"/>
          <p:cNvSpPr/>
          <p:nvPr/>
        </p:nvSpPr>
        <p:spPr>
          <a:xfrm>
            <a:off x="5852160" y="1417320"/>
            <a:ext cx="2788920" cy="1645920"/>
          </a:xfrm>
          <a:prstGeom prst="roundRect">
            <a:avLst>
              <a:gd name="adj" fmla="val 5000"/>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pic>
        <p:nvPicPr>
          <p:cNvPr id="14" name="Image 1" descr="preencoded.png"/>
          <p:cNvPicPr>
            <a:picLocks noChangeAspect="1"/>
          </p:cNvPicPr>
          <p:nvPr/>
        </p:nvPicPr>
        <p:blipFill>
          <a:blip r:embed="rId4"/>
          <a:stretch>
            <a:fillRect/>
          </a:stretch>
        </p:blipFill>
        <p:spPr>
          <a:xfrm>
            <a:off x="6016752" y="1563624"/>
            <a:ext cx="384048" cy="384048"/>
          </a:xfrm>
          <a:prstGeom prst="rect">
            <a:avLst/>
          </a:prstGeom>
        </p:spPr>
      </p:pic>
      <p:sp>
        <p:nvSpPr>
          <p:cNvPr id="15" name="Text 11"/>
          <p:cNvSpPr/>
          <p:nvPr/>
        </p:nvSpPr>
        <p:spPr>
          <a:xfrm>
            <a:off x="6492240" y="1563624"/>
            <a:ext cx="2011680" cy="384048"/>
          </a:xfrm>
          <a:prstGeom prst="rect">
            <a:avLst/>
          </a:prstGeom>
          <a:noFill/>
          <a:ln/>
        </p:spPr>
        <p:txBody>
          <a:bodyPr wrap="square" lIns="0" tIns="0" rIns="0" bIns="0" rtlCol="0" anchor="ctr"/>
          <a:lstStyle/>
          <a:p>
            <a:pPr marL="0" indent="0">
              <a:buNone/>
            </a:pPr>
            <a:r>
              <a:rPr lang="en-US" sz="1300" b="1" dirty="0">
                <a:solidFill>
                  <a:srgbClr val="0A1F3D"/>
                </a:solidFill>
                <a:latin typeface="Cambria" pitchFamily="34" charset="0"/>
                <a:ea typeface="Cambria" pitchFamily="34" charset="-122"/>
                <a:cs typeface="Cambria" pitchFamily="34" charset="-120"/>
              </a:rPr>
              <a:t>OOD Subset</a:t>
            </a:r>
            <a:endParaRPr lang="en-US" sz="1300" dirty="0"/>
          </a:p>
        </p:txBody>
      </p:sp>
      <p:sp>
        <p:nvSpPr>
          <p:cNvPr id="16" name="Text 12"/>
          <p:cNvSpPr/>
          <p:nvPr/>
        </p:nvSpPr>
        <p:spPr>
          <a:xfrm>
            <a:off x="6016752" y="2039112"/>
            <a:ext cx="2459736" cy="960120"/>
          </a:xfrm>
          <a:prstGeom prst="rect">
            <a:avLst/>
          </a:prstGeom>
          <a:noFill/>
          <a:ln/>
        </p:spPr>
        <p:txBody>
          <a:bodyPr wrap="square" lIns="0" tIns="0" rIns="0" bIns="0" rtlCol="0" anchor="ctr"/>
          <a:lstStyle/>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500 images</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evaluated separately</a:t>
            </a:r>
            <a:endParaRPr lang="en-US" sz="1150" dirty="0"/>
          </a:p>
          <a:p>
            <a:pPr marL="0" indent="0">
              <a:lnSpc>
                <a:spcPct val="125000"/>
              </a:lnSpc>
              <a:buNone/>
            </a:pPr>
            <a:r>
              <a:rPr lang="en-US" sz="1150" dirty="0">
                <a:solidFill>
                  <a:srgbClr val="1C2B42"/>
                </a:solidFill>
                <a:latin typeface="Calibri" pitchFamily="34" charset="0"/>
                <a:ea typeface="Calibri" pitchFamily="34" charset="-122"/>
                <a:cs typeface="Calibri" pitchFamily="34" charset="-120"/>
              </a:rPr>
              <a:t>clean only</a:t>
            </a:r>
            <a:endParaRPr lang="en-US" sz="1150" dirty="0"/>
          </a:p>
        </p:txBody>
      </p:sp>
      <p:sp>
        <p:nvSpPr>
          <p:cNvPr id="17" name="Shape 13"/>
          <p:cNvSpPr/>
          <p:nvPr/>
        </p:nvSpPr>
        <p:spPr>
          <a:xfrm>
            <a:off x="502920" y="3429000"/>
            <a:ext cx="8138160" cy="777240"/>
          </a:xfrm>
          <a:prstGeom prst="roundRect">
            <a:avLst>
              <a:gd name="adj" fmla="val 10588"/>
            </a:avLst>
          </a:prstGeom>
          <a:solidFill>
            <a:srgbClr val="0A1F3D"/>
          </a:solidFill>
          <a:ln/>
          <a:effectLst>
            <a:outerShdw blurRad="88900" dist="25400" dir="5400000" algn="bl" rotWithShape="0">
              <a:srgbClr val="000000">
                <a:alpha val="10000"/>
              </a:srgbClr>
            </a:outerShdw>
          </a:effectLst>
        </p:spPr>
        <p:txBody>
          <a:bodyPr/>
          <a:lstStyle/>
          <a:p>
            <a:endParaRPr lang="it-IT"/>
          </a:p>
        </p:txBody>
      </p:sp>
      <p:pic>
        <p:nvPicPr>
          <p:cNvPr id="18" name="Image 2" descr="preencoded.png"/>
          <p:cNvPicPr>
            <a:picLocks noChangeAspect="1"/>
          </p:cNvPicPr>
          <p:nvPr/>
        </p:nvPicPr>
        <p:blipFill>
          <a:blip r:embed="rId5"/>
          <a:stretch>
            <a:fillRect/>
          </a:stretch>
        </p:blipFill>
        <p:spPr>
          <a:xfrm>
            <a:off x="731520" y="3630168"/>
            <a:ext cx="365760" cy="365760"/>
          </a:xfrm>
          <a:prstGeom prst="rect">
            <a:avLst/>
          </a:prstGeom>
        </p:spPr>
      </p:pic>
      <p:sp>
        <p:nvSpPr>
          <p:cNvPr id="19" name="Text 14"/>
          <p:cNvSpPr/>
          <p:nvPr/>
        </p:nvSpPr>
        <p:spPr>
          <a:xfrm>
            <a:off x="1234440" y="3429000"/>
            <a:ext cx="7223760" cy="77724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Rule: the OOD branch remains clean — no adversarial or anti-forensic perturbations are ever applied to it.</a:t>
            </a:r>
            <a:endParaRPr lang="en-US" sz="1300" dirty="0"/>
          </a:p>
        </p:txBody>
      </p:sp>
      <p:sp>
        <p:nvSpPr>
          <p:cNvPr id="20" name="Text 15"/>
          <p:cNvSpPr/>
          <p:nvPr/>
        </p:nvSpPr>
        <p:spPr>
          <a:xfrm>
            <a:off x="502920" y="4343400"/>
            <a:ext cx="8138160" cy="365760"/>
          </a:xfrm>
          <a:prstGeom prst="rect">
            <a:avLst/>
          </a:prstGeom>
          <a:noFill/>
          <a:ln/>
        </p:spPr>
        <p:txBody>
          <a:bodyPr wrap="square" lIns="0" tIns="0" rIns="0" bIns="0" rtlCol="0" anchor="ctr"/>
          <a:lstStyle/>
          <a:p>
            <a:pPr marL="0" indent="0">
              <a:buNone/>
            </a:pPr>
            <a:r>
              <a:rPr lang="en-US" sz="1050" i="1" dirty="0">
                <a:solidFill>
                  <a:srgbClr val="5C6B83"/>
                </a:solidFill>
                <a:latin typeface="Calibri" pitchFamily="34" charset="0"/>
                <a:ea typeface="Calibri" pitchFamily="34" charset="-122"/>
                <a:cs typeface="Calibri" pitchFamily="34" charset="-120"/>
              </a:rPr>
              <a:t>Total frozen dataset: 1,500 images  |  Dataset is unchanged across all evaluations  |  Ground truth kept separate from tool outputs until normalization</a:t>
            </a:r>
            <a:endParaRPr lang="en-US" sz="1050" dirty="0"/>
          </a:p>
        </p:txBody>
      </p:sp>
      <p:sp>
        <p:nvSpPr>
          <p:cNvPr id="21" name="Text 16"/>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7"/>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METHODOLOGY</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Experimental Protocol</a:t>
            </a:r>
            <a:endParaRPr lang="en-US" sz="2700" dirty="0"/>
          </a:p>
        </p:txBody>
      </p:sp>
      <p:sp>
        <p:nvSpPr>
          <p:cNvPr id="4" name="Shape 2"/>
          <p:cNvSpPr/>
          <p:nvPr/>
        </p:nvSpPr>
        <p:spPr>
          <a:xfrm>
            <a:off x="333756"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81812" y="1645920"/>
            <a:ext cx="402336" cy="402336"/>
          </a:xfrm>
          <a:prstGeom prst="ellipse">
            <a:avLst/>
          </a:prstGeom>
          <a:solidFill>
            <a:srgbClr val="0A1F3D"/>
          </a:solidFill>
          <a:ln/>
        </p:spPr>
        <p:txBody>
          <a:bodyPr/>
          <a:lstStyle/>
          <a:p>
            <a:endParaRPr lang="it-IT"/>
          </a:p>
        </p:txBody>
      </p:sp>
      <p:sp>
        <p:nvSpPr>
          <p:cNvPr id="6" name="Text 4"/>
          <p:cNvSpPr/>
          <p:nvPr/>
        </p:nvSpPr>
        <p:spPr>
          <a:xfrm>
            <a:off x="781812"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388620"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Build frozen</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evaluation bundle</a:t>
            </a:r>
            <a:endParaRPr lang="en-US" sz="1000" dirty="0"/>
          </a:p>
        </p:txBody>
      </p:sp>
      <p:sp>
        <p:nvSpPr>
          <p:cNvPr id="8" name="Shape 6"/>
          <p:cNvSpPr/>
          <p:nvPr/>
        </p:nvSpPr>
        <p:spPr>
          <a:xfrm>
            <a:off x="1632204" y="2382012"/>
            <a:ext cx="118872" cy="128016"/>
          </a:xfrm>
          <a:prstGeom prst="rightArrow">
            <a:avLst/>
          </a:prstGeom>
          <a:solidFill>
            <a:srgbClr val="C6D2E3"/>
          </a:solidFill>
          <a:ln/>
        </p:spPr>
        <p:txBody>
          <a:bodyPr/>
          <a:lstStyle/>
          <a:p>
            <a:endParaRPr lang="it-IT"/>
          </a:p>
        </p:txBody>
      </p:sp>
      <p:sp>
        <p:nvSpPr>
          <p:cNvPr id="9" name="Shape 7"/>
          <p:cNvSpPr/>
          <p:nvPr/>
        </p:nvSpPr>
        <p:spPr>
          <a:xfrm>
            <a:off x="1769364"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8"/>
          <p:cNvSpPr/>
          <p:nvPr/>
        </p:nvSpPr>
        <p:spPr>
          <a:xfrm>
            <a:off x="2217420" y="1645920"/>
            <a:ext cx="402336" cy="402336"/>
          </a:xfrm>
          <a:prstGeom prst="ellipse">
            <a:avLst/>
          </a:prstGeom>
          <a:solidFill>
            <a:srgbClr val="0A1F3D"/>
          </a:solidFill>
          <a:ln/>
        </p:spPr>
        <p:txBody>
          <a:bodyPr/>
          <a:lstStyle/>
          <a:p>
            <a:endParaRPr lang="it-IT"/>
          </a:p>
        </p:txBody>
      </p:sp>
      <p:sp>
        <p:nvSpPr>
          <p:cNvPr id="11" name="Text 9"/>
          <p:cNvSpPr/>
          <p:nvPr/>
        </p:nvSpPr>
        <p:spPr>
          <a:xfrm>
            <a:off x="2217420"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824228"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Evaluate clean binary</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&amp; OOD branches</a:t>
            </a:r>
            <a:endParaRPr lang="en-US" sz="1000" dirty="0"/>
          </a:p>
        </p:txBody>
      </p:sp>
      <p:sp>
        <p:nvSpPr>
          <p:cNvPr id="13" name="Shape 11"/>
          <p:cNvSpPr/>
          <p:nvPr/>
        </p:nvSpPr>
        <p:spPr>
          <a:xfrm>
            <a:off x="3067812" y="2382012"/>
            <a:ext cx="118872" cy="128016"/>
          </a:xfrm>
          <a:prstGeom prst="rightArrow">
            <a:avLst/>
          </a:prstGeom>
          <a:solidFill>
            <a:srgbClr val="C6D2E3"/>
          </a:solidFill>
          <a:ln/>
        </p:spPr>
        <p:txBody>
          <a:bodyPr/>
          <a:lstStyle/>
          <a:p>
            <a:endParaRPr lang="it-IT"/>
          </a:p>
        </p:txBody>
      </p:sp>
      <p:sp>
        <p:nvSpPr>
          <p:cNvPr id="14" name="Shape 12"/>
          <p:cNvSpPr/>
          <p:nvPr/>
        </p:nvSpPr>
        <p:spPr>
          <a:xfrm>
            <a:off x="3204972"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3"/>
          <p:cNvSpPr/>
          <p:nvPr/>
        </p:nvSpPr>
        <p:spPr>
          <a:xfrm>
            <a:off x="3653028" y="1645920"/>
            <a:ext cx="402336" cy="402336"/>
          </a:xfrm>
          <a:prstGeom prst="ellipse">
            <a:avLst/>
          </a:prstGeom>
          <a:solidFill>
            <a:srgbClr val="0A1F3D"/>
          </a:solidFill>
          <a:ln/>
        </p:spPr>
        <p:txBody>
          <a:bodyPr/>
          <a:lstStyle/>
          <a:p>
            <a:endParaRPr lang="it-IT"/>
          </a:p>
        </p:txBody>
      </p:sp>
      <p:sp>
        <p:nvSpPr>
          <p:cNvPr id="16" name="Text 14"/>
          <p:cNvSpPr/>
          <p:nvPr/>
        </p:nvSpPr>
        <p:spPr>
          <a:xfrm>
            <a:off x="3653028"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3259836"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Run proxy models &amp;</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commercial tools</a:t>
            </a:r>
            <a:endParaRPr lang="en-US" sz="1000" dirty="0"/>
          </a:p>
        </p:txBody>
      </p:sp>
      <p:sp>
        <p:nvSpPr>
          <p:cNvPr id="18" name="Shape 16"/>
          <p:cNvSpPr/>
          <p:nvPr/>
        </p:nvSpPr>
        <p:spPr>
          <a:xfrm>
            <a:off x="4503420" y="2382012"/>
            <a:ext cx="118872" cy="128016"/>
          </a:xfrm>
          <a:prstGeom prst="rightArrow">
            <a:avLst/>
          </a:prstGeom>
          <a:solidFill>
            <a:srgbClr val="C6D2E3"/>
          </a:solidFill>
          <a:ln/>
        </p:spPr>
        <p:txBody>
          <a:bodyPr/>
          <a:lstStyle/>
          <a:p>
            <a:endParaRPr lang="it-IT"/>
          </a:p>
        </p:txBody>
      </p:sp>
      <p:sp>
        <p:nvSpPr>
          <p:cNvPr id="19" name="Shape 17"/>
          <p:cNvSpPr/>
          <p:nvPr/>
        </p:nvSpPr>
        <p:spPr>
          <a:xfrm>
            <a:off x="4640580"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8"/>
          <p:cNvSpPr/>
          <p:nvPr/>
        </p:nvSpPr>
        <p:spPr>
          <a:xfrm>
            <a:off x="5088636" y="1645920"/>
            <a:ext cx="402336" cy="402336"/>
          </a:xfrm>
          <a:prstGeom prst="ellipse">
            <a:avLst/>
          </a:prstGeom>
          <a:solidFill>
            <a:srgbClr val="0A1F3D"/>
          </a:solidFill>
          <a:ln/>
        </p:spPr>
        <p:txBody>
          <a:bodyPr/>
          <a:lstStyle/>
          <a:p>
            <a:endParaRPr lang="it-IT"/>
          </a:p>
        </p:txBody>
      </p:sp>
      <p:sp>
        <p:nvSpPr>
          <p:cNvPr id="21" name="Text 19"/>
          <p:cNvSpPr/>
          <p:nvPr/>
        </p:nvSpPr>
        <p:spPr>
          <a:xfrm>
            <a:off x="5088636"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4695444"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Generate perturbations</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(binary subset only)</a:t>
            </a:r>
            <a:endParaRPr lang="en-US" sz="1000" dirty="0"/>
          </a:p>
        </p:txBody>
      </p:sp>
      <p:sp>
        <p:nvSpPr>
          <p:cNvPr id="23" name="Shape 21"/>
          <p:cNvSpPr/>
          <p:nvPr/>
        </p:nvSpPr>
        <p:spPr>
          <a:xfrm>
            <a:off x="5939028" y="2382012"/>
            <a:ext cx="118872" cy="128016"/>
          </a:xfrm>
          <a:prstGeom prst="rightArrow">
            <a:avLst/>
          </a:prstGeom>
          <a:solidFill>
            <a:srgbClr val="C6D2E3"/>
          </a:solidFill>
          <a:ln/>
        </p:spPr>
        <p:txBody>
          <a:bodyPr/>
          <a:lstStyle/>
          <a:p>
            <a:endParaRPr lang="it-IT"/>
          </a:p>
        </p:txBody>
      </p:sp>
      <p:sp>
        <p:nvSpPr>
          <p:cNvPr id="24" name="Shape 22"/>
          <p:cNvSpPr/>
          <p:nvPr/>
        </p:nvSpPr>
        <p:spPr>
          <a:xfrm>
            <a:off x="6076188" y="1508760"/>
            <a:ext cx="1298448" cy="1874520"/>
          </a:xfrm>
          <a:prstGeom prst="roundRect">
            <a:avLst>
              <a:gd name="adj" fmla="val 6338"/>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5" name="Shape 23"/>
          <p:cNvSpPr/>
          <p:nvPr/>
        </p:nvSpPr>
        <p:spPr>
          <a:xfrm>
            <a:off x="6524244" y="1645920"/>
            <a:ext cx="402336" cy="402336"/>
          </a:xfrm>
          <a:prstGeom prst="ellipse">
            <a:avLst/>
          </a:prstGeom>
          <a:solidFill>
            <a:srgbClr val="0A1F3D"/>
          </a:solidFill>
          <a:ln/>
        </p:spPr>
        <p:txBody>
          <a:bodyPr/>
          <a:lstStyle/>
          <a:p>
            <a:endParaRPr lang="it-IT"/>
          </a:p>
        </p:txBody>
      </p:sp>
      <p:sp>
        <p:nvSpPr>
          <p:cNvPr id="26" name="Text 24"/>
          <p:cNvSpPr/>
          <p:nvPr/>
        </p:nvSpPr>
        <p:spPr>
          <a:xfrm>
            <a:off x="6524244"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7" name="Text 25"/>
          <p:cNvSpPr/>
          <p:nvPr/>
        </p:nvSpPr>
        <p:spPr>
          <a:xfrm>
            <a:off x="6131052"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Normalize outputs</a:t>
            </a:r>
            <a:endParaRPr lang="en-US" sz="1000" dirty="0"/>
          </a:p>
          <a:p>
            <a:pPr marL="0" indent="0" algn="ctr">
              <a:lnSpc>
                <a:spcPct val="115000"/>
              </a:lnSpc>
              <a:buNone/>
            </a:pPr>
            <a:r>
              <a:rPr lang="en-US" sz="1000" b="1" dirty="0">
                <a:solidFill>
                  <a:srgbClr val="1C2B42"/>
                </a:solidFill>
                <a:latin typeface="Calibri" pitchFamily="34" charset="0"/>
                <a:ea typeface="Calibri" pitchFamily="34" charset="-122"/>
                <a:cs typeface="Calibri" pitchFamily="34" charset="-120"/>
              </a:rPr>
              <a:t>TP/FP/FN/TN/Unknown</a:t>
            </a:r>
            <a:endParaRPr lang="en-US" sz="1000" dirty="0"/>
          </a:p>
        </p:txBody>
      </p:sp>
      <p:sp>
        <p:nvSpPr>
          <p:cNvPr id="28" name="Shape 26"/>
          <p:cNvSpPr/>
          <p:nvPr/>
        </p:nvSpPr>
        <p:spPr>
          <a:xfrm>
            <a:off x="7374636" y="2382012"/>
            <a:ext cx="118872" cy="128016"/>
          </a:xfrm>
          <a:prstGeom prst="rightArrow">
            <a:avLst/>
          </a:prstGeom>
          <a:solidFill>
            <a:srgbClr val="C6D2E3"/>
          </a:solidFill>
          <a:ln/>
        </p:spPr>
        <p:txBody>
          <a:bodyPr/>
          <a:lstStyle/>
          <a:p>
            <a:endParaRPr lang="it-IT"/>
          </a:p>
        </p:txBody>
      </p:sp>
      <p:sp>
        <p:nvSpPr>
          <p:cNvPr id="29" name="Shape 27"/>
          <p:cNvSpPr/>
          <p:nvPr/>
        </p:nvSpPr>
        <p:spPr>
          <a:xfrm>
            <a:off x="7511796" y="1508760"/>
            <a:ext cx="1298448" cy="1874520"/>
          </a:xfrm>
          <a:prstGeom prst="roundRect">
            <a:avLst>
              <a:gd name="adj" fmla="val 6338"/>
            </a:avLst>
          </a:prstGeom>
          <a:solidFill>
            <a:srgbClr val="0A1F3D"/>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30" name="Shape 28"/>
          <p:cNvSpPr/>
          <p:nvPr/>
        </p:nvSpPr>
        <p:spPr>
          <a:xfrm>
            <a:off x="7959852" y="1645920"/>
            <a:ext cx="402336" cy="402336"/>
          </a:xfrm>
          <a:prstGeom prst="ellipse">
            <a:avLst/>
          </a:prstGeom>
          <a:solidFill>
            <a:srgbClr val="0E8A8A"/>
          </a:solidFill>
          <a:ln/>
        </p:spPr>
        <p:txBody>
          <a:bodyPr/>
          <a:lstStyle/>
          <a:p>
            <a:endParaRPr lang="it-IT"/>
          </a:p>
        </p:txBody>
      </p:sp>
      <p:sp>
        <p:nvSpPr>
          <p:cNvPr id="31" name="Text 29"/>
          <p:cNvSpPr/>
          <p:nvPr/>
        </p:nvSpPr>
        <p:spPr>
          <a:xfrm>
            <a:off x="7959852" y="16459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32" name="Text 30"/>
          <p:cNvSpPr/>
          <p:nvPr/>
        </p:nvSpPr>
        <p:spPr>
          <a:xfrm>
            <a:off x="7566660" y="2167128"/>
            <a:ext cx="1188720" cy="1097280"/>
          </a:xfrm>
          <a:prstGeom prst="rect">
            <a:avLst/>
          </a:prstGeom>
          <a:noFill/>
          <a:ln/>
        </p:spPr>
        <p:txBody>
          <a:bodyPr wrap="square" lIns="0" tIns="0" rIns="0" bIns="0" rtlCol="0" anchor="t"/>
          <a:lstStyle/>
          <a:p>
            <a:pPr marL="0" indent="0" algn="ctr">
              <a:lnSpc>
                <a:spcPct val="115000"/>
              </a:lnSpc>
              <a:buNone/>
            </a:pPr>
            <a:r>
              <a:rPr lang="en-US" sz="1000" b="1" dirty="0">
                <a:solidFill>
                  <a:srgbClr val="FFFFFF"/>
                </a:solidFill>
                <a:latin typeface="Calibri" pitchFamily="34" charset="0"/>
                <a:ea typeface="Calibri" pitchFamily="34" charset="-122"/>
                <a:cs typeface="Calibri" pitchFamily="34" charset="-120"/>
              </a:rPr>
              <a:t>Metrics, XAI,</a:t>
            </a:r>
            <a:endParaRPr lang="en-US" sz="1000" dirty="0"/>
          </a:p>
          <a:p>
            <a:pPr marL="0" indent="0" algn="ctr">
              <a:lnSpc>
                <a:spcPct val="115000"/>
              </a:lnSpc>
              <a:buNone/>
            </a:pPr>
            <a:r>
              <a:rPr lang="en-US" sz="1000" b="1" dirty="0">
                <a:solidFill>
                  <a:srgbClr val="FFFFFF"/>
                </a:solidFill>
                <a:latin typeface="Calibri" pitchFamily="34" charset="0"/>
                <a:ea typeface="Calibri" pitchFamily="34" charset="-122"/>
                <a:cs typeface="Calibri" pitchFamily="34" charset="-120"/>
              </a:rPr>
              <a:t>traceability, risk</a:t>
            </a:r>
            <a:endParaRPr lang="en-US" sz="1000" dirty="0"/>
          </a:p>
        </p:txBody>
      </p:sp>
      <p:sp>
        <p:nvSpPr>
          <p:cNvPr id="33" name="Shape 31"/>
          <p:cNvSpPr/>
          <p:nvPr/>
        </p:nvSpPr>
        <p:spPr>
          <a:xfrm>
            <a:off x="502920" y="3703320"/>
            <a:ext cx="8138160" cy="777240"/>
          </a:xfrm>
          <a:prstGeom prst="roundRect">
            <a:avLst>
              <a:gd name="adj" fmla="val 10588"/>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34" name="Text 32"/>
          <p:cNvSpPr/>
          <p:nvPr/>
        </p:nvSpPr>
        <p:spPr>
          <a:xfrm>
            <a:off x="731520" y="3703320"/>
            <a:ext cx="7680960" cy="777240"/>
          </a:xfrm>
          <a:prstGeom prst="rect">
            <a:avLst/>
          </a:prstGeom>
          <a:noFill/>
          <a:ln/>
        </p:spPr>
        <p:txBody>
          <a:bodyPr wrap="square" lIns="0" tIns="0" rIns="0" bIns="0" rtlCol="0" anchor="ctr"/>
          <a:lstStyle/>
          <a:p>
            <a:pPr marL="0" indent="0">
              <a:buNone/>
            </a:pPr>
            <a:r>
              <a:rPr lang="en-US" sz="1300" i="1" dirty="0">
                <a:solidFill>
                  <a:srgbClr val="0A1F3D"/>
                </a:solidFill>
                <a:latin typeface="Calibri" pitchFamily="34" charset="0"/>
                <a:ea typeface="Calibri" pitchFamily="34" charset="-122"/>
                <a:cs typeface="Calibri" pitchFamily="34" charset="-120"/>
              </a:rPr>
              <a:t>The protocol makes heterogeneous systems comparable through controlled inputs and normalized outputs.</a:t>
            </a:r>
            <a:endParaRPr lang="en-US" sz="1300" dirty="0"/>
          </a:p>
        </p:txBody>
      </p:sp>
      <p:sp>
        <p:nvSpPr>
          <p:cNvPr id="35" name="Text 33"/>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6" name="Text 34"/>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THREAT MODEL</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Perturbation Design</a:t>
            </a:r>
            <a:endParaRPr lang="en-US" sz="2700" dirty="0"/>
          </a:p>
        </p:txBody>
      </p:sp>
      <p:sp>
        <p:nvSpPr>
          <p:cNvPr id="4" name="Shape 2"/>
          <p:cNvSpPr/>
          <p:nvPr/>
        </p:nvSpPr>
        <p:spPr>
          <a:xfrm>
            <a:off x="502920" y="1371600"/>
            <a:ext cx="3794760" cy="2331720"/>
          </a:xfrm>
          <a:prstGeom prst="roundRect">
            <a:avLst>
              <a:gd name="adj" fmla="val 3529"/>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58952" y="1600200"/>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25520" y="1666768"/>
            <a:ext cx="378927" cy="378927"/>
          </a:xfrm>
          <a:prstGeom prst="rect">
            <a:avLst/>
          </a:prstGeom>
        </p:spPr>
      </p:pic>
      <p:sp>
        <p:nvSpPr>
          <p:cNvPr id="7" name="Text 4"/>
          <p:cNvSpPr/>
          <p:nvPr/>
        </p:nvSpPr>
        <p:spPr>
          <a:xfrm>
            <a:off x="1417320" y="1664208"/>
            <a:ext cx="2697480" cy="384048"/>
          </a:xfrm>
          <a:prstGeom prst="rect">
            <a:avLst/>
          </a:prstGeom>
          <a:noFill/>
          <a:ln/>
        </p:spPr>
        <p:txBody>
          <a:bodyPr wrap="square" lIns="0" tIns="0" rIns="0" bIns="0" rtlCol="0" anchor="ctr"/>
          <a:lstStyle/>
          <a:p>
            <a:pPr marL="0" indent="0">
              <a:buNone/>
            </a:pPr>
            <a:r>
              <a:rPr lang="en-US" sz="1500" b="1" dirty="0">
                <a:solidFill>
                  <a:srgbClr val="0A1F3D"/>
                </a:solidFill>
                <a:latin typeface="Cambria" pitchFamily="34" charset="0"/>
                <a:ea typeface="Cambria" pitchFamily="34" charset="-122"/>
                <a:cs typeface="Cambria" pitchFamily="34" charset="-120"/>
              </a:rPr>
              <a:t>Adversarial Attacks</a:t>
            </a:r>
            <a:endParaRPr lang="en-US" sz="1500" dirty="0"/>
          </a:p>
        </p:txBody>
      </p:sp>
      <p:sp>
        <p:nvSpPr>
          <p:cNvPr id="8" name="Text 5"/>
          <p:cNvSpPr/>
          <p:nvPr/>
        </p:nvSpPr>
        <p:spPr>
          <a:xfrm>
            <a:off x="777240" y="2194560"/>
            <a:ext cx="3246120" cy="1371600"/>
          </a:xfrm>
          <a:prstGeom prst="rect">
            <a:avLst/>
          </a:prstGeom>
          <a:noFill/>
          <a:ln/>
        </p:spPr>
        <p:txBody>
          <a:bodyPr wrap="square" rtlCol="0" anchor="t"/>
          <a:lstStyle/>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FGSM (baseline)</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Iterative gradient-based attacks</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Sparse / one-pixel family</a:t>
            </a:r>
            <a:endParaRPr lang="en-US" sz="1250" dirty="0"/>
          </a:p>
          <a:p>
            <a:pPr marL="342900" indent="-342900">
              <a:spcAft>
                <a:spcPts val="600"/>
              </a:spcAft>
              <a:buSzPct val="100000"/>
              <a:buChar char="–"/>
            </a:pPr>
            <a:r>
              <a:rPr lang="en-US" sz="1250" dirty="0">
                <a:solidFill>
                  <a:srgbClr val="1C2B42"/>
                </a:solidFill>
                <a:latin typeface="Calibri" pitchFamily="34" charset="0"/>
                <a:ea typeface="Calibri" pitchFamily="34" charset="-122"/>
                <a:cs typeface="Calibri" pitchFamily="34" charset="-120"/>
              </a:rPr>
              <a:t>Untargeted</a:t>
            </a:r>
            <a:endParaRPr lang="en-US" sz="1250" dirty="0"/>
          </a:p>
        </p:txBody>
      </p:sp>
      <p:sp>
        <p:nvSpPr>
          <p:cNvPr id="9" name="Shape 6"/>
          <p:cNvSpPr/>
          <p:nvPr/>
        </p:nvSpPr>
        <p:spPr>
          <a:xfrm>
            <a:off x="4663440" y="1371600"/>
            <a:ext cx="3794760" cy="2331720"/>
          </a:xfrm>
          <a:prstGeom prst="roundRect">
            <a:avLst>
              <a:gd name="adj" fmla="val 3529"/>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4919472" y="1600200"/>
            <a:ext cx="512064" cy="512064"/>
          </a:xfrm>
          <a:prstGeom prst="ellipse">
            <a:avLst/>
          </a:prstGeom>
          <a:solidFill>
            <a:srgbClr val="E2692C"/>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4986040" y="1666768"/>
            <a:ext cx="378927" cy="378927"/>
          </a:xfrm>
          <a:prstGeom prst="rect">
            <a:avLst/>
          </a:prstGeom>
        </p:spPr>
      </p:pic>
      <p:sp>
        <p:nvSpPr>
          <p:cNvPr id="12" name="Text 8"/>
          <p:cNvSpPr/>
          <p:nvPr/>
        </p:nvSpPr>
        <p:spPr>
          <a:xfrm>
            <a:off x="5577840" y="1664208"/>
            <a:ext cx="2743200" cy="384048"/>
          </a:xfrm>
          <a:prstGeom prst="rect">
            <a:avLst/>
          </a:prstGeom>
          <a:noFill/>
          <a:ln/>
        </p:spPr>
        <p:txBody>
          <a:bodyPr wrap="square" lIns="0" tIns="0" rIns="0" bIns="0" rtlCol="0" anchor="ctr"/>
          <a:lstStyle/>
          <a:p>
            <a:pPr marL="0" indent="0">
              <a:buNone/>
            </a:pPr>
            <a:r>
              <a:rPr lang="en-US" sz="1350" b="1" dirty="0">
                <a:solidFill>
                  <a:srgbClr val="0A1F3D"/>
                </a:solidFill>
                <a:latin typeface="Cambria" pitchFamily="34" charset="0"/>
                <a:ea typeface="Cambria" pitchFamily="34" charset="-122"/>
                <a:cs typeface="Cambria" pitchFamily="34" charset="-120"/>
              </a:rPr>
              <a:t>Anti-Forensic Transformations</a:t>
            </a:r>
            <a:endParaRPr lang="en-US" sz="1350" dirty="0"/>
          </a:p>
        </p:txBody>
      </p:sp>
      <p:sp>
        <p:nvSpPr>
          <p:cNvPr id="13" name="Text 9"/>
          <p:cNvSpPr/>
          <p:nvPr/>
        </p:nvSpPr>
        <p:spPr>
          <a:xfrm>
            <a:off x="4937760" y="2194560"/>
            <a:ext cx="3246120" cy="1463040"/>
          </a:xfrm>
          <a:prstGeom prst="rect">
            <a:avLst/>
          </a:prstGeom>
          <a:noFill/>
          <a:ln/>
        </p:spPr>
        <p:txBody>
          <a:bodyPr wrap="square" rtlCol="0" anchor="t"/>
          <a:lstStyle/>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JPEG recompression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Resize / resample</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Blur / sharpen</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Noise</a:t>
            </a:r>
            <a:endParaRPr lang="en-US" sz="1250" dirty="0"/>
          </a:p>
          <a:p>
            <a:pPr marL="342900" indent="-342900">
              <a:spcAft>
                <a:spcPts val="500"/>
              </a:spcAft>
              <a:buSzPct val="100000"/>
              <a:buChar char="–"/>
            </a:pPr>
            <a:r>
              <a:rPr lang="en-US" sz="1250" dirty="0">
                <a:solidFill>
                  <a:srgbClr val="1C2B42"/>
                </a:solidFill>
                <a:latin typeface="Calibri" pitchFamily="34" charset="0"/>
                <a:ea typeface="Calibri" pitchFamily="34" charset="-122"/>
                <a:cs typeface="Calibri" pitchFamily="34" charset="-120"/>
              </a:rPr>
              <a:t>Color shift</a:t>
            </a:r>
            <a:endParaRPr lang="en-US" sz="1250" dirty="0"/>
          </a:p>
        </p:txBody>
      </p:sp>
      <p:sp>
        <p:nvSpPr>
          <p:cNvPr id="14" name="Shape 10"/>
          <p:cNvSpPr/>
          <p:nvPr/>
        </p:nvSpPr>
        <p:spPr>
          <a:xfrm>
            <a:off x="3657600" y="868680"/>
            <a:ext cx="1828800" cy="411480"/>
          </a:xfrm>
          <a:prstGeom prst="roundRect">
            <a:avLst>
              <a:gd name="adj" fmla="val 20000"/>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15" name="Text 11"/>
          <p:cNvSpPr/>
          <p:nvPr/>
        </p:nvSpPr>
        <p:spPr>
          <a:xfrm>
            <a:off x="3657600" y="868680"/>
            <a:ext cx="1828800" cy="411480"/>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Binary Subset</a:t>
            </a:r>
            <a:endParaRPr lang="en-US" sz="1150" dirty="0"/>
          </a:p>
        </p:txBody>
      </p:sp>
      <p:sp>
        <p:nvSpPr>
          <p:cNvPr id="16" name="Shape 12"/>
          <p:cNvSpPr/>
          <p:nvPr/>
        </p:nvSpPr>
        <p:spPr>
          <a:xfrm>
            <a:off x="2400300" y="1280160"/>
            <a:ext cx="4160520" cy="0"/>
          </a:xfrm>
          <a:prstGeom prst="line">
            <a:avLst/>
          </a:prstGeom>
          <a:noFill/>
          <a:ln w="15875">
            <a:solidFill>
              <a:srgbClr val="C6D2E3"/>
            </a:solidFill>
            <a:prstDash val="solid"/>
          </a:ln>
        </p:spPr>
        <p:txBody>
          <a:bodyPr/>
          <a:lstStyle/>
          <a:p>
            <a:endParaRPr lang="it-IT"/>
          </a:p>
        </p:txBody>
      </p:sp>
      <p:sp>
        <p:nvSpPr>
          <p:cNvPr id="17" name="Shape 13"/>
          <p:cNvSpPr/>
          <p:nvPr/>
        </p:nvSpPr>
        <p:spPr>
          <a:xfrm>
            <a:off x="2400300" y="1280160"/>
            <a:ext cx="0" cy="91440"/>
          </a:xfrm>
          <a:prstGeom prst="line">
            <a:avLst/>
          </a:prstGeom>
          <a:noFill/>
          <a:ln w="15875">
            <a:solidFill>
              <a:srgbClr val="C6D2E3"/>
            </a:solidFill>
            <a:prstDash val="solid"/>
          </a:ln>
        </p:spPr>
        <p:txBody>
          <a:bodyPr/>
          <a:lstStyle/>
          <a:p>
            <a:endParaRPr lang="it-IT"/>
          </a:p>
        </p:txBody>
      </p:sp>
      <p:sp>
        <p:nvSpPr>
          <p:cNvPr id="18" name="Shape 14"/>
          <p:cNvSpPr/>
          <p:nvPr/>
        </p:nvSpPr>
        <p:spPr>
          <a:xfrm>
            <a:off x="6560820" y="1280160"/>
            <a:ext cx="0" cy="91440"/>
          </a:xfrm>
          <a:prstGeom prst="line">
            <a:avLst/>
          </a:prstGeom>
          <a:noFill/>
          <a:ln w="15875">
            <a:solidFill>
              <a:srgbClr val="C6D2E3"/>
            </a:solidFill>
            <a:prstDash val="solid"/>
          </a:ln>
        </p:spPr>
        <p:txBody>
          <a:bodyPr/>
          <a:lstStyle/>
          <a:p>
            <a:endParaRPr lang="it-IT"/>
          </a:p>
        </p:txBody>
      </p:sp>
      <p:sp>
        <p:nvSpPr>
          <p:cNvPr id="19" name="Shape 15"/>
          <p:cNvSpPr/>
          <p:nvPr/>
        </p:nvSpPr>
        <p:spPr>
          <a:xfrm>
            <a:off x="502920" y="3913632"/>
            <a:ext cx="8138160" cy="548640"/>
          </a:xfrm>
          <a:prstGeom prst="roundRect">
            <a:avLst>
              <a:gd name="adj" fmla="val 15000"/>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Text 16"/>
          <p:cNvSpPr/>
          <p:nvPr/>
        </p:nvSpPr>
        <p:spPr>
          <a:xfrm>
            <a:off x="731520" y="3913632"/>
            <a:ext cx="7680960" cy="548640"/>
          </a:xfrm>
          <a:prstGeom prst="rect">
            <a:avLst/>
          </a:prstGeom>
          <a:noFill/>
          <a:ln/>
        </p:spPr>
        <p:txBody>
          <a:bodyPr wrap="square" lIns="0" tIns="0" rIns="0" bIns="0" rtlCol="0" anchor="ctr"/>
          <a:lstStyle/>
          <a:p>
            <a:pPr marL="0" indent="0">
              <a:buNone/>
            </a:pPr>
            <a:r>
              <a:rPr lang="en-US" sz="1150" b="1" dirty="0">
                <a:solidFill>
                  <a:srgbClr val="0A1F3D"/>
                </a:solidFill>
                <a:latin typeface="Calibri" pitchFamily="34" charset="0"/>
                <a:ea typeface="Calibri" pitchFamily="34" charset="-122"/>
                <a:cs typeface="Calibri" pitchFamily="34" charset="-120"/>
              </a:rPr>
              <a:t>Design choice: </a:t>
            </a:r>
            <a:r>
              <a:rPr lang="en-US" sz="1150" dirty="0">
                <a:solidFill>
                  <a:srgbClr val="1C2B42"/>
                </a:solidFill>
                <a:latin typeface="Calibri" pitchFamily="34" charset="0"/>
                <a:ea typeface="Calibri" pitchFamily="34" charset="-122"/>
                <a:cs typeface="Calibri" pitchFamily="34" charset="-120"/>
              </a:rPr>
              <a:t>perturbations are applied only to the binary subset  |  primary proxy target: EfficientNet-B0  |  OOD branch stays clean</a:t>
            </a:r>
            <a:endParaRPr lang="en-US" sz="1150" dirty="0"/>
          </a:p>
        </p:txBody>
      </p:sp>
      <p:sp>
        <p:nvSpPr>
          <p:cNvPr id="21" name="Text 17"/>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2" name="Text 18"/>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EVALUATION FRAMEWORK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Evaluation Metrics</a:t>
            </a:r>
            <a:endParaRPr lang="en-US" sz="2700" dirty="0"/>
          </a:p>
        </p:txBody>
      </p:sp>
      <p:sp>
        <p:nvSpPr>
          <p:cNvPr id="4" name="Shape 2"/>
          <p:cNvSpPr/>
          <p:nvPr/>
        </p:nvSpPr>
        <p:spPr>
          <a:xfrm>
            <a:off x="521208"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34440" y="1600200"/>
            <a:ext cx="475488" cy="475488"/>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296253" y="1662013"/>
            <a:ext cx="351861" cy="351861"/>
          </a:xfrm>
          <a:prstGeom prst="rect">
            <a:avLst/>
          </a:prstGeom>
        </p:spPr>
      </p:pic>
      <p:sp>
        <p:nvSpPr>
          <p:cNvPr id="7" name="Text 4"/>
          <p:cNvSpPr/>
          <p:nvPr/>
        </p:nvSpPr>
        <p:spPr>
          <a:xfrm>
            <a:off x="594360"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Clean Performance</a:t>
            </a:r>
            <a:endParaRPr lang="en-US" sz="1150" dirty="0"/>
          </a:p>
        </p:txBody>
      </p:sp>
      <p:sp>
        <p:nvSpPr>
          <p:cNvPr id="8" name="Text 5"/>
          <p:cNvSpPr/>
          <p:nvPr/>
        </p:nvSpPr>
        <p:spPr>
          <a:xfrm>
            <a:off x="649224"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F1-score</a:t>
            </a:r>
            <a:endParaRPr lang="en-US" sz="980" dirty="0"/>
          </a:p>
        </p:txBody>
      </p:sp>
      <p:sp>
        <p:nvSpPr>
          <p:cNvPr id="9" name="Shape 6"/>
          <p:cNvSpPr/>
          <p:nvPr/>
        </p:nvSpPr>
        <p:spPr>
          <a:xfrm>
            <a:off x="2587752"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3300984" y="1600200"/>
            <a:ext cx="475488" cy="475488"/>
          </a:xfrm>
          <a:prstGeom prst="ellipse">
            <a:avLst/>
          </a:prstGeom>
          <a:solidFill>
            <a:srgbClr val="0E8A8A"/>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3362797" y="1662013"/>
            <a:ext cx="351861" cy="351861"/>
          </a:xfrm>
          <a:prstGeom prst="rect">
            <a:avLst/>
          </a:prstGeom>
        </p:spPr>
      </p:pic>
      <p:sp>
        <p:nvSpPr>
          <p:cNvPr id="12" name="Text 8"/>
          <p:cNvSpPr/>
          <p:nvPr/>
        </p:nvSpPr>
        <p:spPr>
          <a:xfrm>
            <a:off x="2660904"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Perturbed Robustness</a:t>
            </a:r>
            <a:endParaRPr lang="en-US" sz="1150" dirty="0"/>
          </a:p>
        </p:txBody>
      </p:sp>
      <p:sp>
        <p:nvSpPr>
          <p:cNvPr id="13" name="Text 9"/>
          <p:cNvSpPr/>
          <p:nvPr/>
        </p:nvSpPr>
        <p:spPr>
          <a:xfrm>
            <a:off x="2715768"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Perturbed accuracy</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Accuracy drop</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Induced error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Confidence delta</a:t>
            </a:r>
            <a:endParaRPr lang="en-US" sz="980" dirty="0"/>
          </a:p>
        </p:txBody>
      </p:sp>
      <p:sp>
        <p:nvSpPr>
          <p:cNvPr id="14" name="Shape 10"/>
          <p:cNvSpPr/>
          <p:nvPr/>
        </p:nvSpPr>
        <p:spPr>
          <a:xfrm>
            <a:off x="4654296"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5367528" y="1600200"/>
            <a:ext cx="475488" cy="475488"/>
          </a:xfrm>
          <a:prstGeom prst="ellipse">
            <a:avLst/>
          </a:prstGeom>
          <a:solidFill>
            <a:srgbClr val="0E8A8A"/>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5429341" y="1662013"/>
            <a:ext cx="351861" cy="351861"/>
          </a:xfrm>
          <a:prstGeom prst="rect">
            <a:avLst/>
          </a:prstGeom>
        </p:spPr>
      </p:pic>
      <p:sp>
        <p:nvSpPr>
          <p:cNvPr id="17" name="Text 12"/>
          <p:cNvSpPr/>
          <p:nvPr/>
        </p:nvSpPr>
        <p:spPr>
          <a:xfrm>
            <a:off x="4727448"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OOD Handling</a:t>
            </a:r>
            <a:endParaRPr lang="en-US" sz="1150" dirty="0"/>
          </a:p>
        </p:txBody>
      </p:sp>
      <p:sp>
        <p:nvSpPr>
          <p:cNvPr id="18" name="Text 13"/>
          <p:cNvSpPr/>
          <p:nvPr/>
        </p:nvSpPr>
        <p:spPr>
          <a:xfrm>
            <a:off x="4782312"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Weapon-flag rate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Mean confidence</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High-confidence OOD fraction</a:t>
            </a:r>
            <a:endParaRPr lang="en-US" sz="980" dirty="0"/>
          </a:p>
        </p:txBody>
      </p:sp>
      <p:sp>
        <p:nvSpPr>
          <p:cNvPr id="19" name="Shape 14"/>
          <p:cNvSpPr/>
          <p:nvPr/>
        </p:nvSpPr>
        <p:spPr>
          <a:xfrm>
            <a:off x="6720840" y="1417320"/>
            <a:ext cx="1901952" cy="2834640"/>
          </a:xfrm>
          <a:prstGeom prst="roundRect">
            <a:avLst>
              <a:gd name="adj" fmla="val 4327"/>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5"/>
          <p:cNvSpPr/>
          <p:nvPr/>
        </p:nvSpPr>
        <p:spPr>
          <a:xfrm>
            <a:off x="7434072" y="1600200"/>
            <a:ext cx="475488" cy="475488"/>
          </a:xfrm>
          <a:prstGeom prst="ellipse">
            <a:avLst/>
          </a:prstGeom>
          <a:solidFill>
            <a:srgbClr val="0E8A8A"/>
          </a:solidFill>
          <a:ln/>
        </p:spPr>
        <p:txBody>
          <a:bodyPr/>
          <a:lstStyle/>
          <a:p>
            <a:endParaRPr lang="it-IT"/>
          </a:p>
        </p:txBody>
      </p:sp>
      <p:pic>
        <p:nvPicPr>
          <p:cNvPr id="21" name="Image 3" descr="preencoded.png"/>
          <p:cNvPicPr>
            <a:picLocks noChangeAspect="1"/>
          </p:cNvPicPr>
          <p:nvPr/>
        </p:nvPicPr>
        <p:blipFill>
          <a:blip r:embed="rId6"/>
          <a:stretch>
            <a:fillRect/>
          </a:stretch>
        </p:blipFill>
        <p:spPr>
          <a:xfrm>
            <a:off x="7495885" y="1662013"/>
            <a:ext cx="351861" cy="351861"/>
          </a:xfrm>
          <a:prstGeom prst="rect">
            <a:avLst/>
          </a:prstGeom>
        </p:spPr>
      </p:pic>
      <p:sp>
        <p:nvSpPr>
          <p:cNvPr id="22" name="Text 16"/>
          <p:cNvSpPr/>
          <p:nvPr/>
        </p:nvSpPr>
        <p:spPr>
          <a:xfrm>
            <a:off x="6793992" y="2167128"/>
            <a:ext cx="1755648" cy="457200"/>
          </a:xfrm>
          <a:prstGeom prst="rect">
            <a:avLst/>
          </a:prstGeom>
          <a:noFill/>
          <a:ln/>
        </p:spPr>
        <p:txBody>
          <a:bodyPr wrap="square" lIns="0" tIns="0" rIns="0" bIns="0" rtlCol="0" anchor="t"/>
          <a:lstStyle/>
          <a:p>
            <a:pPr marL="0" indent="0" algn="ctr">
              <a:buNone/>
            </a:pPr>
            <a:r>
              <a:rPr lang="en-US" sz="1150" b="1" dirty="0">
                <a:solidFill>
                  <a:srgbClr val="0A1F3D"/>
                </a:solidFill>
                <a:latin typeface="Cambria" pitchFamily="34" charset="0"/>
                <a:ea typeface="Cambria" pitchFamily="34" charset="-122"/>
                <a:cs typeface="Cambria" pitchFamily="34" charset="-120"/>
              </a:rPr>
              <a:t>Black-Box Behavior</a:t>
            </a:r>
            <a:endParaRPr lang="en-US" sz="1150" dirty="0"/>
          </a:p>
        </p:txBody>
      </p:sp>
      <p:sp>
        <p:nvSpPr>
          <p:cNvPr id="23" name="Text 17"/>
          <p:cNvSpPr/>
          <p:nvPr/>
        </p:nvSpPr>
        <p:spPr>
          <a:xfrm>
            <a:off x="6848856" y="2651760"/>
            <a:ext cx="1645920" cy="1463040"/>
          </a:xfrm>
          <a:prstGeom prst="rect">
            <a:avLst/>
          </a:prstGeom>
          <a:noFill/>
          <a:ln/>
        </p:spPr>
        <p:txBody>
          <a:bodyPr wrap="square" rtlCol="0" anchor="t"/>
          <a:lstStyle/>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Recall</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FNR / FPR</a:t>
            </a:r>
            <a:endParaRPr lang="en-US" sz="980" dirty="0"/>
          </a:p>
          <a:p>
            <a:pPr marL="342900" indent="-342900">
              <a:spcAft>
                <a:spcPts val="500"/>
              </a:spcAft>
              <a:buSzPct val="100000"/>
              <a:buChar char="–"/>
            </a:pPr>
            <a:r>
              <a:rPr lang="en-US" sz="980" dirty="0">
                <a:solidFill>
                  <a:srgbClr val="1C2B42"/>
                </a:solidFill>
                <a:latin typeface="Calibri" pitchFamily="34" charset="0"/>
                <a:ea typeface="Calibri" pitchFamily="34" charset="-122"/>
                <a:cs typeface="Calibri" pitchFamily="34" charset="-120"/>
              </a:rPr>
              <a:t>Unknown rate</a:t>
            </a:r>
            <a:endParaRPr lang="en-US" sz="980" dirty="0"/>
          </a:p>
        </p:txBody>
      </p:sp>
      <p:sp>
        <p:nvSpPr>
          <p:cNvPr id="24" name="Text 18"/>
          <p:cNvSpPr/>
          <p:nvPr/>
        </p:nvSpPr>
        <p:spPr>
          <a:xfrm>
            <a:off x="502920" y="4434840"/>
            <a:ext cx="8138160" cy="320040"/>
          </a:xfrm>
          <a:prstGeom prst="rect">
            <a:avLst/>
          </a:prstGeom>
          <a:noFill/>
          <a:ln/>
        </p:spPr>
        <p:txBody>
          <a:bodyPr wrap="square" lIns="0" tIns="0" rIns="0" bIns="0" rtlCol="0" anchor="ctr"/>
          <a:lstStyle/>
          <a:p>
            <a:pPr marL="0" indent="0" algn="ctr">
              <a:buNone/>
            </a:pPr>
            <a:r>
              <a:rPr lang="en-US" sz="1200" i="1" dirty="0">
                <a:solidFill>
                  <a:srgbClr val="5C6B83"/>
                </a:solidFill>
                <a:latin typeface="Calibri" pitchFamily="34" charset="0"/>
                <a:ea typeface="Calibri" pitchFamily="34" charset="-122"/>
                <a:cs typeface="Calibri" pitchFamily="34" charset="-120"/>
              </a:rPr>
              <a:t>The analysis focuses on failure modes and operational risk, not only aggregate accuracy.</a:t>
            </a:r>
            <a:endParaRPr lang="en-US" sz="120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PROXY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Proxy Model Evaluation</a:t>
            </a:r>
            <a:endParaRPr lang="en-US" sz="2700" dirty="0"/>
          </a:p>
        </p:txBody>
      </p:sp>
      <p:sp>
        <p:nvSpPr>
          <p:cNvPr id="4" name="Shape 2"/>
          <p:cNvSpPr/>
          <p:nvPr/>
        </p:nvSpPr>
        <p:spPr>
          <a:xfrm>
            <a:off x="502920" y="1417320"/>
            <a:ext cx="17373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576072" y="1417320"/>
            <a:ext cx="1591056" cy="960120"/>
          </a:xfrm>
          <a:prstGeom prst="rect">
            <a:avLst/>
          </a:prstGeom>
          <a:noFill/>
          <a:ln/>
        </p:spPr>
        <p:txBody>
          <a:bodyPr wrap="square" lIns="0" tIns="0" rIns="0" bIns="0" rtlCol="0" anchor="ctr"/>
          <a:lstStyle/>
          <a:p>
            <a:pPr marL="0" indent="0" algn="ctr">
              <a:buNone/>
            </a:pPr>
            <a:r>
              <a:rPr lang="en-US" sz="1200" b="1" dirty="0">
                <a:solidFill>
                  <a:srgbClr val="1C2B42"/>
                </a:solidFill>
                <a:latin typeface="Calibri" pitchFamily="34" charset="0"/>
                <a:ea typeface="Calibri" pitchFamily="34" charset="-122"/>
                <a:cs typeface="Calibri" pitchFamily="34" charset="-120"/>
              </a:rPr>
              <a:t>ResNet18</a:t>
            </a:r>
            <a:endParaRPr lang="en-US" sz="1200" dirty="0"/>
          </a:p>
        </p:txBody>
      </p:sp>
      <p:sp>
        <p:nvSpPr>
          <p:cNvPr id="6" name="Shape 4"/>
          <p:cNvSpPr/>
          <p:nvPr/>
        </p:nvSpPr>
        <p:spPr>
          <a:xfrm>
            <a:off x="2468880" y="1417320"/>
            <a:ext cx="1737360" cy="960120"/>
          </a:xfrm>
          <a:prstGeom prst="roundRect">
            <a:avLst>
              <a:gd name="adj" fmla="val 8571"/>
            </a:avLst>
          </a:prstGeom>
          <a:solidFill>
            <a:srgbClr val="0A1F3D"/>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7" name="Text 5"/>
          <p:cNvSpPr/>
          <p:nvPr/>
        </p:nvSpPr>
        <p:spPr>
          <a:xfrm>
            <a:off x="2542032" y="1417320"/>
            <a:ext cx="1591056" cy="96012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EfficientNet-B0</a:t>
            </a:r>
            <a:endParaRPr lang="en-US" sz="1200" dirty="0"/>
          </a:p>
        </p:txBody>
      </p:sp>
      <p:sp>
        <p:nvSpPr>
          <p:cNvPr id="8" name="Shape 6"/>
          <p:cNvSpPr/>
          <p:nvPr/>
        </p:nvSpPr>
        <p:spPr>
          <a:xfrm>
            <a:off x="4434840" y="1417320"/>
            <a:ext cx="17373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9" name="Text 7"/>
          <p:cNvSpPr/>
          <p:nvPr/>
        </p:nvSpPr>
        <p:spPr>
          <a:xfrm>
            <a:off x="4507992" y="1417320"/>
            <a:ext cx="1591056" cy="960120"/>
          </a:xfrm>
          <a:prstGeom prst="rect">
            <a:avLst/>
          </a:prstGeom>
          <a:noFill/>
          <a:ln/>
        </p:spPr>
        <p:txBody>
          <a:bodyPr wrap="square" lIns="0" tIns="0" rIns="0" bIns="0" rtlCol="0" anchor="ctr"/>
          <a:lstStyle/>
          <a:p>
            <a:pPr marL="0" indent="0" algn="ctr">
              <a:buNone/>
            </a:pPr>
            <a:r>
              <a:rPr lang="en-US" sz="1200" b="1" dirty="0">
                <a:solidFill>
                  <a:srgbClr val="1C2B42"/>
                </a:solidFill>
                <a:latin typeface="Calibri" pitchFamily="34" charset="0"/>
                <a:ea typeface="Calibri" pitchFamily="34" charset="-122"/>
                <a:cs typeface="Calibri" pitchFamily="34" charset="-120"/>
              </a:rPr>
              <a:t>CLIP visual encoder</a:t>
            </a:r>
            <a:endParaRPr lang="en-US" sz="1200" dirty="0"/>
          </a:p>
        </p:txBody>
      </p:sp>
      <p:sp>
        <p:nvSpPr>
          <p:cNvPr id="10" name="Text 8"/>
          <p:cNvSpPr/>
          <p:nvPr/>
        </p:nvSpPr>
        <p:spPr>
          <a:xfrm>
            <a:off x="2468880" y="2404872"/>
            <a:ext cx="1737360" cy="228600"/>
          </a:xfrm>
          <a:prstGeom prst="rect">
            <a:avLst/>
          </a:prstGeom>
          <a:noFill/>
          <a:ln/>
        </p:spPr>
        <p:txBody>
          <a:bodyPr wrap="square" lIns="0" tIns="0" rIns="0" bIns="0" rtlCol="0" anchor="ctr"/>
          <a:lstStyle/>
          <a:p>
            <a:pPr marL="0" indent="0" algn="ctr">
              <a:buNone/>
            </a:pPr>
            <a:r>
              <a:rPr lang="en-US" sz="900" i="1" dirty="0">
                <a:solidFill>
                  <a:srgbClr val="5C6B83"/>
                </a:solidFill>
                <a:latin typeface="Calibri" pitchFamily="34" charset="0"/>
                <a:ea typeface="Calibri" pitchFamily="34" charset="-122"/>
                <a:cs typeface="Calibri" pitchFamily="34" charset="-120"/>
              </a:rPr>
              <a:t>primary adversarial target</a:t>
            </a:r>
            <a:endParaRPr lang="en-US" sz="900" dirty="0"/>
          </a:p>
        </p:txBody>
      </p:sp>
      <p:sp>
        <p:nvSpPr>
          <p:cNvPr id="11" name="Shape 9"/>
          <p:cNvSpPr/>
          <p:nvPr/>
        </p:nvSpPr>
        <p:spPr>
          <a:xfrm>
            <a:off x="589788"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2" name="Shape 10"/>
          <p:cNvSpPr/>
          <p:nvPr/>
        </p:nvSpPr>
        <p:spPr>
          <a:xfrm>
            <a:off x="1115568" y="2953512"/>
            <a:ext cx="438912" cy="438912"/>
          </a:xfrm>
          <a:prstGeom prst="ellipse">
            <a:avLst/>
          </a:prstGeom>
          <a:solidFill>
            <a:srgbClr val="0E8A8A"/>
          </a:solidFill>
          <a:ln/>
        </p:spPr>
        <p:txBody>
          <a:bodyPr/>
          <a:lstStyle/>
          <a:p>
            <a:endParaRPr lang="it-IT"/>
          </a:p>
        </p:txBody>
      </p:sp>
      <p:pic>
        <p:nvPicPr>
          <p:cNvPr id="13" name="Image 0" descr="preencoded.png"/>
          <p:cNvPicPr>
            <a:picLocks noChangeAspect="1"/>
          </p:cNvPicPr>
          <p:nvPr/>
        </p:nvPicPr>
        <p:blipFill>
          <a:blip r:embed="rId3"/>
          <a:stretch>
            <a:fillRect/>
          </a:stretch>
        </p:blipFill>
        <p:spPr>
          <a:xfrm>
            <a:off x="1172627" y="3010571"/>
            <a:ext cx="324795" cy="324795"/>
          </a:xfrm>
          <a:prstGeom prst="rect">
            <a:avLst/>
          </a:prstGeom>
        </p:spPr>
      </p:pic>
      <p:sp>
        <p:nvSpPr>
          <p:cNvPr id="14" name="Text 11"/>
          <p:cNvSpPr/>
          <p:nvPr/>
        </p:nvSpPr>
        <p:spPr>
          <a:xfrm>
            <a:off x="635508"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Controlled training</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&amp; testing</a:t>
            </a:r>
            <a:endParaRPr lang="en-US" sz="980" dirty="0"/>
          </a:p>
        </p:txBody>
      </p:sp>
      <p:sp>
        <p:nvSpPr>
          <p:cNvPr id="15" name="Shape 12"/>
          <p:cNvSpPr/>
          <p:nvPr/>
        </p:nvSpPr>
        <p:spPr>
          <a:xfrm>
            <a:off x="2208276"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6" name="Shape 13"/>
          <p:cNvSpPr/>
          <p:nvPr/>
        </p:nvSpPr>
        <p:spPr>
          <a:xfrm>
            <a:off x="2734056" y="2953512"/>
            <a:ext cx="438912" cy="438912"/>
          </a:xfrm>
          <a:prstGeom prst="ellipse">
            <a:avLst/>
          </a:prstGeom>
          <a:solidFill>
            <a:srgbClr val="0E8A8A"/>
          </a:solidFill>
          <a:ln/>
        </p:spPr>
        <p:txBody>
          <a:bodyPr/>
          <a:lstStyle/>
          <a:p>
            <a:endParaRPr lang="it-IT"/>
          </a:p>
        </p:txBody>
      </p:sp>
      <p:pic>
        <p:nvPicPr>
          <p:cNvPr id="17" name="Image 1" descr="preencoded.png"/>
          <p:cNvPicPr>
            <a:picLocks noChangeAspect="1"/>
          </p:cNvPicPr>
          <p:nvPr/>
        </p:nvPicPr>
        <p:blipFill>
          <a:blip r:embed="rId4"/>
          <a:stretch>
            <a:fillRect/>
          </a:stretch>
        </p:blipFill>
        <p:spPr>
          <a:xfrm>
            <a:off x="2791115" y="3010571"/>
            <a:ext cx="324795" cy="324795"/>
          </a:xfrm>
          <a:prstGeom prst="rect">
            <a:avLst/>
          </a:prstGeom>
        </p:spPr>
      </p:pic>
      <p:sp>
        <p:nvSpPr>
          <p:cNvPr id="18" name="Text 14"/>
          <p:cNvSpPr/>
          <p:nvPr/>
        </p:nvSpPr>
        <p:spPr>
          <a:xfrm>
            <a:off x="2253996"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Adversarial attack</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generation</a:t>
            </a:r>
            <a:endParaRPr lang="en-US" sz="980" dirty="0"/>
          </a:p>
        </p:txBody>
      </p:sp>
      <p:sp>
        <p:nvSpPr>
          <p:cNvPr id="19" name="Shape 15"/>
          <p:cNvSpPr/>
          <p:nvPr/>
        </p:nvSpPr>
        <p:spPr>
          <a:xfrm>
            <a:off x="3826764"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6"/>
          <p:cNvSpPr/>
          <p:nvPr/>
        </p:nvSpPr>
        <p:spPr>
          <a:xfrm>
            <a:off x="4352544" y="2953512"/>
            <a:ext cx="438912" cy="438912"/>
          </a:xfrm>
          <a:prstGeom prst="ellipse">
            <a:avLst/>
          </a:prstGeom>
          <a:solidFill>
            <a:srgbClr val="0E8A8A"/>
          </a:solidFill>
          <a:ln/>
        </p:spPr>
        <p:txBody>
          <a:bodyPr/>
          <a:lstStyle/>
          <a:p>
            <a:endParaRPr lang="it-IT"/>
          </a:p>
        </p:txBody>
      </p:sp>
      <p:pic>
        <p:nvPicPr>
          <p:cNvPr id="21" name="Image 2" descr="preencoded.png"/>
          <p:cNvPicPr>
            <a:picLocks noChangeAspect="1"/>
          </p:cNvPicPr>
          <p:nvPr/>
        </p:nvPicPr>
        <p:blipFill>
          <a:blip r:embed="rId5"/>
          <a:stretch>
            <a:fillRect/>
          </a:stretch>
        </p:blipFill>
        <p:spPr>
          <a:xfrm>
            <a:off x="4409603" y="3010571"/>
            <a:ext cx="324795" cy="324795"/>
          </a:xfrm>
          <a:prstGeom prst="rect">
            <a:avLst/>
          </a:prstGeom>
        </p:spPr>
      </p:pic>
      <p:sp>
        <p:nvSpPr>
          <p:cNvPr id="22" name="Text 17"/>
          <p:cNvSpPr/>
          <p:nvPr/>
        </p:nvSpPr>
        <p:spPr>
          <a:xfrm>
            <a:off x="3872484"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Confidence-level</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analysis</a:t>
            </a:r>
            <a:endParaRPr lang="en-US" sz="980" dirty="0"/>
          </a:p>
        </p:txBody>
      </p:sp>
      <p:sp>
        <p:nvSpPr>
          <p:cNvPr id="23" name="Shape 18"/>
          <p:cNvSpPr/>
          <p:nvPr/>
        </p:nvSpPr>
        <p:spPr>
          <a:xfrm>
            <a:off x="5445252"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4" name="Shape 19"/>
          <p:cNvSpPr/>
          <p:nvPr/>
        </p:nvSpPr>
        <p:spPr>
          <a:xfrm>
            <a:off x="5971032" y="2953512"/>
            <a:ext cx="438912" cy="438912"/>
          </a:xfrm>
          <a:prstGeom prst="ellipse">
            <a:avLst/>
          </a:prstGeom>
          <a:solidFill>
            <a:srgbClr val="0E8A8A"/>
          </a:solidFill>
          <a:ln/>
        </p:spPr>
        <p:txBody>
          <a:bodyPr/>
          <a:lstStyle/>
          <a:p>
            <a:endParaRPr lang="it-IT"/>
          </a:p>
        </p:txBody>
      </p:sp>
      <p:pic>
        <p:nvPicPr>
          <p:cNvPr id="25" name="Image 3" descr="preencoded.png"/>
          <p:cNvPicPr>
            <a:picLocks noChangeAspect="1"/>
          </p:cNvPicPr>
          <p:nvPr/>
        </p:nvPicPr>
        <p:blipFill>
          <a:blip r:embed="rId6"/>
          <a:stretch>
            <a:fillRect/>
          </a:stretch>
        </p:blipFill>
        <p:spPr>
          <a:xfrm>
            <a:off x="6028091" y="3010571"/>
            <a:ext cx="324795" cy="324795"/>
          </a:xfrm>
          <a:prstGeom prst="rect">
            <a:avLst/>
          </a:prstGeom>
        </p:spPr>
      </p:pic>
      <p:sp>
        <p:nvSpPr>
          <p:cNvPr id="26" name="Text 20"/>
          <p:cNvSpPr/>
          <p:nvPr/>
        </p:nvSpPr>
        <p:spPr>
          <a:xfrm>
            <a:off x="5490972"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Confusion</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matrices</a:t>
            </a:r>
            <a:endParaRPr lang="en-US" sz="980" dirty="0"/>
          </a:p>
        </p:txBody>
      </p:sp>
      <p:sp>
        <p:nvSpPr>
          <p:cNvPr id="27" name="Shape 21"/>
          <p:cNvSpPr/>
          <p:nvPr/>
        </p:nvSpPr>
        <p:spPr>
          <a:xfrm>
            <a:off x="7063740" y="2788920"/>
            <a:ext cx="1490472" cy="1508760"/>
          </a:xfrm>
          <a:prstGeom prst="roundRect">
            <a:avLst>
              <a:gd name="adj" fmla="val 5521"/>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8" name="Shape 22"/>
          <p:cNvSpPr/>
          <p:nvPr/>
        </p:nvSpPr>
        <p:spPr>
          <a:xfrm>
            <a:off x="7589520" y="2953512"/>
            <a:ext cx="438912" cy="438912"/>
          </a:xfrm>
          <a:prstGeom prst="ellipse">
            <a:avLst/>
          </a:prstGeom>
          <a:solidFill>
            <a:srgbClr val="0E8A8A"/>
          </a:solidFill>
          <a:ln/>
        </p:spPr>
        <p:txBody>
          <a:bodyPr/>
          <a:lstStyle/>
          <a:p>
            <a:endParaRPr lang="it-IT"/>
          </a:p>
        </p:txBody>
      </p:sp>
      <p:pic>
        <p:nvPicPr>
          <p:cNvPr id="29" name="Image 4" descr="preencoded.png"/>
          <p:cNvPicPr>
            <a:picLocks noChangeAspect="1"/>
          </p:cNvPicPr>
          <p:nvPr/>
        </p:nvPicPr>
        <p:blipFill>
          <a:blip r:embed="rId7"/>
          <a:stretch>
            <a:fillRect/>
          </a:stretch>
        </p:blipFill>
        <p:spPr>
          <a:xfrm>
            <a:off x="7646579" y="3010571"/>
            <a:ext cx="324795" cy="324795"/>
          </a:xfrm>
          <a:prstGeom prst="rect">
            <a:avLst/>
          </a:prstGeom>
        </p:spPr>
      </p:pic>
      <p:sp>
        <p:nvSpPr>
          <p:cNvPr id="30" name="Text 23"/>
          <p:cNvSpPr/>
          <p:nvPr/>
        </p:nvSpPr>
        <p:spPr>
          <a:xfrm>
            <a:off x="7109460" y="3502152"/>
            <a:ext cx="1399032" cy="731520"/>
          </a:xfrm>
          <a:prstGeom prst="rect">
            <a:avLst/>
          </a:prstGeom>
          <a:noFill/>
          <a:ln/>
        </p:spPr>
        <p:txBody>
          <a:bodyPr wrap="square" lIns="0" tIns="0" rIns="0" bIns="0" rtlCol="0" anchor="t"/>
          <a:lstStyle/>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XAI heatmaps &amp;</a:t>
            </a:r>
            <a:endParaRPr lang="en-US" sz="980" dirty="0"/>
          </a:p>
          <a:p>
            <a:pPr marL="0" indent="0" algn="ctr">
              <a:lnSpc>
                <a:spcPct val="115000"/>
              </a:lnSpc>
              <a:buNone/>
            </a:pPr>
            <a:r>
              <a:rPr lang="en-US" sz="980" b="1" dirty="0">
                <a:solidFill>
                  <a:srgbClr val="0A1F3D"/>
                </a:solidFill>
                <a:latin typeface="Calibri" pitchFamily="34" charset="0"/>
                <a:ea typeface="Calibri" pitchFamily="34" charset="-122"/>
                <a:cs typeface="Calibri" pitchFamily="34" charset="-120"/>
              </a:rPr>
              <a:t>attribution maps</a:t>
            </a:r>
            <a:endParaRPr lang="en-US" sz="980" dirty="0"/>
          </a:p>
        </p:txBody>
      </p:sp>
      <p:sp>
        <p:nvSpPr>
          <p:cNvPr id="31" name="Text 24"/>
          <p:cNvSpPr/>
          <p:nvPr/>
        </p:nvSpPr>
        <p:spPr>
          <a:xfrm>
            <a:off x="502920" y="4480560"/>
            <a:ext cx="8138160" cy="320040"/>
          </a:xfrm>
          <a:prstGeom prst="rect">
            <a:avLst/>
          </a:prstGeom>
          <a:noFill/>
          <a:ln/>
        </p:spPr>
        <p:txBody>
          <a:bodyPr wrap="square" lIns="0" tIns="0" rIns="0" bIns="0" rtlCol="0" anchor="ctr"/>
          <a:lstStyle/>
          <a:p>
            <a:pPr marL="0" indent="0">
              <a:buNone/>
            </a:pPr>
            <a:r>
              <a:rPr lang="en-US" sz="1080" b="1" dirty="0">
                <a:solidFill>
                  <a:srgbClr val="0A1F3D"/>
                </a:solidFill>
                <a:latin typeface="Calibri" pitchFamily="34" charset="0"/>
                <a:ea typeface="Calibri" pitchFamily="34" charset="-122"/>
                <a:cs typeface="Calibri" pitchFamily="34" charset="-120"/>
              </a:rPr>
              <a:t>Role in the thesis: </a:t>
            </a:r>
            <a:r>
              <a:rPr lang="en-US" sz="1080" dirty="0">
                <a:solidFill>
                  <a:srgbClr val="1C2B42"/>
                </a:solidFill>
                <a:latin typeface="Calibri" pitchFamily="34" charset="0"/>
                <a:ea typeface="Calibri" pitchFamily="34" charset="-122"/>
                <a:cs typeface="Calibri" pitchFamily="34" charset="-120"/>
              </a:rPr>
              <a:t>proxy models act as transparent reference systems for understanding robustness under controlled stress — not as replacements for commercial tools.</a:t>
            </a:r>
            <a:endParaRPr lang="en-US" sz="1080" dirty="0"/>
          </a:p>
        </p:txBody>
      </p:sp>
      <p:sp>
        <p:nvSpPr>
          <p:cNvPr id="32" name="Text 2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3" name="Text 2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BLACK-BOX TRACK</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Commercial Tool Evaluation</a:t>
            </a:r>
            <a:endParaRPr lang="en-US" sz="2700" dirty="0"/>
          </a:p>
        </p:txBody>
      </p:sp>
      <p:sp>
        <p:nvSpPr>
          <p:cNvPr id="4" name="Shape 2"/>
          <p:cNvSpPr/>
          <p:nvPr/>
        </p:nvSpPr>
        <p:spPr>
          <a:xfrm>
            <a:off x="685800" y="1417320"/>
            <a:ext cx="141732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5" name="Image 0" descr="preencoded.png"/>
          <p:cNvPicPr>
            <a:picLocks noChangeAspect="1"/>
          </p:cNvPicPr>
          <p:nvPr/>
        </p:nvPicPr>
        <p:blipFill>
          <a:blip r:embed="rId3"/>
          <a:stretch>
            <a:fillRect/>
          </a:stretch>
        </p:blipFill>
        <p:spPr>
          <a:xfrm>
            <a:off x="1211580" y="1527048"/>
            <a:ext cx="365760" cy="365760"/>
          </a:xfrm>
          <a:prstGeom prst="rect">
            <a:avLst/>
          </a:prstGeom>
        </p:spPr>
      </p:pic>
      <p:sp>
        <p:nvSpPr>
          <p:cNvPr id="6" name="Text 3"/>
          <p:cNvSpPr/>
          <p:nvPr/>
        </p:nvSpPr>
        <p:spPr>
          <a:xfrm>
            <a:off x="713232" y="1929384"/>
            <a:ext cx="136245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Input</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Bundle</a:t>
            </a:r>
            <a:endParaRPr lang="en-US" sz="930" dirty="0"/>
          </a:p>
        </p:txBody>
      </p:sp>
      <p:sp>
        <p:nvSpPr>
          <p:cNvPr id="7" name="Shape 4"/>
          <p:cNvSpPr/>
          <p:nvPr/>
        </p:nvSpPr>
        <p:spPr>
          <a:xfrm>
            <a:off x="2121408" y="1833372"/>
            <a:ext cx="146304" cy="128016"/>
          </a:xfrm>
          <a:prstGeom prst="rightArrow">
            <a:avLst/>
          </a:prstGeom>
          <a:solidFill>
            <a:srgbClr val="C6D2E3"/>
          </a:solidFill>
          <a:ln/>
        </p:spPr>
        <p:txBody>
          <a:bodyPr/>
          <a:lstStyle/>
          <a:p>
            <a:endParaRPr lang="it-IT"/>
          </a:p>
        </p:txBody>
      </p:sp>
      <p:sp>
        <p:nvSpPr>
          <p:cNvPr id="8" name="Shape 5"/>
          <p:cNvSpPr/>
          <p:nvPr/>
        </p:nvSpPr>
        <p:spPr>
          <a:xfrm>
            <a:off x="2286000" y="1417320"/>
            <a:ext cx="1325880" cy="960120"/>
          </a:xfrm>
          <a:prstGeom prst="roundRect">
            <a:avLst>
              <a:gd name="adj" fmla="val 8571"/>
            </a:avLst>
          </a:prstGeom>
          <a:solidFill>
            <a:srgbClr val="0A1F3D"/>
          </a:solidFill>
          <a:ln/>
          <a:effectLst>
            <a:outerShdw blurRad="88900" dist="25400" dir="5400000" algn="bl" rotWithShape="0">
              <a:srgbClr val="000000">
                <a:alpha val="10000"/>
              </a:srgbClr>
            </a:outerShdw>
          </a:effectLst>
        </p:spPr>
        <p:txBody>
          <a:bodyPr/>
          <a:lstStyle/>
          <a:p>
            <a:endParaRPr lang="it-IT"/>
          </a:p>
        </p:txBody>
      </p:sp>
      <p:pic>
        <p:nvPicPr>
          <p:cNvPr id="9" name="Image 1" descr="preencoded.png"/>
          <p:cNvPicPr>
            <a:picLocks noChangeAspect="1"/>
          </p:cNvPicPr>
          <p:nvPr/>
        </p:nvPicPr>
        <p:blipFill>
          <a:blip r:embed="rId4"/>
          <a:stretch>
            <a:fillRect/>
          </a:stretch>
        </p:blipFill>
        <p:spPr>
          <a:xfrm>
            <a:off x="2766060" y="1527048"/>
            <a:ext cx="365760" cy="365760"/>
          </a:xfrm>
          <a:prstGeom prst="rect">
            <a:avLst/>
          </a:prstGeom>
        </p:spPr>
      </p:pic>
      <p:sp>
        <p:nvSpPr>
          <p:cNvPr id="10" name="Text 6"/>
          <p:cNvSpPr/>
          <p:nvPr/>
        </p:nvSpPr>
        <p:spPr>
          <a:xfrm>
            <a:off x="2313432" y="1929384"/>
            <a:ext cx="1271016" cy="402336"/>
          </a:xfrm>
          <a:prstGeom prst="rect">
            <a:avLst/>
          </a:prstGeom>
          <a:noFill/>
          <a:ln/>
        </p:spPr>
        <p:txBody>
          <a:bodyPr wrap="square" lIns="0" tIns="0" rIns="0" bIns="0" rtlCol="0" anchor="t"/>
          <a:lstStyle/>
          <a:p>
            <a:pPr marL="0" indent="0" algn="ctr">
              <a:lnSpc>
                <a:spcPct val="110000"/>
              </a:lnSpc>
              <a:buNone/>
            </a:pPr>
            <a:r>
              <a:rPr lang="en-US" sz="930" b="1" dirty="0">
                <a:solidFill>
                  <a:srgbClr val="FFFFFF"/>
                </a:solidFill>
                <a:latin typeface="Calibri" pitchFamily="34" charset="0"/>
                <a:ea typeface="Calibri" pitchFamily="34" charset="-122"/>
                <a:cs typeface="Calibri" pitchFamily="34" charset="-120"/>
              </a:rPr>
              <a:t>Tool</a:t>
            </a:r>
            <a:endParaRPr lang="en-US" sz="930" dirty="0"/>
          </a:p>
          <a:p>
            <a:pPr marL="0" indent="0" algn="ctr">
              <a:lnSpc>
                <a:spcPct val="110000"/>
              </a:lnSpc>
              <a:buNone/>
            </a:pPr>
            <a:r>
              <a:rPr lang="en-US" sz="930" b="1" dirty="0">
                <a:solidFill>
                  <a:srgbClr val="FFFFFF"/>
                </a:solidFill>
                <a:latin typeface="Calibri" pitchFamily="34" charset="0"/>
                <a:ea typeface="Calibri" pitchFamily="34" charset="-122"/>
                <a:cs typeface="Calibri" pitchFamily="34" charset="-120"/>
              </a:rPr>
              <a:t>(black box)</a:t>
            </a:r>
            <a:endParaRPr lang="en-US" sz="930" dirty="0"/>
          </a:p>
        </p:txBody>
      </p:sp>
      <p:sp>
        <p:nvSpPr>
          <p:cNvPr id="11" name="Shape 7"/>
          <p:cNvSpPr/>
          <p:nvPr/>
        </p:nvSpPr>
        <p:spPr>
          <a:xfrm>
            <a:off x="3630168" y="1833372"/>
            <a:ext cx="146304" cy="128016"/>
          </a:xfrm>
          <a:prstGeom prst="rightArrow">
            <a:avLst/>
          </a:prstGeom>
          <a:solidFill>
            <a:srgbClr val="C6D2E3"/>
          </a:solidFill>
          <a:ln/>
        </p:spPr>
        <p:txBody>
          <a:bodyPr/>
          <a:lstStyle/>
          <a:p>
            <a:endParaRPr lang="it-IT"/>
          </a:p>
        </p:txBody>
      </p:sp>
      <p:sp>
        <p:nvSpPr>
          <p:cNvPr id="12" name="Shape 8"/>
          <p:cNvSpPr/>
          <p:nvPr/>
        </p:nvSpPr>
        <p:spPr>
          <a:xfrm>
            <a:off x="3794760" y="1417320"/>
            <a:ext cx="141732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3" name="Image 2" descr="preencoded.png"/>
          <p:cNvPicPr>
            <a:picLocks noChangeAspect="1"/>
          </p:cNvPicPr>
          <p:nvPr/>
        </p:nvPicPr>
        <p:blipFill>
          <a:blip r:embed="rId5"/>
          <a:stretch>
            <a:fillRect/>
          </a:stretch>
        </p:blipFill>
        <p:spPr>
          <a:xfrm>
            <a:off x="4320540" y="1527048"/>
            <a:ext cx="365760" cy="365760"/>
          </a:xfrm>
          <a:prstGeom prst="rect">
            <a:avLst/>
          </a:prstGeom>
        </p:spPr>
      </p:pic>
      <p:sp>
        <p:nvSpPr>
          <p:cNvPr id="14" name="Text 9"/>
          <p:cNvSpPr/>
          <p:nvPr/>
        </p:nvSpPr>
        <p:spPr>
          <a:xfrm>
            <a:off x="3822192" y="1929384"/>
            <a:ext cx="136245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Export /</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Report</a:t>
            </a:r>
            <a:endParaRPr lang="en-US" sz="930" dirty="0"/>
          </a:p>
        </p:txBody>
      </p:sp>
      <p:sp>
        <p:nvSpPr>
          <p:cNvPr id="15" name="Shape 10"/>
          <p:cNvSpPr/>
          <p:nvPr/>
        </p:nvSpPr>
        <p:spPr>
          <a:xfrm>
            <a:off x="5230368" y="1833372"/>
            <a:ext cx="146304" cy="128016"/>
          </a:xfrm>
          <a:prstGeom prst="rightArrow">
            <a:avLst/>
          </a:prstGeom>
          <a:solidFill>
            <a:srgbClr val="C6D2E3"/>
          </a:solidFill>
          <a:ln/>
        </p:spPr>
        <p:txBody>
          <a:bodyPr/>
          <a:lstStyle/>
          <a:p>
            <a:endParaRPr lang="it-IT"/>
          </a:p>
        </p:txBody>
      </p:sp>
      <p:sp>
        <p:nvSpPr>
          <p:cNvPr id="16" name="Shape 11"/>
          <p:cNvSpPr/>
          <p:nvPr/>
        </p:nvSpPr>
        <p:spPr>
          <a:xfrm>
            <a:off x="5394960" y="1417320"/>
            <a:ext cx="160020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17" name="Image 3" descr="preencoded.png"/>
          <p:cNvPicPr>
            <a:picLocks noChangeAspect="1"/>
          </p:cNvPicPr>
          <p:nvPr/>
        </p:nvPicPr>
        <p:blipFill>
          <a:blip r:embed="rId6"/>
          <a:stretch>
            <a:fillRect/>
          </a:stretch>
        </p:blipFill>
        <p:spPr>
          <a:xfrm>
            <a:off x="6012180" y="1527048"/>
            <a:ext cx="365760" cy="365760"/>
          </a:xfrm>
          <a:prstGeom prst="rect">
            <a:avLst/>
          </a:prstGeom>
        </p:spPr>
      </p:pic>
      <p:sp>
        <p:nvSpPr>
          <p:cNvPr id="18" name="Text 12"/>
          <p:cNvSpPr/>
          <p:nvPr/>
        </p:nvSpPr>
        <p:spPr>
          <a:xfrm>
            <a:off x="5422392" y="1929384"/>
            <a:ext cx="154533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Conservative</a:t>
            </a:r>
            <a:endParaRPr lang="en-US" sz="930" dirty="0"/>
          </a:p>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Normalization</a:t>
            </a:r>
            <a:endParaRPr lang="en-US" sz="930" dirty="0"/>
          </a:p>
        </p:txBody>
      </p:sp>
      <p:sp>
        <p:nvSpPr>
          <p:cNvPr id="19" name="Shape 13"/>
          <p:cNvSpPr/>
          <p:nvPr/>
        </p:nvSpPr>
        <p:spPr>
          <a:xfrm>
            <a:off x="7013448" y="1833372"/>
            <a:ext cx="146304" cy="128016"/>
          </a:xfrm>
          <a:prstGeom prst="rightArrow">
            <a:avLst/>
          </a:prstGeom>
          <a:solidFill>
            <a:srgbClr val="C6D2E3"/>
          </a:solidFill>
          <a:ln/>
        </p:spPr>
        <p:txBody>
          <a:bodyPr/>
          <a:lstStyle/>
          <a:p>
            <a:endParaRPr lang="it-IT"/>
          </a:p>
        </p:txBody>
      </p:sp>
      <p:sp>
        <p:nvSpPr>
          <p:cNvPr id="20" name="Shape 14"/>
          <p:cNvSpPr/>
          <p:nvPr/>
        </p:nvSpPr>
        <p:spPr>
          <a:xfrm>
            <a:off x="7178040" y="1417320"/>
            <a:ext cx="1280160" cy="960120"/>
          </a:xfrm>
          <a:prstGeom prst="roundRect">
            <a:avLst>
              <a:gd name="adj" fmla="val 8571"/>
            </a:avLst>
          </a:prstGeom>
          <a:solidFill>
            <a:srgbClr val="F3F6FA"/>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pic>
        <p:nvPicPr>
          <p:cNvPr id="21" name="Image 4" descr="preencoded.png"/>
          <p:cNvPicPr>
            <a:picLocks noChangeAspect="1"/>
          </p:cNvPicPr>
          <p:nvPr/>
        </p:nvPicPr>
        <p:blipFill>
          <a:blip r:embed="rId7"/>
          <a:stretch>
            <a:fillRect/>
          </a:stretch>
        </p:blipFill>
        <p:spPr>
          <a:xfrm>
            <a:off x="7635240" y="1527048"/>
            <a:ext cx="365760" cy="365760"/>
          </a:xfrm>
          <a:prstGeom prst="rect">
            <a:avLst/>
          </a:prstGeom>
        </p:spPr>
      </p:pic>
      <p:sp>
        <p:nvSpPr>
          <p:cNvPr id="22" name="Text 15"/>
          <p:cNvSpPr/>
          <p:nvPr/>
        </p:nvSpPr>
        <p:spPr>
          <a:xfrm>
            <a:off x="7205472" y="1929384"/>
            <a:ext cx="1225296" cy="402336"/>
          </a:xfrm>
          <a:prstGeom prst="rect">
            <a:avLst/>
          </a:prstGeom>
          <a:noFill/>
          <a:ln/>
        </p:spPr>
        <p:txBody>
          <a:bodyPr wrap="square" lIns="0" tIns="0" rIns="0" bIns="0" rtlCol="0" anchor="t"/>
          <a:lstStyle/>
          <a:p>
            <a:pPr marL="0" indent="0" algn="ctr">
              <a:lnSpc>
                <a:spcPct val="110000"/>
              </a:lnSpc>
              <a:buNone/>
            </a:pPr>
            <a:r>
              <a:rPr lang="en-US" sz="930" b="1" dirty="0">
                <a:solidFill>
                  <a:srgbClr val="1C2B42"/>
                </a:solidFill>
                <a:latin typeface="Calibri" pitchFamily="34" charset="0"/>
                <a:ea typeface="Calibri" pitchFamily="34" charset="-122"/>
                <a:cs typeface="Calibri" pitchFamily="34" charset="-120"/>
              </a:rPr>
              <a:t>Metrics</a:t>
            </a:r>
            <a:endParaRPr lang="en-US" sz="930" dirty="0"/>
          </a:p>
        </p:txBody>
      </p:sp>
      <p:sp>
        <p:nvSpPr>
          <p:cNvPr id="23" name="Text 16"/>
          <p:cNvSpPr/>
          <p:nvPr/>
        </p:nvSpPr>
        <p:spPr>
          <a:xfrm>
            <a:off x="502920" y="2697480"/>
            <a:ext cx="3931920" cy="1554480"/>
          </a:xfrm>
          <a:prstGeom prst="rect">
            <a:avLst/>
          </a:prstGeom>
          <a:noFill/>
          <a:ln/>
        </p:spPr>
        <p:txBody>
          <a:bodyPr wrap="square" rtlCol="0" anchor="t"/>
          <a:lstStyle/>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Outputs are collected from tool reports / exports</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Internal models are not accessible</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Labels are mapped conservatively</a:t>
            </a:r>
            <a:endParaRPr lang="en-US" sz="1250" dirty="0"/>
          </a:p>
          <a:p>
            <a:pPr marL="342900" indent="-342900">
              <a:spcAft>
                <a:spcPts val="700"/>
              </a:spcAft>
              <a:buSzPct val="100000"/>
              <a:buChar char="–"/>
            </a:pPr>
            <a:r>
              <a:rPr lang="en-US" sz="1250" dirty="0">
                <a:solidFill>
                  <a:srgbClr val="1C2B42"/>
                </a:solidFill>
                <a:latin typeface="Calibri" pitchFamily="34" charset="0"/>
                <a:ea typeface="Calibri" pitchFamily="34" charset="-122"/>
                <a:cs typeface="Calibri" pitchFamily="34" charset="-120"/>
              </a:rPr>
              <a:t>Unknown / non-mapped outputs are preserved</a:t>
            </a:r>
            <a:endParaRPr lang="en-US" sz="1250" dirty="0"/>
          </a:p>
        </p:txBody>
      </p:sp>
      <p:sp>
        <p:nvSpPr>
          <p:cNvPr id="24" name="Shape 17"/>
          <p:cNvSpPr/>
          <p:nvPr/>
        </p:nvSpPr>
        <p:spPr>
          <a:xfrm>
            <a:off x="4709160" y="2697480"/>
            <a:ext cx="3931920" cy="1554480"/>
          </a:xfrm>
          <a:prstGeom prst="roundRect">
            <a:avLst>
              <a:gd name="adj" fmla="val 5294"/>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5" name="Text 18"/>
          <p:cNvSpPr/>
          <p:nvPr/>
        </p:nvSpPr>
        <p:spPr>
          <a:xfrm>
            <a:off x="4937760" y="2788920"/>
            <a:ext cx="3474720" cy="274320"/>
          </a:xfrm>
          <a:prstGeom prst="rect">
            <a:avLst/>
          </a:prstGeom>
          <a:noFill/>
          <a:ln/>
        </p:spPr>
        <p:txBody>
          <a:bodyPr wrap="square" lIns="0" tIns="0" rIns="0" bIns="0" rtlCol="0" anchor="ctr"/>
          <a:lstStyle/>
          <a:p>
            <a:pPr marL="0" indent="0">
              <a:buNone/>
            </a:pPr>
            <a:r>
              <a:rPr lang="en-US" sz="1250" b="1" dirty="0">
                <a:solidFill>
                  <a:srgbClr val="0A1F3D"/>
                </a:solidFill>
                <a:latin typeface="Cambria" pitchFamily="34" charset="0"/>
                <a:ea typeface="Cambria" pitchFamily="34" charset="-122"/>
                <a:cs typeface="Cambria" pitchFamily="34" charset="-120"/>
              </a:rPr>
              <a:t>Evaluated Tools</a:t>
            </a:r>
            <a:endParaRPr lang="en-US" sz="1250" dirty="0"/>
          </a:p>
        </p:txBody>
      </p:sp>
      <p:sp>
        <p:nvSpPr>
          <p:cNvPr id="26" name="Text 19"/>
          <p:cNvSpPr/>
          <p:nvPr/>
        </p:nvSpPr>
        <p:spPr>
          <a:xfrm>
            <a:off x="4937760" y="3108960"/>
            <a:ext cx="3474720" cy="1051560"/>
          </a:xfrm>
          <a:prstGeom prst="rect">
            <a:avLst/>
          </a:prstGeom>
          <a:noFill/>
          <a:ln/>
        </p:spPr>
        <p:txBody>
          <a:bodyPr wrap="square" rtlCol="0" anchor="t"/>
          <a:lstStyle/>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Magnet AXIOM / Magnet.AI</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Excire Foto 2025</a:t>
            </a:r>
            <a:endParaRPr lang="en-US" sz="1200" dirty="0"/>
          </a:p>
          <a:p>
            <a:pPr marL="342900" indent="-342900">
              <a:spcAft>
                <a:spcPts val="600"/>
              </a:spcAft>
              <a:buSzPct val="100000"/>
              <a:buChar char="–"/>
            </a:pPr>
            <a:r>
              <a:rPr lang="en-US" sz="1200" dirty="0">
                <a:solidFill>
                  <a:srgbClr val="1C2B42"/>
                </a:solidFill>
                <a:latin typeface="Calibri" pitchFamily="34" charset="0"/>
                <a:ea typeface="Calibri" pitchFamily="34" charset="-122"/>
                <a:cs typeface="Calibri" pitchFamily="34" charset="-120"/>
              </a:rPr>
              <a:t>Cellebrite Inseyets</a:t>
            </a:r>
            <a:endParaRPr lang="en-US" sz="1200" dirty="0"/>
          </a:p>
        </p:txBody>
      </p:sp>
      <p:sp>
        <p:nvSpPr>
          <p:cNvPr id="27" name="Text 20"/>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8" name="Text 21"/>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SYNTHESIS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Operational Risk Summary</a:t>
            </a:r>
            <a:endParaRPr lang="en-US" sz="2700" dirty="0"/>
          </a:p>
        </p:txBody>
      </p:sp>
      <p:sp>
        <p:nvSpPr>
          <p:cNvPr id="4" name="Shape 2"/>
          <p:cNvSpPr/>
          <p:nvPr/>
        </p:nvSpPr>
        <p:spPr>
          <a:xfrm>
            <a:off x="64008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98448" y="1554480"/>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365016" y="1621048"/>
            <a:ext cx="378927" cy="378927"/>
          </a:xfrm>
          <a:prstGeom prst="rect">
            <a:avLst/>
          </a:prstGeom>
        </p:spPr>
      </p:pic>
      <p:sp>
        <p:nvSpPr>
          <p:cNvPr id="7" name="Text 4"/>
          <p:cNvSpPr/>
          <p:nvPr/>
        </p:nvSpPr>
        <p:spPr>
          <a:xfrm>
            <a:off x="68580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Clean</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Performance</a:t>
            </a:r>
            <a:endParaRPr lang="en-US" sz="1200" dirty="0"/>
          </a:p>
        </p:txBody>
      </p:sp>
      <p:sp>
        <p:nvSpPr>
          <p:cNvPr id="8" name="Shape 5"/>
          <p:cNvSpPr/>
          <p:nvPr/>
        </p:nvSpPr>
        <p:spPr>
          <a:xfrm>
            <a:off x="265176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9" name="Shape 6"/>
          <p:cNvSpPr/>
          <p:nvPr/>
        </p:nvSpPr>
        <p:spPr>
          <a:xfrm>
            <a:off x="3310128" y="1554480"/>
            <a:ext cx="512064" cy="512064"/>
          </a:xfrm>
          <a:prstGeom prst="ellipse">
            <a:avLst/>
          </a:prstGeom>
          <a:solidFill>
            <a:srgbClr val="0E8A8A"/>
          </a:solidFill>
          <a:ln/>
        </p:spPr>
        <p:txBody>
          <a:bodyPr/>
          <a:lstStyle/>
          <a:p>
            <a:endParaRPr lang="it-IT"/>
          </a:p>
        </p:txBody>
      </p:sp>
      <p:pic>
        <p:nvPicPr>
          <p:cNvPr id="10" name="Image 1" descr="preencoded.png"/>
          <p:cNvPicPr>
            <a:picLocks noChangeAspect="1"/>
          </p:cNvPicPr>
          <p:nvPr/>
        </p:nvPicPr>
        <p:blipFill>
          <a:blip r:embed="rId4"/>
          <a:stretch>
            <a:fillRect/>
          </a:stretch>
        </p:blipFill>
        <p:spPr>
          <a:xfrm>
            <a:off x="3376696" y="1621048"/>
            <a:ext cx="378927" cy="378927"/>
          </a:xfrm>
          <a:prstGeom prst="rect">
            <a:avLst/>
          </a:prstGeom>
        </p:spPr>
      </p:pic>
      <p:sp>
        <p:nvSpPr>
          <p:cNvPr id="11" name="Text 7"/>
          <p:cNvSpPr/>
          <p:nvPr/>
        </p:nvSpPr>
        <p:spPr>
          <a:xfrm>
            <a:off x="269748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OOD</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Handling</a:t>
            </a:r>
            <a:endParaRPr lang="en-US" sz="1200" dirty="0"/>
          </a:p>
        </p:txBody>
      </p:sp>
      <p:sp>
        <p:nvSpPr>
          <p:cNvPr id="12" name="Shape 8"/>
          <p:cNvSpPr/>
          <p:nvPr/>
        </p:nvSpPr>
        <p:spPr>
          <a:xfrm>
            <a:off x="466344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3" name="Shape 9"/>
          <p:cNvSpPr/>
          <p:nvPr/>
        </p:nvSpPr>
        <p:spPr>
          <a:xfrm>
            <a:off x="5321808" y="1554480"/>
            <a:ext cx="512064" cy="512064"/>
          </a:xfrm>
          <a:prstGeom prst="ellipse">
            <a:avLst/>
          </a:prstGeom>
          <a:solidFill>
            <a:srgbClr val="0E8A8A"/>
          </a:solidFill>
          <a:ln/>
        </p:spPr>
        <p:txBody>
          <a:bodyPr/>
          <a:lstStyle/>
          <a:p>
            <a:endParaRPr lang="it-IT"/>
          </a:p>
        </p:txBody>
      </p:sp>
      <p:pic>
        <p:nvPicPr>
          <p:cNvPr id="14" name="Image 2" descr="preencoded.png"/>
          <p:cNvPicPr>
            <a:picLocks noChangeAspect="1"/>
          </p:cNvPicPr>
          <p:nvPr/>
        </p:nvPicPr>
        <p:blipFill>
          <a:blip r:embed="rId5"/>
          <a:stretch>
            <a:fillRect/>
          </a:stretch>
        </p:blipFill>
        <p:spPr>
          <a:xfrm>
            <a:off x="5388376" y="1621048"/>
            <a:ext cx="378927" cy="378927"/>
          </a:xfrm>
          <a:prstGeom prst="rect">
            <a:avLst/>
          </a:prstGeom>
        </p:spPr>
      </p:pic>
      <p:sp>
        <p:nvSpPr>
          <p:cNvPr id="15" name="Text 10"/>
          <p:cNvSpPr/>
          <p:nvPr/>
        </p:nvSpPr>
        <p:spPr>
          <a:xfrm>
            <a:off x="470916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Adversarial</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16" name="Shape 11"/>
          <p:cNvSpPr/>
          <p:nvPr/>
        </p:nvSpPr>
        <p:spPr>
          <a:xfrm>
            <a:off x="6675120" y="1371600"/>
            <a:ext cx="1828800" cy="1508760"/>
          </a:xfrm>
          <a:prstGeom prst="roundRect">
            <a:avLst>
              <a:gd name="adj" fmla="val 5455"/>
            </a:avLst>
          </a:prstGeom>
          <a:solidFill>
            <a:srgbClr val="FFFFFF"/>
          </a:solidFill>
          <a:ln w="12700">
            <a:solidFill>
              <a:srgbClr val="E2E8F0"/>
            </a:solidFill>
            <a:prstDash val="solid"/>
          </a:ln>
          <a:effectLst>
            <a:outerShdw blurRad="88900" dist="25400" dir="5400000" algn="bl" rotWithShape="0">
              <a:srgbClr val="000000">
                <a:alpha val="10000"/>
              </a:srgbClr>
            </a:outerShdw>
          </a:effectLst>
        </p:spPr>
        <p:txBody>
          <a:bodyPr/>
          <a:lstStyle/>
          <a:p>
            <a:endParaRPr lang="it-IT"/>
          </a:p>
        </p:txBody>
      </p:sp>
      <p:sp>
        <p:nvSpPr>
          <p:cNvPr id="17" name="Shape 12"/>
          <p:cNvSpPr/>
          <p:nvPr/>
        </p:nvSpPr>
        <p:spPr>
          <a:xfrm>
            <a:off x="7333488" y="1554480"/>
            <a:ext cx="512064" cy="512064"/>
          </a:xfrm>
          <a:prstGeom prst="ellipse">
            <a:avLst/>
          </a:prstGeom>
          <a:solidFill>
            <a:srgbClr val="0E8A8A"/>
          </a:solidFill>
          <a:ln/>
        </p:spPr>
        <p:txBody>
          <a:bodyPr/>
          <a:lstStyle/>
          <a:p>
            <a:endParaRPr lang="it-IT"/>
          </a:p>
        </p:txBody>
      </p:sp>
      <p:pic>
        <p:nvPicPr>
          <p:cNvPr id="18" name="Image 3" descr="preencoded.png"/>
          <p:cNvPicPr>
            <a:picLocks noChangeAspect="1"/>
          </p:cNvPicPr>
          <p:nvPr/>
        </p:nvPicPr>
        <p:blipFill>
          <a:blip r:embed="rId6"/>
          <a:stretch>
            <a:fillRect/>
          </a:stretch>
        </p:blipFill>
        <p:spPr>
          <a:xfrm>
            <a:off x="7400056" y="1621048"/>
            <a:ext cx="378927" cy="378927"/>
          </a:xfrm>
          <a:prstGeom prst="rect">
            <a:avLst/>
          </a:prstGeom>
        </p:spPr>
      </p:pic>
      <p:sp>
        <p:nvSpPr>
          <p:cNvPr id="19" name="Text 13"/>
          <p:cNvSpPr/>
          <p:nvPr/>
        </p:nvSpPr>
        <p:spPr>
          <a:xfrm>
            <a:off x="6720840" y="2176272"/>
            <a:ext cx="1737360" cy="548640"/>
          </a:xfrm>
          <a:prstGeom prst="rect">
            <a:avLst/>
          </a:prstGeom>
          <a:noFill/>
          <a:ln/>
        </p:spPr>
        <p:txBody>
          <a:bodyPr wrap="square" lIns="0" tIns="0" rIns="0" bIns="0" rtlCol="0" anchor="t"/>
          <a:lstStyle/>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Anti-Forensic</a:t>
            </a:r>
            <a:endParaRPr lang="en-US" sz="1200" dirty="0"/>
          </a:p>
          <a:p>
            <a:pPr marL="0" indent="0" algn="ctr">
              <a:lnSpc>
                <a:spcPct val="115000"/>
              </a:lnSpc>
              <a:buNone/>
            </a:pPr>
            <a:r>
              <a:rPr lang="en-US" sz="1200" b="1" dirty="0">
                <a:solidFill>
                  <a:srgbClr val="0A1F3D"/>
                </a:solidFill>
                <a:latin typeface="Calibri" pitchFamily="34" charset="0"/>
                <a:ea typeface="Calibri" pitchFamily="34" charset="-122"/>
                <a:cs typeface="Calibri" pitchFamily="34" charset="-120"/>
              </a:rPr>
              <a:t>Robustness</a:t>
            </a:r>
            <a:endParaRPr lang="en-US" sz="1200" dirty="0"/>
          </a:p>
        </p:txBody>
      </p:sp>
      <p:sp>
        <p:nvSpPr>
          <p:cNvPr id="20" name="Shape 14"/>
          <p:cNvSpPr/>
          <p:nvPr/>
        </p:nvSpPr>
        <p:spPr>
          <a:xfrm>
            <a:off x="502920" y="3063240"/>
            <a:ext cx="8138160" cy="1188720"/>
          </a:xfrm>
          <a:prstGeom prst="roundRect">
            <a:avLst>
              <a:gd name="adj" fmla="val 6923"/>
            </a:avLst>
          </a:prstGeom>
          <a:solidFill>
            <a:srgbClr val="0A1F3D"/>
          </a:solidFill>
          <a:ln/>
          <a:effectLst>
            <a:outerShdw blurRad="88900" dist="25400" dir="5400000" algn="bl" rotWithShape="0">
              <a:srgbClr val="000000">
                <a:alpha val="10000"/>
              </a:srgbClr>
            </a:outerShdw>
          </a:effectLst>
        </p:spPr>
        <p:txBody>
          <a:bodyPr/>
          <a:lstStyle/>
          <a:p>
            <a:endParaRPr lang="it-IT"/>
          </a:p>
        </p:txBody>
      </p:sp>
      <p:sp>
        <p:nvSpPr>
          <p:cNvPr id="21" name="Text 15"/>
          <p:cNvSpPr/>
          <p:nvPr/>
        </p:nvSpPr>
        <p:spPr>
          <a:xfrm>
            <a:off x="731520" y="3182112"/>
            <a:ext cx="3657600" cy="274320"/>
          </a:xfrm>
          <a:prstGeom prst="rect">
            <a:avLst/>
          </a:prstGeom>
          <a:noFill/>
          <a:ln/>
        </p:spPr>
        <p:txBody>
          <a:bodyPr wrap="square" lIns="0" tIns="0" rIns="0" bIns="0" rtlCol="0" anchor="ctr"/>
          <a:lstStyle/>
          <a:p>
            <a:pPr marL="0" indent="0">
              <a:buNone/>
            </a:pPr>
            <a:r>
              <a:rPr lang="en-US" sz="1250" b="1" dirty="0">
                <a:solidFill>
                  <a:srgbClr val="0E8A8A"/>
                </a:solidFill>
                <a:latin typeface="Cambria" pitchFamily="34" charset="0"/>
                <a:ea typeface="Cambria" pitchFamily="34" charset="-122"/>
                <a:cs typeface="Cambria" pitchFamily="34" charset="-120"/>
              </a:rPr>
              <a:t>Risk Indicators</a:t>
            </a:r>
            <a:endParaRPr lang="en-US" sz="1250" dirty="0"/>
          </a:p>
        </p:txBody>
      </p:sp>
      <p:sp>
        <p:nvSpPr>
          <p:cNvPr id="22" name="Text 16"/>
          <p:cNvSpPr/>
          <p:nvPr/>
        </p:nvSpPr>
        <p:spPr>
          <a:xfrm>
            <a:off x="731520" y="3474720"/>
            <a:ext cx="7680960" cy="731520"/>
          </a:xfrm>
          <a:prstGeom prst="rect">
            <a:avLst/>
          </a:prstGeom>
          <a:noFill/>
          <a:ln/>
        </p:spPr>
        <p:txBody>
          <a:bodyPr wrap="square" rtlCol="0" anchor="t"/>
          <a:lstStyle/>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negatives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False positives</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High-confidence OOD mapping</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Unknown rate</a:t>
            </a:r>
            <a:endParaRPr lang="en-US" sz="1100" dirty="0"/>
          </a:p>
          <a:p>
            <a:pPr marL="342900" indent="-342900">
              <a:spcAft>
                <a:spcPts val="400"/>
              </a:spcAft>
              <a:buSzPct val="100000"/>
              <a:buChar char="–"/>
            </a:pPr>
            <a:r>
              <a:rPr lang="en-US" sz="1100" dirty="0">
                <a:solidFill>
                  <a:srgbClr val="DCE4F0"/>
                </a:solidFill>
                <a:latin typeface="Calibri" pitchFamily="34" charset="0"/>
                <a:ea typeface="Calibri" pitchFamily="34" charset="-122"/>
                <a:cs typeface="Calibri" pitchFamily="34" charset="-120"/>
              </a:rPr>
              <a:t>Performance degradation under perturbation</a:t>
            </a:r>
            <a:endParaRPr lang="en-US" sz="1100" dirty="0"/>
          </a:p>
        </p:txBody>
      </p:sp>
      <p:sp>
        <p:nvSpPr>
          <p:cNvPr id="23" name="Shape 17"/>
          <p:cNvSpPr/>
          <p:nvPr/>
        </p:nvSpPr>
        <p:spPr>
          <a:xfrm>
            <a:off x="502920" y="4434840"/>
            <a:ext cx="146304" cy="146304"/>
          </a:xfrm>
          <a:prstGeom prst="ellipse">
            <a:avLst/>
          </a:prstGeom>
          <a:solidFill>
            <a:srgbClr val="3EA36B"/>
          </a:solidFill>
          <a:ln/>
        </p:spPr>
        <p:txBody>
          <a:bodyPr/>
          <a:lstStyle/>
          <a:p>
            <a:endParaRPr lang="it-IT"/>
          </a:p>
        </p:txBody>
      </p:sp>
      <p:sp>
        <p:nvSpPr>
          <p:cNvPr id="24" name="Text 18"/>
          <p:cNvSpPr/>
          <p:nvPr/>
        </p:nvSpPr>
        <p:spPr>
          <a:xfrm>
            <a:off x="70408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Low</a:t>
            </a:r>
            <a:endParaRPr lang="en-US" sz="1050" dirty="0"/>
          </a:p>
        </p:txBody>
      </p:sp>
      <p:sp>
        <p:nvSpPr>
          <p:cNvPr id="25" name="Shape 19"/>
          <p:cNvSpPr/>
          <p:nvPr/>
        </p:nvSpPr>
        <p:spPr>
          <a:xfrm>
            <a:off x="1554480" y="4434840"/>
            <a:ext cx="146304" cy="146304"/>
          </a:xfrm>
          <a:prstGeom prst="ellipse">
            <a:avLst/>
          </a:prstGeom>
          <a:solidFill>
            <a:srgbClr val="E2692C"/>
          </a:solidFill>
          <a:ln/>
        </p:spPr>
        <p:txBody>
          <a:bodyPr/>
          <a:lstStyle/>
          <a:p>
            <a:endParaRPr lang="it-IT"/>
          </a:p>
        </p:txBody>
      </p:sp>
      <p:sp>
        <p:nvSpPr>
          <p:cNvPr id="26" name="Text 20"/>
          <p:cNvSpPr/>
          <p:nvPr/>
        </p:nvSpPr>
        <p:spPr>
          <a:xfrm>
            <a:off x="175564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Moderate</a:t>
            </a:r>
            <a:endParaRPr lang="en-US" sz="1050" dirty="0"/>
          </a:p>
        </p:txBody>
      </p:sp>
      <p:sp>
        <p:nvSpPr>
          <p:cNvPr id="27" name="Shape 21"/>
          <p:cNvSpPr/>
          <p:nvPr/>
        </p:nvSpPr>
        <p:spPr>
          <a:xfrm>
            <a:off x="2606040" y="4434840"/>
            <a:ext cx="146304" cy="146304"/>
          </a:xfrm>
          <a:prstGeom prst="ellipse">
            <a:avLst/>
          </a:prstGeom>
          <a:solidFill>
            <a:srgbClr val="C0392B"/>
          </a:solidFill>
          <a:ln/>
        </p:spPr>
        <p:txBody>
          <a:bodyPr/>
          <a:lstStyle/>
          <a:p>
            <a:endParaRPr lang="it-IT"/>
          </a:p>
        </p:txBody>
      </p:sp>
      <p:sp>
        <p:nvSpPr>
          <p:cNvPr id="28" name="Text 22"/>
          <p:cNvSpPr/>
          <p:nvPr/>
        </p:nvSpPr>
        <p:spPr>
          <a:xfrm>
            <a:off x="2807208" y="4389120"/>
            <a:ext cx="822960" cy="256032"/>
          </a:xfrm>
          <a:prstGeom prst="rect">
            <a:avLst/>
          </a:prstGeom>
          <a:noFill/>
          <a:ln/>
        </p:spPr>
        <p:txBody>
          <a:bodyPr wrap="square" lIns="0" tIns="0" rIns="0" bIns="0" rtlCol="0" anchor="ctr"/>
          <a:lstStyle/>
          <a:p>
            <a:pPr marL="0" indent="0">
              <a:buNone/>
            </a:pPr>
            <a:r>
              <a:rPr lang="en-US" sz="1050" dirty="0">
                <a:solidFill>
                  <a:srgbClr val="5C6B83"/>
                </a:solidFill>
                <a:latin typeface="Calibri" pitchFamily="34" charset="0"/>
                <a:ea typeface="Calibri" pitchFamily="34" charset="-122"/>
                <a:cs typeface="Calibri" pitchFamily="34" charset="-120"/>
              </a:rPr>
              <a:t>High</a:t>
            </a:r>
            <a:endParaRPr lang="en-US" sz="1050" dirty="0"/>
          </a:p>
        </p:txBody>
      </p:sp>
      <p:sp>
        <p:nvSpPr>
          <p:cNvPr id="29" name="Text 23"/>
          <p:cNvSpPr/>
          <p:nvPr/>
        </p:nvSpPr>
        <p:spPr>
          <a:xfrm>
            <a:off x="3657600" y="4389120"/>
            <a:ext cx="5029200" cy="256032"/>
          </a:xfrm>
          <a:prstGeom prst="rect">
            <a:avLst/>
          </a:prstGeom>
          <a:noFill/>
          <a:ln/>
        </p:spPr>
        <p:txBody>
          <a:bodyPr wrap="square" lIns="0" tIns="0" rIns="0" bIns="0" rtlCol="0" anchor="ctr"/>
          <a:lstStyle/>
          <a:p>
            <a:pPr marL="0" indent="0">
              <a:buNone/>
            </a:pPr>
            <a:r>
              <a:rPr lang="en-US" sz="1000" i="1" dirty="0">
                <a:solidFill>
                  <a:srgbClr val="5C6B83"/>
                </a:solidFill>
                <a:latin typeface="Calibri" pitchFamily="34" charset="0"/>
                <a:ea typeface="Calibri" pitchFamily="34" charset="-122"/>
                <a:cs typeface="Calibri" pitchFamily="34" charset="-120"/>
              </a:rPr>
              <a:t>risk-level legend, applied per system in the full thesis report</a:t>
            </a:r>
            <a:endParaRPr lang="en-US" sz="1000" dirty="0"/>
          </a:p>
        </p:txBody>
      </p:sp>
      <p:sp>
        <p:nvSpPr>
          <p:cNvPr id="30" name="Text 2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1" name="Text 2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RESULTS</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Key Findings</a:t>
            </a:r>
            <a:endParaRPr lang="en-US" sz="2700" dirty="0"/>
          </a:p>
        </p:txBody>
      </p:sp>
      <p:sp>
        <p:nvSpPr>
          <p:cNvPr id="4" name="Text 2"/>
          <p:cNvSpPr/>
          <p:nvPr/>
        </p:nvSpPr>
        <p:spPr>
          <a:xfrm>
            <a:off x="502920" y="1207008"/>
            <a:ext cx="7772400" cy="274320"/>
          </a:xfrm>
          <a:prstGeom prst="rect">
            <a:avLst/>
          </a:prstGeom>
          <a:noFill/>
          <a:ln/>
        </p:spPr>
        <p:txBody>
          <a:bodyPr wrap="square" lIns="0" tIns="0" rIns="0" bIns="0" rtlCol="0" anchor="ctr"/>
          <a:lstStyle/>
          <a:p>
            <a:pPr marL="0" indent="0">
              <a:buNone/>
            </a:pPr>
            <a:r>
              <a:rPr lang="en-US" sz="1250" i="1" dirty="0">
                <a:solidFill>
                  <a:srgbClr val="5C6B83"/>
                </a:solidFill>
                <a:latin typeface="Calibri" pitchFamily="34" charset="0"/>
                <a:ea typeface="Calibri" pitchFamily="34" charset="-122"/>
                <a:cs typeface="Calibri" pitchFamily="34" charset="-120"/>
              </a:rPr>
              <a:t>Under the tested conditions:</a:t>
            </a:r>
            <a:endParaRPr lang="en-US" sz="1250" dirty="0"/>
          </a:p>
        </p:txBody>
      </p:sp>
      <p:sp>
        <p:nvSpPr>
          <p:cNvPr id="5" name="Shape 3"/>
          <p:cNvSpPr/>
          <p:nvPr/>
        </p:nvSpPr>
        <p:spPr>
          <a:xfrm>
            <a:off x="484632"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6" name="Shape 4"/>
          <p:cNvSpPr/>
          <p:nvPr/>
        </p:nvSpPr>
        <p:spPr>
          <a:xfrm>
            <a:off x="987552" y="1874520"/>
            <a:ext cx="512064" cy="512064"/>
          </a:xfrm>
          <a:prstGeom prst="ellipse">
            <a:avLst/>
          </a:prstGeom>
          <a:solidFill>
            <a:srgbClr val="E2692C"/>
          </a:solidFill>
          <a:ln/>
        </p:spPr>
        <p:txBody>
          <a:bodyPr/>
          <a:lstStyle/>
          <a:p>
            <a:endParaRPr lang="it-IT"/>
          </a:p>
        </p:txBody>
      </p:sp>
      <p:pic>
        <p:nvPicPr>
          <p:cNvPr id="7" name="Image 0" descr="preencoded.png"/>
          <p:cNvPicPr>
            <a:picLocks noChangeAspect="1"/>
          </p:cNvPicPr>
          <p:nvPr/>
        </p:nvPicPr>
        <p:blipFill>
          <a:blip r:embed="rId3"/>
          <a:stretch>
            <a:fillRect/>
          </a:stretch>
        </p:blipFill>
        <p:spPr>
          <a:xfrm>
            <a:off x="1054120" y="1941088"/>
            <a:ext cx="378927" cy="378927"/>
          </a:xfrm>
          <a:prstGeom prst="rect">
            <a:avLst/>
          </a:prstGeom>
        </p:spPr>
      </p:pic>
      <p:sp>
        <p:nvSpPr>
          <p:cNvPr id="8" name="Text 5"/>
          <p:cNvSpPr/>
          <p:nvPr/>
        </p:nvSpPr>
        <p:spPr>
          <a:xfrm>
            <a:off x="539496"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Clean ≠ Robust</a:t>
            </a:r>
            <a:endParaRPr lang="en-US" sz="1100" dirty="0"/>
          </a:p>
        </p:txBody>
      </p:sp>
      <p:sp>
        <p:nvSpPr>
          <p:cNvPr id="9" name="Text 6"/>
          <p:cNvSpPr/>
          <p:nvPr/>
        </p:nvSpPr>
        <p:spPr>
          <a:xfrm>
            <a:off x="576072"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Clean performance does not fully predict robustness.</a:t>
            </a:r>
            <a:endParaRPr lang="en-US" sz="930" dirty="0"/>
          </a:p>
        </p:txBody>
      </p:sp>
      <p:sp>
        <p:nvSpPr>
          <p:cNvPr id="10" name="Shape 7"/>
          <p:cNvSpPr/>
          <p:nvPr/>
        </p:nvSpPr>
        <p:spPr>
          <a:xfrm>
            <a:off x="2148840"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1" name="Shape 8"/>
          <p:cNvSpPr/>
          <p:nvPr/>
        </p:nvSpPr>
        <p:spPr>
          <a:xfrm>
            <a:off x="2651760" y="1874520"/>
            <a:ext cx="512064" cy="512064"/>
          </a:xfrm>
          <a:prstGeom prst="ellipse">
            <a:avLst/>
          </a:prstGeom>
          <a:solidFill>
            <a:srgbClr val="E2692C"/>
          </a:solidFill>
          <a:ln/>
        </p:spPr>
        <p:txBody>
          <a:bodyPr/>
          <a:lstStyle/>
          <a:p>
            <a:endParaRPr lang="it-IT"/>
          </a:p>
        </p:txBody>
      </p:sp>
      <p:pic>
        <p:nvPicPr>
          <p:cNvPr id="12" name="Image 1" descr="preencoded.png"/>
          <p:cNvPicPr>
            <a:picLocks noChangeAspect="1"/>
          </p:cNvPicPr>
          <p:nvPr/>
        </p:nvPicPr>
        <p:blipFill>
          <a:blip r:embed="rId4"/>
          <a:stretch>
            <a:fillRect/>
          </a:stretch>
        </p:blipFill>
        <p:spPr>
          <a:xfrm>
            <a:off x="2718328" y="1941088"/>
            <a:ext cx="378927" cy="378927"/>
          </a:xfrm>
          <a:prstGeom prst="rect">
            <a:avLst/>
          </a:prstGeom>
        </p:spPr>
      </p:pic>
      <p:sp>
        <p:nvSpPr>
          <p:cNvPr id="13" name="Text 9"/>
          <p:cNvSpPr/>
          <p:nvPr/>
        </p:nvSpPr>
        <p:spPr>
          <a:xfrm>
            <a:off x="2203704"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OOD Matters</a:t>
            </a:r>
            <a:endParaRPr lang="en-US" sz="1100" dirty="0"/>
          </a:p>
        </p:txBody>
      </p:sp>
      <p:sp>
        <p:nvSpPr>
          <p:cNvPr id="14" name="Text 10"/>
          <p:cNvSpPr/>
          <p:nvPr/>
        </p:nvSpPr>
        <p:spPr>
          <a:xfrm>
            <a:off x="2240280"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OOD inputs can expose unexpected classification behavior.</a:t>
            </a:r>
            <a:endParaRPr lang="en-US" sz="930" dirty="0"/>
          </a:p>
        </p:txBody>
      </p:sp>
      <p:sp>
        <p:nvSpPr>
          <p:cNvPr id="15" name="Shape 11"/>
          <p:cNvSpPr/>
          <p:nvPr/>
        </p:nvSpPr>
        <p:spPr>
          <a:xfrm>
            <a:off x="3813048"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6" name="Shape 12"/>
          <p:cNvSpPr/>
          <p:nvPr/>
        </p:nvSpPr>
        <p:spPr>
          <a:xfrm>
            <a:off x="4315968" y="1874520"/>
            <a:ext cx="512064" cy="512064"/>
          </a:xfrm>
          <a:prstGeom prst="ellipse">
            <a:avLst/>
          </a:prstGeom>
          <a:solidFill>
            <a:srgbClr val="E2692C"/>
          </a:solidFill>
          <a:ln/>
        </p:spPr>
        <p:txBody>
          <a:bodyPr/>
          <a:lstStyle/>
          <a:p>
            <a:endParaRPr lang="it-IT"/>
          </a:p>
        </p:txBody>
      </p:sp>
      <p:pic>
        <p:nvPicPr>
          <p:cNvPr id="17" name="Image 2" descr="preencoded.png"/>
          <p:cNvPicPr>
            <a:picLocks noChangeAspect="1"/>
          </p:cNvPicPr>
          <p:nvPr/>
        </p:nvPicPr>
        <p:blipFill>
          <a:blip r:embed="rId5"/>
          <a:stretch>
            <a:fillRect/>
          </a:stretch>
        </p:blipFill>
        <p:spPr>
          <a:xfrm>
            <a:off x="4382536" y="1941088"/>
            <a:ext cx="378927" cy="378927"/>
          </a:xfrm>
          <a:prstGeom prst="rect">
            <a:avLst/>
          </a:prstGeom>
        </p:spPr>
      </p:pic>
      <p:sp>
        <p:nvSpPr>
          <p:cNvPr id="18" name="Text 13"/>
          <p:cNvSpPr/>
          <p:nvPr/>
        </p:nvSpPr>
        <p:spPr>
          <a:xfrm>
            <a:off x="3867912"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Perturbations Matter</a:t>
            </a:r>
            <a:endParaRPr lang="en-US" sz="1100" dirty="0"/>
          </a:p>
        </p:txBody>
      </p:sp>
      <p:sp>
        <p:nvSpPr>
          <p:cNvPr id="19" name="Text 14"/>
          <p:cNvSpPr/>
          <p:nvPr/>
        </p:nvSpPr>
        <p:spPr>
          <a:xfrm>
            <a:off x="3904488"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Perturbations can induce classification errors or confidence shifts.</a:t>
            </a:r>
            <a:endParaRPr lang="en-US" sz="930" dirty="0"/>
          </a:p>
        </p:txBody>
      </p:sp>
      <p:sp>
        <p:nvSpPr>
          <p:cNvPr id="20" name="Shape 15"/>
          <p:cNvSpPr/>
          <p:nvPr/>
        </p:nvSpPr>
        <p:spPr>
          <a:xfrm>
            <a:off x="5477256"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1" name="Shape 16"/>
          <p:cNvSpPr/>
          <p:nvPr/>
        </p:nvSpPr>
        <p:spPr>
          <a:xfrm>
            <a:off x="5980176" y="1874520"/>
            <a:ext cx="512064" cy="512064"/>
          </a:xfrm>
          <a:prstGeom prst="ellipse">
            <a:avLst/>
          </a:prstGeom>
          <a:solidFill>
            <a:srgbClr val="E2692C"/>
          </a:solidFill>
          <a:ln/>
        </p:spPr>
        <p:txBody>
          <a:bodyPr/>
          <a:lstStyle/>
          <a:p>
            <a:endParaRPr lang="it-IT"/>
          </a:p>
        </p:txBody>
      </p:sp>
      <p:pic>
        <p:nvPicPr>
          <p:cNvPr id="22" name="Image 3" descr="preencoded.png"/>
          <p:cNvPicPr>
            <a:picLocks noChangeAspect="1"/>
          </p:cNvPicPr>
          <p:nvPr/>
        </p:nvPicPr>
        <p:blipFill>
          <a:blip r:embed="rId6"/>
          <a:stretch>
            <a:fillRect/>
          </a:stretch>
        </p:blipFill>
        <p:spPr>
          <a:xfrm>
            <a:off x="6046744" y="1941088"/>
            <a:ext cx="378927" cy="378927"/>
          </a:xfrm>
          <a:prstGeom prst="rect">
            <a:avLst/>
          </a:prstGeom>
        </p:spPr>
      </p:pic>
      <p:sp>
        <p:nvSpPr>
          <p:cNvPr id="23" name="Text 17"/>
          <p:cNvSpPr/>
          <p:nvPr/>
        </p:nvSpPr>
        <p:spPr>
          <a:xfrm>
            <a:off x="5532120"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Black-Box Caution</a:t>
            </a:r>
            <a:endParaRPr lang="en-US" sz="1100" dirty="0"/>
          </a:p>
        </p:txBody>
      </p:sp>
      <p:sp>
        <p:nvSpPr>
          <p:cNvPr id="24" name="Text 18"/>
          <p:cNvSpPr/>
          <p:nvPr/>
        </p:nvSpPr>
        <p:spPr>
          <a:xfrm>
            <a:off x="5568696"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Black-box tools require conservative interpretation.</a:t>
            </a:r>
            <a:endParaRPr lang="en-US" sz="930" dirty="0"/>
          </a:p>
        </p:txBody>
      </p:sp>
      <p:sp>
        <p:nvSpPr>
          <p:cNvPr id="25" name="Shape 19"/>
          <p:cNvSpPr/>
          <p:nvPr/>
        </p:nvSpPr>
        <p:spPr>
          <a:xfrm>
            <a:off x="7141464" y="1691640"/>
            <a:ext cx="1517904" cy="2331720"/>
          </a:xfrm>
          <a:prstGeom prst="roundRect">
            <a:avLst>
              <a:gd name="adj" fmla="val 5422"/>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6" name="Shape 20"/>
          <p:cNvSpPr/>
          <p:nvPr/>
        </p:nvSpPr>
        <p:spPr>
          <a:xfrm>
            <a:off x="7644384" y="1874520"/>
            <a:ext cx="512064" cy="512064"/>
          </a:xfrm>
          <a:prstGeom prst="ellipse">
            <a:avLst/>
          </a:prstGeom>
          <a:solidFill>
            <a:srgbClr val="E2692C"/>
          </a:solidFill>
          <a:ln/>
        </p:spPr>
        <p:txBody>
          <a:bodyPr/>
          <a:lstStyle/>
          <a:p>
            <a:endParaRPr lang="it-IT"/>
          </a:p>
        </p:txBody>
      </p:sp>
      <p:pic>
        <p:nvPicPr>
          <p:cNvPr id="27" name="Image 4" descr="preencoded.png"/>
          <p:cNvPicPr>
            <a:picLocks noChangeAspect="1"/>
          </p:cNvPicPr>
          <p:nvPr/>
        </p:nvPicPr>
        <p:blipFill>
          <a:blip r:embed="rId7"/>
          <a:stretch>
            <a:fillRect/>
          </a:stretch>
        </p:blipFill>
        <p:spPr>
          <a:xfrm>
            <a:off x="7710952" y="1941088"/>
            <a:ext cx="378927" cy="378927"/>
          </a:xfrm>
          <a:prstGeom prst="rect">
            <a:avLst/>
          </a:prstGeom>
        </p:spPr>
      </p:pic>
      <p:sp>
        <p:nvSpPr>
          <p:cNvPr id="28" name="Text 21"/>
          <p:cNvSpPr/>
          <p:nvPr/>
        </p:nvSpPr>
        <p:spPr>
          <a:xfrm>
            <a:off x="7196328" y="2514600"/>
            <a:ext cx="1408176" cy="36576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Traceability</a:t>
            </a:r>
            <a:endParaRPr lang="en-US" sz="1100" dirty="0"/>
          </a:p>
        </p:txBody>
      </p:sp>
      <p:sp>
        <p:nvSpPr>
          <p:cNvPr id="29" name="Text 22"/>
          <p:cNvSpPr/>
          <p:nvPr/>
        </p:nvSpPr>
        <p:spPr>
          <a:xfrm>
            <a:off x="7232904" y="2898648"/>
            <a:ext cx="1335024" cy="1051560"/>
          </a:xfrm>
          <a:prstGeom prst="rect">
            <a:avLst/>
          </a:prstGeom>
          <a:noFill/>
          <a:ln/>
        </p:spPr>
        <p:txBody>
          <a:bodyPr wrap="square" lIns="0" tIns="0" rIns="0" bIns="0" rtlCol="0" anchor="t"/>
          <a:lstStyle/>
          <a:p>
            <a:pPr marL="0" indent="0" algn="ctr">
              <a:lnSpc>
                <a:spcPct val="115000"/>
              </a:lnSpc>
              <a:buNone/>
            </a:pPr>
            <a:r>
              <a:rPr lang="en-US" sz="930" dirty="0">
                <a:solidFill>
                  <a:srgbClr val="1C2B42"/>
                </a:solidFill>
                <a:latin typeface="Calibri" pitchFamily="34" charset="0"/>
                <a:ea typeface="Calibri" pitchFamily="34" charset="-122"/>
                <a:cs typeface="Calibri" pitchFamily="34" charset="-120"/>
              </a:rPr>
              <a:t>Traceability is essential for reproducible forensic assessment.</a:t>
            </a:r>
            <a:endParaRPr lang="en-US" sz="930" dirty="0"/>
          </a:p>
        </p:txBody>
      </p:sp>
      <p:sp>
        <p:nvSpPr>
          <p:cNvPr id="30" name="Text 23"/>
          <p:cNvSpPr/>
          <p:nvPr/>
        </p:nvSpPr>
        <p:spPr>
          <a:xfrm>
            <a:off x="502920" y="4434840"/>
            <a:ext cx="8138160" cy="320040"/>
          </a:xfrm>
          <a:prstGeom prst="rect">
            <a:avLst/>
          </a:prstGeom>
          <a:noFill/>
          <a:ln/>
        </p:spPr>
        <p:txBody>
          <a:bodyPr wrap="square" lIns="0" tIns="0" rIns="0" bIns="0" rtlCol="0" anchor="ctr"/>
          <a:lstStyle/>
          <a:p>
            <a:pPr marL="0" indent="0" algn="ctr">
              <a:buNone/>
            </a:pPr>
            <a:r>
              <a:rPr lang="en-US" sz="1250" b="1" i="1" dirty="0">
                <a:solidFill>
                  <a:srgbClr val="0A1F3D"/>
                </a:solidFill>
                <a:latin typeface="Calibri" pitchFamily="34" charset="0"/>
                <a:ea typeface="Calibri" pitchFamily="34" charset="-122"/>
                <a:cs typeface="Calibri" pitchFamily="34" charset="-120"/>
              </a:rPr>
              <a:t>High clean performance is not sufficient for forensic reliability under manipulated inputs.</a:t>
            </a:r>
            <a:endParaRPr lang="en-US" sz="1250" dirty="0"/>
          </a:p>
        </p:txBody>
      </p:sp>
      <p:sp>
        <p:nvSpPr>
          <p:cNvPr id="31" name="Text 24"/>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32" name="Text 25"/>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SCOPE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Limitations</a:t>
            </a:r>
            <a:endParaRPr lang="en-US" sz="2700" dirty="0"/>
          </a:p>
        </p:txBody>
      </p:sp>
      <p:sp>
        <p:nvSpPr>
          <p:cNvPr id="4" name="Shape 2"/>
          <p:cNvSpPr/>
          <p:nvPr/>
        </p:nvSpPr>
        <p:spPr>
          <a:xfrm>
            <a:off x="502920" y="1417320"/>
            <a:ext cx="8138160" cy="2331720"/>
          </a:xfrm>
          <a:prstGeom prst="roundRect">
            <a:avLst>
              <a:gd name="adj" fmla="val 3529"/>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777240" y="1691640"/>
            <a:ext cx="640080" cy="640080"/>
          </a:xfrm>
          <a:prstGeom prst="ellipse">
            <a:avLst/>
          </a:prstGeom>
          <a:solidFill>
            <a:srgbClr val="0A1F3D"/>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860450" y="1774850"/>
            <a:ext cx="473659" cy="473659"/>
          </a:xfrm>
          <a:prstGeom prst="rect">
            <a:avLst/>
          </a:prstGeom>
        </p:spPr>
      </p:pic>
      <p:sp>
        <p:nvSpPr>
          <p:cNvPr id="7" name="Text 4"/>
          <p:cNvSpPr/>
          <p:nvPr/>
        </p:nvSpPr>
        <p:spPr>
          <a:xfrm>
            <a:off x="1645920" y="1691640"/>
            <a:ext cx="6766560" cy="1965960"/>
          </a:xfrm>
          <a:prstGeom prst="rect">
            <a:avLst/>
          </a:prstGeom>
          <a:noFill/>
          <a:ln/>
        </p:spPr>
        <p:txBody>
          <a:bodyPr wrap="square" rtlCol="0" anchor="t"/>
          <a:lstStyle/>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Evaluation limited to selected tool versions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Commercial tools are black-box systems</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Dataset scope is controlled and finite</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Adversarial testing is proxy-based</a:t>
            </a:r>
            <a:endParaRPr lang="en-US" sz="1350" dirty="0"/>
          </a:p>
          <a:p>
            <a:pPr marL="342900" indent="-342900">
              <a:spcAft>
                <a:spcPts val="1100"/>
              </a:spcAft>
              <a:buSzPct val="100000"/>
              <a:buChar char="–"/>
            </a:pPr>
            <a:r>
              <a:rPr lang="en-US" sz="1350" dirty="0">
                <a:solidFill>
                  <a:srgbClr val="1C2B42"/>
                </a:solidFill>
                <a:latin typeface="Calibri" pitchFamily="34" charset="0"/>
                <a:ea typeface="Calibri" pitchFamily="34" charset="-122"/>
                <a:cs typeface="Calibri" pitchFamily="34" charset="-120"/>
              </a:rPr>
              <a:t>Results should not be generalized to all future versions or categories</a:t>
            </a:r>
            <a:endParaRPr lang="en-US" sz="1350" dirty="0"/>
          </a:p>
        </p:txBody>
      </p:sp>
      <p:sp>
        <p:nvSpPr>
          <p:cNvPr id="8" name="Shape 5"/>
          <p:cNvSpPr/>
          <p:nvPr/>
        </p:nvSpPr>
        <p:spPr>
          <a:xfrm>
            <a:off x="502920" y="3931920"/>
            <a:ext cx="8138160" cy="777240"/>
          </a:xfrm>
          <a:prstGeom prst="roundRect">
            <a:avLst>
              <a:gd name="adj" fmla="val 10588"/>
            </a:avLst>
          </a:prstGeom>
          <a:solidFill>
            <a:srgbClr val="E3F3F2"/>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9" name="Text 6"/>
          <p:cNvSpPr/>
          <p:nvPr/>
        </p:nvSpPr>
        <p:spPr>
          <a:xfrm>
            <a:off x="731520" y="3931920"/>
            <a:ext cx="7680960" cy="777240"/>
          </a:xfrm>
          <a:prstGeom prst="rect">
            <a:avLst/>
          </a:prstGeom>
          <a:noFill/>
          <a:ln/>
        </p:spPr>
        <p:txBody>
          <a:bodyPr wrap="square" lIns="0" tIns="0" rIns="0" bIns="0" rtlCol="0" anchor="ctr"/>
          <a:lstStyle/>
          <a:p>
            <a:pPr marL="0" indent="0">
              <a:buNone/>
            </a:pPr>
            <a:r>
              <a:rPr lang="en-US" sz="1300" i="1" dirty="0">
                <a:solidFill>
                  <a:srgbClr val="0A1F3D"/>
                </a:solidFill>
                <a:latin typeface="Calibri" pitchFamily="34" charset="0"/>
                <a:ea typeface="Calibri" pitchFamily="34" charset="-122"/>
                <a:cs typeface="Calibri" pitchFamily="34" charset="-120"/>
              </a:rPr>
              <a:t>The study is rigorous within its scope, but results are version- and protocol-dependent.</a:t>
            </a:r>
            <a:endParaRPr lang="en-US" sz="1300" dirty="0"/>
          </a:p>
        </p:txBody>
      </p:sp>
      <p:sp>
        <p:nvSpPr>
          <p:cNvPr id="10" name="Text 7"/>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11" name="Text 8"/>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F3D"/>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0E8A8A"/>
                </a:solidFill>
                <a:latin typeface="Calibri" pitchFamily="34" charset="0"/>
                <a:ea typeface="Calibri" pitchFamily="34" charset="-122"/>
                <a:cs typeface="Calibri" pitchFamily="34" charset="-120"/>
              </a:rPr>
              <a:t>CLOSING</a:t>
            </a:r>
            <a:endParaRPr lang="en-US" sz="1250" dirty="0"/>
          </a:p>
        </p:txBody>
      </p:sp>
      <p:sp>
        <p:nvSpPr>
          <p:cNvPr id="3" name="Text 1"/>
          <p:cNvSpPr/>
          <p:nvPr/>
        </p:nvSpPr>
        <p:spPr>
          <a:xfrm>
            <a:off x="502920" y="530352"/>
            <a:ext cx="8138160" cy="594360"/>
          </a:xfrm>
          <a:prstGeom prst="rect">
            <a:avLst/>
          </a:prstGeom>
          <a:noFill/>
          <a:ln/>
        </p:spPr>
        <p:txBody>
          <a:bodyPr wrap="square" lIns="0" tIns="0" rIns="0" bIns="0"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Conclusions and Future Work</a:t>
            </a:r>
            <a:endParaRPr lang="en-US" sz="2700" dirty="0"/>
          </a:p>
        </p:txBody>
      </p:sp>
      <p:sp>
        <p:nvSpPr>
          <p:cNvPr id="4" name="Shape 2"/>
          <p:cNvSpPr/>
          <p:nvPr/>
        </p:nvSpPr>
        <p:spPr>
          <a:xfrm>
            <a:off x="502920" y="1371600"/>
            <a:ext cx="3794760" cy="2468880"/>
          </a:xfrm>
          <a:prstGeom prst="roundRect">
            <a:avLst>
              <a:gd name="adj" fmla="val 3333"/>
            </a:avLst>
          </a:prstGeom>
          <a:solidFill>
            <a:srgbClr val="13294F"/>
          </a:solidFill>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77240" y="1554480"/>
            <a:ext cx="3246120" cy="320040"/>
          </a:xfrm>
          <a:prstGeom prst="rect">
            <a:avLst/>
          </a:prstGeom>
          <a:noFill/>
          <a:ln/>
        </p:spPr>
        <p:txBody>
          <a:bodyPr wrap="square" lIns="0" tIns="0" rIns="0" bIns="0" rtlCol="0" anchor="ctr"/>
          <a:lstStyle/>
          <a:p>
            <a:pPr marL="0" indent="0">
              <a:buNone/>
            </a:pPr>
            <a:r>
              <a:rPr lang="en-US" sz="1450" b="1" dirty="0">
                <a:solidFill>
                  <a:srgbClr val="0E8A8A"/>
                </a:solidFill>
                <a:latin typeface="Cambria" pitchFamily="34" charset="0"/>
                <a:ea typeface="Cambria" pitchFamily="34" charset="-122"/>
                <a:cs typeface="Cambria" pitchFamily="34" charset="-120"/>
              </a:rPr>
              <a:t>Conclusions</a:t>
            </a:r>
            <a:endParaRPr lang="en-US" sz="1450" dirty="0"/>
          </a:p>
        </p:txBody>
      </p:sp>
      <p:sp>
        <p:nvSpPr>
          <p:cNvPr id="6" name="Text 4"/>
          <p:cNvSpPr/>
          <p:nvPr/>
        </p:nvSpPr>
        <p:spPr>
          <a:xfrm>
            <a:off x="777240" y="1965960"/>
            <a:ext cx="3246120" cy="1737360"/>
          </a:xfrm>
          <a:prstGeom prst="rect">
            <a:avLst/>
          </a:prstGeom>
          <a:noFill/>
          <a:ln/>
        </p:spPr>
        <p:txBody>
          <a:bodyPr wrap="square" rtlCol="0" anchor="t"/>
          <a:lstStyle/>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AI-assisted forensic tools require robustness evaluation.</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Controlled perturbation testing reveals operational failure modes.</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Proxy and commercial evaluations are complementary.</a:t>
            </a:r>
            <a:endParaRPr lang="en-US" sz="1200" dirty="0"/>
          </a:p>
          <a:p>
            <a:pPr marL="342900" indent="-342900">
              <a:spcAft>
                <a:spcPts val="900"/>
              </a:spcAft>
              <a:buSzPct val="100000"/>
              <a:buChar char="–"/>
            </a:pPr>
            <a:r>
              <a:rPr lang="en-US" sz="1200" dirty="0">
                <a:solidFill>
                  <a:srgbClr val="DCE4F0"/>
                </a:solidFill>
                <a:latin typeface="Calibri" pitchFamily="34" charset="0"/>
                <a:ea typeface="Calibri" pitchFamily="34" charset="-122"/>
                <a:cs typeface="Calibri" pitchFamily="34" charset="-120"/>
              </a:rPr>
              <a:t>Normalization and traceability are necessary for forensic reliability.</a:t>
            </a:r>
            <a:endParaRPr lang="en-US" sz="1200" dirty="0"/>
          </a:p>
        </p:txBody>
      </p:sp>
      <p:sp>
        <p:nvSpPr>
          <p:cNvPr id="7" name="Shape 5"/>
          <p:cNvSpPr/>
          <p:nvPr/>
        </p:nvSpPr>
        <p:spPr>
          <a:xfrm>
            <a:off x="4663440" y="1371600"/>
            <a:ext cx="3794760" cy="2468880"/>
          </a:xfrm>
          <a:prstGeom prst="roundRect">
            <a:avLst>
              <a:gd name="adj" fmla="val 3333"/>
            </a:avLst>
          </a:prstGeom>
          <a:solidFill>
            <a:srgbClr val="13294F"/>
          </a:solidFill>
          <a:ln/>
          <a:effectLst>
            <a:outerShdw blurRad="88900" dist="25400" dir="5400000" algn="bl" rotWithShape="0">
              <a:srgbClr val="000000">
                <a:alpha val="10000"/>
              </a:srgbClr>
            </a:outerShdw>
          </a:effectLst>
        </p:spPr>
        <p:txBody>
          <a:bodyPr/>
          <a:lstStyle/>
          <a:p>
            <a:endParaRPr lang="it-IT"/>
          </a:p>
        </p:txBody>
      </p:sp>
      <p:sp>
        <p:nvSpPr>
          <p:cNvPr id="8" name="Text 6"/>
          <p:cNvSpPr/>
          <p:nvPr/>
        </p:nvSpPr>
        <p:spPr>
          <a:xfrm>
            <a:off x="4937760" y="1554480"/>
            <a:ext cx="3246120" cy="320040"/>
          </a:xfrm>
          <a:prstGeom prst="rect">
            <a:avLst/>
          </a:prstGeom>
          <a:noFill/>
          <a:ln/>
        </p:spPr>
        <p:txBody>
          <a:bodyPr wrap="square" lIns="0" tIns="0" rIns="0" bIns="0" rtlCol="0" anchor="ctr"/>
          <a:lstStyle/>
          <a:p>
            <a:pPr marL="0" indent="0">
              <a:buNone/>
            </a:pPr>
            <a:r>
              <a:rPr lang="en-US" sz="1450" b="1" dirty="0">
                <a:solidFill>
                  <a:srgbClr val="E2692C"/>
                </a:solidFill>
                <a:latin typeface="Cambria" pitchFamily="34" charset="0"/>
                <a:ea typeface="Cambria" pitchFamily="34" charset="-122"/>
                <a:cs typeface="Cambria" pitchFamily="34" charset="-120"/>
              </a:rPr>
              <a:t>Future Work</a:t>
            </a:r>
            <a:endParaRPr lang="en-US" sz="1450" dirty="0"/>
          </a:p>
        </p:txBody>
      </p:sp>
      <p:sp>
        <p:nvSpPr>
          <p:cNvPr id="9" name="Text 7"/>
          <p:cNvSpPr/>
          <p:nvPr/>
        </p:nvSpPr>
        <p:spPr>
          <a:xfrm>
            <a:off x="4937760" y="1965960"/>
            <a:ext cx="3246120" cy="1737360"/>
          </a:xfrm>
          <a:prstGeom prst="rect">
            <a:avLst/>
          </a:prstGeom>
          <a:noFill/>
          <a:ln/>
        </p:spPr>
        <p:txBody>
          <a:bodyPr wrap="square" rtlCol="0" anchor="t"/>
          <a:lstStyle/>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Additional tools and versions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Larger datasets and categories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Extended attack models</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Uncertainty-aware triage</a:t>
            </a:r>
            <a:endParaRPr lang="en-US" sz="1200" dirty="0"/>
          </a:p>
          <a:p>
            <a:pPr marL="342900" indent="-342900">
              <a:spcAft>
                <a:spcPts val="800"/>
              </a:spcAft>
              <a:buSzPct val="100000"/>
              <a:buChar char="–"/>
            </a:pPr>
            <a:r>
              <a:rPr lang="en-US" sz="1200" dirty="0">
                <a:solidFill>
                  <a:srgbClr val="DCE4F0"/>
                </a:solidFill>
                <a:latin typeface="Calibri" pitchFamily="34" charset="0"/>
                <a:ea typeface="Calibri" pitchFamily="34" charset="-122"/>
                <a:cs typeface="Calibri" pitchFamily="34" charset="-120"/>
              </a:rPr>
              <a:t>Stronger validation protocols</a:t>
            </a:r>
            <a:endParaRPr lang="en-US" sz="1200" dirty="0"/>
          </a:p>
        </p:txBody>
      </p:sp>
      <p:sp>
        <p:nvSpPr>
          <p:cNvPr id="10" name="Shape 8"/>
          <p:cNvSpPr/>
          <p:nvPr/>
        </p:nvSpPr>
        <p:spPr>
          <a:xfrm>
            <a:off x="502920" y="4069080"/>
            <a:ext cx="8138160" cy="777240"/>
          </a:xfrm>
          <a:prstGeom prst="roundRect">
            <a:avLst>
              <a:gd name="adj" fmla="val 10588"/>
            </a:avLst>
          </a:prstGeom>
          <a:solidFill>
            <a:srgbClr val="0E8A8A"/>
          </a:solidFill>
          <a:ln/>
          <a:effectLst>
            <a:outerShdw blurRad="88900" dist="25400" dir="5400000" algn="bl" rotWithShape="0">
              <a:srgbClr val="000000">
                <a:alpha val="10000"/>
              </a:srgbClr>
            </a:outerShdw>
          </a:effectLst>
        </p:spPr>
        <p:txBody>
          <a:bodyPr/>
          <a:lstStyle/>
          <a:p>
            <a:endParaRPr lang="it-IT"/>
          </a:p>
        </p:txBody>
      </p:sp>
      <p:sp>
        <p:nvSpPr>
          <p:cNvPr id="11" name="Text 9"/>
          <p:cNvSpPr/>
          <p:nvPr/>
        </p:nvSpPr>
        <p:spPr>
          <a:xfrm>
            <a:off x="777240" y="4069080"/>
            <a:ext cx="7589520" cy="777240"/>
          </a:xfrm>
          <a:prstGeom prst="rect">
            <a:avLst/>
          </a:prstGeom>
          <a:noFill/>
          <a:ln/>
        </p:spPr>
        <p:txBody>
          <a:bodyPr wrap="square" lIns="0" tIns="0" rIns="0" bIns="0" rtlCol="0" anchor="ctr"/>
          <a:lstStyle/>
          <a:p>
            <a:pPr marL="0" indent="0" algn="ctr">
              <a:buNone/>
            </a:pPr>
            <a:r>
              <a:rPr lang="en-US" sz="1300" b="1" i="1" dirty="0">
                <a:solidFill>
                  <a:srgbClr val="FFFFFF"/>
                </a:solidFill>
                <a:latin typeface="Cambria" pitchFamily="34" charset="0"/>
                <a:ea typeface="Cambria" pitchFamily="34" charset="-122"/>
                <a:cs typeface="Cambria" pitchFamily="34" charset="-120"/>
              </a:rPr>
              <a:t>“AI-assisted forensic triage should be evaluated not only for accuracy, but for operational robustness under manipulated inputs.”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Metric Definitions</a:t>
            </a:r>
            <a:endParaRPr lang="en-US" sz="2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tblGrid>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TP / TN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True Positive / True Negative — correct weapon / non-weapon classification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FP / FN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False Positive / False Negative — incorrect classification in either direction</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FNR / FPR</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False Negative Rate / False Positive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Unknown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Share of outputs that cannot be conservatively mapped to a label</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50" b="1" dirty="0">
                          <a:solidFill>
                            <a:srgbClr val="0A1F3D"/>
                          </a:solidFill>
                          <a:latin typeface="Calibri" pitchFamily="34" charset="0"/>
                          <a:ea typeface="Calibri" pitchFamily="34" charset="-122"/>
                          <a:cs typeface="Calibri" pitchFamily="34" charset="-120"/>
                        </a:rPr>
                        <a:t>OOD weapon-flag rate</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E3F3F2"/>
                    </a:solidFill>
                  </a:tcPr>
                </a:tc>
                <a:tc>
                  <a:txBody>
                    <a:bodyPr/>
                    <a:lstStyle/>
                    <a:p>
                      <a:pPr marL="0" indent="0">
                        <a:buNone/>
                      </a:pPr>
                      <a:r>
                        <a:rPr lang="en-US" sz="1250" dirty="0">
                          <a:solidFill>
                            <a:srgbClr val="1C2B42"/>
                          </a:solidFill>
                          <a:latin typeface="Calibri" pitchFamily="34" charset="0"/>
                          <a:ea typeface="Calibri" pitchFamily="34" charset="-122"/>
                          <a:cs typeface="Calibri" pitchFamily="34" charset="-120"/>
                        </a:rPr>
                        <a:t>Share of out-of-distribution images flagged as weapon-related</a:t>
                      </a:r>
                      <a:endParaRPr lang="en-US" sz="1250" dirty="0">
                        <a:latin typeface="Calibri" charset="0"/>
                        <a:ea typeface="Calibri" charset="0"/>
                        <a:cs typeface="Calibri" charset="0"/>
                      </a:endParaRPr>
                    </a:p>
                  </a:txBody>
                  <a:tcPr marL="101600" marR="101600" marT="76200" marB="7620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6" name="Text 3"/>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Why OOD Remains Clean</a:t>
            </a:r>
            <a:endParaRPr lang="en-US" sz="2700" dirty="0"/>
          </a:p>
        </p:txBody>
      </p:sp>
      <p:sp>
        <p:nvSpPr>
          <p:cNvPr id="4" name="Shape 2"/>
          <p:cNvSpPr/>
          <p:nvPr/>
        </p:nvSpPr>
        <p:spPr>
          <a:xfrm>
            <a:off x="502920" y="1417320"/>
            <a:ext cx="8138160" cy="1005840"/>
          </a:xfrm>
          <a:prstGeom prst="roundRect">
            <a:avLst>
              <a:gd name="adj" fmla="val 8182"/>
            </a:avLst>
          </a:prstGeom>
          <a:solidFill>
            <a:srgbClr val="FBE7D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Text 3"/>
          <p:cNvSpPr/>
          <p:nvPr/>
        </p:nvSpPr>
        <p:spPr>
          <a:xfrm>
            <a:off x="777240" y="1417320"/>
            <a:ext cx="7589520" cy="1005840"/>
          </a:xfrm>
          <a:prstGeom prst="rect">
            <a:avLst/>
          </a:prstGeom>
          <a:noFill/>
          <a:ln/>
        </p:spPr>
        <p:txBody>
          <a:bodyPr wrap="square" lIns="0" tIns="0" rIns="0" bIns="0" rtlCol="0" anchor="ctr"/>
          <a:lstStyle/>
          <a:p>
            <a:pPr marL="0" indent="0">
              <a:buNone/>
            </a:pPr>
            <a:r>
              <a:rPr lang="en-US" sz="1350" i="1" dirty="0">
                <a:solidFill>
                  <a:srgbClr val="0A1F3D"/>
                </a:solidFill>
                <a:latin typeface="Calibri" pitchFamily="34" charset="0"/>
                <a:ea typeface="Calibri" pitchFamily="34" charset="-122"/>
                <a:cs typeface="Calibri" pitchFamily="34" charset="-120"/>
              </a:rPr>
              <a:t>The OOD branch tests out-of-distribution behavior, not perturbation robustness — the two questions are deliberately kept separate.</a:t>
            </a:r>
            <a:endParaRPr lang="en-US" sz="1350" dirty="0"/>
          </a:p>
        </p:txBody>
      </p:sp>
      <p:sp>
        <p:nvSpPr>
          <p:cNvPr id="6" name="Text 4"/>
          <p:cNvSpPr/>
          <p:nvPr/>
        </p:nvSpPr>
        <p:spPr>
          <a:xfrm>
            <a:off x="502920" y="2651760"/>
            <a:ext cx="8138160" cy="1737360"/>
          </a:xfrm>
          <a:prstGeom prst="rect">
            <a:avLst/>
          </a:prstGeom>
          <a:noFill/>
          <a:ln/>
        </p:spPr>
        <p:txBody>
          <a:bodyPr wrap="square" rtlCol="0" anchor="t"/>
          <a:lstStyle/>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OOD images probe whether a tool maps unfamiliar content into the weapon class.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Adding perturbations to OOD inputs would conflate two distinct failure modes.</a:t>
            </a:r>
            <a:endParaRPr lang="en-US" sz="1350" dirty="0"/>
          </a:p>
          <a:p>
            <a:pPr marL="342900" indent="-342900">
              <a:spcAft>
                <a:spcPts val="1000"/>
              </a:spcAft>
              <a:buSzPct val="100000"/>
              <a:buChar char="–"/>
            </a:pPr>
            <a:r>
              <a:rPr lang="en-US" sz="1350" dirty="0">
                <a:solidFill>
                  <a:srgbClr val="1C2B42"/>
                </a:solidFill>
                <a:latin typeface="Calibri" pitchFamily="34" charset="0"/>
                <a:ea typeface="Calibri" pitchFamily="34" charset="-122"/>
                <a:cs typeface="Calibri" pitchFamily="34" charset="-120"/>
              </a:rPr>
              <a:t>Keeping OOD clean isolates distribution-shift behavior from adversarial/anti-forensic behavior.</a:t>
            </a:r>
            <a:endParaRPr lang="en-US" sz="1350" dirty="0"/>
          </a:p>
        </p:txBody>
      </p:sp>
      <p:sp>
        <p:nvSpPr>
          <p:cNvPr id="7" name="Text 5"/>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8" name="Text 6"/>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292608"/>
            <a:ext cx="7772400" cy="274320"/>
          </a:xfrm>
          <a:prstGeom prst="rect">
            <a:avLst/>
          </a:prstGeom>
          <a:noFill/>
          <a:ln/>
        </p:spPr>
        <p:txBody>
          <a:bodyPr wrap="square" lIns="0" tIns="0" rIns="0" bIns="0" rtlCol="0" anchor="ctr"/>
          <a:lstStyle/>
          <a:p>
            <a:pPr marL="0" indent="0">
              <a:buNone/>
            </a:pPr>
            <a:r>
              <a:rPr lang="en-US" sz="1250" b="1" kern="0" spc="200" dirty="0">
                <a:solidFill>
                  <a:srgbClr val="E2692C"/>
                </a:solidFill>
                <a:latin typeface="Calibri" pitchFamily="34" charset="0"/>
                <a:ea typeface="Calibri" pitchFamily="34" charset="-122"/>
                <a:cs typeface="Calibri" pitchFamily="34" charset="-120"/>
              </a:rPr>
              <a:t>BACKUP – Q&amp;A REFERENCE</a:t>
            </a:r>
            <a:endParaRPr lang="en-US" sz="1250" dirty="0"/>
          </a:p>
        </p:txBody>
      </p:sp>
      <p:sp>
        <p:nvSpPr>
          <p:cNvPr id="3" name="Text 1"/>
          <p:cNvSpPr/>
          <p:nvPr/>
        </p:nvSpPr>
        <p:spPr>
          <a:xfrm>
            <a:off x="502920" y="530352"/>
            <a:ext cx="8138160" cy="658368"/>
          </a:xfrm>
          <a:prstGeom prst="rect">
            <a:avLst/>
          </a:prstGeom>
          <a:noFill/>
          <a:ln/>
        </p:spPr>
        <p:txBody>
          <a:bodyPr wrap="square" lIns="0" tIns="0" rIns="0" bIns="0" rtlCol="0" anchor="t"/>
          <a:lstStyle/>
          <a:p>
            <a:pPr marL="0" indent="0">
              <a:buNone/>
            </a:pPr>
            <a:r>
              <a:rPr lang="en-US" sz="2700" b="1" dirty="0">
                <a:solidFill>
                  <a:srgbClr val="0A1F3D"/>
                </a:solidFill>
                <a:latin typeface="Cambria" pitchFamily="34" charset="0"/>
                <a:ea typeface="Cambria" pitchFamily="34" charset="-122"/>
                <a:cs typeface="Cambria" pitchFamily="34" charset="-120"/>
              </a:rPr>
              <a:t>Why Proxy Models Are Needed</a:t>
            </a:r>
            <a:endParaRPr lang="en-US" sz="2700" dirty="0"/>
          </a:p>
        </p:txBody>
      </p:sp>
      <p:sp>
        <p:nvSpPr>
          <p:cNvPr id="4" name="Shape 2"/>
          <p:cNvSpPr/>
          <p:nvPr/>
        </p:nvSpPr>
        <p:spPr>
          <a:xfrm>
            <a:off x="521208"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5" name="Shape 3"/>
          <p:cNvSpPr/>
          <p:nvPr/>
        </p:nvSpPr>
        <p:spPr>
          <a:xfrm>
            <a:off x="1216152" y="1664208"/>
            <a:ext cx="512064" cy="512064"/>
          </a:xfrm>
          <a:prstGeom prst="ellipse">
            <a:avLst/>
          </a:prstGeom>
          <a:solidFill>
            <a:srgbClr val="0E8A8A"/>
          </a:solidFill>
          <a:ln/>
        </p:spPr>
        <p:txBody>
          <a:bodyPr/>
          <a:lstStyle/>
          <a:p>
            <a:endParaRPr lang="it-IT"/>
          </a:p>
        </p:txBody>
      </p:sp>
      <p:pic>
        <p:nvPicPr>
          <p:cNvPr id="6" name="Image 0" descr="preencoded.png"/>
          <p:cNvPicPr>
            <a:picLocks noChangeAspect="1"/>
          </p:cNvPicPr>
          <p:nvPr/>
        </p:nvPicPr>
        <p:blipFill>
          <a:blip r:embed="rId3"/>
          <a:stretch>
            <a:fillRect/>
          </a:stretch>
        </p:blipFill>
        <p:spPr>
          <a:xfrm>
            <a:off x="1282720" y="1730776"/>
            <a:ext cx="378927" cy="378927"/>
          </a:xfrm>
          <a:prstGeom prst="rect">
            <a:avLst/>
          </a:prstGeom>
        </p:spPr>
      </p:pic>
      <p:sp>
        <p:nvSpPr>
          <p:cNvPr id="7" name="Text 4"/>
          <p:cNvSpPr/>
          <p:nvPr/>
        </p:nvSpPr>
        <p:spPr>
          <a:xfrm>
            <a:off x="594360"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Controlled adversarial testing</a:t>
            </a:r>
            <a:endParaRPr lang="en-US" sz="1100" dirty="0"/>
          </a:p>
        </p:txBody>
      </p:sp>
      <p:sp>
        <p:nvSpPr>
          <p:cNvPr id="8" name="Text 5"/>
          <p:cNvSpPr/>
          <p:nvPr/>
        </p:nvSpPr>
        <p:spPr>
          <a:xfrm>
            <a:off x="630936"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Precise, repeatable attack generation against a known target.</a:t>
            </a:r>
            <a:endParaRPr lang="en-US" sz="980" dirty="0"/>
          </a:p>
        </p:txBody>
      </p:sp>
      <p:sp>
        <p:nvSpPr>
          <p:cNvPr id="9" name="Shape 6"/>
          <p:cNvSpPr/>
          <p:nvPr/>
        </p:nvSpPr>
        <p:spPr>
          <a:xfrm>
            <a:off x="2587752"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0" name="Shape 7"/>
          <p:cNvSpPr/>
          <p:nvPr/>
        </p:nvSpPr>
        <p:spPr>
          <a:xfrm>
            <a:off x="3282696" y="1664208"/>
            <a:ext cx="512064" cy="512064"/>
          </a:xfrm>
          <a:prstGeom prst="ellipse">
            <a:avLst/>
          </a:prstGeom>
          <a:solidFill>
            <a:srgbClr val="0E8A8A"/>
          </a:solidFill>
          <a:ln/>
        </p:spPr>
        <p:txBody>
          <a:bodyPr/>
          <a:lstStyle/>
          <a:p>
            <a:endParaRPr lang="it-IT"/>
          </a:p>
        </p:txBody>
      </p:sp>
      <p:pic>
        <p:nvPicPr>
          <p:cNvPr id="11" name="Image 1" descr="preencoded.png"/>
          <p:cNvPicPr>
            <a:picLocks noChangeAspect="1"/>
          </p:cNvPicPr>
          <p:nvPr/>
        </p:nvPicPr>
        <p:blipFill>
          <a:blip r:embed="rId4"/>
          <a:stretch>
            <a:fillRect/>
          </a:stretch>
        </p:blipFill>
        <p:spPr>
          <a:xfrm>
            <a:off x="3349264" y="1730776"/>
            <a:ext cx="378927" cy="378927"/>
          </a:xfrm>
          <a:prstGeom prst="rect">
            <a:avLst/>
          </a:prstGeom>
        </p:spPr>
      </p:pic>
      <p:sp>
        <p:nvSpPr>
          <p:cNvPr id="12" name="Text 8"/>
          <p:cNvSpPr/>
          <p:nvPr/>
        </p:nvSpPr>
        <p:spPr>
          <a:xfrm>
            <a:off x="2660904"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confidence values</a:t>
            </a:r>
            <a:endParaRPr lang="en-US" sz="1100" dirty="0"/>
          </a:p>
        </p:txBody>
      </p:sp>
      <p:sp>
        <p:nvSpPr>
          <p:cNvPr id="13" name="Text 9"/>
          <p:cNvSpPr/>
          <p:nvPr/>
        </p:nvSpPr>
        <p:spPr>
          <a:xfrm>
            <a:off x="2697480"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Full probability outputs, not just discrete labels.</a:t>
            </a:r>
            <a:endParaRPr lang="en-US" sz="980" dirty="0"/>
          </a:p>
        </p:txBody>
      </p:sp>
      <p:sp>
        <p:nvSpPr>
          <p:cNvPr id="14" name="Shape 10"/>
          <p:cNvSpPr/>
          <p:nvPr/>
        </p:nvSpPr>
        <p:spPr>
          <a:xfrm>
            <a:off x="4654296"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15" name="Shape 11"/>
          <p:cNvSpPr/>
          <p:nvPr/>
        </p:nvSpPr>
        <p:spPr>
          <a:xfrm>
            <a:off x="5349240" y="1664208"/>
            <a:ext cx="512064" cy="512064"/>
          </a:xfrm>
          <a:prstGeom prst="ellipse">
            <a:avLst/>
          </a:prstGeom>
          <a:solidFill>
            <a:srgbClr val="0E8A8A"/>
          </a:solidFill>
          <a:ln/>
        </p:spPr>
        <p:txBody>
          <a:bodyPr/>
          <a:lstStyle/>
          <a:p>
            <a:endParaRPr lang="it-IT"/>
          </a:p>
        </p:txBody>
      </p:sp>
      <p:pic>
        <p:nvPicPr>
          <p:cNvPr id="16" name="Image 2" descr="preencoded.png"/>
          <p:cNvPicPr>
            <a:picLocks noChangeAspect="1"/>
          </p:cNvPicPr>
          <p:nvPr/>
        </p:nvPicPr>
        <p:blipFill>
          <a:blip r:embed="rId5"/>
          <a:stretch>
            <a:fillRect/>
          </a:stretch>
        </p:blipFill>
        <p:spPr>
          <a:xfrm>
            <a:off x="5415808" y="1730776"/>
            <a:ext cx="378927" cy="378927"/>
          </a:xfrm>
          <a:prstGeom prst="rect">
            <a:avLst/>
          </a:prstGeom>
        </p:spPr>
      </p:pic>
      <p:sp>
        <p:nvSpPr>
          <p:cNvPr id="17" name="Text 12"/>
          <p:cNvSpPr/>
          <p:nvPr/>
        </p:nvSpPr>
        <p:spPr>
          <a:xfrm>
            <a:off x="4727448"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gradients</a:t>
            </a:r>
            <a:endParaRPr lang="en-US" sz="1100" dirty="0"/>
          </a:p>
        </p:txBody>
      </p:sp>
      <p:sp>
        <p:nvSpPr>
          <p:cNvPr id="18" name="Text 13"/>
          <p:cNvSpPr/>
          <p:nvPr/>
        </p:nvSpPr>
        <p:spPr>
          <a:xfrm>
            <a:off x="4764024"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Required for gradient-based adversarial attacks.</a:t>
            </a:r>
            <a:endParaRPr lang="en-US" sz="980" dirty="0"/>
          </a:p>
        </p:txBody>
      </p:sp>
      <p:sp>
        <p:nvSpPr>
          <p:cNvPr id="19" name="Shape 14"/>
          <p:cNvSpPr/>
          <p:nvPr/>
        </p:nvSpPr>
        <p:spPr>
          <a:xfrm>
            <a:off x="6720840" y="1463040"/>
            <a:ext cx="1901952" cy="2331720"/>
          </a:xfrm>
          <a:prstGeom prst="roundRect">
            <a:avLst>
              <a:gd name="adj" fmla="val 4327"/>
            </a:avLst>
          </a:prstGeom>
          <a:solidFill>
            <a:srgbClr val="F3F6FA"/>
          </a:solidFill>
          <a:ln w="9525">
            <a:solidFill>
              <a:srgbClr val="F3F6FA"/>
            </a:solidFill>
            <a:prstDash val="solid"/>
          </a:ln>
          <a:effectLst>
            <a:outerShdw blurRad="88900" dist="25400" dir="5400000" algn="bl" rotWithShape="0">
              <a:srgbClr val="000000">
                <a:alpha val="10000"/>
              </a:srgbClr>
            </a:outerShdw>
          </a:effectLst>
        </p:spPr>
        <p:txBody>
          <a:bodyPr/>
          <a:lstStyle/>
          <a:p>
            <a:endParaRPr lang="it-IT"/>
          </a:p>
        </p:txBody>
      </p:sp>
      <p:sp>
        <p:nvSpPr>
          <p:cNvPr id="20" name="Shape 15"/>
          <p:cNvSpPr/>
          <p:nvPr/>
        </p:nvSpPr>
        <p:spPr>
          <a:xfrm>
            <a:off x="7415784" y="1664208"/>
            <a:ext cx="512064" cy="512064"/>
          </a:xfrm>
          <a:prstGeom prst="ellipse">
            <a:avLst/>
          </a:prstGeom>
          <a:solidFill>
            <a:srgbClr val="0E8A8A"/>
          </a:solidFill>
          <a:ln/>
        </p:spPr>
        <p:txBody>
          <a:bodyPr/>
          <a:lstStyle/>
          <a:p>
            <a:endParaRPr lang="it-IT"/>
          </a:p>
        </p:txBody>
      </p:sp>
      <p:pic>
        <p:nvPicPr>
          <p:cNvPr id="21" name="Image 3" descr="preencoded.png"/>
          <p:cNvPicPr>
            <a:picLocks noChangeAspect="1"/>
          </p:cNvPicPr>
          <p:nvPr/>
        </p:nvPicPr>
        <p:blipFill>
          <a:blip r:embed="rId6"/>
          <a:stretch>
            <a:fillRect/>
          </a:stretch>
        </p:blipFill>
        <p:spPr>
          <a:xfrm>
            <a:off x="7482352" y="1730776"/>
            <a:ext cx="378927" cy="378927"/>
          </a:xfrm>
          <a:prstGeom prst="rect">
            <a:avLst/>
          </a:prstGeom>
        </p:spPr>
      </p:pic>
      <p:sp>
        <p:nvSpPr>
          <p:cNvPr id="22" name="Text 16"/>
          <p:cNvSpPr/>
          <p:nvPr/>
        </p:nvSpPr>
        <p:spPr>
          <a:xfrm>
            <a:off x="6793992" y="2304288"/>
            <a:ext cx="1755648" cy="502920"/>
          </a:xfrm>
          <a:prstGeom prst="rect">
            <a:avLst/>
          </a:prstGeom>
          <a:noFill/>
          <a:ln/>
        </p:spPr>
        <p:txBody>
          <a:bodyPr wrap="square" lIns="0" tIns="0" rIns="0" bIns="0" rtlCol="0" anchor="t"/>
          <a:lstStyle/>
          <a:p>
            <a:pPr marL="0" indent="0" algn="ctr">
              <a:buNone/>
            </a:pPr>
            <a:r>
              <a:rPr lang="en-US" sz="1100" b="1" dirty="0">
                <a:solidFill>
                  <a:srgbClr val="0A1F3D"/>
                </a:solidFill>
                <a:latin typeface="Cambria" pitchFamily="34" charset="0"/>
                <a:ea typeface="Cambria" pitchFamily="34" charset="-122"/>
                <a:cs typeface="Cambria" pitchFamily="34" charset="-120"/>
              </a:rPr>
              <a:t>Access to XAI</a:t>
            </a:r>
            <a:endParaRPr lang="en-US" sz="1100" dirty="0"/>
          </a:p>
        </p:txBody>
      </p:sp>
      <p:sp>
        <p:nvSpPr>
          <p:cNvPr id="23" name="Text 17"/>
          <p:cNvSpPr/>
          <p:nvPr/>
        </p:nvSpPr>
        <p:spPr>
          <a:xfrm>
            <a:off x="6830568" y="2834640"/>
            <a:ext cx="1682496" cy="914400"/>
          </a:xfrm>
          <a:prstGeom prst="rect">
            <a:avLst/>
          </a:prstGeom>
          <a:noFill/>
          <a:ln/>
        </p:spPr>
        <p:txBody>
          <a:bodyPr wrap="square" lIns="0" tIns="0" rIns="0" bIns="0" rtlCol="0" anchor="t"/>
          <a:lstStyle/>
          <a:p>
            <a:pPr marL="0" indent="0" algn="ctr">
              <a:lnSpc>
                <a:spcPct val="115000"/>
              </a:lnSpc>
              <a:buNone/>
            </a:pPr>
            <a:r>
              <a:rPr lang="en-US" sz="980" dirty="0">
                <a:solidFill>
                  <a:srgbClr val="1C2B42"/>
                </a:solidFill>
                <a:latin typeface="Calibri" pitchFamily="34" charset="0"/>
                <a:ea typeface="Calibri" pitchFamily="34" charset="-122"/>
                <a:cs typeface="Calibri" pitchFamily="34" charset="-120"/>
              </a:rPr>
              <a:t>Attribution maps explain model behavior under stress.</a:t>
            </a:r>
            <a:endParaRPr lang="en-US" sz="980" dirty="0"/>
          </a:p>
        </p:txBody>
      </p:sp>
      <p:sp>
        <p:nvSpPr>
          <p:cNvPr id="24" name="Text 18"/>
          <p:cNvSpPr/>
          <p:nvPr/>
        </p:nvSpPr>
        <p:spPr>
          <a:xfrm>
            <a:off x="502920" y="4023360"/>
            <a:ext cx="8138160" cy="548640"/>
          </a:xfrm>
          <a:prstGeom prst="rect">
            <a:avLst/>
          </a:prstGeom>
          <a:noFill/>
          <a:ln/>
        </p:spPr>
        <p:txBody>
          <a:bodyPr wrap="square" lIns="0" tIns="0" rIns="0" bIns="0" rtlCol="0" anchor="ctr"/>
          <a:lstStyle/>
          <a:p>
            <a:pPr marL="0" indent="0" algn="ctr">
              <a:buNone/>
            </a:pPr>
            <a:r>
              <a:rPr lang="en-US" sz="1150" i="1" dirty="0">
                <a:solidFill>
                  <a:srgbClr val="5C6B83"/>
                </a:solidFill>
                <a:latin typeface="Calibri" pitchFamily="34" charset="0"/>
                <a:ea typeface="Calibri" pitchFamily="34" charset="-122"/>
                <a:cs typeface="Calibri" pitchFamily="34" charset="-120"/>
              </a:rPr>
              <a:t>These capabilities are not available through commercial black-box tools, which is why controlled reproducible stress testing relies on proxy models.</a:t>
            </a:r>
            <a:endParaRPr lang="en-US" sz="1150" dirty="0"/>
          </a:p>
        </p:txBody>
      </p:sp>
      <p:sp>
        <p:nvSpPr>
          <p:cNvPr id="25" name="Text 19"/>
          <p:cNvSpPr/>
          <p:nvPr/>
        </p:nvSpPr>
        <p:spPr>
          <a:xfrm>
            <a:off x="502920" y="4864608"/>
            <a:ext cx="5486400" cy="228600"/>
          </a:xfrm>
          <a:prstGeom prst="rect">
            <a:avLst/>
          </a:prstGeom>
          <a:noFill/>
          <a:ln/>
        </p:spPr>
        <p:txBody>
          <a:bodyPr wrap="square" lIns="0" tIns="0" rIns="0" bIns="0" rtlCol="0" anchor="ctr"/>
          <a:lstStyle/>
          <a:p>
            <a:pPr marL="0" indent="0">
              <a:buNone/>
            </a:pPr>
            <a:r>
              <a:rPr lang="en-US" sz="900" dirty="0">
                <a:solidFill>
                  <a:srgbClr val="5C6B83"/>
                </a:solidFill>
                <a:latin typeface="Calibri" pitchFamily="34" charset="0"/>
                <a:ea typeface="Calibri" pitchFamily="34" charset="-122"/>
                <a:cs typeface="Calibri" pitchFamily="34" charset="-120"/>
              </a:rPr>
              <a:t>Robustness of AI-Based Forensic Tools  |  Lello Molinario</a:t>
            </a:r>
            <a:endParaRPr lang="en-US" sz="900" dirty="0"/>
          </a:p>
        </p:txBody>
      </p:sp>
      <p:sp>
        <p:nvSpPr>
          <p:cNvPr id="26" name="Text 20"/>
          <p:cNvSpPr/>
          <p:nvPr/>
        </p:nvSpPr>
        <p:spPr>
          <a:xfrm>
            <a:off x="8732520" y="4864608"/>
            <a:ext cx="365760" cy="228600"/>
          </a:xfrm>
          <a:prstGeom prst="rect">
            <a:avLst/>
          </a:prstGeom>
          <a:noFill/>
          <a:ln/>
        </p:spPr>
        <p:txBody>
          <a:bodyPr wrap="square" lIns="0" tIns="0" rIns="0" bIns="0" rtlCol="0" anchor="ctr"/>
          <a:lstStyle/>
          <a:p>
            <a:pPr marL="0" indent="0" algn="r">
              <a:buNone/>
            </a:pPr>
            <a:r>
              <a:rPr lang="en-US" sz="900" dirty="0">
                <a:solidFill>
                  <a:srgbClr val="5C6B83"/>
                </a:solidFill>
                <a:latin typeface="Calibri" pitchFamily="34" charset="0"/>
                <a:ea typeface="Calibri" pitchFamily="34" charset="-122"/>
                <a:cs typeface="Calibri" pitchFamily="34" charset="-120"/>
              </a:rPr>
              <a:t>B3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159</TotalTime>
  <Words>1940</Words>
  <Application>Microsoft Office PowerPoint</Application>
  <PresentationFormat>Presentazione su schermo (16:9)</PresentationFormat>
  <Paragraphs>326</Paragraphs>
  <Slides>18</Slides>
  <Notes>18</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18</vt:i4>
      </vt:variant>
    </vt:vector>
  </HeadingPairs>
  <TitlesOfParts>
    <vt:vector size="22" baseType="lpstr">
      <vt:lpstr>Arial</vt:lpstr>
      <vt:lpstr>Calibri</vt:lpstr>
      <vt:lpstr>Cambria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the Robustness of AI-Based Forensic Tools</dc:title>
  <dc:subject>PptxGenJS Presentation</dc:subject>
  <dc:creator>Lello Molinario</dc:creator>
  <cp:lastModifiedBy>Lello Molinario</cp:lastModifiedBy>
  <cp:revision>2</cp:revision>
  <dcterms:created xsi:type="dcterms:W3CDTF">2026-07-03T06:38:12Z</dcterms:created>
  <dcterms:modified xsi:type="dcterms:W3CDTF">2026-07-03T11:57:13Z</dcterms:modified>
</cp:coreProperties>
</file>