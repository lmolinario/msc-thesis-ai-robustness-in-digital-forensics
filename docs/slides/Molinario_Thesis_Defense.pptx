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25" d="100"/>
          <a:sy n="125" d="100"/>
        </p:scale>
        <p:origin x="1116" y="3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9032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This thesis evaluates whether AI-assisted forensic image classification remains operationally reliable when visual evidence is manipulated. I will present a controlled evaluation of both proxy models and commercial black-box forensic tools under adversarial and anti-forensic conditions. The goal is operational robustness, not simply optimizing an attack in isolation.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classification is useful in forensic triage because analysts cannot manually inspect every file immediately. However, if the classification is wrong, relevant evidence may be missed, or irrelevant material may be prioritized ahead of what matters. This motivates studying robustness, not just clean accuracy.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not only whether a classifier achieves high clean accuracy. It is whether the tool remains dependable when the input distribution changes, or when images are deliberately or incidentally manipulated. Four stressor categories frame the thesis: adversarial perturbations, anti-forensic transformations, out-of-distribution inputs, and the operational constraint of working with black-box commercial tools.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scientific contribution is the framework itself: it allows heterogeneous systems, from inspectable proxy models to opaque commercial tools, to be evaluated under the same protocol while preserving traceability from raw output to risk interpretation.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Proxy models allow controlled adversarial testing and full metric extraction, since we own the weights and gradients. Commercial tools represent realistic forensic environments but expose only their outputs, with limited internal visibility. The two tracks are complementary, not competing.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frozen at 1,500 images and never changes across experiments. It is important to stress that the OOD branch is never attacked — it exists to understand how tools behave when they encounter images outside the binary weapon / non-weapon task, not to test perturbation robustness.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normalization is critical. Commercial tools use different label vocabularies and confidence formats, so their raw outputs must be mapped conservatively — into true positive, false positive, false negative, true negative, or unknown — before any comparison with proxy models can be made.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clear distinction between the two families: adversarial attacks are model-oriented perturbations computed against a target model, while anti-forensic transformations are practical, model-agnostic manipulations that may occur during real evidence handling or deliberate evasion attempts.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forensic triage, false negatives on relevant images and high-confidence errors matter more than a single aggregate accuracy figure, because they directly affect what an analyst sees first and how much trust is placed in the automated label.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EfficientNet-B0 is used as the primary proxy target for adversarial perturbations, while ResNet18 and the CLIP-based classifier provide complementary model behaviors and act as a cross-check against the primary target.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Black-box evaluation is realistic: forensic practitioners typically cannot inspect model internals. This is why traceability and conservative label mapping are essential — every output is preserved, including cases that cannot be confidently mapped, rather than being forced into a positive or negative outcome.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translates technical metrics into an operational interpretation. This matters for forensic use because AI-based tools support analysts, but should not be treated as infallible evidence evaluators — the risk framing is what makes the results actionable for practitioners.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findings use cautious phrasing deliberately. They are not universal conclusions but evidence observed under this controlled experimental setting, with this dataset, these tool versions, and this perturbation design.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limitations are expected in a forensic black-box evaluation and are not a weakness unique to this thesis. They motivate the need for periodic re-testing as tool versions change, and for transparent validation protocols across the field.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AI can support forensic analysts, but its outputs must be validated, traceable, and interpreted under known limitations. Thank you — I am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with formal metric definitions, for use if asked during Q&amp;A.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rationale for keeping the OOD branch unperturbed if asked in Q&amp;A.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why the thesis does not rely solely on commercial tools for the adversarial analysis.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1.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9.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33.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D"/>
        </a:solidFill>
        <a:effectLst/>
      </p:bgPr>
    </p:bg>
    <p:spTree>
      <p:nvGrpSpPr>
        <p:cNvPr id="1" name=""/>
        <p:cNvGrpSpPr/>
        <p:nvPr/>
      </p:nvGrpSpPr>
      <p:grpSpPr>
        <a:xfrm>
          <a:off x="0" y="0"/>
          <a:ext cx="0" cy="0"/>
          <a:chOff x="0" y="0"/>
          <a:chExt cx="0" cy="0"/>
        </a:xfrm>
      </p:grpSpPr>
      <p:sp>
        <p:nvSpPr>
          <p:cNvPr id="2" name="Shape 0"/>
          <p:cNvSpPr/>
          <p:nvPr/>
        </p:nvSpPr>
        <p:spPr>
          <a:xfrm>
            <a:off x="6492240" y="-1188720"/>
            <a:ext cx="4114800" cy="4114800"/>
          </a:xfrm>
          <a:prstGeom prst="ellipse">
            <a:avLst/>
          </a:prstGeom>
          <a:solidFill>
            <a:srgbClr val="13294F"/>
          </a:solidFill>
          <a:ln/>
        </p:spPr>
        <p:txBody>
          <a:bodyPr/>
          <a:lstStyle/>
          <a:p>
            <a:endParaRPr lang="it-IT"/>
          </a:p>
        </p:txBody>
      </p:sp>
      <p:sp>
        <p:nvSpPr>
          <p:cNvPr id="3" name="Shape 1"/>
          <p:cNvSpPr/>
          <p:nvPr/>
        </p:nvSpPr>
        <p:spPr>
          <a:xfrm>
            <a:off x="7772400" y="2743200"/>
            <a:ext cx="2743200" cy="2743200"/>
          </a:xfrm>
          <a:prstGeom prst="ellipse">
            <a:avLst/>
          </a:prstGeom>
          <a:solidFill>
            <a:srgbClr val="13294F"/>
          </a:solidFill>
          <a:ln/>
        </p:spPr>
        <p:txBody>
          <a:bodyPr/>
          <a:lstStyle/>
          <a:p>
            <a:endParaRPr lang="it-IT"/>
          </a:p>
        </p:txBody>
      </p:sp>
      <p:sp>
        <p:nvSpPr>
          <p:cNvPr id="6" name="Text 2"/>
          <p:cNvSpPr/>
          <p:nvPr/>
        </p:nvSpPr>
        <p:spPr>
          <a:xfrm>
            <a:off x="5326380" y="4082796"/>
            <a:ext cx="3109099" cy="713232"/>
          </a:xfrm>
          <a:prstGeom prst="rect">
            <a:avLst/>
          </a:prstGeom>
          <a:noFill/>
          <a:ln/>
        </p:spPr>
        <p:txBody>
          <a:bodyPr wrap="square" lIns="0" tIns="0" rIns="0" bIns="0" rtlCol="0" anchor="ctr"/>
          <a:lstStyle/>
          <a:p>
            <a:r>
              <a:rPr lang="en-US" sz="1400" dirty="0">
                <a:solidFill>
                  <a:srgbClr val="9FB1CC"/>
                </a:solidFill>
                <a:latin typeface="Calibri" pitchFamily="34" charset="0"/>
                <a:ea typeface="Calibri" pitchFamily="34" charset="-122"/>
                <a:cs typeface="Calibri" pitchFamily="34" charset="-120"/>
              </a:rPr>
              <a:t>Candidate: </a:t>
            </a:r>
            <a:r>
              <a:rPr lang="en-US" sz="1400" b="1" dirty="0">
                <a:solidFill>
                  <a:srgbClr val="FFFFFF"/>
                </a:solidFill>
                <a:latin typeface="Calibri" pitchFamily="34" charset="0"/>
                <a:ea typeface="Calibri" pitchFamily="34" charset="-122"/>
                <a:cs typeface="Calibri" pitchFamily="34" charset="-120"/>
              </a:rPr>
              <a:t>Dr.</a:t>
            </a:r>
            <a:r>
              <a:rPr lang="en-US" sz="1400" dirty="0">
                <a:solidFill>
                  <a:srgbClr val="9FB1CC"/>
                </a:solidFill>
                <a:latin typeface="Calibri" pitchFamily="34" charset="0"/>
                <a:ea typeface="Calibri" pitchFamily="34" charset="-122"/>
                <a:cs typeface="Calibri" pitchFamily="34" charset="-120"/>
              </a:rPr>
              <a:t> </a:t>
            </a:r>
            <a:r>
              <a:rPr lang="en-US" sz="1400" b="1" dirty="0">
                <a:solidFill>
                  <a:srgbClr val="FFFFFF"/>
                </a:solidFill>
                <a:latin typeface="Calibri" pitchFamily="34" charset="0"/>
                <a:ea typeface="Calibri" pitchFamily="34" charset="-122"/>
                <a:cs typeface="Calibri" pitchFamily="34" charset="-120"/>
              </a:rPr>
              <a:t>Lello Molinario</a:t>
            </a:r>
            <a:endParaRPr lang="en-US" sz="1400" b="1" kern="0" spc="220" dirty="0">
              <a:solidFill>
                <a:srgbClr val="0E8A8A"/>
              </a:solidFill>
              <a:latin typeface="Calibri" pitchFamily="34" charset="0"/>
              <a:ea typeface="Calibri" pitchFamily="34" charset="-122"/>
              <a:cs typeface="Calibri" pitchFamily="34" charset="-120"/>
            </a:endParaRPr>
          </a:p>
          <a:p>
            <a:pPr marL="0" indent="0">
              <a:buNone/>
            </a:pPr>
            <a:r>
              <a:rPr lang="en-US" sz="1300" b="1" kern="0" spc="220" dirty="0">
                <a:solidFill>
                  <a:srgbClr val="0E8A8A"/>
                </a:solidFill>
                <a:latin typeface="Calibri" pitchFamily="34" charset="0"/>
                <a:ea typeface="Calibri" pitchFamily="34" charset="-122"/>
                <a:cs typeface="Calibri" pitchFamily="34" charset="-120"/>
              </a:rPr>
              <a:t>MASTER'S THESIS DEFENSE</a:t>
            </a:r>
            <a:endParaRPr lang="en-US" sz="1300" dirty="0"/>
          </a:p>
        </p:txBody>
      </p:sp>
      <p:sp>
        <p:nvSpPr>
          <p:cNvPr id="7" name="Text 3"/>
          <p:cNvSpPr/>
          <p:nvPr/>
        </p:nvSpPr>
        <p:spPr>
          <a:xfrm>
            <a:off x="663079" y="2439747"/>
            <a:ext cx="7772400" cy="1463040"/>
          </a:xfrm>
          <a:prstGeom prst="rect">
            <a:avLst/>
          </a:prstGeom>
          <a:noFill/>
          <a:ln/>
        </p:spPr>
        <p:txBody>
          <a:bodyPr wrap="square" lIns="0" tIns="0" rIns="0" bIns="0" rtlCol="0" anchor="ctr"/>
          <a:lstStyle/>
          <a:p>
            <a:pPr marL="0" indent="0" algn="ctr">
              <a:lnSpc>
                <a:spcPct val="112000"/>
              </a:lnSpc>
              <a:buNone/>
            </a:pPr>
            <a:r>
              <a:rPr lang="en-US" sz="2800" b="1" dirty="0">
                <a:solidFill>
                  <a:srgbClr val="FFFFFF"/>
                </a:solidFill>
                <a:latin typeface="Cambria" pitchFamily="34" charset="0"/>
                <a:ea typeface="Cambria" pitchFamily="34" charset="-122"/>
                <a:cs typeface="Cambria" pitchFamily="34" charset="-120"/>
              </a:rPr>
              <a:t>Evaluating the Robustness of AI-Based </a:t>
            </a:r>
          </a:p>
          <a:p>
            <a:pPr marL="0" indent="0" algn="ctr">
              <a:lnSpc>
                <a:spcPct val="112000"/>
              </a:lnSpc>
              <a:buNone/>
            </a:pPr>
            <a:r>
              <a:rPr lang="en-US" sz="2800" b="1" dirty="0">
                <a:solidFill>
                  <a:srgbClr val="FFFFFF"/>
                </a:solidFill>
                <a:latin typeface="Cambria" pitchFamily="34" charset="0"/>
                <a:ea typeface="Cambria" pitchFamily="34" charset="-122"/>
                <a:cs typeface="Cambria" pitchFamily="34" charset="-120"/>
              </a:rPr>
              <a:t>Forensic Tools under Adversarial </a:t>
            </a:r>
          </a:p>
          <a:p>
            <a:pPr marL="0" indent="0" algn="ctr">
              <a:lnSpc>
                <a:spcPct val="112000"/>
              </a:lnSpc>
              <a:buNone/>
            </a:pPr>
            <a:r>
              <a:rPr lang="en-US" sz="2800" b="1" dirty="0">
                <a:solidFill>
                  <a:srgbClr val="FFFFFF"/>
                </a:solidFill>
                <a:latin typeface="Cambria" pitchFamily="34" charset="0"/>
                <a:ea typeface="Cambria" pitchFamily="34" charset="-122"/>
                <a:cs typeface="Cambria" pitchFamily="34" charset="-120"/>
              </a:rPr>
              <a:t>and Anti-Forensic Attacks</a:t>
            </a:r>
            <a:endParaRPr lang="en-US" sz="2800" dirty="0"/>
          </a:p>
        </p:txBody>
      </p:sp>
      <p:sp>
        <p:nvSpPr>
          <p:cNvPr id="8" name="Shape 4"/>
          <p:cNvSpPr/>
          <p:nvPr/>
        </p:nvSpPr>
        <p:spPr>
          <a:xfrm>
            <a:off x="722376" y="3310128"/>
            <a:ext cx="54864" cy="54864"/>
          </a:xfrm>
          <a:prstGeom prst="ellipse">
            <a:avLst/>
          </a:prstGeom>
          <a:solidFill>
            <a:srgbClr val="0E8A8A"/>
          </a:solidFill>
          <a:ln/>
        </p:spPr>
        <p:txBody>
          <a:bodyPr/>
          <a:lstStyle/>
          <a:p>
            <a:endParaRPr lang="it-IT"/>
          </a:p>
        </p:txBody>
      </p:sp>
      <p:sp>
        <p:nvSpPr>
          <p:cNvPr id="10" name="Text 6"/>
          <p:cNvSpPr/>
          <p:nvPr/>
        </p:nvSpPr>
        <p:spPr>
          <a:xfrm>
            <a:off x="388620" y="4119372"/>
            <a:ext cx="7680960" cy="640080"/>
          </a:xfrm>
          <a:prstGeom prst="rect">
            <a:avLst/>
          </a:prstGeom>
          <a:noFill/>
          <a:ln/>
        </p:spPr>
        <p:txBody>
          <a:bodyPr wrap="square" lIns="0" tIns="0" rIns="0" bIns="0" rtlCol="0" anchor="ctr"/>
          <a:lstStyle/>
          <a:p>
            <a:pPr>
              <a:spcAft>
                <a:spcPts val="300"/>
              </a:spcAft>
            </a:pPr>
            <a:r>
              <a:rPr lang="en-US" sz="1400" dirty="0">
                <a:solidFill>
                  <a:srgbClr val="9FB1CC"/>
                </a:solidFill>
                <a:latin typeface="Calibri" pitchFamily="34" charset="0"/>
                <a:ea typeface="Calibri" pitchFamily="34" charset="-122"/>
                <a:cs typeface="Calibri" pitchFamily="34" charset="-120"/>
              </a:rPr>
              <a:t>Advisor: </a:t>
            </a:r>
            <a:r>
              <a:rPr lang="en-US" sz="1400" b="1" dirty="0">
                <a:solidFill>
                  <a:srgbClr val="FFFFFF"/>
                </a:solidFill>
                <a:latin typeface="Calibri" pitchFamily="34" charset="0"/>
                <a:ea typeface="Calibri" pitchFamily="34" charset="-122"/>
                <a:cs typeface="Calibri" pitchFamily="34" charset="-120"/>
              </a:rPr>
              <a:t>Prof.</a:t>
            </a:r>
            <a:r>
              <a:rPr lang="en-US" sz="1400" dirty="0">
                <a:solidFill>
                  <a:srgbClr val="9FB1CC"/>
                </a:solidFill>
                <a:latin typeface="Calibri" pitchFamily="34" charset="0"/>
                <a:ea typeface="Calibri" pitchFamily="34" charset="-122"/>
                <a:cs typeface="Calibri" pitchFamily="34" charset="-120"/>
              </a:rPr>
              <a:t> </a:t>
            </a:r>
            <a:r>
              <a:rPr lang="en-US" sz="1400" b="1" dirty="0">
                <a:solidFill>
                  <a:srgbClr val="FFFFFF"/>
                </a:solidFill>
                <a:latin typeface="Calibri" pitchFamily="34" charset="0"/>
                <a:ea typeface="Calibri" pitchFamily="34" charset="-122"/>
                <a:cs typeface="Calibri" pitchFamily="34" charset="-120"/>
              </a:rPr>
              <a:t>Davide Maiorca</a:t>
            </a:r>
          </a:p>
          <a:p>
            <a:pPr>
              <a:spcAft>
                <a:spcPts val="300"/>
              </a:spcAft>
            </a:pPr>
            <a:r>
              <a:rPr lang="en-US" sz="1400" dirty="0">
                <a:solidFill>
                  <a:srgbClr val="9FB1CC"/>
                </a:solidFill>
                <a:latin typeface="Calibri" pitchFamily="34" charset="0"/>
                <a:ea typeface="Calibri" pitchFamily="34" charset="-122"/>
                <a:cs typeface="Calibri" pitchFamily="34" charset="-120"/>
              </a:rPr>
              <a:t>Co-Advisor: </a:t>
            </a:r>
            <a:r>
              <a:rPr lang="en-US" sz="1400" b="1" dirty="0">
                <a:solidFill>
                  <a:srgbClr val="FFFFFF"/>
                </a:solidFill>
                <a:latin typeface="Calibri" pitchFamily="34" charset="0"/>
                <a:ea typeface="Calibri" pitchFamily="34" charset="-122"/>
                <a:cs typeface="Calibri" pitchFamily="34" charset="-120"/>
              </a:rPr>
              <a:t>Silvia Lucia Sanna, Ph.D.				</a:t>
            </a:r>
            <a:endParaRPr lang="en-US" sz="1400" dirty="0"/>
          </a:p>
        </p:txBody>
      </p:sp>
      <p:pic>
        <p:nvPicPr>
          <p:cNvPr id="12" name="Picture 11" descr="A black and white logo&#10;&#10;Description automatically generated">
            <a:extLst>
              <a:ext uri="{FF2B5EF4-FFF2-40B4-BE49-F238E27FC236}">
                <a16:creationId xmlns:a16="http://schemas.microsoft.com/office/drawing/2014/main" id="{E1799DCC-EFB2-57A2-5FF0-D01B7605240B}"/>
              </a:ext>
            </a:extLst>
          </p:cNvPr>
          <p:cNvPicPr>
            <a:picLocks noChangeAspect="1"/>
          </p:cNvPicPr>
          <p:nvPr/>
        </p:nvPicPr>
        <p:blipFill>
          <a:blip r:embed="rId3"/>
          <a:stretch>
            <a:fillRect/>
          </a:stretch>
        </p:blipFill>
        <p:spPr>
          <a:xfrm>
            <a:off x="4221850" y="276127"/>
            <a:ext cx="700299" cy="700299"/>
          </a:xfrm>
          <a:prstGeom prst="rect">
            <a:avLst/>
          </a:prstGeom>
        </p:spPr>
      </p:pic>
      <p:sp>
        <p:nvSpPr>
          <p:cNvPr id="4" name="Text 5">
            <a:extLst>
              <a:ext uri="{FF2B5EF4-FFF2-40B4-BE49-F238E27FC236}">
                <a16:creationId xmlns:a16="http://schemas.microsoft.com/office/drawing/2014/main" id="{50912FC3-E37E-3D2A-AECE-B352DA4D51B7}"/>
              </a:ext>
            </a:extLst>
          </p:cNvPr>
          <p:cNvSpPr/>
          <p:nvPr/>
        </p:nvSpPr>
        <p:spPr>
          <a:xfrm>
            <a:off x="708799" y="1274568"/>
            <a:ext cx="7680960" cy="685800"/>
          </a:xfrm>
          <a:prstGeom prst="rect">
            <a:avLst/>
          </a:prstGeom>
          <a:noFill/>
          <a:ln/>
        </p:spPr>
        <p:txBody>
          <a:bodyPr wrap="square" lIns="0" tIns="0" rIns="0" bIns="0" rtlCol="0" anchor="ctr"/>
          <a:lstStyle/>
          <a:p>
            <a:pPr algn="ctr"/>
            <a:r>
              <a:rPr lang="it-IT" dirty="0">
                <a:solidFill>
                  <a:schemeClr val="bg1"/>
                </a:solidFill>
                <a:latin typeface="Cambria" panose="02040503050406030204" pitchFamily="18" charset="0"/>
                <a:ea typeface="Cambria" panose="02040503050406030204" pitchFamily="18" charset="0"/>
              </a:rPr>
              <a:t>University of Cagliari</a:t>
            </a:r>
          </a:p>
          <a:p>
            <a:pPr algn="ctr"/>
            <a:r>
              <a:rPr lang="it-IT" sz="1600" b="1" dirty="0">
                <a:solidFill>
                  <a:schemeClr val="bg1"/>
                </a:solidFill>
                <a:latin typeface="Cambria" panose="02040503050406030204" pitchFamily="18" charset="0"/>
                <a:ea typeface="Cambria" panose="02040503050406030204" pitchFamily="18" charset="0"/>
              </a:rPr>
              <a:t>Department of Engineering</a:t>
            </a:r>
          </a:p>
          <a:p>
            <a:pPr algn="ctr"/>
            <a:endParaRPr lang="it-IT" sz="1600" b="1" dirty="0">
              <a:solidFill>
                <a:schemeClr val="bg1"/>
              </a:solidFill>
              <a:latin typeface="Cambria" panose="02040503050406030204" pitchFamily="18" charset="0"/>
              <a:ea typeface="Cambria" panose="02040503050406030204" pitchFamily="18" charset="0"/>
            </a:endParaRPr>
          </a:p>
          <a:p>
            <a:pPr algn="ctr"/>
            <a:r>
              <a:rPr lang="en-US" dirty="0">
                <a:solidFill>
                  <a:schemeClr val="bg1"/>
                </a:solidFill>
                <a:latin typeface="Cambria" panose="02040503050406030204" pitchFamily="18" charset="0"/>
                <a:ea typeface="Cambria" panose="02040503050406030204" pitchFamily="18" charset="0"/>
              </a:rPr>
              <a:t>Master’s </a:t>
            </a:r>
            <a:r>
              <a:rPr lang="en-US" dirty="0">
                <a:solidFill>
                  <a:srgbClr val="FFFFFF"/>
                </a:solidFill>
                <a:latin typeface="Cambria" panose="02040503050406030204" pitchFamily="18" charset="0"/>
                <a:ea typeface="Cambria" panose="02040503050406030204" pitchFamily="18" charset="0"/>
              </a:rPr>
              <a:t>Degree</a:t>
            </a:r>
            <a:r>
              <a:rPr lang="en-US" dirty="0">
                <a:solidFill>
                  <a:schemeClr val="bg1"/>
                </a:solidFill>
                <a:latin typeface="Cambria" panose="02040503050406030204" pitchFamily="18" charset="0"/>
                <a:ea typeface="Cambria" panose="02040503050406030204" pitchFamily="18" charset="0"/>
              </a:rPr>
              <a:t> in “Computer Engineering,</a:t>
            </a:r>
          </a:p>
          <a:p>
            <a:pPr algn="ctr"/>
            <a:r>
              <a:rPr lang="it-IT" dirty="0">
                <a:solidFill>
                  <a:schemeClr val="bg1"/>
                </a:solidFill>
                <a:latin typeface="Cambria" panose="02040503050406030204" pitchFamily="18" charset="0"/>
                <a:ea typeface="Cambria" panose="02040503050406030204" pitchFamily="18" charset="0"/>
              </a:rPr>
              <a:t>Cybersecurity and </a:t>
            </a:r>
            <a:r>
              <a:rPr lang="it-IT" dirty="0" err="1">
                <a:solidFill>
                  <a:schemeClr val="bg1"/>
                </a:solidFill>
                <a:latin typeface="Cambria" panose="02040503050406030204" pitchFamily="18" charset="0"/>
                <a:ea typeface="Cambria" panose="02040503050406030204" pitchFamily="18" charset="0"/>
              </a:rPr>
              <a:t>Artificial</a:t>
            </a:r>
            <a:r>
              <a:rPr lang="it-IT" dirty="0">
                <a:solidFill>
                  <a:schemeClr val="bg1"/>
                </a:solidFill>
                <a:latin typeface="Cambria" panose="02040503050406030204" pitchFamily="18" charset="0"/>
                <a:ea typeface="Cambria" panose="02040503050406030204" pitchFamily="18" charset="0"/>
              </a:rPr>
              <a:t> Intelligence”</a:t>
            </a:r>
            <a:endParaRPr lang="en-US" dirty="0">
              <a:solidFill>
                <a:schemeClr val="bg1"/>
              </a:solidFill>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marL="0" indent="0">
              <a:buNone/>
            </a:pPr>
            <a:r>
              <a:rPr lang="en-US" sz="1250" b="1" kern="0" spc="200" dirty="0">
                <a:solidFill>
                  <a:srgbClr val="0E8A8A"/>
                </a:solidFill>
                <a:latin typeface="Calibri" pitchFamily="34" charset="0"/>
                <a:ea typeface="Calibri" pitchFamily="34" charset="-122"/>
                <a:cs typeface="Calibri" pitchFamily="34" charset="-120"/>
              </a:rPr>
              <a:t>MOTIVATION</a:t>
            </a:r>
            <a:endParaRPr lang="en-US" sz="125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2700" b="1" dirty="0">
                <a:solidFill>
                  <a:srgbClr val="0A1F3D"/>
                </a:solidFill>
                <a:latin typeface="Cambria" pitchFamily="34" charset="0"/>
                <a:ea typeface="Cambria" pitchFamily="34" charset="-122"/>
                <a:cs typeface="Cambria" pitchFamily="34" charset="-120"/>
              </a:rPr>
              <a:t>AI in Digital Forensic Triage</a:t>
            </a:r>
            <a:endParaRPr lang="en-US" sz="2700" dirty="0"/>
          </a:p>
        </p:txBody>
      </p:sp>
      <p:sp>
        <p:nvSpPr>
          <p:cNvPr id="4" name="Text 2"/>
          <p:cNvSpPr/>
          <p:nvPr/>
        </p:nvSpPr>
        <p:spPr>
          <a:xfrm>
            <a:off x="502920" y="1371600"/>
            <a:ext cx="3977640" cy="2286000"/>
          </a:xfrm>
          <a:prstGeom prst="rect">
            <a:avLst/>
          </a:prstGeom>
          <a:noFill/>
          <a:ln/>
        </p:spPr>
        <p:txBody>
          <a:bodyPr wrap="square" rtlCol="0" anchor="t"/>
          <a:lstStyle/>
          <a:p>
            <a:pPr marL="342900" indent="-342900" algn="just">
              <a:spcAft>
                <a:spcPts val="1000"/>
              </a:spcAft>
              <a:buSzPct val="100000"/>
              <a:buChar char="–"/>
            </a:pPr>
            <a:r>
              <a:rPr lang="en-US" sz="1450" dirty="0">
                <a:solidFill>
                  <a:srgbClr val="1C2B42"/>
                </a:solidFill>
                <a:latin typeface="Calibri" pitchFamily="34" charset="0"/>
                <a:ea typeface="Calibri" pitchFamily="34" charset="-122"/>
                <a:cs typeface="Calibri" pitchFamily="34" charset="-120"/>
              </a:rPr>
              <a:t>Modern investigations involve large volumes of image evidence.</a:t>
            </a:r>
            <a:endParaRPr lang="en-US" sz="1450" dirty="0"/>
          </a:p>
          <a:p>
            <a:pPr marL="342900" indent="-342900" algn="just">
              <a:spcAft>
                <a:spcPts val="1000"/>
              </a:spcAft>
              <a:buSzPct val="100000"/>
              <a:buChar char="–"/>
            </a:pPr>
            <a:r>
              <a:rPr lang="en-US" sz="1450" dirty="0">
                <a:solidFill>
                  <a:srgbClr val="1C2B42"/>
                </a:solidFill>
                <a:latin typeface="Calibri" pitchFamily="34" charset="0"/>
                <a:ea typeface="Calibri" pitchFamily="34" charset="-122"/>
                <a:cs typeface="Calibri" pitchFamily="34" charset="-120"/>
              </a:rPr>
              <a:t>AI-assisted tools help analysts prioritize relevant material.</a:t>
            </a:r>
            <a:endParaRPr lang="en-US" sz="1450" dirty="0"/>
          </a:p>
          <a:p>
            <a:pPr marL="342900" indent="-342900" algn="just">
              <a:spcAft>
                <a:spcPts val="1000"/>
              </a:spcAft>
              <a:buSzPct val="100000"/>
              <a:buChar char="–"/>
            </a:pPr>
            <a:r>
              <a:rPr lang="en-US" sz="1450" dirty="0">
                <a:solidFill>
                  <a:srgbClr val="1C2B42"/>
                </a:solidFill>
                <a:latin typeface="Calibri" pitchFamily="34" charset="0"/>
                <a:ea typeface="Calibri" pitchFamily="34" charset="-122"/>
                <a:cs typeface="Calibri" pitchFamily="34" charset="-120"/>
              </a:rPr>
              <a:t>Automated labels can influence forensic triage decisions.</a:t>
            </a:r>
            <a:endParaRPr lang="en-US" sz="1450" dirty="0"/>
          </a:p>
          <a:p>
            <a:pPr marL="342900" indent="-342900" algn="just">
              <a:spcAft>
                <a:spcPts val="1000"/>
              </a:spcAft>
              <a:buSzPct val="100000"/>
              <a:buChar char="–"/>
            </a:pPr>
            <a:r>
              <a:rPr lang="en-US" sz="1450" dirty="0">
                <a:solidFill>
                  <a:srgbClr val="1C2B42"/>
                </a:solidFill>
                <a:latin typeface="Calibri" pitchFamily="34" charset="0"/>
                <a:ea typeface="Calibri" pitchFamily="34" charset="-122"/>
                <a:cs typeface="Calibri" pitchFamily="34" charset="-120"/>
              </a:rPr>
              <a:t>Reliability becomes critical when inputs are manipulated.</a:t>
            </a:r>
            <a:endParaRPr lang="en-US" sz="1450" dirty="0"/>
          </a:p>
        </p:txBody>
      </p:sp>
      <p:sp>
        <p:nvSpPr>
          <p:cNvPr id="5" name="Shape 3"/>
          <p:cNvSpPr/>
          <p:nvPr/>
        </p:nvSpPr>
        <p:spPr>
          <a:xfrm>
            <a:off x="502920" y="3703320"/>
            <a:ext cx="3977640" cy="868680"/>
          </a:xfrm>
          <a:prstGeom prst="roundRect">
            <a:avLst>
              <a:gd name="adj" fmla="val 9474"/>
            </a:avLst>
          </a:prstGeom>
          <a:solidFill>
            <a:srgbClr val="E3F3F2"/>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pic>
        <p:nvPicPr>
          <p:cNvPr id="6" name="Image 0" descr="preencoded.png"/>
          <p:cNvPicPr>
            <a:picLocks noChangeAspect="1"/>
          </p:cNvPicPr>
          <p:nvPr/>
        </p:nvPicPr>
        <p:blipFill>
          <a:blip r:embed="rId3"/>
          <a:stretch>
            <a:fillRect/>
          </a:stretch>
        </p:blipFill>
        <p:spPr>
          <a:xfrm>
            <a:off x="685800" y="3877056"/>
            <a:ext cx="384048" cy="384048"/>
          </a:xfrm>
          <a:prstGeom prst="rect">
            <a:avLst/>
          </a:prstGeom>
        </p:spPr>
      </p:pic>
      <p:sp>
        <p:nvSpPr>
          <p:cNvPr id="7" name="Text 4"/>
          <p:cNvSpPr/>
          <p:nvPr/>
        </p:nvSpPr>
        <p:spPr>
          <a:xfrm>
            <a:off x="1188720" y="3749040"/>
            <a:ext cx="3154680" cy="777240"/>
          </a:xfrm>
          <a:prstGeom prst="rect">
            <a:avLst/>
          </a:prstGeom>
          <a:noFill/>
          <a:ln/>
        </p:spPr>
        <p:txBody>
          <a:bodyPr wrap="square" lIns="0" tIns="0" rIns="0" bIns="0" rtlCol="0" anchor="ctr"/>
          <a:lstStyle/>
          <a:p>
            <a:pPr marL="0" indent="0" algn="just">
              <a:buNone/>
            </a:pPr>
            <a:r>
              <a:rPr lang="en-US" sz="1250" i="1" dirty="0">
                <a:solidFill>
                  <a:srgbClr val="0A1F3D"/>
                </a:solidFill>
                <a:latin typeface="Calibri" pitchFamily="34" charset="0"/>
                <a:ea typeface="Calibri" pitchFamily="34" charset="-122"/>
                <a:cs typeface="Calibri" pitchFamily="34" charset="-120"/>
              </a:rPr>
              <a:t>AI can reduce analyst workload, but errors under manipulated inputs may create operational risk.</a:t>
            </a:r>
            <a:endParaRPr lang="en-US" sz="1250" dirty="0"/>
          </a:p>
        </p:txBody>
      </p:sp>
      <p:sp>
        <p:nvSpPr>
          <p:cNvPr id="8" name="Shape 5"/>
          <p:cNvSpPr/>
          <p:nvPr/>
        </p:nvSpPr>
        <p:spPr>
          <a:xfrm>
            <a:off x="4837176" y="1155954"/>
            <a:ext cx="1417320" cy="960120"/>
          </a:xfrm>
          <a:prstGeom prst="roundRect">
            <a:avLst>
              <a:gd name="adj" fmla="val 8571"/>
            </a:avLst>
          </a:prstGeom>
          <a:solidFill>
            <a:srgbClr val="FFFFFF"/>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pic>
        <p:nvPicPr>
          <p:cNvPr id="9" name="Image 1" descr="preencoded.png"/>
          <p:cNvPicPr>
            <a:picLocks noChangeAspect="1"/>
          </p:cNvPicPr>
          <p:nvPr/>
        </p:nvPicPr>
        <p:blipFill>
          <a:blip r:embed="rId4"/>
          <a:stretch>
            <a:fillRect/>
          </a:stretch>
        </p:blipFill>
        <p:spPr>
          <a:xfrm>
            <a:off x="5257800" y="1273683"/>
            <a:ext cx="438912" cy="438912"/>
          </a:xfrm>
          <a:prstGeom prst="rect">
            <a:avLst/>
          </a:prstGeom>
        </p:spPr>
      </p:pic>
      <p:sp>
        <p:nvSpPr>
          <p:cNvPr id="10" name="Text 6"/>
          <p:cNvSpPr/>
          <p:nvPr/>
        </p:nvSpPr>
        <p:spPr>
          <a:xfrm>
            <a:off x="4796028" y="1679643"/>
            <a:ext cx="1417320" cy="365760"/>
          </a:xfrm>
          <a:prstGeom prst="rect">
            <a:avLst/>
          </a:prstGeom>
          <a:noFill/>
          <a:ln/>
        </p:spPr>
        <p:txBody>
          <a:bodyPr wrap="square" lIns="0" tIns="0" rIns="0" bIns="0" rtlCol="0" anchor="ctr"/>
          <a:lstStyle/>
          <a:p>
            <a:pPr marL="0" indent="0" algn="ctr">
              <a:buNone/>
            </a:pPr>
            <a:r>
              <a:rPr lang="en-US" sz="1050" b="1" dirty="0">
                <a:solidFill>
                  <a:srgbClr val="1C2B42"/>
                </a:solidFill>
                <a:latin typeface="Calibri" pitchFamily="34" charset="0"/>
                <a:ea typeface="Calibri" pitchFamily="34" charset="-122"/>
                <a:cs typeface="Calibri" pitchFamily="34" charset="-120"/>
              </a:rPr>
              <a:t>Digital</a:t>
            </a:r>
            <a:endParaRPr lang="en-US" sz="1050" dirty="0"/>
          </a:p>
          <a:p>
            <a:pPr marL="0" indent="0" algn="ctr">
              <a:buNone/>
            </a:pPr>
            <a:r>
              <a:rPr lang="en-US" sz="1050" b="1" dirty="0">
                <a:solidFill>
                  <a:srgbClr val="1C2B42"/>
                </a:solidFill>
                <a:latin typeface="Calibri" pitchFamily="34" charset="0"/>
                <a:ea typeface="Calibri" pitchFamily="34" charset="-122"/>
                <a:cs typeface="Calibri" pitchFamily="34" charset="-120"/>
              </a:rPr>
              <a:t>Evidence</a:t>
            </a:r>
            <a:endParaRPr lang="en-US" sz="1050" dirty="0"/>
          </a:p>
        </p:txBody>
      </p:sp>
      <p:sp>
        <p:nvSpPr>
          <p:cNvPr id="11" name="Shape 7"/>
          <p:cNvSpPr/>
          <p:nvPr/>
        </p:nvSpPr>
        <p:spPr>
          <a:xfrm>
            <a:off x="6142482" y="2189988"/>
            <a:ext cx="1417320" cy="960120"/>
          </a:xfrm>
          <a:prstGeom prst="roundRect">
            <a:avLst>
              <a:gd name="adj" fmla="val 8571"/>
            </a:avLst>
          </a:prstGeom>
          <a:solidFill>
            <a:srgbClr val="FFFFFF"/>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pic>
        <p:nvPicPr>
          <p:cNvPr id="12" name="Image 2" descr="preencoded.png"/>
          <p:cNvPicPr>
            <a:picLocks noChangeAspect="1"/>
          </p:cNvPicPr>
          <p:nvPr/>
        </p:nvPicPr>
        <p:blipFill>
          <a:blip r:embed="rId5"/>
          <a:stretch>
            <a:fillRect/>
          </a:stretch>
        </p:blipFill>
        <p:spPr>
          <a:xfrm>
            <a:off x="6603492" y="2331720"/>
            <a:ext cx="438912" cy="438912"/>
          </a:xfrm>
          <a:prstGeom prst="rect">
            <a:avLst/>
          </a:prstGeom>
        </p:spPr>
      </p:pic>
      <p:sp>
        <p:nvSpPr>
          <p:cNvPr id="13" name="Text 8"/>
          <p:cNvSpPr/>
          <p:nvPr/>
        </p:nvSpPr>
        <p:spPr>
          <a:xfrm>
            <a:off x="6114288" y="2713580"/>
            <a:ext cx="1417320" cy="365760"/>
          </a:xfrm>
          <a:prstGeom prst="rect">
            <a:avLst/>
          </a:prstGeom>
          <a:noFill/>
          <a:ln/>
        </p:spPr>
        <p:txBody>
          <a:bodyPr wrap="square" lIns="0" tIns="0" rIns="0" bIns="0" rtlCol="0" anchor="ctr"/>
          <a:lstStyle/>
          <a:p>
            <a:pPr marL="0" indent="0" algn="ctr">
              <a:buNone/>
            </a:pPr>
            <a:r>
              <a:rPr lang="en-US" sz="1050" b="1" dirty="0">
                <a:solidFill>
                  <a:srgbClr val="1C2B42"/>
                </a:solidFill>
                <a:latin typeface="Calibri" pitchFamily="34" charset="0"/>
                <a:ea typeface="Calibri" pitchFamily="34" charset="-122"/>
                <a:cs typeface="Calibri" pitchFamily="34" charset="-120"/>
              </a:rPr>
              <a:t>AI-Assisted</a:t>
            </a:r>
            <a:endParaRPr lang="en-US" sz="1050" dirty="0"/>
          </a:p>
          <a:p>
            <a:pPr marL="0" indent="0" algn="ctr">
              <a:buNone/>
            </a:pPr>
            <a:r>
              <a:rPr lang="en-US" sz="1050" b="1" dirty="0">
                <a:solidFill>
                  <a:srgbClr val="1C2B42"/>
                </a:solidFill>
                <a:latin typeface="Calibri" pitchFamily="34" charset="0"/>
                <a:ea typeface="Calibri" pitchFamily="34" charset="-122"/>
                <a:cs typeface="Calibri" pitchFamily="34" charset="-120"/>
              </a:rPr>
              <a:t>Classification</a:t>
            </a:r>
            <a:endParaRPr lang="en-US" sz="1050" dirty="0"/>
          </a:p>
        </p:txBody>
      </p:sp>
      <p:sp>
        <p:nvSpPr>
          <p:cNvPr id="14" name="Shape 9"/>
          <p:cNvSpPr/>
          <p:nvPr/>
        </p:nvSpPr>
        <p:spPr>
          <a:xfrm>
            <a:off x="7592568" y="3174492"/>
            <a:ext cx="1417320" cy="960120"/>
          </a:xfrm>
          <a:prstGeom prst="roundRect">
            <a:avLst>
              <a:gd name="adj" fmla="val 8571"/>
            </a:avLst>
          </a:prstGeom>
          <a:solidFill>
            <a:srgbClr val="FFFFFF"/>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pic>
        <p:nvPicPr>
          <p:cNvPr id="15" name="Image 3" descr="preencoded.png"/>
          <p:cNvPicPr>
            <a:picLocks noChangeAspect="1"/>
          </p:cNvPicPr>
          <p:nvPr/>
        </p:nvPicPr>
        <p:blipFill>
          <a:blip r:embed="rId6"/>
          <a:stretch>
            <a:fillRect/>
          </a:stretch>
        </p:blipFill>
        <p:spPr>
          <a:xfrm>
            <a:off x="8107680" y="3258840"/>
            <a:ext cx="438912" cy="438912"/>
          </a:xfrm>
          <a:prstGeom prst="rect">
            <a:avLst/>
          </a:prstGeom>
        </p:spPr>
      </p:pic>
      <p:sp>
        <p:nvSpPr>
          <p:cNvPr id="16" name="Text 10"/>
          <p:cNvSpPr/>
          <p:nvPr/>
        </p:nvSpPr>
        <p:spPr>
          <a:xfrm>
            <a:off x="7618476" y="3697752"/>
            <a:ext cx="1417320" cy="365760"/>
          </a:xfrm>
          <a:prstGeom prst="rect">
            <a:avLst/>
          </a:prstGeom>
          <a:noFill/>
          <a:ln/>
        </p:spPr>
        <p:txBody>
          <a:bodyPr wrap="square" lIns="0" tIns="0" rIns="0" bIns="0" rtlCol="0" anchor="ctr"/>
          <a:lstStyle/>
          <a:p>
            <a:pPr marL="0" indent="0" algn="ctr">
              <a:buNone/>
            </a:pPr>
            <a:r>
              <a:rPr lang="en-US" sz="1050" b="1" dirty="0">
                <a:solidFill>
                  <a:srgbClr val="1C2B42"/>
                </a:solidFill>
                <a:latin typeface="Calibri" pitchFamily="34" charset="0"/>
                <a:ea typeface="Calibri" pitchFamily="34" charset="-122"/>
                <a:cs typeface="Calibri" pitchFamily="34" charset="-120"/>
              </a:rPr>
              <a:t>Analyst</a:t>
            </a:r>
            <a:endParaRPr lang="en-US" sz="1050" dirty="0"/>
          </a:p>
          <a:p>
            <a:pPr marL="0" indent="0" algn="ctr">
              <a:buNone/>
            </a:pPr>
            <a:r>
              <a:rPr lang="en-US" sz="1050" b="1" dirty="0">
                <a:solidFill>
                  <a:srgbClr val="1C2B42"/>
                </a:solidFill>
                <a:latin typeface="Calibri" pitchFamily="34" charset="0"/>
                <a:ea typeface="Calibri" pitchFamily="34" charset="-122"/>
                <a:cs typeface="Calibri" pitchFamily="34" charset="-120"/>
              </a:rPr>
              <a:t>Triage Decision</a:t>
            </a:r>
            <a:endParaRPr lang="en-US" sz="1050" dirty="0"/>
          </a:p>
        </p:txBody>
      </p:sp>
      <p:sp>
        <p:nvSpPr>
          <p:cNvPr id="17" name="Shape 11"/>
          <p:cNvSpPr/>
          <p:nvPr/>
        </p:nvSpPr>
        <p:spPr>
          <a:xfrm rot="1449472">
            <a:off x="5556202" y="2263238"/>
            <a:ext cx="393192" cy="164592"/>
          </a:xfrm>
          <a:prstGeom prst="rightArrow">
            <a:avLst/>
          </a:prstGeom>
          <a:solidFill>
            <a:srgbClr val="C6D2E3"/>
          </a:solidFill>
          <a:ln/>
        </p:spPr>
        <p:txBody>
          <a:bodyPr/>
          <a:lstStyle/>
          <a:p>
            <a:endParaRPr lang="it-IT"/>
          </a:p>
        </p:txBody>
      </p:sp>
      <p:sp>
        <p:nvSpPr>
          <p:cNvPr id="19" name="Shape 13"/>
          <p:cNvSpPr/>
          <p:nvPr/>
        </p:nvSpPr>
        <p:spPr>
          <a:xfrm>
            <a:off x="7046976" y="2174748"/>
            <a:ext cx="402336" cy="402336"/>
          </a:xfrm>
          <a:prstGeom prst="ellipse">
            <a:avLst/>
          </a:prstGeom>
          <a:solidFill>
            <a:srgbClr val="E2692C"/>
          </a:solidFill>
          <a:ln w="19050">
            <a:solidFill>
              <a:srgbClr val="FFFFFF"/>
            </a:solidFill>
            <a:prstDash val="solid"/>
          </a:ln>
        </p:spPr>
        <p:txBody>
          <a:bodyPr/>
          <a:lstStyle/>
          <a:p>
            <a:endParaRPr lang="it-IT"/>
          </a:p>
        </p:txBody>
      </p:sp>
      <p:pic>
        <p:nvPicPr>
          <p:cNvPr id="20" name="Image 4" descr="preencoded.png"/>
          <p:cNvPicPr>
            <a:picLocks noChangeAspect="1"/>
          </p:cNvPicPr>
          <p:nvPr/>
        </p:nvPicPr>
        <p:blipFill>
          <a:blip r:embed="rId7"/>
          <a:stretch>
            <a:fillRect/>
          </a:stretch>
        </p:blipFill>
        <p:spPr>
          <a:xfrm>
            <a:off x="7129272" y="2257044"/>
            <a:ext cx="237744" cy="237744"/>
          </a:xfrm>
          <a:prstGeom prst="rect">
            <a:avLst/>
          </a:prstGeom>
        </p:spPr>
      </p:pic>
      <p:sp>
        <p:nvSpPr>
          <p:cNvPr id="21" name="Text 14"/>
          <p:cNvSpPr/>
          <p:nvPr/>
        </p:nvSpPr>
        <p:spPr>
          <a:xfrm>
            <a:off x="4194048" y="4327691"/>
            <a:ext cx="5257800" cy="274320"/>
          </a:xfrm>
          <a:prstGeom prst="rect">
            <a:avLst/>
          </a:prstGeom>
          <a:noFill/>
          <a:ln/>
        </p:spPr>
        <p:txBody>
          <a:bodyPr wrap="square" lIns="0" tIns="0" rIns="0" bIns="0" rtlCol="0" anchor="ctr"/>
          <a:lstStyle/>
          <a:p>
            <a:pPr marL="0" indent="0" algn="ctr">
              <a:buNone/>
            </a:pPr>
            <a:r>
              <a:rPr lang="en-US" sz="1050" i="1" dirty="0">
                <a:solidFill>
                  <a:srgbClr val="5C6B83"/>
                </a:solidFill>
                <a:latin typeface="Calibri" pitchFamily="34" charset="0"/>
                <a:ea typeface="Calibri" pitchFamily="34" charset="-122"/>
                <a:cs typeface="Calibri" pitchFamily="34" charset="-120"/>
              </a:rPr>
              <a:t>Where errors under manipulated inputs propagate downstream</a:t>
            </a:r>
            <a:endParaRPr lang="en-US" sz="1050" dirty="0"/>
          </a:p>
        </p:txBody>
      </p:sp>
      <p:sp>
        <p:nvSpPr>
          <p:cNvPr id="22" name="Text 15"/>
          <p:cNvSpPr/>
          <p:nvPr/>
        </p:nvSpPr>
        <p:spPr>
          <a:xfrm>
            <a:off x="502920" y="4864608"/>
            <a:ext cx="5486400" cy="228600"/>
          </a:xfrm>
          <a:prstGeom prst="rect">
            <a:avLst/>
          </a:prstGeom>
          <a:noFill/>
          <a:ln/>
        </p:spPr>
        <p:txBody>
          <a:bodyPr wrap="square" lIns="0" tIns="0" rIns="0" bIns="0" rtlCol="0" anchor="ctr"/>
          <a:lstStyle/>
          <a:p>
            <a:pPr marL="0" indent="0">
              <a:buNone/>
            </a:pPr>
            <a:r>
              <a:rPr lang="en-US" sz="900" dirty="0">
                <a:solidFill>
                  <a:srgbClr val="5C6B83"/>
                </a:solidFill>
                <a:latin typeface="Calibri" pitchFamily="34" charset="0"/>
                <a:ea typeface="Calibri" pitchFamily="34" charset="-122"/>
                <a:cs typeface="Calibri" pitchFamily="34" charset="-120"/>
              </a:rPr>
              <a:t>Robustness of AI-Based Forensic Tools  |  Lello Molinario</a:t>
            </a:r>
            <a:endParaRPr lang="en-US" sz="900" dirty="0"/>
          </a:p>
        </p:txBody>
      </p:sp>
      <p:sp>
        <p:nvSpPr>
          <p:cNvPr id="23" name="Text 16"/>
          <p:cNvSpPr/>
          <p:nvPr/>
        </p:nvSpPr>
        <p:spPr>
          <a:xfrm>
            <a:off x="8732520" y="4864608"/>
            <a:ext cx="365760" cy="228600"/>
          </a:xfrm>
          <a:prstGeom prst="rect">
            <a:avLst/>
          </a:prstGeom>
          <a:noFill/>
          <a:ln/>
        </p:spPr>
        <p:txBody>
          <a:bodyPr wrap="square" lIns="0" tIns="0" rIns="0" bIns="0" rtlCol="0" anchor="ctr"/>
          <a:lstStyle/>
          <a:p>
            <a:pPr marL="0" indent="0" algn="r">
              <a:buNone/>
            </a:pPr>
            <a:r>
              <a:rPr lang="en-US" sz="900" dirty="0">
                <a:solidFill>
                  <a:srgbClr val="5C6B83"/>
                </a:solidFill>
                <a:latin typeface="Calibri" pitchFamily="34" charset="0"/>
                <a:ea typeface="Calibri" pitchFamily="34" charset="-122"/>
                <a:cs typeface="Calibri" pitchFamily="34" charset="-120"/>
              </a:rPr>
              <a:t>2</a:t>
            </a:r>
            <a:endParaRPr lang="en-US" sz="900" dirty="0"/>
          </a:p>
        </p:txBody>
      </p:sp>
      <p:sp>
        <p:nvSpPr>
          <p:cNvPr id="24" name="Shape 11">
            <a:extLst>
              <a:ext uri="{FF2B5EF4-FFF2-40B4-BE49-F238E27FC236}">
                <a16:creationId xmlns:a16="http://schemas.microsoft.com/office/drawing/2014/main" id="{DF16A4A4-6887-00E7-06B2-3A6C0F896221}"/>
              </a:ext>
            </a:extLst>
          </p:cNvPr>
          <p:cNvSpPr/>
          <p:nvPr/>
        </p:nvSpPr>
        <p:spPr>
          <a:xfrm rot="1449472">
            <a:off x="6867603" y="3277556"/>
            <a:ext cx="393192" cy="164592"/>
          </a:xfrm>
          <a:prstGeom prst="rightArrow">
            <a:avLst/>
          </a:prstGeom>
          <a:solidFill>
            <a:srgbClr val="C6D2E3"/>
          </a:solidFill>
          <a:ln/>
        </p:spPr>
        <p:txBody>
          <a:bodyPr/>
          <a:lstStyle/>
          <a:p>
            <a:endParaRPr lang="it-IT"/>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marL="0" indent="0">
              <a:buNone/>
            </a:pPr>
            <a:r>
              <a:rPr lang="en-US" sz="1250" b="1" kern="0" spc="200" dirty="0">
                <a:solidFill>
                  <a:srgbClr val="0E8A8A"/>
                </a:solidFill>
                <a:latin typeface="Calibri" pitchFamily="34" charset="0"/>
                <a:ea typeface="Calibri" pitchFamily="34" charset="-122"/>
                <a:cs typeface="Calibri" pitchFamily="34" charset="-120"/>
              </a:rPr>
              <a:t>PROBLEM STATEMENT</a:t>
            </a:r>
            <a:endParaRPr lang="en-US" sz="125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2700" b="1" dirty="0">
                <a:solidFill>
                  <a:srgbClr val="0A1F3D"/>
                </a:solidFill>
                <a:latin typeface="Cambria" pitchFamily="34" charset="0"/>
                <a:ea typeface="Cambria" pitchFamily="34" charset="-122"/>
                <a:cs typeface="Cambria" pitchFamily="34" charset="-120"/>
              </a:rPr>
              <a:t>When Visual Evidence Is Manipulated</a:t>
            </a:r>
            <a:endParaRPr lang="en-US" sz="2700" dirty="0"/>
          </a:p>
        </p:txBody>
      </p:sp>
      <p:sp>
        <p:nvSpPr>
          <p:cNvPr id="4" name="Shape 2"/>
          <p:cNvSpPr/>
          <p:nvPr/>
        </p:nvSpPr>
        <p:spPr>
          <a:xfrm>
            <a:off x="2788920" y="1417320"/>
            <a:ext cx="3566160" cy="960120"/>
          </a:xfrm>
          <a:prstGeom prst="roundRect">
            <a:avLst>
              <a:gd name="adj" fmla="val 8571"/>
            </a:avLst>
          </a:prstGeom>
          <a:solidFill>
            <a:srgbClr val="0A1F3D"/>
          </a:solidFill>
          <a:ln/>
          <a:effectLst>
            <a:outerShdw blurRad="88900" dist="25400" dir="5400000" algn="bl" rotWithShape="0">
              <a:srgbClr val="000000">
                <a:alpha val="10000"/>
              </a:srgbClr>
            </a:outerShdw>
          </a:effectLst>
        </p:spPr>
        <p:txBody>
          <a:bodyPr/>
          <a:lstStyle/>
          <a:p>
            <a:endParaRPr lang="it-IT"/>
          </a:p>
        </p:txBody>
      </p:sp>
      <p:sp>
        <p:nvSpPr>
          <p:cNvPr id="5" name="Text 3"/>
          <p:cNvSpPr/>
          <p:nvPr/>
        </p:nvSpPr>
        <p:spPr>
          <a:xfrm>
            <a:off x="2971800" y="1481328"/>
            <a:ext cx="3200400" cy="841248"/>
          </a:xfrm>
          <a:prstGeom prst="rect">
            <a:avLst/>
          </a:prstGeom>
          <a:noFill/>
          <a:ln/>
        </p:spPr>
        <p:txBody>
          <a:bodyPr wrap="square" lIns="0" tIns="0" rIns="0" bIns="0" rtlCol="0" anchor="ctr"/>
          <a:lstStyle/>
          <a:p>
            <a:pPr marL="0" indent="0" algn="ctr">
              <a:buNone/>
            </a:pPr>
            <a:r>
              <a:rPr lang="en-US" sz="1250" i="1" dirty="0">
                <a:solidFill>
                  <a:srgbClr val="FFFFFF"/>
                </a:solidFill>
                <a:latin typeface="Cambria" pitchFamily="34" charset="0"/>
                <a:ea typeface="Cambria" pitchFamily="34" charset="-122"/>
                <a:cs typeface="Cambria" pitchFamily="34" charset="-120"/>
              </a:rPr>
              <a:t>How robust are AI-assisted forensic image</a:t>
            </a:r>
            <a:endParaRPr lang="en-US" sz="1250" dirty="0"/>
          </a:p>
          <a:p>
            <a:pPr marL="0" indent="0" algn="ctr">
              <a:buNone/>
            </a:pPr>
            <a:r>
              <a:rPr lang="en-US" sz="1250" i="1" dirty="0">
                <a:solidFill>
                  <a:srgbClr val="FFFFFF"/>
                </a:solidFill>
                <a:latin typeface="Cambria" pitchFamily="34" charset="0"/>
                <a:ea typeface="Cambria" pitchFamily="34" charset="-122"/>
                <a:cs typeface="Cambria" pitchFamily="34" charset="-120"/>
              </a:rPr>
              <a:t>classification tools when visual inputs are</a:t>
            </a:r>
            <a:endParaRPr lang="en-US" sz="1250" dirty="0"/>
          </a:p>
          <a:p>
            <a:pPr marL="0" indent="0" algn="ctr">
              <a:buNone/>
            </a:pPr>
            <a:r>
              <a:rPr lang="en-US" sz="1250" i="1" dirty="0">
                <a:solidFill>
                  <a:srgbClr val="FFFFFF"/>
                </a:solidFill>
                <a:latin typeface="Cambria" pitchFamily="34" charset="0"/>
                <a:ea typeface="Cambria" pitchFamily="34" charset="-122"/>
                <a:cs typeface="Cambria" pitchFamily="34" charset="-120"/>
              </a:rPr>
              <a:t>intentionally or accidentally altered?</a:t>
            </a:r>
            <a:endParaRPr lang="en-US" sz="1250" dirty="0"/>
          </a:p>
        </p:txBody>
      </p:sp>
      <p:sp>
        <p:nvSpPr>
          <p:cNvPr id="6" name="Shape 4"/>
          <p:cNvSpPr/>
          <p:nvPr/>
        </p:nvSpPr>
        <p:spPr>
          <a:xfrm>
            <a:off x="338328" y="2788920"/>
            <a:ext cx="1965960" cy="1234440"/>
          </a:xfrm>
          <a:prstGeom prst="roundRect">
            <a:avLst>
              <a:gd name="adj" fmla="val 6667"/>
            </a:avLst>
          </a:prstGeom>
          <a:solidFill>
            <a:srgbClr val="F3F6FA"/>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pic>
        <p:nvPicPr>
          <p:cNvPr id="7" name="Image 0" descr="preencoded.png"/>
          <p:cNvPicPr>
            <a:picLocks noChangeAspect="1"/>
          </p:cNvPicPr>
          <p:nvPr/>
        </p:nvPicPr>
        <p:blipFill>
          <a:blip r:embed="rId3"/>
          <a:stretch>
            <a:fillRect/>
          </a:stretch>
        </p:blipFill>
        <p:spPr>
          <a:xfrm>
            <a:off x="1101852" y="2953512"/>
            <a:ext cx="438912" cy="438912"/>
          </a:xfrm>
          <a:prstGeom prst="rect">
            <a:avLst/>
          </a:prstGeom>
        </p:spPr>
      </p:pic>
      <p:sp>
        <p:nvSpPr>
          <p:cNvPr id="8" name="Text 5"/>
          <p:cNvSpPr/>
          <p:nvPr/>
        </p:nvSpPr>
        <p:spPr>
          <a:xfrm>
            <a:off x="338328" y="3447288"/>
            <a:ext cx="1965960" cy="502920"/>
          </a:xfrm>
          <a:prstGeom prst="rect">
            <a:avLst/>
          </a:prstGeom>
          <a:noFill/>
          <a:ln/>
        </p:spPr>
        <p:txBody>
          <a:bodyPr wrap="square" lIns="0" tIns="0" rIns="0" bIns="0" rtlCol="0" anchor="ctr"/>
          <a:lstStyle/>
          <a:p>
            <a:pPr marL="0" indent="0" algn="ctr">
              <a:buNone/>
            </a:pPr>
            <a:r>
              <a:rPr lang="en-US" sz="1100" b="1" dirty="0">
                <a:solidFill>
                  <a:srgbClr val="1C2B42"/>
                </a:solidFill>
                <a:latin typeface="Calibri" pitchFamily="34" charset="0"/>
                <a:ea typeface="Calibri" pitchFamily="34" charset="-122"/>
                <a:cs typeface="Calibri" pitchFamily="34" charset="-120"/>
              </a:rPr>
              <a:t>Adversarial</a:t>
            </a:r>
            <a:endParaRPr lang="en-US" sz="1100" dirty="0"/>
          </a:p>
          <a:p>
            <a:pPr marL="0" indent="0" algn="ctr">
              <a:buNone/>
            </a:pPr>
            <a:r>
              <a:rPr lang="en-US" sz="1100" b="1" dirty="0">
                <a:solidFill>
                  <a:srgbClr val="1C2B42"/>
                </a:solidFill>
                <a:latin typeface="Calibri" pitchFamily="34" charset="0"/>
                <a:ea typeface="Calibri" pitchFamily="34" charset="-122"/>
                <a:cs typeface="Calibri" pitchFamily="34" charset="-120"/>
              </a:rPr>
              <a:t>Perturbations</a:t>
            </a:r>
            <a:endParaRPr lang="en-US" sz="1100" dirty="0"/>
          </a:p>
        </p:txBody>
      </p:sp>
      <p:sp>
        <p:nvSpPr>
          <p:cNvPr id="9" name="Shape 6"/>
          <p:cNvSpPr/>
          <p:nvPr/>
        </p:nvSpPr>
        <p:spPr>
          <a:xfrm>
            <a:off x="2505456" y="2788920"/>
            <a:ext cx="1965960" cy="1234440"/>
          </a:xfrm>
          <a:prstGeom prst="roundRect">
            <a:avLst>
              <a:gd name="adj" fmla="val 6667"/>
            </a:avLst>
          </a:prstGeom>
          <a:solidFill>
            <a:srgbClr val="F3F6FA"/>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pic>
        <p:nvPicPr>
          <p:cNvPr id="10" name="Image 1" descr="preencoded.png"/>
          <p:cNvPicPr>
            <a:picLocks noChangeAspect="1"/>
          </p:cNvPicPr>
          <p:nvPr/>
        </p:nvPicPr>
        <p:blipFill>
          <a:blip r:embed="rId4"/>
          <a:stretch>
            <a:fillRect/>
          </a:stretch>
        </p:blipFill>
        <p:spPr>
          <a:xfrm>
            <a:off x="3268980" y="2953512"/>
            <a:ext cx="438912" cy="438912"/>
          </a:xfrm>
          <a:prstGeom prst="rect">
            <a:avLst/>
          </a:prstGeom>
        </p:spPr>
      </p:pic>
      <p:sp>
        <p:nvSpPr>
          <p:cNvPr id="11" name="Text 7"/>
          <p:cNvSpPr/>
          <p:nvPr/>
        </p:nvSpPr>
        <p:spPr>
          <a:xfrm>
            <a:off x="2505456" y="3447288"/>
            <a:ext cx="1965960" cy="502920"/>
          </a:xfrm>
          <a:prstGeom prst="rect">
            <a:avLst/>
          </a:prstGeom>
          <a:noFill/>
          <a:ln/>
        </p:spPr>
        <p:txBody>
          <a:bodyPr wrap="square" lIns="0" tIns="0" rIns="0" bIns="0" rtlCol="0" anchor="ctr"/>
          <a:lstStyle/>
          <a:p>
            <a:pPr marL="0" indent="0" algn="ctr">
              <a:buNone/>
            </a:pPr>
            <a:r>
              <a:rPr lang="en-US" sz="1100" b="1" dirty="0">
                <a:solidFill>
                  <a:srgbClr val="1C2B42"/>
                </a:solidFill>
                <a:latin typeface="Calibri" pitchFamily="34" charset="0"/>
                <a:ea typeface="Calibri" pitchFamily="34" charset="-122"/>
                <a:cs typeface="Calibri" pitchFamily="34" charset="-120"/>
              </a:rPr>
              <a:t>Anti-Forensic</a:t>
            </a:r>
            <a:endParaRPr lang="en-US" sz="1100" dirty="0"/>
          </a:p>
          <a:p>
            <a:pPr marL="0" indent="0" algn="ctr">
              <a:buNone/>
            </a:pPr>
            <a:r>
              <a:rPr lang="en-US" sz="1100" b="1" dirty="0">
                <a:solidFill>
                  <a:srgbClr val="1C2B42"/>
                </a:solidFill>
                <a:latin typeface="Calibri" pitchFamily="34" charset="0"/>
                <a:ea typeface="Calibri" pitchFamily="34" charset="-122"/>
                <a:cs typeface="Calibri" pitchFamily="34" charset="-120"/>
              </a:rPr>
              <a:t>Transformations</a:t>
            </a:r>
            <a:endParaRPr lang="en-US" sz="1100" dirty="0"/>
          </a:p>
        </p:txBody>
      </p:sp>
      <p:sp>
        <p:nvSpPr>
          <p:cNvPr id="12" name="Shape 8"/>
          <p:cNvSpPr/>
          <p:nvPr/>
        </p:nvSpPr>
        <p:spPr>
          <a:xfrm>
            <a:off x="4672584" y="2788920"/>
            <a:ext cx="1965960" cy="1234440"/>
          </a:xfrm>
          <a:prstGeom prst="roundRect">
            <a:avLst>
              <a:gd name="adj" fmla="val 6667"/>
            </a:avLst>
          </a:prstGeom>
          <a:solidFill>
            <a:srgbClr val="F3F6FA"/>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pic>
        <p:nvPicPr>
          <p:cNvPr id="13" name="Image 2" descr="preencoded.png"/>
          <p:cNvPicPr>
            <a:picLocks noChangeAspect="1"/>
          </p:cNvPicPr>
          <p:nvPr/>
        </p:nvPicPr>
        <p:blipFill>
          <a:blip r:embed="rId5"/>
          <a:stretch>
            <a:fillRect/>
          </a:stretch>
        </p:blipFill>
        <p:spPr>
          <a:xfrm>
            <a:off x="5436108" y="2953512"/>
            <a:ext cx="438912" cy="438912"/>
          </a:xfrm>
          <a:prstGeom prst="rect">
            <a:avLst/>
          </a:prstGeom>
        </p:spPr>
      </p:pic>
      <p:sp>
        <p:nvSpPr>
          <p:cNvPr id="14" name="Text 9"/>
          <p:cNvSpPr/>
          <p:nvPr/>
        </p:nvSpPr>
        <p:spPr>
          <a:xfrm>
            <a:off x="4672584" y="3447288"/>
            <a:ext cx="1965960" cy="502920"/>
          </a:xfrm>
          <a:prstGeom prst="rect">
            <a:avLst/>
          </a:prstGeom>
          <a:noFill/>
          <a:ln/>
        </p:spPr>
        <p:txBody>
          <a:bodyPr wrap="square" lIns="0" tIns="0" rIns="0" bIns="0" rtlCol="0" anchor="ctr"/>
          <a:lstStyle/>
          <a:p>
            <a:pPr marL="0" indent="0" algn="ctr">
              <a:buNone/>
            </a:pPr>
            <a:r>
              <a:rPr lang="en-US" sz="1100" b="1" dirty="0">
                <a:solidFill>
                  <a:srgbClr val="1C2B42"/>
                </a:solidFill>
                <a:latin typeface="Calibri" pitchFamily="34" charset="0"/>
                <a:ea typeface="Calibri" pitchFamily="34" charset="-122"/>
                <a:cs typeface="Calibri" pitchFamily="34" charset="-120"/>
              </a:rPr>
              <a:t>Out-of-Distribution</a:t>
            </a:r>
            <a:endParaRPr lang="en-US" sz="1100" dirty="0"/>
          </a:p>
          <a:p>
            <a:pPr marL="0" indent="0" algn="ctr">
              <a:buNone/>
            </a:pPr>
            <a:r>
              <a:rPr lang="en-US" sz="1100" b="1" dirty="0">
                <a:solidFill>
                  <a:srgbClr val="1C2B42"/>
                </a:solidFill>
                <a:latin typeface="Calibri" pitchFamily="34" charset="0"/>
                <a:ea typeface="Calibri" pitchFamily="34" charset="-122"/>
                <a:cs typeface="Calibri" pitchFamily="34" charset="-120"/>
              </a:rPr>
              <a:t>Inputs</a:t>
            </a:r>
            <a:endParaRPr lang="en-US" sz="1100" dirty="0"/>
          </a:p>
        </p:txBody>
      </p:sp>
      <p:sp>
        <p:nvSpPr>
          <p:cNvPr id="15" name="Shape 10"/>
          <p:cNvSpPr/>
          <p:nvPr/>
        </p:nvSpPr>
        <p:spPr>
          <a:xfrm>
            <a:off x="6839712" y="2788920"/>
            <a:ext cx="1965960" cy="1234440"/>
          </a:xfrm>
          <a:prstGeom prst="roundRect">
            <a:avLst>
              <a:gd name="adj" fmla="val 6667"/>
            </a:avLst>
          </a:prstGeom>
          <a:solidFill>
            <a:srgbClr val="F3F6FA"/>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pic>
        <p:nvPicPr>
          <p:cNvPr id="16" name="Image 3" descr="preencoded.png"/>
          <p:cNvPicPr>
            <a:picLocks noChangeAspect="1"/>
          </p:cNvPicPr>
          <p:nvPr/>
        </p:nvPicPr>
        <p:blipFill>
          <a:blip r:embed="rId6"/>
          <a:stretch>
            <a:fillRect/>
          </a:stretch>
        </p:blipFill>
        <p:spPr>
          <a:xfrm>
            <a:off x="7603236" y="2953512"/>
            <a:ext cx="438912" cy="438912"/>
          </a:xfrm>
          <a:prstGeom prst="rect">
            <a:avLst/>
          </a:prstGeom>
        </p:spPr>
      </p:pic>
      <p:sp>
        <p:nvSpPr>
          <p:cNvPr id="17" name="Text 11"/>
          <p:cNvSpPr/>
          <p:nvPr/>
        </p:nvSpPr>
        <p:spPr>
          <a:xfrm>
            <a:off x="6839712" y="3447288"/>
            <a:ext cx="1965960" cy="502920"/>
          </a:xfrm>
          <a:prstGeom prst="rect">
            <a:avLst/>
          </a:prstGeom>
          <a:noFill/>
          <a:ln/>
        </p:spPr>
        <p:txBody>
          <a:bodyPr wrap="square" lIns="0" tIns="0" rIns="0" bIns="0" rtlCol="0" anchor="ctr"/>
          <a:lstStyle/>
          <a:p>
            <a:pPr marL="0" indent="0" algn="ctr">
              <a:buNone/>
            </a:pPr>
            <a:r>
              <a:rPr lang="en-US" sz="1100" b="1" dirty="0">
                <a:solidFill>
                  <a:srgbClr val="1C2B42"/>
                </a:solidFill>
                <a:latin typeface="Calibri" pitchFamily="34" charset="0"/>
                <a:ea typeface="Calibri" pitchFamily="34" charset="-122"/>
                <a:cs typeface="Calibri" pitchFamily="34" charset="-120"/>
              </a:rPr>
              <a:t>Black-Box</a:t>
            </a:r>
            <a:endParaRPr lang="en-US" sz="1100" dirty="0"/>
          </a:p>
          <a:p>
            <a:pPr marL="0" indent="0" algn="ctr">
              <a:buNone/>
            </a:pPr>
            <a:r>
              <a:rPr lang="en-US" sz="1100" b="1" dirty="0">
                <a:solidFill>
                  <a:srgbClr val="1C2B42"/>
                </a:solidFill>
                <a:latin typeface="Calibri" pitchFamily="34" charset="0"/>
                <a:ea typeface="Calibri" pitchFamily="34" charset="-122"/>
                <a:cs typeface="Calibri" pitchFamily="34" charset="-120"/>
              </a:rPr>
              <a:t>Operational Constraints</a:t>
            </a:r>
            <a:endParaRPr lang="en-US" sz="1100" dirty="0"/>
          </a:p>
        </p:txBody>
      </p:sp>
      <p:sp>
        <p:nvSpPr>
          <p:cNvPr id="18" name="Shape 12"/>
          <p:cNvSpPr/>
          <p:nvPr/>
        </p:nvSpPr>
        <p:spPr>
          <a:xfrm>
            <a:off x="4572000" y="2377440"/>
            <a:ext cx="0" cy="384048"/>
          </a:xfrm>
          <a:prstGeom prst="line">
            <a:avLst/>
          </a:prstGeom>
          <a:noFill/>
          <a:ln w="15875">
            <a:solidFill>
              <a:srgbClr val="C6D2E3"/>
            </a:solidFill>
            <a:prstDash val="solid"/>
          </a:ln>
        </p:spPr>
        <p:txBody>
          <a:bodyPr/>
          <a:lstStyle/>
          <a:p>
            <a:endParaRPr lang="it-IT"/>
          </a:p>
        </p:txBody>
      </p:sp>
      <p:sp>
        <p:nvSpPr>
          <p:cNvPr id="19" name="Text 13"/>
          <p:cNvSpPr/>
          <p:nvPr/>
        </p:nvSpPr>
        <p:spPr>
          <a:xfrm>
            <a:off x="502920" y="4864608"/>
            <a:ext cx="5486400" cy="228600"/>
          </a:xfrm>
          <a:prstGeom prst="rect">
            <a:avLst/>
          </a:prstGeom>
          <a:noFill/>
          <a:ln/>
        </p:spPr>
        <p:txBody>
          <a:bodyPr wrap="square" lIns="0" tIns="0" rIns="0" bIns="0" rtlCol="0" anchor="ctr"/>
          <a:lstStyle/>
          <a:p>
            <a:pPr marL="0" indent="0">
              <a:buNone/>
            </a:pPr>
            <a:r>
              <a:rPr lang="en-US" sz="900" dirty="0">
                <a:solidFill>
                  <a:srgbClr val="5C6B83"/>
                </a:solidFill>
                <a:latin typeface="Calibri" pitchFamily="34" charset="0"/>
                <a:ea typeface="Calibri" pitchFamily="34" charset="-122"/>
                <a:cs typeface="Calibri" pitchFamily="34" charset="-120"/>
              </a:rPr>
              <a:t>Robustness of AI-Based Forensic Tools  |  Lello Molinario</a:t>
            </a:r>
            <a:endParaRPr lang="en-US" sz="900" dirty="0"/>
          </a:p>
        </p:txBody>
      </p:sp>
      <p:sp>
        <p:nvSpPr>
          <p:cNvPr id="20" name="Text 14"/>
          <p:cNvSpPr/>
          <p:nvPr/>
        </p:nvSpPr>
        <p:spPr>
          <a:xfrm>
            <a:off x="8732520" y="4864608"/>
            <a:ext cx="365760" cy="228600"/>
          </a:xfrm>
          <a:prstGeom prst="rect">
            <a:avLst/>
          </a:prstGeom>
          <a:noFill/>
          <a:ln/>
        </p:spPr>
        <p:txBody>
          <a:bodyPr wrap="square" lIns="0" tIns="0" rIns="0" bIns="0" rtlCol="0" anchor="ctr"/>
          <a:lstStyle/>
          <a:p>
            <a:pPr marL="0" indent="0" algn="r">
              <a:buNone/>
            </a:pPr>
            <a:r>
              <a:rPr lang="en-US" sz="900" dirty="0">
                <a:solidFill>
                  <a:srgbClr val="5C6B8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marL="0" indent="0">
              <a:buNone/>
            </a:pPr>
            <a:r>
              <a:rPr lang="en-US" sz="1250" b="1" kern="0" spc="200" dirty="0">
                <a:solidFill>
                  <a:srgbClr val="0E8A8A"/>
                </a:solidFill>
                <a:latin typeface="Calibri" pitchFamily="34" charset="0"/>
                <a:ea typeface="Calibri" pitchFamily="34" charset="-122"/>
                <a:cs typeface="Calibri" pitchFamily="34" charset="-120"/>
              </a:rPr>
              <a:t>RESEARCH OBJECTIVE</a:t>
            </a:r>
            <a:endParaRPr lang="en-US" sz="125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2700" b="1" dirty="0">
                <a:solidFill>
                  <a:srgbClr val="0A1F3D"/>
                </a:solidFill>
                <a:latin typeface="Cambria" pitchFamily="34" charset="0"/>
                <a:ea typeface="Cambria" pitchFamily="34" charset="-122"/>
                <a:cs typeface="Cambria" pitchFamily="34" charset="-120"/>
              </a:rPr>
              <a:t>Objective and Contributions</a:t>
            </a:r>
            <a:endParaRPr lang="en-US" sz="2700" dirty="0"/>
          </a:p>
        </p:txBody>
      </p:sp>
      <p:sp>
        <p:nvSpPr>
          <p:cNvPr id="4" name="Shape 2"/>
          <p:cNvSpPr/>
          <p:nvPr/>
        </p:nvSpPr>
        <p:spPr>
          <a:xfrm>
            <a:off x="502920" y="1371600"/>
            <a:ext cx="8138160" cy="868680"/>
          </a:xfrm>
          <a:prstGeom prst="roundRect">
            <a:avLst>
              <a:gd name="adj" fmla="val 9474"/>
            </a:avLst>
          </a:prstGeom>
          <a:solidFill>
            <a:srgbClr val="E3F3F2"/>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5" name="Text 3"/>
          <p:cNvSpPr/>
          <p:nvPr/>
        </p:nvSpPr>
        <p:spPr>
          <a:xfrm>
            <a:off x="731520" y="1417320"/>
            <a:ext cx="7680960" cy="777240"/>
          </a:xfrm>
          <a:prstGeom prst="rect">
            <a:avLst/>
          </a:prstGeom>
          <a:noFill/>
          <a:ln/>
        </p:spPr>
        <p:txBody>
          <a:bodyPr wrap="square" lIns="0" tIns="0" rIns="0" bIns="0" rtlCol="0" anchor="ctr"/>
          <a:lstStyle/>
          <a:p>
            <a:pPr marL="0" indent="0">
              <a:buNone/>
            </a:pPr>
            <a:r>
              <a:rPr lang="en-US" sz="1350" b="1" dirty="0">
                <a:solidFill>
                  <a:srgbClr val="0A1F3D"/>
                </a:solidFill>
                <a:latin typeface="Calibri" pitchFamily="34" charset="0"/>
                <a:ea typeface="Calibri" pitchFamily="34" charset="-122"/>
                <a:cs typeface="Calibri" pitchFamily="34" charset="-120"/>
              </a:rPr>
              <a:t>Objective: </a:t>
            </a:r>
            <a:r>
              <a:rPr lang="en-US" sz="1350" dirty="0">
                <a:solidFill>
                  <a:srgbClr val="1C2B42"/>
                </a:solidFill>
                <a:latin typeface="Calibri" pitchFamily="34" charset="0"/>
                <a:ea typeface="Calibri" pitchFamily="34" charset="-122"/>
                <a:cs typeface="Calibri" pitchFamily="34" charset="-120"/>
              </a:rPr>
              <a:t>Evaluate the operational robustness of AI-based forensic image classification systems under controlled perturbation scenarios.</a:t>
            </a:r>
            <a:endParaRPr lang="en-US" sz="1350" dirty="0"/>
          </a:p>
        </p:txBody>
      </p:sp>
      <p:sp>
        <p:nvSpPr>
          <p:cNvPr id="6" name="Shape 4"/>
          <p:cNvSpPr/>
          <p:nvPr/>
        </p:nvSpPr>
        <p:spPr>
          <a:xfrm>
            <a:off x="484632" y="2514600"/>
            <a:ext cx="1517904" cy="1691640"/>
          </a:xfrm>
          <a:prstGeom prst="roundRect">
            <a:avLst>
              <a:gd name="adj" fmla="val 5422"/>
            </a:avLst>
          </a:prstGeom>
          <a:solidFill>
            <a:srgbClr val="FFFFFF"/>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sp>
        <p:nvSpPr>
          <p:cNvPr id="7" name="Shape 5"/>
          <p:cNvSpPr/>
          <p:nvPr/>
        </p:nvSpPr>
        <p:spPr>
          <a:xfrm>
            <a:off x="950976" y="2715768"/>
            <a:ext cx="585216" cy="585216"/>
          </a:xfrm>
          <a:prstGeom prst="ellipse">
            <a:avLst/>
          </a:prstGeom>
          <a:solidFill>
            <a:schemeClr val="bg2"/>
          </a:solidFill>
          <a:ln/>
        </p:spPr>
        <p:txBody>
          <a:bodyPr/>
          <a:lstStyle/>
          <a:p>
            <a:endParaRPr lang="it-IT"/>
          </a:p>
        </p:txBody>
      </p:sp>
      <p:pic>
        <p:nvPicPr>
          <p:cNvPr id="8" name="Image 0" descr="preencoded.png"/>
          <p:cNvPicPr>
            <a:picLocks noChangeAspect="1"/>
          </p:cNvPicPr>
          <p:nvPr/>
        </p:nvPicPr>
        <p:blipFill>
          <a:blip r:embed="rId3"/>
          <a:stretch>
            <a:fillRect/>
          </a:stretch>
        </p:blipFill>
        <p:spPr>
          <a:xfrm>
            <a:off x="1027054" y="2791846"/>
            <a:ext cx="433060" cy="433060"/>
          </a:xfrm>
          <a:prstGeom prst="rect">
            <a:avLst/>
          </a:prstGeom>
        </p:spPr>
      </p:pic>
      <p:sp>
        <p:nvSpPr>
          <p:cNvPr id="9" name="Text 6"/>
          <p:cNvSpPr/>
          <p:nvPr/>
        </p:nvSpPr>
        <p:spPr>
          <a:xfrm>
            <a:off x="530352" y="3447288"/>
            <a:ext cx="1426464" cy="685800"/>
          </a:xfrm>
          <a:prstGeom prst="rect">
            <a:avLst/>
          </a:prstGeom>
          <a:noFill/>
          <a:ln/>
        </p:spPr>
        <p:txBody>
          <a:bodyPr wrap="square" lIns="0" tIns="0" rIns="0" bIns="0" rtlCol="0" anchor="t"/>
          <a:lstStyle/>
          <a:p>
            <a:pPr marL="0" indent="0" algn="ctr">
              <a:buNone/>
            </a:pPr>
            <a:r>
              <a:rPr lang="en-US" sz="1050" b="1" dirty="0">
                <a:solidFill>
                  <a:srgbClr val="1C2B42"/>
                </a:solidFill>
                <a:latin typeface="Calibri" pitchFamily="34" charset="0"/>
                <a:ea typeface="Calibri" pitchFamily="34" charset="-122"/>
                <a:cs typeface="Calibri" pitchFamily="34" charset="-120"/>
              </a:rPr>
              <a:t>Reproducible</a:t>
            </a:r>
            <a:endParaRPr lang="en-US" sz="1050" dirty="0"/>
          </a:p>
          <a:p>
            <a:pPr marL="0" indent="0" algn="ctr">
              <a:buNone/>
            </a:pPr>
            <a:r>
              <a:rPr lang="en-US" sz="1050" b="1" dirty="0">
                <a:solidFill>
                  <a:srgbClr val="1C2B42"/>
                </a:solidFill>
                <a:latin typeface="Calibri" pitchFamily="34" charset="0"/>
                <a:ea typeface="Calibri" pitchFamily="34" charset="-122"/>
                <a:cs typeface="Calibri" pitchFamily="34" charset="-120"/>
              </a:rPr>
              <a:t>Evaluation Protocol</a:t>
            </a:r>
            <a:endParaRPr lang="en-US" sz="1050" dirty="0"/>
          </a:p>
        </p:txBody>
      </p:sp>
      <p:sp>
        <p:nvSpPr>
          <p:cNvPr id="10" name="Shape 7"/>
          <p:cNvSpPr/>
          <p:nvPr/>
        </p:nvSpPr>
        <p:spPr>
          <a:xfrm>
            <a:off x="2148840" y="2514600"/>
            <a:ext cx="1517904" cy="1691640"/>
          </a:xfrm>
          <a:prstGeom prst="roundRect">
            <a:avLst>
              <a:gd name="adj" fmla="val 5422"/>
            </a:avLst>
          </a:prstGeom>
          <a:solidFill>
            <a:srgbClr val="FFFFFF"/>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sp>
        <p:nvSpPr>
          <p:cNvPr id="11" name="Shape 8"/>
          <p:cNvSpPr/>
          <p:nvPr/>
        </p:nvSpPr>
        <p:spPr>
          <a:xfrm>
            <a:off x="2615184" y="2715768"/>
            <a:ext cx="585216" cy="585216"/>
          </a:xfrm>
          <a:prstGeom prst="ellipse">
            <a:avLst/>
          </a:prstGeom>
          <a:solidFill>
            <a:schemeClr val="bg2"/>
          </a:solidFill>
          <a:ln/>
        </p:spPr>
        <p:txBody>
          <a:bodyPr/>
          <a:lstStyle/>
          <a:p>
            <a:endParaRPr lang="it-IT"/>
          </a:p>
        </p:txBody>
      </p:sp>
      <p:pic>
        <p:nvPicPr>
          <p:cNvPr id="12" name="Image 1" descr="preencoded.png"/>
          <p:cNvPicPr>
            <a:picLocks noChangeAspect="1"/>
          </p:cNvPicPr>
          <p:nvPr/>
        </p:nvPicPr>
        <p:blipFill>
          <a:blip r:embed="rId4"/>
          <a:stretch>
            <a:fillRect/>
          </a:stretch>
        </p:blipFill>
        <p:spPr>
          <a:xfrm>
            <a:off x="2691262" y="2791846"/>
            <a:ext cx="433060" cy="433060"/>
          </a:xfrm>
          <a:prstGeom prst="rect">
            <a:avLst/>
          </a:prstGeom>
        </p:spPr>
      </p:pic>
      <p:sp>
        <p:nvSpPr>
          <p:cNvPr id="13" name="Text 9"/>
          <p:cNvSpPr/>
          <p:nvPr/>
        </p:nvSpPr>
        <p:spPr>
          <a:xfrm>
            <a:off x="2194560" y="3447288"/>
            <a:ext cx="1426464" cy="685800"/>
          </a:xfrm>
          <a:prstGeom prst="rect">
            <a:avLst/>
          </a:prstGeom>
          <a:noFill/>
          <a:ln/>
        </p:spPr>
        <p:txBody>
          <a:bodyPr wrap="square" lIns="0" tIns="0" rIns="0" bIns="0" rtlCol="0" anchor="t"/>
          <a:lstStyle/>
          <a:p>
            <a:pPr marL="0" indent="0" algn="ctr">
              <a:buNone/>
            </a:pPr>
            <a:r>
              <a:rPr lang="en-US" sz="1050" b="1" dirty="0">
                <a:solidFill>
                  <a:srgbClr val="1C2B42"/>
                </a:solidFill>
                <a:latin typeface="Calibri" pitchFamily="34" charset="0"/>
                <a:ea typeface="Calibri" pitchFamily="34" charset="-122"/>
                <a:cs typeface="Calibri" pitchFamily="34" charset="-120"/>
              </a:rPr>
              <a:t>Frozen Forensic</a:t>
            </a:r>
            <a:endParaRPr lang="en-US" sz="1050" dirty="0"/>
          </a:p>
          <a:p>
            <a:pPr marL="0" indent="0" algn="ctr">
              <a:buNone/>
            </a:pPr>
            <a:r>
              <a:rPr lang="en-US" sz="1050" b="1" dirty="0">
                <a:solidFill>
                  <a:srgbClr val="1C2B42"/>
                </a:solidFill>
                <a:latin typeface="Calibri" pitchFamily="34" charset="0"/>
                <a:ea typeface="Calibri" pitchFamily="34" charset="-122"/>
                <a:cs typeface="Calibri" pitchFamily="34" charset="-120"/>
              </a:rPr>
              <a:t>Evaluation Bundle</a:t>
            </a:r>
            <a:endParaRPr lang="en-US" sz="1050" dirty="0"/>
          </a:p>
        </p:txBody>
      </p:sp>
      <p:sp>
        <p:nvSpPr>
          <p:cNvPr id="14" name="Shape 10"/>
          <p:cNvSpPr/>
          <p:nvPr/>
        </p:nvSpPr>
        <p:spPr>
          <a:xfrm>
            <a:off x="3813048" y="2514600"/>
            <a:ext cx="1517904" cy="1691640"/>
          </a:xfrm>
          <a:prstGeom prst="roundRect">
            <a:avLst>
              <a:gd name="adj" fmla="val 5422"/>
            </a:avLst>
          </a:prstGeom>
          <a:solidFill>
            <a:srgbClr val="FFFFFF"/>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sp>
        <p:nvSpPr>
          <p:cNvPr id="15" name="Shape 11"/>
          <p:cNvSpPr/>
          <p:nvPr/>
        </p:nvSpPr>
        <p:spPr>
          <a:xfrm>
            <a:off x="4279392" y="2715768"/>
            <a:ext cx="585216" cy="585216"/>
          </a:xfrm>
          <a:prstGeom prst="ellipse">
            <a:avLst/>
          </a:prstGeom>
          <a:solidFill>
            <a:schemeClr val="bg2"/>
          </a:solidFill>
          <a:ln/>
        </p:spPr>
        <p:txBody>
          <a:bodyPr/>
          <a:lstStyle/>
          <a:p>
            <a:endParaRPr lang="it-IT"/>
          </a:p>
        </p:txBody>
      </p:sp>
      <p:pic>
        <p:nvPicPr>
          <p:cNvPr id="16" name="Image 2" descr="preencoded.png"/>
          <p:cNvPicPr>
            <a:picLocks noChangeAspect="1"/>
          </p:cNvPicPr>
          <p:nvPr/>
        </p:nvPicPr>
        <p:blipFill>
          <a:blip r:embed="rId5"/>
          <a:stretch>
            <a:fillRect/>
          </a:stretch>
        </p:blipFill>
        <p:spPr>
          <a:xfrm>
            <a:off x="4355470" y="2791846"/>
            <a:ext cx="433060" cy="433060"/>
          </a:xfrm>
          <a:prstGeom prst="rect">
            <a:avLst/>
          </a:prstGeom>
        </p:spPr>
      </p:pic>
      <p:sp>
        <p:nvSpPr>
          <p:cNvPr id="17" name="Text 12"/>
          <p:cNvSpPr/>
          <p:nvPr/>
        </p:nvSpPr>
        <p:spPr>
          <a:xfrm>
            <a:off x="3858768" y="3447288"/>
            <a:ext cx="1426464" cy="685800"/>
          </a:xfrm>
          <a:prstGeom prst="rect">
            <a:avLst/>
          </a:prstGeom>
          <a:noFill/>
          <a:ln/>
        </p:spPr>
        <p:txBody>
          <a:bodyPr wrap="square" lIns="0" tIns="0" rIns="0" bIns="0" rtlCol="0" anchor="t"/>
          <a:lstStyle/>
          <a:p>
            <a:pPr marL="0" indent="0" algn="ctr">
              <a:buNone/>
            </a:pPr>
            <a:r>
              <a:rPr lang="en-US" sz="1050" b="1" dirty="0">
                <a:solidFill>
                  <a:srgbClr val="1C2B42"/>
                </a:solidFill>
                <a:latin typeface="Calibri" pitchFamily="34" charset="0"/>
                <a:ea typeface="Calibri" pitchFamily="34" charset="-122"/>
                <a:cs typeface="Calibri" pitchFamily="34" charset="-120"/>
              </a:rPr>
              <a:t>Proxy Models vs.</a:t>
            </a:r>
            <a:endParaRPr lang="en-US" sz="1050" dirty="0"/>
          </a:p>
          <a:p>
            <a:pPr marL="0" indent="0" algn="ctr">
              <a:buNone/>
            </a:pPr>
            <a:r>
              <a:rPr lang="en-US" sz="1050" b="1" dirty="0">
                <a:solidFill>
                  <a:srgbClr val="1C2B42"/>
                </a:solidFill>
                <a:latin typeface="Calibri" pitchFamily="34" charset="0"/>
                <a:ea typeface="Calibri" pitchFamily="34" charset="-122"/>
                <a:cs typeface="Calibri" pitchFamily="34" charset="-120"/>
              </a:rPr>
              <a:t>Black-Box Tools</a:t>
            </a:r>
            <a:endParaRPr lang="en-US" sz="1050" dirty="0"/>
          </a:p>
        </p:txBody>
      </p:sp>
      <p:sp>
        <p:nvSpPr>
          <p:cNvPr id="18" name="Shape 13"/>
          <p:cNvSpPr/>
          <p:nvPr/>
        </p:nvSpPr>
        <p:spPr>
          <a:xfrm>
            <a:off x="5477256" y="2514600"/>
            <a:ext cx="1517904" cy="1691640"/>
          </a:xfrm>
          <a:prstGeom prst="roundRect">
            <a:avLst>
              <a:gd name="adj" fmla="val 5422"/>
            </a:avLst>
          </a:prstGeom>
          <a:solidFill>
            <a:srgbClr val="FFFFFF"/>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sp>
        <p:nvSpPr>
          <p:cNvPr id="19" name="Shape 14"/>
          <p:cNvSpPr/>
          <p:nvPr/>
        </p:nvSpPr>
        <p:spPr>
          <a:xfrm>
            <a:off x="5943600" y="2715768"/>
            <a:ext cx="585216" cy="585216"/>
          </a:xfrm>
          <a:prstGeom prst="ellipse">
            <a:avLst/>
          </a:prstGeom>
          <a:solidFill>
            <a:schemeClr val="bg2"/>
          </a:solidFill>
          <a:ln/>
        </p:spPr>
        <p:txBody>
          <a:bodyPr/>
          <a:lstStyle/>
          <a:p>
            <a:endParaRPr lang="it-IT"/>
          </a:p>
        </p:txBody>
      </p:sp>
      <p:pic>
        <p:nvPicPr>
          <p:cNvPr id="20" name="Image 3" descr="preencoded.png"/>
          <p:cNvPicPr>
            <a:picLocks noChangeAspect="1"/>
          </p:cNvPicPr>
          <p:nvPr/>
        </p:nvPicPr>
        <p:blipFill>
          <a:blip r:embed="rId6"/>
          <a:stretch>
            <a:fillRect/>
          </a:stretch>
        </p:blipFill>
        <p:spPr>
          <a:xfrm>
            <a:off x="6019678" y="2791846"/>
            <a:ext cx="433060" cy="433060"/>
          </a:xfrm>
          <a:prstGeom prst="rect">
            <a:avLst/>
          </a:prstGeom>
        </p:spPr>
      </p:pic>
      <p:sp>
        <p:nvSpPr>
          <p:cNvPr id="21" name="Text 15"/>
          <p:cNvSpPr/>
          <p:nvPr/>
        </p:nvSpPr>
        <p:spPr>
          <a:xfrm>
            <a:off x="5522976" y="3447288"/>
            <a:ext cx="1426464" cy="685800"/>
          </a:xfrm>
          <a:prstGeom prst="rect">
            <a:avLst/>
          </a:prstGeom>
          <a:noFill/>
          <a:ln/>
        </p:spPr>
        <p:txBody>
          <a:bodyPr wrap="square" lIns="0" tIns="0" rIns="0" bIns="0" rtlCol="0" anchor="t"/>
          <a:lstStyle/>
          <a:p>
            <a:pPr marL="0" indent="0" algn="ctr">
              <a:buNone/>
            </a:pPr>
            <a:r>
              <a:rPr lang="en-US" sz="1050" b="1" dirty="0">
                <a:solidFill>
                  <a:srgbClr val="1C2B42"/>
                </a:solidFill>
                <a:latin typeface="Calibri" pitchFamily="34" charset="0"/>
                <a:ea typeface="Calibri" pitchFamily="34" charset="-122"/>
                <a:cs typeface="Calibri" pitchFamily="34" charset="-120"/>
              </a:rPr>
              <a:t>Normalized</a:t>
            </a:r>
            <a:endParaRPr lang="en-US" sz="1050" dirty="0"/>
          </a:p>
          <a:p>
            <a:pPr marL="0" indent="0" algn="ctr">
              <a:buNone/>
            </a:pPr>
            <a:r>
              <a:rPr lang="en-US" sz="1050" b="1" dirty="0">
                <a:solidFill>
                  <a:srgbClr val="1C2B42"/>
                </a:solidFill>
                <a:latin typeface="Calibri" pitchFamily="34" charset="0"/>
                <a:ea typeface="Calibri" pitchFamily="34" charset="-122"/>
                <a:cs typeface="Calibri" pitchFamily="34" charset="-120"/>
              </a:rPr>
              <a:t>Output Mapping</a:t>
            </a:r>
            <a:endParaRPr lang="en-US" sz="1050" dirty="0"/>
          </a:p>
        </p:txBody>
      </p:sp>
      <p:sp>
        <p:nvSpPr>
          <p:cNvPr id="22" name="Shape 16"/>
          <p:cNvSpPr/>
          <p:nvPr/>
        </p:nvSpPr>
        <p:spPr>
          <a:xfrm>
            <a:off x="7141464" y="2514600"/>
            <a:ext cx="1517904" cy="1691640"/>
          </a:xfrm>
          <a:prstGeom prst="roundRect">
            <a:avLst>
              <a:gd name="adj" fmla="val 5422"/>
            </a:avLst>
          </a:prstGeom>
          <a:solidFill>
            <a:srgbClr val="FFFFFF"/>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sp>
        <p:nvSpPr>
          <p:cNvPr id="23" name="Shape 17"/>
          <p:cNvSpPr/>
          <p:nvPr/>
        </p:nvSpPr>
        <p:spPr>
          <a:xfrm>
            <a:off x="7607808" y="2715768"/>
            <a:ext cx="585216" cy="585216"/>
          </a:xfrm>
          <a:prstGeom prst="ellipse">
            <a:avLst/>
          </a:prstGeom>
          <a:solidFill>
            <a:schemeClr val="bg2"/>
          </a:solidFill>
          <a:ln/>
        </p:spPr>
        <p:txBody>
          <a:bodyPr/>
          <a:lstStyle/>
          <a:p>
            <a:endParaRPr lang="it-IT"/>
          </a:p>
        </p:txBody>
      </p:sp>
      <p:pic>
        <p:nvPicPr>
          <p:cNvPr id="24" name="Image 4" descr="preencoded.png"/>
          <p:cNvPicPr>
            <a:picLocks noChangeAspect="1"/>
          </p:cNvPicPr>
          <p:nvPr/>
        </p:nvPicPr>
        <p:blipFill>
          <a:blip r:embed="rId7"/>
          <a:stretch>
            <a:fillRect/>
          </a:stretch>
        </p:blipFill>
        <p:spPr>
          <a:xfrm>
            <a:off x="7683886" y="2791846"/>
            <a:ext cx="433060" cy="433060"/>
          </a:xfrm>
          <a:prstGeom prst="rect">
            <a:avLst/>
          </a:prstGeom>
        </p:spPr>
      </p:pic>
      <p:sp>
        <p:nvSpPr>
          <p:cNvPr id="25" name="Text 18"/>
          <p:cNvSpPr/>
          <p:nvPr/>
        </p:nvSpPr>
        <p:spPr>
          <a:xfrm>
            <a:off x="7187184" y="3447288"/>
            <a:ext cx="1426464" cy="685800"/>
          </a:xfrm>
          <a:prstGeom prst="rect">
            <a:avLst/>
          </a:prstGeom>
          <a:noFill/>
          <a:ln/>
        </p:spPr>
        <p:txBody>
          <a:bodyPr wrap="square" lIns="0" tIns="0" rIns="0" bIns="0" rtlCol="0" anchor="t"/>
          <a:lstStyle/>
          <a:p>
            <a:pPr marL="0" indent="0" algn="ctr">
              <a:buNone/>
            </a:pPr>
            <a:r>
              <a:rPr lang="en-US" sz="1050" b="1" dirty="0">
                <a:solidFill>
                  <a:srgbClr val="1C2B42"/>
                </a:solidFill>
                <a:latin typeface="Calibri" pitchFamily="34" charset="0"/>
                <a:ea typeface="Calibri" pitchFamily="34" charset="-122"/>
                <a:cs typeface="Calibri" pitchFamily="34" charset="-120"/>
              </a:rPr>
              <a:t>Risk-Oriented</a:t>
            </a:r>
            <a:endParaRPr lang="en-US" sz="1050" dirty="0"/>
          </a:p>
          <a:p>
            <a:pPr marL="0" indent="0" algn="ctr">
              <a:buNone/>
            </a:pPr>
            <a:r>
              <a:rPr lang="en-US" sz="1050" b="1" dirty="0">
                <a:solidFill>
                  <a:srgbClr val="1C2B42"/>
                </a:solidFill>
                <a:latin typeface="Calibri" pitchFamily="34" charset="0"/>
                <a:ea typeface="Calibri" pitchFamily="34" charset="-122"/>
                <a:cs typeface="Calibri" pitchFamily="34" charset="-120"/>
              </a:rPr>
              <a:t>Interpretation</a:t>
            </a:r>
            <a:endParaRPr lang="en-US" sz="1050" dirty="0"/>
          </a:p>
        </p:txBody>
      </p:sp>
      <p:sp>
        <p:nvSpPr>
          <p:cNvPr id="26" name="Text 19"/>
          <p:cNvSpPr/>
          <p:nvPr/>
        </p:nvSpPr>
        <p:spPr>
          <a:xfrm>
            <a:off x="502920" y="4434840"/>
            <a:ext cx="8138160" cy="320040"/>
          </a:xfrm>
          <a:prstGeom prst="rect">
            <a:avLst/>
          </a:prstGeom>
          <a:noFill/>
          <a:ln/>
        </p:spPr>
        <p:txBody>
          <a:bodyPr wrap="square" lIns="0" tIns="0" rIns="0" bIns="0" rtlCol="0" anchor="ctr"/>
          <a:lstStyle/>
          <a:p>
            <a:pPr marL="0" indent="0">
              <a:buNone/>
            </a:pPr>
            <a:r>
              <a:rPr lang="en-US" sz="1200" i="1" dirty="0">
                <a:solidFill>
                  <a:srgbClr val="5C6B83"/>
                </a:solidFill>
                <a:latin typeface="Calibri" pitchFamily="34" charset="0"/>
                <a:ea typeface="Calibri" pitchFamily="34" charset="-122"/>
                <a:cs typeface="Calibri" pitchFamily="34" charset="-120"/>
              </a:rPr>
              <a:t>The thesis contributes a controlled and traceable methodology — not only raw performance results.</a:t>
            </a:r>
            <a:endParaRPr lang="en-US" sz="1200" dirty="0"/>
          </a:p>
        </p:txBody>
      </p:sp>
      <p:sp>
        <p:nvSpPr>
          <p:cNvPr id="27" name="Text 20"/>
          <p:cNvSpPr/>
          <p:nvPr/>
        </p:nvSpPr>
        <p:spPr>
          <a:xfrm>
            <a:off x="502920" y="4864608"/>
            <a:ext cx="5486400" cy="228600"/>
          </a:xfrm>
          <a:prstGeom prst="rect">
            <a:avLst/>
          </a:prstGeom>
          <a:noFill/>
          <a:ln/>
        </p:spPr>
        <p:txBody>
          <a:bodyPr wrap="square" lIns="0" tIns="0" rIns="0" bIns="0" rtlCol="0" anchor="ctr"/>
          <a:lstStyle/>
          <a:p>
            <a:pPr marL="0" indent="0">
              <a:buNone/>
            </a:pPr>
            <a:r>
              <a:rPr lang="en-US" sz="900" dirty="0">
                <a:solidFill>
                  <a:srgbClr val="5C6B83"/>
                </a:solidFill>
                <a:latin typeface="Calibri" pitchFamily="34" charset="0"/>
                <a:ea typeface="Calibri" pitchFamily="34" charset="-122"/>
                <a:cs typeface="Calibri" pitchFamily="34" charset="-120"/>
              </a:rPr>
              <a:t>Robustness of AI-Based Forensic Tools  |  Lello Molinario</a:t>
            </a:r>
            <a:endParaRPr lang="en-US" sz="900" dirty="0"/>
          </a:p>
        </p:txBody>
      </p:sp>
      <p:sp>
        <p:nvSpPr>
          <p:cNvPr id="28" name="Text 21"/>
          <p:cNvSpPr/>
          <p:nvPr/>
        </p:nvSpPr>
        <p:spPr>
          <a:xfrm>
            <a:off x="8732520" y="4864608"/>
            <a:ext cx="365760" cy="228600"/>
          </a:xfrm>
          <a:prstGeom prst="rect">
            <a:avLst/>
          </a:prstGeom>
          <a:noFill/>
          <a:ln/>
        </p:spPr>
        <p:txBody>
          <a:bodyPr wrap="square" lIns="0" tIns="0" rIns="0" bIns="0" rtlCol="0" anchor="ctr"/>
          <a:lstStyle/>
          <a:p>
            <a:pPr marL="0" indent="0" algn="r">
              <a:buNone/>
            </a:pPr>
            <a:r>
              <a:rPr lang="en-US" sz="900" dirty="0">
                <a:solidFill>
                  <a:srgbClr val="5C6B8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marL="0" indent="0">
              <a:buNone/>
            </a:pPr>
            <a:r>
              <a:rPr lang="en-US" sz="1250" b="1" kern="0" spc="200" dirty="0">
                <a:solidFill>
                  <a:srgbClr val="0E8A8A"/>
                </a:solidFill>
                <a:latin typeface="Calibri" pitchFamily="34" charset="0"/>
                <a:ea typeface="Calibri" pitchFamily="34" charset="-122"/>
                <a:cs typeface="Calibri" pitchFamily="34" charset="-120"/>
              </a:rPr>
              <a:t>EVALUATED SYSTEMS</a:t>
            </a:r>
            <a:endParaRPr lang="en-US" sz="125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2700" b="1" dirty="0">
                <a:solidFill>
                  <a:srgbClr val="0A1F3D"/>
                </a:solidFill>
                <a:latin typeface="Cambria" pitchFamily="34" charset="0"/>
                <a:ea typeface="Cambria" pitchFamily="34" charset="-122"/>
                <a:cs typeface="Cambria" pitchFamily="34" charset="-120"/>
              </a:rPr>
              <a:t>Proxy Models and Commercial Tools</a:t>
            </a:r>
            <a:endParaRPr lang="en-US" sz="2700" dirty="0"/>
          </a:p>
        </p:txBody>
      </p:sp>
      <p:sp>
        <p:nvSpPr>
          <p:cNvPr id="4" name="Shape 2"/>
          <p:cNvSpPr/>
          <p:nvPr/>
        </p:nvSpPr>
        <p:spPr>
          <a:xfrm>
            <a:off x="502920" y="1417320"/>
            <a:ext cx="3840480" cy="3063240"/>
          </a:xfrm>
          <a:prstGeom prst="roundRect">
            <a:avLst>
              <a:gd name="adj" fmla="val 2687"/>
            </a:avLst>
          </a:prstGeom>
          <a:solidFill>
            <a:srgbClr val="E3F3F2"/>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5" name="Shape 3"/>
          <p:cNvSpPr/>
          <p:nvPr/>
        </p:nvSpPr>
        <p:spPr>
          <a:xfrm>
            <a:off x="777240" y="1673352"/>
            <a:ext cx="512064" cy="512064"/>
          </a:xfrm>
          <a:prstGeom prst="ellipse">
            <a:avLst/>
          </a:prstGeom>
          <a:solidFill>
            <a:srgbClr val="0E8A8A"/>
          </a:solidFill>
          <a:ln/>
        </p:spPr>
        <p:txBody>
          <a:bodyPr/>
          <a:lstStyle/>
          <a:p>
            <a:endParaRPr lang="it-IT"/>
          </a:p>
        </p:txBody>
      </p:sp>
      <p:pic>
        <p:nvPicPr>
          <p:cNvPr id="6" name="Image 0" descr="preencoded.png"/>
          <p:cNvPicPr>
            <a:picLocks noChangeAspect="1"/>
          </p:cNvPicPr>
          <p:nvPr/>
        </p:nvPicPr>
        <p:blipFill>
          <a:blip r:embed="rId3"/>
          <a:stretch>
            <a:fillRect/>
          </a:stretch>
        </p:blipFill>
        <p:spPr>
          <a:xfrm>
            <a:off x="843808" y="1739920"/>
            <a:ext cx="378927" cy="378927"/>
          </a:xfrm>
          <a:prstGeom prst="rect">
            <a:avLst/>
          </a:prstGeom>
        </p:spPr>
      </p:pic>
      <p:sp>
        <p:nvSpPr>
          <p:cNvPr id="7" name="Text 4"/>
          <p:cNvSpPr/>
          <p:nvPr/>
        </p:nvSpPr>
        <p:spPr>
          <a:xfrm>
            <a:off x="1417320" y="1691640"/>
            <a:ext cx="2743200" cy="457200"/>
          </a:xfrm>
          <a:prstGeom prst="rect">
            <a:avLst/>
          </a:prstGeom>
          <a:noFill/>
          <a:ln/>
        </p:spPr>
        <p:txBody>
          <a:bodyPr wrap="square" lIns="0" tIns="0" rIns="0" bIns="0" rtlCol="0" anchor="ctr"/>
          <a:lstStyle/>
          <a:p>
            <a:pPr marL="0" indent="0">
              <a:buNone/>
            </a:pPr>
            <a:r>
              <a:rPr lang="en-US" sz="1600" b="1" dirty="0">
                <a:solidFill>
                  <a:srgbClr val="0A1F3D"/>
                </a:solidFill>
                <a:latin typeface="Cambria" pitchFamily="34" charset="0"/>
                <a:ea typeface="Cambria" pitchFamily="34" charset="-122"/>
                <a:cs typeface="Cambria" pitchFamily="34" charset="-120"/>
              </a:rPr>
              <a:t>Proxy Models</a:t>
            </a:r>
            <a:endParaRPr lang="en-US" sz="1600" dirty="0"/>
          </a:p>
        </p:txBody>
      </p:sp>
      <p:sp>
        <p:nvSpPr>
          <p:cNvPr id="8" name="Text 5"/>
          <p:cNvSpPr/>
          <p:nvPr/>
        </p:nvSpPr>
        <p:spPr>
          <a:xfrm>
            <a:off x="1417320" y="2057400"/>
            <a:ext cx="2743200" cy="274320"/>
          </a:xfrm>
          <a:prstGeom prst="rect">
            <a:avLst/>
          </a:prstGeom>
          <a:noFill/>
          <a:ln/>
        </p:spPr>
        <p:txBody>
          <a:bodyPr wrap="square" lIns="0" tIns="0" rIns="0" bIns="0" rtlCol="0" anchor="ctr"/>
          <a:lstStyle/>
          <a:p>
            <a:pPr marL="0" indent="0">
              <a:buNone/>
            </a:pPr>
            <a:r>
              <a:rPr lang="en-US" sz="1100" i="1" dirty="0">
                <a:solidFill>
                  <a:srgbClr val="5C6B83"/>
                </a:solidFill>
                <a:latin typeface="Calibri" pitchFamily="34" charset="0"/>
                <a:ea typeface="Calibri" pitchFamily="34" charset="-122"/>
                <a:cs typeface="Calibri" pitchFamily="34" charset="-120"/>
              </a:rPr>
              <a:t>Controlled and inspectable</a:t>
            </a:r>
            <a:endParaRPr lang="en-US" sz="1100" dirty="0"/>
          </a:p>
        </p:txBody>
      </p:sp>
      <p:sp>
        <p:nvSpPr>
          <p:cNvPr id="9" name="Text 6"/>
          <p:cNvSpPr/>
          <p:nvPr/>
        </p:nvSpPr>
        <p:spPr>
          <a:xfrm>
            <a:off x="777240" y="2468880"/>
            <a:ext cx="3291840" cy="1737360"/>
          </a:xfrm>
          <a:prstGeom prst="rect">
            <a:avLst/>
          </a:prstGeom>
          <a:noFill/>
          <a:ln/>
        </p:spPr>
        <p:txBody>
          <a:bodyPr wrap="square" rtlCol="0" anchor="t"/>
          <a:lstStyle/>
          <a:p>
            <a:pPr marL="342900" indent="-342900">
              <a:spcAft>
                <a:spcPts val="800"/>
              </a:spcAft>
              <a:buSzPct val="100000"/>
              <a:buChar char="–"/>
            </a:pPr>
            <a:r>
              <a:rPr lang="en-US" sz="1300" dirty="0">
                <a:solidFill>
                  <a:srgbClr val="1C2B42"/>
                </a:solidFill>
                <a:latin typeface="Calibri" pitchFamily="34" charset="0"/>
                <a:ea typeface="Calibri" pitchFamily="34" charset="-122"/>
                <a:cs typeface="Calibri" pitchFamily="34" charset="-120"/>
              </a:rPr>
              <a:t>ResNet18</a:t>
            </a:r>
            <a:endParaRPr lang="en-US" sz="1300" dirty="0"/>
          </a:p>
          <a:p>
            <a:pPr marL="342900" indent="-342900">
              <a:spcAft>
                <a:spcPts val="800"/>
              </a:spcAft>
              <a:buSzPct val="100000"/>
              <a:buChar char="–"/>
            </a:pPr>
            <a:r>
              <a:rPr lang="en-US" sz="1300" dirty="0">
                <a:solidFill>
                  <a:srgbClr val="1C2B42"/>
                </a:solidFill>
                <a:latin typeface="Calibri" pitchFamily="34" charset="0"/>
                <a:ea typeface="Calibri" pitchFamily="34" charset="-122"/>
                <a:cs typeface="Calibri" pitchFamily="34" charset="-120"/>
              </a:rPr>
              <a:t>EfficientNet-B0</a:t>
            </a:r>
            <a:endParaRPr lang="en-US" sz="1300" dirty="0"/>
          </a:p>
          <a:p>
            <a:pPr marL="342900" indent="-342900">
              <a:spcAft>
                <a:spcPts val="800"/>
              </a:spcAft>
              <a:buSzPct val="100000"/>
              <a:buChar char="–"/>
            </a:pPr>
            <a:r>
              <a:rPr lang="en-US" sz="1300" dirty="0">
                <a:solidFill>
                  <a:srgbClr val="1C2B42"/>
                </a:solidFill>
                <a:latin typeface="Calibri" pitchFamily="34" charset="0"/>
                <a:ea typeface="Calibri" pitchFamily="34" charset="-122"/>
                <a:cs typeface="Calibri" pitchFamily="34" charset="-120"/>
              </a:rPr>
              <a:t>CLIP visual encoder + supervised binary head</a:t>
            </a:r>
            <a:endParaRPr lang="en-US" sz="1300" dirty="0"/>
          </a:p>
        </p:txBody>
      </p:sp>
      <p:sp>
        <p:nvSpPr>
          <p:cNvPr id="10" name="Shape 7"/>
          <p:cNvSpPr/>
          <p:nvPr/>
        </p:nvSpPr>
        <p:spPr>
          <a:xfrm>
            <a:off x="4800600" y="1417320"/>
            <a:ext cx="3840480" cy="3063240"/>
          </a:xfrm>
          <a:prstGeom prst="roundRect">
            <a:avLst>
              <a:gd name="adj" fmla="val 2687"/>
            </a:avLst>
          </a:prstGeom>
          <a:solidFill>
            <a:srgbClr val="FBE7DA"/>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11" name="Shape 8"/>
          <p:cNvSpPr/>
          <p:nvPr/>
        </p:nvSpPr>
        <p:spPr>
          <a:xfrm>
            <a:off x="5074920" y="1673352"/>
            <a:ext cx="512064" cy="512064"/>
          </a:xfrm>
          <a:prstGeom prst="ellipse">
            <a:avLst/>
          </a:prstGeom>
          <a:solidFill>
            <a:srgbClr val="E2692C"/>
          </a:solidFill>
          <a:ln/>
        </p:spPr>
        <p:txBody>
          <a:bodyPr/>
          <a:lstStyle/>
          <a:p>
            <a:endParaRPr lang="it-IT"/>
          </a:p>
        </p:txBody>
      </p:sp>
      <p:pic>
        <p:nvPicPr>
          <p:cNvPr id="12" name="Image 1" descr="preencoded.png"/>
          <p:cNvPicPr>
            <a:picLocks noChangeAspect="1"/>
          </p:cNvPicPr>
          <p:nvPr/>
        </p:nvPicPr>
        <p:blipFill>
          <a:blip r:embed="rId4"/>
          <a:stretch>
            <a:fillRect/>
          </a:stretch>
        </p:blipFill>
        <p:spPr>
          <a:xfrm>
            <a:off x="5141488" y="1739920"/>
            <a:ext cx="378927" cy="378927"/>
          </a:xfrm>
          <a:prstGeom prst="rect">
            <a:avLst/>
          </a:prstGeom>
        </p:spPr>
      </p:pic>
      <p:sp>
        <p:nvSpPr>
          <p:cNvPr id="13" name="Text 9"/>
          <p:cNvSpPr/>
          <p:nvPr/>
        </p:nvSpPr>
        <p:spPr>
          <a:xfrm>
            <a:off x="5715000" y="1691640"/>
            <a:ext cx="2743200" cy="457200"/>
          </a:xfrm>
          <a:prstGeom prst="rect">
            <a:avLst/>
          </a:prstGeom>
          <a:noFill/>
          <a:ln/>
        </p:spPr>
        <p:txBody>
          <a:bodyPr wrap="square" lIns="0" tIns="0" rIns="0" bIns="0" rtlCol="0" anchor="ctr"/>
          <a:lstStyle/>
          <a:p>
            <a:pPr marL="0" indent="0">
              <a:buNone/>
            </a:pPr>
            <a:r>
              <a:rPr lang="en-US" sz="1500" b="1" dirty="0">
                <a:solidFill>
                  <a:srgbClr val="0A1F3D"/>
                </a:solidFill>
                <a:latin typeface="Cambria" pitchFamily="34" charset="0"/>
                <a:ea typeface="Cambria" pitchFamily="34" charset="-122"/>
                <a:cs typeface="Cambria" pitchFamily="34" charset="-120"/>
              </a:rPr>
              <a:t>Commercial AI-Based Tools</a:t>
            </a:r>
            <a:endParaRPr lang="en-US" sz="1500" dirty="0"/>
          </a:p>
        </p:txBody>
      </p:sp>
      <p:sp>
        <p:nvSpPr>
          <p:cNvPr id="14" name="Text 10"/>
          <p:cNvSpPr/>
          <p:nvPr/>
        </p:nvSpPr>
        <p:spPr>
          <a:xfrm>
            <a:off x="5715000" y="2057400"/>
            <a:ext cx="2743200" cy="274320"/>
          </a:xfrm>
          <a:prstGeom prst="rect">
            <a:avLst/>
          </a:prstGeom>
          <a:noFill/>
          <a:ln/>
        </p:spPr>
        <p:txBody>
          <a:bodyPr wrap="square" lIns="0" tIns="0" rIns="0" bIns="0" rtlCol="0" anchor="ctr"/>
          <a:lstStyle/>
          <a:p>
            <a:pPr marL="0" indent="0">
              <a:buNone/>
            </a:pPr>
            <a:r>
              <a:rPr lang="en-US" sz="1100" i="1" dirty="0">
                <a:solidFill>
                  <a:srgbClr val="5C6B83"/>
                </a:solidFill>
                <a:latin typeface="Calibri" pitchFamily="34" charset="0"/>
                <a:ea typeface="Calibri" pitchFamily="34" charset="-122"/>
                <a:cs typeface="Calibri" pitchFamily="34" charset="-120"/>
              </a:rPr>
              <a:t>Operational and black-box</a:t>
            </a:r>
            <a:endParaRPr lang="en-US" sz="1100" dirty="0"/>
          </a:p>
        </p:txBody>
      </p:sp>
      <p:sp>
        <p:nvSpPr>
          <p:cNvPr id="15" name="Text 11"/>
          <p:cNvSpPr/>
          <p:nvPr/>
        </p:nvSpPr>
        <p:spPr>
          <a:xfrm>
            <a:off x="5074920" y="2468880"/>
            <a:ext cx="3291840" cy="1737360"/>
          </a:xfrm>
          <a:prstGeom prst="rect">
            <a:avLst/>
          </a:prstGeom>
          <a:noFill/>
          <a:ln/>
        </p:spPr>
        <p:txBody>
          <a:bodyPr wrap="square" rtlCol="0" anchor="t"/>
          <a:lstStyle/>
          <a:p>
            <a:pPr marL="342900" indent="-342900">
              <a:spcAft>
                <a:spcPts val="800"/>
              </a:spcAft>
              <a:buSzPct val="100000"/>
              <a:buChar char="–"/>
            </a:pPr>
            <a:r>
              <a:rPr lang="en-US" sz="1250" dirty="0">
                <a:solidFill>
                  <a:srgbClr val="1C2B42"/>
                </a:solidFill>
                <a:latin typeface="Calibri" pitchFamily="34" charset="0"/>
                <a:ea typeface="Calibri" pitchFamily="34" charset="-122"/>
                <a:cs typeface="Calibri" pitchFamily="34" charset="-120"/>
              </a:rPr>
              <a:t>Magnet AXIOM / Magnet.AI 10.1.0.48673</a:t>
            </a:r>
            <a:endParaRPr lang="en-US" sz="1250" dirty="0"/>
          </a:p>
          <a:p>
            <a:pPr marL="342900" indent="-342900">
              <a:spcAft>
                <a:spcPts val="800"/>
              </a:spcAft>
              <a:buSzPct val="100000"/>
              <a:buChar char="–"/>
            </a:pPr>
            <a:r>
              <a:rPr lang="en-US" sz="1250" dirty="0">
                <a:solidFill>
                  <a:srgbClr val="1C2B42"/>
                </a:solidFill>
                <a:latin typeface="Calibri" pitchFamily="34" charset="0"/>
                <a:ea typeface="Calibri" pitchFamily="34" charset="-122"/>
                <a:cs typeface="Calibri" pitchFamily="34" charset="-120"/>
              </a:rPr>
              <a:t>Excire Foto 2025, v4.1.5</a:t>
            </a:r>
            <a:endParaRPr lang="en-US" sz="1250" dirty="0"/>
          </a:p>
          <a:p>
            <a:pPr marL="342900" indent="-342900">
              <a:spcAft>
                <a:spcPts val="800"/>
              </a:spcAft>
              <a:buSzPct val="100000"/>
              <a:buChar char="–"/>
            </a:pPr>
            <a:r>
              <a:rPr lang="en-US" sz="1250" dirty="0">
                <a:solidFill>
                  <a:srgbClr val="1C2B42"/>
                </a:solidFill>
                <a:latin typeface="Calibri" pitchFamily="34" charset="0"/>
                <a:ea typeface="Calibri" pitchFamily="34" charset="-122"/>
                <a:cs typeface="Calibri" pitchFamily="34" charset="-120"/>
              </a:rPr>
              <a:t>Cellebrite Inseyets 10.9 / Physical Analyzer 10.9.0.3029 export</a:t>
            </a:r>
          </a:p>
          <a:p>
            <a:pPr marL="342900" indent="-342900">
              <a:spcAft>
                <a:spcPts val="800"/>
              </a:spcAft>
              <a:buSzPct val="100000"/>
              <a:buFontTx/>
              <a:buChar char="–"/>
            </a:pPr>
            <a:r>
              <a:rPr lang="en-US" sz="1250" dirty="0">
                <a:solidFill>
                  <a:srgbClr val="1C2B42"/>
                </a:solidFill>
                <a:latin typeface="Calibri" pitchFamily="34" charset="0"/>
                <a:ea typeface="Calibri" pitchFamily="34" charset="-122"/>
                <a:cs typeface="Calibri" pitchFamily="34" charset="-120"/>
              </a:rPr>
              <a:t>Magnet </a:t>
            </a:r>
            <a:r>
              <a:rPr lang="en-US" sz="1250" dirty="0" err="1">
                <a:solidFill>
                  <a:srgbClr val="1C2B42"/>
                </a:solidFill>
                <a:latin typeface="Calibri" pitchFamily="34" charset="0"/>
                <a:ea typeface="Calibri" pitchFamily="34" charset="-122"/>
                <a:cs typeface="Calibri" pitchFamily="34" charset="-120"/>
              </a:rPr>
              <a:t>Griffeye</a:t>
            </a:r>
            <a:r>
              <a:rPr lang="en-US" sz="1250" dirty="0">
                <a:solidFill>
                  <a:srgbClr val="1C2B42"/>
                </a:solidFill>
                <a:latin typeface="Calibri" pitchFamily="34" charset="0"/>
                <a:ea typeface="Calibri" pitchFamily="34" charset="-122"/>
                <a:cs typeface="Calibri" pitchFamily="34" charset="-120"/>
              </a:rPr>
              <a:t> x64 26.2.108 / T3K CORE 1.18.0</a:t>
            </a:r>
            <a:endParaRPr lang="en-US" sz="1250" dirty="0"/>
          </a:p>
        </p:txBody>
      </p:sp>
      <p:sp>
        <p:nvSpPr>
          <p:cNvPr id="16" name="Shape 12"/>
          <p:cNvSpPr/>
          <p:nvPr/>
        </p:nvSpPr>
        <p:spPr>
          <a:xfrm>
            <a:off x="4187952" y="2564892"/>
            <a:ext cx="768096" cy="768096"/>
          </a:xfrm>
          <a:prstGeom prst="ellipse">
            <a:avLst/>
          </a:prstGeom>
          <a:solidFill>
            <a:srgbClr val="0A1F3D"/>
          </a:solidFill>
          <a:ln w="38100">
            <a:solidFill>
              <a:srgbClr val="FFFFFF"/>
            </a:solidFill>
            <a:prstDash val="solid"/>
          </a:ln>
          <a:effectLst>
            <a:outerShdw blurRad="101600" dist="38100" dir="5400000" algn="bl" rotWithShape="0">
              <a:srgbClr val="000000">
                <a:alpha val="18000"/>
              </a:srgbClr>
            </a:outerShdw>
          </a:effectLst>
        </p:spPr>
        <p:txBody>
          <a:bodyPr/>
          <a:lstStyle/>
          <a:p>
            <a:endParaRPr lang="it-IT"/>
          </a:p>
        </p:txBody>
      </p:sp>
      <p:sp>
        <p:nvSpPr>
          <p:cNvPr id="17" name="Text 13"/>
          <p:cNvSpPr/>
          <p:nvPr/>
        </p:nvSpPr>
        <p:spPr>
          <a:xfrm>
            <a:off x="4069080" y="2638044"/>
            <a:ext cx="1005840" cy="621792"/>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complementary</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evaluation</a:t>
            </a:r>
            <a:endParaRPr lang="en-US" sz="850" dirty="0"/>
          </a:p>
        </p:txBody>
      </p:sp>
      <p:sp>
        <p:nvSpPr>
          <p:cNvPr id="18" name="Text 14"/>
          <p:cNvSpPr/>
          <p:nvPr/>
        </p:nvSpPr>
        <p:spPr>
          <a:xfrm>
            <a:off x="502920" y="4864608"/>
            <a:ext cx="5486400" cy="228600"/>
          </a:xfrm>
          <a:prstGeom prst="rect">
            <a:avLst/>
          </a:prstGeom>
          <a:noFill/>
          <a:ln/>
        </p:spPr>
        <p:txBody>
          <a:bodyPr wrap="square" lIns="0" tIns="0" rIns="0" bIns="0" rtlCol="0" anchor="ctr"/>
          <a:lstStyle/>
          <a:p>
            <a:pPr marL="0" indent="0">
              <a:buNone/>
            </a:pPr>
            <a:r>
              <a:rPr lang="en-US" sz="900" dirty="0">
                <a:solidFill>
                  <a:srgbClr val="5C6B83"/>
                </a:solidFill>
                <a:latin typeface="Calibri" pitchFamily="34" charset="0"/>
                <a:ea typeface="Calibri" pitchFamily="34" charset="-122"/>
                <a:cs typeface="Calibri" pitchFamily="34" charset="-120"/>
              </a:rPr>
              <a:t>Robustness of AI-Based Forensic Tools  |  Lello Molinario</a:t>
            </a:r>
            <a:endParaRPr lang="en-US" sz="900" dirty="0"/>
          </a:p>
        </p:txBody>
      </p:sp>
      <p:sp>
        <p:nvSpPr>
          <p:cNvPr id="19" name="Text 15"/>
          <p:cNvSpPr/>
          <p:nvPr/>
        </p:nvSpPr>
        <p:spPr>
          <a:xfrm>
            <a:off x="8732520" y="4864608"/>
            <a:ext cx="365760" cy="228600"/>
          </a:xfrm>
          <a:prstGeom prst="rect">
            <a:avLst/>
          </a:prstGeom>
          <a:noFill/>
          <a:ln/>
        </p:spPr>
        <p:txBody>
          <a:bodyPr wrap="square" lIns="0" tIns="0" rIns="0" bIns="0" rtlCol="0" anchor="ctr"/>
          <a:lstStyle/>
          <a:p>
            <a:pPr marL="0" indent="0" algn="r">
              <a:buNone/>
            </a:pPr>
            <a:r>
              <a:rPr lang="en-US" sz="900" dirty="0">
                <a:solidFill>
                  <a:srgbClr val="5C6B8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marL="0" indent="0">
              <a:buNone/>
            </a:pPr>
            <a:r>
              <a:rPr lang="en-US" sz="1250" b="1" kern="0" spc="200" dirty="0">
                <a:solidFill>
                  <a:srgbClr val="0E8A8A"/>
                </a:solidFill>
                <a:latin typeface="Calibri" pitchFamily="34" charset="0"/>
                <a:ea typeface="Calibri" pitchFamily="34" charset="-122"/>
                <a:cs typeface="Calibri" pitchFamily="34" charset="-120"/>
              </a:rPr>
              <a:t>DATASET</a:t>
            </a:r>
            <a:endParaRPr lang="en-US" sz="125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2700" b="1" dirty="0">
                <a:solidFill>
                  <a:srgbClr val="0A1F3D"/>
                </a:solidFill>
                <a:latin typeface="Cambria" pitchFamily="34" charset="0"/>
                <a:ea typeface="Cambria" pitchFamily="34" charset="-122"/>
                <a:cs typeface="Cambria" pitchFamily="34" charset="-120"/>
              </a:rPr>
              <a:t>Frozen Evaluation Bundle</a:t>
            </a:r>
            <a:endParaRPr lang="en-US" sz="2700" dirty="0"/>
          </a:p>
        </p:txBody>
      </p:sp>
      <p:sp>
        <p:nvSpPr>
          <p:cNvPr id="4" name="Shape 2"/>
          <p:cNvSpPr/>
          <p:nvPr/>
        </p:nvSpPr>
        <p:spPr>
          <a:xfrm>
            <a:off x="502920" y="1417320"/>
            <a:ext cx="2331720" cy="868680"/>
          </a:xfrm>
          <a:prstGeom prst="roundRect">
            <a:avLst>
              <a:gd name="adj" fmla="val 9474"/>
            </a:avLst>
          </a:prstGeom>
          <a:solidFill>
            <a:srgbClr val="0A1F3D"/>
          </a:solidFill>
          <a:ln/>
          <a:effectLst>
            <a:outerShdw blurRad="88900" dist="25400" dir="5400000" algn="bl" rotWithShape="0">
              <a:srgbClr val="000000">
                <a:alpha val="10000"/>
              </a:srgbClr>
            </a:outerShdw>
          </a:effectLst>
        </p:spPr>
        <p:txBody>
          <a:bodyPr/>
          <a:lstStyle/>
          <a:p>
            <a:endParaRPr lang="it-IT"/>
          </a:p>
        </p:txBody>
      </p:sp>
      <p:sp>
        <p:nvSpPr>
          <p:cNvPr id="5" name="Text 3"/>
          <p:cNvSpPr/>
          <p:nvPr/>
        </p:nvSpPr>
        <p:spPr>
          <a:xfrm>
            <a:off x="502920" y="1417320"/>
            <a:ext cx="2331720" cy="8686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500 Weapon</a:t>
            </a:r>
            <a:endParaRPr lang="en-US" sz="1400" dirty="0"/>
          </a:p>
        </p:txBody>
      </p:sp>
      <p:sp>
        <p:nvSpPr>
          <p:cNvPr id="6" name="Shape 4"/>
          <p:cNvSpPr/>
          <p:nvPr/>
        </p:nvSpPr>
        <p:spPr>
          <a:xfrm>
            <a:off x="502920" y="2450592"/>
            <a:ext cx="2331720" cy="868680"/>
          </a:xfrm>
          <a:prstGeom prst="roundRect">
            <a:avLst>
              <a:gd name="adj" fmla="val 9474"/>
            </a:avLst>
          </a:prstGeom>
          <a:solidFill>
            <a:srgbClr val="0E8A8A"/>
          </a:solidFill>
          <a:ln/>
          <a:effectLst>
            <a:outerShdw blurRad="88900" dist="25400" dir="5400000" algn="bl" rotWithShape="0">
              <a:srgbClr val="000000">
                <a:alpha val="10000"/>
              </a:srgbClr>
            </a:outerShdw>
          </a:effectLst>
        </p:spPr>
        <p:txBody>
          <a:bodyPr/>
          <a:lstStyle/>
          <a:p>
            <a:endParaRPr lang="it-IT"/>
          </a:p>
        </p:txBody>
      </p:sp>
      <p:sp>
        <p:nvSpPr>
          <p:cNvPr id="7" name="Text 5"/>
          <p:cNvSpPr/>
          <p:nvPr/>
        </p:nvSpPr>
        <p:spPr>
          <a:xfrm>
            <a:off x="502920" y="2450592"/>
            <a:ext cx="2331720" cy="8686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500 Non-Weapon</a:t>
            </a:r>
            <a:endParaRPr lang="en-US" sz="1400" dirty="0"/>
          </a:p>
        </p:txBody>
      </p:sp>
      <p:sp>
        <p:nvSpPr>
          <p:cNvPr id="8" name="Text 6"/>
          <p:cNvSpPr/>
          <p:nvPr/>
        </p:nvSpPr>
        <p:spPr>
          <a:xfrm>
            <a:off x="1485900" y="2240280"/>
            <a:ext cx="365760" cy="365760"/>
          </a:xfrm>
          <a:prstGeom prst="rect">
            <a:avLst/>
          </a:prstGeom>
          <a:noFill/>
          <a:ln/>
        </p:spPr>
        <p:txBody>
          <a:bodyPr wrap="square" lIns="0" tIns="0" rIns="0" bIns="0" rtlCol="0" anchor="ctr"/>
          <a:lstStyle/>
          <a:p>
            <a:pPr marL="0" indent="0" algn="ctr">
              <a:buNone/>
            </a:pPr>
            <a:r>
              <a:rPr lang="en-US" sz="1800" b="1" dirty="0">
                <a:solidFill>
                  <a:srgbClr val="5C6B83"/>
                </a:solidFill>
                <a:latin typeface="Calibri" pitchFamily="34" charset="0"/>
                <a:ea typeface="Calibri" pitchFamily="34" charset="-122"/>
                <a:cs typeface="Calibri" pitchFamily="34" charset="-120"/>
              </a:rPr>
              <a:t>+</a:t>
            </a:r>
            <a:endParaRPr lang="en-US" sz="1800" dirty="0"/>
          </a:p>
        </p:txBody>
      </p:sp>
      <p:pic>
        <p:nvPicPr>
          <p:cNvPr id="9" name="Image 0" descr="preencoded.png"/>
          <p:cNvPicPr>
            <a:picLocks noChangeAspect="1"/>
          </p:cNvPicPr>
          <p:nvPr/>
        </p:nvPicPr>
        <p:blipFill>
          <a:blip r:embed="rId3"/>
          <a:stretch>
            <a:fillRect/>
          </a:stretch>
        </p:blipFill>
        <p:spPr>
          <a:xfrm>
            <a:off x="2971800" y="2231136"/>
            <a:ext cx="365760" cy="365760"/>
          </a:xfrm>
          <a:prstGeom prst="rect">
            <a:avLst/>
          </a:prstGeom>
        </p:spPr>
      </p:pic>
      <p:sp>
        <p:nvSpPr>
          <p:cNvPr id="10" name="Shape 7"/>
          <p:cNvSpPr/>
          <p:nvPr/>
        </p:nvSpPr>
        <p:spPr>
          <a:xfrm>
            <a:off x="3474720" y="1554480"/>
            <a:ext cx="2240280" cy="1600200"/>
          </a:xfrm>
          <a:prstGeom prst="roundRect">
            <a:avLst>
              <a:gd name="adj" fmla="val 5143"/>
            </a:avLst>
          </a:prstGeom>
          <a:solidFill>
            <a:srgbClr val="E3F3F2"/>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11" name="Text 8"/>
          <p:cNvSpPr/>
          <p:nvPr/>
        </p:nvSpPr>
        <p:spPr>
          <a:xfrm>
            <a:off x="3611880" y="1664208"/>
            <a:ext cx="1965960" cy="320040"/>
          </a:xfrm>
          <a:prstGeom prst="rect">
            <a:avLst/>
          </a:prstGeom>
          <a:noFill/>
          <a:ln/>
        </p:spPr>
        <p:txBody>
          <a:bodyPr wrap="square" lIns="0" tIns="0" rIns="0" bIns="0" rtlCol="0" anchor="ctr"/>
          <a:lstStyle/>
          <a:p>
            <a:pPr marL="0" indent="0">
              <a:buNone/>
            </a:pPr>
            <a:r>
              <a:rPr lang="en-US" sz="1300" b="1" dirty="0">
                <a:solidFill>
                  <a:srgbClr val="0A1F3D"/>
                </a:solidFill>
                <a:latin typeface="Cambria" pitchFamily="34" charset="0"/>
                <a:ea typeface="Cambria" pitchFamily="34" charset="-122"/>
                <a:cs typeface="Cambria" pitchFamily="34" charset="-120"/>
              </a:rPr>
              <a:t>Binary Subset</a:t>
            </a:r>
            <a:endParaRPr lang="en-US" sz="1300" dirty="0"/>
          </a:p>
        </p:txBody>
      </p:sp>
      <p:sp>
        <p:nvSpPr>
          <p:cNvPr id="12" name="Text 9"/>
          <p:cNvSpPr/>
          <p:nvPr/>
        </p:nvSpPr>
        <p:spPr>
          <a:xfrm>
            <a:off x="3611880" y="2057400"/>
            <a:ext cx="1965960" cy="1005840"/>
          </a:xfrm>
          <a:prstGeom prst="rect">
            <a:avLst/>
          </a:prstGeom>
          <a:noFill/>
          <a:ln/>
        </p:spPr>
        <p:txBody>
          <a:bodyPr wrap="square" lIns="0" tIns="0" rIns="0" bIns="0" rtlCol="0" anchor="ctr"/>
          <a:lstStyle/>
          <a:p>
            <a:pPr marL="0" indent="0">
              <a:lnSpc>
                <a:spcPct val="125000"/>
              </a:lnSpc>
              <a:buNone/>
            </a:pPr>
            <a:r>
              <a:rPr lang="en-US" sz="1150" dirty="0">
                <a:solidFill>
                  <a:srgbClr val="1C2B42"/>
                </a:solidFill>
                <a:latin typeface="Calibri" pitchFamily="34" charset="0"/>
                <a:ea typeface="Calibri" pitchFamily="34" charset="-122"/>
                <a:cs typeface="Calibri" pitchFamily="34" charset="-120"/>
              </a:rPr>
              <a:t>1,000 images</a:t>
            </a:r>
            <a:endParaRPr lang="en-US" sz="1150" dirty="0"/>
          </a:p>
          <a:p>
            <a:pPr marL="0" indent="0">
              <a:lnSpc>
                <a:spcPct val="125000"/>
              </a:lnSpc>
              <a:buNone/>
            </a:pPr>
            <a:r>
              <a:rPr lang="en-US" sz="1150" dirty="0">
                <a:solidFill>
                  <a:srgbClr val="1C2B42"/>
                </a:solidFill>
                <a:latin typeface="Calibri" pitchFamily="34" charset="0"/>
                <a:ea typeface="Calibri" pitchFamily="34" charset="-122"/>
                <a:cs typeface="Calibri" pitchFamily="34" charset="-120"/>
              </a:rPr>
              <a:t>clean + perturbed evaluation</a:t>
            </a:r>
            <a:endParaRPr lang="en-US" sz="1150" dirty="0"/>
          </a:p>
        </p:txBody>
      </p:sp>
      <p:sp>
        <p:nvSpPr>
          <p:cNvPr id="13" name="Shape 10"/>
          <p:cNvSpPr/>
          <p:nvPr/>
        </p:nvSpPr>
        <p:spPr>
          <a:xfrm>
            <a:off x="5852160" y="1417320"/>
            <a:ext cx="2788920" cy="1645920"/>
          </a:xfrm>
          <a:prstGeom prst="roundRect">
            <a:avLst>
              <a:gd name="adj" fmla="val 5000"/>
            </a:avLst>
          </a:prstGeom>
          <a:solidFill>
            <a:srgbClr val="FBE7DA"/>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pic>
        <p:nvPicPr>
          <p:cNvPr id="14" name="Image 1" descr="preencoded.png"/>
          <p:cNvPicPr>
            <a:picLocks noChangeAspect="1"/>
          </p:cNvPicPr>
          <p:nvPr/>
        </p:nvPicPr>
        <p:blipFill>
          <a:blip r:embed="rId4"/>
          <a:stretch>
            <a:fillRect/>
          </a:stretch>
        </p:blipFill>
        <p:spPr>
          <a:xfrm>
            <a:off x="6016752" y="1563624"/>
            <a:ext cx="384048" cy="384048"/>
          </a:xfrm>
          <a:prstGeom prst="rect">
            <a:avLst/>
          </a:prstGeom>
        </p:spPr>
      </p:pic>
      <p:sp>
        <p:nvSpPr>
          <p:cNvPr id="15" name="Text 11"/>
          <p:cNvSpPr/>
          <p:nvPr/>
        </p:nvSpPr>
        <p:spPr>
          <a:xfrm>
            <a:off x="6492240" y="1563624"/>
            <a:ext cx="2011680" cy="384048"/>
          </a:xfrm>
          <a:prstGeom prst="rect">
            <a:avLst/>
          </a:prstGeom>
          <a:noFill/>
          <a:ln/>
        </p:spPr>
        <p:txBody>
          <a:bodyPr wrap="square" lIns="0" tIns="0" rIns="0" bIns="0" rtlCol="0" anchor="ctr"/>
          <a:lstStyle/>
          <a:p>
            <a:pPr marL="0" indent="0">
              <a:buNone/>
            </a:pPr>
            <a:r>
              <a:rPr lang="en-US" sz="1300" b="1" dirty="0">
                <a:solidFill>
                  <a:srgbClr val="0A1F3D"/>
                </a:solidFill>
                <a:latin typeface="Cambria" pitchFamily="34" charset="0"/>
                <a:ea typeface="Cambria" pitchFamily="34" charset="-122"/>
                <a:cs typeface="Cambria" pitchFamily="34" charset="-120"/>
              </a:rPr>
              <a:t>OOD Subset</a:t>
            </a:r>
            <a:endParaRPr lang="en-US" sz="1300" dirty="0"/>
          </a:p>
        </p:txBody>
      </p:sp>
      <p:sp>
        <p:nvSpPr>
          <p:cNvPr id="16" name="Text 12"/>
          <p:cNvSpPr/>
          <p:nvPr/>
        </p:nvSpPr>
        <p:spPr>
          <a:xfrm>
            <a:off x="6016752" y="2039112"/>
            <a:ext cx="2459736" cy="960120"/>
          </a:xfrm>
          <a:prstGeom prst="rect">
            <a:avLst/>
          </a:prstGeom>
          <a:noFill/>
          <a:ln/>
        </p:spPr>
        <p:txBody>
          <a:bodyPr wrap="square" lIns="0" tIns="0" rIns="0" bIns="0" rtlCol="0" anchor="ctr"/>
          <a:lstStyle/>
          <a:p>
            <a:pPr marL="0" indent="0">
              <a:lnSpc>
                <a:spcPct val="125000"/>
              </a:lnSpc>
              <a:buNone/>
            </a:pPr>
            <a:r>
              <a:rPr lang="en-US" sz="1150" dirty="0">
                <a:solidFill>
                  <a:srgbClr val="1C2B42"/>
                </a:solidFill>
                <a:latin typeface="Calibri" pitchFamily="34" charset="0"/>
                <a:ea typeface="Calibri" pitchFamily="34" charset="-122"/>
                <a:cs typeface="Calibri" pitchFamily="34" charset="-120"/>
              </a:rPr>
              <a:t>500 images</a:t>
            </a:r>
            <a:endParaRPr lang="en-US" sz="1150" dirty="0"/>
          </a:p>
          <a:p>
            <a:pPr marL="0" indent="0">
              <a:lnSpc>
                <a:spcPct val="125000"/>
              </a:lnSpc>
              <a:buNone/>
            </a:pPr>
            <a:r>
              <a:rPr lang="en-US" sz="1150" dirty="0">
                <a:solidFill>
                  <a:srgbClr val="1C2B42"/>
                </a:solidFill>
                <a:latin typeface="Calibri" pitchFamily="34" charset="0"/>
                <a:ea typeface="Calibri" pitchFamily="34" charset="-122"/>
                <a:cs typeface="Calibri" pitchFamily="34" charset="-120"/>
              </a:rPr>
              <a:t>evaluated separately</a:t>
            </a:r>
            <a:endParaRPr lang="en-US" sz="1150" dirty="0"/>
          </a:p>
          <a:p>
            <a:pPr marL="0" indent="0">
              <a:lnSpc>
                <a:spcPct val="125000"/>
              </a:lnSpc>
              <a:buNone/>
            </a:pPr>
            <a:r>
              <a:rPr lang="en-US" sz="1150" dirty="0">
                <a:solidFill>
                  <a:srgbClr val="1C2B42"/>
                </a:solidFill>
                <a:latin typeface="Calibri" pitchFamily="34" charset="0"/>
                <a:ea typeface="Calibri" pitchFamily="34" charset="-122"/>
                <a:cs typeface="Calibri" pitchFamily="34" charset="-120"/>
              </a:rPr>
              <a:t>clean only</a:t>
            </a:r>
            <a:endParaRPr lang="en-US" sz="1150" dirty="0"/>
          </a:p>
        </p:txBody>
      </p:sp>
      <p:sp>
        <p:nvSpPr>
          <p:cNvPr id="17" name="Shape 13"/>
          <p:cNvSpPr/>
          <p:nvPr/>
        </p:nvSpPr>
        <p:spPr>
          <a:xfrm>
            <a:off x="502920" y="3429000"/>
            <a:ext cx="8138160" cy="777240"/>
          </a:xfrm>
          <a:prstGeom prst="roundRect">
            <a:avLst>
              <a:gd name="adj" fmla="val 10588"/>
            </a:avLst>
          </a:prstGeom>
          <a:solidFill>
            <a:schemeClr val="bg2"/>
          </a:solidFill>
          <a:ln/>
          <a:effectLst>
            <a:outerShdw blurRad="88900" dist="25400" dir="5400000" algn="bl" rotWithShape="0">
              <a:srgbClr val="000000">
                <a:alpha val="10000"/>
              </a:srgbClr>
            </a:outerShdw>
          </a:effectLst>
        </p:spPr>
        <p:txBody>
          <a:bodyPr/>
          <a:lstStyle/>
          <a:p>
            <a:endParaRPr lang="it-IT"/>
          </a:p>
        </p:txBody>
      </p:sp>
      <p:pic>
        <p:nvPicPr>
          <p:cNvPr id="18" name="Image 2" descr="preencoded.png"/>
          <p:cNvPicPr>
            <a:picLocks noChangeAspect="1"/>
          </p:cNvPicPr>
          <p:nvPr/>
        </p:nvPicPr>
        <p:blipFill>
          <a:blip r:embed="rId5"/>
          <a:stretch>
            <a:fillRect/>
          </a:stretch>
        </p:blipFill>
        <p:spPr>
          <a:xfrm>
            <a:off x="731520" y="3630168"/>
            <a:ext cx="365760" cy="365760"/>
          </a:xfrm>
          <a:prstGeom prst="rect">
            <a:avLst/>
          </a:prstGeom>
        </p:spPr>
      </p:pic>
      <p:sp>
        <p:nvSpPr>
          <p:cNvPr id="19" name="Text 14"/>
          <p:cNvSpPr/>
          <p:nvPr/>
        </p:nvSpPr>
        <p:spPr>
          <a:xfrm>
            <a:off x="1234440" y="3429000"/>
            <a:ext cx="7223760" cy="777240"/>
          </a:xfrm>
          <a:prstGeom prst="rect">
            <a:avLst/>
          </a:prstGeom>
          <a:noFill/>
          <a:ln/>
        </p:spPr>
        <p:txBody>
          <a:bodyPr wrap="square" lIns="0" tIns="0" rIns="0" bIns="0" rtlCol="0" anchor="ctr"/>
          <a:lstStyle/>
          <a:p>
            <a:pPr marL="0" indent="0">
              <a:buNone/>
            </a:pPr>
            <a:r>
              <a:rPr lang="en-US" sz="1300" b="1" dirty="0">
                <a:latin typeface="Calibri" pitchFamily="34" charset="0"/>
                <a:ea typeface="Calibri" pitchFamily="34" charset="-122"/>
                <a:cs typeface="Calibri" pitchFamily="34" charset="-120"/>
              </a:rPr>
              <a:t>Rule: the OOD branch remains clean — no adversarial or anti-forensic perturbations are ever applied to it.</a:t>
            </a:r>
            <a:endParaRPr lang="en-US" sz="1300" dirty="0"/>
          </a:p>
        </p:txBody>
      </p:sp>
      <p:sp>
        <p:nvSpPr>
          <p:cNvPr id="20" name="Text 15"/>
          <p:cNvSpPr/>
          <p:nvPr/>
        </p:nvSpPr>
        <p:spPr>
          <a:xfrm>
            <a:off x="502920" y="4343400"/>
            <a:ext cx="8138160" cy="365760"/>
          </a:xfrm>
          <a:prstGeom prst="rect">
            <a:avLst/>
          </a:prstGeom>
          <a:noFill/>
          <a:ln/>
        </p:spPr>
        <p:txBody>
          <a:bodyPr wrap="square" lIns="0" tIns="0" rIns="0" bIns="0" rtlCol="0" anchor="ctr"/>
          <a:lstStyle/>
          <a:p>
            <a:pPr marL="0" indent="0">
              <a:buNone/>
            </a:pPr>
            <a:r>
              <a:rPr lang="en-US" sz="1050" i="1" dirty="0">
                <a:solidFill>
                  <a:srgbClr val="5C6B83"/>
                </a:solidFill>
                <a:latin typeface="Calibri" pitchFamily="34" charset="0"/>
                <a:ea typeface="Calibri" pitchFamily="34" charset="-122"/>
                <a:cs typeface="Calibri" pitchFamily="34" charset="-120"/>
              </a:rPr>
              <a:t>Total frozen dataset: 1,500 images  |  Dataset is unchanged across all evaluations  |  Ground truth kept separate from tool outputs until normalization</a:t>
            </a:r>
            <a:endParaRPr lang="en-US" sz="1050" dirty="0"/>
          </a:p>
        </p:txBody>
      </p:sp>
      <p:sp>
        <p:nvSpPr>
          <p:cNvPr id="21" name="Text 16"/>
          <p:cNvSpPr/>
          <p:nvPr/>
        </p:nvSpPr>
        <p:spPr>
          <a:xfrm>
            <a:off x="502920" y="4864608"/>
            <a:ext cx="5486400" cy="228600"/>
          </a:xfrm>
          <a:prstGeom prst="rect">
            <a:avLst/>
          </a:prstGeom>
          <a:noFill/>
          <a:ln/>
        </p:spPr>
        <p:txBody>
          <a:bodyPr wrap="square" lIns="0" tIns="0" rIns="0" bIns="0" rtlCol="0" anchor="ctr"/>
          <a:lstStyle/>
          <a:p>
            <a:pPr marL="0" indent="0">
              <a:buNone/>
            </a:pPr>
            <a:r>
              <a:rPr lang="en-US" sz="900" dirty="0">
                <a:solidFill>
                  <a:srgbClr val="5C6B83"/>
                </a:solidFill>
                <a:latin typeface="Calibri" pitchFamily="34" charset="0"/>
                <a:ea typeface="Calibri" pitchFamily="34" charset="-122"/>
                <a:cs typeface="Calibri" pitchFamily="34" charset="-120"/>
              </a:rPr>
              <a:t>Robustness of AI-Based Forensic Tools  |  Lello Molinario</a:t>
            </a:r>
            <a:endParaRPr lang="en-US" sz="900" dirty="0"/>
          </a:p>
        </p:txBody>
      </p:sp>
      <p:sp>
        <p:nvSpPr>
          <p:cNvPr id="22" name="Text 17"/>
          <p:cNvSpPr/>
          <p:nvPr/>
        </p:nvSpPr>
        <p:spPr>
          <a:xfrm>
            <a:off x="8732520" y="4864608"/>
            <a:ext cx="365760" cy="228600"/>
          </a:xfrm>
          <a:prstGeom prst="rect">
            <a:avLst/>
          </a:prstGeom>
          <a:noFill/>
          <a:ln/>
        </p:spPr>
        <p:txBody>
          <a:bodyPr wrap="square" lIns="0" tIns="0" rIns="0" bIns="0" rtlCol="0" anchor="ctr"/>
          <a:lstStyle/>
          <a:p>
            <a:pPr marL="0" indent="0" algn="r">
              <a:buNone/>
            </a:pPr>
            <a:r>
              <a:rPr lang="en-US" sz="900" dirty="0">
                <a:solidFill>
                  <a:srgbClr val="5C6B8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marL="0" indent="0">
              <a:buNone/>
            </a:pPr>
            <a:r>
              <a:rPr lang="en-US" sz="1250" b="1" kern="0" spc="200" dirty="0">
                <a:solidFill>
                  <a:srgbClr val="0E8A8A"/>
                </a:solidFill>
                <a:latin typeface="Calibri" pitchFamily="34" charset="0"/>
                <a:ea typeface="Calibri" pitchFamily="34" charset="-122"/>
                <a:cs typeface="Calibri" pitchFamily="34" charset="-120"/>
              </a:rPr>
              <a:t>METHODOLOGY</a:t>
            </a:r>
            <a:endParaRPr lang="en-US" sz="125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2700" b="1" dirty="0">
                <a:solidFill>
                  <a:srgbClr val="0A1F3D"/>
                </a:solidFill>
                <a:latin typeface="Cambria" pitchFamily="34" charset="0"/>
                <a:ea typeface="Cambria" pitchFamily="34" charset="-122"/>
                <a:cs typeface="Cambria" pitchFamily="34" charset="-120"/>
              </a:rPr>
              <a:t>Experimental Protocol</a:t>
            </a:r>
            <a:endParaRPr lang="en-US" sz="2700" dirty="0"/>
          </a:p>
        </p:txBody>
      </p:sp>
      <p:sp>
        <p:nvSpPr>
          <p:cNvPr id="4" name="Shape 2"/>
          <p:cNvSpPr/>
          <p:nvPr/>
        </p:nvSpPr>
        <p:spPr>
          <a:xfrm>
            <a:off x="333756" y="1508760"/>
            <a:ext cx="1298448" cy="1874520"/>
          </a:xfrm>
          <a:prstGeom prst="roundRect">
            <a:avLst>
              <a:gd name="adj" fmla="val 6338"/>
            </a:avLst>
          </a:prstGeom>
          <a:solidFill>
            <a:srgbClr val="F3F6FA"/>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sp>
        <p:nvSpPr>
          <p:cNvPr id="5" name="Shape 3"/>
          <p:cNvSpPr/>
          <p:nvPr/>
        </p:nvSpPr>
        <p:spPr>
          <a:xfrm>
            <a:off x="781812" y="1645920"/>
            <a:ext cx="402336" cy="402336"/>
          </a:xfrm>
          <a:prstGeom prst="ellipse">
            <a:avLst/>
          </a:prstGeom>
          <a:solidFill>
            <a:srgbClr val="0A1F3D"/>
          </a:solidFill>
          <a:ln/>
        </p:spPr>
        <p:txBody>
          <a:bodyPr/>
          <a:lstStyle/>
          <a:p>
            <a:endParaRPr lang="it-IT"/>
          </a:p>
        </p:txBody>
      </p:sp>
      <p:sp>
        <p:nvSpPr>
          <p:cNvPr id="6" name="Text 4"/>
          <p:cNvSpPr/>
          <p:nvPr/>
        </p:nvSpPr>
        <p:spPr>
          <a:xfrm>
            <a:off x="781812" y="164592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388620" y="2167128"/>
            <a:ext cx="1188720" cy="1097280"/>
          </a:xfrm>
          <a:prstGeom prst="rect">
            <a:avLst/>
          </a:prstGeom>
          <a:noFill/>
          <a:ln/>
        </p:spPr>
        <p:txBody>
          <a:bodyPr wrap="square" lIns="0" tIns="0" rIns="0" bIns="0" rtlCol="0" anchor="t"/>
          <a:lstStyle/>
          <a:p>
            <a:pPr marL="0" indent="0" algn="ctr">
              <a:lnSpc>
                <a:spcPct val="115000"/>
              </a:lnSpc>
              <a:buNone/>
            </a:pPr>
            <a:r>
              <a:rPr lang="en-US" sz="1000" b="1" dirty="0">
                <a:solidFill>
                  <a:srgbClr val="1C2B42"/>
                </a:solidFill>
                <a:latin typeface="Calibri" pitchFamily="34" charset="0"/>
                <a:ea typeface="Calibri" pitchFamily="34" charset="-122"/>
                <a:cs typeface="Calibri" pitchFamily="34" charset="-120"/>
              </a:rPr>
              <a:t>Build frozen</a:t>
            </a:r>
            <a:endParaRPr lang="en-US" sz="1000" dirty="0"/>
          </a:p>
          <a:p>
            <a:pPr marL="0" indent="0" algn="ctr">
              <a:lnSpc>
                <a:spcPct val="115000"/>
              </a:lnSpc>
              <a:buNone/>
            </a:pPr>
            <a:r>
              <a:rPr lang="en-US" sz="1000" b="1" dirty="0">
                <a:solidFill>
                  <a:srgbClr val="1C2B42"/>
                </a:solidFill>
                <a:latin typeface="Calibri" pitchFamily="34" charset="0"/>
                <a:ea typeface="Calibri" pitchFamily="34" charset="-122"/>
                <a:cs typeface="Calibri" pitchFamily="34" charset="-120"/>
              </a:rPr>
              <a:t>evaluation bundle</a:t>
            </a:r>
            <a:endParaRPr lang="en-US" sz="1000" dirty="0"/>
          </a:p>
        </p:txBody>
      </p:sp>
      <p:sp>
        <p:nvSpPr>
          <p:cNvPr id="8" name="Shape 6"/>
          <p:cNvSpPr/>
          <p:nvPr/>
        </p:nvSpPr>
        <p:spPr>
          <a:xfrm>
            <a:off x="1632204" y="2382012"/>
            <a:ext cx="118872" cy="128016"/>
          </a:xfrm>
          <a:prstGeom prst="rightArrow">
            <a:avLst/>
          </a:prstGeom>
          <a:solidFill>
            <a:srgbClr val="C6D2E3"/>
          </a:solidFill>
          <a:ln/>
        </p:spPr>
        <p:txBody>
          <a:bodyPr/>
          <a:lstStyle/>
          <a:p>
            <a:endParaRPr lang="it-IT"/>
          </a:p>
        </p:txBody>
      </p:sp>
      <p:sp>
        <p:nvSpPr>
          <p:cNvPr id="9" name="Shape 7"/>
          <p:cNvSpPr/>
          <p:nvPr/>
        </p:nvSpPr>
        <p:spPr>
          <a:xfrm>
            <a:off x="1769364" y="1508760"/>
            <a:ext cx="1298448" cy="1874520"/>
          </a:xfrm>
          <a:prstGeom prst="roundRect">
            <a:avLst>
              <a:gd name="adj" fmla="val 6338"/>
            </a:avLst>
          </a:prstGeom>
          <a:solidFill>
            <a:srgbClr val="F3F6FA"/>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sp>
        <p:nvSpPr>
          <p:cNvPr id="10" name="Shape 8"/>
          <p:cNvSpPr/>
          <p:nvPr/>
        </p:nvSpPr>
        <p:spPr>
          <a:xfrm>
            <a:off x="2217420" y="1645920"/>
            <a:ext cx="402336" cy="402336"/>
          </a:xfrm>
          <a:prstGeom prst="ellipse">
            <a:avLst/>
          </a:prstGeom>
          <a:solidFill>
            <a:srgbClr val="0A1F3D"/>
          </a:solidFill>
          <a:ln/>
        </p:spPr>
        <p:txBody>
          <a:bodyPr/>
          <a:lstStyle/>
          <a:p>
            <a:endParaRPr lang="it-IT"/>
          </a:p>
        </p:txBody>
      </p:sp>
      <p:sp>
        <p:nvSpPr>
          <p:cNvPr id="11" name="Text 9"/>
          <p:cNvSpPr/>
          <p:nvPr/>
        </p:nvSpPr>
        <p:spPr>
          <a:xfrm>
            <a:off x="2217420" y="164592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1824228" y="2167128"/>
            <a:ext cx="1188720" cy="1097280"/>
          </a:xfrm>
          <a:prstGeom prst="rect">
            <a:avLst/>
          </a:prstGeom>
          <a:noFill/>
          <a:ln/>
        </p:spPr>
        <p:txBody>
          <a:bodyPr wrap="square" lIns="0" tIns="0" rIns="0" bIns="0" rtlCol="0" anchor="t"/>
          <a:lstStyle/>
          <a:p>
            <a:pPr marL="0" indent="0" algn="ctr">
              <a:lnSpc>
                <a:spcPct val="115000"/>
              </a:lnSpc>
              <a:buNone/>
            </a:pPr>
            <a:r>
              <a:rPr lang="en-US" sz="1000" b="1" dirty="0">
                <a:solidFill>
                  <a:srgbClr val="1C2B42"/>
                </a:solidFill>
                <a:latin typeface="Calibri" pitchFamily="34" charset="0"/>
                <a:ea typeface="Calibri" pitchFamily="34" charset="-122"/>
                <a:cs typeface="Calibri" pitchFamily="34" charset="-120"/>
              </a:rPr>
              <a:t>Evaluate clean binary</a:t>
            </a:r>
            <a:endParaRPr lang="en-US" sz="1000" dirty="0"/>
          </a:p>
          <a:p>
            <a:pPr marL="0" indent="0" algn="ctr">
              <a:lnSpc>
                <a:spcPct val="115000"/>
              </a:lnSpc>
              <a:buNone/>
            </a:pPr>
            <a:r>
              <a:rPr lang="en-US" sz="1000" b="1" dirty="0">
                <a:solidFill>
                  <a:srgbClr val="1C2B42"/>
                </a:solidFill>
                <a:latin typeface="Calibri" pitchFamily="34" charset="0"/>
                <a:ea typeface="Calibri" pitchFamily="34" charset="-122"/>
                <a:cs typeface="Calibri" pitchFamily="34" charset="-120"/>
              </a:rPr>
              <a:t>&amp; OOD branches</a:t>
            </a:r>
            <a:endParaRPr lang="en-US" sz="1000" dirty="0"/>
          </a:p>
        </p:txBody>
      </p:sp>
      <p:sp>
        <p:nvSpPr>
          <p:cNvPr id="13" name="Shape 11"/>
          <p:cNvSpPr/>
          <p:nvPr/>
        </p:nvSpPr>
        <p:spPr>
          <a:xfrm>
            <a:off x="3067812" y="2382012"/>
            <a:ext cx="118872" cy="128016"/>
          </a:xfrm>
          <a:prstGeom prst="rightArrow">
            <a:avLst/>
          </a:prstGeom>
          <a:solidFill>
            <a:srgbClr val="C6D2E3"/>
          </a:solidFill>
          <a:ln/>
        </p:spPr>
        <p:txBody>
          <a:bodyPr/>
          <a:lstStyle/>
          <a:p>
            <a:endParaRPr lang="it-IT"/>
          </a:p>
        </p:txBody>
      </p:sp>
      <p:sp>
        <p:nvSpPr>
          <p:cNvPr id="14" name="Shape 12"/>
          <p:cNvSpPr/>
          <p:nvPr/>
        </p:nvSpPr>
        <p:spPr>
          <a:xfrm>
            <a:off x="3204972" y="1508760"/>
            <a:ext cx="1298448" cy="1874520"/>
          </a:xfrm>
          <a:prstGeom prst="roundRect">
            <a:avLst>
              <a:gd name="adj" fmla="val 6338"/>
            </a:avLst>
          </a:prstGeom>
          <a:solidFill>
            <a:srgbClr val="F3F6FA"/>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sp>
        <p:nvSpPr>
          <p:cNvPr id="15" name="Shape 13"/>
          <p:cNvSpPr/>
          <p:nvPr/>
        </p:nvSpPr>
        <p:spPr>
          <a:xfrm>
            <a:off x="3653028" y="1645920"/>
            <a:ext cx="402336" cy="402336"/>
          </a:xfrm>
          <a:prstGeom prst="ellipse">
            <a:avLst/>
          </a:prstGeom>
          <a:solidFill>
            <a:srgbClr val="0A1F3D"/>
          </a:solidFill>
          <a:ln/>
        </p:spPr>
        <p:txBody>
          <a:bodyPr/>
          <a:lstStyle/>
          <a:p>
            <a:endParaRPr lang="it-IT"/>
          </a:p>
        </p:txBody>
      </p:sp>
      <p:sp>
        <p:nvSpPr>
          <p:cNvPr id="16" name="Text 14"/>
          <p:cNvSpPr/>
          <p:nvPr/>
        </p:nvSpPr>
        <p:spPr>
          <a:xfrm>
            <a:off x="3653028" y="164592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3259836" y="2167128"/>
            <a:ext cx="1188720" cy="1097280"/>
          </a:xfrm>
          <a:prstGeom prst="rect">
            <a:avLst/>
          </a:prstGeom>
          <a:noFill/>
          <a:ln/>
        </p:spPr>
        <p:txBody>
          <a:bodyPr wrap="square" lIns="0" tIns="0" rIns="0" bIns="0" rtlCol="0" anchor="t"/>
          <a:lstStyle/>
          <a:p>
            <a:pPr marL="0" indent="0" algn="ctr">
              <a:lnSpc>
                <a:spcPct val="115000"/>
              </a:lnSpc>
              <a:buNone/>
            </a:pPr>
            <a:r>
              <a:rPr lang="en-US" sz="1000" b="1" dirty="0">
                <a:solidFill>
                  <a:srgbClr val="1C2B42"/>
                </a:solidFill>
                <a:latin typeface="Calibri" pitchFamily="34" charset="0"/>
                <a:ea typeface="Calibri" pitchFamily="34" charset="-122"/>
                <a:cs typeface="Calibri" pitchFamily="34" charset="-120"/>
              </a:rPr>
              <a:t>Run proxy models &amp;</a:t>
            </a:r>
            <a:endParaRPr lang="en-US" sz="1000" dirty="0"/>
          </a:p>
          <a:p>
            <a:pPr marL="0" indent="0" algn="ctr">
              <a:lnSpc>
                <a:spcPct val="115000"/>
              </a:lnSpc>
              <a:buNone/>
            </a:pPr>
            <a:r>
              <a:rPr lang="en-US" sz="1000" b="1" dirty="0">
                <a:solidFill>
                  <a:srgbClr val="1C2B42"/>
                </a:solidFill>
                <a:latin typeface="Calibri" pitchFamily="34" charset="0"/>
                <a:ea typeface="Calibri" pitchFamily="34" charset="-122"/>
                <a:cs typeface="Calibri" pitchFamily="34" charset="-120"/>
              </a:rPr>
              <a:t>commercial tools</a:t>
            </a:r>
            <a:endParaRPr lang="en-US" sz="1000" dirty="0"/>
          </a:p>
        </p:txBody>
      </p:sp>
      <p:sp>
        <p:nvSpPr>
          <p:cNvPr id="18" name="Shape 16"/>
          <p:cNvSpPr/>
          <p:nvPr/>
        </p:nvSpPr>
        <p:spPr>
          <a:xfrm>
            <a:off x="4503420" y="2382012"/>
            <a:ext cx="118872" cy="128016"/>
          </a:xfrm>
          <a:prstGeom prst="rightArrow">
            <a:avLst/>
          </a:prstGeom>
          <a:solidFill>
            <a:srgbClr val="C6D2E3"/>
          </a:solidFill>
          <a:ln/>
        </p:spPr>
        <p:txBody>
          <a:bodyPr/>
          <a:lstStyle/>
          <a:p>
            <a:endParaRPr lang="it-IT"/>
          </a:p>
        </p:txBody>
      </p:sp>
      <p:sp>
        <p:nvSpPr>
          <p:cNvPr id="19" name="Shape 17"/>
          <p:cNvSpPr/>
          <p:nvPr/>
        </p:nvSpPr>
        <p:spPr>
          <a:xfrm>
            <a:off x="4640580" y="1508760"/>
            <a:ext cx="1298448" cy="1874520"/>
          </a:xfrm>
          <a:prstGeom prst="roundRect">
            <a:avLst>
              <a:gd name="adj" fmla="val 6338"/>
            </a:avLst>
          </a:prstGeom>
          <a:solidFill>
            <a:srgbClr val="F3F6FA"/>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sp>
        <p:nvSpPr>
          <p:cNvPr id="20" name="Shape 18"/>
          <p:cNvSpPr/>
          <p:nvPr/>
        </p:nvSpPr>
        <p:spPr>
          <a:xfrm>
            <a:off x="5088636" y="1645920"/>
            <a:ext cx="402336" cy="402336"/>
          </a:xfrm>
          <a:prstGeom prst="ellipse">
            <a:avLst/>
          </a:prstGeom>
          <a:solidFill>
            <a:srgbClr val="0A1F3D"/>
          </a:solidFill>
          <a:ln/>
        </p:spPr>
        <p:txBody>
          <a:bodyPr/>
          <a:lstStyle/>
          <a:p>
            <a:endParaRPr lang="it-IT"/>
          </a:p>
        </p:txBody>
      </p:sp>
      <p:sp>
        <p:nvSpPr>
          <p:cNvPr id="21" name="Text 19"/>
          <p:cNvSpPr/>
          <p:nvPr/>
        </p:nvSpPr>
        <p:spPr>
          <a:xfrm>
            <a:off x="5088636" y="164592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4695444" y="2167128"/>
            <a:ext cx="1188720" cy="1097280"/>
          </a:xfrm>
          <a:prstGeom prst="rect">
            <a:avLst/>
          </a:prstGeom>
          <a:noFill/>
          <a:ln/>
        </p:spPr>
        <p:txBody>
          <a:bodyPr wrap="square" lIns="0" tIns="0" rIns="0" bIns="0" rtlCol="0" anchor="t"/>
          <a:lstStyle/>
          <a:p>
            <a:pPr marL="0" indent="0" algn="ctr">
              <a:lnSpc>
                <a:spcPct val="115000"/>
              </a:lnSpc>
              <a:buNone/>
            </a:pPr>
            <a:r>
              <a:rPr lang="en-US" sz="1000" b="1" dirty="0">
                <a:solidFill>
                  <a:srgbClr val="1C2B42"/>
                </a:solidFill>
                <a:latin typeface="Calibri" pitchFamily="34" charset="0"/>
                <a:ea typeface="Calibri" pitchFamily="34" charset="-122"/>
                <a:cs typeface="Calibri" pitchFamily="34" charset="-120"/>
              </a:rPr>
              <a:t>Generate perturbations</a:t>
            </a:r>
            <a:endParaRPr lang="en-US" sz="1000" dirty="0"/>
          </a:p>
          <a:p>
            <a:pPr marL="0" indent="0" algn="ctr">
              <a:lnSpc>
                <a:spcPct val="115000"/>
              </a:lnSpc>
              <a:buNone/>
            </a:pPr>
            <a:r>
              <a:rPr lang="en-US" sz="1000" b="1" dirty="0">
                <a:solidFill>
                  <a:srgbClr val="1C2B42"/>
                </a:solidFill>
                <a:latin typeface="Calibri" pitchFamily="34" charset="0"/>
                <a:ea typeface="Calibri" pitchFamily="34" charset="-122"/>
                <a:cs typeface="Calibri" pitchFamily="34" charset="-120"/>
              </a:rPr>
              <a:t>(binary subset only)</a:t>
            </a:r>
            <a:endParaRPr lang="en-US" sz="1000" dirty="0"/>
          </a:p>
        </p:txBody>
      </p:sp>
      <p:sp>
        <p:nvSpPr>
          <p:cNvPr id="23" name="Shape 21"/>
          <p:cNvSpPr/>
          <p:nvPr/>
        </p:nvSpPr>
        <p:spPr>
          <a:xfrm>
            <a:off x="5939028" y="2382012"/>
            <a:ext cx="118872" cy="128016"/>
          </a:xfrm>
          <a:prstGeom prst="rightArrow">
            <a:avLst/>
          </a:prstGeom>
          <a:solidFill>
            <a:srgbClr val="C6D2E3"/>
          </a:solidFill>
          <a:ln/>
        </p:spPr>
        <p:txBody>
          <a:bodyPr/>
          <a:lstStyle/>
          <a:p>
            <a:endParaRPr lang="it-IT"/>
          </a:p>
        </p:txBody>
      </p:sp>
      <p:sp>
        <p:nvSpPr>
          <p:cNvPr id="24" name="Shape 22"/>
          <p:cNvSpPr/>
          <p:nvPr/>
        </p:nvSpPr>
        <p:spPr>
          <a:xfrm>
            <a:off x="6076188" y="1508760"/>
            <a:ext cx="1298448" cy="1874520"/>
          </a:xfrm>
          <a:prstGeom prst="roundRect">
            <a:avLst>
              <a:gd name="adj" fmla="val 6338"/>
            </a:avLst>
          </a:prstGeom>
          <a:solidFill>
            <a:srgbClr val="F3F6FA"/>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sp>
        <p:nvSpPr>
          <p:cNvPr id="25" name="Shape 23"/>
          <p:cNvSpPr/>
          <p:nvPr/>
        </p:nvSpPr>
        <p:spPr>
          <a:xfrm>
            <a:off x="6524244" y="1645920"/>
            <a:ext cx="402336" cy="402336"/>
          </a:xfrm>
          <a:prstGeom prst="ellipse">
            <a:avLst/>
          </a:prstGeom>
          <a:solidFill>
            <a:srgbClr val="0A1F3D"/>
          </a:solidFill>
          <a:ln/>
        </p:spPr>
        <p:txBody>
          <a:bodyPr/>
          <a:lstStyle/>
          <a:p>
            <a:endParaRPr lang="it-IT"/>
          </a:p>
        </p:txBody>
      </p:sp>
      <p:sp>
        <p:nvSpPr>
          <p:cNvPr id="26" name="Text 24"/>
          <p:cNvSpPr/>
          <p:nvPr/>
        </p:nvSpPr>
        <p:spPr>
          <a:xfrm>
            <a:off x="6524244" y="164592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6131052" y="2167128"/>
            <a:ext cx="1188720" cy="1097280"/>
          </a:xfrm>
          <a:prstGeom prst="rect">
            <a:avLst/>
          </a:prstGeom>
          <a:noFill/>
          <a:ln/>
        </p:spPr>
        <p:txBody>
          <a:bodyPr wrap="square" lIns="0" tIns="0" rIns="0" bIns="0" rtlCol="0" anchor="t"/>
          <a:lstStyle/>
          <a:p>
            <a:pPr marL="0" indent="0" algn="ctr">
              <a:lnSpc>
                <a:spcPct val="115000"/>
              </a:lnSpc>
              <a:buNone/>
            </a:pPr>
            <a:r>
              <a:rPr lang="en-US" sz="1000" b="1" dirty="0">
                <a:solidFill>
                  <a:srgbClr val="1C2B42"/>
                </a:solidFill>
                <a:latin typeface="Calibri" pitchFamily="34" charset="0"/>
                <a:ea typeface="Calibri" pitchFamily="34" charset="-122"/>
                <a:cs typeface="Calibri" pitchFamily="34" charset="-120"/>
              </a:rPr>
              <a:t>Normalize outputs</a:t>
            </a:r>
            <a:endParaRPr lang="en-US" sz="1000" dirty="0"/>
          </a:p>
          <a:p>
            <a:pPr marL="0" indent="0" algn="ctr">
              <a:lnSpc>
                <a:spcPct val="115000"/>
              </a:lnSpc>
              <a:buNone/>
            </a:pPr>
            <a:r>
              <a:rPr lang="en-US" sz="1000" b="1" dirty="0">
                <a:solidFill>
                  <a:srgbClr val="1C2B42"/>
                </a:solidFill>
                <a:latin typeface="Calibri" pitchFamily="34" charset="0"/>
                <a:ea typeface="Calibri" pitchFamily="34" charset="-122"/>
                <a:cs typeface="Calibri" pitchFamily="34" charset="-120"/>
              </a:rPr>
              <a:t>TP/FP/FN/TN/Unknown</a:t>
            </a:r>
            <a:endParaRPr lang="en-US" sz="1000" dirty="0"/>
          </a:p>
        </p:txBody>
      </p:sp>
      <p:sp>
        <p:nvSpPr>
          <p:cNvPr id="28" name="Shape 26"/>
          <p:cNvSpPr/>
          <p:nvPr/>
        </p:nvSpPr>
        <p:spPr>
          <a:xfrm>
            <a:off x="7374636" y="2382012"/>
            <a:ext cx="118872" cy="128016"/>
          </a:xfrm>
          <a:prstGeom prst="rightArrow">
            <a:avLst/>
          </a:prstGeom>
          <a:solidFill>
            <a:srgbClr val="C6D2E3"/>
          </a:solidFill>
          <a:ln/>
        </p:spPr>
        <p:txBody>
          <a:bodyPr/>
          <a:lstStyle/>
          <a:p>
            <a:endParaRPr lang="it-IT"/>
          </a:p>
        </p:txBody>
      </p:sp>
      <p:sp>
        <p:nvSpPr>
          <p:cNvPr id="29" name="Shape 27"/>
          <p:cNvSpPr/>
          <p:nvPr/>
        </p:nvSpPr>
        <p:spPr>
          <a:xfrm>
            <a:off x="7511796" y="1508760"/>
            <a:ext cx="1298448" cy="1874520"/>
          </a:xfrm>
          <a:prstGeom prst="roundRect">
            <a:avLst>
              <a:gd name="adj" fmla="val 6338"/>
            </a:avLst>
          </a:prstGeom>
          <a:solidFill>
            <a:srgbClr val="0A1F3D"/>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sp>
        <p:nvSpPr>
          <p:cNvPr id="30" name="Shape 28"/>
          <p:cNvSpPr/>
          <p:nvPr/>
        </p:nvSpPr>
        <p:spPr>
          <a:xfrm>
            <a:off x="7959852" y="1645920"/>
            <a:ext cx="402336" cy="402336"/>
          </a:xfrm>
          <a:prstGeom prst="ellipse">
            <a:avLst/>
          </a:prstGeom>
          <a:solidFill>
            <a:srgbClr val="0E8A8A"/>
          </a:solidFill>
          <a:ln/>
        </p:spPr>
        <p:txBody>
          <a:bodyPr/>
          <a:lstStyle/>
          <a:p>
            <a:endParaRPr lang="it-IT"/>
          </a:p>
        </p:txBody>
      </p:sp>
      <p:sp>
        <p:nvSpPr>
          <p:cNvPr id="31" name="Text 29"/>
          <p:cNvSpPr/>
          <p:nvPr/>
        </p:nvSpPr>
        <p:spPr>
          <a:xfrm>
            <a:off x="7959852" y="164592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2" name="Text 30"/>
          <p:cNvSpPr/>
          <p:nvPr/>
        </p:nvSpPr>
        <p:spPr>
          <a:xfrm>
            <a:off x="7566660" y="2167128"/>
            <a:ext cx="1188720" cy="1097280"/>
          </a:xfrm>
          <a:prstGeom prst="rect">
            <a:avLst/>
          </a:prstGeom>
          <a:noFill/>
          <a:ln/>
        </p:spPr>
        <p:txBody>
          <a:bodyPr wrap="square" lIns="0" tIns="0" rIns="0" bIns="0" rtlCol="0" anchor="t"/>
          <a:lstStyle/>
          <a:p>
            <a:pPr marL="0" indent="0" algn="ctr">
              <a:lnSpc>
                <a:spcPct val="115000"/>
              </a:lnSpc>
              <a:buNone/>
            </a:pPr>
            <a:r>
              <a:rPr lang="en-US" sz="1000" b="1" dirty="0">
                <a:solidFill>
                  <a:srgbClr val="FFFFFF"/>
                </a:solidFill>
                <a:latin typeface="Calibri" pitchFamily="34" charset="0"/>
                <a:ea typeface="Calibri" pitchFamily="34" charset="-122"/>
                <a:cs typeface="Calibri" pitchFamily="34" charset="-120"/>
              </a:rPr>
              <a:t>Metrics, XAI,</a:t>
            </a:r>
            <a:endParaRPr lang="en-US" sz="1000" dirty="0"/>
          </a:p>
          <a:p>
            <a:pPr marL="0" indent="0" algn="ctr">
              <a:lnSpc>
                <a:spcPct val="115000"/>
              </a:lnSpc>
              <a:buNone/>
            </a:pPr>
            <a:r>
              <a:rPr lang="en-US" sz="1000" b="1" dirty="0">
                <a:solidFill>
                  <a:srgbClr val="FFFFFF"/>
                </a:solidFill>
                <a:latin typeface="Calibri" pitchFamily="34" charset="0"/>
                <a:ea typeface="Calibri" pitchFamily="34" charset="-122"/>
                <a:cs typeface="Calibri" pitchFamily="34" charset="-120"/>
              </a:rPr>
              <a:t>traceability, risk</a:t>
            </a:r>
            <a:endParaRPr lang="en-US" sz="1000" dirty="0"/>
          </a:p>
        </p:txBody>
      </p:sp>
      <p:sp>
        <p:nvSpPr>
          <p:cNvPr id="33" name="Shape 31"/>
          <p:cNvSpPr/>
          <p:nvPr/>
        </p:nvSpPr>
        <p:spPr>
          <a:xfrm>
            <a:off x="502920" y="3703320"/>
            <a:ext cx="8138160" cy="777240"/>
          </a:xfrm>
          <a:prstGeom prst="roundRect">
            <a:avLst>
              <a:gd name="adj" fmla="val 10588"/>
            </a:avLst>
          </a:prstGeom>
          <a:solidFill>
            <a:srgbClr val="E3F3F2"/>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34" name="Text 32"/>
          <p:cNvSpPr/>
          <p:nvPr/>
        </p:nvSpPr>
        <p:spPr>
          <a:xfrm>
            <a:off x="731520" y="3703320"/>
            <a:ext cx="7680960" cy="777240"/>
          </a:xfrm>
          <a:prstGeom prst="rect">
            <a:avLst/>
          </a:prstGeom>
          <a:noFill/>
          <a:ln/>
        </p:spPr>
        <p:txBody>
          <a:bodyPr wrap="square" lIns="0" tIns="0" rIns="0" bIns="0" rtlCol="0" anchor="ctr"/>
          <a:lstStyle/>
          <a:p>
            <a:pPr marL="0" indent="0">
              <a:buNone/>
            </a:pPr>
            <a:r>
              <a:rPr lang="en-US" sz="1300" i="1" dirty="0">
                <a:solidFill>
                  <a:srgbClr val="0A1F3D"/>
                </a:solidFill>
                <a:latin typeface="Calibri" pitchFamily="34" charset="0"/>
                <a:ea typeface="Calibri" pitchFamily="34" charset="-122"/>
                <a:cs typeface="Calibri" pitchFamily="34" charset="-120"/>
              </a:rPr>
              <a:t>The protocol makes heterogeneous systems comparable through controlled inputs and normalized outputs.</a:t>
            </a:r>
            <a:endParaRPr lang="en-US" sz="1300" dirty="0"/>
          </a:p>
        </p:txBody>
      </p:sp>
      <p:sp>
        <p:nvSpPr>
          <p:cNvPr id="35" name="Text 33"/>
          <p:cNvSpPr/>
          <p:nvPr/>
        </p:nvSpPr>
        <p:spPr>
          <a:xfrm>
            <a:off x="502920" y="4864608"/>
            <a:ext cx="5486400" cy="228600"/>
          </a:xfrm>
          <a:prstGeom prst="rect">
            <a:avLst/>
          </a:prstGeom>
          <a:noFill/>
          <a:ln/>
        </p:spPr>
        <p:txBody>
          <a:bodyPr wrap="square" lIns="0" tIns="0" rIns="0" bIns="0" rtlCol="0" anchor="ctr"/>
          <a:lstStyle/>
          <a:p>
            <a:pPr marL="0" indent="0">
              <a:buNone/>
            </a:pPr>
            <a:r>
              <a:rPr lang="en-US" sz="900" dirty="0">
                <a:solidFill>
                  <a:srgbClr val="5C6B83"/>
                </a:solidFill>
                <a:latin typeface="Calibri" pitchFamily="34" charset="0"/>
                <a:ea typeface="Calibri" pitchFamily="34" charset="-122"/>
                <a:cs typeface="Calibri" pitchFamily="34" charset="-120"/>
              </a:rPr>
              <a:t>Robustness of AI-Based Forensic Tools  |  Lello Molinario</a:t>
            </a:r>
            <a:endParaRPr lang="en-US" sz="900" dirty="0"/>
          </a:p>
        </p:txBody>
      </p:sp>
      <p:sp>
        <p:nvSpPr>
          <p:cNvPr id="36" name="Text 34"/>
          <p:cNvSpPr/>
          <p:nvPr/>
        </p:nvSpPr>
        <p:spPr>
          <a:xfrm>
            <a:off x="8732520" y="4864608"/>
            <a:ext cx="365760" cy="228600"/>
          </a:xfrm>
          <a:prstGeom prst="rect">
            <a:avLst/>
          </a:prstGeom>
          <a:noFill/>
          <a:ln/>
        </p:spPr>
        <p:txBody>
          <a:bodyPr wrap="square" lIns="0" tIns="0" rIns="0" bIns="0" rtlCol="0" anchor="ctr"/>
          <a:lstStyle/>
          <a:p>
            <a:pPr marL="0" indent="0" algn="r">
              <a:buNone/>
            </a:pPr>
            <a:r>
              <a:rPr lang="en-US" sz="900" dirty="0">
                <a:solidFill>
                  <a:srgbClr val="5C6B8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marL="0" indent="0">
              <a:buNone/>
            </a:pPr>
            <a:r>
              <a:rPr lang="en-US" sz="1250" b="1" kern="0" spc="200" dirty="0">
                <a:solidFill>
                  <a:srgbClr val="0E8A8A"/>
                </a:solidFill>
                <a:latin typeface="Calibri" pitchFamily="34" charset="0"/>
                <a:ea typeface="Calibri" pitchFamily="34" charset="-122"/>
                <a:cs typeface="Calibri" pitchFamily="34" charset="-120"/>
              </a:rPr>
              <a:t>THREAT MODEL</a:t>
            </a:r>
            <a:endParaRPr lang="en-US" sz="125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2700" b="1" dirty="0">
                <a:solidFill>
                  <a:srgbClr val="0A1F3D"/>
                </a:solidFill>
                <a:latin typeface="Cambria" pitchFamily="34" charset="0"/>
                <a:ea typeface="Cambria" pitchFamily="34" charset="-122"/>
                <a:cs typeface="Cambria" pitchFamily="34" charset="-120"/>
              </a:rPr>
              <a:t>Perturbation Design</a:t>
            </a:r>
            <a:endParaRPr lang="en-US" sz="2700" dirty="0"/>
          </a:p>
        </p:txBody>
      </p:sp>
      <p:sp>
        <p:nvSpPr>
          <p:cNvPr id="4" name="Shape 2"/>
          <p:cNvSpPr/>
          <p:nvPr/>
        </p:nvSpPr>
        <p:spPr>
          <a:xfrm>
            <a:off x="502920" y="1371600"/>
            <a:ext cx="3794760" cy="2331720"/>
          </a:xfrm>
          <a:prstGeom prst="roundRect">
            <a:avLst>
              <a:gd name="adj" fmla="val 3529"/>
            </a:avLst>
          </a:prstGeom>
          <a:solidFill>
            <a:srgbClr val="E3F3F2"/>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5" name="Shape 3"/>
          <p:cNvSpPr/>
          <p:nvPr/>
        </p:nvSpPr>
        <p:spPr>
          <a:xfrm>
            <a:off x="758952" y="1600200"/>
            <a:ext cx="512064" cy="512064"/>
          </a:xfrm>
          <a:prstGeom prst="ellipse">
            <a:avLst/>
          </a:prstGeom>
          <a:solidFill>
            <a:srgbClr val="0E8A8A"/>
          </a:solidFill>
          <a:ln/>
        </p:spPr>
        <p:txBody>
          <a:bodyPr/>
          <a:lstStyle/>
          <a:p>
            <a:endParaRPr lang="it-IT"/>
          </a:p>
        </p:txBody>
      </p:sp>
      <p:pic>
        <p:nvPicPr>
          <p:cNvPr id="6" name="Image 0" descr="preencoded.png"/>
          <p:cNvPicPr>
            <a:picLocks noChangeAspect="1"/>
          </p:cNvPicPr>
          <p:nvPr/>
        </p:nvPicPr>
        <p:blipFill>
          <a:blip r:embed="rId3"/>
          <a:stretch>
            <a:fillRect/>
          </a:stretch>
        </p:blipFill>
        <p:spPr>
          <a:xfrm>
            <a:off x="825520" y="1666768"/>
            <a:ext cx="378927" cy="378927"/>
          </a:xfrm>
          <a:prstGeom prst="rect">
            <a:avLst/>
          </a:prstGeom>
        </p:spPr>
      </p:pic>
      <p:sp>
        <p:nvSpPr>
          <p:cNvPr id="7" name="Text 4"/>
          <p:cNvSpPr/>
          <p:nvPr/>
        </p:nvSpPr>
        <p:spPr>
          <a:xfrm>
            <a:off x="1417320" y="1664208"/>
            <a:ext cx="2697480" cy="384048"/>
          </a:xfrm>
          <a:prstGeom prst="rect">
            <a:avLst/>
          </a:prstGeom>
          <a:noFill/>
          <a:ln/>
        </p:spPr>
        <p:txBody>
          <a:bodyPr wrap="square" lIns="0" tIns="0" rIns="0" bIns="0" rtlCol="0" anchor="ctr"/>
          <a:lstStyle/>
          <a:p>
            <a:pPr marL="0" indent="0">
              <a:buNone/>
            </a:pPr>
            <a:r>
              <a:rPr lang="en-US" sz="1500" b="1" dirty="0">
                <a:solidFill>
                  <a:srgbClr val="0A1F3D"/>
                </a:solidFill>
                <a:latin typeface="Cambria" pitchFamily="34" charset="0"/>
                <a:ea typeface="Cambria" pitchFamily="34" charset="-122"/>
                <a:cs typeface="Cambria" pitchFamily="34" charset="-120"/>
              </a:rPr>
              <a:t>Adversarial Attacks</a:t>
            </a:r>
            <a:endParaRPr lang="en-US" sz="1500" dirty="0"/>
          </a:p>
        </p:txBody>
      </p:sp>
      <p:sp>
        <p:nvSpPr>
          <p:cNvPr id="8" name="Text 5"/>
          <p:cNvSpPr/>
          <p:nvPr/>
        </p:nvSpPr>
        <p:spPr>
          <a:xfrm>
            <a:off x="777240" y="2194560"/>
            <a:ext cx="3246120" cy="1371600"/>
          </a:xfrm>
          <a:prstGeom prst="rect">
            <a:avLst/>
          </a:prstGeom>
          <a:noFill/>
          <a:ln/>
        </p:spPr>
        <p:txBody>
          <a:bodyPr wrap="square" rtlCol="0" anchor="t"/>
          <a:lstStyle/>
          <a:p>
            <a:pPr marL="342900" indent="-342900">
              <a:spcAft>
                <a:spcPts val="600"/>
              </a:spcAft>
              <a:buSzPct val="100000"/>
              <a:buChar char="–"/>
            </a:pPr>
            <a:r>
              <a:rPr lang="en-US" sz="1250" dirty="0">
                <a:solidFill>
                  <a:srgbClr val="1C2B42"/>
                </a:solidFill>
                <a:latin typeface="Calibri" pitchFamily="34" charset="0"/>
                <a:ea typeface="Calibri" pitchFamily="34" charset="-122"/>
                <a:cs typeface="Calibri" pitchFamily="34" charset="-120"/>
              </a:rPr>
              <a:t>FGSM Iterative gradient-based attacks</a:t>
            </a:r>
            <a:endParaRPr lang="en-US" sz="1250" dirty="0"/>
          </a:p>
          <a:p>
            <a:pPr marL="342900" indent="-342900">
              <a:spcAft>
                <a:spcPts val="600"/>
              </a:spcAft>
              <a:buSzPct val="100000"/>
              <a:buChar char="–"/>
            </a:pPr>
            <a:r>
              <a:rPr lang="en-US" sz="1250" dirty="0">
                <a:solidFill>
                  <a:srgbClr val="1C2B42"/>
                </a:solidFill>
                <a:latin typeface="Calibri" pitchFamily="34" charset="0"/>
                <a:ea typeface="Calibri" pitchFamily="34" charset="-122"/>
                <a:cs typeface="Calibri" pitchFamily="34" charset="-120"/>
              </a:rPr>
              <a:t>One-pixel attack</a:t>
            </a:r>
            <a:endParaRPr lang="en-US" sz="1250" dirty="0"/>
          </a:p>
          <a:p>
            <a:pPr marL="342900" indent="-342900">
              <a:spcAft>
                <a:spcPts val="600"/>
              </a:spcAft>
              <a:buSzPct val="100000"/>
              <a:buChar char="–"/>
            </a:pPr>
            <a:r>
              <a:rPr lang="en-US" sz="1250" dirty="0">
                <a:solidFill>
                  <a:srgbClr val="1C2B42"/>
                </a:solidFill>
                <a:latin typeface="Calibri" pitchFamily="34" charset="0"/>
                <a:ea typeface="Calibri" pitchFamily="34" charset="-122"/>
                <a:cs typeface="Calibri" pitchFamily="34" charset="-120"/>
              </a:rPr>
              <a:t>Sigma Zero Attack</a:t>
            </a:r>
          </a:p>
          <a:p>
            <a:pPr marL="342900" indent="-342900">
              <a:spcAft>
                <a:spcPts val="600"/>
              </a:spcAft>
              <a:buSzPct val="100000"/>
              <a:buChar char="–"/>
            </a:pPr>
            <a:r>
              <a:rPr lang="en-US" sz="1250" dirty="0">
                <a:solidFill>
                  <a:srgbClr val="1C2B42"/>
                </a:solidFill>
                <a:latin typeface="Calibri" pitchFamily="34" charset="0"/>
                <a:ea typeface="Calibri" pitchFamily="34" charset="-122"/>
                <a:cs typeface="Calibri" pitchFamily="34" charset="-120"/>
              </a:rPr>
              <a:t>Super Deel Fool</a:t>
            </a:r>
          </a:p>
          <a:p>
            <a:pPr marL="342900" indent="-342900">
              <a:spcAft>
                <a:spcPts val="600"/>
              </a:spcAft>
              <a:buSzPct val="100000"/>
              <a:buChar char="–"/>
            </a:pPr>
            <a:r>
              <a:rPr lang="en-US" sz="1250" dirty="0"/>
              <a:t>Color Shift </a:t>
            </a:r>
            <a:r>
              <a:rPr lang="en-US" sz="1250" b="1" dirty="0"/>
              <a:t>*</a:t>
            </a:r>
          </a:p>
        </p:txBody>
      </p:sp>
      <p:sp>
        <p:nvSpPr>
          <p:cNvPr id="9" name="Shape 6"/>
          <p:cNvSpPr/>
          <p:nvPr/>
        </p:nvSpPr>
        <p:spPr>
          <a:xfrm>
            <a:off x="4663440" y="1371600"/>
            <a:ext cx="3794760" cy="2331720"/>
          </a:xfrm>
          <a:prstGeom prst="roundRect">
            <a:avLst>
              <a:gd name="adj" fmla="val 3529"/>
            </a:avLst>
          </a:prstGeom>
          <a:solidFill>
            <a:srgbClr val="FBE7DA"/>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10" name="Shape 7"/>
          <p:cNvSpPr/>
          <p:nvPr/>
        </p:nvSpPr>
        <p:spPr>
          <a:xfrm>
            <a:off x="4919472" y="1600200"/>
            <a:ext cx="512064" cy="512064"/>
          </a:xfrm>
          <a:prstGeom prst="ellipse">
            <a:avLst/>
          </a:prstGeom>
          <a:solidFill>
            <a:srgbClr val="E2692C"/>
          </a:solidFill>
          <a:ln/>
        </p:spPr>
        <p:txBody>
          <a:bodyPr/>
          <a:lstStyle/>
          <a:p>
            <a:endParaRPr lang="it-IT"/>
          </a:p>
        </p:txBody>
      </p:sp>
      <p:pic>
        <p:nvPicPr>
          <p:cNvPr id="11" name="Image 1" descr="preencoded.png"/>
          <p:cNvPicPr>
            <a:picLocks noChangeAspect="1"/>
          </p:cNvPicPr>
          <p:nvPr/>
        </p:nvPicPr>
        <p:blipFill>
          <a:blip r:embed="rId4"/>
          <a:stretch>
            <a:fillRect/>
          </a:stretch>
        </p:blipFill>
        <p:spPr>
          <a:xfrm>
            <a:off x="4986040" y="1666768"/>
            <a:ext cx="378927" cy="378927"/>
          </a:xfrm>
          <a:prstGeom prst="rect">
            <a:avLst/>
          </a:prstGeom>
        </p:spPr>
      </p:pic>
      <p:sp>
        <p:nvSpPr>
          <p:cNvPr id="12" name="Text 8"/>
          <p:cNvSpPr/>
          <p:nvPr/>
        </p:nvSpPr>
        <p:spPr>
          <a:xfrm>
            <a:off x="5577840" y="1664208"/>
            <a:ext cx="2743200" cy="384048"/>
          </a:xfrm>
          <a:prstGeom prst="rect">
            <a:avLst/>
          </a:prstGeom>
          <a:noFill/>
          <a:ln/>
        </p:spPr>
        <p:txBody>
          <a:bodyPr wrap="square" lIns="0" tIns="0" rIns="0" bIns="0" rtlCol="0" anchor="ctr"/>
          <a:lstStyle/>
          <a:p>
            <a:pPr marL="0" indent="0">
              <a:buNone/>
            </a:pPr>
            <a:r>
              <a:rPr lang="en-US" sz="1350" b="1" dirty="0">
                <a:solidFill>
                  <a:srgbClr val="0A1F3D"/>
                </a:solidFill>
                <a:latin typeface="Cambria" pitchFamily="34" charset="0"/>
                <a:ea typeface="Cambria" pitchFamily="34" charset="-122"/>
                <a:cs typeface="Cambria" pitchFamily="34" charset="-120"/>
              </a:rPr>
              <a:t>Anti-Forensic Transformations</a:t>
            </a:r>
            <a:endParaRPr lang="en-US" sz="1350" dirty="0"/>
          </a:p>
        </p:txBody>
      </p:sp>
      <p:sp>
        <p:nvSpPr>
          <p:cNvPr id="13" name="Text 9"/>
          <p:cNvSpPr/>
          <p:nvPr/>
        </p:nvSpPr>
        <p:spPr>
          <a:xfrm>
            <a:off x="4937760" y="2194560"/>
            <a:ext cx="3246120" cy="1463040"/>
          </a:xfrm>
          <a:prstGeom prst="rect">
            <a:avLst/>
          </a:prstGeom>
          <a:noFill/>
          <a:ln/>
        </p:spPr>
        <p:txBody>
          <a:bodyPr wrap="square" rtlCol="0" anchor="t"/>
          <a:lstStyle/>
          <a:p>
            <a:pPr marL="342900" indent="-342900">
              <a:spcAft>
                <a:spcPts val="500"/>
              </a:spcAft>
              <a:buSzPct val="100000"/>
              <a:buChar char="–"/>
            </a:pPr>
            <a:r>
              <a:rPr lang="en-US" sz="1250" dirty="0">
                <a:solidFill>
                  <a:srgbClr val="1C2B42"/>
                </a:solidFill>
                <a:latin typeface="Calibri" pitchFamily="34" charset="0"/>
                <a:ea typeface="Calibri" pitchFamily="34" charset="-122"/>
                <a:cs typeface="Calibri" pitchFamily="34" charset="-120"/>
              </a:rPr>
              <a:t>JPEG recompression</a:t>
            </a:r>
            <a:endParaRPr lang="en-US" sz="1250" dirty="0"/>
          </a:p>
          <a:p>
            <a:pPr marL="342900" indent="-342900">
              <a:spcAft>
                <a:spcPts val="500"/>
              </a:spcAft>
              <a:buSzPct val="100000"/>
              <a:buChar char="–"/>
            </a:pPr>
            <a:r>
              <a:rPr lang="en-US" sz="1250" dirty="0">
                <a:solidFill>
                  <a:srgbClr val="1C2B42"/>
                </a:solidFill>
                <a:latin typeface="Calibri" pitchFamily="34" charset="0"/>
                <a:ea typeface="Calibri" pitchFamily="34" charset="-122"/>
                <a:cs typeface="Calibri" pitchFamily="34" charset="-120"/>
              </a:rPr>
              <a:t>Resize / resample</a:t>
            </a:r>
            <a:endParaRPr lang="en-US" sz="1250" dirty="0"/>
          </a:p>
          <a:p>
            <a:pPr marL="342900" indent="-342900">
              <a:spcAft>
                <a:spcPts val="500"/>
              </a:spcAft>
              <a:buSzPct val="100000"/>
              <a:buChar char="–"/>
            </a:pPr>
            <a:r>
              <a:rPr lang="it-IT" sz="1250" dirty="0" err="1">
                <a:solidFill>
                  <a:srgbClr val="1C2B42"/>
                </a:solidFill>
                <a:latin typeface="Calibri" pitchFamily="34" charset="0"/>
                <a:ea typeface="Calibri" pitchFamily="34" charset="-122"/>
                <a:cs typeface="Calibri" pitchFamily="34" charset="-120"/>
              </a:rPr>
              <a:t>Gaussian</a:t>
            </a:r>
            <a:r>
              <a:rPr lang="it-IT" sz="1250" dirty="0">
                <a:solidFill>
                  <a:srgbClr val="1C2B42"/>
                </a:solidFill>
                <a:latin typeface="Calibri" pitchFamily="34" charset="0"/>
                <a:ea typeface="Calibri" pitchFamily="34" charset="-122"/>
                <a:cs typeface="Calibri" pitchFamily="34" charset="-120"/>
              </a:rPr>
              <a:t> Blur</a:t>
            </a:r>
            <a:r>
              <a:rPr lang="en-US" sz="1250" dirty="0">
                <a:solidFill>
                  <a:srgbClr val="1C2B42"/>
                </a:solidFill>
                <a:latin typeface="Calibri" pitchFamily="34" charset="0"/>
                <a:ea typeface="Calibri" pitchFamily="34" charset="-122"/>
                <a:cs typeface="Calibri" pitchFamily="34" charset="-120"/>
              </a:rPr>
              <a:t> / sharpen</a:t>
            </a:r>
            <a:endParaRPr lang="en-US" sz="1250" dirty="0"/>
          </a:p>
          <a:p>
            <a:pPr marL="342900" indent="-342900">
              <a:spcAft>
                <a:spcPts val="500"/>
              </a:spcAft>
              <a:buSzPct val="100000"/>
              <a:buChar char="–"/>
            </a:pPr>
            <a:r>
              <a:rPr lang="en-US" sz="1250" dirty="0">
                <a:solidFill>
                  <a:srgbClr val="1C2B42"/>
                </a:solidFill>
                <a:latin typeface="Calibri" pitchFamily="34" charset="0"/>
                <a:ea typeface="Calibri" pitchFamily="34" charset="-122"/>
                <a:cs typeface="Calibri" pitchFamily="34" charset="-120"/>
              </a:rPr>
              <a:t>Histogram Modification</a:t>
            </a:r>
            <a:endParaRPr lang="en-US" sz="1250" dirty="0"/>
          </a:p>
          <a:p>
            <a:pPr marL="342900" indent="-342900">
              <a:spcAft>
                <a:spcPts val="500"/>
              </a:spcAft>
              <a:buSzPct val="100000"/>
              <a:buChar char="–"/>
            </a:pPr>
            <a:r>
              <a:rPr lang="en-US" sz="1250" dirty="0">
                <a:solidFill>
                  <a:srgbClr val="1C2B42"/>
                </a:solidFill>
                <a:latin typeface="Calibri" pitchFamily="34" charset="0"/>
                <a:ea typeface="Calibri" pitchFamily="34" charset="-122"/>
                <a:cs typeface="Calibri" pitchFamily="34" charset="-120"/>
              </a:rPr>
              <a:t>Contrast Stretching</a:t>
            </a:r>
            <a:endParaRPr lang="en-US" sz="1250" dirty="0"/>
          </a:p>
        </p:txBody>
      </p:sp>
      <p:sp>
        <p:nvSpPr>
          <p:cNvPr id="14" name="Shape 10"/>
          <p:cNvSpPr/>
          <p:nvPr/>
        </p:nvSpPr>
        <p:spPr>
          <a:xfrm>
            <a:off x="3657600" y="868680"/>
            <a:ext cx="1828800" cy="411480"/>
          </a:xfrm>
          <a:prstGeom prst="roundRect">
            <a:avLst>
              <a:gd name="adj" fmla="val 20000"/>
            </a:avLst>
          </a:prstGeom>
          <a:solidFill>
            <a:srgbClr val="0A1F3D"/>
          </a:solidFill>
          <a:ln/>
          <a:effectLst>
            <a:outerShdw blurRad="88900" dist="25400" dir="5400000" algn="bl" rotWithShape="0">
              <a:srgbClr val="000000">
                <a:alpha val="10000"/>
              </a:srgbClr>
            </a:outerShdw>
          </a:effectLst>
        </p:spPr>
        <p:txBody>
          <a:bodyPr/>
          <a:lstStyle/>
          <a:p>
            <a:endParaRPr lang="it-IT"/>
          </a:p>
        </p:txBody>
      </p:sp>
      <p:sp>
        <p:nvSpPr>
          <p:cNvPr id="15" name="Text 11"/>
          <p:cNvSpPr/>
          <p:nvPr/>
        </p:nvSpPr>
        <p:spPr>
          <a:xfrm>
            <a:off x="3657600" y="868680"/>
            <a:ext cx="1828800" cy="4114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Binary Subset</a:t>
            </a:r>
            <a:endParaRPr lang="en-US" sz="1150" dirty="0"/>
          </a:p>
        </p:txBody>
      </p:sp>
      <p:sp>
        <p:nvSpPr>
          <p:cNvPr id="16" name="Shape 12"/>
          <p:cNvSpPr/>
          <p:nvPr/>
        </p:nvSpPr>
        <p:spPr>
          <a:xfrm>
            <a:off x="2400300" y="1280160"/>
            <a:ext cx="4160520" cy="0"/>
          </a:xfrm>
          <a:prstGeom prst="line">
            <a:avLst/>
          </a:prstGeom>
          <a:noFill/>
          <a:ln w="15875">
            <a:solidFill>
              <a:srgbClr val="C6D2E3"/>
            </a:solidFill>
            <a:prstDash val="solid"/>
          </a:ln>
        </p:spPr>
        <p:txBody>
          <a:bodyPr/>
          <a:lstStyle/>
          <a:p>
            <a:endParaRPr lang="it-IT"/>
          </a:p>
        </p:txBody>
      </p:sp>
      <p:sp>
        <p:nvSpPr>
          <p:cNvPr id="17" name="Shape 13"/>
          <p:cNvSpPr/>
          <p:nvPr/>
        </p:nvSpPr>
        <p:spPr>
          <a:xfrm>
            <a:off x="2400300" y="1280160"/>
            <a:ext cx="0" cy="91440"/>
          </a:xfrm>
          <a:prstGeom prst="line">
            <a:avLst/>
          </a:prstGeom>
          <a:noFill/>
          <a:ln w="15875">
            <a:solidFill>
              <a:srgbClr val="C6D2E3"/>
            </a:solidFill>
            <a:prstDash val="solid"/>
          </a:ln>
        </p:spPr>
        <p:txBody>
          <a:bodyPr/>
          <a:lstStyle/>
          <a:p>
            <a:endParaRPr lang="it-IT"/>
          </a:p>
        </p:txBody>
      </p:sp>
      <p:sp>
        <p:nvSpPr>
          <p:cNvPr id="18" name="Shape 14"/>
          <p:cNvSpPr/>
          <p:nvPr/>
        </p:nvSpPr>
        <p:spPr>
          <a:xfrm>
            <a:off x="6560820" y="1280160"/>
            <a:ext cx="0" cy="91440"/>
          </a:xfrm>
          <a:prstGeom prst="line">
            <a:avLst/>
          </a:prstGeom>
          <a:noFill/>
          <a:ln w="15875">
            <a:solidFill>
              <a:srgbClr val="C6D2E3"/>
            </a:solidFill>
            <a:prstDash val="solid"/>
          </a:ln>
        </p:spPr>
        <p:txBody>
          <a:bodyPr/>
          <a:lstStyle/>
          <a:p>
            <a:endParaRPr lang="it-IT"/>
          </a:p>
        </p:txBody>
      </p:sp>
      <p:sp>
        <p:nvSpPr>
          <p:cNvPr id="19" name="Shape 15"/>
          <p:cNvSpPr/>
          <p:nvPr/>
        </p:nvSpPr>
        <p:spPr>
          <a:xfrm>
            <a:off x="502920" y="3913632"/>
            <a:ext cx="8138160" cy="548640"/>
          </a:xfrm>
          <a:prstGeom prst="roundRect">
            <a:avLst>
              <a:gd name="adj" fmla="val 15000"/>
            </a:avLst>
          </a:prstGeom>
          <a:solidFill>
            <a:srgbClr val="F3F6FA"/>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20" name="Text 16"/>
          <p:cNvSpPr/>
          <p:nvPr/>
        </p:nvSpPr>
        <p:spPr>
          <a:xfrm>
            <a:off x="731520" y="3913632"/>
            <a:ext cx="7680960" cy="548640"/>
          </a:xfrm>
          <a:prstGeom prst="rect">
            <a:avLst/>
          </a:prstGeom>
          <a:noFill/>
          <a:ln/>
        </p:spPr>
        <p:txBody>
          <a:bodyPr wrap="square" lIns="0" tIns="0" rIns="0" bIns="0" rtlCol="0" anchor="ctr"/>
          <a:lstStyle/>
          <a:p>
            <a:pPr marL="0" indent="0">
              <a:buNone/>
            </a:pPr>
            <a:r>
              <a:rPr lang="en-US" sz="1150" b="1" dirty="0">
                <a:solidFill>
                  <a:srgbClr val="0A1F3D"/>
                </a:solidFill>
                <a:latin typeface="Calibri" pitchFamily="34" charset="0"/>
                <a:ea typeface="Calibri" pitchFamily="34" charset="-122"/>
                <a:cs typeface="Calibri" pitchFamily="34" charset="-120"/>
              </a:rPr>
              <a:t>Design choice: </a:t>
            </a:r>
            <a:r>
              <a:rPr lang="en-US" sz="1150" dirty="0">
                <a:solidFill>
                  <a:srgbClr val="1C2B42"/>
                </a:solidFill>
                <a:latin typeface="Calibri" pitchFamily="34" charset="0"/>
                <a:ea typeface="Calibri" pitchFamily="34" charset="-122"/>
                <a:cs typeface="Calibri" pitchFamily="34" charset="-120"/>
              </a:rPr>
              <a:t>perturbations are applied only to the binary subset  |  primary proxy target: EfficientNet-B0  |  OOD branch stays clean</a:t>
            </a:r>
            <a:endParaRPr lang="en-US" sz="1150" dirty="0"/>
          </a:p>
        </p:txBody>
      </p:sp>
      <p:sp>
        <p:nvSpPr>
          <p:cNvPr id="21" name="Text 17"/>
          <p:cNvSpPr/>
          <p:nvPr/>
        </p:nvSpPr>
        <p:spPr>
          <a:xfrm>
            <a:off x="502920" y="4864608"/>
            <a:ext cx="5486400" cy="228600"/>
          </a:xfrm>
          <a:prstGeom prst="rect">
            <a:avLst/>
          </a:prstGeom>
          <a:noFill/>
          <a:ln/>
        </p:spPr>
        <p:txBody>
          <a:bodyPr wrap="square" lIns="0" tIns="0" rIns="0" bIns="0" rtlCol="0" anchor="ctr"/>
          <a:lstStyle/>
          <a:p>
            <a:pPr marL="0" indent="0">
              <a:buNone/>
            </a:pPr>
            <a:r>
              <a:rPr lang="en-US" sz="900" dirty="0">
                <a:solidFill>
                  <a:srgbClr val="5C6B83"/>
                </a:solidFill>
                <a:latin typeface="Calibri" pitchFamily="34" charset="0"/>
                <a:ea typeface="Calibri" pitchFamily="34" charset="-122"/>
                <a:cs typeface="Calibri" pitchFamily="34" charset="-120"/>
              </a:rPr>
              <a:t>Robustness of AI-Based Forensic Tools  |  Lello Molinario</a:t>
            </a:r>
            <a:endParaRPr lang="en-US" sz="900" dirty="0"/>
          </a:p>
        </p:txBody>
      </p:sp>
      <p:sp>
        <p:nvSpPr>
          <p:cNvPr id="22" name="Text 18"/>
          <p:cNvSpPr/>
          <p:nvPr/>
        </p:nvSpPr>
        <p:spPr>
          <a:xfrm>
            <a:off x="8732520" y="4864608"/>
            <a:ext cx="365760" cy="228600"/>
          </a:xfrm>
          <a:prstGeom prst="rect">
            <a:avLst/>
          </a:prstGeom>
          <a:noFill/>
          <a:ln/>
        </p:spPr>
        <p:txBody>
          <a:bodyPr wrap="square" lIns="0" tIns="0" rIns="0" bIns="0" rtlCol="0" anchor="ctr"/>
          <a:lstStyle/>
          <a:p>
            <a:pPr marL="0" indent="0" algn="r">
              <a:buNone/>
            </a:pPr>
            <a:r>
              <a:rPr lang="en-US" sz="900" dirty="0">
                <a:solidFill>
                  <a:srgbClr val="5C6B83"/>
                </a:solidFill>
                <a:latin typeface="Calibri" pitchFamily="34" charset="0"/>
                <a:ea typeface="Calibri" pitchFamily="34" charset="-122"/>
                <a:cs typeface="Calibri" pitchFamily="34" charset="-120"/>
              </a:rPr>
              <a:t>8</a:t>
            </a:r>
            <a:endParaRPr lang="en-US" sz="900" dirty="0"/>
          </a:p>
        </p:txBody>
      </p:sp>
      <p:sp>
        <p:nvSpPr>
          <p:cNvPr id="23" name="Text 16">
            <a:extLst>
              <a:ext uri="{FF2B5EF4-FFF2-40B4-BE49-F238E27FC236}">
                <a16:creationId xmlns:a16="http://schemas.microsoft.com/office/drawing/2014/main" id="{A9A4C516-2E63-DE9C-09F0-8463B5BEB1D1}"/>
              </a:ext>
            </a:extLst>
          </p:cNvPr>
          <p:cNvSpPr/>
          <p:nvPr/>
        </p:nvSpPr>
        <p:spPr>
          <a:xfrm>
            <a:off x="594360" y="4404846"/>
            <a:ext cx="7680960" cy="548640"/>
          </a:xfrm>
          <a:prstGeom prst="rect">
            <a:avLst/>
          </a:prstGeom>
          <a:noFill/>
          <a:ln/>
        </p:spPr>
        <p:txBody>
          <a:bodyPr wrap="square" lIns="0" tIns="0" rIns="0" bIns="0" rtlCol="0" anchor="ctr"/>
          <a:lstStyle/>
          <a:p>
            <a:r>
              <a:rPr lang="en-US" sz="1200" b="1" dirty="0"/>
              <a:t>* </a:t>
            </a:r>
            <a:r>
              <a:rPr lang="it-IT" sz="900" dirty="0" err="1"/>
              <a:t>Adversarial</a:t>
            </a:r>
            <a:r>
              <a:rPr lang="it-IT" sz="900" dirty="0"/>
              <a:t>-style </a:t>
            </a:r>
            <a:r>
              <a:rPr lang="it-IT" sz="900" dirty="0" err="1"/>
              <a:t>attack</a:t>
            </a:r>
            <a:r>
              <a:rPr lang="it-IT" sz="900" dirty="0"/>
              <a:t>  - model-</a:t>
            </a:r>
            <a:r>
              <a:rPr lang="it-IT" sz="900" dirty="0" err="1"/>
              <a:t>agnostic</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marL="0" indent="0">
              <a:buNone/>
            </a:pPr>
            <a:r>
              <a:rPr lang="en-US" sz="1250" b="1" kern="0" spc="200" dirty="0">
                <a:solidFill>
                  <a:srgbClr val="0E8A8A"/>
                </a:solidFill>
                <a:latin typeface="Calibri" pitchFamily="34" charset="0"/>
                <a:ea typeface="Calibri" pitchFamily="34" charset="-122"/>
                <a:cs typeface="Calibri" pitchFamily="34" charset="-120"/>
              </a:rPr>
              <a:t>EVALUATION FRAMEWORK</a:t>
            </a:r>
            <a:endParaRPr lang="en-US" sz="125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2700" b="1" dirty="0">
                <a:solidFill>
                  <a:srgbClr val="0A1F3D"/>
                </a:solidFill>
                <a:latin typeface="Cambria" pitchFamily="34" charset="0"/>
                <a:ea typeface="Cambria" pitchFamily="34" charset="-122"/>
                <a:cs typeface="Cambria" pitchFamily="34" charset="-120"/>
              </a:rPr>
              <a:t>Evaluation Metrics</a:t>
            </a:r>
            <a:endParaRPr lang="en-US" sz="2700" dirty="0"/>
          </a:p>
        </p:txBody>
      </p:sp>
      <p:sp>
        <p:nvSpPr>
          <p:cNvPr id="4" name="Shape 2"/>
          <p:cNvSpPr/>
          <p:nvPr/>
        </p:nvSpPr>
        <p:spPr>
          <a:xfrm>
            <a:off x="521208" y="1417320"/>
            <a:ext cx="1901952" cy="2834640"/>
          </a:xfrm>
          <a:prstGeom prst="roundRect">
            <a:avLst>
              <a:gd name="adj" fmla="val 4327"/>
            </a:avLst>
          </a:prstGeom>
          <a:solidFill>
            <a:srgbClr val="FFFFFF"/>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sp>
        <p:nvSpPr>
          <p:cNvPr id="5" name="Shape 3"/>
          <p:cNvSpPr/>
          <p:nvPr/>
        </p:nvSpPr>
        <p:spPr>
          <a:xfrm>
            <a:off x="1234440" y="1600200"/>
            <a:ext cx="475488" cy="475488"/>
          </a:xfrm>
          <a:prstGeom prst="ellipse">
            <a:avLst/>
          </a:prstGeom>
          <a:solidFill>
            <a:srgbClr val="0E8A8A"/>
          </a:solidFill>
          <a:ln/>
        </p:spPr>
        <p:txBody>
          <a:bodyPr/>
          <a:lstStyle/>
          <a:p>
            <a:endParaRPr lang="it-IT"/>
          </a:p>
        </p:txBody>
      </p:sp>
      <p:pic>
        <p:nvPicPr>
          <p:cNvPr id="6" name="Image 0" descr="preencoded.png"/>
          <p:cNvPicPr>
            <a:picLocks noChangeAspect="1"/>
          </p:cNvPicPr>
          <p:nvPr/>
        </p:nvPicPr>
        <p:blipFill>
          <a:blip r:embed="rId3"/>
          <a:stretch>
            <a:fillRect/>
          </a:stretch>
        </p:blipFill>
        <p:spPr>
          <a:xfrm>
            <a:off x="1296253" y="1662013"/>
            <a:ext cx="351861" cy="351861"/>
          </a:xfrm>
          <a:prstGeom prst="rect">
            <a:avLst/>
          </a:prstGeom>
        </p:spPr>
      </p:pic>
      <p:sp>
        <p:nvSpPr>
          <p:cNvPr id="7" name="Text 4"/>
          <p:cNvSpPr/>
          <p:nvPr/>
        </p:nvSpPr>
        <p:spPr>
          <a:xfrm>
            <a:off x="594360" y="2167128"/>
            <a:ext cx="1755648" cy="457200"/>
          </a:xfrm>
          <a:prstGeom prst="rect">
            <a:avLst/>
          </a:prstGeom>
          <a:noFill/>
          <a:ln/>
        </p:spPr>
        <p:txBody>
          <a:bodyPr wrap="square" lIns="0" tIns="0" rIns="0" bIns="0" rtlCol="0" anchor="t"/>
          <a:lstStyle/>
          <a:p>
            <a:pPr marL="0" indent="0" algn="ctr">
              <a:buNone/>
            </a:pPr>
            <a:r>
              <a:rPr lang="en-US" sz="1150" b="1" dirty="0">
                <a:solidFill>
                  <a:srgbClr val="0A1F3D"/>
                </a:solidFill>
                <a:latin typeface="Cambria" pitchFamily="34" charset="0"/>
                <a:ea typeface="Cambria" pitchFamily="34" charset="-122"/>
                <a:cs typeface="Cambria" pitchFamily="34" charset="-120"/>
              </a:rPr>
              <a:t>Clean Performance</a:t>
            </a:r>
            <a:endParaRPr lang="en-US" sz="1150" dirty="0"/>
          </a:p>
        </p:txBody>
      </p:sp>
      <p:sp>
        <p:nvSpPr>
          <p:cNvPr id="8" name="Text 5"/>
          <p:cNvSpPr/>
          <p:nvPr/>
        </p:nvSpPr>
        <p:spPr>
          <a:xfrm>
            <a:off x="649224" y="2651760"/>
            <a:ext cx="1645920" cy="1463040"/>
          </a:xfrm>
          <a:prstGeom prst="rect">
            <a:avLst/>
          </a:prstGeom>
          <a:noFill/>
          <a:ln/>
        </p:spPr>
        <p:txBody>
          <a:bodyPr wrap="square" rtlCol="0" anchor="t"/>
          <a:lstStyle/>
          <a:p>
            <a:pPr marL="342900" indent="-342900">
              <a:spcAft>
                <a:spcPts val="500"/>
              </a:spcAft>
              <a:buSzPct val="100000"/>
              <a:buChar char="–"/>
            </a:pPr>
            <a:r>
              <a:rPr lang="en-US" sz="980" dirty="0">
                <a:solidFill>
                  <a:srgbClr val="1C2B42"/>
                </a:solidFill>
                <a:latin typeface="Calibri" pitchFamily="34" charset="0"/>
                <a:ea typeface="Calibri" pitchFamily="34" charset="-122"/>
                <a:cs typeface="Calibri" pitchFamily="34" charset="-120"/>
              </a:rPr>
              <a:t>Accuracy</a:t>
            </a:r>
            <a:endParaRPr lang="en-US" sz="980" dirty="0"/>
          </a:p>
          <a:p>
            <a:pPr marL="342900" indent="-342900">
              <a:spcAft>
                <a:spcPts val="500"/>
              </a:spcAft>
              <a:buSzPct val="100000"/>
              <a:buChar char="–"/>
            </a:pPr>
            <a:r>
              <a:rPr lang="en-US" sz="980" dirty="0">
                <a:solidFill>
                  <a:srgbClr val="1C2B42"/>
                </a:solidFill>
                <a:latin typeface="Calibri" pitchFamily="34" charset="0"/>
                <a:ea typeface="Calibri" pitchFamily="34" charset="-122"/>
                <a:cs typeface="Calibri" pitchFamily="34" charset="-120"/>
              </a:rPr>
              <a:t>Recall</a:t>
            </a:r>
            <a:endParaRPr lang="en-US" sz="980" dirty="0"/>
          </a:p>
          <a:p>
            <a:pPr marL="342900" indent="-342900">
              <a:spcAft>
                <a:spcPts val="500"/>
              </a:spcAft>
              <a:buSzPct val="100000"/>
              <a:buChar char="–"/>
            </a:pPr>
            <a:r>
              <a:rPr lang="en-US" sz="980" dirty="0">
                <a:solidFill>
                  <a:srgbClr val="1C2B42"/>
                </a:solidFill>
                <a:latin typeface="Calibri" pitchFamily="34" charset="0"/>
                <a:ea typeface="Calibri" pitchFamily="34" charset="-122"/>
                <a:cs typeface="Calibri" pitchFamily="34" charset="-120"/>
              </a:rPr>
              <a:t>FNR / FPR</a:t>
            </a:r>
            <a:endParaRPr lang="en-US" sz="980" dirty="0"/>
          </a:p>
          <a:p>
            <a:pPr marL="342900" indent="-342900">
              <a:spcAft>
                <a:spcPts val="500"/>
              </a:spcAft>
              <a:buSzPct val="100000"/>
              <a:buChar char="–"/>
            </a:pPr>
            <a:r>
              <a:rPr lang="en-US" sz="980" dirty="0">
                <a:solidFill>
                  <a:srgbClr val="1C2B42"/>
                </a:solidFill>
                <a:latin typeface="Calibri" pitchFamily="34" charset="0"/>
                <a:ea typeface="Calibri" pitchFamily="34" charset="-122"/>
                <a:cs typeface="Calibri" pitchFamily="34" charset="-120"/>
              </a:rPr>
              <a:t>F1-score</a:t>
            </a:r>
            <a:endParaRPr lang="en-US" sz="980" dirty="0"/>
          </a:p>
        </p:txBody>
      </p:sp>
      <p:sp>
        <p:nvSpPr>
          <p:cNvPr id="9" name="Shape 6"/>
          <p:cNvSpPr/>
          <p:nvPr/>
        </p:nvSpPr>
        <p:spPr>
          <a:xfrm>
            <a:off x="2587752" y="1417320"/>
            <a:ext cx="1901952" cy="2834640"/>
          </a:xfrm>
          <a:prstGeom prst="roundRect">
            <a:avLst>
              <a:gd name="adj" fmla="val 4327"/>
            </a:avLst>
          </a:prstGeom>
          <a:solidFill>
            <a:srgbClr val="FFFFFF"/>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sp>
        <p:nvSpPr>
          <p:cNvPr id="10" name="Shape 7"/>
          <p:cNvSpPr/>
          <p:nvPr/>
        </p:nvSpPr>
        <p:spPr>
          <a:xfrm>
            <a:off x="3300984" y="1600200"/>
            <a:ext cx="475488" cy="475488"/>
          </a:xfrm>
          <a:prstGeom prst="ellipse">
            <a:avLst/>
          </a:prstGeom>
          <a:solidFill>
            <a:srgbClr val="0E8A8A"/>
          </a:solidFill>
          <a:ln/>
        </p:spPr>
        <p:txBody>
          <a:bodyPr/>
          <a:lstStyle/>
          <a:p>
            <a:endParaRPr lang="it-IT"/>
          </a:p>
        </p:txBody>
      </p:sp>
      <p:pic>
        <p:nvPicPr>
          <p:cNvPr id="11" name="Image 1" descr="preencoded.png"/>
          <p:cNvPicPr>
            <a:picLocks noChangeAspect="1"/>
          </p:cNvPicPr>
          <p:nvPr/>
        </p:nvPicPr>
        <p:blipFill>
          <a:blip r:embed="rId4"/>
          <a:stretch>
            <a:fillRect/>
          </a:stretch>
        </p:blipFill>
        <p:spPr>
          <a:xfrm>
            <a:off x="3362797" y="1662013"/>
            <a:ext cx="351861" cy="351861"/>
          </a:xfrm>
          <a:prstGeom prst="rect">
            <a:avLst/>
          </a:prstGeom>
        </p:spPr>
      </p:pic>
      <p:sp>
        <p:nvSpPr>
          <p:cNvPr id="12" name="Text 8"/>
          <p:cNvSpPr/>
          <p:nvPr/>
        </p:nvSpPr>
        <p:spPr>
          <a:xfrm>
            <a:off x="2660904" y="2167128"/>
            <a:ext cx="1755648" cy="457200"/>
          </a:xfrm>
          <a:prstGeom prst="rect">
            <a:avLst/>
          </a:prstGeom>
          <a:noFill/>
          <a:ln/>
        </p:spPr>
        <p:txBody>
          <a:bodyPr wrap="square" lIns="0" tIns="0" rIns="0" bIns="0" rtlCol="0" anchor="t"/>
          <a:lstStyle/>
          <a:p>
            <a:pPr marL="0" indent="0" algn="ctr">
              <a:buNone/>
            </a:pPr>
            <a:r>
              <a:rPr lang="en-US" sz="1150" b="1" dirty="0">
                <a:solidFill>
                  <a:srgbClr val="0A1F3D"/>
                </a:solidFill>
                <a:latin typeface="Cambria" pitchFamily="34" charset="0"/>
                <a:ea typeface="Cambria" pitchFamily="34" charset="-122"/>
                <a:cs typeface="Cambria" pitchFamily="34" charset="-120"/>
              </a:rPr>
              <a:t>Perturbed Robustness</a:t>
            </a:r>
            <a:endParaRPr lang="en-US" sz="1150" dirty="0"/>
          </a:p>
        </p:txBody>
      </p:sp>
      <p:sp>
        <p:nvSpPr>
          <p:cNvPr id="13" name="Text 9"/>
          <p:cNvSpPr/>
          <p:nvPr/>
        </p:nvSpPr>
        <p:spPr>
          <a:xfrm>
            <a:off x="2715768" y="2651760"/>
            <a:ext cx="1645920" cy="1463040"/>
          </a:xfrm>
          <a:prstGeom prst="rect">
            <a:avLst/>
          </a:prstGeom>
          <a:noFill/>
          <a:ln/>
        </p:spPr>
        <p:txBody>
          <a:bodyPr wrap="square" rtlCol="0" anchor="t"/>
          <a:lstStyle/>
          <a:p>
            <a:pPr marL="342900" indent="-342900">
              <a:spcAft>
                <a:spcPts val="500"/>
              </a:spcAft>
              <a:buSzPct val="100000"/>
              <a:buChar char="–"/>
            </a:pPr>
            <a:r>
              <a:rPr lang="en-US" sz="980" dirty="0">
                <a:solidFill>
                  <a:srgbClr val="1C2B42"/>
                </a:solidFill>
                <a:latin typeface="Calibri" pitchFamily="34" charset="0"/>
                <a:ea typeface="Calibri" pitchFamily="34" charset="-122"/>
                <a:cs typeface="Calibri" pitchFamily="34" charset="-120"/>
              </a:rPr>
              <a:t>Perturbed accuracy</a:t>
            </a:r>
            <a:endParaRPr lang="en-US" sz="980" dirty="0"/>
          </a:p>
          <a:p>
            <a:pPr marL="342900" indent="-342900">
              <a:spcAft>
                <a:spcPts val="500"/>
              </a:spcAft>
              <a:buSzPct val="100000"/>
              <a:buChar char="–"/>
            </a:pPr>
            <a:r>
              <a:rPr lang="en-US" sz="980" dirty="0">
                <a:solidFill>
                  <a:srgbClr val="1C2B42"/>
                </a:solidFill>
                <a:latin typeface="Calibri" pitchFamily="34" charset="0"/>
                <a:ea typeface="Calibri" pitchFamily="34" charset="-122"/>
                <a:cs typeface="Calibri" pitchFamily="34" charset="-120"/>
              </a:rPr>
              <a:t>Accuracy drop</a:t>
            </a:r>
            <a:endParaRPr lang="en-US" sz="980" dirty="0"/>
          </a:p>
          <a:p>
            <a:pPr marL="342900" indent="-342900">
              <a:spcAft>
                <a:spcPts val="500"/>
              </a:spcAft>
              <a:buSzPct val="100000"/>
              <a:buChar char="–"/>
            </a:pPr>
            <a:r>
              <a:rPr lang="en-US" sz="980" dirty="0">
                <a:solidFill>
                  <a:srgbClr val="1C2B42"/>
                </a:solidFill>
                <a:latin typeface="Calibri" pitchFamily="34" charset="0"/>
                <a:ea typeface="Calibri" pitchFamily="34" charset="-122"/>
                <a:cs typeface="Calibri" pitchFamily="34" charset="-120"/>
              </a:rPr>
              <a:t>Induced error rate</a:t>
            </a:r>
            <a:endParaRPr lang="en-US" sz="980" dirty="0"/>
          </a:p>
          <a:p>
            <a:pPr marL="342900" indent="-342900">
              <a:spcAft>
                <a:spcPts val="500"/>
              </a:spcAft>
              <a:buSzPct val="100000"/>
              <a:buChar char="–"/>
            </a:pPr>
            <a:r>
              <a:rPr lang="en-US" sz="980" dirty="0">
                <a:solidFill>
                  <a:srgbClr val="1C2B42"/>
                </a:solidFill>
                <a:latin typeface="Calibri" pitchFamily="34" charset="0"/>
                <a:ea typeface="Calibri" pitchFamily="34" charset="-122"/>
                <a:cs typeface="Calibri" pitchFamily="34" charset="-120"/>
              </a:rPr>
              <a:t>Confidence delta</a:t>
            </a:r>
            <a:endParaRPr lang="en-US" sz="980" dirty="0"/>
          </a:p>
        </p:txBody>
      </p:sp>
      <p:sp>
        <p:nvSpPr>
          <p:cNvPr id="14" name="Shape 10"/>
          <p:cNvSpPr/>
          <p:nvPr/>
        </p:nvSpPr>
        <p:spPr>
          <a:xfrm>
            <a:off x="4654296" y="1417320"/>
            <a:ext cx="1901952" cy="2834640"/>
          </a:xfrm>
          <a:prstGeom prst="roundRect">
            <a:avLst>
              <a:gd name="adj" fmla="val 4327"/>
            </a:avLst>
          </a:prstGeom>
          <a:solidFill>
            <a:srgbClr val="FFFFFF"/>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sp>
        <p:nvSpPr>
          <p:cNvPr id="15" name="Shape 11"/>
          <p:cNvSpPr/>
          <p:nvPr/>
        </p:nvSpPr>
        <p:spPr>
          <a:xfrm>
            <a:off x="5367528" y="1600200"/>
            <a:ext cx="475488" cy="475488"/>
          </a:xfrm>
          <a:prstGeom prst="ellipse">
            <a:avLst/>
          </a:prstGeom>
          <a:solidFill>
            <a:srgbClr val="0E8A8A"/>
          </a:solidFill>
          <a:ln/>
        </p:spPr>
        <p:txBody>
          <a:bodyPr/>
          <a:lstStyle/>
          <a:p>
            <a:endParaRPr lang="it-IT"/>
          </a:p>
        </p:txBody>
      </p:sp>
      <p:pic>
        <p:nvPicPr>
          <p:cNvPr id="16" name="Image 2" descr="preencoded.png"/>
          <p:cNvPicPr>
            <a:picLocks noChangeAspect="1"/>
          </p:cNvPicPr>
          <p:nvPr/>
        </p:nvPicPr>
        <p:blipFill>
          <a:blip r:embed="rId5"/>
          <a:stretch>
            <a:fillRect/>
          </a:stretch>
        </p:blipFill>
        <p:spPr>
          <a:xfrm>
            <a:off x="5429341" y="1662013"/>
            <a:ext cx="351861" cy="351861"/>
          </a:xfrm>
          <a:prstGeom prst="rect">
            <a:avLst/>
          </a:prstGeom>
        </p:spPr>
      </p:pic>
      <p:sp>
        <p:nvSpPr>
          <p:cNvPr id="17" name="Text 12"/>
          <p:cNvSpPr/>
          <p:nvPr/>
        </p:nvSpPr>
        <p:spPr>
          <a:xfrm>
            <a:off x="4727448" y="2167128"/>
            <a:ext cx="1755648" cy="457200"/>
          </a:xfrm>
          <a:prstGeom prst="rect">
            <a:avLst/>
          </a:prstGeom>
          <a:noFill/>
          <a:ln/>
        </p:spPr>
        <p:txBody>
          <a:bodyPr wrap="square" lIns="0" tIns="0" rIns="0" bIns="0" rtlCol="0" anchor="t"/>
          <a:lstStyle/>
          <a:p>
            <a:pPr marL="0" indent="0" algn="ctr">
              <a:buNone/>
            </a:pPr>
            <a:r>
              <a:rPr lang="en-US" sz="1150" b="1" dirty="0">
                <a:solidFill>
                  <a:srgbClr val="0A1F3D"/>
                </a:solidFill>
                <a:latin typeface="Cambria" pitchFamily="34" charset="0"/>
                <a:ea typeface="Cambria" pitchFamily="34" charset="-122"/>
                <a:cs typeface="Cambria" pitchFamily="34" charset="-120"/>
              </a:rPr>
              <a:t>OOD Handling</a:t>
            </a:r>
            <a:endParaRPr lang="en-US" sz="1150" dirty="0"/>
          </a:p>
        </p:txBody>
      </p:sp>
      <p:sp>
        <p:nvSpPr>
          <p:cNvPr id="18" name="Text 13"/>
          <p:cNvSpPr/>
          <p:nvPr/>
        </p:nvSpPr>
        <p:spPr>
          <a:xfrm>
            <a:off x="4782312" y="2651760"/>
            <a:ext cx="1645920" cy="1463040"/>
          </a:xfrm>
          <a:prstGeom prst="rect">
            <a:avLst/>
          </a:prstGeom>
          <a:noFill/>
          <a:ln/>
        </p:spPr>
        <p:txBody>
          <a:bodyPr wrap="square" rtlCol="0" anchor="t"/>
          <a:lstStyle/>
          <a:p>
            <a:pPr marL="342900" indent="-342900">
              <a:spcAft>
                <a:spcPts val="500"/>
              </a:spcAft>
              <a:buSzPct val="100000"/>
              <a:buChar char="–"/>
            </a:pPr>
            <a:r>
              <a:rPr lang="en-US" sz="980" dirty="0">
                <a:solidFill>
                  <a:srgbClr val="1C2B42"/>
                </a:solidFill>
                <a:latin typeface="Calibri" pitchFamily="34" charset="0"/>
                <a:ea typeface="Calibri" pitchFamily="34" charset="-122"/>
                <a:cs typeface="Calibri" pitchFamily="34" charset="-120"/>
              </a:rPr>
              <a:t>Weapon-flag rate</a:t>
            </a:r>
            <a:endParaRPr lang="en-US" sz="980" dirty="0"/>
          </a:p>
          <a:p>
            <a:pPr marL="342900" indent="-342900">
              <a:spcAft>
                <a:spcPts val="500"/>
              </a:spcAft>
              <a:buSzPct val="100000"/>
              <a:buChar char="–"/>
            </a:pPr>
            <a:r>
              <a:rPr lang="en-US" sz="980" dirty="0">
                <a:solidFill>
                  <a:srgbClr val="1C2B42"/>
                </a:solidFill>
                <a:latin typeface="Calibri" pitchFamily="34" charset="0"/>
                <a:ea typeface="Calibri" pitchFamily="34" charset="-122"/>
                <a:cs typeface="Calibri" pitchFamily="34" charset="-120"/>
              </a:rPr>
              <a:t>Mean confidence</a:t>
            </a:r>
            <a:endParaRPr lang="en-US" sz="980" dirty="0"/>
          </a:p>
          <a:p>
            <a:pPr marL="342900" indent="-342900">
              <a:spcAft>
                <a:spcPts val="500"/>
              </a:spcAft>
              <a:buSzPct val="100000"/>
              <a:buChar char="–"/>
            </a:pPr>
            <a:r>
              <a:rPr lang="en-US" sz="980" dirty="0">
                <a:solidFill>
                  <a:srgbClr val="1C2B42"/>
                </a:solidFill>
                <a:latin typeface="Calibri" pitchFamily="34" charset="0"/>
                <a:ea typeface="Calibri" pitchFamily="34" charset="-122"/>
                <a:cs typeface="Calibri" pitchFamily="34" charset="-120"/>
              </a:rPr>
              <a:t>High-confidence OOD fraction</a:t>
            </a:r>
            <a:endParaRPr lang="en-US" sz="980" dirty="0"/>
          </a:p>
        </p:txBody>
      </p:sp>
      <p:sp>
        <p:nvSpPr>
          <p:cNvPr id="19" name="Shape 14"/>
          <p:cNvSpPr/>
          <p:nvPr/>
        </p:nvSpPr>
        <p:spPr>
          <a:xfrm>
            <a:off x="6720840" y="1417320"/>
            <a:ext cx="1901952" cy="2834640"/>
          </a:xfrm>
          <a:prstGeom prst="roundRect">
            <a:avLst>
              <a:gd name="adj" fmla="val 4327"/>
            </a:avLst>
          </a:prstGeom>
          <a:solidFill>
            <a:srgbClr val="FFFFFF"/>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sp>
        <p:nvSpPr>
          <p:cNvPr id="20" name="Shape 15"/>
          <p:cNvSpPr/>
          <p:nvPr/>
        </p:nvSpPr>
        <p:spPr>
          <a:xfrm>
            <a:off x="7434072" y="1600200"/>
            <a:ext cx="475488" cy="475488"/>
          </a:xfrm>
          <a:prstGeom prst="ellipse">
            <a:avLst/>
          </a:prstGeom>
          <a:solidFill>
            <a:srgbClr val="0E8A8A"/>
          </a:solidFill>
          <a:ln/>
        </p:spPr>
        <p:txBody>
          <a:bodyPr/>
          <a:lstStyle/>
          <a:p>
            <a:endParaRPr lang="it-IT"/>
          </a:p>
        </p:txBody>
      </p:sp>
      <p:pic>
        <p:nvPicPr>
          <p:cNvPr id="21" name="Image 3" descr="preencoded.png"/>
          <p:cNvPicPr>
            <a:picLocks noChangeAspect="1"/>
          </p:cNvPicPr>
          <p:nvPr/>
        </p:nvPicPr>
        <p:blipFill>
          <a:blip r:embed="rId6"/>
          <a:stretch>
            <a:fillRect/>
          </a:stretch>
        </p:blipFill>
        <p:spPr>
          <a:xfrm>
            <a:off x="7495885" y="1662013"/>
            <a:ext cx="351861" cy="351861"/>
          </a:xfrm>
          <a:prstGeom prst="rect">
            <a:avLst/>
          </a:prstGeom>
        </p:spPr>
      </p:pic>
      <p:sp>
        <p:nvSpPr>
          <p:cNvPr id="22" name="Text 16"/>
          <p:cNvSpPr/>
          <p:nvPr/>
        </p:nvSpPr>
        <p:spPr>
          <a:xfrm>
            <a:off x="6793992" y="2167128"/>
            <a:ext cx="1755648" cy="457200"/>
          </a:xfrm>
          <a:prstGeom prst="rect">
            <a:avLst/>
          </a:prstGeom>
          <a:noFill/>
          <a:ln/>
        </p:spPr>
        <p:txBody>
          <a:bodyPr wrap="square" lIns="0" tIns="0" rIns="0" bIns="0" rtlCol="0" anchor="t"/>
          <a:lstStyle/>
          <a:p>
            <a:pPr marL="0" indent="0" algn="ctr">
              <a:buNone/>
            </a:pPr>
            <a:r>
              <a:rPr lang="en-US" sz="1150" b="1" dirty="0">
                <a:solidFill>
                  <a:srgbClr val="0A1F3D"/>
                </a:solidFill>
                <a:latin typeface="Cambria" pitchFamily="34" charset="0"/>
                <a:ea typeface="Cambria" pitchFamily="34" charset="-122"/>
                <a:cs typeface="Cambria" pitchFamily="34" charset="-120"/>
              </a:rPr>
              <a:t>Black-Box Behavior</a:t>
            </a:r>
            <a:endParaRPr lang="en-US" sz="1150" dirty="0"/>
          </a:p>
        </p:txBody>
      </p:sp>
      <p:sp>
        <p:nvSpPr>
          <p:cNvPr id="23" name="Text 17"/>
          <p:cNvSpPr/>
          <p:nvPr/>
        </p:nvSpPr>
        <p:spPr>
          <a:xfrm>
            <a:off x="6848856" y="2651760"/>
            <a:ext cx="1645920" cy="1463040"/>
          </a:xfrm>
          <a:prstGeom prst="rect">
            <a:avLst/>
          </a:prstGeom>
          <a:noFill/>
          <a:ln/>
        </p:spPr>
        <p:txBody>
          <a:bodyPr wrap="square" rtlCol="0" anchor="t"/>
          <a:lstStyle/>
          <a:p>
            <a:pPr marL="342900" indent="-342900">
              <a:spcAft>
                <a:spcPts val="500"/>
              </a:spcAft>
              <a:buSzPct val="100000"/>
              <a:buChar char="–"/>
            </a:pPr>
            <a:r>
              <a:rPr lang="en-US" sz="980" dirty="0">
                <a:solidFill>
                  <a:srgbClr val="1C2B42"/>
                </a:solidFill>
                <a:latin typeface="Calibri" pitchFamily="34" charset="0"/>
                <a:ea typeface="Calibri" pitchFamily="34" charset="-122"/>
                <a:cs typeface="Calibri" pitchFamily="34" charset="-120"/>
              </a:rPr>
              <a:t>Recall</a:t>
            </a:r>
            <a:endParaRPr lang="en-US" sz="980" dirty="0"/>
          </a:p>
          <a:p>
            <a:pPr marL="342900" indent="-342900">
              <a:spcAft>
                <a:spcPts val="500"/>
              </a:spcAft>
              <a:buSzPct val="100000"/>
              <a:buChar char="–"/>
            </a:pPr>
            <a:r>
              <a:rPr lang="en-US" sz="980" dirty="0">
                <a:solidFill>
                  <a:srgbClr val="1C2B42"/>
                </a:solidFill>
                <a:latin typeface="Calibri" pitchFamily="34" charset="0"/>
                <a:ea typeface="Calibri" pitchFamily="34" charset="-122"/>
                <a:cs typeface="Calibri" pitchFamily="34" charset="-120"/>
              </a:rPr>
              <a:t>FNR / FPR</a:t>
            </a:r>
            <a:endParaRPr lang="en-US" sz="980" dirty="0"/>
          </a:p>
          <a:p>
            <a:pPr marL="342900" indent="-342900">
              <a:spcAft>
                <a:spcPts val="500"/>
              </a:spcAft>
              <a:buSzPct val="100000"/>
              <a:buChar char="–"/>
            </a:pPr>
            <a:r>
              <a:rPr lang="en-US" sz="980" dirty="0">
                <a:solidFill>
                  <a:srgbClr val="1C2B42"/>
                </a:solidFill>
                <a:latin typeface="Calibri" pitchFamily="34" charset="0"/>
                <a:ea typeface="Calibri" pitchFamily="34" charset="-122"/>
                <a:cs typeface="Calibri" pitchFamily="34" charset="-120"/>
              </a:rPr>
              <a:t>Unknown rate</a:t>
            </a:r>
            <a:endParaRPr lang="en-US" sz="980" dirty="0"/>
          </a:p>
        </p:txBody>
      </p:sp>
      <p:sp>
        <p:nvSpPr>
          <p:cNvPr id="24" name="Text 18"/>
          <p:cNvSpPr/>
          <p:nvPr/>
        </p:nvSpPr>
        <p:spPr>
          <a:xfrm>
            <a:off x="502920" y="4434840"/>
            <a:ext cx="8138160" cy="320040"/>
          </a:xfrm>
          <a:prstGeom prst="rect">
            <a:avLst/>
          </a:prstGeom>
          <a:noFill/>
          <a:ln/>
        </p:spPr>
        <p:txBody>
          <a:bodyPr wrap="square" lIns="0" tIns="0" rIns="0" bIns="0" rtlCol="0" anchor="ctr"/>
          <a:lstStyle/>
          <a:p>
            <a:pPr marL="0" indent="0" algn="ctr">
              <a:buNone/>
            </a:pPr>
            <a:r>
              <a:rPr lang="en-US" sz="1200" i="1" dirty="0">
                <a:solidFill>
                  <a:srgbClr val="5C6B83"/>
                </a:solidFill>
                <a:latin typeface="Calibri" pitchFamily="34" charset="0"/>
                <a:ea typeface="Calibri" pitchFamily="34" charset="-122"/>
                <a:cs typeface="Calibri" pitchFamily="34" charset="-120"/>
              </a:rPr>
              <a:t>The analysis focuses on failure modes and operational risk, not only aggregate accuracy.</a:t>
            </a:r>
            <a:endParaRPr lang="en-US" sz="1200" dirty="0"/>
          </a:p>
        </p:txBody>
      </p:sp>
      <p:sp>
        <p:nvSpPr>
          <p:cNvPr id="25" name="Text 19"/>
          <p:cNvSpPr/>
          <p:nvPr/>
        </p:nvSpPr>
        <p:spPr>
          <a:xfrm>
            <a:off x="502920" y="4864608"/>
            <a:ext cx="5486400" cy="228600"/>
          </a:xfrm>
          <a:prstGeom prst="rect">
            <a:avLst/>
          </a:prstGeom>
          <a:noFill/>
          <a:ln/>
        </p:spPr>
        <p:txBody>
          <a:bodyPr wrap="square" lIns="0" tIns="0" rIns="0" bIns="0" rtlCol="0" anchor="ctr"/>
          <a:lstStyle/>
          <a:p>
            <a:pPr marL="0" indent="0">
              <a:buNone/>
            </a:pPr>
            <a:r>
              <a:rPr lang="en-US" sz="900" dirty="0">
                <a:solidFill>
                  <a:srgbClr val="5C6B83"/>
                </a:solidFill>
                <a:latin typeface="Calibri" pitchFamily="34" charset="0"/>
                <a:ea typeface="Calibri" pitchFamily="34" charset="-122"/>
                <a:cs typeface="Calibri" pitchFamily="34" charset="-120"/>
              </a:rPr>
              <a:t>Robustness of AI-Based Forensic Tools  |  Lello Molinario</a:t>
            </a:r>
            <a:endParaRPr lang="en-US" sz="900" dirty="0"/>
          </a:p>
        </p:txBody>
      </p:sp>
      <p:sp>
        <p:nvSpPr>
          <p:cNvPr id="26" name="Text 20"/>
          <p:cNvSpPr/>
          <p:nvPr/>
        </p:nvSpPr>
        <p:spPr>
          <a:xfrm>
            <a:off x="8732520" y="4864608"/>
            <a:ext cx="365760" cy="228600"/>
          </a:xfrm>
          <a:prstGeom prst="rect">
            <a:avLst/>
          </a:prstGeom>
          <a:noFill/>
          <a:ln/>
        </p:spPr>
        <p:txBody>
          <a:bodyPr wrap="square" lIns="0" tIns="0" rIns="0" bIns="0" rtlCol="0" anchor="ctr"/>
          <a:lstStyle/>
          <a:p>
            <a:pPr marL="0" indent="0" algn="r">
              <a:buNone/>
            </a:pPr>
            <a:r>
              <a:rPr lang="en-US" sz="900" dirty="0">
                <a:solidFill>
                  <a:srgbClr val="5C6B8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marL="0" indent="0">
              <a:buNone/>
            </a:pPr>
            <a:r>
              <a:rPr lang="en-US" sz="1250" b="1" kern="0" spc="200" dirty="0">
                <a:solidFill>
                  <a:srgbClr val="0E8A8A"/>
                </a:solidFill>
                <a:latin typeface="Calibri" pitchFamily="34" charset="0"/>
                <a:ea typeface="Calibri" pitchFamily="34" charset="-122"/>
                <a:cs typeface="Calibri" pitchFamily="34" charset="-120"/>
              </a:rPr>
              <a:t>PROXY TRACK</a:t>
            </a:r>
            <a:endParaRPr lang="en-US" sz="125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2700" b="1" dirty="0">
                <a:solidFill>
                  <a:srgbClr val="0A1F3D"/>
                </a:solidFill>
                <a:latin typeface="Cambria" pitchFamily="34" charset="0"/>
                <a:ea typeface="Cambria" pitchFamily="34" charset="-122"/>
                <a:cs typeface="Cambria" pitchFamily="34" charset="-120"/>
              </a:rPr>
              <a:t>Proxy Model Evaluation</a:t>
            </a:r>
            <a:endParaRPr lang="en-US" sz="2700" dirty="0"/>
          </a:p>
        </p:txBody>
      </p:sp>
      <p:sp>
        <p:nvSpPr>
          <p:cNvPr id="4" name="Shape 2"/>
          <p:cNvSpPr/>
          <p:nvPr/>
        </p:nvSpPr>
        <p:spPr>
          <a:xfrm>
            <a:off x="502920" y="1417320"/>
            <a:ext cx="1737360" cy="960120"/>
          </a:xfrm>
          <a:prstGeom prst="roundRect">
            <a:avLst>
              <a:gd name="adj" fmla="val 8571"/>
            </a:avLst>
          </a:prstGeom>
          <a:solidFill>
            <a:srgbClr val="F3F6FA"/>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sp>
        <p:nvSpPr>
          <p:cNvPr id="5" name="Text 3"/>
          <p:cNvSpPr/>
          <p:nvPr/>
        </p:nvSpPr>
        <p:spPr>
          <a:xfrm>
            <a:off x="576072" y="1417320"/>
            <a:ext cx="1591056" cy="960120"/>
          </a:xfrm>
          <a:prstGeom prst="rect">
            <a:avLst/>
          </a:prstGeom>
          <a:noFill/>
          <a:ln/>
        </p:spPr>
        <p:txBody>
          <a:bodyPr wrap="square" lIns="0" tIns="0" rIns="0" bIns="0" rtlCol="0" anchor="ctr"/>
          <a:lstStyle/>
          <a:p>
            <a:pPr marL="0" indent="0" algn="ctr">
              <a:buNone/>
            </a:pPr>
            <a:r>
              <a:rPr lang="en-US" sz="1200" b="1" dirty="0">
                <a:solidFill>
                  <a:srgbClr val="1C2B42"/>
                </a:solidFill>
                <a:latin typeface="Calibri" pitchFamily="34" charset="0"/>
                <a:ea typeface="Calibri" pitchFamily="34" charset="-122"/>
                <a:cs typeface="Calibri" pitchFamily="34" charset="-120"/>
              </a:rPr>
              <a:t>ResNet18</a:t>
            </a:r>
            <a:endParaRPr lang="en-US" sz="1200" dirty="0"/>
          </a:p>
        </p:txBody>
      </p:sp>
      <p:sp>
        <p:nvSpPr>
          <p:cNvPr id="6" name="Shape 4"/>
          <p:cNvSpPr/>
          <p:nvPr/>
        </p:nvSpPr>
        <p:spPr>
          <a:xfrm>
            <a:off x="2468880" y="1417320"/>
            <a:ext cx="1737360" cy="960120"/>
          </a:xfrm>
          <a:prstGeom prst="roundRect">
            <a:avLst>
              <a:gd name="adj" fmla="val 8571"/>
            </a:avLst>
          </a:prstGeom>
          <a:solidFill>
            <a:srgbClr val="0A1F3D"/>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sp>
        <p:nvSpPr>
          <p:cNvPr id="7" name="Text 5"/>
          <p:cNvSpPr/>
          <p:nvPr/>
        </p:nvSpPr>
        <p:spPr>
          <a:xfrm>
            <a:off x="2542032" y="1417320"/>
            <a:ext cx="1591056" cy="9601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EfficientNet-B0</a:t>
            </a:r>
            <a:endParaRPr lang="en-US" sz="1200" dirty="0"/>
          </a:p>
        </p:txBody>
      </p:sp>
      <p:sp>
        <p:nvSpPr>
          <p:cNvPr id="8" name="Shape 6"/>
          <p:cNvSpPr/>
          <p:nvPr/>
        </p:nvSpPr>
        <p:spPr>
          <a:xfrm>
            <a:off x="4434840" y="1417320"/>
            <a:ext cx="1737360" cy="960120"/>
          </a:xfrm>
          <a:prstGeom prst="roundRect">
            <a:avLst>
              <a:gd name="adj" fmla="val 8571"/>
            </a:avLst>
          </a:prstGeom>
          <a:solidFill>
            <a:srgbClr val="F3F6FA"/>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sp>
        <p:nvSpPr>
          <p:cNvPr id="9" name="Text 7"/>
          <p:cNvSpPr/>
          <p:nvPr/>
        </p:nvSpPr>
        <p:spPr>
          <a:xfrm>
            <a:off x="4507992" y="1417320"/>
            <a:ext cx="1591056" cy="960120"/>
          </a:xfrm>
          <a:prstGeom prst="rect">
            <a:avLst/>
          </a:prstGeom>
          <a:noFill/>
          <a:ln/>
        </p:spPr>
        <p:txBody>
          <a:bodyPr wrap="square" lIns="0" tIns="0" rIns="0" bIns="0" rtlCol="0" anchor="ctr"/>
          <a:lstStyle/>
          <a:p>
            <a:pPr marL="0" indent="0" algn="ctr">
              <a:buNone/>
            </a:pPr>
            <a:r>
              <a:rPr lang="en-US" sz="1200" b="1" dirty="0">
                <a:solidFill>
                  <a:srgbClr val="1C2B42"/>
                </a:solidFill>
                <a:latin typeface="Calibri" pitchFamily="34" charset="0"/>
                <a:ea typeface="Calibri" pitchFamily="34" charset="-122"/>
                <a:cs typeface="Calibri" pitchFamily="34" charset="-120"/>
              </a:rPr>
              <a:t>CLIP visual encoder</a:t>
            </a:r>
            <a:endParaRPr lang="en-US" sz="1200" dirty="0"/>
          </a:p>
        </p:txBody>
      </p:sp>
      <p:sp>
        <p:nvSpPr>
          <p:cNvPr id="10" name="Text 8"/>
          <p:cNvSpPr/>
          <p:nvPr/>
        </p:nvSpPr>
        <p:spPr>
          <a:xfrm>
            <a:off x="2468880" y="2404872"/>
            <a:ext cx="1737360" cy="228600"/>
          </a:xfrm>
          <a:prstGeom prst="rect">
            <a:avLst/>
          </a:prstGeom>
          <a:noFill/>
          <a:ln/>
        </p:spPr>
        <p:txBody>
          <a:bodyPr wrap="square" lIns="0" tIns="0" rIns="0" bIns="0" rtlCol="0" anchor="ctr"/>
          <a:lstStyle/>
          <a:p>
            <a:pPr marL="0" indent="0" algn="ctr">
              <a:buNone/>
            </a:pPr>
            <a:r>
              <a:rPr lang="en-US" sz="900" i="1" dirty="0">
                <a:solidFill>
                  <a:srgbClr val="5C6B83"/>
                </a:solidFill>
                <a:latin typeface="Calibri" pitchFamily="34" charset="0"/>
                <a:ea typeface="Calibri" pitchFamily="34" charset="-122"/>
                <a:cs typeface="Calibri" pitchFamily="34" charset="-120"/>
              </a:rPr>
              <a:t>primary adversarial target</a:t>
            </a:r>
            <a:endParaRPr lang="en-US" sz="900" dirty="0"/>
          </a:p>
        </p:txBody>
      </p:sp>
      <p:sp>
        <p:nvSpPr>
          <p:cNvPr id="11" name="Shape 9"/>
          <p:cNvSpPr/>
          <p:nvPr/>
        </p:nvSpPr>
        <p:spPr>
          <a:xfrm>
            <a:off x="589788" y="2788920"/>
            <a:ext cx="1490472" cy="1508760"/>
          </a:xfrm>
          <a:prstGeom prst="roundRect">
            <a:avLst>
              <a:gd name="adj" fmla="val 5521"/>
            </a:avLst>
          </a:prstGeom>
          <a:solidFill>
            <a:srgbClr val="E3F3F2"/>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12" name="Shape 10"/>
          <p:cNvSpPr/>
          <p:nvPr/>
        </p:nvSpPr>
        <p:spPr>
          <a:xfrm>
            <a:off x="1115568" y="2953512"/>
            <a:ext cx="438912" cy="438912"/>
          </a:xfrm>
          <a:prstGeom prst="ellipse">
            <a:avLst/>
          </a:prstGeom>
          <a:solidFill>
            <a:srgbClr val="0E8A8A"/>
          </a:solidFill>
          <a:ln/>
        </p:spPr>
        <p:txBody>
          <a:bodyPr/>
          <a:lstStyle/>
          <a:p>
            <a:endParaRPr lang="it-IT"/>
          </a:p>
        </p:txBody>
      </p:sp>
      <p:pic>
        <p:nvPicPr>
          <p:cNvPr id="13" name="Image 0" descr="preencoded.png"/>
          <p:cNvPicPr>
            <a:picLocks noChangeAspect="1"/>
          </p:cNvPicPr>
          <p:nvPr/>
        </p:nvPicPr>
        <p:blipFill>
          <a:blip r:embed="rId3"/>
          <a:stretch>
            <a:fillRect/>
          </a:stretch>
        </p:blipFill>
        <p:spPr>
          <a:xfrm>
            <a:off x="1172627" y="3010571"/>
            <a:ext cx="324795" cy="324795"/>
          </a:xfrm>
          <a:prstGeom prst="rect">
            <a:avLst/>
          </a:prstGeom>
        </p:spPr>
      </p:pic>
      <p:sp>
        <p:nvSpPr>
          <p:cNvPr id="14" name="Text 11"/>
          <p:cNvSpPr/>
          <p:nvPr/>
        </p:nvSpPr>
        <p:spPr>
          <a:xfrm>
            <a:off x="635508" y="3502152"/>
            <a:ext cx="1399032" cy="731520"/>
          </a:xfrm>
          <a:prstGeom prst="rect">
            <a:avLst/>
          </a:prstGeom>
          <a:noFill/>
          <a:ln/>
        </p:spPr>
        <p:txBody>
          <a:bodyPr wrap="square" lIns="0" tIns="0" rIns="0" bIns="0" rtlCol="0" anchor="t"/>
          <a:lstStyle/>
          <a:p>
            <a:pPr marL="0" indent="0" algn="ctr">
              <a:lnSpc>
                <a:spcPct val="115000"/>
              </a:lnSpc>
              <a:buNone/>
            </a:pPr>
            <a:r>
              <a:rPr lang="en-US" sz="980" b="1" dirty="0">
                <a:solidFill>
                  <a:srgbClr val="0A1F3D"/>
                </a:solidFill>
                <a:latin typeface="Calibri" pitchFamily="34" charset="0"/>
                <a:ea typeface="Calibri" pitchFamily="34" charset="-122"/>
                <a:cs typeface="Calibri" pitchFamily="34" charset="-120"/>
              </a:rPr>
              <a:t>Controlled training</a:t>
            </a:r>
            <a:endParaRPr lang="en-US" sz="980" dirty="0"/>
          </a:p>
          <a:p>
            <a:pPr marL="0" indent="0" algn="ctr">
              <a:lnSpc>
                <a:spcPct val="115000"/>
              </a:lnSpc>
              <a:buNone/>
            </a:pPr>
            <a:r>
              <a:rPr lang="en-US" sz="980" b="1" dirty="0">
                <a:solidFill>
                  <a:srgbClr val="0A1F3D"/>
                </a:solidFill>
                <a:latin typeface="Calibri" pitchFamily="34" charset="0"/>
                <a:ea typeface="Calibri" pitchFamily="34" charset="-122"/>
                <a:cs typeface="Calibri" pitchFamily="34" charset="-120"/>
              </a:rPr>
              <a:t>&amp; testing</a:t>
            </a:r>
            <a:endParaRPr lang="en-US" sz="980" dirty="0"/>
          </a:p>
        </p:txBody>
      </p:sp>
      <p:sp>
        <p:nvSpPr>
          <p:cNvPr id="15" name="Shape 12"/>
          <p:cNvSpPr/>
          <p:nvPr/>
        </p:nvSpPr>
        <p:spPr>
          <a:xfrm>
            <a:off x="2208276" y="2788920"/>
            <a:ext cx="1490472" cy="1508760"/>
          </a:xfrm>
          <a:prstGeom prst="roundRect">
            <a:avLst>
              <a:gd name="adj" fmla="val 5521"/>
            </a:avLst>
          </a:prstGeom>
          <a:solidFill>
            <a:srgbClr val="E3F3F2"/>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16" name="Shape 13"/>
          <p:cNvSpPr/>
          <p:nvPr/>
        </p:nvSpPr>
        <p:spPr>
          <a:xfrm>
            <a:off x="2734056" y="2953512"/>
            <a:ext cx="438912" cy="438912"/>
          </a:xfrm>
          <a:prstGeom prst="ellipse">
            <a:avLst/>
          </a:prstGeom>
          <a:solidFill>
            <a:srgbClr val="0E8A8A"/>
          </a:solidFill>
          <a:ln/>
        </p:spPr>
        <p:txBody>
          <a:bodyPr/>
          <a:lstStyle/>
          <a:p>
            <a:endParaRPr lang="it-IT"/>
          </a:p>
        </p:txBody>
      </p:sp>
      <p:pic>
        <p:nvPicPr>
          <p:cNvPr id="17" name="Image 1" descr="preencoded.png"/>
          <p:cNvPicPr>
            <a:picLocks noChangeAspect="1"/>
          </p:cNvPicPr>
          <p:nvPr/>
        </p:nvPicPr>
        <p:blipFill>
          <a:blip r:embed="rId4"/>
          <a:stretch>
            <a:fillRect/>
          </a:stretch>
        </p:blipFill>
        <p:spPr>
          <a:xfrm>
            <a:off x="2791115" y="3010571"/>
            <a:ext cx="324795" cy="324795"/>
          </a:xfrm>
          <a:prstGeom prst="rect">
            <a:avLst/>
          </a:prstGeom>
        </p:spPr>
      </p:pic>
      <p:sp>
        <p:nvSpPr>
          <p:cNvPr id="18" name="Text 14"/>
          <p:cNvSpPr/>
          <p:nvPr/>
        </p:nvSpPr>
        <p:spPr>
          <a:xfrm>
            <a:off x="2253996" y="3502152"/>
            <a:ext cx="1399032" cy="731520"/>
          </a:xfrm>
          <a:prstGeom prst="rect">
            <a:avLst/>
          </a:prstGeom>
          <a:noFill/>
          <a:ln/>
        </p:spPr>
        <p:txBody>
          <a:bodyPr wrap="square" lIns="0" tIns="0" rIns="0" bIns="0" rtlCol="0" anchor="t"/>
          <a:lstStyle/>
          <a:p>
            <a:pPr marL="0" indent="0" algn="ctr">
              <a:lnSpc>
                <a:spcPct val="115000"/>
              </a:lnSpc>
              <a:buNone/>
            </a:pPr>
            <a:r>
              <a:rPr lang="en-US" sz="980" b="1" dirty="0">
                <a:solidFill>
                  <a:srgbClr val="0A1F3D"/>
                </a:solidFill>
                <a:latin typeface="Calibri" pitchFamily="34" charset="0"/>
                <a:ea typeface="Calibri" pitchFamily="34" charset="-122"/>
                <a:cs typeface="Calibri" pitchFamily="34" charset="-120"/>
              </a:rPr>
              <a:t>Adversarial attack</a:t>
            </a:r>
            <a:endParaRPr lang="en-US" sz="980" dirty="0"/>
          </a:p>
          <a:p>
            <a:pPr marL="0" indent="0" algn="ctr">
              <a:lnSpc>
                <a:spcPct val="115000"/>
              </a:lnSpc>
              <a:buNone/>
            </a:pPr>
            <a:r>
              <a:rPr lang="en-US" sz="980" b="1" dirty="0">
                <a:solidFill>
                  <a:srgbClr val="0A1F3D"/>
                </a:solidFill>
                <a:latin typeface="Calibri" pitchFamily="34" charset="0"/>
                <a:ea typeface="Calibri" pitchFamily="34" charset="-122"/>
                <a:cs typeface="Calibri" pitchFamily="34" charset="-120"/>
              </a:rPr>
              <a:t>generation</a:t>
            </a:r>
            <a:endParaRPr lang="en-US" sz="980" dirty="0"/>
          </a:p>
        </p:txBody>
      </p:sp>
      <p:sp>
        <p:nvSpPr>
          <p:cNvPr id="19" name="Shape 15"/>
          <p:cNvSpPr/>
          <p:nvPr/>
        </p:nvSpPr>
        <p:spPr>
          <a:xfrm>
            <a:off x="3826764" y="2788920"/>
            <a:ext cx="1490472" cy="1508760"/>
          </a:xfrm>
          <a:prstGeom prst="roundRect">
            <a:avLst>
              <a:gd name="adj" fmla="val 5521"/>
            </a:avLst>
          </a:prstGeom>
          <a:solidFill>
            <a:srgbClr val="E3F3F2"/>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20" name="Shape 16"/>
          <p:cNvSpPr/>
          <p:nvPr/>
        </p:nvSpPr>
        <p:spPr>
          <a:xfrm>
            <a:off x="4352544" y="2953512"/>
            <a:ext cx="438912" cy="438912"/>
          </a:xfrm>
          <a:prstGeom prst="ellipse">
            <a:avLst/>
          </a:prstGeom>
          <a:solidFill>
            <a:srgbClr val="0E8A8A"/>
          </a:solidFill>
          <a:ln/>
        </p:spPr>
        <p:txBody>
          <a:bodyPr/>
          <a:lstStyle/>
          <a:p>
            <a:endParaRPr lang="it-IT"/>
          </a:p>
        </p:txBody>
      </p:sp>
      <p:pic>
        <p:nvPicPr>
          <p:cNvPr id="21" name="Image 2" descr="preencoded.png"/>
          <p:cNvPicPr>
            <a:picLocks noChangeAspect="1"/>
          </p:cNvPicPr>
          <p:nvPr/>
        </p:nvPicPr>
        <p:blipFill>
          <a:blip r:embed="rId5"/>
          <a:stretch>
            <a:fillRect/>
          </a:stretch>
        </p:blipFill>
        <p:spPr>
          <a:xfrm>
            <a:off x="4409603" y="3010571"/>
            <a:ext cx="324795" cy="324795"/>
          </a:xfrm>
          <a:prstGeom prst="rect">
            <a:avLst/>
          </a:prstGeom>
        </p:spPr>
      </p:pic>
      <p:sp>
        <p:nvSpPr>
          <p:cNvPr id="22" name="Text 17"/>
          <p:cNvSpPr/>
          <p:nvPr/>
        </p:nvSpPr>
        <p:spPr>
          <a:xfrm>
            <a:off x="3872484" y="3502152"/>
            <a:ext cx="1399032" cy="731520"/>
          </a:xfrm>
          <a:prstGeom prst="rect">
            <a:avLst/>
          </a:prstGeom>
          <a:noFill/>
          <a:ln/>
        </p:spPr>
        <p:txBody>
          <a:bodyPr wrap="square" lIns="0" tIns="0" rIns="0" bIns="0" rtlCol="0" anchor="t"/>
          <a:lstStyle/>
          <a:p>
            <a:pPr marL="0" indent="0" algn="ctr">
              <a:lnSpc>
                <a:spcPct val="115000"/>
              </a:lnSpc>
              <a:buNone/>
            </a:pPr>
            <a:r>
              <a:rPr lang="en-US" sz="980" b="1" dirty="0">
                <a:solidFill>
                  <a:srgbClr val="0A1F3D"/>
                </a:solidFill>
                <a:latin typeface="Calibri" pitchFamily="34" charset="0"/>
                <a:ea typeface="Calibri" pitchFamily="34" charset="-122"/>
                <a:cs typeface="Calibri" pitchFamily="34" charset="-120"/>
              </a:rPr>
              <a:t>Confidence-level</a:t>
            </a:r>
            <a:endParaRPr lang="en-US" sz="980" dirty="0"/>
          </a:p>
          <a:p>
            <a:pPr marL="0" indent="0" algn="ctr">
              <a:lnSpc>
                <a:spcPct val="115000"/>
              </a:lnSpc>
              <a:buNone/>
            </a:pPr>
            <a:r>
              <a:rPr lang="en-US" sz="980" b="1" dirty="0">
                <a:solidFill>
                  <a:srgbClr val="0A1F3D"/>
                </a:solidFill>
                <a:latin typeface="Calibri" pitchFamily="34" charset="0"/>
                <a:ea typeface="Calibri" pitchFamily="34" charset="-122"/>
                <a:cs typeface="Calibri" pitchFamily="34" charset="-120"/>
              </a:rPr>
              <a:t>analysis</a:t>
            </a:r>
            <a:endParaRPr lang="en-US" sz="980" dirty="0"/>
          </a:p>
        </p:txBody>
      </p:sp>
      <p:sp>
        <p:nvSpPr>
          <p:cNvPr id="23" name="Shape 18"/>
          <p:cNvSpPr/>
          <p:nvPr/>
        </p:nvSpPr>
        <p:spPr>
          <a:xfrm>
            <a:off x="5445252" y="2788920"/>
            <a:ext cx="1490472" cy="1508760"/>
          </a:xfrm>
          <a:prstGeom prst="roundRect">
            <a:avLst>
              <a:gd name="adj" fmla="val 5521"/>
            </a:avLst>
          </a:prstGeom>
          <a:solidFill>
            <a:srgbClr val="E3F3F2"/>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24" name="Shape 19"/>
          <p:cNvSpPr/>
          <p:nvPr/>
        </p:nvSpPr>
        <p:spPr>
          <a:xfrm>
            <a:off x="5971032" y="2953512"/>
            <a:ext cx="438912" cy="438912"/>
          </a:xfrm>
          <a:prstGeom prst="ellipse">
            <a:avLst/>
          </a:prstGeom>
          <a:solidFill>
            <a:srgbClr val="0E8A8A"/>
          </a:solidFill>
          <a:ln/>
        </p:spPr>
        <p:txBody>
          <a:bodyPr/>
          <a:lstStyle/>
          <a:p>
            <a:endParaRPr lang="it-IT"/>
          </a:p>
        </p:txBody>
      </p:sp>
      <p:pic>
        <p:nvPicPr>
          <p:cNvPr id="25" name="Image 3" descr="preencoded.png"/>
          <p:cNvPicPr>
            <a:picLocks noChangeAspect="1"/>
          </p:cNvPicPr>
          <p:nvPr/>
        </p:nvPicPr>
        <p:blipFill>
          <a:blip r:embed="rId6"/>
          <a:stretch>
            <a:fillRect/>
          </a:stretch>
        </p:blipFill>
        <p:spPr>
          <a:xfrm>
            <a:off x="6028091" y="3010571"/>
            <a:ext cx="324795" cy="324795"/>
          </a:xfrm>
          <a:prstGeom prst="rect">
            <a:avLst/>
          </a:prstGeom>
        </p:spPr>
      </p:pic>
      <p:sp>
        <p:nvSpPr>
          <p:cNvPr id="26" name="Text 20"/>
          <p:cNvSpPr/>
          <p:nvPr/>
        </p:nvSpPr>
        <p:spPr>
          <a:xfrm>
            <a:off x="5490972" y="3502152"/>
            <a:ext cx="1399032" cy="731520"/>
          </a:xfrm>
          <a:prstGeom prst="rect">
            <a:avLst/>
          </a:prstGeom>
          <a:noFill/>
          <a:ln/>
        </p:spPr>
        <p:txBody>
          <a:bodyPr wrap="square" lIns="0" tIns="0" rIns="0" bIns="0" rtlCol="0" anchor="t"/>
          <a:lstStyle/>
          <a:p>
            <a:pPr marL="0" indent="0" algn="ctr">
              <a:lnSpc>
                <a:spcPct val="115000"/>
              </a:lnSpc>
              <a:buNone/>
            </a:pPr>
            <a:r>
              <a:rPr lang="en-US" sz="980" b="1" dirty="0">
                <a:solidFill>
                  <a:srgbClr val="0A1F3D"/>
                </a:solidFill>
                <a:latin typeface="Calibri" pitchFamily="34" charset="0"/>
                <a:ea typeface="Calibri" pitchFamily="34" charset="-122"/>
                <a:cs typeface="Calibri" pitchFamily="34" charset="-120"/>
              </a:rPr>
              <a:t>Confusion</a:t>
            </a:r>
            <a:endParaRPr lang="en-US" sz="980" dirty="0"/>
          </a:p>
          <a:p>
            <a:pPr marL="0" indent="0" algn="ctr">
              <a:lnSpc>
                <a:spcPct val="115000"/>
              </a:lnSpc>
              <a:buNone/>
            </a:pPr>
            <a:r>
              <a:rPr lang="en-US" sz="980" b="1" dirty="0">
                <a:solidFill>
                  <a:srgbClr val="0A1F3D"/>
                </a:solidFill>
                <a:latin typeface="Calibri" pitchFamily="34" charset="0"/>
                <a:ea typeface="Calibri" pitchFamily="34" charset="-122"/>
                <a:cs typeface="Calibri" pitchFamily="34" charset="-120"/>
              </a:rPr>
              <a:t>matrices</a:t>
            </a:r>
            <a:endParaRPr lang="en-US" sz="980" dirty="0"/>
          </a:p>
        </p:txBody>
      </p:sp>
      <p:sp>
        <p:nvSpPr>
          <p:cNvPr id="27" name="Shape 21"/>
          <p:cNvSpPr/>
          <p:nvPr/>
        </p:nvSpPr>
        <p:spPr>
          <a:xfrm>
            <a:off x="7063740" y="2788920"/>
            <a:ext cx="1490472" cy="1508760"/>
          </a:xfrm>
          <a:prstGeom prst="roundRect">
            <a:avLst>
              <a:gd name="adj" fmla="val 5521"/>
            </a:avLst>
          </a:prstGeom>
          <a:solidFill>
            <a:srgbClr val="E3F3F2"/>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28" name="Shape 22"/>
          <p:cNvSpPr/>
          <p:nvPr/>
        </p:nvSpPr>
        <p:spPr>
          <a:xfrm>
            <a:off x="7589520" y="2953512"/>
            <a:ext cx="438912" cy="438912"/>
          </a:xfrm>
          <a:prstGeom prst="ellipse">
            <a:avLst/>
          </a:prstGeom>
          <a:solidFill>
            <a:srgbClr val="0E8A8A"/>
          </a:solidFill>
          <a:ln/>
        </p:spPr>
        <p:txBody>
          <a:bodyPr/>
          <a:lstStyle/>
          <a:p>
            <a:endParaRPr lang="it-IT"/>
          </a:p>
        </p:txBody>
      </p:sp>
      <p:pic>
        <p:nvPicPr>
          <p:cNvPr id="29" name="Image 4" descr="preencoded.png"/>
          <p:cNvPicPr>
            <a:picLocks noChangeAspect="1"/>
          </p:cNvPicPr>
          <p:nvPr/>
        </p:nvPicPr>
        <p:blipFill>
          <a:blip r:embed="rId7"/>
          <a:stretch>
            <a:fillRect/>
          </a:stretch>
        </p:blipFill>
        <p:spPr>
          <a:xfrm>
            <a:off x="7646579" y="3010571"/>
            <a:ext cx="324795" cy="324795"/>
          </a:xfrm>
          <a:prstGeom prst="rect">
            <a:avLst/>
          </a:prstGeom>
        </p:spPr>
      </p:pic>
      <p:sp>
        <p:nvSpPr>
          <p:cNvPr id="30" name="Text 23"/>
          <p:cNvSpPr/>
          <p:nvPr/>
        </p:nvSpPr>
        <p:spPr>
          <a:xfrm>
            <a:off x="7109460" y="3502152"/>
            <a:ext cx="1399032" cy="731520"/>
          </a:xfrm>
          <a:prstGeom prst="rect">
            <a:avLst/>
          </a:prstGeom>
          <a:noFill/>
          <a:ln/>
        </p:spPr>
        <p:txBody>
          <a:bodyPr wrap="square" lIns="0" tIns="0" rIns="0" bIns="0" rtlCol="0" anchor="t"/>
          <a:lstStyle/>
          <a:p>
            <a:pPr marL="0" indent="0" algn="ctr">
              <a:lnSpc>
                <a:spcPct val="115000"/>
              </a:lnSpc>
              <a:buNone/>
            </a:pPr>
            <a:r>
              <a:rPr lang="en-US" sz="980" b="1" dirty="0">
                <a:solidFill>
                  <a:srgbClr val="0A1F3D"/>
                </a:solidFill>
                <a:latin typeface="Calibri" pitchFamily="34" charset="0"/>
                <a:ea typeface="Calibri" pitchFamily="34" charset="-122"/>
                <a:cs typeface="Calibri" pitchFamily="34" charset="-120"/>
              </a:rPr>
              <a:t>XAI heatmaps &amp;</a:t>
            </a:r>
            <a:endParaRPr lang="en-US" sz="980" dirty="0"/>
          </a:p>
          <a:p>
            <a:pPr marL="0" indent="0" algn="ctr">
              <a:lnSpc>
                <a:spcPct val="115000"/>
              </a:lnSpc>
              <a:buNone/>
            </a:pPr>
            <a:r>
              <a:rPr lang="en-US" sz="980" b="1" dirty="0">
                <a:solidFill>
                  <a:srgbClr val="0A1F3D"/>
                </a:solidFill>
                <a:latin typeface="Calibri" pitchFamily="34" charset="0"/>
                <a:ea typeface="Calibri" pitchFamily="34" charset="-122"/>
                <a:cs typeface="Calibri" pitchFamily="34" charset="-120"/>
              </a:rPr>
              <a:t>attribution maps</a:t>
            </a:r>
            <a:endParaRPr lang="en-US" sz="980" dirty="0"/>
          </a:p>
        </p:txBody>
      </p:sp>
      <p:sp>
        <p:nvSpPr>
          <p:cNvPr id="31" name="Text 24"/>
          <p:cNvSpPr/>
          <p:nvPr/>
        </p:nvSpPr>
        <p:spPr>
          <a:xfrm>
            <a:off x="502920" y="4480560"/>
            <a:ext cx="8138160" cy="320040"/>
          </a:xfrm>
          <a:prstGeom prst="rect">
            <a:avLst/>
          </a:prstGeom>
          <a:noFill/>
          <a:ln/>
        </p:spPr>
        <p:txBody>
          <a:bodyPr wrap="square" lIns="0" tIns="0" rIns="0" bIns="0" rtlCol="0" anchor="ctr"/>
          <a:lstStyle/>
          <a:p>
            <a:pPr marL="0" indent="0">
              <a:buNone/>
            </a:pPr>
            <a:r>
              <a:rPr lang="en-US" sz="1080" b="1" dirty="0">
                <a:solidFill>
                  <a:srgbClr val="0A1F3D"/>
                </a:solidFill>
                <a:latin typeface="Calibri" pitchFamily="34" charset="0"/>
                <a:ea typeface="Calibri" pitchFamily="34" charset="-122"/>
                <a:cs typeface="Calibri" pitchFamily="34" charset="-120"/>
              </a:rPr>
              <a:t>Role in the thesis: </a:t>
            </a:r>
            <a:r>
              <a:rPr lang="en-US" sz="1080" dirty="0">
                <a:solidFill>
                  <a:srgbClr val="1C2B42"/>
                </a:solidFill>
                <a:latin typeface="Calibri" pitchFamily="34" charset="0"/>
                <a:ea typeface="Calibri" pitchFamily="34" charset="-122"/>
                <a:cs typeface="Calibri" pitchFamily="34" charset="-120"/>
              </a:rPr>
              <a:t>proxy models act as transparent reference systems for understanding robustness under controlled stress — not as replacements for commercial tools.</a:t>
            </a:r>
            <a:endParaRPr lang="en-US" sz="1080" dirty="0"/>
          </a:p>
        </p:txBody>
      </p:sp>
      <p:sp>
        <p:nvSpPr>
          <p:cNvPr id="32" name="Text 25"/>
          <p:cNvSpPr/>
          <p:nvPr/>
        </p:nvSpPr>
        <p:spPr>
          <a:xfrm>
            <a:off x="502920" y="4864608"/>
            <a:ext cx="5486400" cy="228600"/>
          </a:xfrm>
          <a:prstGeom prst="rect">
            <a:avLst/>
          </a:prstGeom>
          <a:noFill/>
          <a:ln/>
        </p:spPr>
        <p:txBody>
          <a:bodyPr wrap="square" lIns="0" tIns="0" rIns="0" bIns="0" rtlCol="0" anchor="ctr"/>
          <a:lstStyle/>
          <a:p>
            <a:pPr marL="0" indent="0">
              <a:buNone/>
            </a:pPr>
            <a:r>
              <a:rPr lang="en-US" sz="900" dirty="0">
                <a:solidFill>
                  <a:srgbClr val="5C6B83"/>
                </a:solidFill>
                <a:latin typeface="Calibri" pitchFamily="34" charset="0"/>
                <a:ea typeface="Calibri" pitchFamily="34" charset="-122"/>
                <a:cs typeface="Calibri" pitchFamily="34" charset="-120"/>
              </a:rPr>
              <a:t>Robustness of AI-Based Forensic Tools  |  Lello Molinario</a:t>
            </a:r>
            <a:endParaRPr lang="en-US" sz="900" dirty="0"/>
          </a:p>
        </p:txBody>
      </p:sp>
      <p:sp>
        <p:nvSpPr>
          <p:cNvPr id="33" name="Text 26"/>
          <p:cNvSpPr/>
          <p:nvPr/>
        </p:nvSpPr>
        <p:spPr>
          <a:xfrm>
            <a:off x="8732520" y="4864608"/>
            <a:ext cx="365760" cy="228600"/>
          </a:xfrm>
          <a:prstGeom prst="rect">
            <a:avLst/>
          </a:prstGeom>
          <a:noFill/>
          <a:ln/>
        </p:spPr>
        <p:txBody>
          <a:bodyPr wrap="square" lIns="0" tIns="0" rIns="0" bIns="0" rtlCol="0" anchor="ctr"/>
          <a:lstStyle/>
          <a:p>
            <a:pPr marL="0" indent="0" algn="r">
              <a:buNone/>
            </a:pPr>
            <a:r>
              <a:rPr lang="en-US" sz="900" dirty="0">
                <a:solidFill>
                  <a:srgbClr val="5C6B8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marL="0" indent="0">
              <a:buNone/>
            </a:pPr>
            <a:r>
              <a:rPr lang="en-US" sz="1250" b="1" kern="0" spc="200" dirty="0">
                <a:solidFill>
                  <a:srgbClr val="0E8A8A"/>
                </a:solidFill>
                <a:latin typeface="Calibri" pitchFamily="34" charset="0"/>
                <a:ea typeface="Calibri" pitchFamily="34" charset="-122"/>
                <a:cs typeface="Calibri" pitchFamily="34" charset="-120"/>
              </a:rPr>
              <a:t>BLACK-BOX TRACK</a:t>
            </a:r>
            <a:endParaRPr lang="en-US" sz="125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2700" b="1" dirty="0">
                <a:solidFill>
                  <a:srgbClr val="0A1F3D"/>
                </a:solidFill>
                <a:latin typeface="Cambria" pitchFamily="34" charset="0"/>
                <a:ea typeface="Cambria" pitchFamily="34" charset="-122"/>
                <a:cs typeface="Cambria" pitchFamily="34" charset="-120"/>
              </a:rPr>
              <a:t>Commercial Tool Evaluation</a:t>
            </a:r>
            <a:endParaRPr lang="en-US" sz="2700" dirty="0"/>
          </a:p>
        </p:txBody>
      </p:sp>
      <p:sp>
        <p:nvSpPr>
          <p:cNvPr id="4" name="Shape 2"/>
          <p:cNvSpPr/>
          <p:nvPr/>
        </p:nvSpPr>
        <p:spPr>
          <a:xfrm>
            <a:off x="685800" y="1417320"/>
            <a:ext cx="1417320" cy="960120"/>
          </a:xfrm>
          <a:prstGeom prst="roundRect">
            <a:avLst>
              <a:gd name="adj" fmla="val 8571"/>
            </a:avLst>
          </a:prstGeom>
          <a:solidFill>
            <a:srgbClr val="F3F6FA"/>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pic>
        <p:nvPicPr>
          <p:cNvPr id="5" name="Image 0" descr="preencoded.png"/>
          <p:cNvPicPr>
            <a:picLocks noChangeAspect="1"/>
          </p:cNvPicPr>
          <p:nvPr/>
        </p:nvPicPr>
        <p:blipFill>
          <a:blip r:embed="rId3"/>
          <a:stretch>
            <a:fillRect/>
          </a:stretch>
        </p:blipFill>
        <p:spPr>
          <a:xfrm>
            <a:off x="1211580" y="1527048"/>
            <a:ext cx="365760" cy="365760"/>
          </a:xfrm>
          <a:prstGeom prst="rect">
            <a:avLst/>
          </a:prstGeom>
        </p:spPr>
      </p:pic>
      <p:sp>
        <p:nvSpPr>
          <p:cNvPr id="6" name="Text 3"/>
          <p:cNvSpPr/>
          <p:nvPr/>
        </p:nvSpPr>
        <p:spPr>
          <a:xfrm>
            <a:off x="713232" y="1929384"/>
            <a:ext cx="1362456" cy="402336"/>
          </a:xfrm>
          <a:prstGeom prst="rect">
            <a:avLst/>
          </a:prstGeom>
          <a:noFill/>
          <a:ln/>
        </p:spPr>
        <p:txBody>
          <a:bodyPr wrap="square" lIns="0" tIns="0" rIns="0" bIns="0" rtlCol="0" anchor="t"/>
          <a:lstStyle/>
          <a:p>
            <a:pPr marL="0" indent="0" algn="ctr">
              <a:lnSpc>
                <a:spcPct val="110000"/>
              </a:lnSpc>
              <a:buNone/>
            </a:pPr>
            <a:r>
              <a:rPr lang="en-US" sz="930" b="1" dirty="0">
                <a:solidFill>
                  <a:srgbClr val="1C2B42"/>
                </a:solidFill>
                <a:latin typeface="Calibri" pitchFamily="34" charset="0"/>
                <a:ea typeface="Calibri" pitchFamily="34" charset="-122"/>
                <a:cs typeface="Calibri" pitchFamily="34" charset="-120"/>
              </a:rPr>
              <a:t>Input</a:t>
            </a:r>
            <a:endParaRPr lang="en-US" sz="930" dirty="0"/>
          </a:p>
          <a:p>
            <a:pPr marL="0" indent="0" algn="ctr">
              <a:lnSpc>
                <a:spcPct val="110000"/>
              </a:lnSpc>
              <a:buNone/>
            </a:pPr>
            <a:r>
              <a:rPr lang="en-US" sz="930" b="1" dirty="0">
                <a:solidFill>
                  <a:srgbClr val="1C2B42"/>
                </a:solidFill>
                <a:latin typeface="Calibri" pitchFamily="34" charset="0"/>
                <a:ea typeface="Calibri" pitchFamily="34" charset="-122"/>
                <a:cs typeface="Calibri" pitchFamily="34" charset="-120"/>
              </a:rPr>
              <a:t>Bundle</a:t>
            </a:r>
            <a:endParaRPr lang="en-US" sz="930" dirty="0"/>
          </a:p>
        </p:txBody>
      </p:sp>
      <p:sp>
        <p:nvSpPr>
          <p:cNvPr id="7" name="Shape 4"/>
          <p:cNvSpPr/>
          <p:nvPr/>
        </p:nvSpPr>
        <p:spPr>
          <a:xfrm>
            <a:off x="2121408" y="1833372"/>
            <a:ext cx="146304" cy="128016"/>
          </a:xfrm>
          <a:prstGeom prst="rightArrow">
            <a:avLst/>
          </a:prstGeom>
          <a:solidFill>
            <a:srgbClr val="C6D2E3"/>
          </a:solidFill>
          <a:ln/>
        </p:spPr>
        <p:txBody>
          <a:bodyPr/>
          <a:lstStyle/>
          <a:p>
            <a:endParaRPr lang="it-IT"/>
          </a:p>
        </p:txBody>
      </p:sp>
      <p:sp>
        <p:nvSpPr>
          <p:cNvPr id="8" name="Shape 5"/>
          <p:cNvSpPr/>
          <p:nvPr/>
        </p:nvSpPr>
        <p:spPr>
          <a:xfrm>
            <a:off x="2286000" y="1417320"/>
            <a:ext cx="1325880" cy="960120"/>
          </a:xfrm>
          <a:prstGeom prst="roundRect">
            <a:avLst>
              <a:gd name="adj" fmla="val 8571"/>
            </a:avLst>
          </a:prstGeom>
          <a:solidFill>
            <a:schemeClr val="bg2"/>
          </a:solidFill>
          <a:ln/>
          <a:effectLst>
            <a:outerShdw blurRad="88900" dist="25400" dir="5400000" algn="bl" rotWithShape="0">
              <a:srgbClr val="000000">
                <a:alpha val="10000"/>
              </a:srgbClr>
            </a:outerShdw>
          </a:effectLst>
        </p:spPr>
        <p:txBody>
          <a:bodyPr/>
          <a:lstStyle/>
          <a:p>
            <a:endParaRPr lang="it-IT"/>
          </a:p>
        </p:txBody>
      </p:sp>
      <p:pic>
        <p:nvPicPr>
          <p:cNvPr id="9" name="Image 1" descr="preencoded.png"/>
          <p:cNvPicPr>
            <a:picLocks noChangeAspect="1"/>
          </p:cNvPicPr>
          <p:nvPr/>
        </p:nvPicPr>
        <p:blipFill>
          <a:blip r:embed="rId4"/>
          <a:stretch>
            <a:fillRect/>
          </a:stretch>
        </p:blipFill>
        <p:spPr>
          <a:xfrm>
            <a:off x="2766060" y="1527048"/>
            <a:ext cx="365760" cy="365760"/>
          </a:xfrm>
          <a:prstGeom prst="rect">
            <a:avLst/>
          </a:prstGeom>
        </p:spPr>
      </p:pic>
      <p:sp>
        <p:nvSpPr>
          <p:cNvPr id="10" name="Text 6"/>
          <p:cNvSpPr/>
          <p:nvPr/>
        </p:nvSpPr>
        <p:spPr>
          <a:xfrm>
            <a:off x="2313432" y="1929384"/>
            <a:ext cx="1271016" cy="402336"/>
          </a:xfrm>
          <a:prstGeom prst="rect">
            <a:avLst/>
          </a:prstGeom>
          <a:noFill/>
          <a:ln/>
        </p:spPr>
        <p:txBody>
          <a:bodyPr wrap="square" lIns="0" tIns="0" rIns="0" bIns="0" rtlCol="0" anchor="t"/>
          <a:lstStyle/>
          <a:p>
            <a:pPr marL="0" indent="0" algn="ctr">
              <a:lnSpc>
                <a:spcPct val="110000"/>
              </a:lnSpc>
              <a:buNone/>
            </a:pPr>
            <a:r>
              <a:rPr lang="en-US" sz="930" b="1" dirty="0">
                <a:latin typeface="Calibri" pitchFamily="34" charset="0"/>
                <a:ea typeface="Calibri" pitchFamily="34" charset="-122"/>
                <a:cs typeface="Calibri" pitchFamily="34" charset="-120"/>
              </a:rPr>
              <a:t>Tool</a:t>
            </a:r>
            <a:endParaRPr lang="en-US" sz="930" dirty="0"/>
          </a:p>
          <a:p>
            <a:pPr marL="0" indent="0" algn="ctr">
              <a:lnSpc>
                <a:spcPct val="110000"/>
              </a:lnSpc>
              <a:buNone/>
            </a:pPr>
            <a:r>
              <a:rPr lang="en-US" sz="930" b="1" dirty="0">
                <a:latin typeface="Calibri" pitchFamily="34" charset="0"/>
                <a:ea typeface="Calibri" pitchFamily="34" charset="-122"/>
                <a:cs typeface="Calibri" pitchFamily="34" charset="-120"/>
              </a:rPr>
              <a:t>(black box)</a:t>
            </a:r>
            <a:endParaRPr lang="en-US" sz="930" dirty="0"/>
          </a:p>
        </p:txBody>
      </p:sp>
      <p:sp>
        <p:nvSpPr>
          <p:cNvPr id="11" name="Shape 7"/>
          <p:cNvSpPr/>
          <p:nvPr/>
        </p:nvSpPr>
        <p:spPr>
          <a:xfrm>
            <a:off x="3630168" y="1833372"/>
            <a:ext cx="146304" cy="128016"/>
          </a:xfrm>
          <a:prstGeom prst="rightArrow">
            <a:avLst/>
          </a:prstGeom>
          <a:solidFill>
            <a:srgbClr val="C6D2E3"/>
          </a:solidFill>
          <a:ln/>
        </p:spPr>
        <p:txBody>
          <a:bodyPr/>
          <a:lstStyle/>
          <a:p>
            <a:endParaRPr lang="it-IT"/>
          </a:p>
        </p:txBody>
      </p:sp>
      <p:sp>
        <p:nvSpPr>
          <p:cNvPr id="12" name="Shape 8"/>
          <p:cNvSpPr/>
          <p:nvPr/>
        </p:nvSpPr>
        <p:spPr>
          <a:xfrm>
            <a:off x="3794760" y="1417320"/>
            <a:ext cx="1417320" cy="960120"/>
          </a:xfrm>
          <a:prstGeom prst="roundRect">
            <a:avLst>
              <a:gd name="adj" fmla="val 8571"/>
            </a:avLst>
          </a:prstGeom>
          <a:solidFill>
            <a:srgbClr val="F3F6FA"/>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pic>
        <p:nvPicPr>
          <p:cNvPr id="13" name="Image 2" descr="preencoded.png"/>
          <p:cNvPicPr>
            <a:picLocks noChangeAspect="1"/>
          </p:cNvPicPr>
          <p:nvPr/>
        </p:nvPicPr>
        <p:blipFill>
          <a:blip r:embed="rId5"/>
          <a:stretch>
            <a:fillRect/>
          </a:stretch>
        </p:blipFill>
        <p:spPr>
          <a:xfrm>
            <a:off x="4320540" y="1527048"/>
            <a:ext cx="365760" cy="365760"/>
          </a:xfrm>
          <a:prstGeom prst="rect">
            <a:avLst/>
          </a:prstGeom>
        </p:spPr>
      </p:pic>
      <p:sp>
        <p:nvSpPr>
          <p:cNvPr id="14" name="Text 9"/>
          <p:cNvSpPr/>
          <p:nvPr/>
        </p:nvSpPr>
        <p:spPr>
          <a:xfrm>
            <a:off x="3822192" y="1929384"/>
            <a:ext cx="1362456" cy="402336"/>
          </a:xfrm>
          <a:prstGeom prst="rect">
            <a:avLst/>
          </a:prstGeom>
          <a:noFill/>
          <a:ln/>
        </p:spPr>
        <p:txBody>
          <a:bodyPr wrap="square" lIns="0" tIns="0" rIns="0" bIns="0" rtlCol="0" anchor="t"/>
          <a:lstStyle/>
          <a:p>
            <a:pPr marL="0" indent="0" algn="ctr">
              <a:lnSpc>
                <a:spcPct val="110000"/>
              </a:lnSpc>
              <a:buNone/>
            </a:pPr>
            <a:r>
              <a:rPr lang="en-US" sz="930" b="1" dirty="0">
                <a:solidFill>
                  <a:srgbClr val="1C2B42"/>
                </a:solidFill>
                <a:latin typeface="Calibri" pitchFamily="34" charset="0"/>
                <a:ea typeface="Calibri" pitchFamily="34" charset="-122"/>
                <a:cs typeface="Calibri" pitchFamily="34" charset="-120"/>
              </a:rPr>
              <a:t>Export /</a:t>
            </a:r>
            <a:endParaRPr lang="en-US" sz="930" dirty="0"/>
          </a:p>
          <a:p>
            <a:pPr marL="0" indent="0" algn="ctr">
              <a:lnSpc>
                <a:spcPct val="110000"/>
              </a:lnSpc>
              <a:buNone/>
            </a:pPr>
            <a:r>
              <a:rPr lang="en-US" sz="930" b="1" dirty="0">
                <a:solidFill>
                  <a:srgbClr val="1C2B42"/>
                </a:solidFill>
                <a:latin typeface="Calibri" pitchFamily="34" charset="0"/>
                <a:ea typeface="Calibri" pitchFamily="34" charset="-122"/>
                <a:cs typeface="Calibri" pitchFamily="34" charset="-120"/>
              </a:rPr>
              <a:t>Report</a:t>
            </a:r>
            <a:endParaRPr lang="en-US" sz="930" dirty="0"/>
          </a:p>
        </p:txBody>
      </p:sp>
      <p:sp>
        <p:nvSpPr>
          <p:cNvPr id="15" name="Shape 10"/>
          <p:cNvSpPr/>
          <p:nvPr/>
        </p:nvSpPr>
        <p:spPr>
          <a:xfrm>
            <a:off x="5230368" y="1833372"/>
            <a:ext cx="146304" cy="128016"/>
          </a:xfrm>
          <a:prstGeom prst="rightArrow">
            <a:avLst/>
          </a:prstGeom>
          <a:solidFill>
            <a:srgbClr val="C6D2E3"/>
          </a:solidFill>
          <a:ln/>
        </p:spPr>
        <p:txBody>
          <a:bodyPr/>
          <a:lstStyle/>
          <a:p>
            <a:endParaRPr lang="it-IT"/>
          </a:p>
        </p:txBody>
      </p:sp>
      <p:sp>
        <p:nvSpPr>
          <p:cNvPr id="16" name="Shape 11"/>
          <p:cNvSpPr/>
          <p:nvPr/>
        </p:nvSpPr>
        <p:spPr>
          <a:xfrm>
            <a:off x="5394960" y="1417320"/>
            <a:ext cx="1600200" cy="960120"/>
          </a:xfrm>
          <a:prstGeom prst="roundRect">
            <a:avLst>
              <a:gd name="adj" fmla="val 8571"/>
            </a:avLst>
          </a:prstGeom>
          <a:solidFill>
            <a:srgbClr val="F3F6FA"/>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pic>
        <p:nvPicPr>
          <p:cNvPr id="17" name="Image 3" descr="preencoded.png"/>
          <p:cNvPicPr>
            <a:picLocks noChangeAspect="1"/>
          </p:cNvPicPr>
          <p:nvPr/>
        </p:nvPicPr>
        <p:blipFill>
          <a:blip r:embed="rId6"/>
          <a:stretch>
            <a:fillRect/>
          </a:stretch>
        </p:blipFill>
        <p:spPr>
          <a:xfrm>
            <a:off x="6012180" y="1527048"/>
            <a:ext cx="365760" cy="365760"/>
          </a:xfrm>
          <a:prstGeom prst="rect">
            <a:avLst/>
          </a:prstGeom>
        </p:spPr>
      </p:pic>
      <p:sp>
        <p:nvSpPr>
          <p:cNvPr id="18" name="Text 12"/>
          <p:cNvSpPr/>
          <p:nvPr/>
        </p:nvSpPr>
        <p:spPr>
          <a:xfrm>
            <a:off x="5422392" y="1929384"/>
            <a:ext cx="1545336" cy="402336"/>
          </a:xfrm>
          <a:prstGeom prst="rect">
            <a:avLst/>
          </a:prstGeom>
          <a:noFill/>
          <a:ln/>
        </p:spPr>
        <p:txBody>
          <a:bodyPr wrap="square" lIns="0" tIns="0" rIns="0" bIns="0" rtlCol="0" anchor="t"/>
          <a:lstStyle/>
          <a:p>
            <a:pPr marL="0" indent="0" algn="ctr">
              <a:lnSpc>
                <a:spcPct val="110000"/>
              </a:lnSpc>
              <a:buNone/>
            </a:pPr>
            <a:r>
              <a:rPr lang="en-US" sz="930" b="1" dirty="0">
                <a:solidFill>
                  <a:srgbClr val="1C2B42"/>
                </a:solidFill>
                <a:latin typeface="Calibri" pitchFamily="34" charset="0"/>
                <a:ea typeface="Calibri" pitchFamily="34" charset="-122"/>
                <a:cs typeface="Calibri" pitchFamily="34" charset="-120"/>
              </a:rPr>
              <a:t>Conservative</a:t>
            </a:r>
            <a:endParaRPr lang="en-US" sz="930" dirty="0"/>
          </a:p>
          <a:p>
            <a:pPr marL="0" indent="0" algn="ctr">
              <a:lnSpc>
                <a:spcPct val="110000"/>
              </a:lnSpc>
              <a:buNone/>
            </a:pPr>
            <a:r>
              <a:rPr lang="en-US" sz="930" b="1" dirty="0">
                <a:solidFill>
                  <a:srgbClr val="1C2B42"/>
                </a:solidFill>
                <a:latin typeface="Calibri" pitchFamily="34" charset="0"/>
                <a:ea typeface="Calibri" pitchFamily="34" charset="-122"/>
                <a:cs typeface="Calibri" pitchFamily="34" charset="-120"/>
              </a:rPr>
              <a:t>Normalization</a:t>
            </a:r>
            <a:endParaRPr lang="en-US" sz="930" dirty="0"/>
          </a:p>
        </p:txBody>
      </p:sp>
      <p:sp>
        <p:nvSpPr>
          <p:cNvPr id="19" name="Shape 13"/>
          <p:cNvSpPr/>
          <p:nvPr/>
        </p:nvSpPr>
        <p:spPr>
          <a:xfrm>
            <a:off x="7013448" y="1833372"/>
            <a:ext cx="146304" cy="128016"/>
          </a:xfrm>
          <a:prstGeom prst="rightArrow">
            <a:avLst/>
          </a:prstGeom>
          <a:solidFill>
            <a:srgbClr val="C6D2E3"/>
          </a:solidFill>
          <a:ln/>
        </p:spPr>
        <p:txBody>
          <a:bodyPr/>
          <a:lstStyle/>
          <a:p>
            <a:endParaRPr lang="it-IT"/>
          </a:p>
        </p:txBody>
      </p:sp>
      <p:sp>
        <p:nvSpPr>
          <p:cNvPr id="20" name="Shape 14"/>
          <p:cNvSpPr/>
          <p:nvPr/>
        </p:nvSpPr>
        <p:spPr>
          <a:xfrm>
            <a:off x="7178040" y="1417320"/>
            <a:ext cx="1280160" cy="960120"/>
          </a:xfrm>
          <a:prstGeom prst="roundRect">
            <a:avLst>
              <a:gd name="adj" fmla="val 8571"/>
            </a:avLst>
          </a:prstGeom>
          <a:solidFill>
            <a:srgbClr val="F3F6FA"/>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pic>
        <p:nvPicPr>
          <p:cNvPr id="21" name="Image 4" descr="preencoded.png"/>
          <p:cNvPicPr>
            <a:picLocks noChangeAspect="1"/>
          </p:cNvPicPr>
          <p:nvPr/>
        </p:nvPicPr>
        <p:blipFill>
          <a:blip r:embed="rId7"/>
          <a:stretch>
            <a:fillRect/>
          </a:stretch>
        </p:blipFill>
        <p:spPr>
          <a:xfrm>
            <a:off x="7635240" y="1527048"/>
            <a:ext cx="365760" cy="365760"/>
          </a:xfrm>
          <a:prstGeom prst="rect">
            <a:avLst/>
          </a:prstGeom>
        </p:spPr>
      </p:pic>
      <p:sp>
        <p:nvSpPr>
          <p:cNvPr id="22" name="Text 15"/>
          <p:cNvSpPr/>
          <p:nvPr/>
        </p:nvSpPr>
        <p:spPr>
          <a:xfrm>
            <a:off x="7205472" y="1929384"/>
            <a:ext cx="1225296" cy="402336"/>
          </a:xfrm>
          <a:prstGeom prst="rect">
            <a:avLst/>
          </a:prstGeom>
          <a:noFill/>
          <a:ln/>
        </p:spPr>
        <p:txBody>
          <a:bodyPr wrap="square" lIns="0" tIns="0" rIns="0" bIns="0" rtlCol="0" anchor="t"/>
          <a:lstStyle/>
          <a:p>
            <a:pPr marL="0" indent="0" algn="ctr">
              <a:lnSpc>
                <a:spcPct val="110000"/>
              </a:lnSpc>
              <a:buNone/>
            </a:pPr>
            <a:r>
              <a:rPr lang="en-US" sz="930" b="1" dirty="0">
                <a:solidFill>
                  <a:srgbClr val="1C2B42"/>
                </a:solidFill>
                <a:latin typeface="Calibri" pitchFamily="34" charset="0"/>
                <a:ea typeface="Calibri" pitchFamily="34" charset="-122"/>
                <a:cs typeface="Calibri" pitchFamily="34" charset="-120"/>
              </a:rPr>
              <a:t>Metrics</a:t>
            </a:r>
            <a:endParaRPr lang="en-US" sz="930" dirty="0"/>
          </a:p>
        </p:txBody>
      </p:sp>
      <p:sp>
        <p:nvSpPr>
          <p:cNvPr id="23" name="Text 16"/>
          <p:cNvSpPr/>
          <p:nvPr/>
        </p:nvSpPr>
        <p:spPr>
          <a:xfrm>
            <a:off x="502920" y="2697480"/>
            <a:ext cx="3931920" cy="1554480"/>
          </a:xfrm>
          <a:prstGeom prst="rect">
            <a:avLst/>
          </a:prstGeom>
          <a:noFill/>
          <a:ln/>
        </p:spPr>
        <p:txBody>
          <a:bodyPr wrap="square" rtlCol="0" anchor="t"/>
          <a:lstStyle/>
          <a:p>
            <a:pPr marL="342900" indent="-342900">
              <a:spcAft>
                <a:spcPts val="700"/>
              </a:spcAft>
              <a:buSzPct val="100000"/>
              <a:buChar char="–"/>
            </a:pPr>
            <a:r>
              <a:rPr lang="en-US" sz="1250" dirty="0">
                <a:solidFill>
                  <a:srgbClr val="1C2B42"/>
                </a:solidFill>
                <a:latin typeface="Calibri" pitchFamily="34" charset="0"/>
                <a:ea typeface="Calibri" pitchFamily="34" charset="-122"/>
                <a:cs typeface="Calibri" pitchFamily="34" charset="-120"/>
              </a:rPr>
              <a:t>Outputs are collected from tool reports / exports</a:t>
            </a:r>
            <a:endParaRPr lang="en-US" sz="1250" dirty="0"/>
          </a:p>
          <a:p>
            <a:pPr marL="342900" indent="-342900">
              <a:spcAft>
                <a:spcPts val="700"/>
              </a:spcAft>
              <a:buSzPct val="100000"/>
              <a:buChar char="–"/>
            </a:pPr>
            <a:r>
              <a:rPr lang="en-US" sz="1250" dirty="0">
                <a:solidFill>
                  <a:srgbClr val="1C2B42"/>
                </a:solidFill>
                <a:latin typeface="Calibri" pitchFamily="34" charset="0"/>
                <a:ea typeface="Calibri" pitchFamily="34" charset="-122"/>
                <a:cs typeface="Calibri" pitchFamily="34" charset="-120"/>
              </a:rPr>
              <a:t>Internal models are not accessible</a:t>
            </a:r>
            <a:endParaRPr lang="en-US" sz="1250" dirty="0"/>
          </a:p>
          <a:p>
            <a:pPr marL="342900" indent="-342900">
              <a:spcAft>
                <a:spcPts val="700"/>
              </a:spcAft>
              <a:buSzPct val="100000"/>
              <a:buChar char="–"/>
            </a:pPr>
            <a:r>
              <a:rPr lang="en-US" sz="1250" dirty="0">
                <a:solidFill>
                  <a:srgbClr val="1C2B42"/>
                </a:solidFill>
                <a:latin typeface="Calibri" pitchFamily="34" charset="0"/>
                <a:ea typeface="Calibri" pitchFamily="34" charset="-122"/>
                <a:cs typeface="Calibri" pitchFamily="34" charset="-120"/>
              </a:rPr>
              <a:t>Labels are mapped conservatively</a:t>
            </a:r>
            <a:endParaRPr lang="en-US" sz="1250" dirty="0"/>
          </a:p>
          <a:p>
            <a:pPr marL="342900" indent="-342900">
              <a:spcAft>
                <a:spcPts val="700"/>
              </a:spcAft>
              <a:buSzPct val="100000"/>
              <a:buChar char="–"/>
            </a:pPr>
            <a:r>
              <a:rPr lang="en-US" sz="1250" dirty="0">
                <a:solidFill>
                  <a:srgbClr val="1C2B42"/>
                </a:solidFill>
                <a:latin typeface="Calibri" pitchFamily="34" charset="0"/>
                <a:ea typeface="Calibri" pitchFamily="34" charset="-122"/>
                <a:cs typeface="Calibri" pitchFamily="34" charset="-120"/>
              </a:rPr>
              <a:t>Unknown / non-mapped outputs are preserved</a:t>
            </a:r>
            <a:endParaRPr lang="en-US" sz="1250" dirty="0"/>
          </a:p>
        </p:txBody>
      </p:sp>
      <p:sp>
        <p:nvSpPr>
          <p:cNvPr id="24" name="Shape 17"/>
          <p:cNvSpPr/>
          <p:nvPr/>
        </p:nvSpPr>
        <p:spPr>
          <a:xfrm>
            <a:off x="4709160" y="2697480"/>
            <a:ext cx="3931920" cy="1554480"/>
          </a:xfrm>
          <a:prstGeom prst="roundRect">
            <a:avLst>
              <a:gd name="adj" fmla="val 5294"/>
            </a:avLst>
          </a:prstGeom>
          <a:solidFill>
            <a:srgbClr val="FBE7DA"/>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25" name="Text 18"/>
          <p:cNvSpPr/>
          <p:nvPr/>
        </p:nvSpPr>
        <p:spPr>
          <a:xfrm>
            <a:off x="4937760" y="2788920"/>
            <a:ext cx="3474720" cy="274320"/>
          </a:xfrm>
          <a:prstGeom prst="rect">
            <a:avLst/>
          </a:prstGeom>
          <a:noFill/>
          <a:ln/>
        </p:spPr>
        <p:txBody>
          <a:bodyPr wrap="square" lIns="0" tIns="0" rIns="0" bIns="0" rtlCol="0" anchor="ctr"/>
          <a:lstStyle/>
          <a:p>
            <a:pPr marL="0" indent="0">
              <a:buNone/>
            </a:pPr>
            <a:r>
              <a:rPr lang="en-US" sz="1250" b="1" dirty="0">
                <a:solidFill>
                  <a:srgbClr val="0A1F3D"/>
                </a:solidFill>
                <a:latin typeface="Cambria" pitchFamily="34" charset="0"/>
                <a:ea typeface="Cambria" pitchFamily="34" charset="-122"/>
                <a:cs typeface="Cambria" pitchFamily="34" charset="-120"/>
              </a:rPr>
              <a:t>Evaluated Tools</a:t>
            </a:r>
            <a:endParaRPr lang="en-US" sz="1250" dirty="0"/>
          </a:p>
        </p:txBody>
      </p:sp>
      <p:sp>
        <p:nvSpPr>
          <p:cNvPr id="26" name="Text 19"/>
          <p:cNvSpPr/>
          <p:nvPr/>
        </p:nvSpPr>
        <p:spPr>
          <a:xfrm>
            <a:off x="4937760" y="3108960"/>
            <a:ext cx="3474720" cy="1051560"/>
          </a:xfrm>
          <a:prstGeom prst="rect">
            <a:avLst/>
          </a:prstGeom>
          <a:noFill/>
          <a:ln/>
        </p:spPr>
        <p:txBody>
          <a:bodyPr wrap="square" rtlCol="0" anchor="t"/>
          <a:lstStyle/>
          <a:p>
            <a:pPr marL="342900" indent="-342900">
              <a:spcAft>
                <a:spcPts val="600"/>
              </a:spcAft>
              <a:buSzPct val="100000"/>
              <a:buChar char="–"/>
            </a:pPr>
            <a:r>
              <a:rPr lang="en-US" sz="1200" dirty="0">
                <a:solidFill>
                  <a:srgbClr val="1C2B42"/>
                </a:solidFill>
                <a:latin typeface="Calibri" pitchFamily="34" charset="0"/>
                <a:ea typeface="Calibri" pitchFamily="34" charset="-122"/>
                <a:cs typeface="Calibri" pitchFamily="34" charset="-120"/>
              </a:rPr>
              <a:t>Magnet AXIOM / Magnet.AI</a:t>
            </a:r>
            <a:endParaRPr lang="en-US" sz="1200" dirty="0"/>
          </a:p>
          <a:p>
            <a:pPr marL="342900" indent="-342900">
              <a:spcAft>
                <a:spcPts val="600"/>
              </a:spcAft>
              <a:buSzPct val="100000"/>
              <a:buChar char="–"/>
            </a:pPr>
            <a:r>
              <a:rPr lang="en-US" sz="1200" dirty="0">
                <a:solidFill>
                  <a:srgbClr val="1C2B42"/>
                </a:solidFill>
                <a:latin typeface="Calibri" pitchFamily="34" charset="0"/>
                <a:ea typeface="Calibri" pitchFamily="34" charset="-122"/>
                <a:cs typeface="Calibri" pitchFamily="34" charset="-120"/>
              </a:rPr>
              <a:t>Excire Foto 2025</a:t>
            </a:r>
            <a:endParaRPr lang="en-US" sz="1200" dirty="0"/>
          </a:p>
          <a:p>
            <a:pPr marL="342900" indent="-342900">
              <a:spcAft>
                <a:spcPts val="600"/>
              </a:spcAft>
              <a:buSzPct val="100000"/>
              <a:buChar char="–"/>
            </a:pPr>
            <a:r>
              <a:rPr lang="en-US" sz="1200" dirty="0">
                <a:solidFill>
                  <a:srgbClr val="1C2B42"/>
                </a:solidFill>
                <a:latin typeface="Calibri" pitchFamily="34" charset="0"/>
                <a:ea typeface="Calibri" pitchFamily="34" charset="-122"/>
                <a:cs typeface="Calibri" pitchFamily="34" charset="-120"/>
              </a:rPr>
              <a:t>Cellebrite </a:t>
            </a:r>
            <a:r>
              <a:rPr lang="en-US" sz="1200" dirty="0" err="1">
                <a:solidFill>
                  <a:srgbClr val="1C2B42"/>
                </a:solidFill>
                <a:latin typeface="Calibri" pitchFamily="34" charset="0"/>
                <a:ea typeface="Calibri" pitchFamily="34" charset="-122"/>
                <a:cs typeface="Calibri" pitchFamily="34" charset="-120"/>
              </a:rPr>
              <a:t>Inseyets</a:t>
            </a:r>
            <a:endParaRPr lang="en-US" sz="1200" dirty="0">
              <a:solidFill>
                <a:srgbClr val="1C2B42"/>
              </a:solidFill>
              <a:latin typeface="Calibri" pitchFamily="34" charset="0"/>
              <a:ea typeface="Calibri" pitchFamily="34" charset="-122"/>
              <a:cs typeface="Calibri" pitchFamily="34" charset="-120"/>
            </a:endParaRPr>
          </a:p>
          <a:p>
            <a:pPr marL="342900" indent="-342900">
              <a:spcAft>
                <a:spcPts val="600"/>
              </a:spcAft>
              <a:buSzPct val="100000"/>
              <a:buFontTx/>
              <a:buChar char="–"/>
            </a:pPr>
            <a:r>
              <a:rPr lang="en-US" sz="1200" dirty="0">
                <a:solidFill>
                  <a:srgbClr val="1C2B42"/>
                </a:solidFill>
                <a:latin typeface="Calibri" pitchFamily="34" charset="0"/>
                <a:ea typeface="Calibri" pitchFamily="34" charset="-122"/>
                <a:cs typeface="Calibri" pitchFamily="34" charset="-120"/>
              </a:rPr>
              <a:t>Magnet </a:t>
            </a:r>
            <a:r>
              <a:rPr lang="en-US" sz="1200" dirty="0" err="1">
                <a:solidFill>
                  <a:srgbClr val="1C2B42"/>
                </a:solidFill>
                <a:latin typeface="Calibri" pitchFamily="34" charset="0"/>
                <a:ea typeface="Calibri" pitchFamily="34" charset="-122"/>
                <a:cs typeface="Calibri" pitchFamily="34" charset="-120"/>
              </a:rPr>
              <a:t>Griffeye</a:t>
            </a:r>
            <a:r>
              <a:rPr lang="en-US" sz="1200" dirty="0">
                <a:solidFill>
                  <a:srgbClr val="1C2B42"/>
                </a:solidFill>
                <a:latin typeface="Calibri" pitchFamily="34" charset="0"/>
                <a:ea typeface="Calibri" pitchFamily="34" charset="-122"/>
                <a:cs typeface="Calibri" pitchFamily="34" charset="-120"/>
              </a:rPr>
              <a:t> / T3K</a:t>
            </a:r>
            <a:endParaRPr lang="en-US" sz="1200" dirty="0"/>
          </a:p>
          <a:p>
            <a:pPr marL="342900" indent="-342900">
              <a:spcAft>
                <a:spcPts val="600"/>
              </a:spcAft>
              <a:buSzPct val="100000"/>
              <a:buChar char="–"/>
            </a:pPr>
            <a:endParaRPr lang="en-US" sz="1200" dirty="0"/>
          </a:p>
        </p:txBody>
      </p:sp>
      <p:sp>
        <p:nvSpPr>
          <p:cNvPr id="27" name="Text 20"/>
          <p:cNvSpPr/>
          <p:nvPr/>
        </p:nvSpPr>
        <p:spPr>
          <a:xfrm>
            <a:off x="502920" y="4864608"/>
            <a:ext cx="5486400" cy="228600"/>
          </a:xfrm>
          <a:prstGeom prst="rect">
            <a:avLst/>
          </a:prstGeom>
          <a:noFill/>
          <a:ln/>
        </p:spPr>
        <p:txBody>
          <a:bodyPr wrap="square" lIns="0" tIns="0" rIns="0" bIns="0" rtlCol="0" anchor="ctr"/>
          <a:lstStyle/>
          <a:p>
            <a:pPr marL="0" indent="0">
              <a:buNone/>
            </a:pPr>
            <a:r>
              <a:rPr lang="en-US" sz="900" dirty="0">
                <a:solidFill>
                  <a:srgbClr val="5C6B83"/>
                </a:solidFill>
                <a:latin typeface="Calibri" pitchFamily="34" charset="0"/>
                <a:ea typeface="Calibri" pitchFamily="34" charset="-122"/>
                <a:cs typeface="Calibri" pitchFamily="34" charset="-120"/>
              </a:rPr>
              <a:t>Robustness of AI-Based Forensic Tools  |  Lello Molinario</a:t>
            </a:r>
            <a:endParaRPr lang="en-US" sz="900" dirty="0"/>
          </a:p>
        </p:txBody>
      </p:sp>
      <p:sp>
        <p:nvSpPr>
          <p:cNvPr id="28" name="Text 21"/>
          <p:cNvSpPr/>
          <p:nvPr/>
        </p:nvSpPr>
        <p:spPr>
          <a:xfrm>
            <a:off x="8732520" y="4864608"/>
            <a:ext cx="365760" cy="228600"/>
          </a:xfrm>
          <a:prstGeom prst="rect">
            <a:avLst/>
          </a:prstGeom>
          <a:noFill/>
          <a:ln/>
        </p:spPr>
        <p:txBody>
          <a:bodyPr wrap="square" lIns="0" tIns="0" rIns="0" bIns="0" rtlCol="0" anchor="ctr"/>
          <a:lstStyle/>
          <a:p>
            <a:pPr marL="0" indent="0" algn="r">
              <a:buNone/>
            </a:pPr>
            <a:r>
              <a:rPr lang="en-US" sz="900" dirty="0">
                <a:solidFill>
                  <a:srgbClr val="5C6B8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marL="0" indent="0">
              <a:buNone/>
            </a:pPr>
            <a:r>
              <a:rPr lang="en-US" sz="1250" b="1" kern="0" spc="200" dirty="0">
                <a:solidFill>
                  <a:srgbClr val="0E8A8A"/>
                </a:solidFill>
                <a:latin typeface="Calibri" pitchFamily="34" charset="0"/>
                <a:ea typeface="Calibri" pitchFamily="34" charset="-122"/>
                <a:cs typeface="Calibri" pitchFamily="34" charset="-120"/>
              </a:rPr>
              <a:t>SYNTHESIS</a:t>
            </a:r>
            <a:endParaRPr lang="en-US" sz="125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2700" b="1" dirty="0">
                <a:solidFill>
                  <a:srgbClr val="0A1F3D"/>
                </a:solidFill>
                <a:latin typeface="Cambria" pitchFamily="34" charset="0"/>
                <a:ea typeface="Cambria" pitchFamily="34" charset="-122"/>
                <a:cs typeface="Cambria" pitchFamily="34" charset="-120"/>
              </a:rPr>
              <a:t>Operational Risk Summary</a:t>
            </a:r>
            <a:endParaRPr lang="en-US" sz="2700" dirty="0"/>
          </a:p>
        </p:txBody>
      </p:sp>
      <p:sp>
        <p:nvSpPr>
          <p:cNvPr id="4" name="Shape 2"/>
          <p:cNvSpPr/>
          <p:nvPr/>
        </p:nvSpPr>
        <p:spPr>
          <a:xfrm>
            <a:off x="640080" y="1371600"/>
            <a:ext cx="1828800" cy="1508760"/>
          </a:xfrm>
          <a:prstGeom prst="roundRect">
            <a:avLst>
              <a:gd name="adj" fmla="val 5455"/>
            </a:avLst>
          </a:prstGeom>
          <a:solidFill>
            <a:srgbClr val="FFFFFF"/>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sp>
        <p:nvSpPr>
          <p:cNvPr id="5" name="Shape 3"/>
          <p:cNvSpPr/>
          <p:nvPr/>
        </p:nvSpPr>
        <p:spPr>
          <a:xfrm>
            <a:off x="1298448" y="1554480"/>
            <a:ext cx="512064" cy="512064"/>
          </a:xfrm>
          <a:prstGeom prst="ellipse">
            <a:avLst/>
          </a:prstGeom>
          <a:solidFill>
            <a:srgbClr val="0E8A8A"/>
          </a:solidFill>
          <a:ln/>
        </p:spPr>
        <p:txBody>
          <a:bodyPr/>
          <a:lstStyle/>
          <a:p>
            <a:endParaRPr lang="it-IT"/>
          </a:p>
        </p:txBody>
      </p:sp>
      <p:pic>
        <p:nvPicPr>
          <p:cNvPr id="6" name="Image 0" descr="preencoded.png"/>
          <p:cNvPicPr>
            <a:picLocks noChangeAspect="1"/>
          </p:cNvPicPr>
          <p:nvPr/>
        </p:nvPicPr>
        <p:blipFill>
          <a:blip r:embed="rId3"/>
          <a:stretch>
            <a:fillRect/>
          </a:stretch>
        </p:blipFill>
        <p:spPr>
          <a:xfrm>
            <a:off x="1365016" y="1621048"/>
            <a:ext cx="378927" cy="378927"/>
          </a:xfrm>
          <a:prstGeom prst="rect">
            <a:avLst/>
          </a:prstGeom>
        </p:spPr>
      </p:pic>
      <p:sp>
        <p:nvSpPr>
          <p:cNvPr id="7" name="Text 4"/>
          <p:cNvSpPr/>
          <p:nvPr/>
        </p:nvSpPr>
        <p:spPr>
          <a:xfrm>
            <a:off x="685800" y="2176272"/>
            <a:ext cx="1737360" cy="548640"/>
          </a:xfrm>
          <a:prstGeom prst="rect">
            <a:avLst/>
          </a:prstGeom>
          <a:noFill/>
          <a:ln/>
        </p:spPr>
        <p:txBody>
          <a:bodyPr wrap="square" lIns="0" tIns="0" rIns="0" bIns="0" rtlCol="0" anchor="t"/>
          <a:lstStyle/>
          <a:p>
            <a:pPr marL="0" indent="0" algn="ctr">
              <a:lnSpc>
                <a:spcPct val="115000"/>
              </a:lnSpc>
              <a:buNone/>
            </a:pPr>
            <a:r>
              <a:rPr lang="en-US" sz="1200" b="1" dirty="0">
                <a:solidFill>
                  <a:srgbClr val="0A1F3D"/>
                </a:solidFill>
                <a:latin typeface="Calibri" pitchFamily="34" charset="0"/>
                <a:ea typeface="Calibri" pitchFamily="34" charset="-122"/>
                <a:cs typeface="Calibri" pitchFamily="34" charset="-120"/>
              </a:rPr>
              <a:t>Clean</a:t>
            </a:r>
            <a:endParaRPr lang="en-US" sz="1200" dirty="0"/>
          </a:p>
          <a:p>
            <a:pPr marL="0" indent="0" algn="ctr">
              <a:lnSpc>
                <a:spcPct val="115000"/>
              </a:lnSpc>
              <a:buNone/>
            </a:pPr>
            <a:r>
              <a:rPr lang="en-US" sz="1200" b="1" dirty="0">
                <a:solidFill>
                  <a:srgbClr val="0A1F3D"/>
                </a:solidFill>
                <a:latin typeface="Calibri" pitchFamily="34" charset="0"/>
                <a:ea typeface="Calibri" pitchFamily="34" charset="-122"/>
                <a:cs typeface="Calibri" pitchFamily="34" charset="-120"/>
              </a:rPr>
              <a:t>Performance</a:t>
            </a:r>
            <a:endParaRPr lang="en-US" sz="1200" dirty="0"/>
          </a:p>
        </p:txBody>
      </p:sp>
      <p:sp>
        <p:nvSpPr>
          <p:cNvPr id="8" name="Shape 5"/>
          <p:cNvSpPr/>
          <p:nvPr/>
        </p:nvSpPr>
        <p:spPr>
          <a:xfrm>
            <a:off x="2651760" y="1371600"/>
            <a:ext cx="1828800" cy="1508760"/>
          </a:xfrm>
          <a:prstGeom prst="roundRect">
            <a:avLst>
              <a:gd name="adj" fmla="val 5455"/>
            </a:avLst>
          </a:prstGeom>
          <a:solidFill>
            <a:srgbClr val="FFFFFF"/>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sp>
        <p:nvSpPr>
          <p:cNvPr id="9" name="Shape 6"/>
          <p:cNvSpPr/>
          <p:nvPr/>
        </p:nvSpPr>
        <p:spPr>
          <a:xfrm>
            <a:off x="3310128" y="1554480"/>
            <a:ext cx="512064" cy="512064"/>
          </a:xfrm>
          <a:prstGeom prst="ellipse">
            <a:avLst/>
          </a:prstGeom>
          <a:solidFill>
            <a:srgbClr val="0E8A8A"/>
          </a:solidFill>
          <a:ln/>
        </p:spPr>
        <p:txBody>
          <a:bodyPr/>
          <a:lstStyle/>
          <a:p>
            <a:endParaRPr lang="it-IT"/>
          </a:p>
        </p:txBody>
      </p:sp>
      <p:pic>
        <p:nvPicPr>
          <p:cNvPr id="10" name="Image 1" descr="preencoded.png"/>
          <p:cNvPicPr>
            <a:picLocks noChangeAspect="1"/>
          </p:cNvPicPr>
          <p:nvPr/>
        </p:nvPicPr>
        <p:blipFill>
          <a:blip r:embed="rId4"/>
          <a:stretch>
            <a:fillRect/>
          </a:stretch>
        </p:blipFill>
        <p:spPr>
          <a:xfrm>
            <a:off x="3376696" y="1621048"/>
            <a:ext cx="378927" cy="378927"/>
          </a:xfrm>
          <a:prstGeom prst="rect">
            <a:avLst/>
          </a:prstGeom>
        </p:spPr>
      </p:pic>
      <p:sp>
        <p:nvSpPr>
          <p:cNvPr id="11" name="Text 7"/>
          <p:cNvSpPr/>
          <p:nvPr/>
        </p:nvSpPr>
        <p:spPr>
          <a:xfrm>
            <a:off x="2697480" y="2176272"/>
            <a:ext cx="1737360" cy="548640"/>
          </a:xfrm>
          <a:prstGeom prst="rect">
            <a:avLst/>
          </a:prstGeom>
          <a:noFill/>
          <a:ln/>
        </p:spPr>
        <p:txBody>
          <a:bodyPr wrap="square" lIns="0" tIns="0" rIns="0" bIns="0" rtlCol="0" anchor="t"/>
          <a:lstStyle/>
          <a:p>
            <a:pPr marL="0" indent="0" algn="ctr">
              <a:lnSpc>
                <a:spcPct val="115000"/>
              </a:lnSpc>
              <a:buNone/>
            </a:pPr>
            <a:r>
              <a:rPr lang="en-US" sz="1200" b="1" dirty="0">
                <a:solidFill>
                  <a:srgbClr val="0A1F3D"/>
                </a:solidFill>
                <a:latin typeface="Calibri" pitchFamily="34" charset="0"/>
                <a:ea typeface="Calibri" pitchFamily="34" charset="-122"/>
                <a:cs typeface="Calibri" pitchFamily="34" charset="-120"/>
              </a:rPr>
              <a:t>OOD</a:t>
            </a:r>
            <a:endParaRPr lang="en-US" sz="1200" dirty="0"/>
          </a:p>
          <a:p>
            <a:pPr marL="0" indent="0" algn="ctr">
              <a:lnSpc>
                <a:spcPct val="115000"/>
              </a:lnSpc>
              <a:buNone/>
            </a:pPr>
            <a:r>
              <a:rPr lang="en-US" sz="1200" b="1" dirty="0">
                <a:solidFill>
                  <a:srgbClr val="0A1F3D"/>
                </a:solidFill>
                <a:latin typeface="Calibri" pitchFamily="34" charset="0"/>
                <a:ea typeface="Calibri" pitchFamily="34" charset="-122"/>
                <a:cs typeface="Calibri" pitchFamily="34" charset="-120"/>
              </a:rPr>
              <a:t>Handling</a:t>
            </a:r>
            <a:endParaRPr lang="en-US" sz="1200" dirty="0"/>
          </a:p>
        </p:txBody>
      </p:sp>
      <p:sp>
        <p:nvSpPr>
          <p:cNvPr id="12" name="Shape 8"/>
          <p:cNvSpPr/>
          <p:nvPr/>
        </p:nvSpPr>
        <p:spPr>
          <a:xfrm>
            <a:off x="4663440" y="1371600"/>
            <a:ext cx="1828800" cy="1508760"/>
          </a:xfrm>
          <a:prstGeom prst="roundRect">
            <a:avLst>
              <a:gd name="adj" fmla="val 5455"/>
            </a:avLst>
          </a:prstGeom>
          <a:solidFill>
            <a:srgbClr val="FFFFFF"/>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sp>
        <p:nvSpPr>
          <p:cNvPr id="13" name="Shape 9"/>
          <p:cNvSpPr/>
          <p:nvPr/>
        </p:nvSpPr>
        <p:spPr>
          <a:xfrm>
            <a:off x="5321808" y="1554480"/>
            <a:ext cx="512064" cy="512064"/>
          </a:xfrm>
          <a:prstGeom prst="ellipse">
            <a:avLst/>
          </a:prstGeom>
          <a:solidFill>
            <a:srgbClr val="0E8A8A"/>
          </a:solidFill>
          <a:ln/>
        </p:spPr>
        <p:txBody>
          <a:bodyPr/>
          <a:lstStyle/>
          <a:p>
            <a:endParaRPr lang="it-IT"/>
          </a:p>
        </p:txBody>
      </p:sp>
      <p:pic>
        <p:nvPicPr>
          <p:cNvPr id="14" name="Image 2" descr="preencoded.png"/>
          <p:cNvPicPr>
            <a:picLocks noChangeAspect="1"/>
          </p:cNvPicPr>
          <p:nvPr/>
        </p:nvPicPr>
        <p:blipFill>
          <a:blip r:embed="rId5"/>
          <a:stretch>
            <a:fillRect/>
          </a:stretch>
        </p:blipFill>
        <p:spPr>
          <a:xfrm>
            <a:off x="5388376" y="1621048"/>
            <a:ext cx="378927" cy="378927"/>
          </a:xfrm>
          <a:prstGeom prst="rect">
            <a:avLst/>
          </a:prstGeom>
        </p:spPr>
      </p:pic>
      <p:sp>
        <p:nvSpPr>
          <p:cNvPr id="15" name="Text 10"/>
          <p:cNvSpPr/>
          <p:nvPr/>
        </p:nvSpPr>
        <p:spPr>
          <a:xfrm>
            <a:off x="4709160" y="2176272"/>
            <a:ext cx="1737360" cy="548640"/>
          </a:xfrm>
          <a:prstGeom prst="rect">
            <a:avLst/>
          </a:prstGeom>
          <a:noFill/>
          <a:ln/>
        </p:spPr>
        <p:txBody>
          <a:bodyPr wrap="square" lIns="0" tIns="0" rIns="0" bIns="0" rtlCol="0" anchor="t"/>
          <a:lstStyle/>
          <a:p>
            <a:pPr marL="0" indent="0" algn="ctr">
              <a:lnSpc>
                <a:spcPct val="115000"/>
              </a:lnSpc>
              <a:buNone/>
            </a:pPr>
            <a:r>
              <a:rPr lang="en-US" sz="1200" b="1" dirty="0">
                <a:solidFill>
                  <a:srgbClr val="0A1F3D"/>
                </a:solidFill>
                <a:latin typeface="Calibri" pitchFamily="34" charset="0"/>
                <a:ea typeface="Calibri" pitchFamily="34" charset="-122"/>
                <a:cs typeface="Calibri" pitchFamily="34" charset="-120"/>
              </a:rPr>
              <a:t>Adversarial</a:t>
            </a:r>
            <a:endParaRPr lang="en-US" sz="1200" dirty="0"/>
          </a:p>
          <a:p>
            <a:pPr marL="0" indent="0" algn="ctr">
              <a:lnSpc>
                <a:spcPct val="115000"/>
              </a:lnSpc>
              <a:buNone/>
            </a:pPr>
            <a:r>
              <a:rPr lang="en-US" sz="1200" b="1" dirty="0">
                <a:solidFill>
                  <a:srgbClr val="0A1F3D"/>
                </a:solidFill>
                <a:latin typeface="Calibri" pitchFamily="34" charset="0"/>
                <a:ea typeface="Calibri" pitchFamily="34" charset="-122"/>
                <a:cs typeface="Calibri" pitchFamily="34" charset="-120"/>
              </a:rPr>
              <a:t>Robustness</a:t>
            </a:r>
            <a:endParaRPr lang="en-US" sz="1200" dirty="0"/>
          </a:p>
        </p:txBody>
      </p:sp>
      <p:sp>
        <p:nvSpPr>
          <p:cNvPr id="16" name="Shape 11"/>
          <p:cNvSpPr/>
          <p:nvPr/>
        </p:nvSpPr>
        <p:spPr>
          <a:xfrm>
            <a:off x="6675120" y="1371600"/>
            <a:ext cx="1828800" cy="1508760"/>
          </a:xfrm>
          <a:prstGeom prst="roundRect">
            <a:avLst>
              <a:gd name="adj" fmla="val 5455"/>
            </a:avLst>
          </a:prstGeom>
          <a:solidFill>
            <a:srgbClr val="FFFFFF"/>
          </a:solidFill>
          <a:ln w="12700">
            <a:solidFill>
              <a:srgbClr val="E2E8F0"/>
            </a:solidFill>
            <a:prstDash val="solid"/>
          </a:ln>
          <a:effectLst>
            <a:outerShdw blurRad="88900" dist="25400" dir="5400000" algn="bl" rotWithShape="0">
              <a:srgbClr val="000000">
                <a:alpha val="10000"/>
              </a:srgbClr>
            </a:outerShdw>
          </a:effectLst>
        </p:spPr>
        <p:txBody>
          <a:bodyPr/>
          <a:lstStyle/>
          <a:p>
            <a:endParaRPr lang="it-IT"/>
          </a:p>
        </p:txBody>
      </p:sp>
      <p:sp>
        <p:nvSpPr>
          <p:cNvPr id="17" name="Shape 12"/>
          <p:cNvSpPr/>
          <p:nvPr/>
        </p:nvSpPr>
        <p:spPr>
          <a:xfrm>
            <a:off x="7333488" y="1554480"/>
            <a:ext cx="512064" cy="512064"/>
          </a:xfrm>
          <a:prstGeom prst="ellipse">
            <a:avLst/>
          </a:prstGeom>
          <a:solidFill>
            <a:srgbClr val="0E8A8A"/>
          </a:solidFill>
          <a:ln/>
        </p:spPr>
        <p:txBody>
          <a:bodyPr/>
          <a:lstStyle/>
          <a:p>
            <a:endParaRPr lang="it-IT"/>
          </a:p>
        </p:txBody>
      </p:sp>
      <p:pic>
        <p:nvPicPr>
          <p:cNvPr id="18" name="Image 3" descr="preencoded.png"/>
          <p:cNvPicPr>
            <a:picLocks noChangeAspect="1"/>
          </p:cNvPicPr>
          <p:nvPr/>
        </p:nvPicPr>
        <p:blipFill>
          <a:blip r:embed="rId6"/>
          <a:stretch>
            <a:fillRect/>
          </a:stretch>
        </p:blipFill>
        <p:spPr>
          <a:xfrm>
            <a:off x="7400056" y="1621048"/>
            <a:ext cx="378927" cy="378927"/>
          </a:xfrm>
          <a:prstGeom prst="rect">
            <a:avLst/>
          </a:prstGeom>
        </p:spPr>
      </p:pic>
      <p:sp>
        <p:nvSpPr>
          <p:cNvPr id="19" name="Text 13"/>
          <p:cNvSpPr/>
          <p:nvPr/>
        </p:nvSpPr>
        <p:spPr>
          <a:xfrm>
            <a:off x="6720840" y="2176272"/>
            <a:ext cx="1737360" cy="548640"/>
          </a:xfrm>
          <a:prstGeom prst="rect">
            <a:avLst/>
          </a:prstGeom>
          <a:noFill/>
          <a:ln/>
        </p:spPr>
        <p:txBody>
          <a:bodyPr wrap="square" lIns="0" tIns="0" rIns="0" bIns="0" rtlCol="0" anchor="t"/>
          <a:lstStyle/>
          <a:p>
            <a:pPr marL="0" indent="0" algn="ctr">
              <a:lnSpc>
                <a:spcPct val="115000"/>
              </a:lnSpc>
              <a:buNone/>
            </a:pPr>
            <a:r>
              <a:rPr lang="en-US" sz="1200" b="1" dirty="0">
                <a:solidFill>
                  <a:srgbClr val="0A1F3D"/>
                </a:solidFill>
                <a:latin typeface="Calibri" pitchFamily="34" charset="0"/>
                <a:ea typeface="Calibri" pitchFamily="34" charset="-122"/>
                <a:cs typeface="Calibri" pitchFamily="34" charset="-120"/>
              </a:rPr>
              <a:t>Anti-Forensic</a:t>
            </a:r>
            <a:endParaRPr lang="en-US" sz="1200" dirty="0"/>
          </a:p>
          <a:p>
            <a:pPr marL="0" indent="0" algn="ctr">
              <a:lnSpc>
                <a:spcPct val="115000"/>
              </a:lnSpc>
              <a:buNone/>
            </a:pPr>
            <a:r>
              <a:rPr lang="en-US" sz="1200" b="1" dirty="0">
                <a:solidFill>
                  <a:srgbClr val="0A1F3D"/>
                </a:solidFill>
                <a:latin typeface="Calibri" pitchFamily="34" charset="0"/>
                <a:ea typeface="Calibri" pitchFamily="34" charset="-122"/>
                <a:cs typeface="Calibri" pitchFamily="34" charset="-120"/>
              </a:rPr>
              <a:t>Robustness</a:t>
            </a:r>
            <a:endParaRPr lang="en-US" sz="1200" dirty="0"/>
          </a:p>
        </p:txBody>
      </p:sp>
      <p:sp>
        <p:nvSpPr>
          <p:cNvPr id="20" name="Shape 14"/>
          <p:cNvSpPr/>
          <p:nvPr/>
        </p:nvSpPr>
        <p:spPr>
          <a:xfrm>
            <a:off x="502920" y="3063240"/>
            <a:ext cx="8138160" cy="1188720"/>
          </a:xfrm>
          <a:prstGeom prst="roundRect">
            <a:avLst>
              <a:gd name="adj" fmla="val 6923"/>
            </a:avLst>
          </a:prstGeom>
          <a:solidFill>
            <a:srgbClr val="0A1F3D"/>
          </a:solidFill>
          <a:ln/>
          <a:effectLst>
            <a:outerShdw blurRad="88900" dist="25400" dir="5400000" algn="bl" rotWithShape="0">
              <a:srgbClr val="000000">
                <a:alpha val="10000"/>
              </a:srgbClr>
            </a:outerShdw>
          </a:effectLst>
        </p:spPr>
        <p:txBody>
          <a:bodyPr/>
          <a:lstStyle/>
          <a:p>
            <a:endParaRPr lang="it-IT"/>
          </a:p>
        </p:txBody>
      </p:sp>
      <p:sp>
        <p:nvSpPr>
          <p:cNvPr id="21" name="Text 15"/>
          <p:cNvSpPr/>
          <p:nvPr/>
        </p:nvSpPr>
        <p:spPr>
          <a:xfrm>
            <a:off x="731520" y="3182112"/>
            <a:ext cx="3657600" cy="274320"/>
          </a:xfrm>
          <a:prstGeom prst="rect">
            <a:avLst/>
          </a:prstGeom>
          <a:noFill/>
          <a:ln/>
        </p:spPr>
        <p:txBody>
          <a:bodyPr wrap="square" lIns="0" tIns="0" rIns="0" bIns="0" rtlCol="0" anchor="ctr"/>
          <a:lstStyle/>
          <a:p>
            <a:pPr marL="0" indent="0">
              <a:buNone/>
            </a:pPr>
            <a:r>
              <a:rPr lang="en-US" sz="1250" b="1" dirty="0">
                <a:solidFill>
                  <a:srgbClr val="0E8A8A"/>
                </a:solidFill>
                <a:latin typeface="Cambria" pitchFamily="34" charset="0"/>
                <a:ea typeface="Cambria" pitchFamily="34" charset="-122"/>
                <a:cs typeface="Cambria" pitchFamily="34" charset="-120"/>
              </a:rPr>
              <a:t>Risk Indicators</a:t>
            </a:r>
            <a:endParaRPr lang="en-US" sz="1250" dirty="0"/>
          </a:p>
        </p:txBody>
      </p:sp>
      <p:sp>
        <p:nvSpPr>
          <p:cNvPr id="22" name="Text 16"/>
          <p:cNvSpPr/>
          <p:nvPr/>
        </p:nvSpPr>
        <p:spPr>
          <a:xfrm>
            <a:off x="731520" y="3474720"/>
            <a:ext cx="7680960" cy="731520"/>
          </a:xfrm>
          <a:prstGeom prst="rect">
            <a:avLst/>
          </a:prstGeom>
          <a:noFill/>
          <a:ln/>
        </p:spPr>
        <p:txBody>
          <a:bodyPr wrap="square" rtlCol="0" anchor="t"/>
          <a:lstStyle/>
          <a:p>
            <a:pPr marL="342900" indent="-342900">
              <a:spcAft>
                <a:spcPts val="400"/>
              </a:spcAft>
              <a:buSzPct val="100000"/>
              <a:buChar char="–"/>
            </a:pPr>
            <a:r>
              <a:rPr lang="en-US" sz="1100" dirty="0">
                <a:solidFill>
                  <a:srgbClr val="DCE4F0"/>
                </a:solidFill>
                <a:latin typeface="Calibri" pitchFamily="34" charset="0"/>
                <a:ea typeface="Calibri" pitchFamily="34" charset="-122"/>
                <a:cs typeface="Calibri" pitchFamily="34" charset="-120"/>
              </a:rPr>
              <a:t>False negatives</a:t>
            </a:r>
            <a:endParaRPr lang="en-US" sz="1100" dirty="0"/>
          </a:p>
          <a:p>
            <a:pPr marL="342900" indent="-342900">
              <a:spcAft>
                <a:spcPts val="400"/>
              </a:spcAft>
              <a:buSzPct val="100000"/>
              <a:buChar char="–"/>
            </a:pPr>
            <a:r>
              <a:rPr lang="en-US" sz="1100" dirty="0">
                <a:solidFill>
                  <a:srgbClr val="DCE4F0"/>
                </a:solidFill>
                <a:latin typeface="Calibri" pitchFamily="34" charset="0"/>
                <a:ea typeface="Calibri" pitchFamily="34" charset="-122"/>
                <a:cs typeface="Calibri" pitchFamily="34" charset="-120"/>
              </a:rPr>
              <a:t>False positives</a:t>
            </a:r>
            <a:endParaRPr lang="en-US" sz="1100" dirty="0"/>
          </a:p>
          <a:p>
            <a:pPr marL="342900" indent="-342900">
              <a:spcAft>
                <a:spcPts val="400"/>
              </a:spcAft>
              <a:buSzPct val="100000"/>
              <a:buChar char="–"/>
            </a:pPr>
            <a:r>
              <a:rPr lang="en-US" sz="1100" dirty="0">
                <a:solidFill>
                  <a:srgbClr val="DCE4F0"/>
                </a:solidFill>
                <a:latin typeface="Calibri" pitchFamily="34" charset="0"/>
                <a:ea typeface="Calibri" pitchFamily="34" charset="-122"/>
                <a:cs typeface="Calibri" pitchFamily="34" charset="-120"/>
              </a:rPr>
              <a:t>High-confidence OOD mapping</a:t>
            </a:r>
            <a:endParaRPr lang="en-US" sz="1100" dirty="0"/>
          </a:p>
        </p:txBody>
      </p:sp>
      <p:sp>
        <p:nvSpPr>
          <p:cNvPr id="23" name="Shape 17"/>
          <p:cNvSpPr/>
          <p:nvPr/>
        </p:nvSpPr>
        <p:spPr>
          <a:xfrm>
            <a:off x="502920" y="4434840"/>
            <a:ext cx="146304" cy="146304"/>
          </a:xfrm>
          <a:prstGeom prst="ellipse">
            <a:avLst/>
          </a:prstGeom>
          <a:solidFill>
            <a:srgbClr val="3EA36B"/>
          </a:solidFill>
          <a:ln/>
        </p:spPr>
        <p:txBody>
          <a:bodyPr/>
          <a:lstStyle/>
          <a:p>
            <a:endParaRPr lang="it-IT"/>
          </a:p>
        </p:txBody>
      </p:sp>
      <p:sp>
        <p:nvSpPr>
          <p:cNvPr id="24" name="Text 18"/>
          <p:cNvSpPr/>
          <p:nvPr/>
        </p:nvSpPr>
        <p:spPr>
          <a:xfrm>
            <a:off x="704088" y="4389120"/>
            <a:ext cx="822960" cy="256032"/>
          </a:xfrm>
          <a:prstGeom prst="rect">
            <a:avLst/>
          </a:prstGeom>
          <a:noFill/>
          <a:ln/>
        </p:spPr>
        <p:txBody>
          <a:bodyPr wrap="square" lIns="0" tIns="0" rIns="0" bIns="0" rtlCol="0" anchor="ctr"/>
          <a:lstStyle/>
          <a:p>
            <a:pPr marL="0" indent="0">
              <a:buNone/>
            </a:pPr>
            <a:r>
              <a:rPr lang="en-US" sz="1050" dirty="0">
                <a:solidFill>
                  <a:srgbClr val="5C6B83"/>
                </a:solidFill>
                <a:latin typeface="Calibri" pitchFamily="34" charset="0"/>
                <a:ea typeface="Calibri" pitchFamily="34" charset="-122"/>
                <a:cs typeface="Calibri" pitchFamily="34" charset="-120"/>
              </a:rPr>
              <a:t>Low</a:t>
            </a:r>
            <a:endParaRPr lang="en-US" sz="1050" dirty="0"/>
          </a:p>
        </p:txBody>
      </p:sp>
      <p:sp>
        <p:nvSpPr>
          <p:cNvPr id="25" name="Shape 19"/>
          <p:cNvSpPr/>
          <p:nvPr/>
        </p:nvSpPr>
        <p:spPr>
          <a:xfrm>
            <a:off x="1554480" y="4434840"/>
            <a:ext cx="146304" cy="146304"/>
          </a:xfrm>
          <a:prstGeom prst="ellipse">
            <a:avLst/>
          </a:prstGeom>
          <a:solidFill>
            <a:srgbClr val="E2692C"/>
          </a:solidFill>
          <a:ln/>
        </p:spPr>
        <p:txBody>
          <a:bodyPr/>
          <a:lstStyle/>
          <a:p>
            <a:endParaRPr lang="it-IT"/>
          </a:p>
        </p:txBody>
      </p:sp>
      <p:sp>
        <p:nvSpPr>
          <p:cNvPr id="26" name="Text 20"/>
          <p:cNvSpPr/>
          <p:nvPr/>
        </p:nvSpPr>
        <p:spPr>
          <a:xfrm>
            <a:off x="1755648" y="4389120"/>
            <a:ext cx="822960" cy="256032"/>
          </a:xfrm>
          <a:prstGeom prst="rect">
            <a:avLst/>
          </a:prstGeom>
          <a:noFill/>
          <a:ln/>
        </p:spPr>
        <p:txBody>
          <a:bodyPr wrap="square" lIns="0" tIns="0" rIns="0" bIns="0" rtlCol="0" anchor="ctr"/>
          <a:lstStyle/>
          <a:p>
            <a:pPr marL="0" indent="0">
              <a:buNone/>
            </a:pPr>
            <a:r>
              <a:rPr lang="en-US" sz="1050" dirty="0">
                <a:solidFill>
                  <a:srgbClr val="5C6B83"/>
                </a:solidFill>
                <a:latin typeface="Calibri" pitchFamily="34" charset="0"/>
                <a:ea typeface="Calibri" pitchFamily="34" charset="-122"/>
                <a:cs typeface="Calibri" pitchFamily="34" charset="-120"/>
              </a:rPr>
              <a:t>Moderate</a:t>
            </a:r>
            <a:endParaRPr lang="en-US" sz="1050" dirty="0"/>
          </a:p>
        </p:txBody>
      </p:sp>
      <p:sp>
        <p:nvSpPr>
          <p:cNvPr id="27" name="Shape 21"/>
          <p:cNvSpPr/>
          <p:nvPr/>
        </p:nvSpPr>
        <p:spPr>
          <a:xfrm>
            <a:off x="2606040" y="4434840"/>
            <a:ext cx="146304" cy="146304"/>
          </a:xfrm>
          <a:prstGeom prst="ellipse">
            <a:avLst/>
          </a:prstGeom>
          <a:solidFill>
            <a:srgbClr val="C0392B"/>
          </a:solidFill>
          <a:ln/>
        </p:spPr>
        <p:txBody>
          <a:bodyPr/>
          <a:lstStyle/>
          <a:p>
            <a:endParaRPr lang="it-IT"/>
          </a:p>
        </p:txBody>
      </p:sp>
      <p:sp>
        <p:nvSpPr>
          <p:cNvPr id="28" name="Text 22"/>
          <p:cNvSpPr/>
          <p:nvPr/>
        </p:nvSpPr>
        <p:spPr>
          <a:xfrm>
            <a:off x="2807208" y="4389120"/>
            <a:ext cx="822960" cy="256032"/>
          </a:xfrm>
          <a:prstGeom prst="rect">
            <a:avLst/>
          </a:prstGeom>
          <a:noFill/>
          <a:ln/>
        </p:spPr>
        <p:txBody>
          <a:bodyPr wrap="square" lIns="0" tIns="0" rIns="0" bIns="0" rtlCol="0" anchor="ctr"/>
          <a:lstStyle/>
          <a:p>
            <a:pPr marL="0" indent="0">
              <a:buNone/>
            </a:pPr>
            <a:r>
              <a:rPr lang="en-US" sz="1050" dirty="0">
                <a:solidFill>
                  <a:srgbClr val="5C6B83"/>
                </a:solidFill>
                <a:latin typeface="Calibri" pitchFamily="34" charset="0"/>
                <a:ea typeface="Calibri" pitchFamily="34" charset="-122"/>
                <a:cs typeface="Calibri" pitchFamily="34" charset="-120"/>
              </a:rPr>
              <a:t>High</a:t>
            </a:r>
            <a:endParaRPr lang="en-US" sz="1050" dirty="0"/>
          </a:p>
        </p:txBody>
      </p:sp>
      <p:sp>
        <p:nvSpPr>
          <p:cNvPr id="29" name="Text 23"/>
          <p:cNvSpPr/>
          <p:nvPr/>
        </p:nvSpPr>
        <p:spPr>
          <a:xfrm>
            <a:off x="3657600" y="4389120"/>
            <a:ext cx="5029200" cy="256032"/>
          </a:xfrm>
          <a:prstGeom prst="rect">
            <a:avLst/>
          </a:prstGeom>
          <a:noFill/>
          <a:ln/>
        </p:spPr>
        <p:txBody>
          <a:bodyPr wrap="square" lIns="0" tIns="0" rIns="0" bIns="0" rtlCol="0" anchor="ctr"/>
          <a:lstStyle/>
          <a:p>
            <a:pPr marL="0" indent="0">
              <a:buNone/>
            </a:pPr>
            <a:r>
              <a:rPr lang="en-US" sz="1000" i="1" dirty="0">
                <a:solidFill>
                  <a:srgbClr val="5C6B83"/>
                </a:solidFill>
                <a:latin typeface="Calibri" pitchFamily="34" charset="0"/>
                <a:ea typeface="Calibri" pitchFamily="34" charset="-122"/>
                <a:cs typeface="Calibri" pitchFamily="34" charset="-120"/>
              </a:rPr>
              <a:t>risk-level legend, applied per system in the full thesis report</a:t>
            </a:r>
            <a:endParaRPr lang="en-US" sz="1000" dirty="0"/>
          </a:p>
        </p:txBody>
      </p:sp>
      <p:sp>
        <p:nvSpPr>
          <p:cNvPr id="30" name="Text 24"/>
          <p:cNvSpPr/>
          <p:nvPr/>
        </p:nvSpPr>
        <p:spPr>
          <a:xfrm>
            <a:off x="502920" y="4864608"/>
            <a:ext cx="5486400" cy="228600"/>
          </a:xfrm>
          <a:prstGeom prst="rect">
            <a:avLst/>
          </a:prstGeom>
          <a:noFill/>
          <a:ln/>
        </p:spPr>
        <p:txBody>
          <a:bodyPr wrap="square" lIns="0" tIns="0" rIns="0" bIns="0" rtlCol="0" anchor="ctr"/>
          <a:lstStyle/>
          <a:p>
            <a:pPr marL="0" indent="0">
              <a:buNone/>
            </a:pPr>
            <a:r>
              <a:rPr lang="en-US" sz="900" dirty="0">
                <a:solidFill>
                  <a:srgbClr val="5C6B83"/>
                </a:solidFill>
                <a:latin typeface="Calibri" pitchFamily="34" charset="0"/>
                <a:ea typeface="Calibri" pitchFamily="34" charset="-122"/>
                <a:cs typeface="Calibri" pitchFamily="34" charset="-120"/>
              </a:rPr>
              <a:t>Robustness of AI-Based Forensic Tools  |  Lello Molinario</a:t>
            </a:r>
            <a:endParaRPr lang="en-US" sz="900" dirty="0"/>
          </a:p>
        </p:txBody>
      </p:sp>
      <p:sp>
        <p:nvSpPr>
          <p:cNvPr id="31" name="Text 25"/>
          <p:cNvSpPr/>
          <p:nvPr/>
        </p:nvSpPr>
        <p:spPr>
          <a:xfrm>
            <a:off x="8732520" y="4864608"/>
            <a:ext cx="365760" cy="228600"/>
          </a:xfrm>
          <a:prstGeom prst="rect">
            <a:avLst/>
          </a:prstGeom>
          <a:noFill/>
          <a:ln/>
        </p:spPr>
        <p:txBody>
          <a:bodyPr wrap="square" lIns="0" tIns="0" rIns="0" bIns="0" rtlCol="0" anchor="ctr"/>
          <a:lstStyle/>
          <a:p>
            <a:pPr marL="0" indent="0" algn="r">
              <a:buNone/>
            </a:pPr>
            <a:r>
              <a:rPr lang="en-US" sz="900" dirty="0">
                <a:solidFill>
                  <a:srgbClr val="5C6B83"/>
                </a:solidFill>
                <a:latin typeface="Calibri" pitchFamily="34" charset="0"/>
                <a:ea typeface="Calibri" pitchFamily="34" charset="-122"/>
                <a:cs typeface="Calibri" pitchFamily="34" charset="-120"/>
              </a:rPr>
              <a:t>12</a:t>
            </a:r>
            <a:endParaRPr lang="en-US" sz="900" dirty="0"/>
          </a:p>
        </p:txBody>
      </p:sp>
      <p:sp>
        <p:nvSpPr>
          <p:cNvPr id="32" name="Text 16">
            <a:extLst>
              <a:ext uri="{FF2B5EF4-FFF2-40B4-BE49-F238E27FC236}">
                <a16:creationId xmlns:a16="http://schemas.microsoft.com/office/drawing/2014/main" id="{3BB41C90-F290-8C83-BF95-CC4214D1950C}"/>
              </a:ext>
            </a:extLst>
          </p:cNvPr>
          <p:cNvSpPr/>
          <p:nvPr/>
        </p:nvSpPr>
        <p:spPr>
          <a:xfrm>
            <a:off x="3822192" y="3474720"/>
            <a:ext cx="4636008" cy="731520"/>
          </a:xfrm>
          <a:prstGeom prst="rect">
            <a:avLst/>
          </a:prstGeom>
          <a:noFill/>
          <a:ln/>
        </p:spPr>
        <p:txBody>
          <a:bodyPr wrap="square" rtlCol="0" anchor="t"/>
          <a:lstStyle/>
          <a:p>
            <a:pPr marL="342900" indent="-342900">
              <a:spcAft>
                <a:spcPts val="400"/>
              </a:spcAft>
              <a:buSzPct val="100000"/>
              <a:buChar char="–"/>
            </a:pPr>
            <a:r>
              <a:rPr lang="en-US" sz="1100" dirty="0">
                <a:solidFill>
                  <a:srgbClr val="DCE4F0"/>
                </a:solidFill>
                <a:latin typeface="Calibri" pitchFamily="34" charset="0"/>
                <a:ea typeface="Calibri" pitchFamily="34" charset="-122"/>
                <a:cs typeface="Calibri" pitchFamily="34" charset="-120"/>
              </a:rPr>
              <a:t>Unknown rate</a:t>
            </a:r>
            <a:endParaRPr lang="en-US" sz="1100" dirty="0"/>
          </a:p>
          <a:p>
            <a:pPr marL="342900" indent="-342900">
              <a:spcAft>
                <a:spcPts val="400"/>
              </a:spcAft>
              <a:buSzPct val="100000"/>
              <a:buChar char="–"/>
            </a:pPr>
            <a:r>
              <a:rPr lang="en-US" sz="1100" dirty="0">
                <a:solidFill>
                  <a:srgbClr val="DCE4F0"/>
                </a:solidFill>
                <a:latin typeface="Calibri" pitchFamily="34" charset="0"/>
                <a:ea typeface="Calibri" pitchFamily="34" charset="-122"/>
                <a:cs typeface="Calibri" pitchFamily="34" charset="-120"/>
              </a:rPr>
              <a:t>Performance degradation under perturbation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marL="0" indent="0">
              <a:buNone/>
            </a:pPr>
            <a:r>
              <a:rPr lang="en-US" sz="1250" b="1" kern="0" spc="200" dirty="0">
                <a:solidFill>
                  <a:srgbClr val="0E8A8A"/>
                </a:solidFill>
                <a:latin typeface="Calibri" pitchFamily="34" charset="0"/>
                <a:ea typeface="Calibri" pitchFamily="34" charset="-122"/>
                <a:cs typeface="Calibri" pitchFamily="34" charset="-120"/>
              </a:rPr>
              <a:t>RESULTS</a:t>
            </a:r>
            <a:endParaRPr lang="en-US" sz="125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2700" b="1" dirty="0">
                <a:solidFill>
                  <a:srgbClr val="0A1F3D"/>
                </a:solidFill>
                <a:latin typeface="Cambria" pitchFamily="34" charset="0"/>
                <a:ea typeface="Cambria" pitchFamily="34" charset="-122"/>
                <a:cs typeface="Cambria" pitchFamily="34" charset="-120"/>
              </a:rPr>
              <a:t>Key Findings</a:t>
            </a:r>
            <a:endParaRPr lang="en-US" sz="2700" dirty="0"/>
          </a:p>
        </p:txBody>
      </p:sp>
      <p:sp>
        <p:nvSpPr>
          <p:cNvPr id="4" name="Text 2"/>
          <p:cNvSpPr/>
          <p:nvPr/>
        </p:nvSpPr>
        <p:spPr>
          <a:xfrm>
            <a:off x="502920" y="1207008"/>
            <a:ext cx="7772400" cy="274320"/>
          </a:xfrm>
          <a:prstGeom prst="rect">
            <a:avLst/>
          </a:prstGeom>
          <a:noFill/>
          <a:ln/>
        </p:spPr>
        <p:txBody>
          <a:bodyPr wrap="square" lIns="0" tIns="0" rIns="0" bIns="0" rtlCol="0" anchor="ctr"/>
          <a:lstStyle/>
          <a:p>
            <a:pPr marL="0" indent="0">
              <a:buNone/>
            </a:pPr>
            <a:r>
              <a:rPr lang="en-US" sz="1250" i="1" dirty="0">
                <a:solidFill>
                  <a:srgbClr val="5C6B83"/>
                </a:solidFill>
                <a:latin typeface="Calibri" pitchFamily="34" charset="0"/>
                <a:ea typeface="Calibri" pitchFamily="34" charset="-122"/>
                <a:cs typeface="Calibri" pitchFamily="34" charset="-120"/>
              </a:rPr>
              <a:t>Under the tested conditions:</a:t>
            </a:r>
            <a:endParaRPr lang="en-US" sz="1250" dirty="0"/>
          </a:p>
        </p:txBody>
      </p:sp>
      <p:sp>
        <p:nvSpPr>
          <p:cNvPr id="5" name="Shape 3"/>
          <p:cNvSpPr/>
          <p:nvPr/>
        </p:nvSpPr>
        <p:spPr>
          <a:xfrm>
            <a:off x="484632" y="1691640"/>
            <a:ext cx="1517904" cy="2331720"/>
          </a:xfrm>
          <a:prstGeom prst="roundRect">
            <a:avLst>
              <a:gd name="adj" fmla="val 5422"/>
            </a:avLst>
          </a:prstGeom>
          <a:solidFill>
            <a:srgbClr val="F3F6FA"/>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6" name="Shape 4"/>
          <p:cNvSpPr/>
          <p:nvPr/>
        </p:nvSpPr>
        <p:spPr>
          <a:xfrm>
            <a:off x="987552" y="1874520"/>
            <a:ext cx="512064" cy="512064"/>
          </a:xfrm>
          <a:prstGeom prst="ellipse">
            <a:avLst/>
          </a:prstGeom>
          <a:solidFill>
            <a:srgbClr val="E2692C"/>
          </a:solidFill>
          <a:ln/>
        </p:spPr>
        <p:txBody>
          <a:bodyPr/>
          <a:lstStyle/>
          <a:p>
            <a:endParaRPr lang="it-IT"/>
          </a:p>
        </p:txBody>
      </p:sp>
      <p:pic>
        <p:nvPicPr>
          <p:cNvPr id="7" name="Image 0" descr="preencoded.png"/>
          <p:cNvPicPr>
            <a:picLocks noChangeAspect="1"/>
          </p:cNvPicPr>
          <p:nvPr/>
        </p:nvPicPr>
        <p:blipFill>
          <a:blip r:embed="rId3"/>
          <a:stretch>
            <a:fillRect/>
          </a:stretch>
        </p:blipFill>
        <p:spPr>
          <a:xfrm>
            <a:off x="1054120" y="1941088"/>
            <a:ext cx="378927" cy="378927"/>
          </a:xfrm>
          <a:prstGeom prst="rect">
            <a:avLst/>
          </a:prstGeom>
        </p:spPr>
      </p:pic>
      <p:sp>
        <p:nvSpPr>
          <p:cNvPr id="8" name="Text 5"/>
          <p:cNvSpPr/>
          <p:nvPr/>
        </p:nvSpPr>
        <p:spPr>
          <a:xfrm>
            <a:off x="539496" y="2514600"/>
            <a:ext cx="1408176" cy="365760"/>
          </a:xfrm>
          <a:prstGeom prst="rect">
            <a:avLst/>
          </a:prstGeom>
          <a:noFill/>
          <a:ln/>
        </p:spPr>
        <p:txBody>
          <a:bodyPr wrap="square" lIns="0" tIns="0" rIns="0" bIns="0" rtlCol="0" anchor="t"/>
          <a:lstStyle/>
          <a:p>
            <a:pPr marL="0" indent="0" algn="ctr">
              <a:buNone/>
            </a:pPr>
            <a:r>
              <a:rPr lang="en-US" sz="1100" b="1" dirty="0">
                <a:solidFill>
                  <a:srgbClr val="0A1F3D"/>
                </a:solidFill>
                <a:latin typeface="Cambria" pitchFamily="34" charset="0"/>
                <a:ea typeface="Cambria" pitchFamily="34" charset="-122"/>
                <a:cs typeface="Cambria" pitchFamily="34" charset="-120"/>
              </a:rPr>
              <a:t>Clean ≠ Robust</a:t>
            </a:r>
            <a:endParaRPr lang="en-US" sz="1100" dirty="0"/>
          </a:p>
        </p:txBody>
      </p:sp>
      <p:sp>
        <p:nvSpPr>
          <p:cNvPr id="9" name="Text 6"/>
          <p:cNvSpPr/>
          <p:nvPr/>
        </p:nvSpPr>
        <p:spPr>
          <a:xfrm>
            <a:off x="576072" y="2898648"/>
            <a:ext cx="1335024" cy="1051560"/>
          </a:xfrm>
          <a:prstGeom prst="rect">
            <a:avLst/>
          </a:prstGeom>
          <a:noFill/>
          <a:ln/>
        </p:spPr>
        <p:txBody>
          <a:bodyPr wrap="square" lIns="0" tIns="0" rIns="0" bIns="0" rtlCol="0" anchor="t"/>
          <a:lstStyle/>
          <a:p>
            <a:pPr marL="0" indent="0" algn="ctr">
              <a:lnSpc>
                <a:spcPct val="115000"/>
              </a:lnSpc>
              <a:buNone/>
            </a:pPr>
            <a:r>
              <a:rPr lang="en-US" sz="930" dirty="0">
                <a:solidFill>
                  <a:srgbClr val="1C2B42"/>
                </a:solidFill>
                <a:latin typeface="Calibri" pitchFamily="34" charset="0"/>
                <a:ea typeface="Calibri" pitchFamily="34" charset="-122"/>
                <a:cs typeface="Calibri" pitchFamily="34" charset="-120"/>
              </a:rPr>
              <a:t>Clean performance does not fully predict robustness.</a:t>
            </a:r>
            <a:endParaRPr lang="en-US" sz="930" dirty="0"/>
          </a:p>
        </p:txBody>
      </p:sp>
      <p:sp>
        <p:nvSpPr>
          <p:cNvPr id="10" name="Shape 7"/>
          <p:cNvSpPr/>
          <p:nvPr/>
        </p:nvSpPr>
        <p:spPr>
          <a:xfrm>
            <a:off x="2148840" y="1691640"/>
            <a:ext cx="1517904" cy="2331720"/>
          </a:xfrm>
          <a:prstGeom prst="roundRect">
            <a:avLst>
              <a:gd name="adj" fmla="val 5422"/>
            </a:avLst>
          </a:prstGeom>
          <a:solidFill>
            <a:srgbClr val="F3F6FA"/>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11" name="Shape 8"/>
          <p:cNvSpPr/>
          <p:nvPr/>
        </p:nvSpPr>
        <p:spPr>
          <a:xfrm>
            <a:off x="2651760" y="1874520"/>
            <a:ext cx="512064" cy="512064"/>
          </a:xfrm>
          <a:prstGeom prst="ellipse">
            <a:avLst/>
          </a:prstGeom>
          <a:solidFill>
            <a:srgbClr val="E2692C"/>
          </a:solidFill>
          <a:ln/>
        </p:spPr>
        <p:txBody>
          <a:bodyPr/>
          <a:lstStyle/>
          <a:p>
            <a:endParaRPr lang="it-IT"/>
          </a:p>
        </p:txBody>
      </p:sp>
      <p:pic>
        <p:nvPicPr>
          <p:cNvPr id="12" name="Image 1" descr="preencoded.png"/>
          <p:cNvPicPr>
            <a:picLocks noChangeAspect="1"/>
          </p:cNvPicPr>
          <p:nvPr/>
        </p:nvPicPr>
        <p:blipFill>
          <a:blip r:embed="rId4"/>
          <a:stretch>
            <a:fillRect/>
          </a:stretch>
        </p:blipFill>
        <p:spPr>
          <a:xfrm>
            <a:off x="2718328" y="1941088"/>
            <a:ext cx="378927" cy="378927"/>
          </a:xfrm>
          <a:prstGeom prst="rect">
            <a:avLst/>
          </a:prstGeom>
        </p:spPr>
      </p:pic>
      <p:sp>
        <p:nvSpPr>
          <p:cNvPr id="13" name="Text 9"/>
          <p:cNvSpPr/>
          <p:nvPr/>
        </p:nvSpPr>
        <p:spPr>
          <a:xfrm>
            <a:off x="2203704" y="2514600"/>
            <a:ext cx="1408176" cy="365760"/>
          </a:xfrm>
          <a:prstGeom prst="rect">
            <a:avLst/>
          </a:prstGeom>
          <a:noFill/>
          <a:ln/>
        </p:spPr>
        <p:txBody>
          <a:bodyPr wrap="square" lIns="0" tIns="0" rIns="0" bIns="0" rtlCol="0" anchor="t"/>
          <a:lstStyle/>
          <a:p>
            <a:pPr marL="0" indent="0" algn="ctr">
              <a:buNone/>
            </a:pPr>
            <a:r>
              <a:rPr lang="en-US" sz="1100" b="1" dirty="0">
                <a:solidFill>
                  <a:srgbClr val="0A1F3D"/>
                </a:solidFill>
                <a:latin typeface="Cambria" pitchFamily="34" charset="0"/>
                <a:ea typeface="Cambria" pitchFamily="34" charset="-122"/>
                <a:cs typeface="Cambria" pitchFamily="34" charset="-120"/>
              </a:rPr>
              <a:t>OOD Matters</a:t>
            </a:r>
            <a:endParaRPr lang="en-US" sz="1100" dirty="0"/>
          </a:p>
        </p:txBody>
      </p:sp>
      <p:sp>
        <p:nvSpPr>
          <p:cNvPr id="14" name="Text 10"/>
          <p:cNvSpPr/>
          <p:nvPr/>
        </p:nvSpPr>
        <p:spPr>
          <a:xfrm>
            <a:off x="2240280" y="2898648"/>
            <a:ext cx="1335024" cy="1051560"/>
          </a:xfrm>
          <a:prstGeom prst="rect">
            <a:avLst/>
          </a:prstGeom>
          <a:noFill/>
          <a:ln/>
        </p:spPr>
        <p:txBody>
          <a:bodyPr wrap="square" lIns="0" tIns="0" rIns="0" bIns="0" rtlCol="0" anchor="t"/>
          <a:lstStyle/>
          <a:p>
            <a:pPr marL="0" indent="0" algn="ctr">
              <a:lnSpc>
                <a:spcPct val="115000"/>
              </a:lnSpc>
              <a:buNone/>
            </a:pPr>
            <a:r>
              <a:rPr lang="en-US" sz="930" dirty="0">
                <a:solidFill>
                  <a:srgbClr val="1C2B42"/>
                </a:solidFill>
                <a:latin typeface="Calibri" pitchFamily="34" charset="0"/>
                <a:ea typeface="Calibri" pitchFamily="34" charset="-122"/>
                <a:cs typeface="Calibri" pitchFamily="34" charset="-120"/>
              </a:rPr>
              <a:t>OOD inputs can expose unexpected classification behavior.</a:t>
            </a:r>
            <a:endParaRPr lang="en-US" sz="930" dirty="0"/>
          </a:p>
        </p:txBody>
      </p:sp>
      <p:sp>
        <p:nvSpPr>
          <p:cNvPr id="15" name="Shape 11"/>
          <p:cNvSpPr/>
          <p:nvPr/>
        </p:nvSpPr>
        <p:spPr>
          <a:xfrm>
            <a:off x="3813048" y="1691640"/>
            <a:ext cx="1517904" cy="2331720"/>
          </a:xfrm>
          <a:prstGeom prst="roundRect">
            <a:avLst>
              <a:gd name="adj" fmla="val 5422"/>
            </a:avLst>
          </a:prstGeom>
          <a:solidFill>
            <a:srgbClr val="F3F6FA"/>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16" name="Shape 12"/>
          <p:cNvSpPr/>
          <p:nvPr/>
        </p:nvSpPr>
        <p:spPr>
          <a:xfrm>
            <a:off x="4315968" y="1874520"/>
            <a:ext cx="512064" cy="512064"/>
          </a:xfrm>
          <a:prstGeom prst="ellipse">
            <a:avLst/>
          </a:prstGeom>
          <a:solidFill>
            <a:srgbClr val="E2692C"/>
          </a:solidFill>
          <a:ln/>
        </p:spPr>
        <p:txBody>
          <a:bodyPr/>
          <a:lstStyle/>
          <a:p>
            <a:endParaRPr lang="it-IT"/>
          </a:p>
        </p:txBody>
      </p:sp>
      <p:pic>
        <p:nvPicPr>
          <p:cNvPr id="17" name="Image 2" descr="preencoded.png"/>
          <p:cNvPicPr>
            <a:picLocks noChangeAspect="1"/>
          </p:cNvPicPr>
          <p:nvPr/>
        </p:nvPicPr>
        <p:blipFill>
          <a:blip r:embed="rId5"/>
          <a:stretch>
            <a:fillRect/>
          </a:stretch>
        </p:blipFill>
        <p:spPr>
          <a:xfrm>
            <a:off x="4382536" y="1941088"/>
            <a:ext cx="378927" cy="378927"/>
          </a:xfrm>
          <a:prstGeom prst="rect">
            <a:avLst/>
          </a:prstGeom>
        </p:spPr>
      </p:pic>
      <p:sp>
        <p:nvSpPr>
          <p:cNvPr id="18" name="Text 13"/>
          <p:cNvSpPr/>
          <p:nvPr/>
        </p:nvSpPr>
        <p:spPr>
          <a:xfrm>
            <a:off x="3867912" y="2514600"/>
            <a:ext cx="1408176" cy="365760"/>
          </a:xfrm>
          <a:prstGeom prst="rect">
            <a:avLst/>
          </a:prstGeom>
          <a:noFill/>
          <a:ln/>
        </p:spPr>
        <p:txBody>
          <a:bodyPr wrap="square" lIns="0" tIns="0" rIns="0" bIns="0" rtlCol="0" anchor="t"/>
          <a:lstStyle/>
          <a:p>
            <a:pPr marL="0" indent="0" algn="ctr">
              <a:buNone/>
            </a:pPr>
            <a:r>
              <a:rPr lang="en-US" sz="1100" b="1" dirty="0">
                <a:solidFill>
                  <a:srgbClr val="0A1F3D"/>
                </a:solidFill>
                <a:latin typeface="Cambria" pitchFamily="34" charset="0"/>
                <a:ea typeface="Cambria" pitchFamily="34" charset="-122"/>
                <a:cs typeface="Cambria" pitchFamily="34" charset="-120"/>
              </a:rPr>
              <a:t>Perturbations Matter</a:t>
            </a:r>
            <a:endParaRPr lang="en-US" sz="1100" dirty="0"/>
          </a:p>
        </p:txBody>
      </p:sp>
      <p:sp>
        <p:nvSpPr>
          <p:cNvPr id="19" name="Text 14"/>
          <p:cNvSpPr/>
          <p:nvPr/>
        </p:nvSpPr>
        <p:spPr>
          <a:xfrm>
            <a:off x="3904488" y="2898648"/>
            <a:ext cx="1335024" cy="1051560"/>
          </a:xfrm>
          <a:prstGeom prst="rect">
            <a:avLst/>
          </a:prstGeom>
          <a:noFill/>
          <a:ln/>
        </p:spPr>
        <p:txBody>
          <a:bodyPr wrap="square" lIns="0" tIns="0" rIns="0" bIns="0" rtlCol="0" anchor="t"/>
          <a:lstStyle/>
          <a:p>
            <a:pPr marL="0" indent="0" algn="ctr">
              <a:lnSpc>
                <a:spcPct val="115000"/>
              </a:lnSpc>
              <a:buNone/>
            </a:pPr>
            <a:r>
              <a:rPr lang="en-US" sz="930" dirty="0">
                <a:solidFill>
                  <a:srgbClr val="1C2B42"/>
                </a:solidFill>
                <a:latin typeface="Calibri" pitchFamily="34" charset="0"/>
                <a:ea typeface="Calibri" pitchFamily="34" charset="-122"/>
                <a:cs typeface="Calibri" pitchFamily="34" charset="-120"/>
              </a:rPr>
              <a:t>Perturbations can induce classification errors or confidence shifts.</a:t>
            </a:r>
            <a:endParaRPr lang="en-US" sz="930" dirty="0"/>
          </a:p>
        </p:txBody>
      </p:sp>
      <p:sp>
        <p:nvSpPr>
          <p:cNvPr id="20" name="Shape 15"/>
          <p:cNvSpPr/>
          <p:nvPr/>
        </p:nvSpPr>
        <p:spPr>
          <a:xfrm>
            <a:off x="5477256" y="1691640"/>
            <a:ext cx="1517904" cy="2331720"/>
          </a:xfrm>
          <a:prstGeom prst="roundRect">
            <a:avLst>
              <a:gd name="adj" fmla="val 5422"/>
            </a:avLst>
          </a:prstGeom>
          <a:solidFill>
            <a:srgbClr val="F3F6FA"/>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21" name="Shape 16"/>
          <p:cNvSpPr/>
          <p:nvPr/>
        </p:nvSpPr>
        <p:spPr>
          <a:xfrm>
            <a:off x="5980176" y="1874520"/>
            <a:ext cx="512064" cy="512064"/>
          </a:xfrm>
          <a:prstGeom prst="ellipse">
            <a:avLst/>
          </a:prstGeom>
          <a:solidFill>
            <a:srgbClr val="E2692C"/>
          </a:solidFill>
          <a:ln/>
        </p:spPr>
        <p:txBody>
          <a:bodyPr/>
          <a:lstStyle/>
          <a:p>
            <a:endParaRPr lang="it-IT"/>
          </a:p>
        </p:txBody>
      </p:sp>
      <p:pic>
        <p:nvPicPr>
          <p:cNvPr id="22" name="Image 3" descr="preencoded.png"/>
          <p:cNvPicPr>
            <a:picLocks noChangeAspect="1"/>
          </p:cNvPicPr>
          <p:nvPr/>
        </p:nvPicPr>
        <p:blipFill>
          <a:blip r:embed="rId6"/>
          <a:stretch>
            <a:fillRect/>
          </a:stretch>
        </p:blipFill>
        <p:spPr>
          <a:xfrm>
            <a:off x="6046744" y="1941088"/>
            <a:ext cx="378927" cy="378927"/>
          </a:xfrm>
          <a:prstGeom prst="rect">
            <a:avLst/>
          </a:prstGeom>
        </p:spPr>
      </p:pic>
      <p:sp>
        <p:nvSpPr>
          <p:cNvPr id="23" name="Text 17"/>
          <p:cNvSpPr/>
          <p:nvPr/>
        </p:nvSpPr>
        <p:spPr>
          <a:xfrm>
            <a:off x="5532120" y="2514600"/>
            <a:ext cx="1408176" cy="365760"/>
          </a:xfrm>
          <a:prstGeom prst="rect">
            <a:avLst/>
          </a:prstGeom>
          <a:noFill/>
          <a:ln/>
        </p:spPr>
        <p:txBody>
          <a:bodyPr wrap="square" lIns="0" tIns="0" rIns="0" bIns="0" rtlCol="0" anchor="t"/>
          <a:lstStyle/>
          <a:p>
            <a:pPr marL="0" indent="0" algn="ctr">
              <a:buNone/>
            </a:pPr>
            <a:r>
              <a:rPr lang="en-US" sz="1100" b="1" dirty="0">
                <a:solidFill>
                  <a:srgbClr val="0A1F3D"/>
                </a:solidFill>
                <a:latin typeface="Cambria" pitchFamily="34" charset="0"/>
                <a:ea typeface="Cambria" pitchFamily="34" charset="-122"/>
                <a:cs typeface="Cambria" pitchFamily="34" charset="-120"/>
              </a:rPr>
              <a:t>Black-Box Caution</a:t>
            </a:r>
            <a:endParaRPr lang="en-US" sz="1100" dirty="0"/>
          </a:p>
        </p:txBody>
      </p:sp>
      <p:sp>
        <p:nvSpPr>
          <p:cNvPr id="24" name="Text 18"/>
          <p:cNvSpPr/>
          <p:nvPr/>
        </p:nvSpPr>
        <p:spPr>
          <a:xfrm>
            <a:off x="5568696" y="2898648"/>
            <a:ext cx="1335024" cy="1051560"/>
          </a:xfrm>
          <a:prstGeom prst="rect">
            <a:avLst/>
          </a:prstGeom>
          <a:noFill/>
          <a:ln/>
        </p:spPr>
        <p:txBody>
          <a:bodyPr wrap="square" lIns="0" tIns="0" rIns="0" bIns="0" rtlCol="0" anchor="t"/>
          <a:lstStyle/>
          <a:p>
            <a:pPr marL="0" indent="0" algn="ctr">
              <a:lnSpc>
                <a:spcPct val="115000"/>
              </a:lnSpc>
              <a:buNone/>
            </a:pPr>
            <a:r>
              <a:rPr lang="en-US" sz="930" dirty="0">
                <a:solidFill>
                  <a:srgbClr val="1C2B42"/>
                </a:solidFill>
                <a:latin typeface="Calibri" pitchFamily="34" charset="0"/>
                <a:ea typeface="Calibri" pitchFamily="34" charset="-122"/>
                <a:cs typeface="Calibri" pitchFamily="34" charset="-120"/>
              </a:rPr>
              <a:t>Black-box tools require conservative interpretation.</a:t>
            </a:r>
            <a:endParaRPr lang="en-US" sz="930" dirty="0"/>
          </a:p>
        </p:txBody>
      </p:sp>
      <p:sp>
        <p:nvSpPr>
          <p:cNvPr id="25" name="Shape 19"/>
          <p:cNvSpPr/>
          <p:nvPr/>
        </p:nvSpPr>
        <p:spPr>
          <a:xfrm>
            <a:off x="7141464" y="1691640"/>
            <a:ext cx="1517904" cy="2331720"/>
          </a:xfrm>
          <a:prstGeom prst="roundRect">
            <a:avLst>
              <a:gd name="adj" fmla="val 5422"/>
            </a:avLst>
          </a:prstGeom>
          <a:solidFill>
            <a:srgbClr val="F3F6FA"/>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26" name="Shape 20"/>
          <p:cNvSpPr/>
          <p:nvPr/>
        </p:nvSpPr>
        <p:spPr>
          <a:xfrm>
            <a:off x="7644384" y="1874520"/>
            <a:ext cx="512064" cy="512064"/>
          </a:xfrm>
          <a:prstGeom prst="ellipse">
            <a:avLst/>
          </a:prstGeom>
          <a:solidFill>
            <a:srgbClr val="E2692C"/>
          </a:solidFill>
          <a:ln/>
        </p:spPr>
        <p:txBody>
          <a:bodyPr/>
          <a:lstStyle/>
          <a:p>
            <a:endParaRPr lang="it-IT"/>
          </a:p>
        </p:txBody>
      </p:sp>
      <p:pic>
        <p:nvPicPr>
          <p:cNvPr id="27" name="Image 4" descr="preencoded.png"/>
          <p:cNvPicPr>
            <a:picLocks noChangeAspect="1"/>
          </p:cNvPicPr>
          <p:nvPr/>
        </p:nvPicPr>
        <p:blipFill>
          <a:blip r:embed="rId7"/>
          <a:stretch>
            <a:fillRect/>
          </a:stretch>
        </p:blipFill>
        <p:spPr>
          <a:xfrm>
            <a:off x="7710952" y="1941088"/>
            <a:ext cx="378927" cy="378927"/>
          </a:xfrm>
          <a:prstGeom prst="rect">
            <a:avLst/>
          </a:prstGeom>
        </p:spPr>
      </p:pic>
      <p:sp>
        <p:nvSpPr>
          <p:cNvPr id="28" name="Text 21"/>
          <p:cNvSpPr/>
          <p:nvPr/>
        </p:nvSpPr>
        <p:spPr>
          <a:xfrm>
            <a:off x="7196328" y="2514600"/>
            <a:ext cx="1408176" cy="365760"/>
          </a:xfrm>
          <a:prstGeom prst="rect">
            <a:avLst/>
          </a:prstGeom>
          <a:noFill/>
          <a:ln/>
        </p:spPr>
        <p:txBody>
          <a:bodyPr wrap="square" lIns="0" tIns="0" rIns="0" bIns="0" rtlCol="0" anchor="t"/>
          <a:lstStyle/>
          <a:p>
            <a:pPr marL="0" indent="0" algn="ctr">
              <a:buNone/>
            </a:pPr>
            <a:r>
              <a:rPr lang="en-US" sz="1100" b="1" dirty="0">
                <a:solidFill>
                  <a:srgbClr val="0A1F3D"/>
                </a:solidFill>
                <a:latin typeface="Cambria" pitchFamily="34" charset="0"/>
                <a:ea typeface="Cambria" pitchFamily="34" charset="-122"/>
                <a:cs typeface="Cambria" pitchFamily="34" charset="-120"/>
              </a:rPr>
              <a:t>Traceability</a:t>
            </a:r>
            <a:endParaRPr lang="en-US" sz="1100" dirty="0"/>
          </a:p>
        </p:txBody>
      </p:sp>
      <p:sp>
        <p:nvSpPr>
          <p:cNvPr id="29" name="Text 22"/>
          <p:cNvSpPr/>
          <p:nvPr/>
        </p:nvSpPr>
        <p:spPr>
          <a:xfrm>
            <a:off x="7232904" y="2898648"/>
            <a:ext cx="1335024" cy="1051560"/>
          </a:xfrm>
          <a:prstGeom prst="rect">
            <a:avLst/>
          </a:prstGeom>
          <a:noFill/>
          <a:ln/>
        </p:spPr>
        <p:txBody>
          <a:bodyPr wrap="square" lIns="0" tIns="0" rIns="0" bIns="0" rtlCol="0" anchor="t"/>
          <a:lstStyle/>
          <a:p>
            <a:pPr marL="0" indent="0" algn="ctr">
              <a:lnSpc>
                <a:spcPct val="115000"/>
              </a:lnSpc>
              <a:buNone/>
            </a:pPr>
            <a:r>
              <a:rPr lang="en-US" sz="930" dirty="0">
                <a:solidFill>
                  <a:srgbClr val="1C2B42"/>
                </a:solidFill>
                <a:latin typeface="Calibri" pitchFamily="34" charset="0"/>
                <a:ea typeface="Calibri" pitchFamily="34" charset="-122"/>
                <a:cs typeface="Calibri" pitchFamily="34" charset="-120"/>
              </a:rPr>
              <a:t>Traceability is essential for reproducible forensic assessment.</a:t>
            </a:r>
            <a:endParaRPr lang="en-US" sz="930" dirty="0"/>
          </a:p>
        </p:txBody>
      </p:sp>
      <p:sp>
        <p:nvSpPr>
          <p:cNvPr id="30" name="Text 23"/>
          <p:cNvSpPr/>
          <p:nvPr/>
        </p:nvSpPr>
        <p:spPr>
          <a:xfrm>
            <a:off x="502920" y="4434840"/>
            <a:ext cx="8138160" cy="320040"/>
          </a:xfrm>
          <a:prstGeom prst="rect">
            <a:avLst/>
          </a:prstGeom>
          <a:noFill/>
          <a:ln/>
        </p:spPr>
        <p:txBody>
          <a:bodyPr wrap="square" lIns="0" tIns="0" rIns="0" bIns="0" rtlCol="0" anchor="ctr"/>
          <a:lstStyle/>
          <a:p>
            <a:pPr marL="0" indent="0" algn="ctr">
              <a:buNone/>
            </a:pPr>
            <a:r>
              <a:rPr lang="en-US" sz="1250" b="1" i="1" dirty="0">
                <a:solidFill>
                  <a:srgbClr val="0A1F3D"/>
                </a:solidFill>
                <a:latin typeface="Calibri" pitchFamily="34" charset="0"/>
                <a:ea typeface="Calibri" pitchFamily="34" charset="-122"/>
                <a:cs typeface="Calibri" pitchFamily="34" charset="-120"/>
              </a:rPr>
              <a:t>High clean performance is not sufficient for forensic reliability under manipulated inputs.</a:t>
            </a:r>
            <a:endParaRPr lang="en-US" sz="1250" dirty="0"/>
          </a:p>
        </p:txBody>
      </p:sp>
      <p:sp>
        <p:nvSpPr>
          <p:cNvPr id="31" name="Text 24"/>
          <p:cNvSpPr/>
          <p:nvPr/>
        </p:nvSpPr>
        <p:spPr>
          <a:xfrm>
            <a:off x="502920" y="4864608"/>
            <a:ext cx="5486400" cy="228600"/>
          </a:xfrm>
          <a:prstGeom prst="rect">
            <a:avLst/>
          </a:prstGeom>
          <a:noFill/>
          <a:ln/>
        </p:spPr>
        <p:txBody>
          <a:bodyPr wrap="square" lIns="0" tIns="0" rIns="0" bIns="0" rtlCol="0" anchor="ctr"/>
          <a:lstStyle/>
          <a:p>
            <a:pPr marL="0" indent="0">
              <a:buNone/>
            </a:pPr>
            <a:r>
              <a:rPr lang="en-US" sz="900" dirty="0">
                <a:solidFill>
                  <a:srgbClr val="5C6B83"/>
                </a:solidFill>
                <a:latin typeface="Calibri" pitchFamily="34" charset="0"/>
                <a:ea typeface="Calibri" pitchFamily="34" charset="-122"/>
                <a:cs typeface="Calibri" pitchFamily="34" charset="-120"/>
              </a:rPr>
              <a:t>Robustness of AI-Based Forensic Tools  |  Lello Molinario</a:t>
            </a:r>
            <a:endParaRPr lang="en-US" sz="900" dirty="0"/>
          </a:p>
        </p:txBody>
      </p:sp>
      <p:sp>
        <p:nvSpPr>
          <p:cNvPr id="32" name="Text 25"/>
          <p:cNvSpPr/>
          <p:nvPr/>
        </p:nvSpPr>
        <p:spPr>
          <a:xfrm>
            <a:off x="8732520" y="4864608"/>
            <a:ext cx="365760" cy="228600"/>
          </a:xfrm>
          <a:prstGeom prst="rect">
            <a:avLst/>
          </a:prstGeom>
          <a:noFill/>
          <a:ln/>
        </p:spPr>
        <p:txBody>
          <a:bodyPr wrap="square" lIns="0" tIns="0" rIns="0" bIns="0" rtlCol="0" anchor="ctr"/>
          <a:lstStyle/>
          <a:p>
            <a:pPr marL="0" indent="0" algn="r">
              <a:buNone/>
            </a:pPr>
            <a:r>
              <a:rPr lang="en-US" sz="900" dirty="0">
                <a:solidFill>
                  <a:srgbClr val="5C6B8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marL="0" indent="0">
              <a:buNone/>
            </a:pPr>
            <a:r>
              <a:rPr lang="en-US" sz="1250" b="1" kern="0" spc="200" dirty="0">
                <a:solidFill>
                  <a:srgbClr val="0E8A8A"/>
                </a:solidFill>
                <a:latin typeface="Calibri" pitchFamily="34" charset="0"/>
                <a:ea typeface="Calibri" pitchFamily="34" charset="-122"/>
                <a:cs typeface="Calibri" pitchFamily="34" charset="-120"/>
              </a:rPr>
              <a:t>SCOPE</a:t>
            </a:r>
            <a:endParaRPr lang="en-US" sz="125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2700" b="1" dirty="0">
                <a:solidFill>
                  <a:srgbClr val="0A1F3D"/>
                </a:solidFill>
                <a:latin typeface="Cambria" pitchFamily="34" charset="0"/>
                <a:ea typeface="Cambria" pitchFamily="34" charset="-122"/>
                <a:cs typeface="Cambria" pitchFamily="34" charset="-120"/>
              </a:rPr>
              <a:t>Limitations</a:t>
            </a:r>
            <a:endParaRPr lang="en-US" sz="2700" dirty="0"/>
          </a:p>
        </p:txBody>
      </p:sp>
      <p:sp>
        <p:nvSpPr>
          <p:cNvPr id="4" name="Shape 2"/>
          <p:cNvSpPr/>
          <p:nvPr/>
        </p:nvSpPr>
        <p:spPr>
          <a:xfrm>
            <a:off x="502920" y="1417320"/>
            <a:ext cx="8138160" cy="2331720"/>
          </a:xfrm>
          <a:prstGeom prst="roundRect">
            <a:avLst>
              <a:gd name="adj" fmla="val 3529"/>
            </a:avLst>
          </a:prstGeom>
          <a:solidFill>
            <a:srgbClr val="F3F6FA"/>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5" name="Shape 3"/>
          <p:cNvSpPr/>
          <p:nvPr/>
        </p:nvSpPr>
        <p:spPr>
          <a:xfrm>
            <a:off x="777240" y="1691640"/>
            <a:ext cx="640080" cy="640080"/>
          </a:xfrm>
          <a:prstGeom prst="ellipse">
            <a:avLst/>
          </a:prstGeom>
          <a:solidFill>
            <a:schemeClr val="bg2"/>
          </a:solidFill>
          <a:ln/>
        </p:spPr>
        <p:txBody>
          <a:bodyPr/>
          <a:lstStyle/>
          <a:p>
            <a:endParaRPr lang="it-IT"/>
          </a:p>
        </p:txBody>
      </p:sp>
      <p:pic>
        <p:nvPicPr>
          <p:cNvPr id="6" name="Image 0" descr="preencoded.png"/>
          <p:cNvPicPr>
            <a:picLocks noChangeAspect="1"/>
          </p:cNvPicPr>
          <p:nvPr/>
        </p:nvPicPr>
        <p:blipFill>
          <a:blip r:embed="rId3"/>
          <a:stretch>
            <a:fillRect/>
          </a:stretch>
        </p:blipFill>
        <p:spPr>
          <a:xfrm>
            <a:off x="860450" y="1774850"/>
            <a:ext cx="473659" cy="473659"/>
          </a:xfrm>
          <a:prstGeom prst="rect">
            <a:avLst/>
          </a:prstGeom>
        </p:spPr>
      </p:pic>
      <p:sp>
        <p:nvSpPr>
          <p:cNvPr id="7" name="Text 4"/>
          <p:cNvSpPr/>
          <p:nvPr/>
        </p:nvSpPr>
        <p:spPr>
          <a:xfrm>
            <a:off x="1645920" y="1691640"/>
            <a:ext cx="6766560" cy="1965960"/>
          </a:xfrm>
          <a:prstGeom prst="rect">
            <a:avLst/>
          </a:prstGeom>
          <a:noFill/>
          <a:ln/>
        </p:spPr>
        <p:txBody>
          <a:bodyPr wrap="square" rtlCol="0" anchor="t"/>
          <a:lstStyle/>
          <a:p>
            <a:pPr marL="342900" indent="-342900">
              <a:spcAft>
                <a:spcPts val="1100"/>
              </a:spcAft>
              <a:buSzPct val="100000"/>
              <a:buChar char="–"/>
            </a:pPr>
            <a:r>
              <a:rPr lang="en-US" sz="1350" dirty="0">
                <a:solidFill>
                  <a:srgbClr val="1C2B42"/>
                </a:solidFill>
                <a:latin typeface="Calibri" pitchFamily="34" charset="0"/>
                <a:ea typeface="Calibri" pitchFamily="34" charset="-122"/>
                <a:cs typeface="Calibri" pitchFamily="34" charset="-120"/>
              </a:rPr>
              <a:t>Evaluation limited to selected tool versions</a:t>
            </a:r>
            <a:endParaRPr lang="en-US" sz="1350" dirty="0"/>
          </a:p>
          <a:p>
            <a:pPr marL="342900" indent="-342900">
              <a:spcAft>
                <a:spcPts val="1100"/>
              </a:spcAft>
              <a:buSzPct val="100000"/>
              <a:buChar char="–"/>
            </a:pPr>
            <a:r>
              <a:rPr lang="en-US" sz="1350" dirty="0">
                <a:solidFill>
                  <a:srgbClr val="1C2B42"/>
                </a:solidFill>
                <a:latin typeface="Calibri" pitchFamily="34" charset="0"/>
                <a:ea typeface="Calibri" pitchFamily="34" charset="-122"/>
                <a:cs typeface="Calibri" pitchFamily="34" charset="-120"/>
              </a:rPr>
              <a:t>Commercial tools are black-box systems</a:t>
            </a:r>
            <a:endParaRPr lang="en-US" sz="1350" dirty="0"/>
          </a:p>
          <a:p>
            <a:pPr marL="342900" indent="-342900">
              <a:spcAft>
                <a:spcPts val="1100"/>
              </a:spcAft>
              <a:buSzPct val="100000"/>
              <a:buChar char="–"/>
            </a:pPr>
            <a:r>
              <a:rPr lang="en-US" sz="1350" dirty="0">
                <a:solidFill>
                  <a:srgbClr val="1C2B42"/>
                </a:solidFill>
                <a:latin typeface="Calibri" pitchFamily="34" charset="0"/>
                <a:ea typeface="Calibri" pitchFamily="34" charset="-122"/>
                <a:cs typeface="Calibri" pitchFamily="34" charset="-120"/>
              </a:rPr>
              <a:t>Dataset scope is controlled and finite</a:t>
            </a:r>
            <a:endParaRPr lang="en-US" sz="1350" dirty="0"/>
          </a:p>
          <a:p>
            <a:pPr marL="342900" indent="-342900">
              <a:spcAft>
                <a:spcPts val="1100"/>
              </a:spcAft>
              <a:buSzPct val="100000"/>
              <a:buChar char="–"/>
            </a:pPr>
            <a:r>
              <a:rPr lang="en-US" sz="1350" dirty="0">
                <a:solidFill>
                  <a:srgbClr val="1C2B42"/>
                </a:solidFill>
                <a:latin typeface="Calibri" pitchFamily="34" charset="0"/>
                <a:ea typeface="Calibri" pitchFamily="34" charset="-122"/>
                <a:cs typeface="Calibri" pitchFamily="34" charset="-120"/>
              </a:rPr>
              <a:t>Adversarial testing is proxy-based</a:t>
            </a:r>
            <a:endParaRPr lang="en-US" sz="1350" dirty="0"/>
          </a:p>
          <a:p>
            <a:pPr marL="342900" indent="-342900">
              <a:spcAft>
                <a:spcPts val="1100"/>
              </a:spcAft>
              <a:buSzPct val="100000"/>
              <a:buChar char="–"/>
            </a:pPr>
            <a:r>
              <a:rPr lang="en-US" sz="1350" dirty="0">
                <a:solidFill>
                  <a:srgbClr val="1C2B42"/>
                </a:solidFill>
                <a:latin typeface="Calibri" pitchFamily="34" charset="0"/>
                <a:ea typeface="Calibri" pitchFamily="34" charset="-122"/>
                <a:cs typeface="Calibri" pitchFamily="34" charset="-120"/>
              </a:rPr>
              <a:t>Results should not be generalized to all future versions or categories</a:t>
            </a:r>
            <a:endParaRPr lang="en-US" sz="1350" dirty="0"/>
          </a:p>
        </p:txBody>
      </p:sp>
      <p:sp>
        <p:nvSpPr>
          <p:cNvPr id="8" name="Shape 5"/>
          <p:cNvSpPr/>
          <p:nvPr/>
        </p:nvSpPr>
        <p:spPr>
          <a:xfrm>
            <a:off x="502920" y="3931920"/>
            <a:ext cx="8138160" cy="777240"/>
          </a:xfrm>
          <a:prstGeom prst="roundRect">
            <a:avLst>
              <a:gd name="adj" fmla="val 10588"/>
            </a:avLst>
          </a:prstGeom>
          <a:solidFill>
            <a:srgbClr val="E3F3F2"/>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9" name="Text 6"/>
          <p:cNvSpPr/>
          <p:nvPr/>
        </p:nvSpPr>
        <p:spPr>
          <a:xfrm>
            <a:off x="731520" y="3931920"/>
            <a:ext cx="7680960" cy="777240"/>
          </a:xfrm>
          <a:prstGeom prst="rect">
            <a:avLst/>
          </a:prstGeom>
          <a:noFill/>
          <a:ln/>
        </p:spPr>
        <p:txBody>
          <a:bodyPr wrap="square" lIns="0" tIns="0" rIns="0" bIns="0" rtlCol="0" anchor="ctr"/>
          <a:lstStyle/>
          <a:p>
            <a:pPr marL="0" indent="0">
              <a:buNone/>
            </a:pPr>
            <a:r>
              <a:rPr lang="en-US" sz="1300" i="1" dirty="0">
                <a:solidFill>
                  <a:srgbClr val="0A1F3D"/>
                </a:solidFill>
                <a:latin typeface="Calibri" pitchFamily="34" charset="0"/>
                <a:ea typeface="Calibri" pitchFamily="34" charset="-122"/>
                <a:cs typeface="Calibri" pitchFamily="34" charset="-120"/>
              </a:rPr>
              <a:t>The study is rigorous within its scope, but results are version- and protocol-dependent.</a:t>
            </a:r>
            <a:endParaRPr lang="en-US" sz="1300" dirty="0"/>
          </a:p>
        </p:txBody>
      </p:sp>
      <p:sp>
        <p:nvSpPr>
          <p:cNvPr id="10" name="Text 7"/>
          <p:cNvSpPr/>
          <p:nvPr/>
        </p:nvSpPr>
        <p:spPr>
          <a:xfrm>
            <a:off x="502920" y="4864608"/>
            <a:ext cx="5486400" cy="228600"/>
          </a:xfrm>
          <a:prstGeom prst="rect">
            <a:avLst/>
          </a:prstGeom>
          <a:noFill/>
          <a:ln/>
        </p:spPr>
        <p:txBody>
          <a:bodyPr wrap="square" lIns="0" tIns="0" rIns="0" bIns="0" rtlCol="0" anchor="ctr"/>
          <a:lstStyle/>
          <a:p>
            <a:pPr marL="0" indent="0">
              <a:buNone/>
            </a:pPr>
            <a:r>
              <a:rPr lang="en-US" sz="900" dirty="0">
                <a:solidFill>
                  <a:srgbClr val="5C6B83"/>
                </a:solidFill>
                <a:latin typeface="Calibri" pitchFamily="34" charset="0"/>
                <a:ea typeface="Calibri" pitchFamily="34" charset="-122"/>
                <a:cs typeface="Calibri" pitchFamily="34" charset="-120"/>
              </a:rPr>
              <a:t>Robustness of AI-Based Forensic Tools  |  Lello Molinario</a:t>
            </a:r>
            <a:endParaRPr lang="en-US" sz="900" dirty="0"/>
          </a:p>
        </p:txBody>
      </p:sp>
      <p:sp>
        <p:nvSpPr>
          <p:cNvPr id="11" name="Text 8"/>
          <p:cNvSpPr/>
          <p:nvPr/>
        </p:nvSpPr>
        <p:spPr>
          <a:xfrm>
            <a:off x="8732520" y="4864608"/>
            <a:ext cx="365760" cy="228600"/>
          </a:xfrm>
          <a:prstGeom prst="rect">
            <a:avLst/>
          </a:prstGeom>
          <a:noFill/>
          <a:ln/>
        </p:spPr>
        <p:txBody>
          <a:bodyPr wrap="square" lIns="0" tIns="0" rIns="0" bIns="0" rtlCol="0" anchor="ctr"/>
          <a:lstStyle/>
          <a:p>
            <a:pPr marL="0" indent="0" algn="r">
              <a:buNone/>
            </a:pPr>
            <a:r>
              <a:rPr lang="en-US" sz="900" dirty="0">
                <a:solidFill>
                  <a:srgbClr val="5C6B8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F3D"/>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marL="0" indent="0">
              <a:buNone/>
            </a:pPr>
            <a:r>
              <a:rPr lang="en-US" sz="1250" b="1" kern="0" spc="200" dirty="0">
                <a:solidFill>
                  <a:srgbClr val="0E8A8A"/>
                </a:solidFill>
                <a:latin typeface="Calibri" pitchFamily="34" charset="0"/>
                <a:ea typeface="Calibri" pitchFamily="34" charset="-122"/>
                <a:cs typeface="Calibri" pitchFamily="34" charset="-120"/>
              </a:rPr>
              <a:t>CLOSING</a:t>
            </a:r>
            <a:endParaRPr lang="en-US" sz="1250" dirty="0"/>
          </a:p>
        </p:txBody>
      </p:sp>
      <p:sp>
        <p:nvSpPr>
          <p:cNvPr id="3" name="Text 1"/>
          <p:cNvSpPr/>
          <p:nvPr/>
        </p:nvSpPr>
        <p:spPr>
          <a:xfrm>
            <a:off x="502920" y="530352"/>
            <a:ext cx="8138160" cy="59436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Conclusions and Future Work</a:t>
            </a:r>
            <a:endParaRPr lang="en-US" sz="2700" dirty="0"/>
          </a:p>
        </p:txBody>
      </p:sp>
      <p:sp>
        <p:nvSpPr>
          <p:cNvPr id="4" name="Shape 2"/>
          <p:cNvSpPr/>
          <p:nvPr/>
        </p:nvSpPr>
        <p:spPr>
          <a:xfrm>
            <a:off x="502920" y="1371600"/>
            <a:ext cx="3794760" cy="2468880"/>
          </a:xfrm>
          <a:prstGeom prst="roundRect">
            <a:avLst>
              <a:gd name="adj" fmla="val 3333"/>
            </a:avLst>
          </a:prstGeom>
          <a:solidFill>
            <a:srgbClr val="13294F"/>
          </a:solidFill>
          <a:ln/>
          <a:effectLst>
            <a:outerShdw blurRad="88900" dist="25400" dir="5400000" algn="bl" rotWithShape="0">
              <a:srgbClr val="000000">
                <a:alpha val="10000"/>
              </a:srgbClr>
            </a:outerShdw>
          </a:effectLst>
        </p:spPr>
        <p:txBody>
          <a:bodyPr/>
          <a:lstStyle/>
          <a:p>
            <a:endParaRPr lang="it-IT"/>
          </a:p>
        </p:txBody>
      </p:sp>
      <p:sp>
        <p:nvSpPr>
          <p:cNvPr id="5" name="Text 3"/>
          <p:cNvSpPr/>
          <p:nvPr/>
        </p:nvSpPr>
        <p:spPr>
          <a:xfrm>
            <a:off x="777240" y="1554480"/>
            <a:ext cx="3246120" cy="320040"/>
          </a:xfrm>
          <a:prstGeom prst="rect">
            <a:avLst/>
          </a:prstGeom>
          <a:noFill/>
          <a:ln/>
        </p:spPr>
        <p:txBody>
          <a:bodyPr wrap="square" lIns="0" tIns="0" rIns="0" bIns="0" rtlCol="0" anchor="ctr"/>
          <a:lstStyle/>
          <a:p>
            <a:pPr marL="0" indent="0">
              <a:buNone/>
            </a:pPr>
            <a:r>
              <a:rPr lang="en-US" sz="1450" b="1" dirty="0">
                <a:solidFill>
                  <a:srgbClr val="0E8A8A"/>
                </a:solidFill>
                <a:latin typeface="Cambria" pitchFamily="34" charset="0"/>
                <a:ea typeface="Cambria" pitchFamily="34" charset="-122"/>
                <a:cs typeface="Cambria" pitchFamily="34" charset="-120"/>
              </a:rPr>
              <a:t>Conclusions</a:t>
            </a:r>
            <a:endParaRPr lang="en-US" sz="1450" dirty="0"/>
          </a:p>
        </p:txBody>
      </p:sp>
      <p:sp>
        <p:nvSpPr>
          <p:cNvPr id="6" name="Text 4"/>
          <p:cNvSpPr/>
          <p:nvPr/>
        </p:nvSpPr>
        <p:spPr>
          <a:xfrm>
            <a:off x="777240" y="1965960"/>
            <a:ext cx="3246120" cy="1737360"/>
          </a:xfrm>
          <a:prstGeom prst="rect">
            <a:avLst/>
          </a:prstGeom>
          <a:noFill/>
          <a:ln/>
        </p:spPr>
        <p:txBody>
          <a:bodyPr wrap="square" rtlCol="0" anchor="t"/>
          <a:lstStyle/>
          <a:p>
            <a:pPr marL="342900" indent="-342900">
              <a:spcAft>
                <a:spcPts val="900"/>
              </a:spcAft>
              <a:buSzPct val="100000"/>
              <a:buChar char="–"/>
            </a:pPr>
            <a:r>
              <a:rPr lang="en-US" sz="1200" dirty="0">
                <a:solidFill>
                  <a:srgbClr val="DCE4F0"/>
                </a:solidFill>
                <a:latin typeface="Calibri" pitchFamily="34" charset="0"/>
                <a:ea typeface="Calibri" pitchFamily="34" charset="-122"/>
                <a:cs typeface="Calibri" pitchFamily="34" charset="-120"/>
              </a:rPr>
              <a:t>AI-assisted forensic tools require robustness evaluation.</a:t>
            </a:r>
            <a:endParaRPr lang="en-US" sz="1200" dirty="0"/>
          </a:p>
          <a:p>
            <a:pPr marL="342900" indent="-342900">
              <a:spcAft>
                <a:spcPts val="900"/>
              </a:spcAft>
              <a:buSzPct val="100000"/>
              <a:buChar char="–"/>
            </a:pPr>
            <a:r>
              <a:rPr lang="en-US" sz="1200" dirty="0">
                <a:solidFill>
                  <a:srgbClr val="DCE4F0"/>
                </a:solidFill>
                <a:latin typeface="Calibri" pitchFamily="34" charset="0"/>
                <a:ea typeface="Calibri" pitchFamily="34" charset="-122"/>
                <a:cs typeface="Calibri" pitchFamily="34" charset="-120"/>
              </a:rPr>
              <a:t>Controlled perturbation testing reveals operational failure modes.</a:t>
            </a:r>
            <a:endParaRPr lang="en-US" sz="1200" dirty="0"/>
          </a:p>
          <a:p>
            <a:pPr marL="342900" indent="-342900">
              <a:spcAft>
                <a:spcPts val="900"/>
              </a:spcAft>
              <a:buSzPct val="100000"/>
              <a:buChar char="–"/>
            </a:pPr>
            <a:r>
              <a:rPr lang="en-US" sz="1200" dirty="0">
                <a:solidFill>
                  <a:srgbClr val="DCE4F0"/>
                </a:solidFill>
                <a:latin typeface="Calibri" pitchFamily="34" charset="0"/>
                <a:ea typeface="Calibri" pitchFamily="34" charset="-122"/>
                <a:cs typeface="Calibri" pitchFamily="34" charset="-120"/>
              </a:rPr>
              <a:t>Proxy and commercial evaluations are complementary.</a:t>
            </a:r>
            <a:endParaRPr lang="en-US" sz="1200" dirty="0"/>
          </a:p>
          <a:p>
            <a:pPr marL="342900" indent="-342900">
              <a:spcAft>
                <a:spcPts val="900"/>
              </a:spcAft>
              <a:buSzPct val="100000"/>
              <a:buChar char="–"/>
            </a:pPr>
            <a:r>
              <a:rPr lang="en-US" sz="1200" dirty="0">
                <a:solidFill>
                  <a:srgbClr val="DCE4F0"/>
                </a:solidFill>
                <a:latin typeface="Calibri" pitchFamily="34" charset="0"/>
                <a:ea typeface="Calibri" pitchFamily="34" charset="-122"/>
                <a:cs typeface="Calibri" pitchFamily="34" charset="-120"/>
              </a:rPr>
              <a:t>Normalization and traceability are necessary for forensic reliability.</a:t>
            </a:r>
            <a:endParaRPr lang="en-US" sz="1200" dirty="0"/>
          </a:p>
        </p:txBody>
      </p:sp>
      <p:sp>
        <p:nvSpPr>
          <p:cNvPr id="7" name="Shape 5"/>
          <p:cNvSpPr/>
          <p:nvPr/>
        </p:nvSpPr>
        <p:spPr>
          <a:xfrm>
            <a:off x="4663440" y="1371600"/>
            <a:ext cx="3794760" cy="2468880"/>
          </a:xfrm>
          <a:prstGeom prst="roundRect">
            <a:avLst>
              <a:gd name="adj" fmla="val 3333"/>
            </a:avLst>
          </a:prstGeom>
          <a:solidFill>
            <a:srgbClr val="13294F"/>
          </a:solidFill>
          <a:ln/>
          <a:effectLst>
            <a:outerShdw blurRad="88900" dist="25400" dir="5400000" algn="bl" rotWithShape="0">
              <a:srgbClr val="000000">
                <a:alpha val="10000"/>
              </a:srgbClr>
            </a:outerShdw>
          </a:effectLst>
        </p:spPr>
        <p:txBody>
          <a:bodyPr/>
          <a:lstStyle/>
          <a:p>
            <a:endParaRPr lang="it-IT"/>
          </a:p>
        </p:txBody>
      </p:sp>
      <p:sp>
        <p:nvSpPr>
          <p:cNvPr id="8" name="Text 6"/>
          <p:cNvSpPr/>
          <p:nvPr/>
        </p:nvSpPr>
        <p:spPr>
          <a:xfrm>
            <a:off x="4937760" y="1554480"/>
            <a:ext cx="3246120" cy="320040"/>
          </a:xfrm>
          <a:prstGeom prst="rect">
            <a:avLst/>
          </a:prstGeom>
          <a:noFill/>
          <a:ln/>
        </p:spPr>
        <p:txBody>
          <a:bodyPr wrap="square" lIns="0" tIns="0" rIns="0" bIns="0" rtlCol="0" anchor="ctr"/>
          <a:lstStyle/>
          <a:p>
            <a:pPr marL="0" indent="0">
              <a:buNone/>
            </a:pPr>
            <a:r>
              <a:rPr lang="en-US" sz="1450" b="1" dirty="0">
                <a:solidFill>
                  <a:srgbClr val="E2692C"/>
                </a:solidFill>
                <a:latin typeface="Cambria" pitchFamily="34" charset="0"/>
                <a:ea typeface="Cambria" pitchFamily="34" charset="-122"/>
                <a:cs typeface="Cambria" pitchFamily="34" charset="-120"/>
              </a:rPr>
              <a:t>Future Work</a:t>
            </a:r>
            <a:endParaRPr lang="en-US" sz="1450" dirty="0"/>
          </a:p>
        </p:txBody>
      </p:sp>
      <p:sp>
        <p:nvSpPr>
          <p:cNvPr id="9" name="Text 7"/>
          <p:cNvSpPr/>
          <p:nvPr/>
        </p:nvSpPr>
        <p:spPr>
          <a:xfrm>
            <a:off x="4937760" y="1965960"/>
            <a:ext cx="3246120" cy="1737360"/>
          </a:xfrm>
          <a:prstGeom prst="rect">
            <a:avLst/>
          </a:prstGeom>
          <a:noFill/>
          <a:ln/>
        </p:spPr>
        <p:txBody>
          <a:bodyPr wrap="square" rtlCol="0" anchor="t"/>
          <a:lstStyle/>
          <a:p>
            <a:pPr marL="342900" indent="-342900">
              <a:spcAft>
                <a:spcPts val="800"/>
              </a:spcAft>
              <a:buSzPct val="100000"/>
              <a:buChar char="–"/>
            </a:pPr>
            <a:r>
              <a:rPr lang="en-US" sz="1200" dirty="0">
                <a:solidFill>
                  <a:srgbClr val="DCE4F0"/>
                </a:solidFill>
                <a:latin typeface="Calibri" pitchFamily="34" charset="0"/>
                <a:ea typeface="Calibri" pitchFamily="34" charset="-122"/>
                <a:cs typeface="Calibri" pitchFamily="34" charset="-120"/>
              </a:rPr>
              <a:t>Additional tools and versions</a:t>
            </a:r>
            <a:endParaRPr lang="en-US" sz="1200" dirty="0"/>
          </a:p>
          <a:p>
            <a:pPr marL="342900" indent="-342900">
              <a:spcAft>
                <a:spcPts val="800"/>
              </a:spcAft>
              <a:buSzPct val="100000"/>
              <a:buChar char="–"/>
            </a:pPr>
            <a:r>
              <a:rPr lang="en-US" sz="1200" dirty="0">
                <a:solidFill>
                  <a:srgbClr val="DCE4F0"/>
                </a:solidFill>
                <a:latin typeface="Calibri" pitchFamily="34" charset="0"/>
                <a:ea typeface="Calibri" pitchFamily="34" charset="-122"/>
                <a:cs typeface="Calibri" pitchFamily="34" charset="-120"/>
              </a:rPr>
              <a:t>Larger datasets and categories</a:t>
            </a:r>
            <a:endParaRPr lang="en-US" sz="1200" dirty="0"/>
          </a:p>
          <a:p>
            <a:pPr marL="342900" indent="-342900">
              <a:spcAft>
                <a:spcPts val="800"/>
              </a:spcAft>
              <a:buSzPct val="100000"/>
              <a:buChar char="–"/>
            </a:pPr>
            <a:r>
              <a:rPr lang="en-US" sz="1200" dirty="0">
                <a:solidFill>
                  <a:srgbClr val="DCE4F0"/>
                </a:solidFill>
                <a:latin typeface="Calibri" pitchFamily="34" charset="0"/>
                <a:ea typeface="Calibri" pitchFamily="34" charset="-122"/>
                <a:cs typeface="Calibri" pitchFamily="34" charset="-120"/>
              </a:rPr>
              <a:t>Extended attack models</a:t>
            </a:r>
            <a:endParaRPr lang="en-US" sz="1200" dirty="0"/>
          </a:p>
          <a:p>
            <a:pPr marL="342900" indent="-342900">
              <a:spcAft>
                <a:spcPts val="800"/>
              </a:spcAft>
              <a:buSzPct val="100000"/>
              <a:buChar char="–"/>
            </a:pPr>
            <a:r>
              <a:rPr lang="en-US" sz="1200" dirty="0">
                <a:solidFill>
                  <a:srgbClr val="DCE4F0"/>
                </a:solidFill>
                <a:latin typeface="Calibri" pitchFamily="34" charset="0"/>
                <a:ea typeface="Calibri" pitchFamily="34" charset="-122"/>
                <a:cs typeface="Calibri" pitchFamily="34" charset="-120"/>
              </a:rPr>
              <a:t>Uncertainty-aware triage</a:t>
            </a:r>
            <a:endParaRPr lang="en-US" sz="1200" dirty="0"/>
          </a:p>
          <a:p>
            <a:pPr marL="342900" indent="-342900">
              <a:spcAft>
                <a:spcPts val="800"/>
              </a:spcAft>
              <a:buSzPct val="100000"/>
              <a:buChar char="–"/>
            </a:pPr>
            <a:r>
              <a:rPr lang="en-US" sz="1200" dirty="0">
                <a:solidFill>
                  <a:srgbClr val="DCE4F0"/>
                </a:solidFill>
                <a:latin typeface="Calibri" pitchFamily="34" charset="0"/>
                <a:ea typeface="Calibri" pitchFamily="34" charset="-122"/>
                <a:cs typeface="Calibri" pitchFamily="34" charset="-120"/>
              </a:rPr>
              <a:t>Stronger validation protocols</a:t>
            </a:r>
            <a:endParaRPr lang="en-US" sz="1200" dirty="0"/>
          </a:p>
        </p:txBody>
      </p:sp>
      <p:sp>
        <p:nvSpPr>
          <p:cNvPr id="10" name="Shape 8"/>
          <p:cNvSpPr/>
          <p:nvPr/>
        </p:nvSpPr>
        <p:spPr>
          <a:xfrm>
            <a:off x="502920" y="4069080"/>
            <a:ext cx="8138160" cy="777240"/>
          </a:xfrm>
          <a:prstGeom prst="roundRect">
            <a:avLst>
              <a:gd name="adj" fmla="val 10588"/>
            </a:avLst>
          </a:prstGeom>
          <a:solidFill>
            <a:srgbClr val="0E8A8A"/>
          </a:solidFill>
          <a:ln/>
          <a:effectLst>
            <a:outerShdw blurRad="88900" dist="25400" dir="5400000" algn="bl" rotWithShape="0">
              <a:srgbClr val="000000">
                <a:alpha val="10000"/>
              </a:srgbClr>
            </a:outerShdw>
          </a:effectLst>
        </p:spPr>
        <p:txBody>
          <a:bodyPr/>
          <a:lstStyle/>
          <a:p>
            <a:endParaRPr lang="it-IT"/>
          </a:p>
        </p:txBody>
      </p:sp>
      <p:sp>
        <p:nvSpPr>
          <p:cNvPr id="11" name="Text 9"/>
          <p:cNvSpPr/>
          <p:nvPr/>
        </p:nvSpPr>
        <p:spPr>
          <a:xfrm>
            <a:off x="777240" y="4069080"/>
            <a:ext cx="7589520" cy="777240"/>
          </a:xfrm>
          <a:prstGeom prst="rect">
            <a:avLst/>
          </a:prstGeom>
          <a:noFill/>
          <a:ln/>
        </p:spPr>
        <p:txBody>
          <a:bodyPr wrap="square" lIns="0" tIns="0" rIns="0" bIns="0" rtlCol="0" anchor="ctr"/>
          <a:lstStyle/>
          <a:p>
            <a:pPr marL="0" indent="0" algn="ctr">
              <a:buNone/>
            </a:pPr>
            <a:r>
              <a:rPr lang="en-US" sz="1300" b="1" i="1" dirty="0">
                <a:solidFill>
                  <a:srgbClr val="FFFFFF"/>
                </a:solidFill>
                <a:latin typeface="Cambria" pitchFamily="34" charset="0"/>
                <a:ea typeface="Cambria" pitchFamily="34" charset="-122"/>
                <a:cs typeface="Cambria" pitchFamily="34" charset="-120"/>
              </a:rPr>
              <a:t>“AI-assisted forensic triage should be evaluated not only for accuracy, but for operational robustness under manipulated inputs.”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marL="0" indent="0">
              <a:buNone/>
            </a:pPr>
            <a:r>
              <a:rPr lang="en-US" sz="1250" b="1" kern="0" spc="200" dirty="0">
                <a:solidFill>
                  <a:srgbClr val="E2692C"/>
                </a:solidFill>
                <a:latin typeface="Calibri" pitchFamily="34" charset="0"/>
                <a:ea typeface="Calibri" pitchFamily="34" charset="-122"/>
                <a:cs typeface="Calibri" pitchFamily="34" charset="-120"/>
              </a:rPr>
              <a:t>BACKUP – Q&amp;A REFERENCE</a:t>
            </a:r>
            <a:endParaRPr lang="en-US" sz="125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2700" b="1" dirty="0">
                <a:solidFill>
                  <a:srgbClr val="0A1F3D"/>
                </a:solidFill>
                <a:latin typeface="Cambria" pitchFamily="34" charset="0"/>
                <a:ea typeface="Cambria" pitchFamily="34" charset="-122"/>
                <a:cs typeface="Cambria" pitchFamily="34" charset="-120"/>
              </a:rPr>
              <a:t>Metric Definitions</a:t>
            </a:r>
            <a:endParaRPr lang="en-US" sz="27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8138160" cy="1714500"/>
        </p:xfrm>
        <a:graphic>
          <a:graphicData uri="http://schemas.openxmlformats.org/drawingml/2006/table">
            <a:tbl>
              <a:tblPr/>
              <a:tblGrid>
                <a:gridCol w="219456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0">
                <a:tc>
                  <a:txBody>
                    <a:bodyPr/>
                    <a:lstStyle/>
                    <a:p>
                      <a:pPr marL="0" indent="0">
                        <a:buNone/>
                      </a:pPr>
                      <a:r>
                        <a:rPr lang="en-US" sz="1250" b="1" dirty="0">
                          <a:solidFill>
                            <a:srgbClr val="0A1F3D"/>
                          </a:solidFill>
                          <a:latin typeface="Calibri" pitchFamily="34" charset="0"/>
                          <a:ea typeface="Calibri" pitchFamily="34" charset="-122"/>
                          <a:cs typeface="Calibri" pitchFamily="34" charset="-120"/>
                        </a:rPr>
                        <a:t>TP / TN</a:t>
                      </a:r>
                      <a:endParaRPr lang="en-US" sz="1250" dirty="0">
                        <a:latin typeface="Calibri" charset="0"/>
                        <a:ea typeface="Calibri" charset="0"/>
                        <a:cs typeface="Calibri" charset="0"/>
                      </a:endParaRPr>
                    </a:p>
                  </a:txBody>
                  <a:tcPr marL="101600" marR="101600" marT="76200" marB="762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3F3F2"/>
                    </a:solidFill>
                  </a:tcPr>
                </a:tc>
                <a:tc>
                  <a:txBody>
                    <a:bodyPr/>
                    <a:lstStyle/>
                    <a:p>
                      <a:pPr marL="0" indent="0">
                        <a:buNone/>
                      </a:pPr>
                      <a:r>
                        <a:rPr lang="en-US" sz="1250" dirty="0">
                          <a:solidFill>
                            <a:srgbClr val="1C2B42"/>
                          </a:solidFill>
                          <a:latin typeface="Calibri" pitchFamily="34" charset="0"/>
                          <a:ea typeface="Calibri" pitchFamily="34" charset="-122"/>
                          <a:cs typeface="Calibri" pitchFamily="34" charset="-120"/>
                        </a:rPr>
                        <a:t>True Positive / True Negative — correct weapon / non-weapon classification</a:t>
                      </a:r>
                      <a:endParaRPr lang="en-US" sz="1250" dirty="0">
                        <a:latin typeface="Calibri" charset="0"/>
                        <a:ea typeface="Calibri" charset="0"/>
                        <a:cs typeface="Calibri" charset="0"/>
                      </a:endParaRPr>
                    </a:p>
                  </a:txBody>
                  <a:tcPr marL="101600" marR="101600" marT="76200" marB="762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indent="0">
                        <a:buNone/>
                      </a:pPr>
                      <a:r>
                        <a:rPr lang="en-US" sz="1250" b="1" dirty="0">
                          <a:solidFill>
                            <a:srgbClr val="0A1F3D"/>
                          </a:solidFill>
                          <a:latin typeface="Calibri" pitchFamily="34" charset="0"/>
                          <a:ea typeface="Calibri" pitchFamily="34" charset="-122"/>
                          <a:cs typeface="Calibri" pitchFamily="34" charset="-120"/>
                        </a:rPr>
                        <a:t>FP / FN</a:t>
                      </a:r>
                      <a:endParaRPr lang="en-US" sz="1250" dirty="0">
                        <a:latin typeface="Calibri" charset="0"/>
                        <a:ea typeface="Calibri" charset="0"/>
                        <a:cs typeface="Calibri" charset="0"/>
                      </a:endParaRPr>
                    </a:p>
                  </a:txBody>
                  <a:tcPr marL="101600" marR="101600" marT="76200" marB="762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3F3F2"/>
                    </a:solidFill>
                  </a:tcPr>
                </a:tc>
                <a:tc>
                  <a:txBody>
                    <a:bodyPr/>
                    <a:lstStyle/>
                    <a:p>
                      <a:pPr marL="0" indent="0">
                        <a:buNone/>
                      </a:pPr>
                      <a:r>
                        <a:rPr lang="en-US" sz="1250" dirty="0">
                          <a:solidFill>
                            <a:srgbClr val="1C2B42"/>
                          </a:solidFill>
                          <a:latin typeface="Calibri" pitchFamily="34" charset="0"/>
                          <a:ea typeface="Calibri" pitchFamily="34" charset="-122"/>
                          <a:cs typeface="Calibri" pitchFamily="34" charset="-120"/>
                        </a:rPr>
                        <a:t>False Positive / False Negative — incorrect classification in either direction</a:t>
                      </a:r>
                      <a:endParaRPr lang="en-US" sz="1250" dirty="0">
                        <a:latin typeface="Calibri" charset="0"/>
                        <a:ea typeface="Calibri" charset="0"/>
                        <a:cs typeface="Calibri" charset="0"/>
                      </a:endParaRPr>
                    </a:p>
                  </a:txBody>
                  <a:tcPr marL="101600" marR="101600" marT="76200" marB="762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250" b="1" dirty="0">
                          <a:solidFill>
                            <a:srgbClr val="0A1F3D"/>
                          </a:solidFill>
                          <a:latin typeface="Calibri" pitchFamily="34" charset="0"/>
                          <a:ea typeface="Calibri" pitchFamily="34" charset="-122"/>
                          <a:cs typeface="Calibri" pitchFamily="34" charset="-120"/>
                        </a:rPr>
                        <a:t>FNR / FPR</a:t>
                      </a:r>
                      <a:endParaRPr lang="en-US" sz="1250" dirty="0">
                        <a:latin typeface="Calibri" charset="0"/>
                        <a:ea typeface="Calibri" charset="0"/>
                        <a:cs typeface="Calibri" charset="0"/>
                      </a:endParaRPr>
                    </a:p>
                  </a:txBody>
                  <a:tcPr marL="101600" marR="101600" marT="76200" marB="762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3F3F2"/>
                    </a:solidFill>
                  </a:tcPr>
                </a:tc>
                <a:tc>
                  <a:txBody>
                    <a:bodyPr/>
                    <a:lstStyle/>
                    <a:p>
                      <a:pPr marL="0" indent="0">
                        <a:buNone/>
                      </a:pPr>
                      <a:r>
                        <a:rPr lang="en-US" sz="1250" dirty="0">
                          <a:solidFill>
                            <a:srgbClr val="1C2B42"/>
                          </a:solidFill>
                          <a:latin typeface="Calibri" pitchFamily="34" charset="0"/>
                          <a:ea typeface="Calibri" pitchFamily="34" charset="-122"/>
                          <a:cs typeface="Calibri" pitchFamily="34" charset="-120"/>
                        </a:rPr>
                        <a:t>False Negative Rate / False Positive Rate</a:t>
                      </a:r>
                      <a:endParaRPr lang="en-US" sz="1250" dirty="0">
                        <a:latin typeface="Calibri" charset="0"/>
                        <a:ea typeface="Calibri" charset="0"/>
                        <a:cs typeface="Calibri" charset="0"/>
                      </a:endParaRPr>
                    </a:p>
                  </a:txBody>
                  <a:tcPr marL="101600" marR="101600" marT="76200" marB="762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250" b="1" dirty="0">
                          <a:solidFill>
                            <a:srgbClr val="0A1F3D"/>
                          </a:solidFill>
                          <a:latin typeface="Calibri" pitchFamily="34" charset="0"/>
                          <a:ea typeface="Calibri" pitchFamily="34" charset="-122"/>
                          <a:cs typeface="Calibri" pitchFamily="34" charset="-120"/>
                        </a:rPr>
                        <a:t>Unknown rate</a:t>
                      </a:r>
                      <a:endParaRPr lang="en-US" sz="1250" dirty="0">
                        <a:latin typeface="Calibri" charset="0"/>
                        <a:ea typeface="Calibri" charset="0"/>
                        <a:cs typeface="Calibri" charset="0"/>
                      </a:endParaRPr>
                    </a:p>
                  </a:txBody>
                  <a:tcPr marL="101600" marR="101600" marT="76200" marB="762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3F3F2"/>
                    </a:solidFill>
                  </a:tcPr>
                </a:tc>
                <a:tc>
                  <a:txBody>
                    <a:bodyPr/>
                    <a:lstStyle/>
                    <a:p>
                      <a:pPr marL="0" indent="0">
                        <a:buNone/>
                      </a:pPr>
                      <a:r>
                        <a:rPr lang="en-US" sz="1250" dirty="0">
                          <a:solidFill>
                            <a:srgbClr val="1C2B42"/>
                          </a:solidFill>
                          <a:latin typeface="Calibri" pitchFamily="34" charset="0"/>
                          <a:ea typeface="Calibri" pitchFamily="34" charset="-122"/>
                          <a:cs typeface="Calibri" pitchFamily="34" charset="-120"/>
                        </a:rPr>
                        <a:t>Share of outputs that cannot be conservatively mapped to a label</a:t>
                      </a:r>
                      <a:endParaRPr lang="en-US" sz="1250" dirty="0">
                        <a:latin typeface="Calibri" charset="0"/>
                        <a:ea typeface="Calibri" charset="0"/>
                        <a:cs typeface="Calibri" charset="0"/>
                      </a:endParaRPr>
                    </a:p>
                  </a:txBody>
                  <a:tcPr marL="101600" marR="101600" marT="76200" marB="762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250" b="1" dirty="0">
                          <a:solidFill>
                            <a:srgbClr val="0A1F3D"/>
                          </a:solidFill>
                          <a:latin typeface="Calibri" pitchFamily="34" charset="0"/>
                          <a:ea typeface="Calibri" pitchFamily="34" charset="-122"/>
                          <a:cs typeface="Calibri" pitchFamily="34" charset="-120"/>
                        </a:rPr>
                        <a:t>OOD weapon-flag rate</a:t>
                      </a:r>
                      <a:endParaRPr lang="en-US" sz="1250" dirty="0">
                        <a:latin typeface="Calibri" charset="0"/>
                        <a:ea typeface="Calibri" charset="0"/>
                        <a:cs typeface="Calibri" charset="0"/>
                      </a:endParaRPr>
                    </a:p>
                  </a:txBody>
                  <a:tcPr marL="101600" marR="101600" marT="76200" marB="762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3F3F2"/>
                    </a:solidFill>
                  </a:tcPr>
                </a:tc>
                <a:tc>
                  <a:txBody>
                    <a:bodyPr/>
                    <a:lstStyle/>
                    <a:p>
                      <a:pPr marL="0" indent="0">
                        <a:buNone/>
                      </a:pPr>
                      <a:r>
                        <a:rPr lang="en-US" sz="1250" dirty="0">
                          <a:solidFill>
                            <a:srgbClr val="1C2B42"/>
                          </a:solidFill>
                          <a:latin typeface="Calibri" pitchFamily="34" charset="0"/>
                          <a:ea typeface="Calibri" pitchFamily="34" charset="-122"/>
                          <a:cs typeface="Calibri" pitchFamily="34" charset="-120"/>
                        </a:rPr>
                        <a:t>Share of out-of-distribution images flagged as weapon-related</a:t>
                      </a:r>
                      <a:endParaRPr lang="en-US" sz="1250" dirty="0">
                        <a:latin typeface="Calibri" charset="0"/>
                        <a:ea typeface="Calibri" charset="0"/>
                        <a:cs typeface="Calibri" charset="0"/>
                      </a:endParaRPr>
                    </a:p>
                  </a:txBody>
                  <a:tcPr marL="101600" marR="101600" marT="76200" marB="762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502920" y="4864608"/>
            <a:ext cx="5486400" cy="228600"/>
          </a:xfrm>
          <a:prstGeom prst="rect">
            <a:avLst/>
          </a:prstGeom>
          <a:noFill/>
          <a:ln/>
        </p:spPr>
        <p:txBody>
          <a:bodyPr wrap="square" lIns="0" tIns="0" rIns="0" bIns="0" rtlCol="0" anchor="ctr"/>
          <a:lstStyle/>
          <a:p>
            <a:pPr marL="0" indent="0">
              <a:buNone/>
            </a:pPr>
            <a:r>
              <a:rPr lang="en-US" sz="900" dirty="0">
                <a:solidFill>
                  <a:srgbClr val="5C6B83"/>
                </a:solidFill>
                <a:latin typeface="Calibri" pitchFamily="34" charset="0"/>
                <a:ea typeface="Calibri" pitchFamily="34" charset="-122"/>
                <a:cs typeface="Calibri" pitchFamily="34" charset="-120"/>
              </a:rPr>
              <a:t>Robustness of AI-Based Forensic Tools  |  Lello Molinario</a:t>
            </a:r>
            <a:endParaRPr lang="en-US" sz="900" dirty="0"/>
          </a:p>
        </p:txBody>
      </p:sp>
      <p:sp>
        <p:nvSpPr>
          <p:cNvPr id="6" name="Text 3"/>
          <p:cNvSpPr/>
          <p:nvPr/>
        </p:nvSpPr>
        <p:spPr>
          <a:xfrm>
            <a:off x="8732520" y="4864608"/>
            <a:ext cx="365760" cy="228600"/>
          </a:xfrm>
          <a:prstGeom prst="rect">
            <a:avLst/>
          </a:prstGeom>
          <a:noFill/>
          <a:ln/>
        </p:spPr>
        <p:txBody>
          <a:bodyPr wrap="square" lIns="0" tIns="0" rIns="0" bIns="0" rtlCol="0" anchor="ctr"/>
          <a:lstStyle/>
          <a:p>
            <a:pPr marL="0" indent="0" algn="r">
              <a:buNone/>
            </a:pPr>
            <a:r>
              <a:rPr lang="en-US" sz="900" dirty="0">
                <a:solidFill>
                  <a:srgbClr val="5C6B83"/>
                </a:solidFill>
                <a:latin typeface="Calibri" pitchFamily="34" charset="0"/>
                <a:ea typeface="Calibri" pitchFamily="34" charset="-122"/>
                <a:cs typeface="Calibri" pitchFamily="34" charset="-120"/>
              </a:rPr>
              <a:t>B1</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marL="0" indent="0">
              <a:buNone/>
            </a:pPr>
            <a:r>
              <a:rPr lang="en-US" sz="1250" b="1" kern="0" spc="200" dirty="0">
                <a:solidFill>
                  <a:srgbClr val="E2692C"/>
                </a:solidFill>
                <a:latin typeface="Calibri" pitchFamily="34" charset="0"/>
                <a:ea typeface="Calibri" pitchFamily="34" charset="-122"/>
                <a:cs typeface="Calibri" pitchFamily="34" charset="-120"/>
              </a:rPr>
              <a:t>BACKUP – Q&amp;A REFERENCE</a:t>
            </a:r>
            <a:endParaRPr lang="en-US" sz="125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2700" b="1" dirty="0">
                <a:solidFill>
                  <a:srgbClr val="0A1F3D"/>
                </a:solidFill>
                <a:latin typeface="Cambria" pitchFamily="34" charset="0"/>
                <a:ea typeface="Cambria" pitchFamily="34" charset="-122"/>
                <a:cs typeface="Cambria" pitchFamily="34" charset="-120"/>
              </a:rPr>
              <a:t>Why OOD Remains Clean</a:t>
            </a:r>
            <a:endParaRPr lang="en-US" sz="2700" dirty="0"/>
          </a:p>
        </p:txBody>
      </p:sp>
      <p:sp>
        <p:nvSpPr>
          <p:cNvPr id="4" name="Shape 2"/>
          <p:cNvSpPr/>
          <p:nvPr/>
        </p:nvSpPr>
        <p:spPr>
          <a:xfrm>
            <a:off x="502920" y="1417320"/>
            <a:ext cx="8138160" cy="1005840"/>
          </a:xfrm>
          <a:prstGeom prst="roundRect">
            <a:avLst>
              <a:gd name="adj" fmla="val 8182"/>
            </a:avLst>
          </a:prstGeom>
          <a:solidFill>
            <a:srgbClr val="FBE7DA"/>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5" name="Text 3"/>
          <p:cNvSpPr/>
          <p:nvPr/>
        </p:nvSpPr>
        <p:spPr>
          <a:xfrm>
            <a:off x="777240" y="1417320"/>
            <a:ext cx="7589520" cy="1005840"/>
          </a:xfrm>
          <a:prstGeom prst="rect">
            <a:avLst/>
          </a:prstGeom>
          <a:noFill/>
          <a:ln/>
        </p:spPr>
        <p:txBody>
          <a:bodyPr wrap="square" lIns="0" tIns="0" rIns="0" bIns="0" rtlCol="0" anchor="ctr"/>
          <a:lstStyle/>
          <a:p>
            <a:pPr marL="0" indent="0">
              <a:buNone/>
            </a:pPr>
            <a:r>
              <a:rPr lang="en-US" sz="1350" i="1" dirty="0">
                <a:solidFill>
                  <a:srgbClr val="0A1F3D"/>
                </a:solidFill>
                <a:latin typeface="Calibri" pitchFamily="34" charset="0"/>
                <a:ea typeface="Calibri" pitchFamily="34" charset="-122"/>
                <a:cs typeface="Calibri" pitchFamily="34" charset="-120"/>
              </a:rPr>
              <a:t>The OOD branch tests out-of-distribution behavior, not perturbation robustness — the two questions are deliberately kept separate.</a:t>
            </a:r>
            <a:endParaRPr lang="en-US" sz="1350" dirty="0"/>
          </a:p>
        </p:txBody>
      </p:sp>
      <p:sp>
        <p:nvSpPr>
          <p:cNvPr id="6" name="Text 4"/>
          <p:cNvSpPr/>
          <p:nvPr/>
        </p:nvSpPr>
        <p:spPr>
          <a:xfrm>
            <a:off x="502920" y="2651760"/>
            <a:ext cx="8138160" cy="1737360"/>
          </a:xfrm>
          <a:prstGeom prst="rect">
            <a:avLst/>
          </a:prstGeom>
          <a:noFill/>
          <a:ln/>
        </p:spPr>
        <p:txBody>
          <a:bodyPr wrap="square" rtlCol="0" anchor="t"/>
          <a:lstStyle/>
          <a:p>
            <a:pPr marL="342900" indent="-342900">
              <a:spcAft>
                <a:spcPts val="1000"/>
              </a:spcAft>
              <a:buSzPct val="100000"/>
              <a:buChar char="–"/>
            </a:pPr>
            <a:r>
              <a:rPr lang="en-US" sz="1350" dirty="0">
                <a:solidFill>
                  <a:srgbClr val="1C2B42"/>
                </a:solidFill>
                <a:latin typeface="Calibri" pitchFamily="34" charset="0"/>
                <a:ea typeface="Calibri" pitchFamily="34" charset="-122"/>
                <a:cs typeface="Calibri" pitchFamily="34" charset="-120"/>
              </a:rPr>
              <a:t>OOD images probe whether a tool maps unfamiliar content into the weapon class.</a:t>
            </a:r>
            <a:endParaRPr lang="en-US" sz="1350" dirty="0"/>
          </a:p>
          <a:p>
            <a:pPr marL="342900" indent="-342900">
              <a:spcAft>
                <a:spcPts val="1000"/>
              </a:spcAft>
              <a:buSzPct val="100000"/>
              <a:buChar char="–"/>
            </a:pPr>
            <a:r>
              <a:rPr lang="en-US" sz="1350" dirty="0">
                <a:solidFill>
                  <a:srgbClr val="1C2B42"/>
                </a:solidFill>
                <a:latin typeface="Calibri" pitchFamily="34" charset="0"/>
                <a:ea typeface="Calibri" pitchFamily="34" charset="-122"/>
                <a:cs typeface="Calibri" pitchFamily="34" charset="-120"/>
              </a:rPr>
              <a:t>Adding perturbations to OOD inputs would conflate two distinct failure modes.</a:t>
            </a:r>
            <a:endParaRPr lang="en-US" sz="1350" dirty="0"/>
          </a:p>
          <a:p>
            <a:pPr marL="342900" indent="-342900">
              <a:spcAft>
                <a:spcPts val="1000"/>
              </a:spcAft>
              <a:buSzPct val="100000"/>
              <a:buChar char="–"/>
            </a:pPr>
            <a:r>
              <a:rPr lang="en-US" sz="1350" dirty="0">
                <a:solidFill>
                  <a:srgbClr val="1C2B42"/>
                </a:solidFill>
                <a:latin typeface="Calibri" pitchFamily="34" charset="0"/>
                <a:ea typeface="Calibri" pitchFamily="34" charset="-122"/>
                <a:cs typeface="Calibri" pitchFamily="34" charset="-120"/>
              </a:rPr>
              <a:t>Keeping OOD clean isolates distribution-shift behavior from adversarial/anti-forensic behavior.</a:t>
            </a:r>
            <a:endParaRPr lang="en-US" sz="1350" dirty="0"/>
          </a:p>
        </p:txBody>
      </p:sp>
      <p:sp>
        <p:nvSpPr>
          <p:cNvPr id="7" name="Text 5"/>
          <p:cNvSpPr/>
          <p:nvPr/>
        </p:nvSpPr>
        <p:spPr>
          <a:xfrm>
            <a:off x="502920" y="4864608"/>
            <a:ext cx="5486400" cy="228600"/>
          </a:xfrm>
          <a:prstGeom prst="rect">
            <a:avLst/>
          </a:prstGeom>
          <a:noFill/>
          <a:ln/>
        </p:spPr>
        <p:txBody>
          <a:bodyPr wrap="square" lIns="0" tIns="0" rIns="0" bIns="0" rtlCol="0" anchor="ctr"/>
          <a:lstStyle/>
          <a:p>
            <a:pPr marL="0" indent="0">
              <a:buNone/>
            </a:pPr>
            <a:r>
              <a:rPr lang="en-US" sz="900" dirty="0">
                <a:solidFill>
                  <a:srgbClr val="5C6B83"/>
                </a:solidFill>
                <a:latin typeface="Calibri" pitchFamily="34" charset="0"/>
                <a:ea typeface="Calibri" pitchFamily="34" charset="-122"/>
                <a:cs typeface="Calibri" pitchFamily="34" charset="-120"/>
              </a:rPr>
              <a:t>Robustness of AI-Based Forensic Tools  |  Lello Molinario</a:t>
            </a:r>
            <a:endParaRPr lang="en-US" sz="900" dirty="0"/>
          </a:p>
        </p:txBody>
      </p:sp>
      <p:sp>
        <p:nvSpPr>
          <p:cNvPr id="8" name="Text 6"/>
          <p:cNvSpPr/>
          <p:nvPr/>
        </p:nvSpPr>
        <p:spPr>
          <a:xfrm>
            <a:off x="8732520" y="4864608"/>
            <a:ext cx="365760" cy="228600"/>
          </a:xfrm>
          <a:prstGeom prst="rect">
            <a:avLst/>
          </a:prstGeom>
          <a:noFill/>
          <a:ln/>
        </p:spPr>
        <p:txBody>
          <a:bodyPr wrap="square" lIns="0" tIns="0" rIns="0" bIns="0" rtlCol="0" anchor="ctr"/>
          <a:lstStyle/>
          <a:p>
            <a:pPr marL="0" indent="0" algn="r">
              <a:buNone/>
            </a:pPr>
            <a:r>
              <a:rPr lang="en-US" sz="900" dirty="0">
                <a:solidFill>
                  <a:srgbClr val="5C6B83"/>
                </a:solidFill>
                <a:latin typeface="Calibri" pitchFamily="34" charset="0"/>
                <a:ea typeface="Calibri" pitchFamily="34" charset="-122"/>
                <a:cs typeface="Calibri" pitchFamily="34" charset="-120"/>
              </a:rPr>
              <a:t>B2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marL="0" indent="0">
              <a:buNone/>
            </a:pPr>
            <a:r>
              <a:rPr lang="en-US" sz="1250" b="1" kern="0" spc="200" dirty="0">
                <a:solidFill>
                  <a:srgbClr val="E2692C"/>
                </a:solidFill>
                <a:latin typeface="Calibri" pitchFamily="34" charset="0"/>
                <a:ea typeface="Calibri" pitchFamily="34" charset="-122"/>
                <a:cs typeface="Calibri" pitchFamily="34" charset="-120"/>
              </a:rPr>
              <a:t>BACKUP – Q&amp;A REFERENCE</a:t>
            </a:r>
            <a:endParaRPr lang="en-US" sz="125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2700" b="1" dirty="0">
                <a:solidFill>
                  <a:srgbClr val="0A1F3D"/>
                </a:solidFill>
                <a:latin typeface="Cambria" pitchFamily="34" charset="0"/>
                <a:ea typeface="Cambria" pitchFamily="34" charset="-122"/>
                <a:cs typeface="Cambria" pitchFamily="34" charset="-120"/>
              </a:rPr>
              <a:t>Why Proxy Models Are Needed</a:t>
            </a:r>
            <a:endParaRPr lang="en-US" sz="2700" dirty="0"/>
          </a:p>
        </p:txBody>
      </p:sp>
      <p:sp>
        <p:nvSpPr>
          <p:cNvPr id="4" name="Shape 2"/>
          <p:cNvSpPr/>
          <p:nvPr/>
        </p:nvSpPr>
        <p:spPr>
          <a:xfrm>
            <a:off x="521208" y="1463040"/>
            <a:ext cx="1901952" cy="2331720"/>
          </a:xfrm>
          <a:prstGeom prst="roundRect">
            <a:avLst>
              <a:gd name="adj" fmla="val 4327"/>
            </a:avLst>
          </a:prstGeom>
          <a:solidFill>
            <a:srgbClr val="F3F6FA"/>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5" name="Shape 3"/>
          <p:cNvSpPr/>
          <p:nvPr/>
        </p:nvSpPr>
        <p:spPr>
          <a:xfrm>
            <a:off x="1216152" y="1664208"/>
            <a:ext cx="512064" cy="512064"/>
          </a:xfrm>
          <a:prstGeom prst="ellipse">
            <a:avLst/>
          </a:prstGeom>
          <a:solidFill>
            <a:srgbClr val="0E8A8A"/>
          </a:solidFill>
          <a:ln/>
        </p:spPr>
        <p:txBody>
          <a:bodyPr/>
          <a:lstStyle/>
          <a:p>
            <a:endParaRPr lang="it-IT"/>
          </a:p>
        </p:txBody>
      </p:sp>
      <p:pic>
        <p:nvPicPr>
          <p:cNvPr id="6" name="Image 0" descr="preencoded.png"/>
          <p:cNvPicPr>
            <a:picLocks noChangeAspect="1"/>
          </p:cNvPicPr>
          <p:nvPr/>
        </p:nvPicPr>
        <p:blipFill>
          <a:blip r:embed="rId3"/>
          <a:stretch>
            <a:fillRect/>
          </a:stretch>
        </p:blipFill>
        <p:spPr>
          <a:xfrm>
            <a:off x="1282720" y="1730776"/>
            <a:ext cx="378927" cy="378927"/>
          </a:xfrm>
          <a:prstGeom prst="rect">
            <a:avLst/>
          </a:prstGeom>
        </p:spPr>
      </p:pic>
      <p:sp>
        <p:nvSpPr>
          <p:cNvPr id="7" name="Text 4"/>
          <p:cNvSpPr/>
          <p:nvPr/>
        </p:nvSpPr>
        <p:spPr>
          <a:xfrm>
            <a:off x="594360" y="2304288"/>
            <a:ext cx="1755648" cy="502920"/>
          </a:xfrm>
          <a:prstGeom prst="rect">
            <a:avLst/>
          </a:prstGeom>
          <a:noFill/>
          <a:ln/>
        </p:spPr>
        <p:txBody>
          <a:bodyPr wrap="square" lIns="0" tIns="0" rIns="0" bIns="0" rtlCol="0" anchor="t"/>
          <a:lstStyle/>
          <a:p>
            <a:pPr marL="0" indent="0" algn="ctr">
              <a:buNone/>
            </a:pPr>
            <a:r>
              <a:rPr lang="en-US" sz="1100" b="1" dirty="0">
                <a:solidFill>
                  <a:srgbClr val="0A1F3D"/>
                </a:solidFill>
                <a:latin typeface="Cambria" pitchFamily="34" charset="0"/>
                <a:ea typeface="Cambria" pitchFamily="34" charset="-122"/>
                <a:cs typeface="Cambria" pitchFamily="34" charset="-120"/>
              </a:rPr>
              <a:t>Controlled adversarial testing</a:t>
            </a:r>
            <a:endParaRPr lang="en-US" sz="1100" dirty="0"/>
          </a:p>
        </p:txBody>
      </p:sp>
      <p:sp>
        <p:nvSpPr>
          <p:cNvPr id="8" name="Text 5"/>
          <p:cNvSpPr/>
          <p:nvPr/>
        </p:nvSpPr>
        <p:spPr>
          <a:xfrm>
            <a:off x="630936" y="2834640"/>
            <a:ext cx="1682496" cy="914400"/>
          </a:xfrm>
          <a:prstGeom prst="rect">
            <a:avLst/>
          </a:prstGeom>
          <a:noFill/>
          <a:ln/>
        </p:spPr>
        <p:txBody>
          <a:bodyPr wrap="square" lIns="0" tIns="0" rIns="0" bIns="0" rtlCol="0" anchor="t"/>
          <a:lstStyle/>
          <a:p>
            <a:pPr marL="0" indent="0" algn="ctr">
              <a:lnSpc>
                <a:spcPct val="115000"/>
              </a:lnSpc>
              <a:buNone/>
            </a:pPr>
            <a:r>
              <a:rPr lang="en-US" sz="980" dirty="0">
                <a:solidFill>
                  <a:srgbClr val="1C2B42"/>
                </a:solidFill>
                <a:latin typeface="Calibri" pitchFamily="34" charset="0"/>
                <a:ea typeface="Calibri" pitchFamily="34" charset="-122"/>
                <a:cs typeface="Calibri" pitchFamily="34" charset="-120"/>
              </a:rPr>
              <a:t>Precise, repeatable attack generation against a known target.</a:t>
            </a:r>
            <a:endParaRPr lang="en-US" sz="980" dirty="0"/>
          </a:p>
        </p:txBody>
      </p:sp>
      <p:sp>
        <p:nvSpPr>
          <p:cNvPr id="9" name="Shape 6"/>
          <p:cNvSpPr/>
          <p:nvPr/>
        </p:nvSpPr>
        <p:spPr>
          <a:xfrm>
            <a:off x="2587752" y="1463040"/>
            <a:ext cx="1901952" cy="2331720"/>
          </a:xfrm>
          <a:prstGeom prst="roundRect">
            <a:avLst>
              <a:gd name="adj" fmla="val 4327"/>
            </a:avLst>
          </a:prstGeom>
          <a:solidFill>
            <a:srgbClr val="F3F6FA"/>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10" name="Shape 7"/>
          <p:cNvSpPr/>
          <p:nvPr/>
        </p:nvSpPr>
        <p:spPr>
          <a:xfrm>
            <a:off x="3282696" y="1664208"/>
            <a:ext cx="512064" cy="512064"/>
          </a:xfrm>
          <a:prstGeom prst="ellipse">
            <a:avLst/>
          </a:prstGeom>
          <a:solidFill>
            <a:srgbClr val="0E8A8A"/>
          </a:solidFill>
          <a:ln/>
        </p:spPr>
        <p:txBody>
          <a:bodyPr/>
          <a:lstStyle/>
          <a:p>
            <a:endParaRPr lang="it-IT"/>
          </a:p>
        </p:txBody>
      </p:sp>
      <p:pic>
        <p:nvPicPr>
          <p:cNvPr id="11" name="Image 1" descr="preencoded.png"/>
          <p:cNvPicPr>
            <a:picLocks noChangeAspect="1"/>
          </p:cNvPicPr>
          <p:nvPr/>
        </p:nvPicPr>
        <p:blipFill>
          <a:blip r:embed="rId4"/>
          <a:stretch>
            <a:fillRect/>
          </a:stretch>
        </p:blipFill>
        <p:spPr>
          <a:xfrm>
            <a:off x="3349264" y="1730776"/>
            <a:ext cx="378927" cy="378927"/>
          </a:xfrm>
          <a:prstGeom prst="rect">
            <a:avLst/>
          </a:prstGeom>
        </p:spPr>
      </p:pic>
      <p:sp>
        <p:nvSpPr>
          <p:cNvPr id="12" name="Text 8"/>
          <p:cNvSpPr/>
          <p:nvPr/>
        </p:nvSpPr>
        <p:spPr>
          <a:xfrm>
            <a:off x="2660904" y="2304288"/>
            <a:ext cx="1755648" cy="502920"/>
          </a:xfrm>
          <a:prstGeom prst="rect">
            <a:avLst/>
          </a:prstGeom>
          <a:noFill/>
          <a:ln/>
        </p:spPr>
        <p:txBody>
          <a:bodyPr wrap="square" lIns="0" tIns="0" rIns="0" bIns="0" rtlCol="0" anchor="t"/>
          <a:lstStyle/>
          <a:p>
            <a:pPr marL="0" indent="0" algn="ctr">
              <a:buNone/>
            </a:pPr>
            <a:r>
              <a:rPr lang="en-US" sz="1100" b="1" dirty="0">
                <a:solidFill>
                  <a:srgbClr val="0A1F3D"/>
                </a:solidFill>
                <a:latin typeface="Cambria" pitchFamily="34" charset="0"/>
                <a:ea typeface="Cambria" pitchFamily="34" charset="-122"/>
                <a:cs typeface="Cambria" pitchFamily="34" charset="-120"/>
              </a:rPr>
              <a:t>Access to confidence values</a:t>
            </a:r>
            <a:endParaRPr lang="en-US" sz="1100" dirty="0"/>
          </a:p>
        </p:txBody>
      </p:sp>
      <p:sp>
        <p:nvSpPr>
          <p:cNvPr id="13" name="Text 9"/>
          <p:cNvSpPr/>
          <p:nvPr/>
        </p:nvSpPr>
        <p:spPr>
          <a:xfrm>
            <a:off x="2697480" y="2834640"/>
            <a:ext cx="1682496" cy="914400"/>
          </a:xfrm>
          <a:prstGeom prst="rect">
            <a:avLst/>
          </a:prstGeom>
          <a:noFill/>
          <a:ln/>
        </p:spPr>
        <p:txBody>
          <a:bodyPr wrap="square" lIns="0" tIns="0" rIns="0" bIns="0" rtlCol="0" anchor="t"/>
          <a:lstStyle/>
          <a:p>
            <a:pPr marL="0" indent="0" algn="ctr">
              <a:lnSpc>
                <a:spcPct val="115000"/>
              </a:lnSpc>
              <a:buNone/>
            </a:pPr>
            <a:r>
              <a:rPr lang="en-US" sz="980" dirty="0">
                <a:solidFill>
                  <a:srgbClr val="1C2B42"/>
                </a:solidFill>
                <a:latin typeface="Calibri" pitchFamily="34" charset="0"/>
                <a:ea typeface="Calibri" pitchFamily="34" charset="-122"/>
                <a:cs typeface="Calibri" pitchFamily="34" charset="-120"/>
              </a:rPr>
              <a:t>Full probability outputs, not just discrete labels.</a:t>
            </a:r>
            <a:endParaRPr lang="en-US" sz="980" dirty="0"/>
          </a:p>
        </p:txBody>
      </p:sp>
      <p:sp>
        <p:nvSpPr>
          <p:cNvPr id="14" name="Shape 10"/>
          <p:cNvSpPr/>
          <p:nvPr/>
        </p:nvSpPr>
        <p:spPr>
          <a:xfrm>
            <a:off x="4654296" y="1463040"/>
            <a:ext cx="1901952" cy="2331720"/>
          </a:xfrm>
          <a:prstGeom prst="roundRect">
            <a:avLst>
              <a:gd name="adj" fmla="val 4327"/>
            </a:avLst>
          </a:prstGeom>
          <a:solidFill>
            <a:srgbClr val="F3F6FA"/>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15" name="Shape 11"/>
          <p:cNvSpPr/>
          <p:nvPr/>
        </p:nvSpPr>
        <p:spPr>
          <a:xfrm>
            <a:off x="5349240" y="1664208"/>
            <a:ext cx="512064" cy="512064"/>
          </a:xfrm>
          <a:prstGeom prst="ellipse">
            <a:avLst/>
          </a:prstGeom>
          <a:solidFill>
            <a:srgbClr val="0E8A8A"/>
          </a:solidFill>
          <a:ln/>
        </p:spPr>
        <p:txBody>
          <a:bodyPr/>
          <a:lstStyle/>
          <a:p>
            <a:endParaRPr lang="it-IT"/>
          </a:p>
        </p:txBody>
      </p:sp>
      <p:pic>
        <p:nvPicPr>
          <p:cNvPr id="16" name="Image 2" descr="preencoded.png"/>
          <p:cNvPicPr>
            <a:picLocks noChangeAspect="1"/>
          </p:cNvPicPr>
          <p:nvPr/>
        </p:nvPicPr>
        <p:blipFill>
          <a:blip r:embed="rId5"/>
          <a:stretch>
            <a:fillRect/>
          </a:stretch>
        </p:blipFill>
        <p:spPr>
          <a:xfrm>
            <a:off x="5415808" y="1730776"/>
            <a:ext cx="378927" cy="378927"/>
          </a:xfrm>
          <a:prstGeom prst="rect">
            <a:avLst/>
          </a:prstGeom>
        </p:spPr>
      </p:pic>
      <p:sp>
        <p:nvSpPr>
          <p:cNvPr id="17" name="Text 12"/>
          <p:cNvSpPr/>
          <p:nvPr/>
        </p:nvSpPr>
        <p:spPr>
          <a:xfrm>
            <a:off x="4727448" y="2304288"/>
            <a:ext cx="1755648" cy="502920"/>
          </a:xfrm>
          <a:prstGeom prst="rect">
            <a:avLst/>
          </a:prstGeom>
          <a:noFill/>
          <a:ln/>
        </p:spPr>
        <p:txBody>
          <a:bodyPr wrap="square" lIns="0" tIns="0" rIns="0" bIns="0" rtlCol="0" anchor="t"/>
          <a:lstStyle/>
          <a:p>
            <a:pPr marL="0" indent="0" algn="ctr">
              <a:buNone/>
            </a:pPr>
            <a:r>
              <a:rPr lang="en-US" sz="1100" b="1" dirty="0">
                <a:solidFill>
                  <a:srgbClr val="0A1F3D"/>
                </a:solidFill>
                <a:latin typeface="Cambria" pitchFamily="34" charset="0"/>
                <a:ea typeface="Cambria" pitchFamily="34" charset="-122"/>
                <a:cs typeface="Cambria" pitchFamily="34" charset="-120"/>
              </a:rPr>
              <a:t>Access to gradients</a:t>
            </a:r>
            <a:endParaRPr lang="en-US" sz="1100" dirty="0"/>
          </a:p>
        </p:txBody>
      </p:sp>
      <p:sp>
        <p:nvSpPr>
          <p:cNvPr id="18" name="Text 13"/>
          <p:cNvSpPr/>
          <p:nvPr/>
        </p:nvSpPr>
        <p:spPr>
          <a:xfrm>
            <a:off x="4764024" y="2834640"/>
            <a:ext cx="1682496" cy="914400"/>
          </a:xfrm>
          <a:prstGeom prst="rect">
            <a:avLst/>
          </a:prstGeom>
          <a:noFill/>
          <a:ln/>
        </p:spPr>
        <p:txBody>
          <a:bodyPr wrap="square" lIns="0" tIns="0" rIns="0" bIns="0" rtlCol="0" anchor="t"/>
          <a:lstStyle/>
          <a:p>
            <a:pPr marL="0" indent="0" algn="ctr">
              <a:lnSpc>
                <a:spcPct val="115000"/>
              </a:lnSpc>
              <a:buNone/>
            </a:pPr>
            <a:r>
              <a:rPr lang="en-US" sz="980" dirty="0">
                <a:solidFill>
                  <a:srgbClr val="1C2B42"/>
                </a:solidFill>
                <a:latin typeface="Calibri" pitchFamily="34" charset="0"/>
                <a:ea typeface="Calibri" pitchFamily="34" charset="-122"/>
                <a:cs typeface="Calibri" pitchFamily="34" charset="-120"/>
              </a:rPr>
              <a:t>Required for gradient-based adversarial attacks.</a:t>
            </a:r>
            <a:endParaRPr lang="en-US" sz="980" dirty="0"/>
          </a:p>
        </p:txBody>
      </p:sp>
      <p:sp>
        <p:nvSpPr>
          <p:cNvPr id="19" name="Shape 14"/>
          <p:cNvSpPr/>
          <p:nvPr/>
        </p:nvSpPr>
        <p:spPr>
          <a:xfrm>
            <a:off x="6720840" y="1463040"/>
            <a:ext cx="1901952" cy="2331720"/>
          </a:xfrm>
          <a:prstGeom prst="roundRect">
            <a:avLst>
              <a:gd name="adj" fmla="val 4327"/>
            </a:avLst>
          </a:prstGeom>
          <a:solidFill>
            <a:srgbClr val="F3F6FA"/>
          </a:solidFill>
          <a:ln w="9525">
            <a:solidFill>
              <a:srgbClr val="F3F6FA"/>
            </a:solidFill>
            <a:prstDash val="solid"/>
          </a:ln>
          <a:effectLst>
            <a:outerShdw blurRad="88900" dist="25400" dir="5400000" algn="bl" rotWithShape="0">
              <a:srgbClr val="000000">
                <a:alpha val="10000"/>
              </a:srgbClr>
            </a:outerShdw>
          </a:effectLst>
        </p:spPr>
        <p:txBody>
          <a:bodyPr/>
          <a:lstStyle/>
          <a:p>
            <a:endParaRPr lang="it-IT"/>
          </a:p>
        </p:txBody>
      </p:sp>
      <p:sp>
        <p:nvSpPr>
          <p:cNvPr id="20" name="Shape 15"/>
          <p:cNvSpPr/>
          <p:nvPr/>
        </p:nvSpPr>
        <p:spPr>
          <a:xfrm>
            <a:off x="7415784" y="1664208"/>
            <a:ext cx="512064" cy="512064"/>
          </a:xfrm>
          <a:prstGeom prst="ellipse">
            <a:avLst/>
          </a:prstGeom>
          <a:solidFill>
            <a:srgbClr val="0E8A8A"/>
          </a:solidFill>
          <a:ln/>
        </p:spPr>
        <p:txBody>
          <a:bodyPr/>
          <a:lstStyle/>
          <a:p>
            <a:endParaRPr lang="it-IT"/>
          </a:p>
        </p:txBody>
      </p:sp>
      <p:pic>
        <p:nvPicPr>
          <p:cNvPr id="21" name="Image 3" descr="preencoded.png"/>
          <p:cNvPicPr>
            <a:picLocks noChangeAspect="1"/>
          </p:cNvPicPr>
          <p:nvPr/>
        </p:nvPicPr>
        <p:blipFill>
          <a:blip r:embed="rId6"/>
          <a:stretch>
            <a:fillRect/>
          </a:stretch>
        </p:blipFill>
        <p:spPr>
          <a:xfrm>
            <a:off x="7482352" y="1730776"/>
            <a:ext cx="378927" cy="378927"/>
          </a:xfrm>
          <a:prstGeom prst="rect">
            <a:avLst/>
          </a:prstGeom>
        </p:spPr>
      </p:pic>
      <p:sp>
        <p:nvSpPr>
          <p:cNvPr id="22" name="Text 16"/>
          <p:cNvSpPr/>
          <p:nvPr/>
        </p:nvSpPr>
        <p:spPr>
          <a:xfrm>
            <a:off x="6793992" y="2304288"/>
            <a:ext cx="1755648" cy="502920"/>
          </a:xfrm>
          <a:prstGeom prst="rect">
            <a:avLst/>
          </a:prstGeom>
          <a:noFill/>
          <a:ln/>
        </p:spPr>
        <p:txBody>
          <a:bodyPr wrap="square" lIns="0" tIns="0" rIns="0" bIns="0" rtlCol="0" anchor="t"/>
          <a:lstStyle/>
          <a:p>
            <a:pPr marL="0" indent="0" algn="ctr">
              <a:buNone/>
            </a:pPr>
            <a:r>
              <a:rPr lang="en-US" sz="1100" b="1" dirty="0">
                <a:solidFill>
                  <a:srgbClr val="0A1F3D"/>
                </a:solidFill>
                <a:latin typeface="Cambria" pitchFamily="34" charset="0"/>
                <a:ea typeface="Cambria" pitchFamily="34" charset="-122"/>
                <a:cs typeface="Cambria" pitchFamily="34" charset="-120"/>
              </a:rPr>
              <a:t>Access to XAI</a:t>
            </a:r>
            <a:endParaRPr lang="en-US" sz="1100" dirty="0"/>
          </a:p>
        </p:txBody>
      </p:sp>
      <p:sp>
        <p:nvSpPr>
          <p:cNvPr id="23" name="Text 17"/>
          <p:cNvSpPr/>
          <p:nvPr/>
        </p:nvSpPr>
        <p:spPr>
          <a:xfrm>
            <a:off x="6830568" y="2834640"/>
            <a:ext cx="1682496" cy="914400"/>
          </a:xfrm>
          <a:prstGeom prst="rect">
            <a:avLst/>
          </a:prstGeom>
          <a:noFill/>
          <a:ln/>
        </p:spPr>
        <p:txBody>
          <a:bodyPr wrap="square" lIns="0" tIns="0" rIns="0" bIns="0" rtlCol="0" anchor="t"/>
          <a:lstStyle/>
          <a:p>
            <a:pPr marL="0" indent="0" algn="ctr">
              <a:lnSpc>
                <a:spcPct val="115000"/>
              </a:lnSpc>
              <a:buNone/>
            </a:pPr>
            <a:r>
              <a:rPr lang="en-US" sz="980" dirty="0">
                <a:solidFill>
                  <a:srgbClr val="1C2B42"/>
                </a:solidFill>
                <a:latin typeface="Calibri" pitchFamily="34" charset="0"/>
                <a:ea typeface="Calibri" pitchFamily="34" charset="-122"/>
                <a:cs typeface="Calibri" pitchFamily="34" charset="-120"/>
              </a:rPr>
              <a:t>Attribution maps explain model behavior under stress.</a:t>
            </a:r>
            <a:endParaRPr lang="en-US" sz="980" dirty="0"/>
          </a:p>
        </p:txBody>
      </p:sp>
      <p:sp>
        <p:nvSpPr>
          <p:cNvPr id="24" name="Text 18"/>
          <p:cNvSpPr/>
          <p:nvPr/>
        </p:nvSpPr>
        <p:spPr>
          <a:xfrm>
            <a:off x="502920" y="4023360"/>
            <a:ext cx="8138160" cy="548640"/>
          </a:xfrm>
          <a:prstGeom prst="rect">
            <a:avLst/>
          </a:prstGeom>
          <a:noFill/>
          <a:ln/>
        </p:spPr>
        <p:txBody>
          <a:bodyPr wrap="square" lIns="0" tIns="0" rIns="0" bIns="0" rtlCol="0" anchor="ctr"/>
          <a:lstStyle/>
          <a:p>
            <a:pPr marL="0" indent="0" algn="ctr">
              <a:buNone/>
            </a:pPr>
            <a:r>
              <a:rPr lang="en-US" sz="1150" i="1" dirty="0">
                <a:solidFill>
                  <a:srgbClr val="5C6B83"/>
                </a:solidFill>
                <a:latin typeface="Calibri" pitchFamily="34" charset="0"/>
                <a:ea typeface="Calibri" pitchFamily="34" charset="-122"/>
                <a:cs typeface="Calibri" pitchFamily="34" charset="-120"/>
              </a:rPr>
              <a:t>These capabilities are not available through commercial black-box tools, which is why controlled reproducible stress testing relies on proxy models.</a:t>
            </a:r>
            <a:endParaRPr lang="en-US" sz="1150" dirty="0"/>
          </a:p>
        </p:txBody>
      </p:sp>
      <p:sp>
        <p:nvSpPr>
          <p:cNvPr id="25" name="Text 19"/>
          <p:cNvSpPr/>
          <p:nvPr/>
        </p:nvSpPr>
        <p:spPr>
          <a:xfrm>
            <a:off x="502920" y="4864608"/>
            <a:ext cx="5486400" cy="228600"/>
          </a:xfrm>
          <a:prstGeom prst="rect">
            <a:avLst/>
          </a:prstGeom>
          <a:noFill/>
          <a:ln/>
        </p:spPr>
        <p:txBody>
          <a:bodyPr wrap="square" lIns="0" tIns="0" rIns="0" bIns="0" rtlCol="0" anchor="ctr"/>
          <a:lstStyle/>
          <a:p>
            <a:pPr marL="0" indent="0">
              <a:buNone/>
            </a:pPr>
            <a:r>
              <a:rPr lang="en-US" sz="900" dirty="0">
                <a:solidFill>
                  <a:srgbClr val="5C6B83"/>
                </a:solidFill>
                <a:latin typeface="Calibri" pitchFamily="34" charset="0"/>
                <a:ea typeface="Calibri" pitchFamily="34" charset="-122"/>
                <a:cs typeface="Calibri" pitchFamily="34" charset="-120"/>
              </a:rPr>
              <a:t>Robustness of AI-Based Forensic Tools  |  Lello Molinario</a:t>
            </a:r>
            <a:endParaRPr lang="en-US" sz="900" dirty="0"/>
          </a:p>
        </p:txBody>
      </p:sp>
      <p:sp>
        <p:nvSpPr>
          <p:cNvPr id="26" name="Text 20"/>
          <p:cNvSpPr/>
          <p:nvPr/>
        </p:nvSpPr>
        <p:spPr>
          <a:xfrm>
            <a:off x="8732520" y="4864608"/>
            <a:ext cx="365760" cy="228600"/>
          </a:xfrm>
          <a:prstGeom prst="rect">
            <a:avLst/>
          </a:prstGeom>
          <a:noFill/>
          <a:ln/>
        </p:spPr>
        <p:txBody>
          <a:bodyPr wrap="square" lIns="0" tIns="0" rIns="0" bIns="0" rtlCol="0" anchor="ctr"/>
          <a:lstStyle/>
          <a:p>
            <a:pPr marL="0" indent="0" algn="r">
              <a:buNone/>
            </a:pPr>
            <a:r>
              <a:rPr lang="en-US" sz="900" dirty="0">
                <a:solidFill>
                  <a:srgbClr val="5C6B83"/>
                </a:solidFill>
                <a:latin typeface="Calibri" pitchFamily="34" charset="0"/>
                <a:ea typeface="Calibri" pitchFamily="34" charset="-122"/>
                <a:cs typeface="Calibri" pitchFamily="34" charset="-120"/>
              </a:rPr>
              <a:t>B3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180</TotalTime>
  <Words>1966</Words>
  <Application>Microsoft Office PowerPoint</Application>
  <PresentationFormat>Presentazione su schermo (16:9)</PresentationFormat>
  <Paragraphs>331</Paragraphs>
  <Slides>18</Slides>
  <Notes>18</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18</vt:i4>
      </vt:variant>
    </vt:vector>
  </HeadingPairs>
  <TitlesOfParts>
    <vt:vector size="22" baseType="lpstr">
      <vt:lpstr>Arial</vt:lpstr>
      <vt:lpstr>Calibri</vt:lpstr>
      <vt:lpstr>Cambria</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the Robustness of AI-Based Forensic Tools</dc:title>
  <dc:subject>PptxGenJS Presentation</dc:subject>
  <dc:creator>Lello Molinario</dc:creator>
  <cp:lastModifiedBy>Lello Molinario</cp:lastModifiedBy>
  <cp:revision>4</cp:revision>
  <dcterms:created xsi:type="dcterms:W3CDTF">2026-07-03T06:38:12Z</dcterms:created>
  <dcterms:modified xsi:type="dcterms:W3CDTF">2026-07-03T15:56:03Z</dcterms:modified>
</cp:coreProperties>
</file>