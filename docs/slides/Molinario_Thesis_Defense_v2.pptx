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thesis evaluates whether AI-assisted forensic image classification remains operationally reliable when visual evidence is manipulated. The focus is operational robustness: how proxy models and commercial black-box forensic tools behave under clean inputs, out-of-distribution samples, adversarial perturbations, and anti-forensic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classification is useful in forensic triage because analysts cannot inspect every file immediately. However, if automated classification is wrong, relevant evidence may be missed or irrelevant images may be prioritized. This motivates studying robustness rather than clean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not only whether a classifier has high clean accuracy. It is whether the tool remains dependable when images are manipulated, when inputs are out of distribution, or when commercial systems expose only black-box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a framework: it allows heterogeneous systems to be evaluated under comparable conditions while preserving traceability from each output back to its artifact, metadata, and ground-truth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Proxy models allow full control and explainability. Commercial tools represent realistic operational systems, but their internal models are not accessible. For this reason, the thesis uses the two tracks as complementary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frozen at 1,500 clean images. The binary subset contains 1,000 images and is used for clean and perturbed evaluation. The OOD subset remains clean and is evaluated separately. The complete forensic evaluation bundle contains 11,500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is designed to make heterogeneous systems comparable. Commercial tools may use different labels and confidence formats; therefore, raw outputs are conservatively normalized into true positives, false positives, false negatives, true negatives, or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Adversarial perturbations are model-oriented stressors, while anti-forensic transformations are practical image-level manipulations. Both families are applied only to the binary weapon/non-weapon subset. The OOD branch remains clean to isolate distribution-shift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negatives on relevant images and high-confidence errors are especially important because they can affect what an analyst sees first and how much trust is placed in an automated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clean binary subset, EfficientNet-B0 achieves the highest accuracy, 0.978, while CLIP has the lowest false negative rate, 0.012. However, the OOD branch shows a different risk: CLIP maps 0.836 of OOD predictions to weapon, while EfficientNet-B0 and ResNet18 also show non-negligible weapon flag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evident proxy failure is EfficientNet-B0 under SigmaZero, where accuracy falls to 0.015 and 963 induced errors are observed. Anti-forensic transformations have a smaller aggregate impact, but still create operationally relevant false negatives under specific transformations.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black-box systems are compared on observable outputs after conservative normalization. Griffeye/T3K CORE has the highest bundle-weighted accuracy and lowest false positive rate under the chosen mapping. Cellebrite shows a balanced profile with the lowest clean false negative rate and lower OOD weapon-flag rate than Magnet and Excire D50.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Excire Foto 2025 is sensitive to the distance limit setting. D20 is restrictive and reduces noise but increases false negatives. D80 is permissive and improves recall but increases false positives and OOD flags. D50 provides the most balanced configuration in this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shows why clean accuracy cannot be used alone. For example, CLIP has the lowest clean false negative rate among proxy models, but it maps a very large proportion of OOD inputs into the weapon class. Among black-box tools, Griffeye/T3K and Cellebrite show lower OOD weapon-flag rates under the adopted mappings.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tools do not all fail in the same way. Magnet AI shows increased false negatives under FGSM, Excire D50 shows semantic over-triggering under SigmaZero, while Cellebrite and Griffeye/T3K are more stable on aggregate but still have residual false negative risk under specific perturbations.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findings are cautious and version-dependent. Clean performance is important, but not enough. OOD behavior, perturbation-induced false negatives and false positives, and traceable black-box normalization are essential for interpreting AI-assisted forensic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limitations are expected in forensic black-box evaluation. They do not invalidate the results; instead, they define the operational scope and motivate repeated validation when tools, versions, categories, or datasets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AI can support forensic analysts, but its outputs must be validated, traceable, and interpreted under known limitations. The thesis provides a reproducible foundation for robustness-aware evaluation of AI-assisted forensic image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with metric definitions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asked why the OOD branch is not attacked.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the evaluation uses proxy models rather than only commercial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solidFill>
            <a:prstDash val="solid"/>
          </a:ln>
        </p:spPr>
      </p:sp>
      <p:sp>
        <p:nvSpPr>
          <p:cNvPr id="3" name="Text 1"/>
          <p:cNvSpPr/>
          <p:nvPr/>
        </p:nvSpPr>
        <p:spPr>
          <a:xfrm>
            <a:off x="594360" y="329184"/>
            <a:ext cx="3474720" cy="201168"/>
          </a:xfrm>
          <a:prstGeom prst="rect">
            <a:avLst/>
          </a:prstGeom>
          <a:noFill/>
          <a:ln/>
        </p:spPr>
        <p:txBody>
          <a:bodyPr wrap="square" lIns="0" tIns="0" rIns="0" bIns="0" rtlCol="0" anchor="ctr"/>
          <a:lstStyle/>
          <a:p>
            <a:pPr indent="0" marL="0">
              <a:buNone/>
            </a:pPr>
            <a:r>
              <a:rPr lang="en-US" sz="900" b="1" dirty="0">
                <a:solidFill>
                  <a:srgbClr val="E76F28"/>
                </a:solidFill>
              </a:rPr>
              <a:t>MASTER'S THESIS DEFENSE</a:t>
            </a:r>
            <a:endParaRPr lang="en-US" sz="900" dirty="0"/>
          </a:p>
        </p:txBody>
      </p:sp>
      <p:sp>
        <p:nvSpPr>
          <p:cNvPr id="4" name="Text 2"/>
          <p:cNvSpPr/>
          <p:nvPr/>
        </p:nvSpPr>
        <p:spPr>
          <a:xfrm>
            <a:off x="566928" y="676656"/>
            <a:ext cx="8503920" cy="1325880"/>
          </a:xfrm>
          <a:prstGeom prst="rect">
            <a:avLst/>
          </a:prstGeom>
          <a:noFill/>
          <a:ln/>
        </p:spPr>
        <p:txBody>
          <a:bodyPr wrap="square" lIns="0" tIns="0" rIns="0" bIns="0" rtlCol="0" anchor="ctr">
            <a:normAutofit/>
          </a:bodyPr>
          <a:lstStyle/>
          <a:p>
            <a:pPr indent="0" marL="0">
              <a:buNone/>
            </a:pPr>
            <a:r>
              <a:rPr lang="en-US" sz="3200" b="1" dirty="0">
                <a:solidFill>
                  <a:srgbClr val="0B1F4D"/>
                </a:solidFill>
                <a:latin typeface="Aptos Display" pitchFamily="34" charset="0"/>
                <a:ea typeface="Aptos Display" pitchFamily="34" charset="-122"/>
                <a:cs typeface="Aptos Display" pitchFamily="34" charset="-120"/>
              </a:rPr>
              <a:t>Evaluating the Robustness of</a:t>
            </a:r>
            <a:endParaRPr lang="en-US" sz="3200" dirty="0"/>
          </a:p>
          <a:p>
            <a:pPr indent="0" marL="0">
              <a:buNone/>
            </a:pPr>
            <a:r>
              <a:rPr lang="en-US" sz="3200" b="1" dirty="0">
                <a:solidFill>
                  <a:srgbClr val="0B1F4D"/>
                </a:solidFill>
                <a:latin typeface="Aptos Display" pitchFamily="34" charset="0"/>
                <a:ea typeface="Aptos Display" pitchFamily="34" charset="-122"/>
                <a:cs typeface="Aptos Display" pitchFamily="34" charset="-120"/>
              </a:rPr>
              <a:t>AI-Based Forensic Tools under</a:t>
            </a:r>
            <a:endParaRPr lang="en-US" sz="3200" dirty="0"/>
          </a:p>
          <a:p>
            <a:pPr indent="0" marL="0">
              <a:buNone/>
            </a:pPr>
            <a:r>
              <a:rPr lang="en-US" sz="3200" b="1" dirty="0">
                <a:solidFill>
                  <a:srgbClr val="0B1F4D"/>
                </a:solidFill>
                <a:latin typeface="Aptos Display" pitchFamily="34" charset="0"/>
                <a:ea typeface="Aptos Display" pitchFamily="34" charset="-122"/>
                <a:cs typeface="Aptos Display" pitchFamily="34" charset="-120"/>
              </a:rPr>
              <a:t>Adversarial and Anti-Forensic Attacks</a:t>
            </a:r>
            <a:endParaRPr lang="en-US" sz="3200" dirty="0"/>
          </a:p>
        </p:txBody>
      </p:sp>
      <p:sp>
        <p:nvSpPr>
          <p:cNvPr id="5" name="Shape 3"/>
          <p:cNvSpPr/>
          <p:nvPr/>
        </p:nvSpPr>
        <p:spPr>
          <a:xfrm>
            <a:off x="594360" y="2212848"/>
            <a:ext cx="1097280" cy="50292"/>
          </a:xfrm>
          <a:prstGeom prst="rect">
            <a:avLst/>
          </a:prstGeom>
          <a:solidFill>
            <a:srgbClr val="17B7BD"/>
          </a:solidFill>
          <a:ln w="12700">
            <a:solidFill>
              <a:srgbClr val="17B7BD"/>
            </a:solidFill>
            <a:prstDash val="solid"/>
          </a:ln>
        </p:spPr>
      </p:sp>
      <p:sp>
        <p:nvSpPr>
          <p:cNvPr id="6" name="Shape 4"/>
          <p:cNvSpPr/>
          <p:nvPr/>
        </p:nvSpPr>
        <p:spPr>
          <a:xfrm>
            <a:off x="1783080" y="2212848"/>
            <a:ext cx="1097280" cy="50292"/>
          </a:xfrm>
          <a:prstGeom prst="rect">
            <a:avLst/>
          </a:prstGeom>
          <a:solidFill>
            <a:srgbClr val="E76F28"/>
          </a:solidFill>
          <a:ln w="12700">
            <a:solidFill>
              <a:srgbClr val="E76F28"/>
            </a:solidFill>
            <a:prstDash val="solid"/>
          </a:ln>
        </p:spPr>
      </p:sp>
      <p:sp>
        <p:nvSpPr>
          <p:cNvPr id="7" name="Text 5"/>
          <p:cNvSpPr/>
          <p:nvPr/>
        </p:nvSpPr>
        <p:spPr>
          <a:xfrm>
            <a:off x="594360" y="2423160"/>
            <a:ext cx="8046720" cy="457200"/>
          </a:xfrm>
          <a:prstGeom prst="rect">
            <a:avLst/>
          </a:prstGeom>
          <a:noFill/>
          <a:ln/>
        </p:spPr>
        <p:txBody>
          <a:bodyPr wrap="square" lIns="0" tIns="0" rIns="0" bIns="0" rtlCol="0" anchor="ctr"/>
          <a:lstStyle/>
          <a:p>
            <a:pPr indent="0" marL="0">
              <a:buNone/>
            </a:pPr>
            <a:r>
              <a:rPr lang="en-US" sz="1400" dirty="0">
                <a:solidFill>
                  <a:srgbClr val="0A7C80"/>
                </a:solidFill>
              </a:rPr>
              <a:t>Master's Degree in Computer Engineering, Cybersecurity and Artificial Intelligence</a:t>
            </a:r>
            <a:endParaRPr lang="en-US" sz="1400" dirty="0"/>
          </a:p>
          <a:p>
            <a:pPr indent="0" marL="0">
              <a:buNone/>
            </a:pPr>
            <a:r>
              <a:rPr lang="en-US" sz="1400" dirty="0">
                <a:solidFill>
                  <a:srgbClr val="0A7C80"/>
                </a:solidFill>
              </a:rPr>
              <a:t>University of Cagliari</a:t>
            </a:r>
            <a:endParaRPr lang="en-US" sz="1400" dirty="0"/>
          </a:p>
        </p:txBody>
      </p:sp>
      <p:sp>
        <p:nvSpPr>
          <p:cNvPr id="8" name="Shape 6"/>
          <p:cNvSpPr/>
          <p:nvPr/>
        </p:nvSpPr>
        <p:spPr>
          <a:xfrm>
            <a:off x="594360" y="3154680"/>
            <a:ext cx="5303520" cy="2103120"/>
          </a:xfrm>
          <a:prstGeom prst="roundRect">
            <a:avLst>
              <a:gd name="adj" fmla="val 4348"/>
            </a:avLst>
          </a:prstGeom>
          <a:solidFill>
            <a:srgbClr val="FFFFFF"/>
          </a:solidFill>
          <a:ln w="12700">
            <a:solidFill>
              <a:srgbClr val="C7D5E2"/>
            </a:solidFill>
            <a:prstDash val="solid"/>
          </a:ln>
        </p:spPr>
      </p:sp>
      <p:sp>
        <p:nvSpPr>
          <p:cNvPr id="9" name="Shape 7"/>
          <p:cNvSpPr/>
          <p:nvPr/>
        </p:nvSpPr>
        <p:spPr>
          <a:xfrm>
            <a:off x="822960" y="3337560"/>
            <a:ext cx="1828800" cy="384048"/>
          </a:xfrm>
          <a:prstGeom prst="roundRect">
            <a:avLst>
              <a:gd name="adj" fmla="val 21429"/>
            </a:avLst>
          </a:prstGeom>
          <a:solidFill>
            <a:srgbClr val="0B1F4D"/>
          </a:solidFill>
          <a:ln w="12700">
            <a:solidFill>
              <a:srgbClr val="0B1F4D"/>
            </a:solidFill>
            <a:prstDash val="solid"/>
          </a:ln>
        </p:spPr>
      </p:sp>
      <p:sp>
        <p:nvSpPr>
          <p:cNvPr id="10" name="Text 8"/>
          <p:cNvSpPr/>
          <p:nvPr/>
        </p:nvSpPr>
        <p:spPr>
          <a:xfrm>
            <a:off x="896112" y="3433572"/>
            <a:ext cx="1682496" cy="182880"/>
          </a:xfrm>
          <a:prstGeom prst="rect">
            <a:avLst/>
          </a:prstGeom>
          <a:noFill/>
          <a:ln/>
        </p:spPr>
        <p:txBody>
          <a:bodyPr wrap="square" lIns="0" tIns="0" rIns="0" bIns="0" rtlCol="0" anchor="ctr"/>
          <a:lstStyle/>
          <a:p>
            <a:pPr algn="ctr" indent="0" marL="0">
              <a:buNone/>
            </a:pPr>
            <a:r>
              <a:rPr lang="en-US" sz="1000" b="1" dirty="0">
                <a:solidFill>
                  <a:srgbClr val="FFFFFF"/>
                </a:solidFill>
              </a:rPr>
              <a:t>DIGITAL FORENSICS</a:t>
            </a:r>
            <a:endParaRPr lang="en-US" sz="1000" dirty="0"/>
          </a:p>
        </p:txBody>
      </p:sp>
      <p:sp>
        <p:nvSpPr>
          <p:cNvPr id="11" name="Shape 9"/>
          <p:cNvSpPr/>
          <p:nvPr/>
        </p:nvSpPr>
        <p:spPr>
          <a:xfrm>
            <a:off x="914400" y="4709160"/>
            <a:ext cx="420624" cy="420624"/>
          </a:xfrm>
          <a:prstGeom prst="ellipse">
            <a:avLst/>
          </a:prstGeom>
          <a:solidFill>
            <a:srgbClr val="0A7C80"/>
          </a:solidFill>
          <a:ln w="12700">
            <a:solidFill>
              <a:srgbClr val="0A7C80"/>
            </a:solidFill>
            <a:prstDash val="solid"/>
          </a:ln>
        </p:spPr>
      </p:sp>
      <p:sp>
        <p:nvSpPr>
          <p:cNvPr id="12" name="Text 10"/>
          <p:cNvSpPr/>
          <p:nvPr/>
        </p:nvSpPr>
        <p:spPr>
          <a:xfrm>
            <a:off x="932688" y="47960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11"/>
          <p:cNvSpPr/>
          <p:nvPr/>
        </p:nvSpPr>
        <p:spPr>
          <a:xfrm>
            <a:off x="713232" y="5193792"/>
            <a:ext cx="868680" cy="164592"/>
          </a:xfrm>
          <a:prstGeom prst="rect">
            <a:avLst/>
          </a:prstGeom>
          <a:noFill/>
          <a:ln/>
        </p:spPr>
        <p:txBody>
          <a:bodyPr wrap="square" lIns="0" tIns="0" rIns="0" bIns="0" rtlCol="0" anchor="ctr"/>
          <a:lstStyle/>
          <a:p>
            <a:pPr algn="ctr" indent="0" marL="0">
              <a:buNone/>
            </a:pPr>
            <a:r>
              <a:rPr lang="en-US" sz="800" b="1" dirty="0">
                <a:solidFill>
                  <a:srgbClr val="0B1F4D"/>
                </a:solidFill>
              </a:rPr>
              <a:t>Collection</a:t>
            </a:r>
            <a:endParaRPr lang="en-US" sz="800" dirty="0"/>
          </a:p>
        </p:txBody>
      </p:sp>
      <p:sp>
        <p:nvSpPr>
          <p:cNvPr id="14" name="Shape 12"/>
          <p:cNvSpPr/>
          <p:nvPr/>
        </p:nvSpPr>
        <p:spPr>
          <a:xfrm>
            <a:off x="1380744" y="4782312"/>
            <a:ext cx="320040" cy="201168"/>
          </a:xfrm>
          <a:prstGeom prst="chevron">
            <a:avLst/>
          </a:prstGeom>
          <a:solidFill>
            <a:srgbClr val="D5EEF0"/>
          </a:solidFill>
          <a:ln w="12700">
            <a:solidFill>
              <a:srgbClr val="D5EEF0"/>
            </a:solidFill>
            <a:prstDash val="solid"/>
          </a:ln>
        </p:spPr>
      </p:sp>
      <p:sp>
        <p:nvSpPr>
          <p:cNvPr id="15" name="Shape 13"/>
          <p:cNvSpPr/>
          <p:nvPr/>
        </p:nvSpPr>
        <p:spPr>
          <a:xfrm>
            <a:off x="2057400" y="4709160"/>
            <a:ext cx="420624" cy="420624"/>
          </a:xfrm>
          <a:prstGeom prst="ellipse">
            <a:avLst/>
          </a:prstGeom>
          <a:solidFill>
            <a:srgbClr val="0A7C80"/>
          </a:solidFill>
          <a:ln w="12700">
            <a:solidFill>
              <a:srgbClr val="0A7C80"/>
            </a:solidFill>
            <a:prstDash val="solid"/>
          </a:ln>
        </p:spPr>
      </p:sp>
      <p:sp>
        <p:nvSpPr>
          <p:cNvPr id="16" name="Text 14"/>
          <p:cNvSpPr/>
          <p:nvPr/>
        </p:nvSpPr>
        <p:spPr>
          <a:xfrm>
            <a:off x="2075688" y="47960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p:nvPr/>
        </p:nvSpPr>
        <p:spPr>
          <a:xfrm>
            <a:off x="1856232" y="5193792"/>
            <a:ext cx="868680" cy="164592"/>
          </a:xfrm>
          <a:prstGeom prst="rect">
            <a:avLst/>
          </a:prstGeom>
          <a:noFill/>
          <a:ln/>
        </p:spPr>
        <p:txBody>
          <a:bodyPr wrap="square" lIns="0" tIns="0" rIns="0" bIns="0" rtlCol="0" anchor="ctr"/>
          <a:lstStyle/>
          <a:p>
            <a:pPr algn="ctr" indent="0" marL="0">
              <a:buNone/>
            </a:pPr>
            <a:r>
              <a:rPr lang="en-US" sz="800" b="1" dirty="0">
                <a:solidFill>
                  <a:srgbClr val="0B1F4D"/>
                </a:solidFill>
              </a:rPr>
              <a:t>Examination</a:t>
            </a:r>
            <a:endParaRPr lang="en-US" sz="800" dirty="0"/>
          </a:p>
        </p:txBody>
      </p:sp>
      <p:sp>
        <p:nvSpPr>
          <p:cNvPr id="18" name="Shape 16"/>
          <p:cNvSpPr/>
          <p:nvPr/>
        </p:nvSpPr>
        <p:spPr>
          <a:xfrm>
            <a:off x="2523744" y="4782312"/>
            <a:ext cx="320040" cy="201168"/>
          </a:xfrm>
          <a:prstGeom prst="chevron">
            <a:avLst/>
          </a:prstGeom>
          <a:solidFill>
            <a:srgbClr val="D5EEF0"/>
          </a:solidFill>
          <a:ln w="12700">
            <a:solidFill>
              <a:srgbClr val="D5EEF0"/>
            </a:solidFill>
            <a:prstDash val="solid"/>
          </a:ln>
        </p:spPr>
      </p:sp>
      <p:sp>
        <p:nvSpPr>
          <p:cNvPr id="19" name="Shape 17"/>
          <p:cNvSpPr/>
          <p:nvPr/>
        </p:nvSpPr>
        <p:spPr>
          <a:xfrm>
            <a:off x="3200400" y="4709160"/>
            <a:ext cx="420624" cy="420624"/>
          </a:xfrm>
          <a:prstGeom prst="ellipse">
            <a:avLst/>
          </a:prstGeom>
          <a:solidFill>
            <a:srgbClr val="0A7C80"/>
          </a:solidFill>
          <a:ln w="12700">
            <a:solidFill>
              <a:srgbClr val="0A7C80"/>
            </a:solidFill>
            <a:prstDash val="solid"/>
          </a:ln>
        </p:spPr>
      </p:sp>
      <p:sp>
        <p:nvSpPr>
          <p:cNvPr id="20" name="Text 18"/>
          <p:cNvSpPr/>
          <p:nvPr/>
        </p:nvSpPr>
        <p:spPr>
          <a:xfrm>
            <a:off x="3218688" y="47960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9"/>
          <p:cNvSpPr/>
          <p:nvPr/>
        </p:nvSpPr>
        <p:spPr>
          <a:xfrm>
            <a:off x="2999232" y="5193792"/>
            <a:ext cx="868680" cy="164592"/>
          </a:xfrm>
          <a:prstGeom prst="rect">
            <a:avLst/>
          </a:prstGeom>
          <a:noFill/>
          <a:ln/>
        </p:spPr>
        <p:txBody>
          <a:bodyPr wrap="square" lIns="0" tIns="0" rIns="0" bIns="0" rtlCol="0" anchor="ctr"/>
          <a:lstStyle/>
          <a:p>
            <a:pPr algn="ctr" indent="0" marL="0">
              <a:buNone/>
            </a:pPr>
            <a:r>
              <a:rPr lang="en-US" sz="800" b="1" dirty="0">
                <a:solidFill>
                  <a:srgbClr val="0B1F4D"/>
                </a:solidFill>
              </a:rPr>
              <a:t>Analysis</a:t>
            </a:r>
            <a:endParaRPr lang="en-US" sz="800" dirty="0"/>
          </a:p>
        </p:txBody>
      </p:sp>
      <p:sp>
        <p:nvSpPr>
          <p:cNvPr id="22" name="Shape 20"/>
          <p:cNvSpPr/>
          <p:nvPr/>
        </p:nvSpPr>
        <p:spPr>
          <a:xfrm>
            <a:off x="3666744" y="4782312"/>
            <a:ext cx="320040" cy="201168"/>
          </a:xfrm>
          <a:prstGeom prst="chevron">
            <a:avLst/>
          </a:prstGeom>
          <a:solidFill>
            <a:srgbClr val="D5EEF0"/>
          </a:solidFill>
          <a:ln w="12700">
            <a:solidFill>
              <a:srgbClr val="D5EEF0"/>
            </a:solidFill>
            <a:prstDash val="solid"/>
          </a:ln>
        </p:spPr>
      </p:sp>
      <p:sp>
        <p:nvSpPr>
          <p:cNvPr id="23" name="Shape 21"/>
          <p:cNvSpPr/>
          <p:nvPr/>
        </p:nvSpPr>
        <p:spPr>
          <a:xfrm>
            <a:off x="4343400" y="4709160"/>
            <a:ext cx="420624" cy="420624"/>
          </a:xfrm>
          <a:prstGeom prst="ellipse">
            <a:avLst/>
          </a:prstGeom>
          <a:solidFill>
            <a:srgbClr val="0A7C80"/>
          </a:solidFill>
          <a:ln w="12700">
            <a:solidFill>
              <a:srgbClr val="0A7C80"/>
            </a:solidFill>
            <a:prstDash val="solid"/>
          </a:ln>
        </p:spPr>
      </p:sp>
      <p:sp>
        <p:nvSpPr>
          <p:cNvPr id="24" name="Text 22"/>
          <p:cNvSpPr/>
          <p:nvPr/>
        </p:nvSpPr>
        <p:spPr>
          <a:xfrm>
            <a:off x="4361688" y="47960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3"/>
          <p:cNvSpPr/>
          <p:nvPr/>
        </p:nvSpPr>
        <p:spPr>
          <a:xfrm>
            <a:off x="4142232" y="5193792"/>
            <a:ext cx="868680" cy="164592"/>
          </a:xfrm>
          <a:prstGeom prst="rect">
            <a:avLst/>
          </a:prstGeom>
          <a:noFill/>
          <a:ln/>
        </p:spPr>
        <p:txBody>
          <a:bodyPr wrap="square" lIns="0" tIns="0" rIns="0" bIns="0" rtlCol="0" anchor="ctr"/>
          <a:lstStyle/>
          <a:p>
            <a:pPr algn="ctr" indent="0" marL="0">
              <a:buNone/>
            </a:pPr>
            <a:r>
              <a:rPr lang="en-US" sz="800" b="1" dirty="0">
                <a:solidFill>
                  <a:srgbClr val="0B1F4D"/>
                </a:solidFill>
              </a:rPr>
              <a:t>Reporting</a:t>
            </a:r>
            <a:endParaRPr lang="en-US" sz="800" dirty="0"/>
          </a:p>
        </p:txBody>
      </p:sp>
      <p:sp>
        <p:nvSpPr>
          <p:cNvPr id="26" name="Text 24"/>
          <p:cNvSpPr/>
          <p:nvPr/>
        </p:nvSpPr>
        <p:spPr>
          <a:xfrm>
            <a:off x="914400" y="3803904"/>
            <a:ext cx="1828800" cy="731520"/>
          </a:xfrm>
          <a:prstGeom prst="rect">
            <a:avLst/>
          </a:prstGeom>
          <a:noFill/>
          <a:ln/>
        </p:spPr>
        <p:txBody>
          <a:bodyPr wrap="square" lIns="508" tIns="508" rIns="508" bIns="508" rtlCol="0" anchor="ctr"/>
          <a:lstStyle/>
          <a:p>
            <a:pPr indent="0" marL="0">
              <a:buNone/>
            </a:pPr>
            <a:r>
              <a:rPr lang="en-US" sz="1500" b="1" dirty="0">
                <a:solidFill>
                  <a:srgbClr val="10203B"/>
                </a:solidFill>
              </a:rPr>
              <a:t>Evidence bundle</a:t>
            </a:r>
            <a:endParaRPr lang="en-US" sz="1500" dirty="0"/>
          </a:p>
          <a:p>
            <a:pPr indent="0" marL="0">
              <a:buNone/>
            </a:pPr>
            <a:r>
              <a:rPr lang="en-US" sz="1500" b="1" dirty="0">
                <a:solidFill>
                  <a:srgbClr val="10203B"/>
                </a:solidFill>
              </a:rPr>
              <a:t>Traceability</a:t>
            </a:r>
            <a:endParaRPr lang="en-US" sz="1500" dirty="0"/>
          </a:p>
          <a:p>
            <a:pPr indent="0" marL="0">
              <a:buNone/>
            </a:pPr>
            <a:r>
              <a:rPr lang="en-US" sz="1500" b="1" dirty="0">
                <a:solidFill>
                  <a:srgbClr val="10203B"/>
                </a:solidFill>
              </a:rPr>
              <a:t>Human review</a:t>
            </a:r>
            <a:endParaRPr lang="en-US" sz="1500" dirty="0"/>
          </a:p>
        </p:txBody>
      </p:sp>
      <p:sp>
        <p:nvSpPr>
          <p:cNvPr id="27" name="Shape 25"/>
          <p:cNvSpPr/>
          <p:nvPr/>
        </p:nvSpPr>
        <p:spPr>
          <a:xfrm>
            <a:off x="3291840" y="3703320"/>
            <a:ext cx="1005840" cy="1005840"/>
          </a:xfrm>
          <a:prstGeom prst="arc">
            <a:avLst/>
          </a:prstGeom>
          <a:noFill/>
          <a:ln w="38100">
            <a:solidFill>
              <a:srgbClr val="0A7C80"/>
            </a:solidFill>
            <a:prstDash val="solid"/>
          </a:ln>
        </p:spPr>
      </p:sp>
      <p:sp>
        <p:nvSpPr>
          <p:cNvPr id="28" name="Shape 26"/>
          <p:cNvSpPr/>
          <p:nvPr/>
        </p:nvSpPr>
        <p:spPr>
          <a:xfrm>
            <a:off x="4005072" y="4416552"/>
            <a:ext cx="502920" cy="502920"/>
          </a:xfrm>
          <a:prstGeom prst="line">
            <a:avLst/>
          </a:prstGeom>
          <a:noFill/>
          <a:ln w="50800">
            <a:solidFill>
              <a:srgbClr val="0B1F4D"/>
            </a:solidFill>
            <a:prstDash val="solid"/>
            <a:headEnd type="none"/>
            <a:tailEnd type="none"/>
          </a:ln>
        </p:spPr>
      </p:sp>
      <p:sp>
        <p:nvSpPr>
          <p:cNvPr id="29" name="Shape 27"/>
          <p:cNvSpPr/>
          <p:nvPr/>
        </p:nvSpPr>
        <p:spPr>
          <a:xfrm>
            <a:off x="6400800" y="3154680"/>
            <a:ext cx="5120640" cy="2103120"/>
          </a:xfrm>
          <a:prstGeom prst="roundRect">
            <a:avLst>
              <a:gd name="adj" fmla="val 4348"/>
            </a:avLst>
          </a:prstGeom>
          <a:solidFill>
            <a:srgbClr val="FFFFFF"/>
          </a:solidFill>
          <a:ln w="12700">
            <a:solidFill>
              <a:srgbClr val="C7D5E2"/>
            </a:solidFill>
            <a:prstDash val="solid"/>
          </a:ln>
        </p:spPr>
      </p:sp>
      <p:sp>
        <p:nvSpPr>
          <p:cNvPr id="30" name="Shape 28"/>
          <p:cNvSpPr/>
          <p:nvPr/>
        </p:nvSpPr>
        <p:spPr>
          <a:xfrm>
            <a:off x="6629400" y="3337560"/>
            <a:ext cx="2971800" cy="384048"/>
          </a:xfrm>
          <a:prstGeom prst="roundRect">
            <a:avLst>
              <a:gd name="adj" fmla="val 21429"/>
            </a:avLst>
          </a:prstGeom>
          <a:solidFill>
            <a:srgbClr val="0B1F4D"/>
          </a:solidFill>
          <a:ln w="12700">
            <a:solidFill>
              <a:srgbClr val="0B1F4D"/>
            </a:solidFill>
            <a:prstDash val="solid"/>
          </a:ln>
        </p:spPr>
      </p:sp>
      <p:sp>
        <p:nvSpPr>
          <p:cNvPr id="31" name="Text 29"/>
          <p:cNvSpPr/>
          <p:nvPr/>
        </p:nvSpPr>
        <p:spPr>
          <a:xfrm>
            <a:off x="6702552" y="3433572"/>
            <a:ext cx="2825496" cy="182880"/>
          </a:xfrm>
          <a:prstGeom prst="rect">
            <a:avLst/>
          </a:prstGeom>
          <a:noFill/>
          <a:ln/>
        </p:spPr>
        <p:txBody>
          <a:bodyPr wrap="square" lIns="0" tIns="0" rIns="0" bIns="0" rtlCol="0" anchor="ctr"/>
          <a:lstStyle/>
          <a:p>
            <a:pPr algn="ctr" indent="0" marL="0">
              <a:buNone/>
            </a:pPr>
            <a:r>
              <a:rPr lang="en-US" sz="1000" b="1" dirty="0">
                <a:solidFill>
                  <a:srgbClr val="FFFFFF"/>
                </a:solidFill>
              </a:rPr>
              <a:t>AI CLASSIFICATION UNDER ATTACK</a:t>
            </a:r>
            <a:endParaRPr lang="en-US" sz="1000" dirty="0"/>
          </a:p>
        </p:txBody>
      </p:sp>
      <p:sp>
        <p:nvSpPr>
          <p:cNvPr id="32" name="Shape 30"/>
          <p:cNvSpPr/>
          <p:nvPr/>
        </p:nvSpPr>
        <p:spPr>
          <a:xfrm>
            <a:off x="6720840" y="3977640"/>
            <a:ext cx="1051560" cy="640080"/>
          </a:xfrm>
          <a:prstGeom prst="roundRect">
            <a:avLst>
              <a:gd name="adj" fmla="val 11429"/>
            </a:avLst>
          </a:prstGeom>
          <a:solidFill>
            <a:srgbClr val="F6F8FA"/>
          </a:solidFill>
          <a:ln w="12700">
            <a:solidFill>
              <a:srgbClr val="D8E1E8"/>
            </a:solidFill>
            <a:prstDash val="solid"/>
          </a:ln>
        </p:spPr>
      </p:sp>
      <p:sp>
        <p:nvSpPr>
          <p:cNvPr id="33" name="Text 31"/>
          <p:cNvSpPr/>
          <p:nvPr/>
        </p:nvSpPr>
        <p:spPr>
          <a:xfrm>
            <a:off x="6830568" y="4087368"/>
            <a:ext cx="822960" cy="274320"/>
          </a:xfrm>
          <a:prstGeom prst="rect">
            <a:avLst/>
          </a:prstGeom>
          <a:noFill/>
          <a:ln/>
        </p:spPr>
        <p:txBody>
          <a:bodyPr wrap="square" lIns="0" tIns="0" rIns="0" bIns="0" rtlCol="0" anchor="ctr"/>
          <a:lstStyle/>
          <a:p>
            <a:pPr algn="ctr" indent="0" marL="0">
              <a:buNone/>
            </a:pPr>
            <a:r>
              <a:rPr lang="en-US" sz="900" b="1" dirty="0">
                <a:solidFill>
                  <a:srgbClr val="10203B"/>
                </a:solidFill>
              </a:rPr>
              <a:t>Input</a:t>
            </a:r>
            <a:endParaRPr lang="en-US" sz="900" dirty="0"/>
          </a:p>
          <a:p>
            <a:pPr algn="ctr" indent="0" marL="0">
              <a:buNone/>
            </a:pPr>
            <a:r>
              <a:rPr lang="en-US" sz="900" b="1" dirty="0">
                <a:solidFill>
                  <a:srgbClr val="10203B"/>
                </a:solidFill>
              </a:rPr>
              <a:t>image</a:t>
            </a:r>
            <a:endParaRPr lang="en-US" sz="900" dirty="0"/>
          </a:p>
        </p:txBody>
      </p:sp>
      <p:sp>
        <p:nvSpPr>
          <p:cNvPr id="34" name="Shape 32"/>
          <p:cNvSpPr/>
          <p:nvPr/>
        </p:nvSpPr>
        <p:spPr>
          <a:xfrm>
            <a:off x="7909560" y="4297680"/>
            <a:ext cx="685800" cy="0"/>
          </a:xfrm>
          <a:prstGeom prst="line">
            <a:avLst/>
          </a:prstGeom>
          <a:noFill/>
          <a:ln w="25400">
            <a:solidFill>
              <a:srgbClr val="0B1F4D"/>
            </a:solidFill>
            <a:prstDash val="solid"/>
            <a:tailEnd type="triangle"/>
          </a:ln>
        </p:spPr>
      </p:sp>
      <p:sp>
        <p:nvSpPr>
          <p:cNvPr id="35" name="Shape 33"/>
          <p:cNvSpPr/>
          <p:nvPr/>
        </p:nvSpPr>
        <p:spPr>
          <a:xfrm>
            <a:off x="8732520" y="3886200"/>
            <a:ext cx="914400" cy="914400"/>
          </a:xfrm>
          <a:prstGeom prst="hexagon">
            <a:avLst/>
          </a:prstGeom>
          <a:solidFill>
            <a:srgbClr val="EAF7F8"/>
          </a:solidFill>
          <a:ln w="19050">
            <a:solidFill>
              <a:srgbClr val="0A7C80"/>
            </a:solidFill>
            <a:prstDash val="solid"/>
          </a:ln>
        </p:spPr>
      </p:sp>
      <p:sp>
        <p:nvSpPr>
          <p:cNvPr id="36" name="Text 34"/>
          <p:cNvSpPr/>
          <p:nvPr/>
        </p:nvSpPr>
        <p:spPr>
          <a:xfrm>
            <a:off x="8906256" y="4142232"/>
            <a:ext cx="548640" cy="274320"/>
          </a:xfrm>
          <a:prstGeom prst="rect">
            <a:avLst/>
          </a:prstGeom>
          <a:noFill/>
          <a:ln/>
        </p:spPr>
        <p:txBody>
          <a:bodyPr wrap="square" lIns="0" tIns="0" rIns="0" bIns="0" rtlCol="0" anchor="ctr"/>
          <a:lstStyle/>
          <a:p>
            <a:pPr algn="ctr" indent="0" marL="0">
              <a:buNone/>
            </a:pPr>
            <a:r>
              <a:rPr lang="en-US" sz="900" b="1" dirty="0">
                <a:solidFill>
                  <a:srgbClr val="0A7C80"/>
                </a:solidFill>
              </a:rPr>
              <a:t>AI</a:t>
            </a:r>
            <a:endParaRPr lang="en-US" sz="900" dirty="0"/>
          </a:p>
          <a:p>
            <a:pPr algn="ctr" indent="0" marL="0">
              <a:buNone/>
            </a:pPr>
            <a:r>
              <a:rPr lang="en-US" sz="900" b="1" dirty="0">
                <a:solidFill>
                  <a:srgbClr val="0A7C80"/>
                </a:solidFill>
              </a:rPr>
              <a:t>model</a:t>
            </a:r>
            <a:endParaRPr lang="en-US" sz="900" dirty="0"/>
          </a:p>
        </p:txBody>
      </p:sp>
      <p:sp>
        <p:nvSpPr>
          <p:cNvPr id="37" name="Shape 35"/>
          <p:cNvSpPr/>
          <p:nvPr/>
        </p:nvSpPr>
        <p:spPr>
          <a:xfrm>
            <a:off x="9784080" y="4297680"/>
            <a:ext cx="685800" cy="0"/>
          </a:xfrm>
          <a:prstGeom prst="line">
            <a:avLst/>
          </a:prstGeom>
          <a:noFill/>
          <a:ln w="25400">
            <a:solidFill>
              <a:srgbClr val="0B1F4D"/>
            </a:solidFill>
            <a:prstDash val="solid"/>
            <a:tailEnd type="triangle"/>
          </a:ln>
        </p:spPr>
      </p:sp>
      <p:sp>
        <p:nvSpPr>
          <p:cNvPr id="38" name="Shape 36"/>
          <p:cNvSpPr/>
          <p:nvPr/>
        </p:nvSpPr>
        <p:spPr>
          <a:xfrm>
            <a:off x="10561320" y="3886200"/>
            <a:ext cx="777240" cy="777240"/>
          </a:xfrm>
          <a:prstGeom prst="roundRect">
            <a:avLst>
              <a:gd name="adj" fmla="val 11765"/>
            </a:avLst>
          </a:prstGeom>
          <a:solidFill>
            <a:srgbClr val="0B1F4D"/>
          </a:solidFill>
          <a:ln w="12700">
            <a:solidFill>
              <a:srgbClr val="0B1F4D"/>
            </a:solidFill>
            <a:prstDash val="solid"/>
          </a:ln>
        </p:spPr>
      </p:sp>
      <p:sp>
        <p:nvSpPr>
          <p:cNvPr id="39" name="Text 37"/>
          <p:cNvSpPr/>
          <p:nvPr/>
        </p:nvSpPr>
        <p:spPr>
          <a:xfrm>
            <a:off x="10661904" y="4041648"/>
            <a:ext cx="548640" cy="292608"/>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a:p>
            <a:pPr algn="ctr" indent="0" marL="0">
              <a:buNone/>
            </a:pPr>
            <a:r>
              <a:rPr lang="en-US" sz="1100" b="1" dirty="0">
                <a:solidFill>
                  <a:srgbClr val="FFFFFF"/>
                </a:solidFill>
              </a:rPr>
              <a:t>95%</a:t>
            </a:r>
            <a:endParaRPr lang="en-US" sz="1100" dirty="0"/>
          </a:p>
        </p:txBody>
      </p:sp>
      <p:sp>
        <p:nvSpPr>
          <p:cNvPr id="40" name="Shape 38"/>
          <p:cNvSpPr/>
          <p:nvPr/>
        </p:nvSpPr>
        <p:spPr>
          <a:xfrm>
            <a:off x="7452360" y="4983480"/>
            <a:ext cx="3611880" cy="502920"/>
          </a:xfrm>
          <a:prstGeom prst="roundRect">
            <a:avLst>
              <a:gd name="adj" fmla="val 18182"/>
            </a:avLst>
          </a:prstGeom>
          <a:solidFill>
            <a:srgbClr val="FFFFFF"/>
          </a:solidFill>
          <a:ln w="16510">
            <a:solidFill>
              <a:srgbClr val="E76F28"/>
            </a:solidFill>
            <a:prstDash val="solid"/>
          </a:ln>
        </p:spPr>
      </p:sp>
      <p:sp>
        <p:nvSpPr>
          <p:cNvPr id="41" name="Text 39"/>
          <p:cNvSpPr/>
          <p:nvPr/>
        </p:nvSpPr>
        <p:spPr>
          <a:xfrm>
            <a:off x="7616952" y="5093208"/>
            <a:ext cx="328269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Adversarial + anti-forensic stressors</a:t>
            </a:r>
            <a:endParaRPr lang="en-US" sz="1200" dirty="0"/>
          </a:p>
        </p:txBody>
      </p:sp>
      <p:sp>
        <p:nvSpPr>
          <p:cNvPr id="42" name="Text 40"/>
          <p:cNvSpPr/>
          <p:nvPr/>
        </p:nvSpPr>
        <p:spPr>
          <a:xfrm>
            <a:off x="594360" y="6217920"/>
            <a:ext cx="3657600" cy="274320"/>
          </a:xfrm>
          <a:prstGeom prst="rect">
            <a:avLst/>
          </a:prstGeom>
          <a:noFill/>
          <a:ln/>
        </p:spPr>
        <p:txBody>
          <a:bodyPr wrap="square" lIns="0" tIns="0" rIns="0" bIns="0" rtlCol="0" anchor="ctr"/>
          <a:lstStyle/>
          <a:p>
            <a:pPr indent="0" marL="0">
              <a:buNone/>
            </a:pPr>
            <a:r>
              <a:rPr lang="en-US" sz="1100" dirty="0">
                <a:solidFill>
                  <a:srgbClr val="10203B"/>
                </a:solidFill>
              </a:rPr>
              <a:t>Candidate: Lello Molinario</a:t>
            </a:r>
            <a:endParaRPr lang="en-US" sz="1100" dirty="0"/>
          </a:p>
        </p:txBody>
      </p:sp>
      <p:sp>
        <p:nvSpPr>
          <p:cNvPr id="43" name="Text 41"/>
          <p:cNvSpPr/>
          <p:nvPr/>
        </p:nvSpPr>
        <p:spPr>
          <a:xfrm>
            <a:off x="8229600" y="6217920"/>
            <a:ext cx="3200400" cy="274320"/>
          </a:xfrm>
          <a:prstGeom prst="rect">
            <a:avLst/>
          </a:prstGeom>
          <a:noFill/>
          <a:ln/>
        </p:spPr>
        <p:txBody>
          <a:bodyPr wrap="square" lIns="0" tIns="0" rIns="0" bIns="0" rtlCol="0" anchor="ctr"/>
          <a:lstStyle/>
          <a:p>
            <a:pPr algn="r" indent="0" marL="0">
              <a:buNone/>
            </a:pPr>
            <a:r>
              <a:rPr lang="en-US" sz="1100" dirty="0">
                <a:solidFill>
                  <a:srgbClr val="10203B"/>
                </a:solidFill>
              </a:rPr>
              <a:t>Supervisor: Davide Maiorca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MOTIVATION</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AI in Digital Forensic Triage</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Why robustness matters before operational use</a:t>
            </a:r>
            <a:endParaRPr lang="en-US" sz="1100" dirty="0"/>
          </a:p>
        </p:txBody>
      </p:sp>
      <p:sp>
        <p:nvSpPr>
          <p:cNvPr id="6" name="Shape 4"/>
          <p:cNvSpPr/>
          <p:nvPr/>
        </p:nvSpPr>
        <p:spPr>
          <a:xfrm>
            <a:off x="685800" y="1325880"/>
            <a:ext cx="2926080" cy="4206240"/>
          </a:xfrm>
          <a:prstGeom prst="roundRect">
            <a:avLst>
              <a:gd name="adj" fmla="val 3125"/>
            </a:avLst>
          </a:prstGeom>
          <a:solidFill>
            <a:srgbClr val="FFFFFF"/>
          </a:solidFill>
          <a:ln w="12700">
            <a:solidFill>
              <a:srgbClr val="D8E1E8"/>
            </a:solidFill>
            <a:prstDash val="solid"/>
          </a:ln>
        </p:spPr>
      </p:sp>
      <p:sp>
        <p:nvSpPr>
          <p:cNvPr id="7" name="Shape 5"/>
          <p:cNvSpPr/>
          <p:nvPr/>
        </p:nvSpPr>
        <p:spPr>
          <a:xfrm>
            <a:off x="960120" y="1600200"/>
            <a:ext cx="420624" cy="420624"/>
          </a:xfrm>
          <a:prstGeom prst="ellipse">
            <a:avLst/>
          </a:prstGeom>
          <a:solidFill>
            <a:srgbClr val="0A7C80"/>
          </a:solidFill>
          <a:ln w="12700">
            <a:solidFill>
              <a:srgbClr val="0A7C80"/>
            </a:solidFill>
            <a:prstDash val="solid"/>
          </a:ln>
        </p:spPr>
      </p:sp>
      <p:sp>
        <p:nvSpPr>
          <p:cNvPr id="8" name="Text 6"/>
          <p:cNvSpPr/>
          <p:nvPr/>
        </p:nvSpPr>
        <p:spPr>
          <a:xfrm>
            <a:off x="978408" y="16870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417320" y="1508760"/>
            <a:ext cx="1554480" cy="548640"/>
          </a:xfrm>
          <a:prstGeom prst="rect">
            <a:avLst/>
          </a:prstGeom>
          <a:noFill/>
          <a:ln/>
        </p:spPr>
        <p:txBody>
          <a:bodyPr wrap="square" lIns="0" tIns="0" rIns="0" bIns="0" rtlCol="0" anchor="ctr"/>
          <a:lstStyle/>
          <a:p>
            <a:pPr algn="ctr" indent="0" marL="0">
              <a:buNone/>
            </a:pPr>
            <a:r>
              <a:rPr lang="en-US" sz="1800" b="1" dirty="0">
                <a:solidFill>
                  <a:srgbClr val="0B1F4D"/>
                </a:solidFill>
              </a:rPr>
              <a:t>Digital</a:t>
            </a:r>
            <a:endParaRPr lang="en-US" sz="1800" dirty="0"/>
          </a:p>
          <a:p>
            <a:pPr algn="ctr" indent="0" marL="0">
              <a:buNone/>
            </a:pPr>
            <a:r>
              <a:rPr lang="en-US" sz="1800" b="1" dirty="0">
                <a:solidFill>
                  <a:srgbClr val="0B1F4D"/>
                </a:solidFill>
              </a:rPr>
              <a:t>evidence</a:t>
            </a:r>
            <a:endParaRPr lang="en-US" sz="1800" dirty="0"/>
          </a:p>
        </p:txBody>
      </p:sp>
      <p:sp>
        <p:nvSpPr>
          <p:cNvPr id="10" name="Text 8"/>
          <p:cNvSpPr/>
          <p:nvPr/>
        </p:nvSpPr>
        <p:spPr>
          <a:xfrm>
            <a:off x="1097280" y="2331720"/>
            <a:ext cx="2011680" cy="914400"/>
          </a:xfrm>
          <a:prstGeom prst="rect">
            <a:avLst/>
          </a:prstGeom>
          <a:noFill/>
          <a:ln/>
        </p:spPr>
        <p:txBody>
          <a:bodyPr wrap="square" lIns="254" tIns="254" rIns="254" bIns="254" rtlCol="0" anchor="ctr"/>
          <a:lstStyle/>
          <a:p>
            <a:pPr algn="ctr" indent="0" marL="0">
              <a:buNone/>
            </a:pPr>
            <a:r>
              <a:rPr lang="en-US" sz="1400" dirty="0">
                <a:solidFill>
                  <a:srgbClr val="10203B"/>
                </a:solidFill>
              </a:rPr>
              <a:t>Large image volumes</a:t>
            </a:r>
            <a:endParaRPr lang="en-US" sz="1400" dirty="0"/>
          </a:p>
          <a:p>
            <a:pPr algn="ctr" indent="0" marL="0">
              <a:buNone/>
            </a:pPr>
            <a:r>
              <a:rPr lang="en-US" sz="1400" dirty="0">
                <a:solidFill>
                  <a:srgbClr val="10203B"/>
                </a:solidFill>
              </a:rPr>
              <a:t>Multiple sources</a:t>
            </a:r>
            <a:endParaRPr lang="en-US" sz="1400" dirty="0"/>
          </a:p>
          <a:p>
            <a:pPr algn="ctr" indent="0" marL="0">
              <a:buNone/>
            </a:pPr>
            <a:r>
              <a:rPr lang="en-US" sz="1400" dirty="0">
                <a:solidFill>
                  <a:srgbClr val="10203B"/>
                </a:solidFill>
              </a:rPr>
              <a:t>Time pressure</a:t>
            </a:r>
            <a:endParaRPr lang="en-US" sz="1400" dirty="0"/>
          </a:p>
        </p:txBody>
      </p:sp>
      <p:sp>
        <p:nvSpPr>
          <p:cNvPr id="11" name="Shape 9"/>
          <p:cNvSpPr/>
          <p:nvPr/>
        </p:nvSpPr>
        <p:spPr>
          <a:xfrm>
            <a:off x="4617720" y="1325880"/>
            <a:ext cx="2926080" cy="4206240"/>
          </a:xfrm>
          <a:prstGeom prst="roundRect">
            <a:avLst>
              <a:gd name="adj" fmla="val 3125"/>
            </a:avLst>
          </a:prstGeom>
          <a:solidFill>
            <a:srgbClr val="FFFFFF"/>
          </a:solidFill>
          <a:ln w="12700">
            <a:solidFill>
              <a:srgbClr val="D8E1E8"/>
            </a:solidFill>
            <a:prstDash val="solid"/>
          </a:ln>
        </p:spPr>
      </p:sp>
      <p:sp>
        <p:nvSpPr>
          <p:cNvPr id="12" name="Shape 10"/>
          <p:cNvSpPr/>
          <p:nvPr/>
        </p:nvSpPr>
        <p:spPr>
          <a:xfrm>
            <a:off x="4892040" y="1600200"/>
            <a:ext cx="420624" cy="420624"/>
          </a:xfrm>
          <a:prstGeom prst="ellipse">
            <a:avLst/>
          </a:prstGeom>
          <a:solidFill>
            <a:srgbClr val="0A7C80"/>
          </a:solidFill>
          <a:ln w="12700">
            <a:solidFill>
              <a:srgbClr val="0A7C80"/>
            </a:solidFill>
            <a:prstDash val="solid"/>
          </a:ln>
        </p:spPr>
      </p:sp>
      <p:sp>
        <p:nvSpPr>
          <p:cNvPr id="13" name="Text 11"/>
          <p:cNvSpPr/>
          <p:nvPr/>
        </p:nvSpPr>
        <p:spPr>
          <a:xfrm>
            <a:off x="4910328" y="16870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5349240" y="1508760"/>
            <a:ext cx="1645920" cy="548640"/>
          </a:xfrm>
          <a:prstGeom prst="rect">
            <a:avLst/>
          </a:prstGeom>
          <a:noFill/>
          <a:ln/>
        </p:spPr>
        <p:txBody>
          <a:bodyPr wrap="square" lIns="0" tIns="0" rIns="0" bIns="0" rtlCol="0" anchor="ctr"/>
          <a:lstStyle/>
          <a:p>
            <a:pPr algn="ctr" indent="0" marL="0">
              <a:buNone/>
            </a:pPr>
            <a:r>
              <a:rPr lang="en-US" sz="1800" b="1" dirty="0">
                <a:solidFill>
                  <a:srgbClr val="0B1F4D"/>
                </a:solidFill>
              </a:rPr>
              <a:t>AI-assisted</a:t>
            </a:r>
            <a:endParaRPr lang="en-US" sz="1800" dirty="0"/>
          </a:p>
          <a:p>
            <a:pPr algn="ctr" indent="0" marL="0">
              <a:buNone/>
            </a:pPr>
            <a:r>
              <a:rPr lang="en-US" sz="1800" b="1" dirty="0">
                <a:solidFill>
                  <a:srgbClr val="0B1F4D"/>
                </a:solidFill>
              </a:rPr>
              <a:t>classification</a:t>
            </a:r>
            <a:endParaRPr lang="en-US" sz="1800" dirty="0"/>
          </a:p>
        </p:txBody>
      </p:sp>
      <p:sp>
        <p:nvSpPr>
          <p:cNvPr id="15" name="Text 13"/>
          <p:cNvSpPr/>
          <p:nvPr/>
        </p:nvSpPr>
        <p:spPr>
          <a:xfrm>
            <a:off x="5029200" y="2331720"/>
            <a:ext cx="2011680" cy="914400"/>
          </a:xfrm>
          <a:prstGeom prst="rect">
            <a:avLst/>
          </a:prstGeom>
          <a:noFill/>
          <a:ln/>
        </p:spPr>
        <p:txBody>
          <a:bodyPr wrap="square" lIns="254" tIns="254" rIns="254" bIns="254" rtlCol="0" anchor="ctr"/>
          <a:lstStyle/>
          <a:p>
            <a:pPr algn="ctr" indent="0" marL="0">
              <a:buNone/>
            </a:pPr>
            <a:r>
              <a:rPr lang="en-US" sz="1400" dirty="0">
                <a:solidFill>
                  <a:srgbClr val="10203B"/>
                </a:solidFill>
              </a:rPr>
              <a:t>Automated labels</a:t>
            </a:r>
            <a:endParaRPr lang="en-US" sz="1400" dirty="0"/>
          </a:p>
          <a:p>
            <a:pPr algn="ctr" indent="0" marL="0">
              <a:buNone/>
            </a:pPr>
            <a:r>
              <a:rPr lang="en-US" sz="1400" dirty="0">
                <a:solidFill>
                  <a:srgbClr val="10203B"/>
                </a:solidFill>
              </a:rPr>
              <a:t>Semantic categories</a:t>
            </a:r>
            <a:endParaRPr lang="en-US" sz="1400" dirty="0"/>
          </a:p>
          <a:p>
            <a:pPr algn="ctr" indent="0" marL="0">
              <a:buNone/>
            </a:pPr>
            <a:r>
              <a:rPr lang="en-US" sz="1400" dirty="0">
                <a:solidFill>
                  <a:srgbClr val="10203B"/>
                </a:solidFill>
              </a:rPr>
              <a:t>Confidence scores</a:t>
            </a:r>
            <a:endParaRPr lang="en-US" sz="1400" dirty="0"/>
          </a:p>
        </p:txBody>
      </p:sp>
      <p:sp>
        <p:nvSpPr>
          <p:cNvPr id="16" name="Shape 14"/>
          <p:cNvSpPr/>
          <p:nvPr/>
        </p:nvSpPr>
        <p:spPr>
          <a:xfrm>
            <a:off x="8549640" y="1325880"/>
            <a:ext cx="2926080" cy="4206240"/>
          </a:xfrm>
          <a:prstGeom prst="roundRect">
            <a:avLst>
              <a:gd name="adj" fmla="val 3125"/>
            </a:avLst>
          </a:prstGeom>
          <a:solidFill>
            <a:srgbClr val="FFFFFF"/>
          </a:solidFill>
          <a:ln w="12700">
            <a:solidFill>
              <a:srgbClr val="D8E1E8"/>
            </a:solidFill>
            <a:prstDash val="solid"/>
          </a:ln>
        </p:spPr>
      </p:sp>
      <p:sp>
        <p:nvSpPr>
          <p:cNvPr id="17" name="Shape 15"/>
          <p:cNvSpPr/>
          <p:nvPr/>
        </p:nvSpPr>
        <p:spPr>
          <a:xfrm>
            <a:off x="8823960" y="1600200"/>
            <a:ext cx="420624" cy="420624"/>
          </a:xfrm>
          <a:prstGeom prst="ellipse">
            <a:avLst/>
          </a:prstGeom>
          <a:solidFill>
            <a:srgbClr val="E76F28"/>
          </a:solidFill>
          <a:ln w="12700">
            <a:solidFill>
              <a:srgbClr val="E76F28"/>
            </a:solidFill>
            <a:prstDash val="solid"/>
          </a:ln>
        </p:spPr>
      </p:sp>
      <p:sp>
        <p:nvSpPr>
          <p:cNvPr id="18" name="Text 16"/>
          <p:cNvSpPr/>
          <p:nvPr/>
        </p:nvSpPr>
        <p:spPr>
          <a:xfrm>
            <a:off x="8842248" y="16870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9281160" y="1508760"/>
            <a:ext cx="1645920" cy="548640"/>
          </a:xfrm>
          <a:prstGeom prst="rect">
            <a:avLst/>
          </a:prstGeom>
          <a:noFill/>
          <a:ln/>
        </p:spPr>
        <p:txBody>
          <a:bodyPr wrap="square" lIns="0" tIns="0" rIns="0" bIns="0" rtlCol="0" anchor="ctr"/>
          <a:lstStyle/>
          <a:p>
            <a:pPr algn="ctr" indent="0" marL="0">
              <a:buNone/>
            </a:pPr>
            <a:r>
              <a:rPr lang="en-US" sz="1800" b="1" dirty="0">
                <a:solidFill>
                  <a:srgbClr val="0B1F4D"/>
                </a:solidFill>
              </a:rPr>
              <a:t>Analyst triage</a:t>
            </a:r>
            <a:endParaRPr lang="en-US" sz="1800" dirty="0"/>
          </a:p>
          <a:p>
            <a:pPr algn="ctr" indent="0" marL="0">
              <a:buNone/>
            </a:pPr>
            <a:r>
              <a:rPr lang="en-US" sz="1800" b="1" dirty="0">
                <a:solidFill>
                  <a:srgbClr val="0B1F4D"/>
                </a:solidFill>
              </a:rPr>
              <a:t>decision</a:t>
            </a:r>
            <a:endParaRPr lang="en-US" sz="1800" dirty="0"/>
          </a:p>
        </p:txBody>
      </p:sp>
      <p:sp>
        <p:nvSpPr>
          <p:cNvPr id="20" name="Text 18"/>
          <p:cNvSpPr/>
          <p:nvPr/>
        </p:nvSpPr>
        <p:spPr>
          <a:xfrm>
            <a:off x="8961120" y="2331720"/>
            <a:ext cx="2011680" cy="914400"/>
          </a:xfrm>
          <a:prstGeom prst="rect">
            <a:avLst/>
          </a:prstGeom>
          <a:noFill/>
          <a:ln/>
        </p:spPr>
        <p:txBody>
          <a:bodyPr wrap="square" lIns="254" tIns="254" rIns="254" bIns="254" rtlCol="0" anchor="ctr"/>
          <a:lstStyle/>
          <a:p>
            <a:pPr algn="ctr" indent="0" marL="0">
              <a:buNone/>
            </a:pPr>
            <a:r>
              <a:rPr lang="en-US" sz="1400" dirty="0">
                <a:solidFill>
                  <a:srgbClr val="10203B"/>
                </a:solidFill>
              </a:rPr>
              <a:t>Prioritization</a:t>
            </a:r>
            <a:endParaRPr lang="en-US" sz="1400" dirty="0"/>
          </a:p>
          <a:p>
            <a:pPr algn="ctr" indent="0" marL="0">
              <a:buNone/>
            </a:pPr>
            <a:r>
              <a:rPr lang="en-US" sz="1400" dirty="0">
                <a:solidFill>
                  <a:srgbClr val="10203B"/>
                </a:solidFill>
              </a:rPr>
              <a:t>Human review</a:t>
            </a:r>
            <a:endParaRPr lang="en-US" sz="1400" dirty="0"/>
          </a:p>
          <a:p>
            <a:pPr algn="ctr" indent="0" marL="0">
              <a:buNone/>
            </a:pPr>
            <a:r>
              <a:rPr lang="en-US" sz="1400" dirty="0">
                <a:solidFill>
                  <a:srgbClr val="10203B"/>
                </a:solidFill>
              </a:rPr>
              <a:t>Investigative focus</a:t>
            </a:r>
            <a:endParaRPr lang="en-US" sz="1400" dirty="0"/>
          </a:p>
        </p:txBody>
      </p:sp>
      <p:sp>
        <p:nvSpPr>
          <p:cNvPr id="21" name="Shape 19"/>
          <p:cNvSpPr/>
          <p:nvPr/>
        </p:nvSpPr>
        <p:spPr>
          <a:xfrm>
            <a:off x="3767328" y="3291840"/>
            <a:ext cx="685800" cy="0"/>
          </a:xfrm>
          <a:prstGeom prst="line">
            <a:avLst/>
          </a:prstGeom>
          <a:noFill/>
          <a:ln w="25400">
            <a:solidFill>
              <a:srgbClr val="0B1F4D"/>
            </a:solidFill>
            <a:prstDash val="solid"/>
            <a:tailEnd type="triangle"/>
          </a:ln>
        </p:spPr>
      </p:sp>
      <p:sp>
        <p:nvSpPr>
          <p:cNvPr id="22" name="Shape 20"/>
          <p:cNvSpPr/>
          <p:nvPr/>
        </p:nvSpPr>
        <p:spPr>
          <a:xfrm>
            <a:off x="7699248" y="3291840"/>
            <a:ext cx="685800" cy="0"/>
          </a:xfrm>
          <a:prstGeom prst="line">
            <a:avLst/>
          </a:prstGeom>
          <a:noFill/>
          <a:ln w="25400">
            <a:solidFill>
              <a:srgbClr val="0B1F4D"/>
            </a:solidFill>
            <a:prstDash val="solid"/>
            <a:tailEnd type="triangle"/>
          </a:ln>
        </p:spPr>
      </p:sp>
      <p:sp>
        <p:nvSpPr>
          <p:cNvPr id="23" name="Shape 21"/>
          <p:cNvSpPr/>
          <p:nvPr/>
        </p:nvSpPr>
        <p:spPr>
          <a:xfrm>
            <a:off x="3383280" y="5120640"/>
            <a:ext cx="5394960" cy="658368"/>
          </a:xfrm>
          <a:prstGeom prst="roundRect">
            <a:avLst>
              <a:gd name="adj" fmla="val 13889"/>
            </a:avLst>
          </a:prstGeom>
          <a:solidFill>
            <a:srgbClr val="FFFFFF"/>
          </a:solidFill>
          <a:ln w="16510">
            <a:solidFill>
              <a:srgbClr val="E76F28"/>
            </a:solidFill>
            <a:prstDash val="solid"/>
          </a:ln>
        </p:spPr>
      </p:sp>
      <p:sp>
        <p:nvSpPr>
          <p:cNvPr id="24" name="Text 22"/>
          <p:cNvSpPr/>
          <p:nvPr/>
        </p:nvSpPr>
        <p:spPr>
          <a:xfrm>
            <a:off x="3547872" y="5230368"/>
            <a:ext cx="5065776" cy="438912"/>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Errors under manipulated inputs can propagate downstream.</a:t>
            </a:r>
            <a:endParaRPr lang="en-US" sz="1200" dirty="0"/>
          </a:p>
        </p:txBody>
      </p:sp>
      <p:sp>
        <p:nvSpPr>
          <p:cNvPr id="25" name="Shape 23"/>
          <p:cNvSpPr/>
          <p:nvPr/>
        </p:nvSpPr>
        <p:spPr>
          <a:xfrm>
            <a:off x="868680" y="5879592"/>
            <a:ext cx="73152" cy="73152"/>
          </a:xfrm>
          <a:prstGeom prst="ellipse">
            <a:avLst/>
          </a:prstGeom>
          <a:solidFill>
            <a:srgbClr val="0A7C80"/>
          </a:solidFill>
          <a:ln w="12700">
            <a:solidFill>
              <a:srgbClr val="0A7C80"/>
            </a:solidFill>
            <a:prstDash val="solid"/>
          </a:ln>
        </p:spPr>
      </p:sp>
      <p:sp>
        <p:nvSpPr>
          <p:cNvPr id="26" name="Text 24"/>
          <p:cNvSpPr/>
          <p:nvPr/>
        </p:nvSpPr>
        <p:spPr>
          <a:xfrm>
            <a:off x="1033272" y="5806440"/>
            <a:ext cx="9875520" cy="246888"/>
          </a:xfrm>
          <a:prstGeom prst="rect">
            <a:avLst/>
          </a:prstGeom>
          <a:noFill/>
          <a:ln/>
        </p:spPr>
        <p:txBody>
          <a:bodyPr wrap="square" lIns="254" tIns="254" rIns="254" bIns="254" rtlCol="0" anchor="ctr">
            <a:normAutofit/>
          </a:bodyPr>
          <a:lstStyle/>
          <a:p>
            <a:pPr indent="0" marL="0">
              <a:buNone/>
            </a:pPr>
            <a:r>
              <a:rPr lang="en-US" sz="1200" dirty="0">
                <a:solidFill>
                  <a:srgbClr val="10203B"/>
                </a:solidFill>
              </a:rPr>
              <a:t>AI can reduce analyst workload.</a:t>
            </a:r>
            <a:endParaRPr lang="en-US" sz="1200" dirty="0"/>
          </a:p>
        </p:txBody>
      </p:sp>
      <p:sp>
        <p:nvSpPr>
          <p:cNvPr id="27" name="Shape 25"/>
          <p:cNvSpPr/>
          <p:nvPr/>
        </p:nvSpPr>
        <p:spPr>
          <a:xfrm>
            <a:off x="868680" y="6126480"/>
            <a:ext cx="73152" cy="73152"/>
          </a:xfrm>
          <a:prstGeom prst="ellipse">
            <a:avLst/>
          </a:prstGeom>
          <a:solidFill>
            <a:srgbClr val="0A7C80"/>
          </a:solidFill>
          <a:ln w="12700">
            <a:solidFill>
              <a:srgbClr val="0A7C80"/>
            </a:solidFill>
            <a:prstDash val="solid"/>
          </a:ln>
        </p:spPr>
      </p:sp>
      <p:sp>
        <p:nvSpPr>
          <p:cNvPr id="28" name="Text 26"/>
          <p:cNvSpPr/>
          <p:nvPr/>
        </p:nvSpPr>
        <p:spPr>
          <a:xfrm>
            <a:off x="1033272" y="6053328"/>
            <a:ext cx="9875520" cy="246888"/>
          </a:xfrm>
          <a:prstGeom prst="rect">
            <a:avLst/>
          </a:prstGeom>
          <a:noFill/>
          <a:ln/>
        </p:spPr>
        <p:txBody>
          <a:bodyPr wrap="square" lIns="254" tIns="254" rIns="254" bIns="254" rtlCol="0" anchor="ctr">
            <a:normAutofit/>
          </a:bodyPr>
          <a:lstStyle/>
          <a:p>
            <a:pPr indent="0" marL="0">
              <a:buNone/>
            </a:pPr>
            <a:r>
              <a:rPr lang="en-US" sz="1200" dirty="0">
                <a:solidFill>
                  <a:srgbClr val="10203B"/>
                </a:solidFill>
              </a:rPr>
              <a:t>But clean accuracy is not enough.</a:t>
            </a:r>
            <a:endParaRPr lang="en-US" sz="1200" dirty="0"/>
          </a:p>
        </p:txBody>
      </p:sp>
      <p:sp>
        <p:nvSpPr>
          <p:cNvPr id="29" name="Shape 27"/>
          <p:cNvSpPr/>
          <p:nvPr/>
        </p:nvSpPr>
        <p:spPr>
          <a:xfrm>
            <a:off x="868680" y="6373368"/>
            <a:ext cx="73152" cy="73152"/>
          </a:xfrm>
          <a:prstGeom prst="ellipse">
            <a:avLst/>
          </a:prstGeom>
          <a:solidFill>
            <a:srgbClr val="0A7C80"/>
          </a:solidFill>
          <a:ln w="12700">
            <a:solidFill>
              <a:srgbClr val="0A7C80"/>
            </a:solidFill>
            <a:prstDash val="solid"/>
          </a:ln>
        </p:spPr>
      </p:sp>
      <p:sp>
        <p:nvSpPr>
          <p:cNvPr id="30" name="Text 28"/>
          <p:cNvSpPr/>
          <p:nvPr/>
        </p:nvSpPr>
        <p:spPr>
          <a:xfrm>
            <a:off x="1033272" y="6300216"/>
            <a:ext cx="9875520" cy="246888"/>
          </a:xfrm>
          <a:prstGeom prst="rect">
            <a:avLst/>
          </a:prstGeom>
          <a:noFill/>
          <a:ln/>
        </p:spPr>
        <p:txBody>
          <a:bodyPr wrap="square" lIns="254" tIns="254" rIns="254" bIns="254" rtlCol="0" anchor="ctr">
            <a:normAutofit/>
          </a:bodyPr>
          <a:lstStyle/>
          <a:p>
            <a:pPr indent="0" marL="0">
              <a:buNone/>
            </a:pPr>
            <a:r>
              <a:rPr lang="en-US" sz="1200" dirty="0">
                <a:solidFill>
                  <a:srgbClr val="10203B"/>
                </a:solidFill>
              </a:rPr>
              <a:t>Reliability becomes critical when evidence is altered.</a:t>
            </a:r>
            <a:endParaRPr lang="en-US" sz="1200" dirty="0"/>
          </a:p>
        </p:txBody>
      </p:sp>
      <p:sp>
        <p:nvSpPr>
          <p:cNvPr id="31" name="Shape 29"/>
          <p:cNvSpPr/>
          <p:nvPr/>
        </p:nvSpPr>
        <p:spPr>
          <a:xfrm>
            <a:off x="411480" y="6510528"/>
            <a:ext cx="11365992" cy="0"/>
          </a:xfrm>
          <a:prstGeom prst="line">
            <a:avLst/>
          </a:prstGeom>
          <a:noFill/>
          <a:ln w="8890">
            <a:solidFill>
              <a:srgbClr val="D8E1E8"/>
            </a:solidFill>
            <a:prstDash val="solid"/>
          </a:ln>
        </p:spPr>
      </p:sp>
      <p:sp>
        <p:nvSpPr>
          <p:cNvPr id="32" name="Text 30"/>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3" name="Text 31"/>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PROBLEM STATEMENT</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When Visual Evidence Is Manipulated</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Robustness must be evaluated under realistic stressors</a:t>
            </a:r>
            <a:endParaRPr lang="en-US" sz="1100" dirty="0"/>
          </a:p>
        </p:txBody>
      </p:sp>
      <p:sp>
        <p:nvSpPr>
          <p:cNvPr id="6" name="Shape 4"/>
          <p:cNvSpPr/>
          <p:nvPr/>
        </p:nvSpPr>
        <p:spPr>
          <a:xfrm>
            <a:off x="1005840" y="1371600"/>
            <a:ext cx="10149840" cy="685800"/>
          </a:xfrm>
          <a:prstGeom prst="roundRect">
            <a:avLst>
              <a:gd name="adj" fmla="val 13333"/>
            </a:avLst>
          </a:prstGeom>
          <a:solidFill>
            <a:srgbClr val="FFFFFF"/>
          </a:solidFill>
          <a:ln w="16510">
            <a:solidFill>
              <a:srgbClr val="0B1F4D"/>
            </a:solidFill>
            <a:prstDash val="solid"/>
          </a:ln>
        </p:spPr>
      </p:sp>
      <p:sp>
        <p:nvSpPr>
          <p:cNvPr id="7" name="Text 5"/>
          <p:cNvSpPr/>
          <p:nvPr/>
        </p:nvSpPr>
        <p:spPr>
          <a:xfrm>
            <a:off x="1170432" y="1481328"/>
            <a:ext cx="9820656" cy="466344"/>
          </a:xfrm>
          <a:prstGeom prst="rect">
            <a:avLst/>
          </a:prstGeom>
          <a:noFill/>
          <a:ln/>
        </p:spPr>
        <p:txBody>
          <a:bodyPr wrap="square" lIns="254" tIns="254" rIns="254" bIns="254" rtlCol="0" anchor="ctr">
            <a:normAutofit/>
          </a:bodyPr>
          <a:lstStyle/>
          <a:p>
            <a:pPr algn="ctr" indent="0" marL="0">
              <a:buNone/>
            </a:pPr>
            <a:r>
              <a:rPr lang="en-US" sz="1200" b="1" dirty="0">
                <a:solidFill>
                  <a:srgbClr val="0B1F4D"/>
                </a:solidFill>
              </a:rPr>
              <a:t>How robust are AI-assisted forensic image classification tools when visual inputs are intentionally or accidentally altered?</a:t>
            </a:r>
            <a:endParaRPr lang="en-US" sz="1200" dirty="0"/>
          </a:p>
        </p:txBody>
      </p:sp>
      <p:sp>
        <p:nvSpPr>
          <p:cNvPr id="8" name="Shape 6"/>
          <p:cNvSpPr/>
          <p:nvPr/>
        </p:nvSpPr>
        <p:spPr>
          <a:xfrm>
            <a:off x="640080" y="2788920"/>
            <a:ext cx="2423160" cy="2240280"/>
          </a:xfrm>
          <a:prstGeom prst="roundRect">
            <a:avLst>
              <a:gd name="adj" fmla="val 4082"/>
            </a:avLst>
          </a:prstGeom>
          <a:solidFill>
            <a:srgbClr val="FFF2EA"/>
          </a:solidFill>
          <a:ln w="12700">
            <a:solidFill>
              <a:srgbClr val="F0B083"/>
            </a:solidFill>
            <a:prstDash val="solid"/>
          </a:ln>
        </p:spPr>
      </p:sp>
      <p:sp>
        <p:nvSpPr>
          <p:cNvPr id="9" name="Shape 7"/>
          <p:cNvSpPr/>
          <p:nvPr/>
        </p:nvSpPr>
        <p:spPr>
          <a:xfrm>
            <a:off x="868680" y="3063240"/>
            <a:ext cx="420624" cy="420624"/>
          </a:xfrm>
          <a:prstGeom prst="ellipse">
            <a:avLst/>
          </a:prstGeom>
          <a:solidFill>
            <a:srgbClr val="E76F28"/>
          </a:solidFill>
          <a:ln w="12700">
            <a:solidFill>
              <a:srgbClr val="E76F28"/>
            </a:solidFill>
            <a:prstDash val="solid"/>
          </a:ln>
        </p:spPr>
      </p:sp>
      <p:sp>
        <p:nvSpPr>
          <p:cNvPr id="10" name="Text 8"/>
          <p:cNvSpPr/>
          <p:nvPr/>
        </p:nvSpPr>
        <p:spPr>
          <a:xfrm>
            <a:off x="886968" y="31501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p:nvPr/>
        </p:nvSpPr>
        <p:spPr>
          <a:xfrm>
            <a:off x="868680" y="3611880"/>
            <a:ext cx="1920240" cy="502920"/>
          </a:xfrm>
          <a:prstGeom prst="rect">
            <a:avLst/>
          </a:prstGeom>
          <a:noFill/>
          <a:ln/>
        </p:spPr>
        <p:txBody>
          <a:bodyPr wrap="square" lIns="254" tIns="254" rIns="254" bIns="254" rtlCol="0" anchor="ctr"/>
          <a:lstStyle/>
          <a:p>
            <a:pPr algn="ctr" indent="0" marL="0">
              <a:buNone/>
            </a:pPr>
            <a:r>
              <a:rPr lang="en-US" sz="1600" b="1" dirty="0">
                <a:solidFill>
                  <a:srgbClr val="0B1F4D"/>
                </a:solidFill>
              </a:rPr>
              <a:t>Adversarial</a:t>
            </a:r>
            <a:endParaRPr lang="en-US" sz="1600" dirty="0"/>
          </a:p>
          <a:p>
            <a:pPr algn="ctr" indent="0" marL="0">
              <a:buNone/>
            </a:pPr>
            <a:r>
              <a:rPr lang="en-US" sz="1600" b="1" dirty="0">
                <a:solidFill>
                  <a:srgbClr val="0B1F4D"/>
                </a:solidFill>
              </a:rPr>
              <a:t>Perturbations</a:t>
            </a:r>
            <a:endParaRPr lang="en-US" sz="1600" dirty="0"/>
          </a:p>
        </p:txBody>
      </p:sp>
      <p:sp>
        <p:nvSpPr>
          <p:cNvPr id="12" name="Text 10"/>
          <p:cNvSpPr/>
          <p:nvPr/>
        </p:nvSpPr>
        <p:spPr>
          <a:xfrm>
            <a:off x="868680" y="4343400"/>
            <a:ext cx="1920240" cy="411480"/>
          </a:xfrm>
          <a:prstGeom prst="rect">
            <a:avLst/>
          </a:prstGeom>
          <a:noFill/>
          <a:ln/>
        </p:spPr>
        <p:txBody>
          <a:bodyPr wrap="square" lIns="254" tIns="254" rIns="254" bIns="254" rtlCol="0" anchor="ctr"/>
          <a:lstStyle/>
          <a:p>
            <a:pPr algn="ctr" indent="0" marL="0">
              <a:buNone/>
            </a:pPr>
            <a:r>
              <a:rPr lang="en-US" sz="1100" dirty="0">
                <a:solidFill>
                  <a:srgbClr val="5F6F82"/>
                </a:solidFill>
              </a:rPr>
              <a:t>model-oriented perturbations</a:t>
            </a:r>
            <a:endParaRPr lang="en-US" sz="1100" dirty="0"/>
          </a:p>
        </p:txBody>
      </p:sp>
      <p:sp>
        <p:nvSpPr>
          <p:cNvPr id="13" name="Shape 11"/>
          <p:cNvSpPr/>
          <p:nvPr/>
        </p:nvSpPr>
        <p:spPr>
          <a:xfrm>
            <a:off x="3520440" y="2788920"/>
            <a:ext cx="2423160" cy="2240280"/>
          </a:xfrm>
          <a:prstGeom prst="roundRect">
            <a:avLst>
              <a:gd name="adj" fmla="val 4082"/>
            </a:avLst>
          </a:prstGeom>
          <a:solidFill>
            <a:srgbClr val="FFF2EA"/>
          </a:solidFill>
          <a:ln w="12700">
            <a:solidFill>
              <a:srgbClr val="F0B083"/>
            </a:solidFill>
            <a:prstDash val="solid"/>
          </a:ln>
        </p:spPr>
      </p:sp>
      <p:sp>
        <p:nvSpPr>
          <p:cNvPr id="14" name="Shape 12"/>
          <p:cNvSpPr/>
          <p:nvPr/>
        </p:nvSpPr>
        <p:spPr>
          <a:xfrm>
            <a:off x="3749040" y="3063240"/>
            <a:ext cx="420624" cy="420624"/>
          </a:xfrm>
          <a:prstGeom prst="ellipse">
            <a:avLst/>
          </a:prstGeom>
          <a:solidFill>
            <a:srgbClr val="E76F28"/>
          </a:solidFill>
          <a:ln w="12700">
            <a:solidFill>
              <a:srgbClr val="E76F28"/>
            </a:solidFill>
            <a:prstDash val="solid"/>
          </a:ln>
        </p:spPr>
      </p:sp>
      <p:sp>
        <p:nvSpPr>
          <p:cNvPr id="15" name="Text 13"/>
          <p:cNvSpPr/>
          <p:nvPr/>
        </p:nvSpPr>
        <p:spPr>
          <a:xfrm>
            <a:off x="3767328" y="31501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3749040" y="3611880"/>
            <a:ext cx="1920240" cy="502920"/>
          </a:xfrm>
          <a:prstGeom prst="rect">
            <a:avLst/>
          </a:prstGeom>
          <a:noFill/>
          <a:ln/>
        </p:spPr>
        <p:txBody>
          <a:bodyPr wrap="square" lIns="254" tIns="254" rIns="254" bIns="254" rtlCol="0" anchor="ctr"/>
          <a:lstStyle/>
          <a:p>
            <a:pPr algn="ctr" indent="0" marL="0">
              <a:buNone/>
            </a:pPr>
            <a:r>
              <a:rPr lang="en-US" sz="1600" b="1" dirty="0">
                <a:solidFill>
                  <a:srgbClr val="0B1F4D"/>
                </a:solidFill>
              </a:rPr>
              <a:t>Anti-Forensic</a:t>
            </a:r>
            <a:endParaRPr lang="en-US" sz="1600" dirty="0"/>
          </a:p>
          <a:p>
            <a:pPr algn="ctr" indent="0" marL="0">
              <a:buNone/>
            </a:pPr>
            <a:r>
              <a:rPr lang="en-US" sz="1600" b="1" dirty="0">
                <a:solidFill>
                  <a:srgbClr val="0B1F4D"/>
                </a:solidFill>
              </a:rPr>
              <a:t>Transformations</a:t>
            </a:r>
            <a:endParaRPr lang="en-US" sz="1600" dirty="0"/>
          </a:p>
        </p:txBody>
      </p:sp>
      <p:sp>
        <p:nvSpPr>
          <p:cNvPr id="17" name="Text 15"/>
          <p:cNvSpPr/>
          <p:nvPr/>
        </p:nvSpPr>
        <p:spPr>
          <a:xfrm>
            <a:off x="3749040" y="4343400"/>
            <a:ext cx="1920240" cy="411480"/>
          </a:xfrm>
          <a:prstGeom prst="rect">
            <a:avLst/>
          </a:prstGeom>
          <a:noFill/>
          <a:ln/>
        </p:spPr>
        <p:txBody>
          <a:bodyPr wrap="square" lIns="254" tIns="254" rIns="254" bIns="254" rtlCol="0" anchor="ctr"/>
          <a:lstStyle/>
          <a:p>
            <a:pPr algn="ctr" indent="0" marL="0">
              <a:buNone/>
            </a:pPr>
            <a:r>
              <a:rPr lang="en-US" sz="1100" dirty="0">
                <a:solidFill>
                  <a:srgbClr val="5F6F82"/>
                </a:solidFill>
              </a:rPr>
              <a:t>image-level manipulations</a:t>
            </a:r>
            <a:endParaRPr lang="en-US" sz="1100" dirty="0"/>
          </a:p>
        </p:txBody>
      </p:sp>
      <p:sp>
        <p:nvSpPr>
          <p:cNvPr id="18" name="Shape 16"/>
          <p:cNvSpPr/>
          <p:nvPr/>
        </p:nvSpPr>
        <p:spPr>
          <a:xfrm>
            <a:off x="6400800" y="2788920"/>
            <a:ext cx="2423160" cy="2240280"/>
          </a:xfrm>
          <a:prstGeom prst="roundRect">
            <a:avLst>
              <a:gd name="adj" fmla="val 4082"/>
            </a:avLst>
          </a:prstGeom>
          <a:solidFill>
            <a:srgbClr val="EAF7F8"/>
          </a:solidFill>
          <a:ln w="12700">
            <a:solidFill>
              <a:srgbClr val="83C8CC"/>
            </a:solidFill>
            <a:prstDash val="solid"/>
          </a:ln>
        </p:spPr>
      </p:sp>
      <p:sp>
        <p:nvSpPr>
          <p:cNvPr id="19" name="Shape 17"/>
          <p:cNvSpPr/>
          <p:nvPr/>
        </p:nvSpPr>
        <p:spPr>
          <a:xfrm>
            <a:off x="6629400" y="3063240"/>
            <a:ext cx="420624" cy="420624"/>
          </a:xfrm>
          <a:prstGeom prst="ellipse">
            <a:avLst/>
          </a:prstGeom>
          <a:solidFill>
            <a:srgbClr val="0A7C80"/>
          </a:solidFill>
          <a:ln w="12700">
            <a:solidFill>
              <a:srgbClr val="0A7C80"/>
            </a:solidFill>
            <a:prstDash val="solid"/>
          </a:ln>
        </p:spPr>
      </p:sp>
      <p:sp>
        <p:nvSpPr>
          <p:cNvPr id="20" name="Text 18"/>
          <p:cNvSpPr/>
          <p:nvPr/>
        </p:nvSpPr>
        <p:spPr>
          <a:xfrm>
            <a:off x="6647688" y="31501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9"/>
          <p:cNvSpPr/>
          <p:nvPr/>
        </p:nvSpPr>
        <p:spPr>
          <a:xfrm>
            <a:off x="6629400" y="3611880"/>
            <a:ext cx="1920240" cy="502920"/>
          </a:xfrm>
          <a:prstGeom prst="rect">
            <a:avLst/>
          </a:prstGeom>
          <a:noFill/>
          <a:ln/>
        </p:spPr>
        <p:txBody>
          <a:bodyPr wrap="square" lIns="254" tIns="254" rIns="254" bIns="254" rtlCol="0" anchor="ctr"/>
          <a:lstStyle/>
          <a:p>
            <a:pPr algn="ctr" indent="0" marL="0">
              <a:buNone/>
            </a:pPr>
            <a:r>
              <a:rPr lang="en-US" sz="1600" b="1" dirty="0">
                <a:solidFill>
                  <a:srgbClr val="0B1F4D"/>
                </a:solidFill>
              </a:rPr>
              <a:t>Out-of-Distribution</a:t>
            </a:r>
            <a:endParaRPr lang="en-US" sz="1600" dirty="0"/>
          </a:p>
          <a:p>
            <a:pPr algn="ctr" indent="0" marL="0">
              <a:buNone/>
            </a:pPr>
            <a:r>
              <a:rPr lang="en-US" sz="1600" b="1" dirty="0">
                <a:solidFill>
                  <a:srgbClr val="0B1F4D"/>
                </a:solidFill>
              </a:rPr>
              <a:t>Inputs</a:t>
            </a:r>
            <a:endParaRPr lang="en-US" sz="1600" dirty="0"/>
          </a:p>
        </p:txBody>
      </p:sp>
      <p:sp>
        <p:nvSpPr>
          <p:cNvPr id="22" name="Text 20"/>
          <p:cNvSpPr/>
          <p:nvPr/>
        </p:nvSpPr>
        <p:spPr>
          <a:xfrm>
            <a:off x="6629400" y="4343400"/>
            <a:ext cx="1920240" cy="411480"/>
          </a:xfrm>
          <a:prstGeom prst="rect">
            <a:avLst/>
          </a:prstGeom>
          <a:noFill/>
          <a:ln/>
        </p:spPr>
        <p:txBody>
          <a:bodyPr wrap="square" lIns="254" tIns="254" rIns="254" bIns="254" rtlCol="0" anchor="ctr"/>
          <a:lstStyle/>
          <a:p>
            <a:pPr algn="ctr" indent="0" marL="0">
              <a:buNone/>
            </a:pPr>
            <a:r>
              <a:rPr lang="en-US" sz="1100" dirty="0">
                <a:solidFill>
                  <a:srgbClr val="5F6F82"/>
                </a:solidFill>
              </a:rPr>
              <a:t>unfamiliar visual domains</a:t>
            </a:r>
            <a:endParaRPr lang="en-US" sz="1100" dirty="0"/>
          </a:p>
        </p:txBody>
      </p:sp>
      <p:sp>
        <p:nvSpPr>
          <p:cNvPr id="23" name="Shape 21"/>
          <p:cNvSpPr/>
          <p:nvPr/>
        </p:nvSpPr>
        <p:spPr>
          <a:xfrm>
            <a:off x="9281160" y="2788920"/>
            <a:ext cx="2423160" cy="2240280"/>
          </a:xfrm>
          <a:prstGeom prst="roundRect">
            <a:avLst>
              <a:gd name="adj" fmla="val 4082"/>
            </a:avLst>
          </a:prstGeom>
          <a:solidFill>
            <a:srgbClr val="EEF5FF"/>
          </a:solidFill>
          <a:ln w="12700">
            <a:solidFill>
              <a:srgbClr val="B9CDE8"/>
            </a:solidFill>
            <a:prstDash val="solid"/>
          </a:ln>
        </p:spPr>
      </p:sp>
      <p:sp>
        <p:nvSpPr>
          <p:cNvPr id="24" name="Shape 22"/>
          <p:cNvSpPr/>
          <p:nvPr/>
        </p:nvSpPr>
        <p:spPr>
          <a:xfrm>
            <a:off x="9509760" y="3063240"/>
            <a:ext cx="420624" cy="420624"/>
          </a:xfrm>
          <a:prstGeom prst="ellipse">
            <a:avLst/>
          </a:prstGeom>
          <a:solidFill>
            <a:srgbClr val="0B1F4D"/>
          </a:solidFill>
          <a:ln w="12700">
            <a:solidFill>
              <a:srgbClr val="0B1F4D"/>
            </a:solidFill>
            <a:prstDash val="solid"/>
          </a:ln>
        </p:spPr>
      </p:sp>
      <p:sp>
        <p:nvSpPr>
          <p:cNvPr id="25" name="Text 23"/>
          <p:cNvSpPr/>
          <p:nvPr/>
        </p:nvSpPr>
        <p:spPr>
          <a:xfrm>
            <a:off x="9528048" y="31501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6" name="Text 24"/>
          <p:cNvSpPr/>
          <p:nvPr/>
        </p:nvSpPr>
        <p:spPr>
          <a:xfrm>
            <a:off x="9509760" y="3611880"/>
            <a:ext cx="1920240" cy="502920"/>
          </a:xfrm>
          <a:prstGeom prst="rect">
            <a:avLst/>
          </a:prstGeom>
          <a:noFill/>
          <a:ln/>
        </p:spPr>
        <p:txBody>
          <a:bodyPr wrap="square" lIns="254" tIns="254" rIns="254" bIns="254" rtlCol="0" anchor="ctr"/>
          <a:lstStyle/>
          <a:p>
            <a:pPr algn="ctr" indent="0" marL="0">
              <a:buNone/>
            </a:pPr>
            <a:r>
              <a:rPr lang="en-US" sz="1600" b="1" dirty="0">
                <a:solidFill>
                  <a:srgbClr val="0B1F4D"/>
                </a:solidFill>
              </a:rPr>
              <a:t>Black-Box</a:t>
            </a:r>
            <a:endParaRPr lang="en-US" sz="1600" dirty="0"/>
          </a:p>
          <a:p>
            <a:pPr algn="ctr" indent="0" marL="0">
              <a:buNone/>
            </a:pPr>
            <a:r>
              <a:rPr lang="en-US" sz="1600" b="1" dirty="0">
                <a:solidFill>
                  <a:srgbClr val="0B1F4D"/>
                </a:solidFill>
              </a:rPr>
              <a:t>Constraints</a:t>
            </a:r>
            <a:endParaRPr lang="en-US" sz="1600" dirty="0"/>
          </a:p>
        </p:txBody>
      </p:sp>
      <p:sp>
        <p:nvSpPr>
          <p:cNvPr id="27" name="Text 25"/>
          <p:cNvSpPr/>
          <p:nvPr/>
        </p:nvSpPr>
        <p:spPr>
          <a:xfrm>
            <a:off x="9509760" y="4343400"/>
            <a:ext cx="1920240" cy="411480"/>
          </a:xfrm>
          <a:prstGeom prst="rect">
            <a:avLst/>
          </a:prstGeom>
          <a:noFill/>
          <a:ln/>
        </p:spPr>
        <p:txBody>
          <a:bodyPr wrap="square" lIns="254" tIns="254" rIns="254" bIns="254" rtlCol="0" anchor="ctr"/>
          <a:lstStyle/>
          <a:p>
            <a:pPr algn="ctr" indent="0" marL="0">
              <a:buNone/>
            </a:pPr>
            <a:r>
              <a:rPr lang="en-US" sz="1100" dirty="0">
                <a:solidFill>
                  <a:srgbClr val="5F6F82"/>
                </a:solidFill>
              </a:rPr>
              <a:t>observable outputs only</a:t>
            </a:r>
            <a:endParaRPr lang="en-US" sz="1100" dirty="0"/>
          </a:p>
        </p:txBody>
      </p:sp>
      <p:sp>
        <p:nvSpPr>
          <p:cNvPr id="28" name="Text 26"/>
          <p:cNvSpPr/>
          <p:nvPr/>
        </p:nvSpPr>
        <p:spPr>
          <a:xfrm>
            <a:off x="914400" y="5623560"/>
            <a:ext cx="10241280" cy="320040"/>
          </a:xfrm>
          <a:prstGeom prst="rect">
            <a:avLst/>
          </a:prstGeom>
          <a:noFill/>
          <a:ln/>
        </p:spPr>
        <p:txBody>
          <a:bodyPr wrap="square" lIns="0" tIns="0" rIns="0" bIns="0" rtlCol="0" anchor="ctr"/>
          <a:lstStyle/>
          <a:p>
            <a:pPr algn="ctr" indent="0" marL="0">
              <a:buNone/>
            </a:pPr>
            <a:r>
              <a:rPr lang="en-US" sz="1600" b="1" dirty="0">
                <a:solidFill>
                  <a:srgbClr val="10203B"/>
                </a:solidFill>
              </a:rPr>
              <a:t>The problem is practical: operational reliability can fail even when nominal performance appears strong.</a:t>
            </a:r>
            <a:endParaRPr lang="en-US" sz="1600" dirty="0"/>
          </a:p>
        </p:txBody>
      </p:sp>
      <p:sp>
        <p:nvSpPr>
          <p:cNvPr id="29" name="Shape 27"/>
          <p:cNvSpPr/>
          <p:nvPr/>
        </p:nvSpPr>
        <p:spPr>
          <a:xfrm>
            <a:off x="411480" y="6510528"/>
            <a:ext cx="11365992" cy="0"/>
          </a:xfrm>
          <a:prstGeom prst="line">
            <a:avLst/>
          </a:prstGeom>
          <a:noFill/>
          <a:ln w="8890">
            <a:solidFill>
              <a:srgbClr val="D8E1E8"/>
            </a:solidFill>
            <a:prstDash val="solid"/>
          </a:ln>
        </p:spPr>
      </p:sp>
      <p:sp>
        <p:nvSpPr>
          <p:cNvPr id="30" name="Text 28"/>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1" name="Text 29"/>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RESEARCH OBJECTIVE</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Objective and Contributions</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A controlled and traceable robustness assessment</a:t>
            </a:r>
            <a:endParaRPr lang="en-US" sz="1100" dirty="0"/>
          </a:p>
        </p:txBody>
      </p:sp>
      <p:sp>
        <p:nvSpPr>
          <p:cNvPr id="6" name="Shape 4"/>
          <p:cNvSpPr/>
          <p:nvPr/>
        </p:nvSpPr>
        <p:spPr>
          <a:xfrm>
            <a:off x="777240" y="1234440"/>
            <a:ext cx="10652760" cy="777240"/>
          </a:xfrm>
          <a:prstGeom prst="roundRect">
            <a:avLst>
              <a:gd name="adj" fmla="val 11765"/>
            </a:avLst>
          </a:prstGeom>
          <a:solidFill>
            <a:srgbClr val="EAF7F8"/>
          </a:solidFill>
          <a:ln w="12700">
            <a:solidFill>
              <a:srgbClr val="A7DADB"/>
            </a:solidFill>
            <a:prstDash val="solid"/>
          </a:ln>
        </p:spPr>
      </p:sp>
      <p:sp>
        <p:nvSpPr>
          <p:cNvPr id="7" name="Text 5"/>
          <p:cNvSpPr/>
          <p:nvPr/>
        </p:nvSpPr>
        <p:spPr>
          <a:xfrm>
            <a:off x="1051560" y="1481328"/>
            <a:ext cx="10058400" cy="228600"/>
          </a:xfrm>
          <a:prstGeom prst="rect">
            <a:avLst/>
          </a:prstGeom>
          <a:noFill/>
          <a:ln/>
        </p:spPr>
        <p:txBody>
          <a:bodyPr wrap="square" lIns="0" tIns="0" rIns="0" bIns="0" rtlCol="0" anchor="ctr"/>
          <a:lstStyle/>
          <a:p>
            <a:pPr algn="ctr" indent="0" marL="0">
              <a:buNone/>
            </a:pPr>
            <a:r>
              <a:rPr lang="en-US" sz="1500" b="1" dirty="0">
                <a:solidFill>
                  <a:srgbClr val="0B1F4D"/>
                </a:solidFill>
              </a:rPr>
              <a:t>Objective: evaluate the operational robustness of AI-based forensic image classification systems under controlled perturbation scenarios.</a:t>
            </a:r>
            <a:endParaRPr lang="en-US" sz="1500" dirty="0"/>
          </a:p>
        </p:txBody>
      </p:sp>
      <p:sp>
        <p:nvSpPr>
          <p:cNvPr id="8" name="Shape 6"/>
          <p:cNvSpPr/>
          <p:nvPr/>
        </p:nvSpPr>
        <p:spPr>
          <a:xfrm>
            <a:off x="594360" y="2743200"/>
            <a:ext cx="2057400" cy="1920240"/>
          </a:xfrm>
          <a:prstGeom prst="roundRect">
            <a:avLst>
              <a:gd name="adj" fmla="val 4762"/>
            </a:avLst>
          </a:prstGeom>
          <a:solidFill>
            <a:srgbClr val="FFFFFF"/>
          </a:solidFill>
          <a:ln w="12700">
            <a:solidFill>
              <a:srgbClr val="D8E1E8"/>
            </a:solidFill>
            <a:prstDash val="solid"/>
          </a:ln>
        </p:spPr>
      </p:sp>
      <p:sp>
        <p:nvSpPr>
          <p:cNvPr id="9" name="Shape 7"/>
          <p:cNvSpPr/>
          <p:nvPr/>
        </p:nvSpPr>
        <p:spPr>
          <a:xfrm>
            <a:off x="1371600" y="2971800"/>
            <a:ext cx="420624" cy="420624"/>
          </a:xfrm>
          <a:prstGeom prst="ellipse">
            <a:avLst/>
          </a:prstGeom>
          <a:solidFill>
            <a:srgbClr val="0A7C80"/>
          </a:solidFill>
          <a:ln w="12700">
            <a:solidFill>
              <a:srgbClr val="0A7C80"/>
            </a:solidFill>
            <a:prstDash val="solid"/>
          </a:ln>
        </p:spPr>
      </p:sp>
      <p:sp>
        <p:nvSpPr>
          <p:cNvPr id="10" name="Text 8"/>
          <p:cNvSpPr/>
          <p:nvPr/>
        </p:nvSpPr>
        <p:spPr>
          <a:xfrm>
            <a:off x="1389888" y="30586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p:nvPr/>
        </p:nvSpPr>
        <p:spPr>
          <a:xfrm>
            <a:off x="758952" y="3520440"/>
            <a:ext cx="1737360" cy="438912"/>
          </a:xfrm>
          <a:prstGeom prst="rect">
            <a:avLst/>
          </a:prstGeom>
          <a:noFill/>
          <a:ln/>
        </p:spPr>
        <p:txBody>
          <a:bodyPr wrap="square" lIns="127" tIns="127" rIns="127" bIns="127" rtlCol="0" anchor="ctr">
            <a:normAutofit/>
          </a:bodyPr>
          <a:lstStyle/>
          <a:p>
            <a:pPr algn="ctr" indent="0" marL="0">
              <a:buNone/>
            </a:pPr>
            <a:r>
              <a:rPr lang="en-US" sz="1300" b="1" dirty="0">
                <a:solidFill>
                  <a:srgbClr val="0B1F4D"/>
                </a:solidFill>
              </a:rPr>
              <a:t>Reproducible</a:t>
            </a:r>
            <a:endParaRPr lang="en-US" sz="1300" dirty="0"/>
          </a:p>
          <a:p>
            <a:pPr algn="ctr" indent="0" marL="0">
              <a:buNone/>
            </a:pPr>
            <a:r>
              <a:rPr lang="en-US" sz="1300" b="1" dirty="0">
                <a:solidFill>
                  <a:srgbClr val="0B1F4D"/>
                </a:solidFill>
              </a:rPr>
              <a:t>evaluation protocol</a:t>
            </a:r>
            <a:endParaRPr lang="en-US" sz="1300" dirty="0"/>
          </a:p>
        </p:txBody>
      </p:sp>
      <p:sp>
        <p:nvSpPr>
          <p:cNvPr id="12" name="Text 10"/>
          <p:cNvSpPr/>
          <p:nvPr/>
        </p:nvSpPr>
        <p:spPr>
          <a:xfrm>
            <a:off x="758952" y="4114800"/>
            <a:ext cx="1737360" cy="329184"/>
          </a:xfrm>
          <a:prstGeom prst="rect">
            <a:avLst/>
          </a:prstGeom>
          <a:noFill/>
          <a:ln/>
        </p:spPr>
        <p:txBody>
          <a:bodyPr wrap="square" lIns="127" tIns="127" rIns="127" bIns="127" rtlCol="0" anchor="ctr">
            <a:normAutofit/>
          </a:bodyPr>
          <a:lstStyle/>
          <a:p>
            <a:pPr algn="ctr" indent="0" marL="0">
              <a:buNone/>
            </a:pPr>
            <a:r>
              <a:rPr lang="en-US" sz="880" dirty="0">
                <a:solidFill>
                  <a:srgbClr val="5F6F82"/>
                </a:solidFill>
              </a:rPr>
              <a:t>same inputs, same normalization</a:t>
            </a:r>
            <a:endParaRPr lang="en-US" sz="880" dirty="0"/>
          </a:p>
        </p:txBody>
      </p:sp>
      <p:sp>
        <p:nvSpPr>
          <p:cNvPr id="13" name="Shape 11"/>
          <p:cNvSpPr/>
          <p:nvPr/>
        </p:nvSpPr>
        <p:spPr>
          <a:xfrm>
            <a:off x="2926080" y="2743200"/>
            <a:ext cx="2057400" cy="1920240"/>
          </a:xfrm>
          <a:prstGeom prst="roundRect">
            <a:avLst>
              <a:gd name="adj" fmla="val 4762"/>
            </a:avLst>
          </a:prstGeom>
          <a:solidFill>
            <a:srgbClr val="FFFFFF"/>
          </a:solidFill>
          <a:ln w="12700">
            <a:solidFill>
              <a:srgbClr val="D8E1E8"/>
            </a:solidFill>
            <a:prstDash val="solid"/>
          </a:ln>
        </p:spPr>
      </p:sp>
      <p:sp>
        <p:nvSpPr>
          <p:cNvPr id="14" name="Shape 12"/>
          <p:cNvSpPr/>
          <p:nvPr/>
        </p:nvSpPr>
        <p:spPr>
          <a:xfrm>
            <a:off x="3703320" y="2971800"/>
            <a:ext cx="420624" cy="420624"/>
          </a:xfrm>
          <a:prstGeom prst="ellipse">
            <a:avLst/>
          </a:prstGeom>
          <a:solidFill>
            <a:srgbClr val="0A7C80"/>
          </a:solidFill>
          <a:ln w="12700">
            <a:solidFill>
              <a:srgbClr val="0A7C80"/>
            </a:solidFill>
            <a:prstDash val="solid"/>
          </a:ln>
        </p:spPr>
      </p:sp>
      <p:sp>
        <p:nvSpPr>
          <p:cNvPr id="15" name="Text 13"/>
          <p:cNvSpPr/>
          <p:nvPr/>
        </p:nvSpPr>
        <p:spPr>
          <a:xfrm>
            <a:off x="3721608" y="30586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3090672" y="3520440"/>
            <a:ext cx="1737360" cy="438912"/>
          </a:xfrm>
          <a:prstGeom prst="rect">
            <a:avLst/>
          </a:prstGeom>
          <a:noFill/>
          <a:ln/>
        </p:spPr>
        <p:txBody>
          <a:bodyPr wrap="square" lIns="127" tIns="127" rIns="127" bIns="127" rtlCol="0" anchor="ctr">
            <a:normAutofit/>
          </a:bodyPr>
          <a:lstStyle/>
          <a:p>
            <a:pPr algn="ctr" indent="0" marL="0">
              <a:buNone/>
            </a:pPr>
            <a:r>
              <a:rPr lang="en-US" sz="1300" b="1" dirty="0">
                <a:solidFill>
                  <a:srgbClr val="0B1F4D"/>
                </a:solidFill>
              </a:rPr>
              <a:t>Frozen forensic</a:t>
            </a:r>
            <a:endParaRPr lang="en-US" sz="1300" dirty="0"/>
          </a:p>
          <a:p>
            <a:pPr algn="ctr" indent="0" marL="0">
              <a:buNone/>
            </a:pPr>
            <a:r>
              <a:rPr lang="en-US" sz="1300" b="1" dirty="0">
                <a:solidFill>
                  <a:srgbClr val="0B1F4D"/>
                </a:solidFill>
              </a:rPr>
              <a:t>evaluation bundle</a:t>
            </a:r>
            <a:endParaRPr lang="en-US" sz="1300" dirty="0"/>
          </a:p>
        </p:txBody>
      </p:sp>
      <p:sp>
        <p:nvSpPr>
          <p:cNvPr id="17" name="Text 15"/>
          <p:cNvSpPr/>
          <p:nvPr/>
        </p:nvSpPr>
        <p:spPr>
          <a:xfrm>
            <a:off x="3090672" y="4114800"/>
            <a:ext cx="1737360" cy="329184"/>
          </a:xfrm>
          <a:prstGeom prst="rect">
            <a:avLst/>
          </a:prstGeom>
          <a:noFill/>
          <a:ln/>
        </p:spPr>
        <p:txBody>
          <a:bodyPr wrap="square" lIns="127" tIns="127" rIns="127" bIns="127" rtlCol="0" anchor="ctr">
            <a:normAutofit/>
          </a:bodyPr>
          <a:lstStyle/>
          <a:p>
            <a:pPr algn="ctr" indent="0" marL="0">
              <a:buNone/>
            </a:pPr>
            <a:r>
              <a:rPr lang="en-US" sz="880" dirty="0">
                <a:solidFill>
                  <a:srgbClr val="5F6F82"/>
                </a:solidFill>
              </a:rPr>
              <a:t>fixed dataset and metadata</a:t>
            </a:r>
            <a:endParaRPr lang="en-US" sz="880" dirty="0"/>
          </a:p>
        </p:txBody>
      </p:sp>
      <p:sp>
        <p:nvSpPr>
          <p:cNvPr id="18" name="Shape 16"/>
          <p:cNvSpPr/>
          <p:nvPr/>
        </p:nvSpPr>
        <p:spPr>
          <a:xfrm>
            <a:off x="5257800" y="2743200"/>
            <a:ext cx="2057400" cy="1920240"/>
          </a:xfrm>
          <a:prstGeom prst="roundRect">
            <a:avLst>
              <a:gd name="adj" fmla="val 4762"/>
            </a:avLst>
          </a:prstGeom>
          <a:solidFill>
            <a:srgbClr val="FFFFFF"/>
          </a:solidFill>
          <a:ln w="12700">
            <a:solidFill>
              <a:srgbClr val="D8E1E8"/>
            </a:solidFill>
            <a:prstDash val="solid"/>
          </a:ln>
        </p:spPr>
      </p:sp>
      <p:sp>
        <p:nvSpPr>
          <p:cNvPr id="19" name="Shape 17"/>
          <p:cNvSpPr/>
          <p:nvPr/>
        </p:nvSpPr>
        <p:spPr>
          <a:xfrm>
            <a:off x="6035040" y="2971800"/>
            <a:ext cx="420624" cy="420624"/>
          </a:xfrm>
          <a:prstGeom prst="ellipse">
            <a:avLst/>
          </a:prstGeom>
          <a:solidFill>
            <a:srgbClr val="0A7C80"/>
          </a:solidFill>
          <a:ln w="12700">
            <a:solidFill>
              <a:srgbClr val="0A7C80"/>
            </a:solidFill>
            <a:prstDash val="solid"/>
          </a:ln>
        </p:spPr>
      </p:sp>
      <p:sp>
        <p:nvSpPr>
          <p:cNvPr id="20" name="Text 18"/>
          <p:cNvSpPr/>
          <p:nvPr/>
        </p:nvSpPr>
        <p:spPr>
          <a:xfrm>
            <a:off x="6053328" y="30586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9"/>
          <p:cNvSpPr/>
          <p:nvPr/>
        </p:nvSpPr>
        <p:spPr>
          <a:xfrm>
            <a:off x="5422392" y="3520440"/>
            <a:ext cx="1737360" cy="438912"/>
          </a:xfrm>
          <a:prstGeom prst="rect">
            <a:avLst/>
          </a:prstGeom>
          <a:noFill/>
          <a:ln/>
        </p:spPr>
        <p:txBody>
          <a:bodyPr wrap="square" lIns="127" tIns="127" rIns="127" bIns="127" rtlCol="0" anchor="ctr">
            <a:normAutofit/>
          </a:bodyPr>
          <a:lstStyle/>
          <a:p>
            <a:pPr algn="ctr" indent="0" marL="0">
              <a:buNone/>
            </a:pPr>
            <a:r>
              <a:rPr lang="en-US" sz="1300" b="1" dirty="0">
                <a:solidFill>
                  <a:srgbClr val="0B1F4D"/>
                </a:solidFill>
              </a:rPr>
              <a:t>Proxy + black-box</a:t>
            </a:r>
            <a:endParaRPr lang="en-US" sz="1300" dirty="0"/>
          </a:p>
          <a:p>
            <a:pPr algn="ctr" indent="0" marL="0">
              <a:buNone/>
            </a:pPr>
            <a:r>
              <a:rPr lang="en-US" sz="1300" b="1" dirty="0">
                <a:solidFill>
                  <a:srgbClr val="0B1F4D"/>
                </a:solidFill>
              </a:rPr>
              <a:t>evaluation</a:t>
            </a:r>
            <a:endParaRPr lang="en-US" sz="1300" dirty="0"/>
          </a:p>
        </p:txBody>
      </p:sp>
      <p:sp>
        <p:nvSpPr>
          <p:cNvPr id="22" name="Text 20"/>
          <p:cNvSpPr/>
          <p:nvPr/>
        </p:nvSpPr>
        <p:spPr>
          <a:xfrm>
            <a:off x="5422392" y="4114800"/>
            <a:ext cx="1737360" cy="329184"/>
          </a:xfrm>
          <a:prstGeom prst="rect">
            <a:avLst/>
          </a:prstGeom>
          <a:noFill/>
          <a:ln/>
        </p:spPr>
        <p:txBody>
          <a:bodyPr wrap="square" lIns="127" tIns="127" rIns="127" bIns="127" rtlCol="0" anchor="ctr">
            <a:normAutofit/>
          </a:bodyPr>
          <a:lstStyle/>
          <a:p>
            <a:pPr algn="ctr" indent="0" marL="0">
              <a:buNone/>
            </a:pPr>
            <a:r>
              <a:rPr lang="en-US" sz="880" dirty="0">
                <a:solidFill>
                  <a:srgbClr val="5F6F82"/>
                </a:solidFill>
              </a:rPr>
              <a:t>controlled + operational views</a:t>
            </a:r>
            <a:endParaRPr lang="en-US" sz="880" dirty="0"/>
          </a:p>
        </p:txBody>
      </p:sp>
      <p:sp>
        <p:nvSpPr>
          <p:cNvPr id="23" name="Shape 21"/>
          <p:cNvSpPr/>
          <p:nvPr/>
        </p:nvSpPr>
        <p:spPr>
          <a:xfrm>
            <a:off x="7589520" y="2743200"/>
            <a:ext cx="2057400" cy="1920240"/>
          </a:xfrm>
          <a:prstGeom prst="roundRect">
            <a:avLst>
              <a:gd name="adj" fmla="val 4762"/>
            </a:avLst>
          </a:prstGeom>
          <a:solidFill>
            <a:srgbClr val="FFFFFF"/>
          </a:solidFill>
          <a:ln w="12700">
            <a:solidFill>
              <a:srgbClr val="D8E1E8"/>
            </a:solidFill>
            <a:prstDash val="solid"/>
          </a:ln>
        </p:spPr>
      </p:sp>
      <p:sp>
        <p:nvSpPr>
          <p:cNvPr id="24" name="Shape 22"/>
          <p:cNvSpPr/>
          <p:nvPr/>
        </p:nvSpPr>
        <p:spPr>
          <a:xfrm>
            <a:off x="8366760" y="2971800"/>
            <a:ext cx="420624" cy="420624"/>
          </a:xfrm>
          <a:prstGeom prst="ellipse">
            <a:avLst/>
          </a:prstGeom>
          <a:solidFill>
            <a:srgbClr val="0A7C80"/>
          </a:solidFill>
          <a:ln w="12700">
            <a:solidFill>
              <a:srgbClr val="0A7C80"/>
            </a:solidFill>
            <a:prstDash val="solid"/>
          </a:ln>
        </p:spPr>
      </p:sp>
      <p:sp>
        <p:nvSpPr>
          <p:cNvPr id="25" name="Text 23"/>
          <p:cNvSpPr/>
          <p:nvPr/>
        </p:nvSpPr>
        <p:spPr>
          <a:xfrm>
            <a:off x="8385048" y="30586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6" name="Text 24"/>
          <p:cNvSpPr/>
          <p:nvPr/>
        </p:nvSpPr>
        <p:spPr>
          <a:xfrm>
            <a:off x="7754112" y="3520440"/>
            <a:ext cx="1737360" cy="438912"/>
          </a:xfrm>
          <a:prstGeom prst="rect">
            <a:avLst/>
          </a:prstGeom>
          <a:noFill/>
          <a:ln/>
        </p:spPr>
        <p:txBody>
          <a:bodyPr wrap="square" lIns="127" tIns="127" rIns="127" bIns="127" rtlCol="0" anchor="ctr">
            <a:normAutofit/>
          </a:bodyPr>
          <a:lstStyle/>
          <a:p>
            <a:pPr algn="ctr" indent="0" marL="0">
              <a:buNone/>
            </a:pPr>
            <a:r>
              <a:rPr lang="en-US" sz="1300" b="1" dirty="0">
                <a:solidFill>
                  <a:srgbClr val="0B1F4D"/>
                </a:solidFill>
              </a:rPr>
              <a:t>Conservative</a:t>
            </a:r>
            <a:endParaRPr lang="en-US" sz="1300" dirty="0"/>
          </a:p>
          <a:p>
            <a:pPr algn="ctr" indent="0" marL="0">
              <a:buNone/>
            </a:pPr>
            <a:r>
              <a:rPr lang="en-US" sz="1300" b="1" dirty="0">
                <a:solidFill>
                  <a:srgbClr val="0B1F4D"/>
                </a:solidFill>
              </a:rPr>
              <a:t>output mapping</a:t>
            </a:r>
            <a:endParaRPr lang="en-US" sz="1300" dirty="0"/>
          </a:p>
        </p:txBody>
      </p:sp>
      <p:sp>
        <p:nvSpPr>
          <p:cNvPr id="27" name="Text 25"/>
          <p:cNvSpPr/>
          <p:nvPr/>
        </p:nvSpPr>
        <p:spPr>
          <a:xfrm>
            <a:off x="7754112" y="4114800"/>
            <a:ext cx="1737360" cy="329184"/>
          </a:xfrm>
          <a:prstGeom prst="rect">
            <a:avLst/>
          </a:prstGeom>
          <a:noFill/>
          <a:ln/>
        </p:spPr>
        <p:txBody>
          <a:bodyPr wrap="square" lIns="127" tIns="127" rIns="127" bIns="127" rtlCol="0" anchor="ctr">
            <a:normAutofit/>
          </a:bodyPr>
          <a:lstStyle/>
          <a:p>
            <a:pPr algn="ctr" indent="0" marL="0">
              <a:buNone/>
            </a:pPr>
            <a:r>
              <a:rPr lang="en-US" sz="880" dirty="0">
                <a:solidFill>
                  <a:srgbClr val="5F6F82"/>
                </a:solidFill>
              </a:rPr>
              <a:t>TP / FP / FN / TN / Unknown</a:t>
            </a:r>
            <a:endParaRPr lang="en-US" sz="880" dirty="0"/>
          </a:p>
        </p:txBody>
      </p:sp>
      <p:sp>
        <p:nvSpPr>
          <p:cNvPr id="28" name="Shape 26"/>
          <p:cNvSpPr/>
          <p:nvPr/>
        </p:nvSpPr>
        <p:spPr>
          <a:xfrm>
            <a:off x="9921240" y="2743200"/>
            <a:ext cx="2057400" cy="1920240"/>
          </a:xfrm>
          <a:prstGeom prst="roundRect">
            <a:avLst>
              <a:gd name="adj" fmla="val 4762"/>
            </a:avLst>
          </a:prstGeom>
          <a:solidFill>
            <a:srgbClr val="FFFFFF"/>
          </a:solidFill>
          <a:ln w="12700">
            <a:solidFill>
              <a:srgbClr val="D8E1E8"/>
            </a:solidFill>
            <a:prstDash val="solid"/>
          </a:ln>
        </p:spPr>
      </p:sp>
      <p:sp>
        <p:nvSpPr>
          <p:cNvPr id="29" name="Shape 27"/>
          <p:cNvSpPr/>
          <p:nvPr/>
        </p:nvSpPr>
        <p:spPr>
          <a:xfrm>
            <a:off x="10698480" y="2971800"/>
            <a:ext cx="420624" cy="420624"/>
          </a:xfrm>
          <a:prstGeom prst="ellipse">
            <a:avLst/>
          </a:prstGeom>
          <a:solidFill>
            <a:srgbClr val="E76F28"/>
          </a:solidFill>
          <a:ln w="12700">
            <a:solidFill>
              <a:srgbClr val="E76F28"/>
            </a:solidFill>
            <a:prstDash val="solid"/>
          </a:ln>
        </p:spPr>
      </p:sp>
      <p:sp>
        <p:nvSpPr>
          <p:cNvPr id="30" name="Text 28"/>
          <p:cNvSpPr/>
          <p:nvPr/>
        </p:nvSpPr>
        <p:spPr>
          <a:xfrm>
            <a:off x="10716768" y="305866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1" name="Text 29"/>
          <p:cNvSpPr/>
          <p:nvPr/>
        </p:nvSpPr>
        <p:spPr>
          <a:xfrm>
            <a:off x="10085832" y="3520440"/>
            <a:ext cx="1737360" cy="438912"/>
          </a:xfrm>
          <a:prstGeom prst="rect">
            <a:avLst/>
          </a:prstGeom>
          <a:noFill/>
          <a:ln/>
        </p:spPr>
        <p:txBody>
          <a:bodyPr wrap="square" lIns="127" tIns="127" rIns="127" bIns="127" rtlCol="0" anchor="ctr">
            <a:normAutofit/>
          </a:bodyPr>
          <a:lstStyle/>
          <a:p>
            <a:pPr algn="ctr" indent="0" marL="0">
              <a:buNone/>
            </a:pPr>
            <a:r>
              <a:rPr lang="en-US" sz="1300" b="1" dirty="0">
                <a:solidFill>
                  <a:srgbClr val="0B1F4D"/>
                </a:solidFill>
              </a:rPr>
              <a:t>Risk-oriented</a:t>
            </a:r>
            <a:endParaRPr lang="en-US" sz="1300" dirty="0"/>
          </a:p>
          <a:p>
            <a:pPr algn="ctr" indent="0" marL="0">
              <a:buNone/>
            </a:pPr>
            <a:r>
              <a:rPr lang="en-US" sz="1300" b="1" dirty="0">
                <a:solidFill>
                  <a:srgbClr val="0B1F4D"/>
                </a:solidFill>
              </a:rPr>
              <a:t>interpretation</a:t>
            </a:r>
            <a:endParaRPr lang="en-US" sz="1300" dirty="0"/>
          </a:p>
        </p:txBody>
      </p:sp>
      <p:sp>
        <p:nvSpPr>
          <p:cNvPr id="32" name="Text 30"/>
          <p:cNvSpPr/>
          <p:nvPr/>
        </p:nvSpPr>
        <p:spPr>
          <a:xfrm>
            <a:off x="10085832" y="4114800"/>
            <a:ext cx="1737360" cy="329184"/>
          </a:xfrm>
          <a:prstGeom prst="rect">
            <a:avLst/>
          </a:prstGeom>
          <a:noFill/>
          <a:ln/>
        </p:spPr>
        <p:txBody>
          <a:bodyPr wrap="square" lIns="127" tIns="127" rIns="127" bIns="127" rtlCol="0" anchor="ctr">
            <a:normAutofit/>
          </a:bodyPr>
          <a:lstStyle/>
          <a:p>
            <a:pPr algn="ctr" indent="0" marL="0">
              <a:buNone/>
            </a:pPr>
            <a:r>
              <a:rPr lang="en-US" sz="880" dirty="0">
                <a:solidFill>
                  <a:srgbClr val="5F6F82"/>
                </a:solidFill>
              </a:rPr>
              <a:t>failure modes for triage</a:t>
            </a:r>
            <a:endParaRPr lang="en-US" sz="880" dirty="0"/>
          </a:p>
        </p:txBody>
      </p:sp>
      <p:sp>
        <p:nvSpPr>
          <p:cNvPr id="33" name="Shape 31"/>
          <p:cNvSpPr/>
          <p:nvPr/>
        </p:nvSpPr>
        <p:spPr>
          <a:xfrm>
            <a:off x="2057400" y="5257800"/>
            <a:ext cx="8046720" cy="594360"/>
          </a:xfrm>
          <a:prstGeom prst="roundRect">
            <a:avLst>
              <a:gd name="adj" fmla="val 15385"/>
            </a:avLst>
          </a:prstGeom>
          <a:solidFill>
            <a:srgbClr val="FFFFFF"/>
          </a:solidFill>
          <a:ln w="16510">
            <a:solidFill>
              <a:srgbClr val="E76F28"/>
            </a:solidFill>
            <a:prstDash val="solid"/>
          </a:ln>
        </p:spPr>
      </p:sp>
      <p:sp>
        <p:nvSpPr>
          <p:cNvPr id="34" name="Text 32"/>
          <p:cNvSpPr/>
          <p:nvPr/>
        </p:nvSpPr>
        <p:spPr>
          <a:xfrm>
            <a:off x="2221992" y="5367528"/>
            <a:ext cx="7717536" cy="37490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The main contribution is not only raw performance, but a forensic evaluation protocol with traceability.</a:t>
            </a:r>
            <a:endParaRPr lang="en-US" sz="1200" dirty="0"/>
          </a:p>
        </p:txBody>
      </p:sp>
      <p:sp>
        <p:nvSpPr>
          <p:cNvPr id="35" name="Shape 33"/>
          <p:cNvSpPr/>
          <p:nvPr/>
        </p:nvSpPr>
        <p:spPr>
          <a:xfrm>
            <a:off x="411480" y="6510528"/>
            <a:ext cx="11365992" cy="0"/>
          </a:xfrm>
          <a:prstGeom prst="line">
            <a:avLst/>
          </a:prstGeom>
          <a:noFill/>
          <a:ln w="8890">
            <a:solidFill>
              <a:srgbClr val="D8E1E8"/>
            </a:solidFill>
            <a:prstDash val="solid"/>
          </a:ln>
        </p:spPr>
      </p:sp>
      <p:sp>
        <p:nvSpPr>
          <p:cNvPr id="36" name="Text 34"/>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7" name="Text 35"/>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EVALUATED SYSTEMS</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Proxy Models and Commercial Tools</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Complementary, not competing, evaluation tracks</a:t>
            </a:r>
            <a:endParaRPr lang="en-US" sz="1100" dirty="0"/>
          </a:p>
        </p:txBody>
      </p:sp>
      <p:sp>
        <p:nvSpPr>
          <p:cNvPr id="6" name="Shape 4"/>
          <p:cNvSpPr/>
          <p:nvPr/>
        </p:nvSpPr>
        <p:spPr>
          <a:xfrm>
            <a:off x="731520" y="1417320"/>
            <a:ext cx="5166360" cy="4251960"/>
          </a:xfrm>
          <a:prstGeom prst="roundRect">
            <a:avLst>
              <a:gd name="adj" fmla="val 2151"/>
            </a:avLst>
          </a:prstGeom>
          <a:solidFill>
            <a:srgbClr val="FFFFFF"/>
          </a:solidFill>
          <a:ln w="12700">
            <a:solidFill>
              <a:srgbClr val="D8E1E8"/>
            </a:solidFill>
            <a:prstDash val="solid"/>
          </a:ln>
        </p:spPr>
      </p:sp>
      <p:sp>
        <p:nvSpPr>
          <p:cNvPr id="7" name="Shape 5"/>
          <p:cNvSpPr/>
          <p:nvPr/>
        </p:nvSpPr>
        <p:spPr>
          <a:xfrm>
            <a:off x="960120" y="1664208"/>
            <a:ext cx="1828800" cy="384048"/>
          </a:xfrm>
          <a:prstGeom prst="roundRect">
            <a:avLst>
              <a:gd name="adj" fmla="val 21429"/>
            </a:avLst>
          </a:prstGeom>
          <a:solidFill>
            <a:srgbClr val="0B1F4D"/>
          </a:solidFill>
          <a:ln w="12700">
            <a:solidFill>
              <a:srgbClr val="0B1F4D"/>
            </a:solidFill>
            <a:prstDash val="solid"/>
          </a:ln>
        </p:spPr>
      </p:sp>
      <p:sp>
        <p:nvSpPr>
          <p:cNvPr id="8" name="Text 6"/>
          <p:cNvSpPr/>
          <p:nvPr/>
        </p:nvSpPr>
        <p:spPr>
          <a:xfrm>
            <a:off x="1033272" y="1760220"/>
            <a:ext cx="1682496" cy="182880"/>
          </a:xfrm>
          <a:prstGeom prst="rect">
            <a:avLst/>
          </a:prstGeom>
          <a:noFill/>
          <a:ln/>
        </p:spPr>
        <p:txBody>
          <a:bodyPr wrap="square" lIns="0" tIns="0" rIns="0" bIns="0" rtlCol="0" anchor="ctr"/>
          <a:lstStyle/>
          <a:p>
            <a:pPr algn="ctr" indent="0" marL="0">
              <a:buNone/>
            </a:pPr>
            <a:r>
              <a:rPr lang="en-US" sz="1000" b="1" dirty="0">
                <a:solidFill>
                  <a:srgbClr val="FFFFFF"/>
                </a:solidFill>
              </a:rPr>
              <a:t>PROXY MODELS</a:t>
            </a:r>
            <a:endParaRPr lang="en-US" sz="1000" dirty="0"/>
          </a:p>
        </p:txBody>
      </p:sp>
      <p:sp>
        <p:nvSpPr>
          <p:cNvPr id="9" name="Text 7"/>
          <p:cNvSpPr/>
          <p:nvPr/>
        </p:nvSpPr>
        <p:spPr>
          <a:xfrm>
            <a:off x="960120" y="2148840"/>
            <a:ext cx="2743200" cy="228600"/>
          </a:xfrm>
          <a:prstGeom prst="rect">
            <a:avLst/>
          </a:prstGeom>
          <a:noFill/>
          <a:ln/>
        </p:spPr>
        <p:txBody>
          <a:bodyPr wrap="square" lIns="0" tIns="0" rIns="0" bIns="0" rtlCol="0" anchor="ctr"/>
          <a:lstStyle/>
          <a:p>
            <a:pPr indent="0" marL="0">
              <a:buNone/>
            </a:pPr>
            <a:r>
              <a:rPr lang="en-US" sz="1100" dirty="0">
                <a:solidFill>
                  <a:srgbClr val="5F6F82"/>
                </a:solidFill>
              </a:rPr>
              <a:t>Controlled and inspectable</a:t>
            </a:r>
            <a:endParaRPr lang="en-US" sz="1100" dirty="0"/>
          </a:p>
        </p:txBody>
      </p:sp>
      <p:sp>
        <p:nvSpPr>
          <p:cNvPr id="10" name="Shape 8"/>
          <p:cNvSpPr/>
          <p:nvPr/>
        </p:nvSpPr>
        <p:spPr>
          <a:xfrm>
            <a:off x="1005840" y="2724912"/>
            <a:ext cx="73152" cy="73152"/>
          </a:xfrm>
          <a:prstGeom prst="ellipse">
            <a:avLst/>
          </a:prstGeom>
          <a:solidFill>
            <a:srgbClr val="0A7C80"/>
          </a:solidFill>
          <a:ln w="12700">
            <a:solidFill>
              <a:srgbClr val="0A7C80"/>
            </a:solidFill>
            <a:prstDash val="solid"/>
          </a:ln>
        </p:spPr>
      </p:sp>
      <p:sp>
        <p:nvSpPr>
          <p:cNvPr id="11" name="Text 9"/>
          <p:cNvSpPr/>
          <p:nvPr/>
        </p:nvSpPr>
        <p:spPr>
          <a:xfrm>
            <a:off x="1170432" y="2651760"/>
            <a:ext cx="4297680" cy="411480"/>
          </a:xfrm>
          <a:prstGeom prst="rect">
            <a:avLst/>
          </a:prstGeom>
          <a:noFill/>
          <a:ln/>
        </p:spPr>
        <p:txBody>
          <a:bodyPr wrap="square" lIns="254" tIns="254" rIns="254" bIns="254" rtlCol="0" anchor="ctr">
            <a:normAutofit/>
          </a:bodyPr>
          <a:lstStyle/>
          <a:p>
            <a:pPr indent="0" marL="0">
              <a:buNone/>
            </a:pPr>
            <a:r>
              <a:rPr lang="en-US" sz="1300" dirty="0">
                <a:solidFill>
                  <a:srgbClr val="10203B"/>
                </a:solidFill>
              </a:rPr>
              <a:t>ResNet18</a:t>
            </a:r>
            <a:endParaRPr lang="en-US" sz="1300" dirty="0"/>
          </a:p>
        </p:txBody>
      </p:sp>
      <p:sp>
        <p:nvSpPr>
          <p:cNvPr id="12" name="Shape 10"/>
          <p:cNvSpPr/>
          <p:nvPr/>
        </p:nvSpPr>
        <p:spPr>
          <a:xfrm>
            <a:off x="1005840" y="3136392"/>
            <a:ext cx="73152" cy="73152"/>
          </a:xfrm>
          <a:prstGeom prst="ellipse">
            <a:avLst/>
          </a:prstGeom>
          <a:solidFill>
            <a:srgbClr val="0A7C80"/>
          </a:solidFill>
          <a:ln w="12700">
            <a:solidFill>
              <a:srgbClr val="0A7C80"/>
            </a:solidFill>
            <a:prstDash val="solid"/>
          </a:ln>
        </p:spPr>
      </p:sp>
      <p:sp>
        <p:nvSpPr>
          <p:cNvPr id="13" name="Text 11"/>
          <p:cNvSpPr/>
          <p:nvPr/>
        </p:nvSpPr>
        <p:spPr>
          <a:xfrm>
            <a:off x="1170432" y="3063240"/>
            <a:ext cx="4297680" cy="411480"/>
          </a:xfrm>
          <a:prstGeom prst="rect">
            <a:avLst/>
          </a:prstGeom>
          <a:noFill/>
          <a:ln/>
        </p:spPr>
        <p:txBody>
          <a:bodyPr wrap="square" lIns="254" tIns="254" rIns="254" bIns="254" rtlCol="0" anchor="ctr">
            <a:normAutofit/>
          </a:bodyPr>
          <a:lstStyle/>
          <a:p>
            <a:pPr indent="0" marL="0">
              <a:buNone/>
            </a:pPr>
            <a:r>
              <a:rPr lang="en-US" sz="1300" dirty="0">
                <a:solidFill>
                  <a:srgbClr val="10203B"/>
                </a:solidFill>
              </a:rPr>
              <a:t>EfficientNet-B0 — primary adversarial target</a:t>
            </a:r>
            <a:endParaRPr lang="en-US" sz="1300" dirty="0"/>
          </a:p>
        </p:txBody>
      </p:sp>
      <p:sp>
        <p:nvSpPr>
          <p:cNvPr id="14" name="Shape 12"/>
          <p:cNvSpPr/>
          <p:nvPr/>
        </p:nvSpPr>
        <p:spPr>
          <a:xfrm>
            <a:off x="1005840" y="3547872"/>
            <a:ext cx="73152" cy="73152"/>
          </a:xfrm>
          <a:prstGeom prst="ellipse">
            <a:avLst/>
          </a:prstGeom>
          <a:solidFill>
            <a:srgbClr val="0A7C80"/>
          </a:solidFill>
          <a:ln w="12700">
            <a:solidFill>
              <a:srgbClr val="0A7C80"/>
            </a:solidFill>
            <a:prstDash val="solid"/>
          </a:ln>
        </p:spPr>
      </p:sp>
      <p:sp>
        <p:nvSpPr>
          <p:cNvPr id="15" name="Text 13"/>
          <p:cNvSpPr/>
          <p:nvPr/>
        </p:nvSpPr>
        <p:spPr>
          <a:xfrm>
            <a:off x="1170432" y="3474720"/>
            <a:ext cx="4297680" cy="411480"/>
          </a:xfrm>
          <a:prstGeom prst="rect">
            <a:avLst/>
          </a:prstGeom>
          <a:noFill/>
          <a:ln/>
        </p:spPr>
        <p:txBody>
          <a:bodyPr wrap="square" lIns="254" tIns="254" rIns="254" bIns="254" rtlCol="0" anchor="ctr">
            <a:normAutofit/>
          </a:bodyPr>
          <a:lstStyle/>
          <a:p>
            <a:pPr indent="0" marL="0">
              <a:buNone/>
            </a:pPr>
            <a:r>
              <a:rPr lang="en-US" sz="1300" dirty="0">
                <a:solidFill>
                  <a:srgbClr val="10203B"/>
                </a:solidFill>
              </a:rPr>
              <a:t>CLIP visual encoder + supervised binary head</a:t>
            </a:r>
            <a:endParaRPr lang="en-US" sz="1300" dirty="0"/>
          </a:p>
        </p:txBody>
      </p:sp>
      <p:sp>
        <p:nvSpPr>
          <p:cNvPr id="16" name="Shape 14"/>
          <p:cNvSpPr/>
          <p:nvPr/>
        </p:nvSpPr>
        <p:spPr>
          <a:xfrm>
            <a:off x="1005840" y="3959352"/>
            <a:ext cx="73152" cy="73152"/>
          </a:xfrm>
          <a:prstGeom prst="ellipse">
            <a:avLst/>
          </a:prstGeom>
          <a:solidFill>
            <a:srgbClr val="0A7C80"/>
          </a:solidFill>
          <a:ln w="12700">
            <a:solidFill>
              <a:srgbClr val="0A7C80"/>
            </a:solidFill>
            <a:prstDash val="solid"/>
          </a:ln>
        </p:spPr>
      </p:sp>
      <p:sp>
        <p:nvSpPr>
          <p:cNvPr id="17" name="Text 15"/>
          <p:cNvSpPr/>
          <p:nvPr/>
        </p:nvSpPr>
        <p:spPr>
          <a:xfrm>
            <a:off x="1170432" y="3886200"/>
            <a:ext cx="4297680" cy="411480"/>
          </a:xfrm>
          <a:prstGeom prst="rect">
            <a:avLst/>
          </a:prstGeom>
          <a:noFill/>
          <a:ln/>
        </p:spPr>
        <p:txBody>
          <a:bodyPr wrap="square" lIns="254" tIns="254" rIns="254" bIns="254" rtlCol="0" anchor="ctr">
            <a:normAutofit/>
          </a:bodyPr>
          <a:lstStyle/>
          <a:p>
            <a:pPr indent="0" marL="0">
              <a:buNone/>
            </a:pPr>
            <a:r>
              <a:rPr lang="en-US" sz="1300" dirty="0">
                <a:solidFill>
                  <a:srgbClr val="10203B"/>
                </a:solidFill>
              </a:rPr>
              <a:t>Full confidence scores, gradients, XAI</a:t>
            </a:r>
            <a:endParaRPr lang="en-US" sz="1300" dirty="0"/>
          </a:p>
        </p:txBody>
      </p:sp>
      <p:sp>
        <p:nvSpPr>
          <p:cNvPr id="18" name="Shape 16"/>
          <p:cNvSpPr/>
          <p:nvPr/>
        </p:nvSpPr>
        <p:spPr>
          <a:xfrm>
            <a:off x="6309360" y="1417320"/>
            <a:ext cx="5166360" cy="4251960"/>
          </a:xfrm>
          <a:prstGeom prst="roundRect">
            <a:avLst>
              <a:gd name="adj" fmla="val 2151"/>
            </a:avLst>
          </a:prstGeom>
          <a:solidFill>
            <a:srgbClr val="FFFFFF"/>
          </a:solidFill>
          <a:ln w="12700">
            <a:solidFill>
              <a:srgbClr val="D8E1E8"/>
            </a:solidFill>
            <a:prstDash val="solid"/>
          </a:ln>
        </p:spPr>
      </p:sp>
      <p:sp>
        <p:nvSpPr>
          <p:cNvPr id="19" name="Shape 17"/>
          <p:cNvSpPr/>
          <p:nvPr/>
        </p:nvSpPr>
        <p:spPr>
          <a:xfrm>
            <a:off x="6537960" y="1664208"/>
            <a:ext cx="3017520" cy="384048"/>
          </a:xfrm>
          <a:prstGeom prst="roundRect">
            <a:avLst>
              <a:gd name="adj" fmla="val 21429"/>
            </a:avLst>
          </a:prstGeom>
          <a:solidFill>
            <a:srgbClr val="0A7C80"/>
          </a:solidFill>
          <a:ln w="12700">
            <a:solidFill>
              <a:srgbClr val="0A7C80"/>
            </a:solidFill>
            <a:prstDash val="solid"/>
          </a:ln>
        </p:spPr>
      </p:sp>
      <p:sp>
        <p:nvSpPr>
          <p:cNvPr id="20" name="Text 18"/>
          <p:cNvSpPr/>
          <p:nvPr/>
        </p:nvSpPr>
        <p:spPr>
          <a:xfrm>
            <a:off x="6611112" y="1760220"/>
            <a:ext cx="2871216" cy="182880"/>
          </a:xfrm>
          <a:prstGeom prst="rect">
            <a:avLst/>
          </a:prstGeom>
          <a:noFill/>
          <a:ln/>
        </p:spPr>
        <p:txBody>
          <a:bodyPr wrap="square" lIns="0" tIns="0" rIns="0" bIns="0" rtlCol="0" anchor="ctr"/>
          <a:lstStyle/>
          <a:p>
            <a:pPr algn="ctr" indent="0" marL="0">
              <a:buNone/>
            </a:pPr>
            <a:r>
              <a:rPr lang="en-US" sz="1000" b="1" dirty="0">
                <a:solidFill>
                  <a:srgbClr val="FFFFFF"/>
                </a:solidFill>
              </a:rPr>
              <a:t>BLACK-BOX SOFTWARE SYSTEMS</a:t>
            </a:r>
            <a:endParaRPr lang="en-US" sz="1000" dirty="0"/>
          </a:p>
        </p:txBody>
      </p:sp>
      <p:sp>
        <p:nvSpPr>
          <p:cNvPr id="21" name="Text 19"/>
          <p:cNvSpPr/>
          <p:nvPr/>
        </p:nvSpPr>
        <p:spPr>
          <a:xfrm>
            <a:off x="6537960" y="2148840"/>
            <a:ext cx="3291840" cy="228600"/>
          </a:xfrm>
          <a:prstGeom prst="rect">
            <a:avLst/>
          </a:prstGeom>
          <a:noFill/>
          <a:ln/>
        </p:spPr>
        <p:txBody>
          <a:bodyPr wrap="square" lIns="0" tIns="0" rIns="0" bIns="0" rtlCol="0" anchor="ctr"/>
          <a:lstStyle/>
          <a:p>
            <a:pPr indent="0" marL="0">
              <a:buNone/>
            </a:pPr>
            <a:r>
              <a:rPr lang="en-US" sz="1100" dirty="0">
                <a:solidFill>
                  <a:srgbClr val="5F6F82"/>
                </a:solidFill>
              </a:rPr>
              <a:t>Operational and externally observable</a:t>
            </a:r>
            <a:endParaRPr lang="en-US" sz="1100" dirty="0"/>
          </a:p>
        </p:txBody>
      </p:sp>
      <p:sp>
        <p:nvSpPr>
          <p:cNvPr id="22" name="Shape 20"/>
          <p:cNvSpPr/>
          <p:nvPr/>
        </p:nvSpPr>
        <p:spPr>
          <a:xfrm>
            <a:off x="6583680" y="2724912"/>
            <a:ext cx="73152" cy="73152"/>
          </a:xfrm>
          <a:prstGeom prst="ellipse">
            <a:avLst/>
          </a:prstGeom>
          <a:solidFill>
            <a:srgbClr val="E76F28"/>
          </a:solidFill>
          <a:ln w="12700">
            <a:solidFill>
              <a:srgbClr val="E76F28"/>
            </a:solidFill>
            <a:prstDash val="solid"/>
          </a:ln>
        </p:spPr>
      </p:sp>
      <p:sp>
        <p:nvSpPr>
          <p:cNvPr id="23" name="Text 21"/>
          <p:cNvSpPr/>
          <p:nvPr/>
        </p:nvSpPr>
        <p:spPr>
          <a:xfrm>
            <a:off x="6748272" y="2651760"/>
            <a:ext cx="4480560" cy="384048"/>
          </a:xfrm>
          <a:prstGeom prst="rect">
            <a:avLst/>
          </a:prstGeom>
          <a:noFill/>
          <a:ln/>
        </p:spPr>
        <p:txBody>
          <a:bodyPr wrap="square" lIns="254" tIns="254" rIns="254" bIns="254" rtlCol="0" anchor="ctr">
            <a:normAutofit/>
          </a:bodyPr>
          <a:lstStyle/>
          <a:p>
            <a:pPr indent="0" marL="0">
              <a:buNone/>
            </a:pPr>
            <a:r>
              <a:rPr lang="en-US" sz="1250" dirty="0">
                <a:solidFill>
                  <a:srgbClr val="10203B"/>
                </a:solidFill>
              </a:rPr>
              <a:t>Magnet AXIOM / Magnet.AI 10.1.0.48673</a:t>
            </a:r>
            <a:endParaRPr lang="en-US" sz="1250" dirty="0"/>
          </a:p>
        </p:txBody>
      </p:sp>
      <p:sp>
        <p:nvSpPr>
          <p:cNvPr id="24" name="Shape 22"/>
          <p:cNvSpPr/>
          <p:nvPr/>
        </p:nvSpPr>
        <p:spPr>
          <a:xfrm>
            <a:off x="6583680" y="3108960"/>
            <a:ext cx="73152" cy="73152"/>
          </a:xfrm>
          <a:prstGeom prst="ellipse">
            <a:avLst/>
          </a:prstGeom>
          <a:solidFill>
            <a:srgbClr val="E76F28"/>
          </a:solidFill>
          <a:ln w="12700">
            <a:solidFill>
              <a:srgbClr val="E76F28"/>
            </a:solidFill>
            <a:prstDash val="solid"/>
          </a:ln>
        </p:spPr>
      </p:sp>
      <p:sp>
        <p:nvSpPr>
          <p:cNvPr id="25" name="Text 23"/>
          <p:cNvSpPr/>
          <p:nvPr/>
        </p:nvSpPr>
        <p:spPr>
          <a:xfrm>
            <a:off x="6748272" y="3035808"/>
            <a:ext cx="4480560" cy="384048"/>
          </a:xfrm>
          <a:prstGeom prst="rect">
            <a:avLst/>
          </a:prstGeom>
          <a:noFill/>
          <a:ln/>
        </p:spPr>
        <p:txBody>
          <a:bodyPr wrap="square" lIns="254" tIns="254" rIns="254" bIns="254" rtlCol="0" anchor="ctr">
            <a:normAutofit/>
          </a:bodyPr>
          <a:lstStyle/>
          <a:p>
            <a:pPr indent="0" marL="0">
              <a:buNone/>
            </a:pPr>
            <a:r>
              <a:rPr lang="en-US" sz="1250" dirty="0">
                <a:solidFill>
                  <a:srgbClr val="10203B"/>
                </a:solidFill>
              </a:rPr>
              <a:t>Excire Foto 2025 v4.1.5</a:t>
            </a:r>
            <a:endParaRPr lang="en-US" sz="1250" dirty="0"/>
          </a:p>
        </p:txBody>
      </p:sp>
      <p:sp>
        <p:nvSpPr>
          <p:cNvPr id="26" name="Shape 24"/>
          <p:cNvSpPr/>
          <p:nvPr/>
        </p:nvSpPr>
        <p:spPr>
          <a:xfrm>
            <a:off x="6583680" y="3493008"/>
            <a:ext cx="73152" cy="73152"/>
          </a:xfrm>
          <a:prstGeom prst="ellipse">
            <a:avLst/>
          </a:prstGeom>
          <a:solidFill>
            <a:srgbClr val="E76F28"/>
          </a:solidFill>
          <a:ln w="12700">
            <a:solidFill>
              <a:srgbClr val="E76F28"/>
            </a:solidFill>
            <a:prstDash val="solid"/>
          </a:ln>
        </p:spPr>
      </p:sp>
      <p:sp>
        <p:nvSpPr>
          <p:cNvPr id="27" name="Text 25"/>
          <p:cNvSpPr/>
          <p:nvPr/>
        </p:nvSpPr>
        <p:spPr>
          <a:xfrm>
            <a:off x="6748272" y="3419856"/>
            <a:ext cx="4480560" cy="384048"/>
          </a:xfrm>
          <a:prstGeom prst="rect">
            <a:avLst/>
          </a:prstGeom>
          <a:noFill/>
          <a:ln/>
        </p:spPr>
        <p:txBody>
          <a:bodyPr wrap="square" lIns="254" tIns="254" rIns="254" bIns="254" rtlCol="0" anchor="ctr">
            <a:normAutofit/>
          </a:bodyPr>
          <a:lstStyle/>
          <a:p>
            <a:pPr indent="0" marL="0">
              <a:buNone/>
            </a:pPr>
            <a:r>
              <a:rPr lang="en-US" sz="1250" dirty="0">
                <a:solidFill>
                  <a:srgbClr val="10203B"/>
                </a:solidFill>
              </a:rPr>
              <a:t>Cellebrite Inseyets 10.9 / PA 10.9.0.3029 export</a:t>
            </a:r>
            <a:endParaRPr lang="en-US" sz="1250" dirty="0"/>
          </a:p>
        </p:txBody>
      </p:sp>
      <p:sp>
        <p:nvSpPr>
          <p:cNvPr id="28" name="Shape 26"/>
          <p:cNvSpPr/>
          <p:nvPr/>
        </p:nvSpPr>
        <p:spPr>
          <a:xfrm>
            <a:off x="6583680" y="3877056"/>
            <a:ext cx="73152" cy="73152"/>
          </a:xfrm>
          <a:prstGeom prst="ellipse">
            <a:avLst/>
          </a:prstGeom>
          <a:solidFill>
            <a:srgbClr val="E76F28"/>
          </a:solidFill>
          <a:ln w="12700">
            <a:solidFill>
              <a:srgbClr val="E76F28"/>
            </a:solidFill>
            <a:prstDash val="solid"/>
          </a:ln>
        </p:spPr>
      </p:sp>
      <p:sp>
        <p:nvSpPr>
          <p:cNvPr id="29" name="Text 27"/>
          <p:cNvSpPr/>
          <p:nvPr/>
        </p:nvSpPr>
        <p:spPr>
          <a:xfrm>
            <a:off x="6748272" y="3803904"/>
            <a:ext cx="4480560" cy="384048"/>
          </a:xfrm>
          <a:prstGeom prst="rect">
            <a:avLst/>
          </a:prstGeom>
          <a:noFill/>
          <a:ln/>
        </p:spPr>
        <p:txBody>
          <a:bodyPr wrap="square" lIns="254" tIns="254" rIns="254" bIns="254" rtlCol="0" anchor="ctr">
            <a:normAutofit/>
          </a:bodyPr>
          <a:lstStyle/>
          <a:p>
            <a:pPr indent="0" marL="0">
              <a:buNone/>
            </a:pPr>
            <a:r>
              <a:rPr lang="en-US" sz="1250" dirty="0">
                <a:solidFill>
                  <a:srgbClr val="10203B"/>
                </a:solidFill>
              </a:rPr>
              <a:t>Magnet Griffeye / T3K CORE</a:t>
            </a:r>
            <a:endParaRPr lang="en-US" sz="1250" dirty="0"/>
          </a:p>
        </p:txBody>
      </p:sp>
      <p:sp>
        <p:nvSpPr>
          <p:cNvPr id="30" name="Shape 28"/>
          <p:cNvSpPr/>
          <p:nvPr/>
        </p:nvSpPr>
        <p:spPr>
          <a:xfrm>
            <a:off x="5623560" y="3108960"/>
            <a:ext cx="960120" cy="960120"/>
          </a:xfrm>
          <a:prstGeom prst="ellipse">
            <a:avLst/>
          </a:prstGeom>
          <a:solidFill>
            <a:srgbClr val="0B1F4D"/>
          </a:solidFill>
          <a:ln w="12700">
            <a:solidFill>
              <a:srgbClr val="0B1F4D"/>
            </a:solidFill>
            <a:prstDash val="solid"/>
          </a:ln>
        </p:spPr>
      </p:sp>
      <p:sp>
        <p:nvSpPr>
          <p:cNvPr id="31" name="Text 29"/>
          <p:cNvSpPr/>
          <p:nvPr/>
        </p:nvSpPr>
        <p:spPr>
          <a:xfrm>
            <a:off x="5769864" y="3319272"/>
            <a:ext cx="658368" cy="320040"/>
          </a:xfrm>
          <a:prstGeom prst="rect">
            <a:avLst/>
          </a:prstGeom>
          <a:noFill/>
          <a:ln/>
        </p:spPr>
        <p:txBody>
          <a:bodyPr wrap="square" lIns="0" tIns="0" rIns="0" bIns="0" rtlCol="0" anchor="ctr"/>
          <a:lstStyle/>
          <a:p>
            <a:pPr algn="ctr" indent="0" marL="0">
              <a:buNone/>
            </a:pPr>
            <a:r>
              <a:rPr lang="en-US" sz="1700" b="1" dirty="0">
                <a:solidFill>
                  <a:srgbClr val="FFFFFF"/>
                </a:solidFill>
              </a:rPr>
              <a:t>VS</a:t>
            </a:r>
            <a:endParaRPr lang="en-US" sz="1700" dirty="0"/>
          </a:p>
          <a:p>
            <a:pPr algn="ctr" indent="0" marL="0">
              <a:buNone/>
            </a:pPr>
            <a:r>
              <a:rPr lang="en-US" sz="1700" b="1" dirty="0">
                <a:solidFill>
                  <a:srgbClr val="FFFFFF"/>
                </a:solidFill>
              </a:rPr>
              <a:t>+</a:t>
            </a:r>
            <a:endParaRPr lang="en-US" sz="1700" dirty="0"/>
          </a:p>
        </p:txBody>
      </p:sp>
      <p:sp>
        <p:nvSpPr>
          <p:cNvPr id="32" name="Shape 30"/>
          <p:cNvSpPr/>
          <p:nvPr/>
        </p:nvSpPr>
        <p:spPr>
          <a:xfrm>
            <a:off x="411480" y="6510528"/>
            <a:ext cx="11365992" cy="0"/>
          </a:xfrm>
          <a:prstGeom prst="line">
            <a:avLst/>
          </a:prstGeom>
          <a:noFill/>
          <a:ln w="8890">
            <a:solidFill>
              <a:srgbClr val="D8E1E8"/>
            </a:solidFill>
            <a:prstDash val="solid"/>
          </a:ln>
        </p:spPr>
      </p:sp>
      <p:sp>
        <p:nvSpPr>
          <p:cNvPr id="33" name="Text 31"/>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4" name="Text 32"/>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DATASET</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Frozen Dataset and Evaluation Bundle</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Separate binary robustness from OOD behavior</a:t>
            </a:r>
            <a:endParaRPr lang="en-US" sz="1100" dirty="0"/>
          </a:p>
        </p:txBody>
      </p:sp>
      <p:sp>
        <p:nvSpPr>
          <p:cNvPr id="6" name="Shape 4"/>
          <p:cNvSpPr/>
          <p:nvPr/>
        </p:nvSpPr>
        <p:spPr>
          <a:xfrm>
            <a:off x="594360" y="1234440"/>
            <a:ext cx="11018520" cy="1965960"/>
          </a:xfrm>
          <a:prstGeom prst="roundRect">
            <a:avLst>
              <a:gd name="adj" fmla="val 4651"/>
            </a:avLst>
          </a:prstGeom>
          <a:solidFill>
            <a:srgbClr val="FFFFFF"/>
          </a:solidFill>
          <a:ln w="12700">
            <a:solidFill>
              <a:srgbClr val="D8E1E8"/>
            </a:solidFill>
            <a:prstDash val="solid"/>
          </a:ln>
        </p:spPr>
      </p:sp>
      <p:sp>
        <p:nvSpPr>
          <p:cNvPr id="7" name="Shape 5"/>
          <p:cNvSpPr/>
          <p:nvPr/>
        </p:nvSpPr>
        <p:spPr>
          <a:xfrm>
            <a:off x="3886200" y="1417320"/>
            <a:ext cx="4480560" cy="384048"/>
          </a:xfrm>
          <a:prstGeom prst="roundRect">
            <a:avLst>
              <a:gd name="adj" fmla="val 21429"/>
            </a:avLst>
          </a:prstGeom>
          <a:solidFill>
            <a:srgbClr val="0B1F4D"/>
          </a:solidFill>
          <a:ln w="12700">
            <a:solidFill>
              <a:srgbClr val="0B1F4D"/>
            </a:solidFill>
            <a:prstDash val="solid"/>
          </a:ln>
        </p:spPr>
      </p:sp>
      <p:sp>
        <p:nvSpPr>
          <p:cNvPr id="8" name="Text 6"/>
          <p:cNvSpPr/>
          <p:nvPr/>
        </p:nvSpPr>
        <p:spPr>
          <a:xfrm>
            <a:off x="3959352" y="1513332"/>
            <a:ext cx="4334256" cy="182880"/>
          </a:xfrm>
          <a:prstGeom prst="rect">
            <a:avLst/>
          </a:prstGeom>
          <a:noFill/>
          <a:ln/>
        </p:spPr>
        <p:txBody>
          <a:bodyPr wrap="square" lIns="0" tIns="0" rIns="0" bIns="0" rtlCol="0" anchor="ctr"/>
          <a:lstStyle/>
          <a:p>
            <a:pPr algn="ctr" indent="0" marL="0">
              <a:buNone/>
            </a:pPr>
            <a:r>
              <a:rPr lang="en-US" sz="1000" b="1" dirty="0">
                <a:solidFill>
                  <a:srgbClr val="FFFFFF"/>
                </a:solidFill>
              </a:rPr>
              <a:t>FROZEN DATASET: 1,500 CLEAN IMAGES</a:t>
            </a:r>
            <a:endParaRPr lang="en-US" sz="1000" dirty="0"/>
          </a:p>
        </p:txBody>
      </p:sp>
      <p:sp>
        <p:nvSpPr>
          <p:cNvPr id="9" name="Shape 7"/>
          <p:cNvSpPr/>
          <p:nvPr/>
        </p:nvSpPr>
        <p:spPr>
          <a:xfrm>
            <a:off x="960120" y="1874520"/>
            <a:ext cx="2971800" cy="822960"/>
          </a:xfrm>
          <a:prstGeom prst="roundRect">
            <a:avLst>
              <a:gd name="adj" fmla="val 11111"/>
            </a:avLst>
          </a:prstGeom>
          <a:solidFill>
            <a:srgbClr val="EEF5FF"/>
          </a:solidFill>
          <a:ln w="12700">
            <a:solidFill>
              <a:srgbClr val="B9CDE8"/>
            </a:solidFill>
            <a:prstDash val="solid"/>
          </a:ln>
        </p:spPr>
      </p:sp>
      <p:sp>
        <p:nvSpPr>
          <p:cNvPr id="10" name="Text 8"/>
          <p:cNvSpPr/>
          <p:nvPr/>
        </p:nvSpPr>
        <p:spPr>
          <a:xfrm>
            <a:off x="1051560" y="2057400"/>
            <a:ext cx="2743200" cy="320040"/>
          </a:xfrm>
          <a:prstGeom prst="rect">
            <a:avLst/>
          </a:prstGeom>
          <a:noFill/>
          <a:ln/>
        </p:spPr>
        <p:txBody>
          <a:bodyPr wrap="square" lIns="0" tIns="0" rIns="0" bIns="0" rtlCol="0" anchor="ctr"/>
          <a:lstStyle/>
          <a:p>
            <a:pPr algn="ctr" indent="0" marL="0">
              <a:buNone/>
            </a:pPr>
            <a:r>
              <a:rPr lang="en-US" sz="2000" b="1" dirty="0">
                <a:solidFill>
                  <a:srgbClr val="0B1F4D"/>
                </a:solidFill>
              </a:rPr>
              <a:t>500</a:t>
            </a:r>
            <a:endParaRPr lang="en-US" sz="2000" dirty="0"/>
          </a:p>
          <a:p>
            <a:pPr algn="ctr" indent="0" marL="0">
              <a:buNone/>
            </a:pPr>
            <a:r>
              <a:rPr lang="en-US" sz="2000" b="1" dirty="0">
                <a:solidFill>
                  <a:srgbClr val="0B1F4D"/>
                </a:solidFill>
              </a:rPr>
              <a:t>Weapon</a:t>
            </a:r>
            <a:endParaRPr lang="en-US" sz="2000" dirty="0"/>
          </a:p>
        </p:txBody>
      </p:sp>
      <p:sp>
        <p:nvSpPr>
          <p:cNvPr id="11" name="Shape 9"/>
          <p:cNvSpPr/>
          <p:nvPr/>
        </p:nvSpPr>
        <p:spPr>
          <a:xfrm>
            <a:off x="4617720" y="1874520"/>
            <a:ext cx="2971800" cy="822960"/>
          </a:xfrm>
          <a:prstGeom prst="roundRect">
            <a:avLst>
              <a:gd name="adj" fmla="val 11111"/>
            </a:avLst>
          </a:prstGeom>
          <a:solidFill>
            <a:srgbClr val="EAF7F8"/>
          </a:solidFill>
          <a:ln w="12700">
            <a:solidFill>
              <a:srgbClr val="A7DADB"/>
            </a:solidFill>
            <a:prstDash val="solid"/>
          </a:ln>
        </p:spPr>
      </p:sp>
      <p:sp>
        <p:nvSpPr>
          <p:cNvPr id="12" name="Text 10"/>
          <p:cNvSpPr/>
          <p:nvPr/>
        </p:nvSpPr>
        <p:spPr>
          <a:xfrm>
            <a:off x="4709160" y="2057400"/>
            <a:ext cx="2743200" cy="320040"/>
          </a:xfrm>
          <a:prstGeom prst="rect">
            <a:avLst/>
          </a:prstGeom>
          <a:noFill/>
          <a:ln/>
        </p:spPr>
        <p:txBody>
          <a:bodyPr wrap="square" lIns="0" tIns="0" rIns="0" bIns="0" rtlCol="0" anchor="ctr"/>
          <a:lstStyle/>
          <a:p>
            <a:pPr algn="ctr" indent="0" marL="0">
              <a:buNone/>
            </a:pPr>
            <a:r>
              <a:rPr lang="en-US" sz="2000" b="1" dirty="0">
                <a:solidFill>
                  <a:srgbClr val="0A7C80"/>
                </a:solidFill>
              </a:rPr>
              <a:t>500</a:t>
            </a:r>
            <a:endParaRPr lang="en-US" sz="2000" dirty="0"/>
          </a:p>
          <a:p>
            <a:pPr algn="ctr" indent="0" marL="0">
              <a:buNone/>
            </a:pPr>
            <a:r>
              <a:rPr lang="en-US" sz="2000" b="1" dirty="0">
                <a:solidFill>
                  <a:srgbClr val="0A7C80"/>
                </a:solidFill>
              </a:rPr>
              <a:t>Non-Weapon</a:t>
            </a:r>
            <a:endParaRPr lang="en-US" sz="2000" dirty="0"/>
          </a:p>
        </p:txBody>
      </p:sp>
      <p:sp>
        <p:nvSpPr>
          <p:cNvPr id="13" name="Shape 11"/>
          <p:cNvSpPr/>
          <p:nvPr/>
        </p:nvSpPr>
        <p:spPr>
          <a:xfrm>
            <a:off x="8275320" y="1874520"/>
            <a:ext cx="2971800" cy="822960"/>
          </a:xfrm>
          <a:prstGeom prst="roundRect">
            <a:avLst>
              <a:gd name="adj" fmla="val 11111"/>
            </a:avLst>
          </a:prstGeom>
          <a:solidFill>
            <a:srgbClr val="FFF2EA"/>
          </a:solidFill>
          <a:ln w="12700">
            <a:solidFill>
              <a:srgbClr val="F0B083"/>
            </a:solidFill>
            <a:prstDash val="solid"/>
          </a:ln>
        </p:spPr>
      </p:sp>
      <p:sp>
        <p:nvSpPr>
          <p:cNvPr id="14" name="Text 12"/>
          <p:cNvSpPr/>
          <p:nvPr/>
        </p:nvSpPr>
        <p:spPr>
          <a:xfrm>
            <a:off x="8366760" y="2057400"/>
            <a:ext cx="2743200" cy="320040"/>
          </a:xfrm>
          <a:prstGeom prst="rect">
            <a:avLst/>
          </a:prstGeom>
          <a:noFill/>
          <a:ln/>
        </p:spPr>
        <p:txBody>
          <a:bodyPr wrap="square" lIns="0" tIns="0" rIns="0" bIns="0" rtlCol="0" anchor="ctr"/>
          <a:lstStyle/>
          <a:p>
            <a:pPr algn="ctr" indent="0" marL="0">
              <a:buNone/>
            </a:pPr>
            <a:r>
              <a:rPr lang="en-US" sz="2000" b="1" dirty="0">
                <a:solidFill>
                  <a:srgbClr val="E76F28"/>
                </a:solidFill>
              </a:rPr>
              <a:t>500</a:t>
            </a:r>
            <a:endParaRPr lang="en-US" sz="2000" dirty="0"/>
          </a:p>
          <a:p>
            <a:pPr algn="ctr" indent="0" marL="0">
              <a:buNone/>
            </a:pPr>
            <a:r>
              <a:rPr lang="en-US" sz="2000" b="1" dirty="0">
                <a:solidFill>
                  <a:srgbClr val="E76F28"/>
                </a:solidFill>
              </a:rPr>
              <a:t>OOD</a:t>
            </a:r>
            <a:endParaRPr lang="en-US" sz="2000" dirty="0"/>
          </a:p>
        </p:txBody>
      </p:sp>
      <p:sp>
        <p:nvSpPr>
          <p:cNvPr id="15" name="Shape 13"/>
          <p:cNvSpPr/>
          <p:nvPr/>
        </p:nvSpPr>
        <p:spPr>
          <a:xfrm>
            <a:off x="960120" y="2907792"/>
            <a:ext cx="6629400" cy="0"/>
          </a:xfrm>
          <a:prstGeom prst="line">
            <a:avLst/>
          </a:prstGeom>
          <a:noFill/>
          <a:ln w="25400">
            <a:solidFill>
              <a:srgbClr val="0A7C80"/>
            </a:solidFill>
            <a:prstDash val="solid"/>
          </a:ln>
        </p:spPr>
      </p:sp>
      <p:sp>
        <p:nvSpPr>
          <p:cNvPr id="16" name="Text 14"/>
          <p:cNvSpPr/>
          <p:nvPr/>
        </p:nvSpPr>
        <p:spPr>
          <a:xfrm>
            <a:off x="1874520" y="2999232"/>
            <a:ext cx="4754880" cy="228600"/>
          </a:xfrm>
          <a:prstGeom prst="rect">
            <a:avLst/>
          </a:prstGeom>
          <a:noFill/>
          <a:ln/>
        </p:spPr>
        <p:txBody>
          <a:bodyPr wrap="square" lIns="0" tIns="0" rIns="0" bIns="0" rtlCol="0" anchor="ctr"/>
          <a:lstStyle/>
          <a:p>
            <a:pPr algn="ctr" indent="0" marL="0">
              <a:buNone/>
            </a:pPr>
            <a:r>
              <a:rPr lang="en-US" sz="1200" b="1" dirty="0">
                <a:solidFill>
                  <a:srgbClr val="0A7C80"/>
                </a:solidFill>
              </a:rPr>
              <a:t>Binary subset: 1,000 images — clean + perturbed evaluation</a:t>
            </a:r>
            <a:endParaRPr lang="en-US" sz="1200" dirty="0"/>
          </a:p>
        </p:txBody>
      </p:sp>
      <p:sp>
        <p:nvSpPr>
          <p:cNvPr id="17" name="Shape 15"/>
          <p:cNvSpPr/>
          <p:nvPr/>
        </p:nvSpPr>
        <p:spPr>
          <a:xfrm>
            <a:off x="8275320" y="2907792"/>
            <a:ext cx="2971800" cy="0"/>
          </a:xfrm>
          <a:prstGeom prst="line">
            <a:avLst/>
          </a:prstGeom>
          <a:noFill/>
          <a:ln w="25400">
            <a:solidFill>
              <a:srgbClr val="E76F28"/>
            </a:solidFill>
            <a:prstDash val="solid"/>
          </a:ln>
        </p:spPr>
      </p:sp>
      <p:sp>
        <p:nvSpPr>
          <p:cNvPr id="18" name="Text 16"/>
          <p:cNvSpPr/>
          <p:nvPr/>
        </p:nvSpPr>
        <p:spPr>
          <a:xfrm>
            <a:off x="8458200" y="2999232"/>
            <a:ext cx="2560320" cy="228600"/>
          </a:xfrm>
          <a:prstGeom prst="rect">
            <a:avLst/>
          </a:prstGeom>
          <a:noFill/>
          <a:ln/>
        </p:spPr>
        <p:txBody>
          <a:bodyPr wrap="square" lIns="0" tIns="0" rIns="0" bIns="0" rtlCol="0" anchor="ctr"/>
          <a:lstStyle/>
          <a:p>
            <a:pPr algn="ctr" indent="0" marL="0">
              <a:buNone/>
            </a:pPr>
            <a:r>
              <a:rPr lang="en-US" sz="1200" b="1" dirty="0">
                <a:solidFill>
                  <a:srgbClr val="E76F28"/>
                </a:solidFill>
              </a:rPr>
              <a:t>OOD subset: 500 — clean only</a:t>
            </a:r>
            <a:endParaRPr lang="en-US" sz="1200" dirty="0"/>
          </a:p>
        </p:txBody>
      </p:sp>
      <p:sp>
        <p:nvSpPr>
          <p:cNvPr id="19" name="Shape 17"/>
          <p:cNvSpPr/>
          <p:nvPr/>
        </p:nvSpPr>
        <p:spPr>
          <a:xfrm>
            <a:off x="594360" y="3703320"/>
            <a:ext cx="11018520" cy="1737360"/>
          </a:xfrm>
          <a:prstGeom prst="roundRect">
            <a:avLst>
              <a:gd name="adj" fmla="val 5263"/>
            </a:avLst>
          </a:prstGeom>
          <a:solidFill>
            <a:srgbClr val="FFFFFF"/>
          </a:solidFill>
          <a:ln w="12700">
            <a:solidFill>
              <a:srgbClr val="D8E1E8"/>
            </a:solidFill>
            <a:prstDash val="solid"/>
          </a:ln>
        </p:spPr>
      </p:sp>
      <p:sp>
        <p:nvSpPr>
          <p:cNvPr id="20" name="Shape 18"/>
          <p:cNvSpPr/>
          <p:nvPr/>
        </p:nvSpPr>
        <p:spPr>
          <a:xfrm>
            <a:off x="3703320" y="3886200"/>
            <a:ext cx="4754880" cy="384048"/>
          </a:xfrm>
          <a:prstGeom prst="roundRect">
            <a:avLst>
              <a:gd name="adj" fmla="val 21429"/>
            </a:avLst>
          </a:prstGeom>
          <a:solidFill>
            <a:srgbClr val="0B1F4D"/>
          </a:solidFill>
          <a:ln w="12700">
            <a:solidFill>
              <a:srgbClr val="0B1F4D"/>
            </a:solidFill>
            <a:prstDash val="solid"/>
          </a:ln>
        </p:spPr>
      </p:sp>
      <p:sp>
        <p:nvSpPr>
          <p:cNvPr id="21" name="Text 19"/>
          <p:cNvSpPr/>
          <p:nvPr/>
        </p:nvSpPr>
        <p:spPr>
          <a:xfrm>
            <a:off x="3776472" y="3982212"/>
            <a:ext cx="4608576" cy="182880"/>
          </a:xfrm>
          <a:prstGeom prst="rect">
            <a:avLst/>
          </a:prstGeom>
          <a:noFill/>
          <a:ln/>
        </p:spPr>
        <p:txBody>
          <a:bodyPr wrap="square" lIns="0" tIns="0" rIns="0" bIns="0" rtlCol="0" anchor="ctr"/>
          <a:lstStyle/>
          <a:p>
            <a:pPr algn="ctr" indent="0" marL="0">
              <a:buNone/>
            </a:pPr>
            <a:r>
              <a:rPr lang="en-US" sz="1000" b="1" dirty="0">
                <a:solidFill>
                  <a:srgbClr val="FFFFFF"/>
                </a:solidFill>
              </a:rPr>
              <a:t>FORENSIC EVALUATION BUNDLE: 11,500 FILES</a:t>
            </a:r>
            <a:endParaRPr lang="en-US" sz="1000" dirty="0"/>
          </a:p>
        </p:txBody>
      </p:sp>
      <p:sp>
        <p:nvSpPr>
          <p:cNvPr id="22" name="Shape 20"/>
          <p:cNvSpPr/>
          <p:nvPr/>
        </p:nvSpPr>
        <p:spPr>
          <a:xfrm>
            <a:off x="960120" y="4434840"/>
            <a:ext cx="2286000" cy="168250"/>
          </a:xfrm>
          <a:prstGeom prst="rect">
            <a:avLst/>
          </a:prstGeom>
          <a:solidFill>
            <a:srgbClr val="0B1F4D"/>
          </a:solidFill>
          <a:ln w="12700">
            <a:solidFill>
              <a:srgbClr val="FFFFFF">
                <a:alpha val="0"/>
              </a:srgbClr>
            </a:solidFill>
            <a:prstDash val="solid"/>
          </a:ln>
        </p:spPr>
      </p:sp>
      <p:sp>
        <p:nvSpPr>
          <p:cNvPr id="23" name="Text 21"/>
          <p:cNvSpPr/>
          <p:nvPr/>
        </p:nvSpPr>
        <p:spPr>
          <a:xfrm>
            <a:off x="987552" y="4480560"/>
            <a:ext cx="2231136" cy="95098"/>
          </a:xfrm>
          <a:prstGeom prst="rect">
            <a:avLst/>
          </a:prstGeom>
          <a:noFill/>
          <a:ln/>
        </p:spPr>
        <p:txBody>
          <a:bodyPr wrap="square" lIns="127" tIns="127" rIns="127" bIns="127" rtlCol="0" anchor="ctr">
            <a:normAutofit/>
          </a:bodyPr>
          <a:lstStyle/>
          <a:p>
            <a:pPr algn="ctr" indent="0" marL="0">
              <a:buNone/>
            </a:pPr>
            <a:r>
              <a:rPr lang="en-US" sz="850" b="1" dirty="0">
                <a:solidFill>
                  <a:srgbClr val="FFFFFF"/>
                </a:solidFill>
              </a:rPr>
              <a:t>Condition</a:t>
            </a:r>
            <a:endParaRPr lang="en-US" sz="850" dirty="0"/>
          </a:p>
        </p:txBody>
      </p:sp>
      <p:sp>
        <p:nvSpPr>
          <p:cNvPr id="24" name="Shape 22"/>
          <p:cNvSpPr/>
          <p:nvPr/>
        </p:nvSpPr>
        <p:spPr>
          <a:xfrm>
            <a:off x="3246120" y="4434840"/>
            <a:ext cx="1325880" cy="168250"/>
          </a:xfrm>
          <a:prstGeom prst="rect">
            <a:avLst/>
          </a:prstGeom>
          <a:solidFill>
            <a:srgbClr val="0B1F4D"/>
          </a:solidFill>
          <a:ln w="12700">
            <a:solidFill>
              <a:srgbClr val="FFFFFF">
                <a:alpha val="0"/>
              </a:srgbClr>
            </a:solidFill>
            <a:prstDash val="solid"/>
          </a:ln>
        </p:spPr>
      </p:sp>
      <p:sp>
        <p:nvSpPr>
          <p:cNvPr id="25" name="Text 23"/>
          <p:cNvSpPr/>
          <p:nvPr/>
        </p:nvSpPr>
        <p:spPr>
          <a:xfrm>
            <a:off x="3273552" y="4480560"/>
            <a:ext cx="1271016" cy="95098"/>
          </a:xfrm>
          <a:prstGeom prst="rect">
            <a:avLst/>
          </a:prstGeom>
          <a:noFill/>
          <a:ln/>
        </p:spPr>
        <p:txBody>
          <a:bodyPr wrap="square" lIns="127" tIns="127" rIns="127" bIns="127" rtlCol="0" anchor="ctr">
            <a:normAutofit/>
          </a:bodyPr>
          <a:lstStyle/>
          <a:p>
            <a:pPr algn="ctr" indent="0" marL="0">
              <a:buNone/>
            </a:pPr>
            <a:r>
              <a:rPr lang="en-US" sz="850" b="1" dirty="0">
                <a:solidFill>
                  <a:srgbClr val="FFFFFF"/>
                </a:solidFill>
              </a:rPr>
              <a:t>Files</a:t>
            </a:r>
            <a:endParaRPr lang="en-US" sz="850" dirty="0"/>
          </a:p>
        </p:txBody>
      </p:sp>
      <p:sp>
        <p:nvSpPr>
          <p:cNvPr id="26" name="Shape 24"/>
          <p:cNvSpPr/>
          <p:nvPr/>
        </p:nvSpPr>
        <p:spPr>
          <a:xfrm>
            <a:off x="4572000" y="4434840"/>
            <a:ext cx="6675120" cy="168250"/>
          </a:xfrm>
          <a:prstGeom prst="rect">
            <a:avLst/>
          </a:prstGeom>
          <a:solidFill>
            <a:srgbClr val="0B1F4D"/>
          </a:solidFill>
          <a:ln w="12700">
            <a:solidFill>
              <a:srgbClr val="FFFFFF">
                <a:alpha val="0"/>
              </a:srgbClr>
            </a:solidFill>
            <a:prstDash val="solid"/>
          </a:ln>
        </p:spPr>
      </p:sp>
      <p:sp>
        <p:nvSpPr>
          <p:cNvPr id="27" name="Text 25"/>
          <p:cNvSpPr/>
          <p:nvPr/>
        </p:nvSpPr>
        <p:spPr>
          <a:xfrm>
            <a:off x="4599432" y="4480560"/>
            <a:ext cx="6620256" cy="95098"/>
          </a:xfrm>
          <a:prstGeom prst="rect">
            <a:avLst/>
          </a:prstGeom>
          <a:noFill/>
          <a:ln/>
        </p:spPr>
        <p:txBody>
          <a:bodyPr wrap="square" lIns="127" tIns="127" rIns="127" bIns="127" rtlCol="0" anchor="ctr">
            <a:normAutofit/>
          </a:bodyPr>
          <a:lstStyle/>
          <a:p>
            <a:pPr algn="ctr" indent="0" marL="0">
              <a:buNone/>
            </a:pPr>
            <a:r>
              <a:rPr lang="en-US" sz="850" b="1" dirty="0">
                <a:solidFill>
                  <a:srgbClr val="FFFFFF"/>
                </a:solidFill>
              </a:rPr>
              <a:t>Role</a:t>
            </a:r>
            <a:endParaRPr lang="en-US" sz="850" dirty="0"/>
          </a:p>
        </p:txBody>
      </p:sp>
      <p:sp>
        <p:nvSpPr>
          <p:cNvPr id="28" name="Shape 26"/>
          <p:cNvSpPr/>
          <p:nvPr/>
        </p:nvSpPr>
        <p:spPr>
          <a:xfrm>
            <a:off x="960120" y="4603090"/>
            <a:ext cx="2286000" cy="168250"/>
          </a:xfrm>
          <a:prstGeom prst="rect">
            <a:avLst/>
          </a:prstGeom>
          <a:solidFill>
            <a:srgbClr val="FFFFFF"/>
          </a:solidFill>
          <a:ln w="6350">
            <a:solidFill>
              <a:srgbClr val="FFFFFF"/>
            </a:solidFill>
            <a:prstDash val="solid"/>
          </a:ln>
        </p:spPr>
      </p:sp>
      <p:sp>
        <p:nvSpPr>
          <p:cNvPr id="29" name="Text 27"/>
          <p:cNvSpPr/>
          <p:nvPr/>
        </p:nvSpPr>
        <p:spPr>
          <a:xfrm>
            <a:off x="987552" y="4639666"/>
            <a:ext cx="2231136" cy="9509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Clean</a:t>
            </a:r>
            <a:endParaRPr lang="en-US" sz="830" dirty="0"/>
          </a:p>
        </p:txBody>
      </p:sp>
      <p:sp>
        <p:nvSpPr>
          <p:cNvPr id="30" name="Shape 28"/>
          <p:cNvSpPr/>
          <p:nvPr/>
        </p:nvSpPr>
        <p:spPr>
          <a:xfrm>
            <a:off x="3246120" y="4603090"/>
            <a:ext cx="1325880" cy="168250"/>
          </a:xfrm>
          <a:prstGeom prst="rect">
            <a:avLst/>
          </a:prstGeom>
          <a:solidFill>
            <a:srgbClr val="FFFFFF"/>
          </a:solidFill>
          <a:ln w="6350">
            <a:solidFill>
              <a:srgbClr val="FFFFFF"/>
            </a:solidFill>
            <a:prstDash val="solid"/>
          </a:ln>
        </p:spPr>
      </p:sp>
      <p:sp>
        <p:nvSpPr>
          <p:cNvPr id="31" name="Text 29"/>
          <p:cNvSpPr/>
          <p:nvPr/>
        </p:nvSpPr>
        <p:spPr>
          <a:xfrm>
            <a:off x="3273552" y="4639666"/>
            <a:ext cx="127101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1,000</a:t>
            </a:r>
            <a:endParaRPr lang="en-US" sz="830" dirty="0"/>
          </a:p>
        </p:txBody>
      </p:sp>
      <p:sp>
        <p:nvSpPr>
          <p:cNvPr id="32" name="Shape 30"/>
          <p:cNvSpPr/>
          <p:nvPr/>
        </p:nvSpPr>
        <p:spPr>
          <a:xfrm>
            <a:off x="4572000" y="4603090"/>
            <a:ext cx="6675120" cy="168250"/>
          </a:xfrm>
          <a:prstGeom prst="rect">
            <a:avLst/>
          </a:prstGeom>
          <a:solidFill>
            <a:srgbClr val="FFFFFF"/>
          </a:solidFill>
          <a:ln w="6350">
            <a:solidFill>
              <a:srgbClr val="FFFFFF"/>
            </a:solidFill>
            <a:prstDash val="solid"/>
          </a:ln>
        </p:spPr>
      </p:sp>
      <p:sp>
        <p:nvSpPr>
          <p:cNvPr id="33" name="Text 31"/>
          <p:cNvSpPr/>
          <p:nvPr/>
        </p:nvSpPr>
        <p:spPr>
          <a:xfrm>
            <a:off x="4599432" y="4639666"/>
            <a:ext cx="662025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nominal binary baseline</a:t>
            </a:r>
            <a:endParaRPr lang="en-US" sz="830" dirty="0"/>
          </a:p>
        </p:txBody>
      </p:sp>
      <p:sp>
        <p:nvSpPr>
          <p:cNvPr id="34" name="Shape 32"/>
          <p:cNvSpPr/>
          <p:nvPr/>
        </p:nvSpPr>
        <p:spPr>
          <a:xfrm>
            <a:off x="960120" y="4771339"/>
            <a:ext cx="2286000" cy="168250"/>
          </a:xfrm>
          <a:prstGeom prst="rect">
            <a:avLst/>
          </a:prstGeom>
          <a:solidFill>
            <a:srgbClr val="F3F7FA"/>
          </a:solidFill>
          <a:ln w="6350">
            <a:solidFill>
              <a:srgbClr val="FFFFFF"/>
            </a:solidFill>
            <a:prstDash val="solid"/>
          </a:ln>
        </p:spPr>
      </p:sp>
      <p:sp>
        <p:nvSpPr>
          <p:cNvPr id="35" name="Text 33"/>
          <p:cNvSpPr/>
          <p:nvPr/>
        </p:nvSpPr>
        <p:spPr>
          <a:xfrm>
            <a:off x="987552" y="4807915"/>
            <a:ext cx="2231136" cy="9509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OOD</a:t>
            </a:r>
            <a:endParaRPr lang="en-US" sz="830" dirty="0"/>
          </a:p>
        </p:txBody>
      </p:sp>
      <p:sp>
        <p:nvSpPr>
          <p:cNvPr id="36" name="Shape 34"/>
          <p:cNvSpPr/>
          <p:nvPr/>
        </p:nvSpPr>
        <p:spPr>
          <a:xfrm>
            <a:off x="3246120" y="4771339"/>
            <a:ext cx="1325880" cy="168250"/>
          </a:xfrm>
          <a:prstGeom prst="rect">
            <a:avLst/>
          </a:prstGeom>
          <a:solidFill>
            <a:srgbClr val="F3F7FA"/>
          </a:solidFill>
          <a:ln w="6350">
            <a:solidFill>
              <a:srgbClr val="FFFFFF"/>
            </a:solidFill>
            <a:prstDash val="solid"/>
          </a:ln>
        </p:spPr>
      </p:sp>
      <p:sp>
        <p:nvSpPr>
          <p:cNvPr id="37" name="Text 35"/>
          <p:cNvSpPr/>
          <p:nvPr/>
        </p:nvSpPr>
        <p:spPr>
          <a:xfrm>
            <a:off x="3273552" y="4807915"/>
            <a:ext cx="127101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500</a:t>
            </a:r>
            <a:endParaRPr lang="en-US" sz="830" dirty="0"/>
          </a:p>
        </p:txBody>
      </p:sp>
      <p:sp>
        <p:nvSpPr>
          <p:cNvPr id="38" name="Shape 36"/>
          <p:cNvSpPr/>
          <p:nvPr/>
        </p:nvSpPr>
        <p:spPr>
          <a:xfrm>
            <a:off x="4572000" y="4771339"/>
            <a:ext cx="6675120" cy="168250"/>
          </a:xfrm>
          <a:prstGeom prst="rect">
            <a:avLst/>
          </a:prstGeom>
          <a:solidFill>
            <a:srgbClr val="F3F7FA"/>
          </a:solidFill>
          <a:ln w="6350">
            <a:solidFill>
              <a:srgbClr val="FFFFFF"/>
            </a:solidFill>
            <a:prstDash val="solid"/>
          </a:ln>
        </p:spPr>
      </p:sp>
      <p:sp>
        <p:nvSpPr>
          <p:cNvPr id="39" name="Text 37"/>
          <p:cNvSpPr/>
          <p:nvPr/>
        </p:nvSpPr>
        <p:spPr>
          <a:xfrm>
            <a:off x="4599432" y="4807915"/>
            <a:ext cx="662025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separate distribution-shift analysis</a:t>
            </a:r>
            <a:endParaRPr lang="en-US" sz="830" dirty="0"/>
          </a:p>
        </p:txBody>
      </p:sp>
      <p:sp>
        <p:nvSpPr>
          <p:cNvPr id="40" name="Shape 38"/>
          <p:cNvSpPr/>
          <p:nvPr/>
        </p:nvSpPr>
        <p:spPr>
          <a:xfrm>
            <a:off x="960120" y="4939589"/>
            <a:ext cx="2286000" cy="168250"/>
          </a:xfrm>
          <a:prstGeom prst="rect">
            <a:avLst/>
          </a:prstGeom>
          <a:solidFill>
            <a:srgbClr val="FFFFFF"/>
          </a:solidFill>
          <a:ln w="6350">
            <a:solidFill>
              <a:srgbClr val="FFFFFF"/>
            </a:solidFill>
            <a:prstDash val="solid"/>
          </a:ln>
        </p:spPr>
      </p:sp>
      <p:sp>
        <p:nvSpPr>
          <p:cNvPr id="41" name="Text 39"/>
          <p:cNvSpPr/>
          <p:nvPr/>
        </p:nvSpPr>
        <p:spPr>
          <a:xfrm>
            <a:off x="987552" y="4976165"/>
            <a:ext cx="2231136" cy="9509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Adversarial</a:t>
            </a:r>
            <a:endParaRPr lang="en-US" sz="830" dirty="0"/>
          </a:p>
        </p:txBody>
      </p:sp>
      <p:sp>
        <p:nvSpPr>
          <p:cNvPr id="42" name="Shape 40"/>
          <p:cNvSpPr/>
          <p:nvPr/>
        </p:nvSpPr>
        <p:spPr>
          <a:xfrm>
            <a:off x="3246120" y="4939589"/>
            <a:ext cx="1325880" cy="168250"/>
          </a:xfrm>
          <a:prstGeom prst="rect">
            <a:avLst/>
          </a:prstGeom>
          <a:solidFill>
            <a:srgbClr val="FFFFFF"/>
          </a:solidFill>
          <a:ln w="6350">
            <a:solidFill>
              <a:srgbClr val="FFFFFF"/>
            </a:solidFill>
            <a:prstDash val="solid"/>
          </a:ln>
        </p:spPr>
      </p:sp>
      <p:sp>
        <p:nvSpPr>
          <p:cNvPr id="43" name="Text 41"/>
          <p:cNvSpPr/>
          <p:nvPr/>
        </p:nvSpPr>
        <p:spPr>
          <a:xfrm>
            <a:off x="3273552" y="4976165"/>
            <a:ext cx="127101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5,000</a:t>
            </a:r>
            <a:endParaRPr lang="en-US" sz="830" dirty="0"/>
          </a:p>
        </p:txBody>
      </p:sp>
      <p:sp>
        <p:nvSpPr>
          <p:cNvPr id="44" name="Shape 42"/>
          <p:cNvSpPr/>
          <p:nvPr/>
        </p:nvSpPr>
        <p:spPr>
          <a:xfrm>
            <a:off x="4572000" y="4939589"/>
            <a:ext cx="6675120" cy="168250"/>
          </a:xfrm>
          <a:prstGeom prst="rect">
            <a:avLst/>
          </a:prstGeom>
          <a:solidFill>
            <a:srgbClr val="FFFFFF"/>
          </a:solidFill>
          <a:ln w="6350">
            <a:solidFill>
              <a:srgbClr val="FFFFFF"/>
            </a:solidFill>
            <a:prstDash val="solid"/>
          </a:ln>
        </p:spPr>
      </p:sp>
      <p:sp>
        <p:nvSpPr>
          <p:cNvPr id="45" name="Text 43"/>
          <p:cNvSpPr/>
          <p:nvPr/>
        </p:nvSpPr>
        <p:spPr>
          <a:xfrm>
            <a:off x="4599432" y="4976165"/>
            <a:ext cx="662025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five perturbations × 1,000</a:t>
            </a:r>
            <a:endParaRPr lang="en-US" sz="830" dirty="0"/>
          </a:p>
        </p:txBody>
      </p:sp>
      <p:sp>
        <p:nvSpPr>
          <p:cNvPr id="46" name="Shape 44"/>
          <p:cNvSpPr/>
          <p:nvPr/>
        </p:nvSpPr>
        <p:spPr>
          <a:xfrm>
            <a:off x="960120" y="5107838"/>
            <a:ext cx="2286000" cy="168250"/>
          </a:xfrm>
          <a:prstGeom prst="rect">
            <a:avLst/>
          </a:prstGeom>
          <a:solidFill>
            <a:srgbClr val="F3F7FA"/>
          </a:solidFill>
          <a:ln w="6350">
            <a:solidFill>
              <a:srgbClr val="FFFFFF"/>
            </a:solidFill>
            <a:prstDash val="solid"/>
          </a:ln>
        </p:spPr>
      </p:sp>
      <p:sp>
        <p:nvSpPr>
          <p:cNvPr id="47" name="Text 45"/>
          <p:cNvSpPr/>
          <p:nvPr/>
        </p:nvSpPr>
        <p:spPr>
          <a:xfrm>
            <a:off x="987552" y="5144414"/>
            <a:ext cx="2231136" cy="9509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Anti-forensic</a:t>
            </a:r>
            <a:endParaRPr lang="en-US" sz="830" dirty="0"/>
          </a:p>
        </p:txBody>
      </p:sp>
      <p:sp>
        <p:nvSpPr>
          <p:cNvPr id="48" name="Shape 46"/>
          <p:cNvSpPr/>
          <p:nvPr/>
        </p:nvSpPr>
        <p:spPr>
          <a:xfrm>
            <a:off x="3246120" y="5107838"/>
            <a:ext cx="1325880" cy="168250"/>
          </a:xfrm>
          <a:prstGeom prst="rect">
            <a:avLst/>
          </a:prstGeom>
          <a:solidFill>
            <a:srgbClr val="F3F7FA"/>
          </a:solidFill>
          <a:ln w="6350">
            <a:solidFill>
              <a:srgbClr val="FFFFFF"/>
            </a:solidFill>
            <a:prstDash val="solid"/>
          </a:ln>
        </p:spPr>
      </p:sp>
      <p:sp>
        <p:nvSpPr>
          <p:cNvPr id="49" name="Text 47"/>
          <p:cNvSpPr/>
          <p:nvPr/>
        </p:nvSpPr>
        <p:spPr>
          <a:xfrm>
            <a:off x="3273552" y="5144414"/>
            <a:ext cx="127101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5,000</a:t>
            </a:r>
            <a:endParaRPr lang="en-US" sz="830" dirty="0"/>
          </a:p>
        </p:txBody>
      </p:sp>
      <p:sp>
        <p:nvSpPr>
          <p:cNvPr id="50" name="Shape 48"/>
          <p:cNvSpPr/>
          <p:nvPr/>
        </p:nvSpPr>
        <p:spPr>
          <a:xfrm>
            <a:off x="4572000" y="5107838"/>
            <a:ext cx="6675120" cy="168250"/>
          </a:xfrm>
          <a:prstGeom prst="rect">
            <a:avLst/>
          </a:prstGeom>
          <a:solidFill>
            <a:srgbClr val="F3F7FA"/>
          </a:solidFill>
          <a:ln w="6350">
            <a:solidFill>
              <a:srgbClr val="FFFFFF"/>
            </a:solidFill>
            <a:prstDash val="solid"/>
          </a:ln>
        </p:spPr>
      </p:sp>
      <p:sp>
        <p:nvSpPr>
          <p:cNvPr id="51" name="Text 49"/>
          <p:cNvSpPr/>
          <p:nvPr/>
        </p:nvSpPr>
        <p:spPr>
          <a:xfrm>
            <a:off x="4599432" y="5144414"/>
            <a:ext cx="6620256" cy="9509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five transformations × 1,000</a:t>
            </a:r>
            <a:endParaRPr lang="en-US" sz="830" dirty="0"/>
          </a:p>
        </p:txBody>
      </p:sp>
      <p:sp>
        <p:nvSpPr>
          <p:cNvPr id="52" name="Shape 50"/>
          <p:cNvSpPr/>
          <p:nvPr/>
        </p:nvSpPr>
        <p:spPr>
          <a:xfrm>
            <a:off x="2743200" y="5715000"/>
            <a:ext cx="6675120" cy="502920"/>
          </a:xfrm>
          <a:prstGeom prst="roundRect">
            <a:avLst>
              <a:gd name="adj" fmla="val 18182"/>
            </a:avLst>
          </a:prstGeom>
          <a:solidFill>
            <a:srgbClr val="FFFFFF"/>
          </a:solidFill>
          <a:ln w="16510">
            <a:solidFill>
              <a:srgbClr val="E76F28"/>
            </a:solidFill>
            <a:prstDash val="solid"/>
          </a:ln>
        </p:spPr>
      </p:sp>
      <p:sp>
        <p:nvSpPr>
          <p:cNvPr id="53" name="Text 51"/>
          <p:cNvSpPr/>
          <p:nvPr/>
        </p:nvSpPr>
        <p:spPr>
          <a:xfrm>
            <a:off x="2907792" y="5824728"/>
            <a:ext cx="634593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Rule: the OOD branch remains clean and is evaluated separately.</a:t>
            </a:r>
            <a:endParaRPr lang="en-US" sz="1200" dirty="0"/>
          </a:p>
        </p:txBody>
      </p:sp>
      <p:sp>
        <p:nvSpPr>
          <p:cNvPr id="54" name="Shape 52"/>
          <p:cNvSpPr/>
          <p:nvPr/>
        </p:nvSpPr>
        <p:spPr>
          <a:xfrm>
            <a:off x="411480" y="6510528"/>
            <a:ext cx="11365992" cy="0"/>
          </a:xfrm>
          <a:prstGeom prst="line">
            <a:avLst/>
          </a:prstGeom>
          <a:noFill/>
          <a:ln w="8890">
            <a:solidFill>
              <a:srgbClr val="D8E1E8"/>
            </a:solidFill>
            <a:prstDash val="solid"/>
          </a:ln>
        </p:spPr>
      </p:sp>
      <p:sp>
        <p:nvSpPr>
          <p:cNvPr id="55" name="Text 53"/>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56" name="Text 54"/>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METHODOLOGY</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Experimental Protocol</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From blind bundle to normalized operational risk</a:t>
            </a:r>
            <a:endParaRPr lang="en-US" sz="1100" dirty="0"/>
          </a:p>
        </p:txBody>
      </p:sp>
      <p:sp>
        <p:nvSpPr>
          <p:cNvPr id="6" name="Shape 4"/>
          <p:cNvSpPr/>
          <p:nvPr/>
        </p:nvSpPr>
        <p:spPr>
          <a:xfrm>
            <a:off x="502920" y="1828800"/>
            <a:ext cx="1600200" cy="1234440"/>
          </a:xfrm>
          <a:prstGeom prst="roundRect">
            <a:avLst>
              <a:gd name="adj" fmla="val 7407"/>
            </a:avLst>
          </a:prstGeom>
          <a:solidFill>
            <a:srgbClr val="FFFFFF"/>
          </a:solidFill>
          <a:ln w="12700">
            <a:solidFill>
              <a:srgbClr val="D8E1E8"/>
            </a:solidFill>
            <a:prstDash val="solid"/>
          </a:ln>
        </p:spPr>
      </p:sp>
      <p:sp>
        <p:nvSpPr>
          <p:cNvPr id="7" name="Shape 5"/>
          <p:cNvSpPr/>
          <p:nvPr/>
        </p:nvSpPr>
        <p:spPr>
          <a:xfrm>
            <a:off x="1097280" y="1965960"/>
            <a:ext cx="420624" cy="420624"/>
          </a:xfrm>
          <a:prstGeom prst="ellipse">
            <a:avLst/>
          </a:prstGeom>
          <a:solidFill>
            <a:srgbClr val="0A7C80"/>
          </a:solidFill>
          <a:ln w="12700">
            <a:solidFill>
              <a:srgbClr val="0A7C80"/>
            </a:solidFill>
            <a:prstDash val="solid"/>
          </a:ln>
        </p:spPr>
      </p:sp>
      <p:sp>
        <p:nvSpPr>
          <p:cNvPr id="8" name="Text 6"/>
          <p:cNvSpPr/>
          <p:nvPr/>
        </p:nvSpPr>
        <p:spPr>
          <a:xfrm>
            <a:off x="1115568" y="20528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612648" y="2487168"/>
            <a:ext cx="1371600" cy="347472"/>
          </a:xfrm>
          <a:prstGeom prst="rect">
            <a:avLst/>
          </a:prstGeom>
          <a:noFill/>
          <a:ln/>
        </p:spPr>
        <p:txBody>
          <a:bodyPr wrap="square" lIns="127" tIns="127" rIns="127" bIns="127" rtlCol="0" anchor="ctr">
            <a:normAutofit/>
          </a:bodyPr>
          <a:lstStyle/>
          <a:p>
            <a:pPr algn="ctr" indent="0" marL="0">
              <a:buNone/>
            </a:pPr>
            <a:r>
              <a:rPr lang="en-US" sz="1080" b="1" dirty="0">
                <a:solidFill>
                  <a:srgbClr val="0B1F4D"/>
                </a:solidFill>
              </a:rPr>
              <a:t>Frozen</a:t>
            </a:r>
            <a:endParaRPr lang="en-US" sz="1080" dirty="0"/>
          </a:p>
          <a:p>
            <a:pPr algn="ctr" indent="0" marL="0">
              <a:buNone/>
            </a:pPr>
            <a:r>
              <a:rPr lang="en-US" sz="1080" b="1" dirty="0">
                <a:solidFill>
                  <a:srgbClr val="0B1F4D"/>
                </a:solidFill>
              </a:rPr>
              <a:t>evaluation bundle</a:t>
            </a:r>
            <a:endParaRPr lang="en-US" sz="1080" dirty="0"/>
          </a:p>
        </p:txBody>
      </p:sp>
      <p:sp>
        <p:nvSpPr>
          <p:cNvPr id="10" name="Shape 8"/>
          <p:cNvSpPr/>
          <p:nvPr/>
        </p:nvSpPr>
        <p:spPr>
          <a:xfrm>
            <a:off x="2148840" y="2450592"/>
            <a:ext cx="274320" cy="0"/>
          </a:xfrm>
          <a:prstGeom prst="line">
            <a:avLst/>
          </a:prstGeom>
          <a:noFill/>
          <a:ln w="19050">
            <a:solidFill>
              <a:srgbClr val="0B1F4D"/>
            </a:solidFill>
            <a:prstDash val="solid"/>
            <a:tailEnd type="triangle"/>
          </a:ln>
        </p:spPr>
      </p:sp>
      <p:sp>
        <p:nvSpPr>
          <p:cNvPr id="11" name="Shape 9"/>
          <p:cNvSpPr/>
          <p:nvPr/>
        </p:nvSpPr>
        <p:spPr>
          <a:xfrm>
            <a:off x="2423160" y="1828800"/>
            <a:ext cx="1600200" cy="1234440"/>
          </a:xfrm>
          <a:prstGeom prst="roundRect">
            <a:avLst>
              <a:gd name="adj" fmla="val 7407"/>
            </a:avLst>
          </a:prstGeom>
          <a:solidFill>
            <a:srgbClr val="FFFFFF"/>
          </a:solidFill>
          <a:ln w="12700">
            <a:solidFill>
              <a:srgbClr val="D8E1E8"/>
            </a:solidFill>
            <a:prstDash val="solid"/>
          </a:ln>
        </p:spPr>
      </p:sp>
      <p:sp>
        <p:nvSpPr>
          <p:cNvPr id="12" name="Shape 10"/>
          <p:cNvSpPr/>
          <p:nvPr/>
        </p:nvSpPr>
        <p:spPr>
          <a:xfrm>
            <a:off x="3017520" y="1965960"/>
            <a:ext cx="420624" cy="420624"/>
          </a:xfrm>
          <a:prstGeom prst="ellipse">
            <a:avLst/>
          </a:prstGeom>
          <a:solidFill>
            <a:srgbClr val="0A7C80"/>
          </a:solidFill>
          <a:ln w="12700">
            <a:solidFill>
              <a:srgbClr val="0A7C80"/>
            </a:solidFill>
            <a:prstDash val="solid"/>
          </a:ln>
        </p:spPr>
      </p:sp>
      <p:sp>
        <p:nvSpPr>
          <p:cNvPr id="13" name="Text 11"/>
          <p:cNvSpPr/>
          <p:nvPr/>
        </p:nvSpPr>
        <p:spPr>
          <a:xfrm>
            <a:off x="3035808" y="20528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2532888" y="2487168"/>
            <a:ext cx="1371600" cy="347472"/>
          </a:xfrm>
          <a:prstGeom prst="rect">
            <a:avLst/>
          </a:prstGeom>
          <a:noFill/>
          <a:ln/>
        </p:spPr>
        <p:txBody>
          <a:bodyPr wrap="square" lIns="127" tIns="127" rIns="127" bIns="127" rtlCol="0" anchor="ctr">
            <a:normAutofit/>
          </a:bodyPr>
          <a:lstStyle/>
          <a:p>
            <a:pPr algn="ctr" indent="0" marL="0">
              <a:buNone/>
            </a:pPr>
            <a:r>
              <a:rPr lang="en-US" sz="1080" b="1" dirty="0">
                <a:solidFill>
                  <a:srgbClr val="0B1F4D"/>
                </a:solidFill>
              </a:rPr>
              <a:t>Clean binary</a:t>
            </a:r>
            <a:endParaRPr lang="en-US" sz="1080" dirty="0"/>
          </a:p>
          <a:p>
            <a:pPr algn="ctr" indent="0" marL="0">
              <a:buNone/>
            </a:pPr>
            <a:r>
              <a:rPr lang="en-US" sz="1080" b="1" dirty="0">
                <a:solidFill>
                  <a:srgbClr val="0B1F4D"/>
                </a:solidFill>
              </a:rPr>
              <a:t>+ OOD branches</a:t>
            </a:r>
            <a:endParaRPr lang="en-US" sz="1080" dirty="0"/>
          </a:p>
        </p:txBody>
      </p:sp>
      <p:sp>
        <p:nvSpPr>
          <p:cNvPr id="15" name="Shape 13"/>
          <p:cNvSpPr/>
          <p:nvPr/>
        </p:nvSpPr>
        <p:spPr>
          <a:xfrm>
            <a:off x="4069080" y="2450592"/>
            <a:ext cx="274320" cy="0"/>
          </a:xfrm>
          <a:prstGeom prst="line">
            <a:avLst/>
          </a:prstGeom>
          <a:noFill/>
          <a:ln w="19050">
            <a:solidFill>
              <a:srgbClr val="0B1F4D"/>
            </a:solidFill>
            <a:prstDash val="solid"/>
            <a:tailEnd type="triangle"/>
          </a:ln>
        </p:spPr>
      </p:sp>
      <p:sp>
        <p:nvSpPr>
          <p:cNvPr id="16" name="Shape 14"/>
          <p:cNvSpPr/>
          <p:nvPr/>
        </p:nvSpPr>
        <p:spPr>
          <a:xfrm>
            <a:off x="4343400" y="1828800"/>
            <a:ext cx="1600200" cy="1234440"/>
          </a:xfrm>
          <a:prstGeom prst="roundRect">
            <a:avLst>
              <a:gd name="adj" fmla="val 7407"/>
            </a:avLst>
          </a:prstGeom>
          <a:solidFill>
            <a:srgbClr val="FFFFFF"/>
          </a:solidFill>
          <a:ln w="12700">
            <a:solidFill>
              <a:srgbClr val="D8E1E8"/>
            </a:solidFill>
            <a:prstDash val="solid"/>
          </a:ln>
        </p:spPr>
      </p:sp>
      <p:sp>
        <p:nvSpPr>
          <p:cNvPr id="17" name="Shape 15"/>
          <p:cNvSpPr/>
          <p:nvPr/>
        </p:nvSpPr>
        <p:spPr>
          <a:xfrm>
            <a:off x="4937760" y="1965960"/>
            <a:ext cx="420624" cy="420624"/>
          </a:xfrm>
          <a:prstGeom prst="ellipse">
            <a:avLst/>
          </a:prstGeom>
          <a:solidFill>
            <a:srgbClr val="0A7C80"/>
          </a:solidFill>
          <a:ln w="12700">
            <a:solidFill>
              <a:srgbClr val="0A7C80"/>
            </a:solidFill>
            <a:prstDash val="solid"/>
          </a:ln>
        </p:spPr>
      </p:sp>
      <p:sp>
        <p:nvSpPr>
          <p:cNvPr id="18" name="Text 16"/>
          <p:cNvSpPr/>
          <p:nvPr/>
        </p:nvSpPr>
        <p:spPr>
          <a:xfrm>
            <a:off x="4956048" y="20528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4453128" y="2487168"/>
            <a:ext cx="1371600" cy="347472"/>
          </a:xfrm>
          <a:prstGeom prst="rect">
            <a:avLst/>
          </a:prstGeom>
          <a:noFill/>
          <a:ln/>
        </p:spPr>
        <p:txBody>
          <a:bodyPr wrap="square" lIns="127" tIns="127" rIns="127" bIns="127" rtlCol="0" anchor="ctr">
            <a:normAutofit/>
          </a:bodyPr>
          <a:lstStyle/>
          <a:p>
            <a:pPr algn="ctr" indent="0" marL="0">
              <a:buNone/>
            </a:pPr>
            <a:r>
              <a:rPr lang="en-US" sz="1080" b="1" dirty="0">
                <a:solidFill>
                  <a:srgbClr val="0B1F4D"/>
                </a:solidFill>
              </a:rPr>
              <a:t>Proxy models</a:t>
            </a:r>
            <a:endParaRPr lang="en-US" sz="1080" dirty="0"/>
          </a:p>
          <a:p>
            <a:pPr algn="ctr" indent="0" marL="0">
              <a:buNone/>
            </a:pPr>
            <a:r>
              <a:rPr lang="en-US" sz="1080" b="1" dirty="0">
                <a:solidFill>
                  <a:srgbClr val="0B1F4D"/>
                </a:solidFill>
              </a:rPr>
              <a:t>+ black-box tools</a:t>
            </a:r>
            <a:endParaRPr lang="en-US" sz="1080" dirty="0"/>
          </a:p>
        </p:txBody>
      </p:sp>
      <p:sp>
        <p:nvSpPr>
          <p:cNvPr id="20" name="Shape 18"/>
          <p:cNvSpPr/>
          <p:nvPr/>
        </p:nvSpPr>
        <p:spPr>
          <a:xfrm>
            <a:off x="5989320" y="2450592"/>
            <a:ext cx="274320" cy="0"/>
          </a:xfrm>
          <a:prstGeom prst="line">
            <a:avLst/>
          </a:prstGeom>
          <a:noFill/>
          <a:ln w="19050">
            <a:solidFill>
              <a:srgbClr val="0B1F4D"/>
            </a:solidFill>
            <a:prstDash val="solid"/>
            <a:tailEnd type="triangle"/>
          </a:ln>
        </p:spPr>
      </p:sp>
      <p:sp>
        <p:nvSpPr>
          <p:cNvPr id="21" name="Shape 19"/>
          <p:cNvSpPr/>
          <p:nvPr/>
        </p:nvSpPr>
        <p:spPr>
          <a:xfrm>
            <a:off x="6263640" y="1828800"/>
            <a:ext cx="1600200" cy="1234440"/>
          </a:xfrm>
          <a:prstGeom prst="roundRect">
            <a:avLst>
              <a:gd name="adj" fmla="val 7407"/>
            </a:avLst>
          </a:prstGeom>
          <a:solidFill>
            <a:srgbClr val="FFF2EA"/>
          </a:solidFill>
          <a:ln w="12700">
            <a:solidFill>
              <a:srgbClr val="F0B083"/>
            </a:solidFill>
            <a:prstDash val="solid"/>
          </a:ln>
        </p:spPr>
      </p:sp>
      <p:sp>
        <p:nvSpPr>
          <p:cNvPr id="22" name="Shape 20"/>
          <p:cNvSpPr/>
          <p:nvPr/>
        </p:nvSpPr>
        <p:spPr>
          <a:xfrm>
            <a:off x="6858000" y="1965960"/>
            <a:ext cx="420624" cy="420624"/>
          </a:xfrm>
          <a:prstGeom prst="ellipse">
            <a:avLst/>
          </a:prstGeom>
          <a:solidFill>
            <a:srgbClr val="E76F28"/>
          </a:solidFill>
          <a:ln w="12700">
            <a:solidFill>
              <a:srgbClr val="E76F28"/>
            </a:solidFill>
            <a:prstDash val="solid"/>
          </a:ln>
        </p:spPr>
      </p:sp>
      <p:sp>
        <p:nvSpPr>
          <p:cNvPr id="23" name="Text 21"/>
          <p:cNvSpPr/>
          <p:nvPr/>
        </p:nvSpPr>
        <p:spPr>
          <a:xfrm>
            <a:off x="6876288" y="20528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p:nvPr/>
        </p:nvSpPr>
        <p:spPr>
          <a:xfrm>
            <a:off x="6373368" y="2487168"/>
            <a:ext cx="1371600" cy="347472"/>
          </a:xfrm>
          <a:prstGeom prst="rect">
            <a:avLst/>
          </a:prstGeom>
          <a:noFill/>
          <a:ln/>
        </p:spPr>
        <p:txBody>
          <a:bodyPr wrap="square" lIns="127" tIns="127" rIns="127" bIns="127" rtlCol="0" anchor="ctr">
            <a:normAutofit/>
          </a:bodyPr>
          <a:lstStyle/>
          <a:p>
            <a:pPr algn="ctr" indent="0" marL="0">
              <a:buNone/>
            </a:pPr>
            <a:r>
              <a:rPr lang="en-US" sz="1080" b="1" dirty="0">
                <a:solidFill>
                  <a:srgbClr val="0B1F4D"/>
                </a:solidFill>
              </a:rPr>
              <a:t>Perturbations</a:t>
            </a:r>
            <a:endParaRPr lang="en-US" sz="1080" dirty="0"/>
          </a:p>
          <a:p>
            <a:pPr algn="ctr" indent="0" marL="0">
              <a:buNone/>
            </a:pPr>
            <a:r>
              <a:rPr lang="en-US" sz="1080" b="1" dirty="0">
                <a:solidFill>
                  <a:srgbClr val="0B1F4D"/>
                </a:solidFill>
              </a:rPr>
              <a:t>(binary only)</a:t>
            </a:r>
            <a:endParaRPr lang="en-US" sz="1080" dirty="0"/>
          </a:p>
        </p:txBody>
      </p:sp>
      <p:sp>
        <p:nvSpPr>
          <p:cNvPr id="25" name="Shape 23"/>
          <p:cNvSpPr/>
          <p:nvPr/>
        </p:nvSpPr>
        <p:spPr>
          <a:xfrm>
            <a:off x="7909560" y="2450592"/>
            <a:ext cx="274320" cy="0"/>
          </a:xfrm>
          <a:prstGeom prst="line">
            <a:avLst/>
          </a:prstGeom>
          <a:noFill/>
          <a:ln w="19050">
            <a:solidFill>
              <a:srgbClr val="0B1F4D"/>
            </a:solidFill>
            <a:prstDash val="solid"/>
            <a:tailEnd type="triangle"/>
          </a:ln>
        </p:spPr>
      </p:sp>
      <p:sp>
        <p:nvSpPr>
          <p:cNvPr id="26" name="Shape 24"/>
          <p:cNvSpPr/>
          <p:nvPr/>
        </p:nvSpPr>
        <p:spPr>
          <a:xfrm>
            <a:off x="8183880" y="1828800"/>
            <a:ext cx="1600200" cy="1234440"/>
          </a:xfrm>
          <a:prstGeom prst="roundRect">
            <a:avLst>
              <a:gd name="adj" fmla="val 7407"/>
            </a:avLst>
          </a:prstGeom>
          <a:solidFill>
            <a:srgbClr val="FFFFFF"/>
          </a:solidFill>
          <a:ln w="12700">
            <a:solidFill>
              <a:srgbClr val="D8E1E8"/>
            </a:solidFill>
            <a:prstDash val="solid"/>
          </a:ln>
        </p:spPr>
      </p:sp>
      <p:sp>
        <p:nvSpPr>
          <p:cNvPr id="27" name="Shape 25"/>
          <p:cNvSpPr/>
          <p:nvPr/>
        </p:nvSpPr>
        <p:spPr>
          <a:xfrm>
            <a:off x="8778240" y="1965960"/>
            <a:ext cx="420624" cy="420624"/>
          </a:xfrm>
          <a:prstGeom prst="ellipse">
            <a:avLst/>
          </a:prstGeom>
          <a:solidFill>
            <a:srgbClr val="0A7C80"/>
          </a:solidFill>
          <a:ln w="12700">
            <a:solidFill>
              <a:srgbClr val="0A7C80"/>
            </a:solidFill>
            <a:prstDash val="solid"/>
          </a:ln>
        </p:spPr>
      </p:sp>
      <p:sp>
        <p:nvSpPr>
          <p:cNvPr id="28" name="Text 26"/>
          <p:cNvSpPr/>
          <p:nvPr/>
        </p:nvSpPr>
        <p:spPr>
          <a:xfrm>
            <a:off x="8796528" y="20528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9" name="Text 27"/>
          <p:cNvSpPr/>
          <p:nvPr/>
        </p:nvSpPr>
        <p:spPr>
          <a:xfrm>
            <a:off x="8293608" y="2487168"/>
            <a:ext cx="1371600" cy="347472"/>
          </a:xfrm>
          <a:prstGeom prst="rect">
            <a:avLst/>
          </a:prstGeom>
          <a:noFill/>
          <a:ln/>
        </p:spPr>
        <p:txBody>
          <a:bodyPr wrap="square" lIns="127" tIns="127" rIns="127" bIns="127" rtlCol="0" anchor="ctr">
            <a:normAutofit/>
          </a:bodyPr>
          <a:lstStyle/>
          <a:p>
            <a:pPr algn="ctr" indent="0" marL="0">
              <a:buNone/>
            </a:pPr>
            <a:r>
              <a:rPr lang="en-US" sz="1080" b="1" dirty="0">
                <a:solidFill>
                  <a:srgbClr val="0B1F4D"/>
                </a:solidFill>
              </a:rPr>
              <a:t>Normalization</a:t>
            </a:r>
            <a:endParaRPr lang="en-US" sz="1080" dirty="0"/>
          </a:p>
          <a:p>
            <a:pPr algn="ctr" indent="0" marL="0">
              <a:buNone/>
            </a:pPr>
            <a:r>
              <a:rPr lang="en-US" sz="1080" b="1" dirty="0">
                <a:solidFill>
                  <a:srgbClr val="0B1F4D"/>
                </a:solidFill>
              </a:rPr>
              <a:t>TP/FP/FN/TN/Unknown</a:t>
            </a:r>
            <a:endParaRPr lang="en-US" sz="1080" dirty="0"/>
          </a:p>
        </p:txBody>
      </p:sp>
      <p:sp>
        <p:nvSpPr>
          <p:cNvPr id="30" name="Shape 28"/>
          <p:cNvSpPr/>
          <p:nvPr/>
        </p:nvSpPr>
        <p:spPr>
          <a:xfrm>
            <a:off x="9829800" y="2450592"/>
            <a:ext cx="274320" cy="0"/>
          </a:xfrm>
          <a:prstGeom prst="line">
            <a:avLst/>
          </a:prstGeom>
          <a:noFill/>
          <a:ln w="19050">
            <a:solidFill>
              <a:srgbClr val="0B1F4D"/>
            </a:solidFill>
            <a:prstDash val="solid"/>
            <a:tailEnd type="triangle"/>
          </a:ln>
        </p:spPr>
      </p:sp>
      <p:sp>
        <p:nvSpPr>
          <p:cNvPr id="31" name="Shape 29"/>
          <p:cNvSpPr/>
          <p:nvPr/>
        </p:nvSpPr>
        <p:spPr>
          <a:xfrm>
            <a:off x="10104120" y="1828800"/>
            <a:ext cx="1600200" cy="1234440"/>
          </a:xfrm>
          <a:prstGeom prst="roundRect">
            <a:avLst>
              <a:gd name="adj" fmla="val 7407"/>
            </a:avLst>
          </a:prstGeom>
          <a:solidFill>
            <a:srgbClr val="FFFFFF"/>
          </a:solidFill>
          <a:ln w="12700">
            <a:solidFill>
              <a:srgbClr val="D8E1E8"/>
            </a:solidFill>
            <a:prstDash val="solid"/>
          </a:ln>
        </p:spPr>
      </p:sp>
      <p:sp>
        <p:nvSpPr>
          <p:cNvPr id="32" name="Shape 30"/>
          <p:cNvSpPr/>
          <p:nvPr/>
        </p:nvSpPr>
        <p:spPr>
          <a:xfrm>
            <a:off x="10698480" y="1965960"/>
            <a:ext cx="420624" cy="420624"/>
          </a:xfrm>
          <a:prstGeom prst="ellipse">
            <a:avLst/>
          </a:prstGeom>
          <a:solidFill>
            <a:srgbClr val="0A7C80"/>
          </a:solidFill>
          <a:ln w="12700">
            <a:solidFill>
              <a:srgbClr val="0A7C80"/>
            </a:solidFill>
            <a:prstDash val="solid"/>
          </a:ln>
        </p:spPr>
      </p:sp>
      <p:sp>
        <p:nvSpPr>
          <p:cNvPr id="33" name="Text 31"/>
          <p:cNvSpPr/>
          <p:nvPr/>
        </p:nvSpPr>
        <p:spPr>
          <a:xfrm>
            <a:off x="10716768" y="205282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4" name="Text 32"/>
          <p:cNvSpPr/>
          <p:nvPr/>
        </p:nvSpPr>
        <p:spPr>
          <a:xfrm>
            <a:off x="10213848" y="2487168"/>
            <a:ext cx="1371600" cy="347472"/>
          </a:xfrm>
          <a:prstGeom prst="rect">
            <a:avLst/>
          </a:prstGeom>
          <a:noFill/>
          <a:ln/>
        </p:spPr>
        <p:txBody>
          <a:bodyPr wrap="square" lIns="127" tIns="127" rIns="127" bIns="127" rtlCol="0" anchor="ctr">
            <a:normAutofit/>
          </a:bodyPr>
          <a:lstStyle/>
          <a:p>
            <a:pPr algn="ctr" indent="0" marL="0">
              <a:buNone/>
            </a:pPr>
            <a:r>
              <a:rPr lang="en-US" sz="1080" b="1" dirty="0">
                <a:solidFill>
                  <a:srgbClr val="0B1F4D"/>
                </a:solidFill>
              </a:rPr>
              <a:t>Metrics, XAI</a:t>
            </a:r>
            <a:endParaRPr lang="en-US" sz="1080" dirty="0"/>
          </a:p>
          <a:p>
            <a:pPr algn="ctr" indent="0" marL="0">
              <a:buNone/>
            </a:pPr>
            <a:r>
              <a:rPr lang="en-US" sz="1080" b="1" dirty="0">
                <a:solidFill>
                  <a:srgbClr val="0B1F4D"/>
                </a:solidFill>
              </a:rPr>
              <a:t>traceability, risk</a:t>
            </a:r>
            <a:endParaRPr lang="en-US" sz="1080" dirty="0"/>
          </a:p>
        </p:txBody>
      </p:sp>
      <p:sp>
        <p:nvSpPr>
          <p:cNvPr id="35" name="Shape 33"/>
          <p:cNvSpPr/>
          <p:nvPr/>
        </p:nvSpPr>
        <p:spPr>
          <a:xfrm>
            <a:off x="914400" y="3886200"/>
            <a:ext cx="4937760" cy="1234440"/>
          </a:xfrm>
          <a:prstGeom prst="roundRect">
            <a:avLst>
              <a:gd name="adj" fmla="val 7407"/>
            </a:avLst>
          </a:prstGeom>
          <a:solidFill>
            <a:srgbClr val="EAF7F8"/>
          </a:solidFill>
          <a:ln w="12700">
            <a:solidFill>
              <a:srgbClr val="A7DADB"/>
            </a:solidFill>
            <a:prstDash val="solid"/>
          </a:ln>
        </p:spPr>
      </p:sp>
      <p:sp>
        <p:nvSpPr>
          <p:cNvPr id="36" name="Text 34"/>
          <p:cNvSpPr/>
          <p:nvPr/>
        </p:nvSpPr>
        <p:spPr>
          <a:xfrm>
            <a:off x="1143000" y="4087368"/>
            <a:ext cx="1645920" cy="201168"/>
          </a:xfrm>
          <a:prstGeom prst="rect">
            <a:avLst/>
          </a:prstGeom>
          <a:noFill/>
          <a:ln/>
        </p:spPr>
        <p:txBody>
          <a:bodyPr wrap="square" lIns="0" tIns="0" rIns="0" bIns="0" rtlCol="0" anchor="ctr"/>
          <a:lstStyle/>
          <a:p>
            <a:pPr indent="0" marL="0">
              <a:buNone/>
            </a:pPr>
            <a:r>
              <a:rPr lang="en-US" sz="1400" b="1" dirty="0">
                <a:solidFill>
                  <a:srgbClr val="0A7C80"/>
                </a:solidFill>
              </a:rPr>
              <a:t>Traceability layer</a:t>
            </a:r>
            <a:endParaRPr lang="en-US" sz="1400" dirty="0"/>
          </a:p>
        </p:txBody>
      </p:sp>
      <p:sp>
        <p:nvSpPr>
          <p:cNvPr id="37" name="Shape 35"/>
          <p:cNvSpPr/>
          <p:nvPr/>
        </p:nvSpPr>
        <p:spPr>
          <a:xfrm>
            <a:off x="1143000" y="4535424"/>
            <a:ext cx="73152" cy="73152"/>
          </a:xfrm>
          <a:prstGeom prst="ellipse">
            <a:avLst/>
          </a:prstGeom>
          <a:solidFill>
            <a:srgbClr val="0A7C80"/>
          </a:solidFill>
          <a:ln w="12700">
            <a:solidFill>
              <a:srgbClr val="0A7C80"/>
            </a:solidFill>
            <a:prstDash val="solid"/>
          </a:ln>
        </p:spPr>
      </p:sp>
      <p:sp>
        <p:nvSpPr>
          <p:cNvPr id="38" name="Text 36"/>
          <p:cNvSpPr/>
          <p:nvPr/>
        </p:nvSpPr>
        <p:spPr>
          <a:xfrm>
            <a:off x="1307592" y="4462272"/>
            <a:ext cx="4389120" cy="256032"/>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logs, metadata and hashes</a:t>
            </a:r>
            <a:endParaRPr lang="en-US" sz="1080" dirty="0"/>
          </a:p>
        </p:txBody>
      </p:sp>
      <p:sp>
        <p:nvSpPr>
          <p:cNvPr id="39" name="Shape 37"/>
          <p:cNvSpPr/>
          <p:nvPr/>
        </p:nvSpPr>
        <p:spPr>
          <a:xfrm>
            <a:off x="1143000" y="4791456"/>
            <a:ext cx="73152" cy="73152"/>
          </a:xfrm>
          <a:prstGeom prst="ellipse">
            <a:avLst/>
          </a:prstGeom>
          <a:solidFill>
            <a:srgbClr val="0A7C80"/>
          </a:solidFill>
          <a:ln w="12700">
            <a:solidFill>
              <a:srgbClr val="0A7C80"/>
            </a:solidFill>
            <a:prstDash val="solid"/>
          </a:ln>
        </p:spPr>
      </p:sp>
      <p:sp>
        <p:nvSpPr>
          <p:cNvPr id="40" name="Text 38"/>
          <p:cNvSpPr/>
          <p:nvPr/>
        </p:nvSpPr>
        <p:spPr>
          <a:xfrm>
            <a:off x="1307592" y="4718304"/>
            <a:ext cx="4389120" cy="256032"/>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versioned scripts and outputs</a:t>
            </a:r>
            <a:endParaRPr lang="en-US" sz="1080" dirty="0"/>
          </a:p>
        </p:txBody>
      </p:sp>
      <p:sp>
        <p:nvSpPr>
          <p:cNvPr id="41" name="Shape 39"/>
          <p:cNvSpPr/>
          <p:nvPr/>
        </p:nvSpPr>
        <p:spPr>
          <a:xfrm>
            <a:off x="1143000" y="5047488"/>
            <a:ext cx="73152" cy="73152"/>
          </a:xfrm>
          <a:prstGeom prst="ellipse">
            <a:avLst/>
          </a:prstGeom>
          <a:solidFill>
            <a:srgbClr val="0A7C80"/>
          </a:solidFill>
          <a:ln w="12700">
            <a:solidFill>
              <a:srgbClr val="0A7C80"/>
            </a:solidFill>
            <a:prstDash val="solid"/>
          </a:ln>
        </p:spPr>
      </p:sp>
      <p:sp>
        <p:nvSpPr>
          <p:cNvPr id="42" name="Text 40"/>
          <p:cNvSpPr/>
          <p:nvPr/>
        </p:nvSpPr>
        <p:spPr>
          <a:xfrm>
            <a:off x="1307592" y="4974336"/>
            <a:ext cx="4389120" cy="256032"/>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post-export matching</a:t>
            </a:r>
            <a:endParaRPr lang="en-US" sz="1080" dirty="0"/>
          </a:p>
        </p:txBody>
      </p:sp>
      <p:sp>
        <p:nvSpPr>
          <p:cNvPr id="43" name="Shape 41"/>
          <p:cNvSpPr/>
          <p:nvPr/>
        </p:nvSpPr>
        <p:spPr>
          <a:xfrm>
            <a:off x="6400800" y="3886200"/>
            <a:ext cx="4937760" cy="1234440"/>
          </a:xfrm>
          <a:prstGeom prst="roundRect">
            <a:avLst>
              <a:gd name="adj" fmla="val 7407"/>
            </a:avLst>
          </a:prstGeom>
          <a:solidFill>
            <a:srgbClr val="EEF5FF"/>
          </a:solidFill>
          <a:ln w="12700">
            <a:solidFill>
              <a:srgbClr val="B9CDE8"/>
            </a:solidFill>
            <a:prstDash val="solid"/>
          </a:ln>
        </p:spPr>
      </p:sp>
      <p:sp>
        <p:nvSpPr>
          <p:cNvPr id="44" name="Text 42"/>
          <p:cNvSpPr/>
          <p:nvPr/>
        </p:nvSpPr>
        <p:spPr>
          <a:xfrm>
            <a:off x="6629400" y="4087368"/>
            <a:ext cx="2194560" cy="201168"/>
          </a:xfrm>
          <a:prstGeom prst="rect">
            <a:avLst/>
          </a:prstGeom>
          <a:noFill/>
          <a:ln/>
        </p:spPr>
        <p:txBody>
          <a:bodyPr wrap="square" lIns="0" tIns="0" rIns="0" bIns="0" rtlCol="0" anchor="ctr"/>
          <a:lstStyle/>
          <a:p>
            <a:pPr indent="0" marL="0">
              <a:buNone/>
            </a:pPr>
            <a:r>
              <a:rPr lang="en-US" sz="1400" b="1" dirty="0">
                <a:solidFill>
                  <a:srgbClr val="0B1F4D"/>
                </a:solidFill>
              </a:rPr>
              <a:t>Comparable output layer</a:t>
            </a:r>
            <a:endParaRPr lang="en-US" sz="1400" dirty="0"/>
          </a:p>
        </p:txBody>
      </p:sp>
      <p:sp>
        <p:nvSpPr>
          <p:cNvPr id="45" name="Shape 43"/>
          <p:cNvSpPr/>
          <p:nvPr/>
        </p:nvSpPr>
        <p:spPr>
          <a:xfrm>
            <a:off x="6629400" y="4535424"/>
            <a:ext cx="73152" cy="73152"/>
          </a:xfrm>
          <a:prstGeom prst="ellipse">
            <a:avLst/>
          </a:prstGeom>
          <a:solidFill>
            <a:srgbClr val="0B1F4D"/>
          </a:solidFill>
          <a:ln w="12700">
            <a:solidFill>
              <a:srgbClr val="0B1F4D"/>
            </a:solidFill>
            <a:prstDash val="solid"/>
          </a:ln>
        </p:spPr>
      </p:sp>
      <p:sp>
        <p:nvSpPr>
          <p:cNvPr id="46" name="Text 44"/>
          <p:cNvSpPr/>
          <p:nvPr/>
        </p:nvSpPr>
        <p:spPr>
          <a:xfrm>
            <a:off x="6793992" y="4462272"/>
            <a:ext cx="4389120" cy="256032"/>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commercial labels mapped conservatively</a:t>
            </a:r>
            <a:endParaRPr lang="en-US" sz="1080" dirty="0"/>
          </a:p>
        </p:txBody>
      </p:sp>
      <p:sp>
        <p:nvSpPr>
          <p:cNvPr id="47" name="Shape 45"/>
          <p:cNvSpPr/>
          <p:nvPr/>
        </p:nvSpPr>
        <p:spPr>
          <a:xfrm>
            <a:off x="6629400" y="4791456"/>
            <a:ext cx="73152" cy="73152"/>
          </a:xfrm>
          <a:prstGeom prst="ellipse">
            <a:avLst/>
          </a:prstGeom>
          <a:solidFill>
            <a:srgbClr val="0B1F4D"/>
          </a:solidFill>
          <a:ln w="12700">
            <a:solidFill>
              <a:srgbClr val="0B1F4D"/>
            </a:solidFill>
            <a:prstDash val="solid"/>
          </a:ln>
        </p:spPr>
      </p:sp>
      <p:sp>
        <p:nvSpPr>
          <p:cNvPr id="48" name="Text 46"/>
          <p:cNvSpPr/>
          <p:nvPr/>
        </p:nvSpPr>
        <p:spPr>
          <a:xfrm>
            <a:off x="6793992" y="4718304"/>
            <a:ext cx="4389120" cy="256032"/>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unknown cases preserved</a:t>
            </a:r>
            <a:endParaRPr lang="en-US" sz="1080" dirty="0"/>
          </a:p>
        </p:txBody>
      </p:sp>
      <p:sp>
        <p:nvSpPr>
          <p:cNvPr id="49" name="Shape 47"/>
          <p:cNvSpPr/>
          <p:nvPr/>
        </p:nvSpPr>
        <p:spPr>
          <a:xfrm>
            <a:off x="6629400" y="5047488"/>
            <a:ext cx="73152" cy="73152"/>
          </a:xfrm>
          <a:prstGeom prst="ellipse">
            <a:avLst/>
          </a:prstGeom>
          <a:solidFill>
            <a:srgbClr val="0B1F4D"/>
          </a:solidFill>
          <a:ln w="12700">
            <a:solidFill>
              <a:srgbClr val="0B1F4D"/>
            </a:solidFill>
            <a:prstDash val="solid"/>
          </a:ln>
        </p:spPr>
      </p:sp>
      <p:sp>
        <p:nvSpPr>
          <p:cNvPr id="50" name="Text 48"/>
          <p:cNvSpPr/>
          <p:nvPr/>
        </p:nvSpPr>
        <p:spPr>
          <a:xfrm>
            <a:off x="6793992" y="4974336"/>
            <a:ext cx="4389120" cy="256032"/>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binary metrics exclude OOD</a:t>
            </a:r>
            <a:endParaRPr lang="en-US" sz="1080" dirty="0"/>
          </a:p>
        </p:txBody>
      </p:sp>
      <p:sp>
        <p:nvSpPr>
          <p:cNvPr id="51" name="Shape 49"/>
          <p:cNvSpPr/>
          <p:nvPr/>
        </p:nvSpPr>
        <p:spPr>
          <a:xfrm>
            <a:off x="2103120" y="5623560"/>
            <a:ext cx="7863840" cy="502920"/>
          </a:xfrm>
          <a:prstGeom prst="roundRect">
            <a:avLst>
              <a:gd name="adj" fmla="val 18182"/>
            </a:avLst>
          </a:prstGeom>
          <a:solidFill>
            <a:srgbClr val="FFFFFF"/>
          </a:solidFill>
          <a:ln w="16510">
            <a:solidFill>
              <a:srgbClr val="E76F28"/>
            </a:solidFill>
            <a:prstDash val="solid"/>
          </a:ln>
        </p:spPr>
      </p:sp>
      <p:sp>
        <p:nvSpPr>
          <p:cNvPr id="52" name="Text 50"/>
          <p:cNvSpPr/>
          <p:nvPr/>
        </p:nvSpPr>
        <p:spPr>
          <a:xfrm>
            <a:off x="2267712" y="5733288"/>
            <a:ext cx="753465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Heterogeneous systems become comparable only after controlled input and conservative normalization.</a:t>
            </a:r>
            <a:endParaRPr lang="en-US" sz="1200" dirty="0"/>
          </a:p>
        </p:txBody>
      </p:sp>
      <p:sp>
        <p:nvSpPr>
          <p:cNvPr id="53" name="Shape 51"/>
          <p:cNvSpPr/>
          <p:nvPr/>
        </p:nvSpPr>
        <p:spPr>
          <a:xfrm>
            <a:off x="411480" y="6510528"/>
            <a:ext cx="11365992" cy="0"/>
          </a:xfrm>
          <a:prstGeom prst="line">
            <a:avLst/>
          </a:prstGeom>
          <a:noFill/>
          <a:ln w="8890">
            <a:solidFill>
              <a:srgbClr val="D8E1E8"/>
            </a:solidFill>
            <a:prstDash val="solid"/>
          </a:ln>
        </p:spPr>
      </p:sp>
      <p:sp>
        <p:nvSpPr>
          <p:cNvPr id="54" name="Text 52"/>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55" name="Text 53"/>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THREAT MODEL</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Perturbation Design</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Controlled stressors applied only to the binary subset</a:t>
            </a:r>
            <a:endParaRPr lang="en-US" sz="1100" dirty="0"/>
          </a:p>
        </p:txBody>
      </p:sp>
      <p:sp>
        <p:nvSpPr>
          <p:cNvPr id="6" name="Shape 4"/>
          <p:cNvSpPr/>
          <p:nvPr/>
        </p:nvSpPr>
        <p:spPr>
          <a:xfrm>
            <a:off x="731520" y="1325880"/>
            <a:ext cx="5257800" cy="4251960"/>
          </a:xfrm>
          <a:prstGeom prst="roundRect">
            <a:avLst>
              <a:gd name="adj" fmla="val 2151"/>
            </a:avLst>
          </a:prstGeom>
          <a:solidFill>
            <a:srgbClr val="FFF2EA"/>
          </a:solidFill>
          <a:ln w="12700">
            <a:solidFill>
              <a:srgbClr val="F0B083"/>
            </a:solidFill>
            <a:prstDash val="solid"/>
          </a:ln>
        </p:spPr>
      </p:sp>
      <p:sp>
        <p:nvSpPr>
          <p:cNvPr id="7" name="Shape 5"/>
          <p:cNvSpPr/>
          <p:nvPr/>
        </p:nvSpPr>
        <p:spPr>
          <a:xfrm>
            <a:off x="960120" y="1600200"/>
            <a:ext cx="2926080" cy="384048"/>
          </a:xfrm>
          <a:prstGeom prst="roundRect">
            <a:avLst>
              <a:gd name="adj" fmla="val 21429"/>
            </a:avLst>
          </a:prstGeom>
          <a:solidFill>
            <a:srgbClr val="E76F28"/>
          </a:solidFill>
          <a:ln w="12700">
            <a:solidFill>
              <a:srgbClr val="E76F28"/>
            </a:solidFill>
            <a:prstDash val="solid"/>
          </a:ln>
        </p:spPr>
      </p:sp>
      <p:sp>
        <p:nvSpPr>
          <p:cNvPr id="8" name="Text 6"/>
          <p:cNvSpPr/>
          <p:nvPr/>
        </p:nvSpPr>
        <p:spPr>
          <a:xfrm>
            <a:off x="1033272" y="1696212"/>
            <a:ext cx="2779776" cy="182880"/>
          </a:xfrm>
          <a:prstGeom prst="rect">
            <a:avLst/>
          </a:prstGeom>
          <a:noFill/>
          <a:ln/>
        </p:spPr>
        <p:txBody>
          <a:bodyPr wrap="square" lIns="0" tIns="0" rIns="0" bIns="0" rtlCol="0" anchor="ctr"/>
          <a:lstStyle/>
          <a:p>
            <a:pPr algn="ctr" indent="0" marL="0">
              <a:buNone/>
            </a:pPr>
            <a:r>
              <a:rPr lang="en-US" sz="1000" b="1" dirty="0">
                <a:solidFill>
                  <a:srgbClr val="FFFFFF"/>
                </a:solidFill>
              </a:rPr>
              <a:t>ADVERSARIAL PERTURBATIONS</a:t>
            </a:r>
            <a:endParaRPr lang="en-US" sz="1000" dirty="0"/>
          </a:p>
        </p:txBody>
      </p:sp>
      <p:sp>
        <p:nvSpPr>
          <p:cNvPr id="9" name="Shape 7"/>
          <p:cNvSpPr/>
          <p:nvPr/>
        </p:nvSpPr>
        <p:spPr>
          <a:xfrm>
            <a:off x="1143000" y="2313432"/>
            <a:ext cx="73152" cy="73152"/>
          </a:xfrm>
          <a:prstGeom prst="ellipse">
            <a:avLst/>
          </a:prstGeom>
          <a:solidFill>
            <a:srgbClr val="E76F28"/>
          </a:solidFill>
          <a:ln w="12700">
            <a:solidFill>
              <a:srgbClr val="E76F28"/>
            </a:solidFill>
            <a:prstDash val="solid"/>
          </a:ln>
        </p:spPr>
      </p:sp>
      <p:sp>
        <p:nvSpPr>
          <p:cNvPr id="10" name="Text 8"/>
          <p:cNvSpPr/>
          <p:nvPr/>
        </p:nvSpPr>
        <p:spPr>
          <a:xfrm>
            <a:off x="1307592" y="224028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FGSM baseline</a:t>
            </a:r>
            <a:endParaRPr lang="en-US" sz="1500" dirty="0"/>
          </a:p>
        </p:txBody>
      </p:sp>
      <p:sp>
        <p:nvSpPr>
          <p:cNvPr id="11" name="Shape 9"/>
          <p:cNvSpPr/>
          <p:nvPr/>
        </p:nvSpPr>
        <p:spPr>
          <a:xfrm>
            <a:off x="1143000" y="2816352"/>
            <a:ext cx="73152" cy="73152"/>
          </a:xfrm>
          <a:prstGeom prst="ellipse">
            <a:avLst/>
          </a:prstGeom>
          <a:solidFill>
            <a:srgbClr val="E76F28"/>
          </a:solidFill>
          <a:ln w="12700">
            <a:solidFill>
              <a:srgbClr val="E76F28"/>
            </a:solidFill>
            <a:prstDash val="solid"/>
          </a:ln>
        </p:spPr>
      </p:sp>
      <p:sp>
        <p:nvSpPr>
          <p:cNvPr id="12" name="Text 10"/>
          <p:cNvSpPr/>
          <p:nvPr/>
        </p:nvSpPr>
        <p:spPr>
          <a:xfrm>
            <a:off x="1307592" y="274320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SuperDeepFool</a:t>
            </a:r>
            <a:endParaRPr lang="en-US" sz="1500" dirty="0"/>
          </a:p>
        </p:txBody>
      </p:sp>
      <p:sp>
        <p:nvSpPr>
          <p:cNvPr id="13" name="Shape 11"/>
          <p:cNvSpPr/>
          <p:nvPr/>
        </p:nvSpPr>
        <p:spPr>
          <a:xfrm>
            <a:off x="1143000" y="3319272"/>
            <a:ext cx="73152" cy="73152"/>
          </a:xfrm>
          <a:prstGeom prst="ellipse">
            <a:avLst/>
          </a:prstGeom>
          <a:solidFill>
            <a:srgbClr val="E76F28"/>
          </a:solidFill>
          <a:ln w="12700">
            <a:solidFill>
              <a:srgbClr val="E76F28"/>
            </a:solidFill>
            <a:prstDash val="solid"/>
          </a:ln>
        </p:spPr>
      </p:sp>
      <p:sp>
        <p:nvSpPr>
          <p:cNvPr id="14" name="Text 12"/>
          <p:cNvSpPr/>
          <p:nvPr/>
        </p:nvSpPr>
        <p:spPr>
          <a:xfrm>
            <a:off x="1307592" y="324612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SigmaZero</a:t>
            </a:r>
            <a:endParaRPr lang="en-US" sz="1500" dirty="0"/>
          </a:p>
        </p:txBody>
      </p:sp>
      <p:sp>
        <p:nvSpPr>
          <p:cNvPr id="15" name="Shape 13"/>
          <p:cNvSpPr/>
          <p:nvPr/>
        </p:nvSpPr>
        <p:spPr>
          <a:xfrm>
            <a:off x="1143000" y="3822192"/>
            <a:ext cx="73152" cy="73152"/>
          </a:xfrm>
          <a:prstGeom prst="ellipse">
            <a:avLst/>
          </a:prstGeom>
          <a:solidFill>
            <a:srgbClr val="E76F28"/>
          </a:solidFill>
          <a:ln w="12700">
            <a:solidFill>
              <a:srgbClr val="E76F28"/>
            </a:solidFill>
            <a:prstDash val="solid"/>
          </a:ln>
        </p:spPr>
      </p:sp>
      <p:sp>
        <p:nvSpPr>
          <p:cNvPr id="16" name="Text 14"/>
          <p:cNvSpPr/>
          <p:nvPr/>
        </p:nvSpPr>
        <p:spPr>
          <a:xfrm>
            <a:off x="1307592" y="374904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OnePixel</a:t>
            </a:r>
            <a:endParaRPr lang="en-US" sz="1500" dirty="0"/>
          </a:p>
        </p:txBody>
      </p:sp>
      <p:sp>
        <p:nvSpPr>
          <p:cNvPr id="17" name="Shape 15"/>
          <p:cNvSpPr/>
          <p:nvPr/>
        </p:nvSpPr>
        <p:spPr>
          <a:xfrm>
            <a:off x="1143000" y="4325112"/>
            <a:ext cx="73152" cy="73152"/>
          </a:xfrm>
          <a:prstGeom prst="ellipse">
            <a:avLst/>
          </a:prstGeom>
          <a:solidFill>
            <a:srgbClr val="E76F28"/>
          </a:solidFill>
          <a:ln w="12700">
            <a:solidFill>
              <a:srgbClr val="E76F28"/>
            </a:solidFill>
            <a:prstDash val="solid"/>
          </a:ln>
        </p:spPr>
      </p:sp>
      <p:sp>
        <p:nvSpPr>
          <p:cNvPr id="18" name="Text 16"/>
          <p:cNvSpPr/>
          <p:nvPr/>
        </p:nvSpPr>
        <p:spPr>
          <a:xfrm>
            <a:off x="1307592" y="425196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ColorShift</a:t>
            </a:r>
            <a:endParaRPr lang="en-US" sz="1500" dirty="0"/>
          </a:p>
        </p:txBody>
      </p:sp>
      <p:sp>
        <p:nvSpPr>
          <p:cNvPr id="19" name="Shape 17"/>
          <p:cNvSpPr/>
          <p:nvPr/>
        </p:nvSpPr>
        <p:spPr>
          <a:xfrm>
            <a:off x="6217920" y="1325880"/>
            <a:ext cx="5257800" cy="4251960"/>
          </a:xfrm>
          <a:prstGeom prst="roundRect">
            <a:avLst>
              <a:gd name="adj" fmla="val 2151"/>
            </a:avLst>
          </a:prstGeom>
          <a:solidFill>
            <a:srgbClr val="FFFFFF"/>
          </a:solidFill>
          <a:ln w="12700">
            <a:solidFill>
              <a:srgbClr val="F0B083"/>
            </a:solidFill>
            <a:prstDash val="solid"/>
          </a:ln>
        </p:spPr>
      </p:sp>
      <p:sp>
        <p:nvSpPr>
          <p:cNvPr id="20" name="Shape 18"/>
          <p:cNvSpPr/>
          <p:nvPr/>
        </p:nvSpPr>
        <p:spPr>
          <a:xfrm>
            <a:off x="6446520" y="1600200"/>
            <a:ext cx="3383280" cy="384048"/>
          </a:xfrm>
          <a:prstGeom prst="roundRect">
            <a:avLst>
              <a:gd name="adj" fmla="val 21429"/>
            </a:avLst>
          </a:prstGeom>
          <a:solidFill>
            <a:srgbClr val="E76F28"/>
          </a:solidFill>
          <a:ln w="12700">
            <a:solidFill>
              <a:srgbClr val="E76F28"/>
            </a:solidFill>
            <a:prstDash val="solid"/>
          </a:ln>
        </p:spPr>
      </p:sp>
      <p:sp>
        <p:nvSpPr>
          <p:cNvPr id="21" name="Text 19"/>
          <p:cNvSpPr/>
          <p:nvPr/>
        </p:nvSpPr>
        <p:spPr>
          <a:xfrm>
            <a:off x="6519672" y="1696212"/>
            <a:ext cx="3236976" cy="182880"/>
          </a:xfrm>
          <a:prstGeom prst="rect">
            <a:avLst/>
          </a:prstGeom>
          <a:noFill/>
          <a:ln/>
        </p:spPr>
        <p:txBody>
          <a:bodyPr wrap="square" lIns="0" tIns="0" rIns="0" bIns="0" rtlCol="0" anchor="ctr"/>
          <a:lstStyle/>
          <a:p>
            <a:pPr algn="ctr" indent="0" marL="0">
              <a:buNone/>
            </a:pPr>
            <a:r>
              <a:rPr lang="en-US" sz="1000" b="1" dirty="0">
                <a:solidFill>
                  <a:srgbClr val="FFFFFF"/>
                </a:solidFill>
              </a:rPr>
              <a:t>ANTI-FORENSIC TRANSFORMATIONS</a:t>
            </a:r>
            <a:endParaRPr lang="en-US" sz="1000" dirty="0"/>
          </a:p>
        </p:txBody>
      </p:sp>
      <p:sp>
        <p:nvSpPr>
          <p:cNvPr id="22" name="Shape 20"/>
          <p:cNvSpPr/>
          <p:nvPr/>
        </p:nvSpPr>
        <p:spPr>
          <a:xfrm>
            <a:off x="6629400" y="2313432"/>
            <a:ext cx="73152" cy="73152"/>
          </a:xfrm>
          <a:prstGeom prst="ellipse">
            <a:avLst/>
          </a:prstGeom>
          <a:solidFill>
            <a:srgbClr val="E76F28"/>
          </a:solidFill>
          <a:ln w="12700">
            <a:solidFill>
              <a:srgbClr val="E76F28"/>
            </a:solidFill>
            <a:prstDash val="solid"/>
          </a:ln>
        </p:spPr>
      </p:sp>
      <p:sp>
        <p:nvSpPr>
          <p:cNvPr id="23" name="Text 21"/>
          <p:cNvSpPr/>
          <p:nvPr/>
        </p:nvSpPr>
        <p:spPr>
          <a:xfrm>
            <a:off x="6793992" y="224028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JPEG recompression</a:t>
            </a:r>
            <a:endParaRPr lang="en-US" sz="1500" dirty="0"/>
          </a:p>
        </p:txBody>
      </p:sp>
      <p:sp>
        <p:nvSpPr>
          <p:cNvPr id="24" name="Shape 22"/>
          <p:cNvSpPr/>
          <p:nvPr/>
        </p:nvSpPr>
        <p:spPr>
          <a:xfrm>
            <a:off x="6629400" y="2816352"/>
            <a:ext cx="73152" cy="73152"/>
          </a:xfrm>
          <a:prstGeom prst="ellipse">
            <a:avLst/>
          </a:prstGeom>
          <a:solidFill>
            <a:srgbClr val="E76F28"/>
          </a:solidFill>
          <a:ln w="12700">
            <a:solidFill>
              <a:srgbClr val="E76F28"/>
            </a:solidFill>
            <a:prstDash val="solid"/>
          </a:ln>
        </p:spPr>
      </p:sp>
      <p:sp>
        <p:nvSpPr>
          <p:cNvPr id="25" name="Text 23"/>
          <p:cNvSpPr/>
          <p:nvPr/>
        </p:nvSpPr>
        <p:spPr>
          <a:xfrm>
            <a:off x="6793992" y="274320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Resample / resize</a:t>
            </a:r>
            <a:endParaRPr lang="en-US" sz="1500" dirty="0"/>
          </a:p>
        </p:txBody>
      </p:sp>
      <p:sp>
        <p:nvSpPr>
          <p:cNvPr id="26" name="Shape 24"/>
          <p:cNvSpPr/>
          <p:nvPr/>
        </p:nvSpPr>
        <p:spPr>
          <a:xfrm>
            <a:off x="6629400" y="3319272"/>
            <a:ext cx="73152" cy="73152"/>
          </a:xfrm>
          <a:prstGeom prst="ellipse">
            <a:avLst/>
          </a:prstGeom>
          <a:solidFill>
            <a:srgbClr val="E76F28"/>
          </a:solidFill>
          <a:ln w="12700">
            <a:solidFill>
              <a:srgbClr val="E76F28"/>
            </a:solidFill>
            <a:prstDash val="solid"/>
          </a:ln>
        </p:spPr>
      </p:sp>
      <p:sp>
        <p:nvSpPr>
          <p:cNvPr id="27" name="Text 25"/>
          <p:cNvSpPr/>
          <p:nvPr/>
        </p:nvSpPr>
        <p:spPr>
          <a:xfrm>
            <a:off x="6793992" y="324612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Gaussian blur</a:t>
            </a:r>
            <a:endParaRPr lang="en-US" sz="1500" dirty="0"/>
          </a:p>
        </p:txBody>
      </p:sp>
      <p:sp>
        <p:nvSpPr>
          <p:cNvPr id="28" name="Shape 26"/>
          <p:cNvSpPr/>
          <p:nvPr/>
        </p:nvSpPr>
        <p:spPr>
          <a:xfrm>
            <a:off x="6629400" y="3822192"/>
            <a:ext cx="73152" cy="73152"/>
          </a:xfrm>
          <a:prstGeom prst="ellipse">
            <a:avLst/>
          </a:prstGeom>
          <a:solidFill>
            <a:srgbClr val="E76F28"/>
          </a:solidFill>
          <a:ln w="12700">
            <a:solidFill>
              <a:srgbClr val="E76F28"/>
            </a:solidFill>
            <a:prstDash val="solid"/>
          </a:ln>
        </p:spPr>
      </p:sp>
      <p:sp>
        <p:nvSpPr>
          <p:cNvPr id="29" name="Text 27"/>
          <p:cNvSpPr/>
          <p:nvPr/>
        </p:nvSpPr>
        <p:spPr>
          <a:xfrm>
            <a:off x="6793992" y="374904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Histogram modification</a:t>
            </a:r>
            <a:endParaRPr lang="en-US" sz="1500" dirty="0"/>
          </a:p>
        </p:txBody>
      </p:sp>
      <p:sp>
        <p:nvSpPr>
          <p:cNvPr id="30" name="Shape 28"/>
          <p:cNvSpPr/>
          <p:nvPr/>
        </p:nvSpPr>
        <p:spPr>
          <a:xfrm>
            <a:off x="6629400" y="4325112"/>
            <a:ext cx="73152" cy="73152"/>
          </a:xfrm>
          <a:prstGeom prst="ellipse">
            <a:avLst/>
          </a:prstGeom>
          <a:solidFill>
            <a:srgbClr val="E76F28"/>
          </a:solidFill>
          <a:ln w="12700">
            <a:solidFill>
              <a:srgbClr val="E76F28"/>
            </a:solidFill>
            <a:prstDash val="solid"/>
          </a:ln>
        </p:spPr>
      </p:sp>
      <p:sp>
        <p:nvSpPr>
          <p:cNvPr id="31" name="Text 29"/>
          <p:cNvSpPr/>
          <p:nvPr/>
        </p:nvSpPr>
        <p:spPr>
          <a:xfrm>
            <a:off x="6793992" y="4251960"/>
            <a:ext cx="4389120" cy="502920"/>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Contrast stretching</a:t>
            </a:r>
            <a:endParaRPr lang="en-US" sz="1500" dirty="0"/>
          </a:p>
        </p:txBody>
      </p:sp>
      <p:sp>
        <p:nvSpPr>
          <p:cNvPr id="32" name="Shape 30"/>
          <p:cNvSpPr/>
          <p:nvPr/>
        </p:nvSpPr>
        <p:spPr>
          <a:xfrm>
            <a:off x="2423160" y="5806440"/>
            <a:ext cx="7315200" cy="530352"/>
          </a:xfrm>
          <a:prstGeom prst="roundRect">
            <a:avLst>
              <a:gd name="adj" fmla="val 17241"/>
            </a:avLst>
          </a:prstGeom>
          <a:solidFill>
            <a:srgbClr val="FFFFFF"/>
          </a:solidFill>
          <a:ln w="16510">
            <a:solidFill>
              <a:srgbClr val="0B1F4D"/>
            </a:solidFill>
            <a:prstDash val="solid"/>
          </a:ln>
        </p:spPr>
      </p:sp>
      <p:sp>
        <p:nvSpPr>
          <p:cNvPr id="33" name="Text 31"/>
          <p:cNvSpPr/>
          <p:nvPr/>
        </p:nvSpPr>
        <p:spPr>
          <a:xfrm>
            <a:off x="2587752" y="5916168"/>
            <a:ext cx="6986016" cy="310896"/>
          </a:xfrm>
          <a:prstGeom prst="rect">
            <a:avLst/>
          </a:prstGeom>
          <a:noFill/>
          <a:ln/>
        </p:spPr>
        <p:txBody>
          <a:bodyPr wrap="square" lIns="254" tIns="254" rIns="254" bIns="254" rtlCol="0" anchor="ctr">
            <a:normAutofit/>
          </a:bodyPr>
          <a:lstStyle/>
          <a:p>
            <a:pPr algn="ctr" indent="0" marL="0">
              <a:buNone/>
            </a:pPr>
            <a:r>
              <a:rPr lang="en-US" sz="1200" b="1" dirty="0">
                <a:solidFill>
                  <a:srgbClr val="0B1F4D"/>
                </a:solidFill>
              </a:rPr>
              <a:t>Design choice: perturbations are never applied to OOD images.</a:t>
            </a:r>
            <a:endParaRPr lang="en-US" sz="1200" dirty="0"/>
          </a:p>
        </p:txBody>
      </p:sp>
      <p:sp>
        <p:nvSpPr>
          <p:cNvPr id="34" name="Shape 32"/>
          <p:cNvSpPr/>
          <p:nvPr/>
        </p:nvSpPr>
        <p:spPr>
          <a:xfrm>
            <a:off x="411480" y="6510528"/>
            <a:ext cx="11365992" cy="0"/>
          </a:xfrm>
          <a:prstGeom prst="line">
            <a:avLst/>
          </a:prstGeom>
          <a:noFill/>
          <a:ln w="8890">
            <a:solidFill>
              <a:srgbClr val="D8E1E8"/>
            </a:solidFill>
            <a:prstDash val="solid"/>
          </a:ln>
        </p:spPr>
      </p:sp>
      <p:sp>
        <p:nvSpPr>
          <p:cNvPr id="35" name="Text 33"/>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6" name="Text 34"/>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EVALUATION FRAMEWORK</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Evaluation Metrics</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Focus on operational failure modes, not only aggregate accuracy</a:t>
            </a:r>
            <a:endParaRPr lang="en-US" sz="1100" dirty="0"/>
          </a:p>
        </p:txBody>
      </p:sp>
      <p:sp>
        <p:nvSpPr>
          <p:cNvPr id="6" name="Shape 4"/>
          <p:cNvSpPr/>
          <p:nvPr/>
        </p:nvSpPr>
        <p:spPr>
          <a:xfrm>
            <a:off x="594360" y="1417320"/>
            <a:ext cx="2514600" cy="4160520"/>
          </a:xfrm>
          <a:prstGeom prst="roundRect">
            <a:avLst>
              <a:gd name="adj" fmla="val 3636"/>
            </a:avLst>
          </a:prstGeom>
          <a:solidFill>
            <a:srgbClr val="FFFFFF"/>
          </a:solidFill>
          <a:ln w="12700">
            <a:solidFill>
              <a:srgbClr val="D8E1E8"/>
            </a:solidFill>
            <a:prstDash val="solid"/>
          </a:ln>
        </p:spPr>
      </p:sp>
      <p:sp>
        <p:nvSpPr>
          <p:cNvPr id="7" name="Shape 5"/>
          <p:cNvSpPr/>
          <p:nvPr/>
        </p:nvSpPr>
        <p:spPr>
          <a:xfrm>
            <a:off x="1627632" y="1691640"/>
            <a:ext cx="420624" cy="420624"/>
          </a:xfrm>
          <a:prstGeom prst="ellipse">
            <a:avLst/>
          </a:prstGeom>
          <a:solidFill>
            <a:srgbClr val="0A7C80"/>
          </a:solidFill>
          <a:ln w="12700">
            <a:solidFill>
              <a:srgbClr val="0A7C80"/>
            </a:solidFill>
            <a:prstDash val="solid"/>
          </a:ln>
        </p:spPr>
      </p:sp>
      <p:sp>
        <p:nvSpPr>
          <p:cNvPr id="8" name="Text 6"/>
          <p:cNvSpPr/>
          <p:nvPr/>
        </p:nvSpPr>
        <p:spPr>
          <a:xfrm>
            <a:off x="1645920" y="17785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777240" y="2240280"/>
            <a:ext cx="2148840" cy="320040"/>
          </a:xfrm>
          <a:prstGeom prst="rect">
            <a:avLst/>
          </a:prstGeom>
          <a:noFill/>
          <a:ln/>
        </p:spPr>
        <p:txBody>
          <a:bodyPr wrap="square" lIns="0" tIns="0" rIns="0" bIns="0" rtlCol="0" anchor="ctr"/>
          <a:lstStyle/>
          <a:p>
            <a:pPr algn="ctr" indent="0" marL="0">
              <a:buNone/>
            </a:pPr>
            <a:r>
              <a:rPr lang="en-US" sz="1600" b="1" dirty="0">
                <a:solidFill>
                  <a:srgbClr val="0B1F4D"/>
                </a:solidFill>
              </a:rPr>
              <a:t>Clean performance</a:t>
            </a:r>
            <a:endParaRPr lang="en-US" sz="1600" dirty="0"/>
          </a:p>
        </p:txBody>
      </p:sp>
      <p:sp>
        <p:nvSpPr>
          <p:cNvPr id="10" name="Shape 8"/>
          <p:cNvSpPr/>
          <p:nvPr/>
        </p:nvSpPr>
        <p:spPr>
          <a:xfrm>
            <a:off x="914400" y="2862072"/>
            <a:ext cx="73152" cy="73152"/>
          </a:xfrm>
          <a:prstGeom prst="ellipse">
            <a:avLst/>
          </a:prstGeom>
          <a:solidFill>
            <a:srgbClr val="0A7C80"/>
          </a:solidFill>
          <a:ln w="12700">
            <a:solidFill>
              <a:srgbClr val="0A7C80"/>
            </a:solidFill>
            <a:prstDash val="solid"/>
          </a:ln>
        </p:spPr>
      </p:sp>
      <p:sp>
        <p:nvSpPr>
          <p:cNvPr id="11" name="Text 9"/>
          <p:cNvSpPr/>
          <p:nvPr/>
        </p:nvSpPr>
        <p:spPr>
          <a:xfrm>
            <a:off x="1078992" y="2788920"/>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Accuracy</a:t>
            </a:r>
            <a:endParaRPr lang="en-US" sz="1070" dirty="0"/>
          </a:p>
        </p:txBody>
      </p:sp>
      <p:sp>
        <p:nvSpPr>
          <p:cNvPr id="12" name="Shape 10"/>
          <p:cNvSpPr/>
          <p:nvPr/>
        </p:nvSpPr>
        <p:spPr>
          <a:xfrm>
            <a:off x="914400" y="3246120"/>
            <a:ext cx="73152" cy="73152"/>
          </a:xfrm>
          <a:prstGeom prst="ellipse">
            <a:avLst/>
          </a:prstGeom>
          <a:solidFill>
            <a:srgbClr val="0A7C80"/>
          </a:solidFill>
          <a:ln w="12700">
            <a:solidFill>
              <a:srgbClr val="0A7C80"/>
            </a:solidFill>
            <a:prstDash val="solid"/>
          </a:ln>
        </p:spPr>
      </p:sp>
      <p:sp>
        <p:nvSpPr>
          <p:cNvPr id="13" name="Text 11"/>
          <p:cNvSpPr/>
          <p:nvPr/>
        </p:nvSpPr>
        <p:spPr>
          <a:xfrm>
            <a:off x="1078992" y="3172968"/>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Recall</a:t>
            </a:r>
            <a:endParaRPr lang="en-US" sz="1070" dirty="0"/>
          </a:p>
        </p:txBody>
      </p:sp>
      <p:sp>
        <p:nvSpPr>
          <p:cNvPr id="14" name="Shape 12"/>
          <p:cNvSpPr/>
          <p:nvPr/>
        </p:nvSpPr>
        <p:spPr>
          <a:xfrm>
            <a:off x="914400" y="3630168"/>
            <a:ext cx="73152" cy="73152"/>
          </a:xfrm>
          <a:prstGeom prst="ellipse">
            <a:avLst/>
          </a:prstGeom>
          <a:solidFill>
            <a:srgbClr val="0A7C80"/>
          </a:solidFill>
          <a:ln w="12700">
            <a:solidFill>
              <a:srgbClr val="0A7C80"/>
            </a:solidFill>
            <a:prstDash val="solid"/>
          </a:ln>
        </p:spPr>
      </p:sp>
      <p:sp>
        <p:nvSpPr>
          <p:cNvPr id="15" name="Text 13"/>
          <p:cNvSpPr/>
          <p:nvPr/>
        </p:nvSpPr>
        <p:spPr>
          <a:xfrm>
            <a:off x="1078992" y="3557016"/>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FNR / FPR</a:t>
            </a:r>
            <a:endParaRPr lang="en-US" sz="1070" dirty="0"/>
          </a:p>
        </p:txBody>
      </p:sp>
      <p:sp>
        <p:nvSpPr>
          <p:cNvPr id="16" name="Shape 14"/>
          <p:cNvSpPr/>
          <p:nvPr/>
        </p:nvSpPr>
        <p:spPr>
          <a:xfrm>
            <a:off x="914400" y="4014216"/>
            <a:ext cx="73152" cy="73152"/>
          </a:xfrm>
          <a:prstGeom prst="ellipse">
            <a:avLst/>
          </a:prstGeom>
          <a:solidFill>
            <a:srgbClr val="0A7C80"/>
          </a:solidFill>
          <a:ln w="12700">
            <a:solidFill>
              <a:srgbClr val="0A7C80"/>
            </a:solidFill>
            <a:prstDash val="solid"/>
          </a:ln>
        </p:spPr>
      </p:sp>
      <p:sp>
        <p:nvSpPr>
          <p:cNvPr id="17" name="Text 15"/>
          <p:cNvSpPr/>
          <p:nvPr/>
        </p:nvSpPr>
        <p:spPr>
          <a:xfrm>
            <a:off x="1078992" y="3941064"/>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F1-score</a:t>
            </a:r>
            <a:endParaRPr lang="en-US" sz="1070" dirty="0"/>
          </a:p>
        </p:txBody>
      </p:sp>
      <p:sp>
        <p:nvSpPr>
          <p:cNvPr id="18" name="Shape 16"/>
          <p:cNvSpPr/>
          <p:nvPr/>
        </p:nvSpPr>
        <p:spPr>
          <a:xfrm>
            <a:off x="3429000" y="1417320"/>
            <a:ext cx="2514600" cy="4160520"/>
          </a:xfrm>
          <a:prstGeom prst="roundRect">
            <a:avLst>
              <a:gd name="adj" fmla="val 3636"/>
            </a:avLst>
          </a:prstGeom>
          <a:solidFill>
            <a:srgbClr val="FFFFFF"/>
          </a:solidFill>
          <a:ln w="12700">
            <a:solidFill>
              <a:srgbClr val="D8E1E8"/>
            </a:solidFill>
            <a:prstDash val="solid"/>
          </a:ln>
        </p:spPr>
      </p:sp>
      <p:sp>
        <p:nvSpPr>
          <p:cNvPr id="19" name="Shape 17"/>
          <p:cNvSpPr/>
          <p:nvPr/>
        </p:nvSpPr>
        <p:spPr>
          <a:xfrm>
            <a:off x="4462272" y="1691640"/>
            <a:ext cx="420624" cy="420624"/>
          </a:xfrm>
          <a:prstGeom prst="ellipse">
            <a:avLst/>
          </a:prstGeom>
          <a:solidFill>
            <a:srgbClr val="E76F28"/>
          </a:solidFill>
          <a:ln w="12700">
            <a:solidFill>
              <a:srgbClr val="E76F28"/>
            </a:solidFill>
            <a:prstDash val="solid"/>
          </a:ln>
        </p:spPr>
      </p:sp>
      <p:sp>
        <p:nvSpPr>
          <p:cNvPr id="20" name="Text 18"/>
          <p:cNvSpPr/>
          <p:nvPr/>
        </p:nvSpPr>
        <p:spPr>
          <a:xfrm>
            <a:off x="4480560" y="17785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9"/>
          <p:cNvSpPr/>
          <p:nvPr/>
        </p:nvSpPr>
        <p:spPr>
          <a:xfrm>
            <a:off x="3611880" y="2240280"/>
            <a:ext cx="2148840" cy="320040"/>
          </a:xfrm>
          <a:prstGeom prst="rect">
            <a:avLst/>
          </a:prstGeom>
          <a:noFill/>
          <a:ln/>
        </p:spPr>
        <p:txBody>
          <a:bodyPr wrap="square" lIns="0" tIns="0" rIns="0" bIns="0" rtlCol="0" anchor="ctr"/>
          <a:lstStyle/>
          <a:p>
            <a:pPr algn="ctr" indent="0" marL="0">
              <a:buNone/>
            </a:pPr>
            <a:r>
              <a:rPr lang="en-US" sz="1600" b="1" dirty="0">
                <a:solidFill>
                  <a:srgbClr val="0B1F4D"/>
                </a:solidFill>
              </a:rPr>
              <a:t>Perturbed robustness</a:t>
            </a:r>
            <a:endParaRPr lang="en-US" sz="1600" dirty="0"/>
          </a:p>
        </p:txBody>
      </p:sp>
      <p:sp>
        <p:nvSpPr>
          <p:cNvPr id="22" name="Shape 20"/>
          <p:cNvSpPr/>
          <p:nvPr/>
        </p:nvSpPr>
        <p:spPr>
          <a:xfrm>
            <a:off x="3749040" y="2862072"/>
            <a:ext cx="73152" cy="73152"/>
          </a:xfrm>
          <a:prstGeom prst="ellipse">
            <a:avLst/>
          </a:prstGeom>
          <a:solidFill>
            <a:srgbClr val="E76F28"/>
          </a:solidFill>
          <a:ln w="12700">
            <a:solidFill>
              <a:srgbClr val="E76F28"/>
            </a:solidFill>
            <a:prstDash val="solid"/>
          </a:ln>
        </p:spPr>
      </p:sp>
      <p:sp>
        <p:nvSpPr>
          <p:cNvPr id="23" name="Text 21"/>
          <p:cNvSpPr/>
          <p:nvPr/>
        </p:nvSpPr>
        <p:spPr>
          <a:xfrm>
            <a:off x="3913632" y="2788920"/>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Perturbed accuracy</a:t>
            </a:r>
            <a:endParaRPr lang="en-US" sz="1070" dirty="0"/>
          </a:p>
        </p:txBody>
      </p:sp>
      <p:sp>
        <p:nvSpPr>
          <p:cNvPr id="24" name="Shape 22"/>
          <p:cNvSpPr/>
          <p:nvPr/>
        </p:nvSpPr>
        <p:spPr>
          <a:xfrm>
            <a:off x="3749040" y="3246120"/>
            <a:ext cx="73152" cy="73152"/>
          </a:xfrm>
          <a:prstGeom prst="ellipse">
            <a:avLst/>
          </a:prstGeom>
          <a:solidFill>
            <a:srgbClr val="E76F28"/>
          </a:solidFill>
          <a:ln w="12700">
            <a:solidFill>
              <a:srgbClr val="E76F28"/>
            </a:solidFill>
            <a:prstDash val="solid"/>
          </a:ln>
        </p:spPr>
      </p:sp>
      <p:sp>
        <p:nvSpPr>
          <p:cNvPr id="25" name="Text 23"/>
          <p:cNvSpPr/>
          <p:nvPr/>
        </p:nvSpPr>
        <p:spPr>
          <a:xfrm>
            <a:off x="3913632" y="3172968"/>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Accuracy drop</a:t>
            </a:r>
            <a:endParaRPr lang="en-US" sz="1070" dirty="0"/>
          </a:p>
        </p:txBody>
      </p:sp>
      <p:sp>
        <p:nvSpPr>
          <p:cNvPr id="26" name="Shape 24"/>
          <p:cNvSpPr/>
          <p:nvPr/>
        </p:nvSpPr>
        <p:spPr>
          <a:xfrm>
            <a:off x="3749040" y="3630168"/>
            <a:ext cx="73152" cy="73152"/>
          </a:xfrm>
          <a:prstGeom prst="ellipse">
            <a:avLst/>
          </a:prstGeom>
          <a:solidFill>
            <a:srgbClr val="E76F28"/>
          </a:solidFill>
          <a:ln w="12700">
            <a:solidFill>
              <a:srgbClr val="E76F28"/>
            </a:solidFill>
            <a:prstDash val="solid"/>
          </a:ln>
        </p:spPr>
      </p:sp>
      <p:sp>
        <p:nvSpPr>
          <p:cNvPr id="27" name="Text 25"/>
          <p:cNvSpPr/>
          <p:nvPr/>
        </p:nvSpPr>
        <p:spPr>
          <a:xfrm>
            <a:off x="3913632" y="3557016"/>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Induced error rate</a:t>
            </a:r>
            <a:endParaRPr lang="en-US" sz="1070" dirty="0"/>
          </a:p>
        </p:txBody>
      </p:sp>
      <p:sp>
        <p:nvSpPr>
          <p:cNvPr id="28" name="Shape 26"/>
          <p:cNvSpPr/>
          <p:nvPr/>
        </p:nvSpPr>
        <p:spPr>
          <a:xfrm>
            <a:off x="3749040" y="4014216"/>
            <a:ext cx="73152" cy="73152"/>
          </a:xfrm>
          <a:prstGeom prst="ellipse">
            <a:avLst/>
          </a:prstGeom>
          <a:solidFill>
            <a:srgbClr val="E76F28"/>
          </a:solidFill>
          <a:ln w="12700">
            <a:solidFill>
              <a:srgbClr val="E76F28"/>
            </a:solidFill>
            <a:prstDash val="solid"/>
          </a:ln>
        </p:spPr>
      </p:sp>
      <p:sp>
        <p:nvSpPr>
          <p:cNvPr id="29" name="Text 27"/>
          <p:cNvSpPr/>
          <p:nvPr/>
        </p:nvSpPr>
        <p:spPr>
          <a:xfrm>
            <a:off x="3913632" y="3941064"/>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Confidence delta</a:t>
            </a:r>
            <a:endParaRPr lang="en-US" sz="1070" dirty="0"/>
          </a:p>
        </p:txBody>
      </p:sp>
      <p:sp>
        <p:nvSpPr>
          <p:cNvPr id="30" name="Shape 28"/>
          <p:cNvSpPr/>
          <p:nvPr/>
        </p:nvSpPr>
        <p:spPr>
          <a:xfrm>
            <a:off x="6263640" y="1417320"/>
            <a:ext cx="2514600" cy="4160520"/>
          </a:xfrm>
          <a:prstGeom prst="roundRect">
            <a:avLst>
              <a:gd name="adj" fmla="val 3636"/>
            </a:avLst>
          </a:prstGeom>
          <a:solidFill>
            <a:srgbClr val="FFFFFF"/>
          </a:solidFill>
          <a:ln w="12700">
            <a:solidFill>
              <a:srgbClr val="D8E1E8"/>
            </a:solidFill>
            <a:prstDash val="solid"/>
          </a:ln>
        </p:spPr>
      </p:sp>
      <p:sp>
        <p:nvSpPr>
          <p:cNvPr id="31" name="Shape 29"/>
          <p:cNvSpPr/>
          <p:nvPr/>
        </p:nvSpPr>
        <p:spPr>
          <a:xfrm>
            <a:off x="7296912" y="1691640"/>
            <a:ext cx="420624" cy="420624"/>
          </a:xfrm>
          <a:prstGeom prst="ellipse">
            <a:avLst/>
          </a:prstGeom>
          <a:solidFill>
            <a:srgbClr val="0A7C80"/>
          </a:solidFill>
          <a:ln w="12700">
            <a:solidFill>
              <a:srgbClr val="0A7C80"/>
            </a:solidFill>
            <a:prstDash val="solid"/>
          </a:ln>
        </p:spPr>
      </p:sp>
      <p:sp>
        <p:nvSpPr>
          <p:cNvPr id="32" name="Text 30"/>
          <p:cNvSpPr/>
          <p:nvPr/>
        </p:nvSpPr>
        <p:spPr>
          <a:xfrm>
            <a:off x="7315200" y="17785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31"/>
          <p:cNvSpPr/>
          <p:nvPr/>
        </p:nvSpPr>
        <p:spPr>
          <a:xfrm>
            <a:off x="6446520" y="2240280"/>
            <a:ext cx="2148840" cy="320040"/>
          </a:xfrm>
          <a:prstGeom prst="rect">
            <a:avLst/>
          </a:prstGeom>
          <a:noFill/>
          <a:ln/>
        </p:spPr>
        <p:txBody>
          <a:bodyPr wrap="square" lIns="0" tIns="0" rIns="0" bIns="0" rtlCol="0" anchor="ctr"/>
          <a:lstStyle/>
          <a:p>
            <a:pPr algn="ctr" indent="0" marL="0">
              <a:buNone/>
            </a:pPr>
            <a:r>
              <a:rPr lang="en-US" sz="1600" b="1" dirty="0">
                <a:solidFill>
                  <a:srgbClr val="0B1F4D"/>
                </a:solidFill>
              </a:rPr>
              <a:t>OOD handling</a:t>
            </a:r>
            <a:endParaRPr lang="en-US" sz="1600" dirty="0"/>
          </a:p>
        </p:txBody>
      </p:sp>
      <p:sp>
        <p:nvSpPr>
          <p:cNvPr id="34" name="Shape 32"/>
          <p:cNvSpPr/>
          <p:nvPr/>
        </p:nvSpPr>
        <p:spPr>
          <a:xfrm>
            <a:off x="6583680" y="2862072"/>
            <a:ext cx="73152" cy="73152"/>
          </a:xfrm>
          <a:prstGeom prst="ellipse">
            <a:avLst/>
          </a:prstGeom>
          <a:solidFill>
            <a:srgbClr val="0A7C80"/>
          </a:solidFill>
          <a:ln w="12700">
            <a:solidFill>
              <a:srgbClr val="0A7C80"/>
            </a:solidFill>
            <a:prstDash val="solid"/>
          </a:ln>
        </p:spPr>
      </p:sp>
      <p:sp>
        <p:nvSpPr>
          <p:cNvPr id="35" name="Text 33"/>
          <p:cNvSpPr/>
          <p:nvPr/>
        </p:nvSpPr>
        <p:spPr>
          <a:xfrm>
            <a:off x="6748272" y="2788920"/>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Weapon-flag rate</a:t>
            </a:r>
            <a:endParaRPr lang="en-US" sz="1070" dirty="0"/>
          </a:p>
        </p:txBody>
      </p:sp>
      <p:sp>
        <p:nvSpPr>
          <p:cNvPr id="36" name="Shape 34"/>
          <p:cNvSpPr/>
          <p:nvPr/>
        </p:nvSpPr>
        <p:spPr>
          <a:xfrm>
            <a:off x="6583680" y="3246120"/>
            <a:ext cx="73152" cy="73152"/>
          </a:xfrm>
          <a:prstGeom prst="ellipse">
            <a:avLst/>
          </a:prstGeom>
          <a:solidFill>
            <a:srgbClr val="0A7C80"/>
          </a:solidFill>
          <a:ln w="12700">
            <a:solidFill>
              <a:srgbClr val="0A7C80"/>
            </a:solidFill>
            <a:prstDash val="solid"/>
          </a:ln>
        </p:spPr>
      </p:sp>
      <p:sp>
        <p:nvSpPr>
          <p:cNvPr id="37" name="Text 35"/>
          <p:cNvSpPr/>
          <p:nvPr/>
        </p:nvSpPr>
        <p:spPr>
          <a:xfrm>
            <a:off x="6748272" y="3172968"/>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Mean confidence</a:t>
            </a:r>
            <a:endParaRPr lang="en-US" sz="1070" dirty="0"/>
          </a:p>
        </p:txBody>
      </p:sp>
      <p:sp>
        <p:nvSpPr>
          <p:cNvPr id="38" name="Shape 36"/>
          <p:cNvSpPr/>
          <p:nvPr/>
        </p:nvSpPr>
        <p:spPr>
          <a:xfrm>
            <a:off x="6583680" y="3630168"/>
            <a:ext cx="73152" cy="73152"/>
          </a:xfrm>
          <a:prstGeom prst="ellipse">
            <a:avLst/>
          </a:prstGeom>
          <a:solidFill>
            <a:srgbClr val="0A7C80"/>
          </a:solidFill>
          <a:ln w="12700">
            <a:solidFill>
              <a:srgbClr val="0A7C80"/>
            </a:solidFill>
            <a:prstDash val="solid"/>
          </a:ln>
        </p:spPr>
      </p:sp>
      <p:sp>
        <p:nvSpPr>
          <p:cNvPr id="39" name="Text 37"/>
          <p:cNvSpPr/>
          <p:nvPr/>
        </p:nvSpPr>
        <p:spPr>
          <a:xfrm>
            <a:off x="6748272" y="3557016"/>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High-confidence OOD fraction</a:t>
            </a:r>
            <a:endParaRPr lang="en-US" sz="1070" dirty="0"/>
          </a:p>
        </p:txBody>
      </p:sp>
      <p:sp>
        <p:nvSpPr>
          <p:cNvPr id="40" name="Shape 38"/>
          <p:cNvSpPr/>
          <p:nvPr/>
        </p:nvSpPr>
        <p:spPr>
          <a:xfrm>
            <a:off x="9098280" y="1417320"/>
            <a:ext cx="2514600" cy="4160520"/>
          </a:xfrm>
          <a:prstGeom prst="roundRect">
            <a:avLst>
              <a:gd name="adj" fmla="val 3636"/>
            </a:avLst>
          </a:prstGeom>
          <a:solidFill>
            <a:srgbClr val="FFFFFF"/>
          </a:solidFill>
          <a:ln w="12700">
            <a:solidFill>
              <a:srgbClr val="D8E1E8"/>
            </a:solidFill>
            <a:prstDash val="solid"/>
          </a:ln>
        </p:spPr>
      </p:sp>
      <p:sp>
        <p:nvSpPr>
          <p:cNvPr id="41" name="Shape 39"/>
          <p:cNvSpPr/>
          <p:nvPr/>
        </p:nvSpPr>
        <p:spPr>
          <a:xfrm>
            <a:off x="10131552" y="1691640"/>
            <a:ext cx="420624" cy="420624"/>
          </a:xfrm>
          <a:prstGeom prst="ellipse">
            <a:avLst/>
          </a:prstGeom>
          <a:solidFill>
            <a:srgbClr val="0B1F4D"/>
          </a:solidFill>
          <a:ln w="12700">
            <a:solidFill>
              <a:srgbClr val="0B1F4D"/>
            </a:solidFill>
            <a:prstDash val="solid"/>
          </a:ln>
        </p:spPr>
      </p:sp>
      <p:sp>
        <p:nvSpPr>
          <p:cNvPr id="42" name="Text 40"/>
          <p:cNvSpPr/>
          <p:nvPr/>
        </p:nvSpPr>
        <p:spPr>
          <a:xfrm>
            <a:off x="10149840" y="1778508"/>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43" name="Text 41"/>
          <p:cNvSpPr/>
          <p:nvPr/>
        </p:nvSpPr>
        <p:spPr>
          <a:xfrm>
            <a:off x="9281160" y="2240280"/>
            <a:ext cx="2148840" cy="320040"/>
          </a:xfrm>
          <a:prstGeom prst="rect">
            <a:avLst/>
          </a:prstGeom>
          <a:noFill/>
          <a:ln/>
        </p:spPr>
        <p:txBody>
          <a:bodyPr wrap="square" lIns="0" tIns="0" rIns="0" bIns="0" rtlCol="0" anchor="ctr"/>
          <a:lstStyle/>
          <a:p>
            <a:pPr algn="ctr" indent="0" marL="0">
              <a:buNone/>
            </a:pPr>
            <a:r>
              <a:rPr lang="en-US" sz="1600" b="1" dirty="0">
                <a:solidFill>
                  <a:srgbClr val="0B1F4D"/>
                </a:solidFill>
              </a:rPr>
              <a:t>Black-box behavior</a:t>
            </a:r>
            <a:endParaRPr lang="en-US" sz="1600" dirty="0"/>
          </a:p>
        </p:txBody>
      </p:sp>
      <p:sp>
        <p:nvSpPr>
          <p:cNvPr id="44" name="Shape 42"/>
          <p:cNvSpPr/>
          <p:nvPr/>
        </p:nvSpPr>
        <p:spPr>
          <a:xfrm>
            <a:off x="9418320" y="2862072"/>
            <a:ext cx="73152" cy="73152"/>
          </a:xfrm>
          <a:prstGeom prst="ellipse">
            <a:avLst/>
          </a:prstGeom>
          <a:solidFill>
            <a:srgbClr val="0B1F4D"/>
          </a:solidFill>
          <a:ln w="12700">
            <a:solidFill>
              <a:srgbClr val="0B1F4D"/>
            </a:solidFill>
            <a:prstDash val="solid"/>
          </a:ln>
        </p:spPr>
      </p:sp>
      <p:sp>
        <p:nvSpPr>
          <p:cNvPr id="45" name="Text 43"/>
          <p:cNvSpPr/>
          <p:nvPr/>
        </p:nvSpPr>
        <p:spPr>
          <a:xfrm>
            <a:off x="9582912" y="2788920"/>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Recall</a:t>
            </a:r>
            <a:endParaRPr lang="en-US" sz="1070" dirty="0"/>
          </a:p>
        </p:txBody>
      </p:sp>
      <p:sp>
        <p:nvSpPr>
          <p:cNvPr id="46" name="Shape 44"/>
          <p:cNvSpPr/>
          <p:nvPr/>
        </p:nvSpPr>
        <p:spPr>
          <a:xfrm>
            <a:off x="9418320" y="3246120"/>
            <a:ext cx="73152" cy="73152"/>
          </a:xfrm>
          <a:prstGeom prst="ellipse">
            <a:avLst/>
          </a:prstGeom>
          <a:solidFill>
            <a:srgbClr val="0B1F4D"/>
          </a:solidFill>
          <a:ln w="12700">
            <a:solidFill>
              <a:srgbClr val="0B1F4D"/>
            </a:solidFill>
            <a:prstDash val="solid"/>
          </a:ln>
        </p:spPr>
      </p:sp>
      <p:sp>
        <p:nvSpPr>
          <p:cNvPr id="47" name="Text 45"/>
          <p:cNvSpPr/>
          <p:nvPr/>
        </p:nvSpPr>
        <p:spPr>
          <a:xfrm>
            <a:off x="9582912" y="3172968"/>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FNR / FPR</a:t>
            </a:r>
            <a:endParaRPr lang="en-US" sz="1070" dirty="0"/>
          </a:p>
        </p:txBody>
      </p:sp>
      <p:sp>
        <p:nvSpPr>
          <p:cNvPr id="48" name="Shape 46"/>
          <p:cNvSpPr/>
          <p:nvPr/>
        </p:nvSpPr>
        <p:spPr>
          <a:xfrm>
            <a:off x="9418320" y="3630168"/>
            <a:ext cx="73152" cy="73152"/>
          </a:xfrm>
          <a:prstGeom prst="ellipse">
            <a:avLst/>
          </a:prstGeom>
          <a:solidFill>
            <a:srgbClr val="0B1F4D"/>
          </a:solidFill>
          <a:ln w="12700">
            <a:solidFill>
              <a:srgbClr val="0B1F4D"/>
            </a:solidFill>
            <a:prstDash val="solid"/>
          </a:ln>
        </p:spPr>
      </p:sp>
      <p:sp>
        <p:nvSpPr>
          <p:cNvPr id="49" name="Text 47"/>
          <p:cNvSpPr/>
          <p:nvPr/>
        </p:nvSpPr>
        <p:spPr>
          <a:xfrm>
            <a:off x="9582912" y="3557016"/>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Unknown rate</a:t>
            </a:r>
            <a:endParaRPr lang="en-US" sz="1070" dirty="0"/>
          </a:p>
        </p:txBody>
      </p:sp>
      <p:sp>
        <p:nvSpPr>
          <p:cNvPr id="50" name="Shape 48"/>
          <p:cNvSpPr/>
          <p:nvPr/>
        </p:nvSpPr>
        <p:spPr>
          <a:xfrm>
            <a:off x="9418320" y="4014216"/>
            <a:ext cx="73152" cy="73152"/>
          </a:xfrm>
          <a:prstGeom prst="ellipse">
            <a:avLst/>
          </a:prstGeom>
          <a:solidFill>
            <a:srgbClr val="0B1F4D"/>
          </a:solidFill>
          <a:ln w="12700">
            <a:solidFill>
              <a:srgbClr val="0B1F4D"/>
            </a:solidFill>
            <a:prstDash val="solid"/>
          </a:ln>
        </p:spPr>
      </p:sp>
      <p:sp>
        <p:nvSpPr>
          <p:cNvPr id="51" name="Text 49"/>
          <p:cNvSpPr/>
          <p:nvPr/>
        </p:nvSpPr>
        <p:spPr>
          <a:xfrm>
            <a:off x="9582912" y="3941064"/>
            <a:ext cx="1920240" cy="384048"/>
          </a:xfrm>
          <a:prstGeom prst="rect">
            <a:avLst/>
          </a:prstGeom>
          <a:noFill/>
          <a:ln/>
        </p:spPr>
        <p:txBody>
          <a:bodyPr wrap="square" lIns="254" tIns="254" rIns="254" bIns="254" rtlCol="0" anchor="ctr">
            <a:normAutofit/>
          </a:bodyPr>
          <a:lstStyle/>
          <a:p>
            <a:pPr indent="0" marL="0">
              <a:buNone/>
            </a:pPr>
            <a:r>
              <a:rPr lang="en-US" sz="1070" dirty="0">
                <a:solidFill>
                  <a:srgbClr val="10203B"/>
                </a:solidFill>
              </a:rPr>
              <a:t>Conservative mapping</a:t>
            </a:r>
            <a:endParaRPr lang="en-US" sz="1070" dirty="0"/>
          </a:p>
        </p:txBody>
      </p:sp>
      <p:sp>
        <p:nvSpPr>
          <p:cNvPr id="52" name="Shape 50"/>
          <p:cNvSpPr/>
          <p:nvPr/>
        </p:nvSpPr>
        <p:spPr>
          <a:xfrm>
            <a:off x="2011680" y="5806440"/>
            <a:ext cx="8183880" cy="502920"/>
          </a:xfrm>
          <a:prstGeom prst="roundRect">
            <a:avLst>
              <a:gd name="adj" fmla="val 18182"/>
            </a:avLst>
          </a:prstGeom>
          <a:solidFill>
            <a:srgbClr val="FFFFFF"/>
          </a:solidFill>
          <a:ln w="16510">
            <a:solidFill>
              <a:srgbClr val="E76F28"/>
            </a:solidFill>
            <a:prstDash val="solid"/>
          </a:ln>
        </p:spPr>
      </p:sp>
      <p:sp>
        <p:nvSpPr>
          <p:cNvPr id="53" name="Text 51"/>
          <p:cNvSpPr/>
          <p:nvPr/>
        </p:nvSpPr>
        <p:spPr>
          <a:xfrm>
            <a:off x="2176272" y="5916168"/>
            <a:ext cx="785469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In forensic triage, false negatives and high-confidence errors are operationally critical.</a:t>
            </a:r>
            <a:endParaRPr lang="en-US" sz="1200" dirty="0"/>
          </a:p>
        </p:txBody>
      </p:sp>
      <p:sp>
        <p:nvSpPr>
          <p:cNvPr id="54" name="Shape 52"/>
          <p:cNvSpPr/>
          <p:nvPr/>
        </p:nvSpPr>
        <p:spPr>
          <a:xfrm>
            <a:off x="411480" y="6510528"/>
            <a:ext cx="11365992" cy="0"/>
          </a:xfrm>
          <a:prstGeom prst="line">
            <a:avLst/>
          </a:prstGeom>
          <a:noFill/>
          <a:ln w="8890">
            <a:solidFill>
              <a:srgbClr val="D8E1E8"/>
            </a:solidFill>
            <a:prstDash val="solid"/>
          </a:ln>
        </p:spPr>
      </p:sp>
      <p:sp>
        <p:nvSpPr>
          <p:cNvPr id="55" name="Text 53"/>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56" name="Text 54"/>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PROXY TRACK — RESULTS</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Proxy Models: Clean Baseline and OOD Behavior</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High clean accuracy does not remove OOD risk</a:t>
            </a:r>
            <a:endParaRPr lang="en-US" sz="1100" dirty="0"/>
          </a:p>
        </p:txBody>
      </p:sp>
      <p:sp>
        <p:nvSpPr>
          <p:cNvPr id="6" name="Shape 4"/>
          <p:cNvSpPr/>
          <p:nvPr/>
        </p:nvSpPr>
        <p:spPr>
          <a:xfrm>
            <a:off x="685800" y="1417320"/>
            <a:ext cx="2011680" cy="354330"/>
          </a:xfrm>
          <a:prstGeom prst="rect">
            <a:avLst/>
          </a:prstGeom>
          <a:solidFill>
            <a:srgbClr val="0B1F4D"/>
          </a:solidFill>
          <a:ln w="12700">
            <a:solidFill>
              <a:srgbClr val="FFFFFF">
                <a:alpha val="0"/>
              </a:srgbClr>
            </a:solidFill>
            <a:prstDash val="solid"/>
          </a:ln>
        </p:spPr>
      </p:sp>
      <p:sp>
        <p:nvSpPr>
          <p:cNvPr id="7" name="Text 5"/>
          <p:cNvSpPr/>
          <p:nvPr/>
        </p:nvSpPr>
        <p:spPr>
          <a:xfrm>
            <a:off x="713232" y="1463040"/>
            <a:ext cx="1956816" cy="281178"/>
          </a:xfrm>
          <a:prstGeom prst="rect">
            <a:avLst/>
          </a:prstGeom>
          <a:noFill/>
          <a:ln/>
        </p:spPr>
        <p:txBody>
          <a:bodyPr wrap="square" lIns="127" tIns="127" rIns="127" bIns="127" rtlCol="0" anchor="ctr">
            <a:normAutofit/>
          </a:bodyPr>
          <a:lstStyle/>
          <a:p>
            <a:pPr algn="ctr" indent="0" marL="0">
              <a:buNone/>
            </a:pPr>
            <a:r>
              <a:rPr lang="en-US" sz="1050" b="1" dirty="0">
                <a:solidFill>
                  <a:srgbClr val="FFFFFF"/>
                </a:solidFill>
              </a:rPr>
              <a:t>Model</a:t>
            </a:r>
            <a:endParaRPr lang="en-US" sz="1050" dirty="0"/>
          </a:p>
        </p:txBody>
      </p:sp>
      <p:sp>
        <p:nvSpPr>
          <p:cNvPr id="8" name="Shape 6"/>
          <p:cNvSpPr/>
          <p:nvPr/>
        </p:nvSpPr>
        <p:spPr>
          <a:xfrm>
            <a:off x="2697480" y="1417320"/>
            <a:ext cx="1417320" cy="354330"/>
          </a:xfrm>
          <a:prstGeom prst="rect">
            <a:avLst/>
          </a:prstGeom>
          <a:solidFill>
            <a:srgbClr val="0B1F4D"/>
          </a:solidFill>
          <a:ln w="12700">
            <a:solidFill>
              <a:srgbClr val="FFFFFF">
                <a:alpha val="0"/>
              </a:srgbClr>
            </a:solidFill>
            <a:prstDash val="solid"/>
          </a:ln>
        </p:spPr>
      </p:sp>
      <p:sp>
        <p:nvSpPr>
          <p:cNvPr id="9" name="Text 7"/>
          <p:cNvSpPr/>
          <p:nvPr/>
        </p:nvSpPr>
        <p:spPr>
          <a:xfrm>
            <a:off x="2724912" y="1463040"/>
            <a:ext cx="1362456" cy="281178"/>
          </a:xfrm>
          <a:prstGeom prst="rect">
            <a:avLst/>
          </a:prstGeom>
          <a:noFill/>
          <a:ln/>
        </p:spPr>
        <p:txBody>
          <a:bodyPr wrap="square" lIns="127" tIns="127" rIns="127" bIns="127" rtlCol="0" anchor="ctr">
            <a:normAutofit/>
          </a:bodyPr>
          <a:lstStyle/>
          <a:p>
            <a:pPr algn="ctr" indent="0" marL="0">
              <a:buNone/>
            </a:pPr>
            <a:r>
              <a:rPr lang="en-US" sz="1050" b="1" dirty="0">
                <a:solidFill>
                  <a:srgbClr val="FFFFFF"/>
                </a:solidFill>
              </a:rPr>
              <a:t>Acc.</a:t>
            </a:r>
            <a:endParaRPr lang="en-US" sz="1050" dirty="0"/>
          </a:p>
        </p:txBody>
      </p:sp>
      <p:sp>
        <p:nvSpPr>
          <p:cNvPr id="10" name="Shape 8"/>
          <p:cNvSpPr/>
          <p:nvPr/>
        </p:nvSpPr>
        <p:spPr>
          <a:xfrm>
            <a:off x="4114800" y="1417320"/>
            <a:ext cx="1417320" cy="354330"/>
          </a:xfrm>
          <a:prstGeom prst="rect">
            <a:avLst/>
          </a:prstGeom>
          <a:solidFill>
            <a:srgbClr val="0B1F4D"/>
          </a:solidFill>
          <a:ln w="12700">
            <a:solidFill>
              <a:srgbClr val="FFFFFF">
                <a:alpha val="0"/>
              </a:srgbClr>
            </a:solidFill>
            <a:prstDash val="solid"/>
          </a:ln>
        </p:spPr>
      </p:sp>
      <p:sp>
        <p:nvSpPr>
          <p:cNvPr id="11" name="Text 9"/>
          <p:cNvSpPr/>
          <p:nvPr/>
        </p:nvSpPr>
        <p:spPr>
          <a:xfrm>
            <a:off x="4142232" y="1463040"/>
            <a:ext cx="1362456" cy="281178"/>
          </a:xfrm>
          <a:prstGeom prst="rect">
            <a:avLst/>
          </a:prstGeom>
          <a:noFill/>
          <a:ln/>
        </p:spPr>
        <p:txBody>
          <a:bodyPr wrap="square" lIns="127" tIns="127" rIns="127" bIns="127" rtlCol="0" anchor="ctr">
            <a:normAutofit/>
          </a:bodyPr>
          <a:lstStyle/>
          <a:p>
            <a:pPr algn="ctr" indent="0" marL="0">
              <a:buNone/>
            </a:pPr>
            <a:r>
              <a:rPr lang="en-US" sz="1050" b="1" dirty="0">
                <a:solidFill>
                  <a:srgbClr val="FFFFFF"/>
                </a:solidFill>
              </a:rPr>
              <a:t>FNR</a:t>
            </a:r>
            <a:endParaRPr lang="en-US" sz="1050" dirty="0"/>
          </a:p>
        </p:txBody>
      </p:sp>
      <p:sp>
        <p:nvSpPr>
          <p:cNvPr id="12" name="Shape 10"/>
          <p:cNvSpPr/>
          <p:nvPr/>
        </p:nvSpPr>
        <p:spPr>
          <a:xfrm>
            <a:off x="5532120" y="1417320"/>
            <a:ext cx="1417320" cy="354330"/>
          </a:xfrm>
          <a:prstGeom prst="rect">
            <a:avLst/>
          </a:prstGeom>
          <a:solidFill>
            <a:srgbClr val="0B1F4D"/>
          </a:solidFill>
          <a:ln w="12700">
            <a:solidFill>
              <a:srgbClr val="FFFFFF">
                <a:alpha val="0"/>
              </a:srgbClr>
            </a:solidFill>
            <a:prstDash val="solid"/>
          </a:ln>
        </p:spPr>
      </p:sp>
      <p:sp>
        <p:nvSpPr>
          <p:cNvPr id="13" name="Text 11"/>
          <p:cNvSpPr/>
          <p:nvPr/>
        </p:nvSpPr>
        <p:spPr>
          <a:xfrm>
            <a:off x="5559552" y="1463040"/>
            <a:ext cx="1362456" cy="281178"/>
          </a:xfrm>
          <a:prstGeom prst="rect">
            <a:avLst/>
          </a:prstGeom>
          <a:noFill/>
          <a:ln/>
        </p:spPr>
        <p:txBody>
          <a:bodyPr wrap="square" lIns="127" tIns="127" rIns="127" bIns="127" rtlCol="0" anchor="ctr">
            <a:normAutofit/>
          </a:bodyPr>
          <a:lstStyle/>
          <a:p>
            <a:pPr algn="ctr" indent="0" marL="0">
              <a:buNone/>
            </a:pPr>
            <a:r>
              <a:rPr lang="en-US" sz="1050" b="1" dirty="0">
                <a:solidFill>
                  <a:srgbClr val="FFFFFF"/>
                </a:solidFill>
              </a:rPr>
              <a:t>FPR</a:t>
            </a:r>
            <a:endParaRPr lang="en-US" sz="1050" dirty="0"/>
          </a:p>
        </p:txBody>
      </p:sp>
      <p:sp>
        <p:nvSpPr>
          <p:cNvPr id="14" name="Shape 12"/>
          <p:cNvSpPr/>
          <p:nvPr/>
        </p:nvSpPr>
        <p:spPr>
          <a:xfrm>
            <a:off x="6949440" y="1417320"/>
            <a:ext cx="1828800" cy="354330"/>
          </a:xfrm>
          <a:prstGeom prst="rect">
            <a:avLst/>
          </a:prstGeom>
          <a:solidFill>
            <a:srgbClr val="0B1F4D"/>
          </a:solidFill>
          <a:ln w="12700">
            <a:solidFill>
              <a:srgbClr val="FFFFFF">
                <a:alpha val="0"/>
              </a:srgbClr>
            </a:solidFill>
            <a:prstDash val="solid"/>
          </a:ln>
        </p:spPr>
      </p:sp>
      <p:sp>
        <p:nvSpPr>
          <p:cNvPr id="15" name="Text 13"/>
          <p:cNvSpPr/>
          <p:nvPr/>
        </p:nvSpPr>
        <p:spPr>
          <a:xfrm>
            <a:off x="6976872" y="1463040"/>
            <a:ext cx="1773936" cy="281178"/>
          </a:xfrm>
          <a:prstGeom prst="rect">
            <a:avLst/>
          </a:prstGeom>
          <a:noFill/>
          <a:ln/>
        </p:spPr>
        <p:txBody>
          <a:bodyPr wrap="square" lIns="127" tIns="127" rIns="127" bIns="127" rtlCol="0" anchor="ctr">
            <a:normAutofit/>
          </a:bodyPr>
          <a:lstStyle/>
          <a:p>
            <a:pPr algn="ctr" indent="0" marL="0">
              <a:buNone/>
            </a:pPr>
            <a:r>
              <a:rPr lang="en-US" sz="1050" b="1" dirty="0">
                <a:solidFill>
                  <a:srgbClr val="FFFFFF"/>
                </a:solidFill>
              </a:rPr>
              <a:t>OOD W-rate</a:t>
            </a:r>
            <a:endParaRPr lang="en-US" sz="1050" dirty="0"/>
          </a:p>
        </p:txBody>
      </p:sp>
      <p:sp>
        <p:nvSpPr>
          <p:cNvPr id="16" name="Shape 14"/>
          <p:cNvSpPr/>
          <p:nvPr/>
        </p:nvSpPr>
        <p:spPr>
          <a:xfrm>
            <a:off x="8778240" y="1417320"/>
            <a:ext cx="1828800" cy="354330"/>
          </a:xfrm>
          <a:prstGeom prst="rect">
            <a:avLst/>
          </a:prstGeom>
          <a:solidFill>
            <a:srgbClr val="0B1F4D"/>
          </a:solidFill>
          <a:ln w="12700">
            <a:solidFill>
              <a:srgbClr val="FFFFFF">
                <a:alpha val="0"/>
              </a:srgbClr>
            </a:solidFill>
            <a:prstDash val="solid"/>
          </a:ln>
        </p:spPr>
      </p:sp>
      <p:sp>
        <p:nvSpPr>
          <p:cNvPr id="17" name="Text 15"/>
          <p:cNvSpPr/>
          <p:nvPr/>
        </p:nvSpPr>
        <p:spPr>
          <a:xfrm>
            <a:off x="8805672" y="1463040"/>
            <a:ext cx="1773936" cy="281178"/>
          </a:xfrm>
          <a:prstGeom prst="rect">
            <a:avLst/>
          </a:prstGeom>
          <a:noFill/>
          <a:ln/>
        </p:spPr>
        <p:txBody>
          <a:bodyPr wrap="square" lIns="127" tIns="127" rIns="127" bIns="127" rtlCol="0" anchor="ctr">
            <a:normAutofit/>
          </a:bodyPr>
          <a:lstStyle/>
          <a:p>
            <a:pPr algn="ctr" indent="0" marL="0">
              <a:buNone/>
            </a:pPr>
            <a:r>
              <a:rPr lang="en-US" sz="1050" b="1" dirty="0">
                <a:solidFill>
                  <a:srgbClr val="FFFFFF"/>
                </a:solidFill>
              </a:rPr>
              <a:t>OOD HC-rate</a:t>
            </a:r>
            <a:endParaRPr lang="en-US" sz="1050" dirty="0"/>
          </a:p>
        </p:txBody>
      </p:sp>
      <p:sp>
        <p:nvSpPr>
          <p:cNvPr id="18" name="Shape 16"/>
          <p:cNvSpPr/>
          <p:nvPr/>
        </p:nvSpPr>
        <p:spPr>
          <a:xfrm>
            <a:off x="685800" y="1771650"/>
            <a:ext cx="2011680" cy="354330"/>
          </a:xfrm>
          <a:prstGeom prst="rect">
            <a:avLst/>
          </a:prstGeom>
          <a:solidFill>
            <a:srgbClr val="FFFFFF"/>
          </a:solidFill>
          <a:ln w="6350">
            <a:solidFill>
              <a:srgbClr val="FFFFFF"/>
            </a:solidFill>
            <a:prstDash val="solid"/>
          </a:ln>
        </p:spPr>
      </p:sp>
      <p:sp>
        <p:nvSpPr>
          <p:cNvPr id="19" name="Text 17"/>
          <p:cNvSpPr/>
          <p:nvPr/>
        </p:nvSpPr>
        <p:spPr>
          <a:xfrm>
            <a:off x="713232" y="1808226"/>
            <a:ext cx="1956816" cy="281178"/>
          </a:xfrm>
          <a:prstGeom prst="rect">
            <a:avLst/>
          </a:prstGeom>
          <a:noFill/>
          <a:ln/>
        </p:spPr>
        <p:txBody>
          <a:bodyPr wrap="square" lIns="127" tIns="127" rIns="127" bIns="127" rtlCol="0" anchor="ctr">
            <a:normAutofit/>
          </a:bodyPr>
          <a:lstStyle/>
          <a:p>
            <a:pPr algn="l" indent="0" marL="0">
              <a:buNone/>
            </a:pPr>
            <a:r>
              <a:rPr lang="en-US" sz="1100" dirty="0">
                <a:solidFill>
                  <a:srgbClr val="10203B"/>
                </a:solidFill>
              </a:rPr>
              <a:t>EfficientNet-B0</a:t>
            </a:r>
            <a:endParaRPr lang="en-US" sz="1100" dirty="0"/>
          </a:p>
        </p:txBody>
      </p:sp>
      <p:sp>
        <p:nvSpPr>
          <p:cNvPr id="20" name="Shape 18"/>
          <p:cNvSpPr/>
          <p:nvPr/>
        </p:nvSpPr>
        <p:spPr>
          <a:xfrm>
            <a:off x="2697480" y="1771650"/>
            <a:ext cx="1417320" cy="354330"/>
          </a:xfrm>
          <a:prstGeom prst="rect">
            <a:avLst/>
          </a:prstGeom>
          <a:solidFill>
            <a:srgbClr val="FFFFFF"/>
          </a:solidFill>
          <a:ln w="6350">
            <a:solidFill>
              <a:srgbClr val="FFFFFF"/>
            </a:solidFill>
            <a:prstDash val="solid"/>
          </a:ln>
        </p:spPr>
      </p:sp>
      <p:sp>
        <p:nvSpPr>
          <p:cNvPr id="21" name="Text 19"/>
          <p:cNvSpPr/>
          <p:nvPr/>
        </p:nvSpPr>
        <p:spPr>
          <a:xfrm>
            <a:off x="2724912" y="180822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0.978</a:t>
            </a:r>
            <a:endParaRPr lang="en-US" sz="1100" dirty="0"/>
          </a:p>
        </p:txBody>
      </p:sp>
      <p:sp>
        <p:nvSpPr>
          <p:cNvPr id="22" name="Shape 20"/>
          <p:cNvSpPr/>
          <p:nvPr/>
        </p:nvSpPr>
        <p:spPr>
          <a:xfrm>
            <a:off x="4114800" y="1771650"/>
            <a:ext cx="1417320" cy="354330"/>
          </a:xfrm>
          <a:prstGeom prst="rect">
            <a:avLst/>
          </a:prstGeom>
          <a:solidFill>
            <a:srgbClr val="FFFFFF"/>
          </a:solidFill>
          <a:ln w="6350">
            <a:solidFill>
              <a:srgbClr val="FFFFFF"/>
            </a:solidFill>
            <a:prstDash val="solid"/>
          </a:ln>
        </p:spPr>
      </p:sp>
      <p:sp>
        <p:nvSpPr>
          <p:cNvPr id="23" name="Text 21"/>
          <p:cNvSpPr/>
          <p:nvPr/>
        </p:nvSpPr>
        <p:spPr>
          <a:xfrm>
            <a:off x="4142232" y="180822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0.016</a:t>
            </a:r>
            <a:endParaRPr lang="en-US" sz="1100" dirty="0"/>
          </a:p>
        </p:txBody>
      </p:sp>
      <p:sp>
        <p:nvSpPr>
          <p:cNvPr id="24" name="Shape 22"/>
          <p:cNvSpPr/>
          <p:nvPr/>
        </p:nvSpPr>
        <p:spPr>
          <a:xfrm>
            <a:off x="5532120" y="1771650"/>
            <a:ext cx="1417320" cy="354330"/>
          </a:xfrm>
          <a:prstGeom prst="rect">
            <a:avLst/>
          </a:prstGeom>
          <a:solidFill>
            <a:srgbClr val="FFFFFF"/>
          </a:solidFill>
          <a:ln w="6350">
            <a:solidFill>
              <a:srgbClr val="FFFFFF"/>
            </a:solidFill>
            <a:prstDash val="solid"/>
          </a:ln>
        </p:spPr>
      </p:sp>
      <p:sp>
        <p:nvSpPr>
          <p:cNvPr id="25" name="Text 23"/>
          <p:cNvSpPr/>
          <p:nvPr/>
        </p:nvSpPr>
        <p:spPr>
          <a:xfrm>
            <a:off x="5559552" y="180822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0.028</a:t>
            </a:r>
            <a:endParaRPr lang="en-US" sz="1100" dirty="0"/>
          </a:p>
        </p:txBody>
      </p:sp>
      <p:sp>
        <p:nvSpPr>
          <p:cNvPr id="26" name="Shape 24"/>
          <p:cNvSpPr/>
          <p:nvPr/>
        </p:nvSpPr>
        <p:spPr>
          <a:xfrm>
            <a:off x="6949440" y="1771650"/>
            <a:ext cx="1828800" cy="354330"/>
          </a:xfrm>
          <a:prstGeom prst="rect">
            <a:avLst/>
          </a:prstGeom>
          <a:solidFill>
            <a:srgbClr val="FFFFFF"/>
          </a:solidFill>
          <a:ln w="6350">
            <a:solidFill>
              <a:srgbClr val="FFFFFF"/>
            </a:solidFill>
            <a:prstDash val="solid"/>
          </a:ln>
        </p:spPr>
      </p:sp>
      <p:sp>
        <p:nvSpPr>
          <p:cNvPr id="27" name="Text 25"/>
          <p:cNvSpPr/>
          <p:nvPr/>
        </p:nvSpPr>
        <p:spPr>
          <a:xfrm>
            <a:off x="6976872" y="1808226"/>
            <a:ext cx="177393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0.370</a:t>
            </a:r>
            <a:endParaRPr lang="en-US" sz="1100" dirty="0"/>
          </a:p>
        </p:txBody>
      </p:sp>
      <p:sp>
        <p:nvSpPr>
          <p:cNvPr id="28" name="Shape 26"/>
          <p:cNvSpPr/>
          <p:nvPr/>
        </p:nvSpPr>
        <p:spPr>
          <a:xfrm>
            <a:off x="8778240" y="1771650"/>
            <a:ext cx="1828800" cy="354330"/>
          </a:xfrm>
          <a:prstGeom prst="rect">
            <a:avLst/>
          </a:prstGeom>
          <a:solidFill>
            <a:srgbClr val="FFFFFF"/>
          </a:solidFill>
          <a:ln w="6350">
            <a:solidFill>
              <a:srgbClr val="FFFFFF"/>
            </a:solidFill>
            <a:prstDash val="solid"/>
          </a:ln>
        </p:spPr>
      </p:sp>
      <p:sp>
        <p:nvSpPr>
          <p:cNvPr id="29" name="Text 27"/>
          <p:cNvSpPr/>
          <p:nvPr/>
        </p:nvSpPr>
        <p:spPr>
          <a:xfrm>
            <a:off x="8805672" y="1808226"/>
            <a:ext cx="177393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0.501</a:t>
            </a:r>
            <a:endParaRPr lang="en-US" sz="1100" dirty="0"/>
          </a:p>
        </p:txBody>
      </p:sp>
      <p:sp>
        <p:nvSpPr>
          <p:cNvPr id="30" name="Shape 28"/>
          <p:cNvSpPr/>
          <p:nvPr/>
        </p:nvSpPr>
        <p:spPr>
          <a:xfrm>
            <a:off x="685800" y="2125980"/>
            <a:ext cx="2011680" cy="354330"/>
          </a:xfrm>
          <a:prstGeom prst="rect">
            <a:avLst/>
          </a:prstGeom>
          <a:solidFill>
            <a:srgbClr val="F3F7FA"/>
          </a:solidFill>
          <a:ln w="6350">
            <a:solidFill>
              <a:srgbClr val="FFFFFF"/>
            </a:solidFill>
            <a:prstDash val="solid"/>
          </a:ln>
        </p:spPr>
      </p:sp>
      <p:sp>
        <p:nvSpPr>
          <p:cNvPr id="31" name="Text 29"/>
          <p:cNvSpPr/>
          <p:nvPr/>
        </p:nvSpPr>
        <p:spPr>
          <a:xfrm>
            <a:off x="713232" y="2162556"/>
            <a:ext cx="1956816" cy="281178"/>
          </a:xfrm>
          <a:prstGeom prst="rect">
            <a:avLst/>
          </a:prstGeom>
          <a:noFill/>
          <a:ln/>
        </p:spPr>
        <p:txBody>
          <a:bodyPr wrap="square" lIns="127" tIns="127" rIns="127" bIns="127" rtlCol="0" anchor="ctr">
            <a:normAutofit/>
          </a:bodyPr>
          <a:lstStyle/>
          <a:p>
            <a:pPr algn="l" indent="0" marL="0">
              <a:buNone/>
            </a:pPr>
            <a:r>
              <a:rPr lang="en-US" sz="1100" dirty="0">
                <a:solidFill>
                  <a:srgbClr val="10203B"/>
                </a:solidFill>
              </a:rPr>
              <a:t>ResNet18</a:t>
            </a:r>
            <a:endParaRPr lang="en-US" sz="1100" dirty="0"/>
          </a:p>
        </p:txBody>
      </p:sp>
      <p:sp>
        <p:nvSpPr>
          <p:cNvPr id="32" name="Shape 30"/>
          <p:cNvSpPr/>
          <p:nvPr/>
        </p:nvSpPr>
        <p:spPr>
          <a:xfrm>
            <a:off x="2697480" y="2125980"/>
            <a:ext cx="1417320" cy="354330"/>
          </a:xfrm>
          <a:prstGeom prst="rect">
            <a:avLst/>
          </a:prstGeom>
          <a:solidFill>
            <a:srgbClr val="F3F7FA"/>
          </a:solidFill>
          <a:ln w="6350">
            <a:solidFill>
              <a:srgbClr val="FFFFFF"/>
            </a:solidFill>
            <a:prstDash val="solid"/>
          </a:ln>
        </p:spPr>
      </p:sp>
      <p:sp>
        <p:nvSpPr>
          <p:cNvPr id="33" name="Text 31"/>
          <p:cNvSpPr/>
          <p:nvPr/>
        </p:nvSpPr>
        <p:spPr>
          <a:xfrm>
            <a:off x="2724912" y="216255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0.964</a:t>
            </a:r>
            <a:endParaRPr lang="en-US" sz="1100" dirty="0"/>
          </a:p>
        </p:txBody>
      </p:sp>
      <p:sp>
        <p:nvSpPr>
          <p:cNvPr id="34" name="Shape 32"/>
          <p:cNvSpPr/>
          <p:nvPr/>
        </p:nvSpPr>
        <p:spPr>
          <a:xfrm>
            <a:off x="4114800" y="2125980"/>
            <a:ext cx="1417320" cy="354330"/>
          </a:xfrm>
          <a:prstGeom prst="rect">
            <a:avLst/>
          </a:prstGeom>
          <a:solidFill>
            <a:srgbClr val="F3F7FA"/>
          </a:solidFill>
          <a:ln w="6350">
            <a:solidFill>
              <a:srgbClr val="FFFFFF"/>
            </a:solidFill>
            <a:prstDash val="solid"/>
          </a:ln>
        </p:spPr>
      </p:sp>
      <p:sp>
        <p:nvSpPr>
          <p:cNvPr id="35" name="Text 33"/>
          <p:cNvSpPr/>
          <p:nvPr/>
        </p:nvSpPr>
        <p:spPr>
          <a:xfrm>
            <a:off x="4142232" y="216255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0.030</a:t>
            </a:r>
            <a:endParaRPr lang="en-US" sz="1100" dirty="0"/>
          </a:p>
        </p:txBody>
      </p:sp>
      <p:sp>
        <p:nvSpPr>
          <p:cNvPr id="36" name="Shape 34"/>
          <p:cNvSpPr/>
          <p:nvPr/>
        </p:nvSpPr>
        <p:spPr>
          <a:xfrm>
            <a:off x="5532120" y="2125980"/>
            <a:ext cx="1417320" cy="354330"/>
          </a:xfrm>
          <a:prstGeom prst="rect">
            <a:avLst/>
          </a:prstGeom>
          <a:solidFill>
            <a:srgbClr val="F3F7FA"/>
          </a:solidFill>
          <a:ln w="6350">
            <a:solidFill>
              <a:srgbClr val="FFFFFF"/>
            </a:solidFill>
            <a:prstDash val="solid"/>
          </a:ln>
        </p:spPr>
      </p:sp>
      <p:sp>
        <p:nvSpPr>
          <p:cNvPr id="37" name="Text 35"/>
          <p:cNvSpPr/>
          <p:nvPr/>
        </p:nvSpPr>
        <p:spPr>
          <a:xfrm>
            <a:off x="5559552" y="216255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0.042</a:t>
            </a:r>
            <a:endParaRPr lang="en-US" sz="1100" dirty="0"/>
          </a:p>
        </p:txBody>
      </p:sp>
      <p:sp>
        <p:nvSpPr>
          <p:cNvPr id="38" name="Shape 36"/>
          <p:cNvSpPr/>
          <p:nvPr/>
        </p:nvSpPr>
        <p:spPr>
          <a:xfrm>
            <a:off x="6949440" y="2125980"/>
            <a:ext cx="1828800" cy="354330"/>
          </a:xfrm>
          <a:prstGeom prst="rect">
            <a:avLst/>
          </a:prstGeom>
          <a:solidFill>
            <a:srgbClr val="F3F7FA"/>
          </a:solidFill>
          <a:ln w="6350">
            <a:solidFill>
              <a:srgbClr val="FFFFFF"/>
            </a:solidFill>
            <a:prstDash val="solid"/>
          </a:ln>
        </p:spPr>
      </p:sp>
      <p:sp>
        <p:nvSpPr>
          <p:cNvPr id="39" name="Text 37"/>
          <p:cNvSpPr/>
          <p:nvPr/>
        </p:nvSpPr>
        <p:spPr>
          <a:xfrm>
            <a:off x="6976872" y="2162556"/>
            <a:ext cx="177393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0.438</a:t>
            </a:r>
            <a:endParaRPr lang="en-US" sz="1100" dirty="0"/>
          </a:p>
        </p:txBody>
      </p:sp>
      <p:sp>
        <p:nvSpPr>
          <p:cNvPr id="40" name="Shape 38"/>
          <p:cNvSpPr/>
          <p:nvPr/>
        </p:nvSpPr>
        <p:spPr>
          <a:xfrm>
            <a:off x="8778240" y="2125980"/>
            <a:ext cx="1828800" cy="354330"/>
          </a:xfrm>
          <a:prstGeom prst="rect">
            <a:avLst/>
          </a:prstGeom>
          <a:solidFill>
            <a:srgbClr val="F3F7FA"/>
          </a:solidFill>
          <a:ln w="6350">
            <a:solidFill>
              <a:srgbClr val="FFFFFF"/>
            </a:solidFill>
            <a:prstDash val="solid"/>
          </a:ln>
        </p:spPr>
      </p:sp>
      <p:sp>
        <p:nvSpPr>
          <p:cNvPr id="41" name="Text 39"/>
          <p:cNvSpPr/>
          <p:nvPr/>
        </p:nvSpPr>
        <p:spPr>
          <a:xfrm>
            <a:off x="8805672" y="2162556"/>
            <a:ext cx="177393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0.647</a:t>
            </a:r>
            <a:endParaRPr lang="en-US" sz="1100" dirty="0"/>
          </a:p>
        </p:txBody>
      </p:sp>
      <p:sp>
        <p:nvSpPr>
          <p:cNvPr id="42" name="Shape 40"/>
          <p:cNvSpPr/>
          <p:nvPr/>
        </p:nvSpPr>
        <p:spPr>
          <a:xfrm>
            <a:off x="685800" y="2480310"/>
            <a:ext cx="2011680" cy="354330"/>
          </a:xfrm>
          <a:prstGeom prst="rect">
            <a:avLst/>
          </a:prstGeom>
          <a:solidFill>
            <a:srgbClr val="FFFFFF"/>
          </a:solidFill>
          <a:ln w="6350">
            <a:solidFill>
              <a:srgbClr val="FFFFFF"/>
            </a:solidFill>
            <a:prstDash val="solid"/>
          </a:ln>
        </p:spPr>
      </p:sp>
      <p:sp>
        <p:nvSpPr>
          <p:cNvPr id="43" name="Text 41"/>
          <p:cNvSpPr/>
          <p:nvPr/>
        </p:nvSpPr>
        <p:spPr>
          <a:xfrm>
            <a:off x="713232" y="2516886"/>
            <a:ext cx="1956816" cy="281178"/>
          </a:xfrm>
          <a:prstGeom prst="rect">
            <a:avLst/>
          </a:prstGeom>
          <a:noFill/>
          <a:ln/>
        </p:spPr>
        <p:txBody>
          <a:bodyPr wrap="square" lIns="127" tIns="127" rIns="127" bIns="127" rtlCol="0" anchor="ctr">
            <a:normAutofit/>
          </a:bodyPr>
          <a:lstStyle/>
          <a:p>
            <a:pPr algn="l" indent="0" marL="0">
              <a:buNone/>
            </a:pPr>
            <a:r>
              <a:rPr lang="en-US" sz="1100" dirty="0">
                <a:solidFill>
                  <a:srgbClr val="10203B"/>
                </a:solidFill>
              </a:rPr>
              <a:t>CLIP</a:t>
            </a:r>
            <a:endParaRPr lang="en-US" sz="1100" dirty="0"/>
          </a:p>
        </p:txBody>
      </p:sp>
      <p:sp>
        <p:nvSpPr>
          <p:cNvPr id="44" name="Shape 42"/>
          <p:cNvSpPr/>
          <p:nvPr/>
        </p:nvSpPr>
        <p:spPr>
          <a:xfrm>
            <a:off x="2697480" y="2480310"/>
            <a:ext cx="1417320" cy="354330"/>
          </a:xfrm>
          <a:prstGeom prst="rect">
            <a:avLst/>
          </a:prstGeom>
          <a:solidFill>
            <a:srgbClr val="FFFFFF"/>
          </a:solidFill>
          <a:ln w="6350">
            <a:solidFill>
              <a:srgbClr val="FFFFFF"/>
            </a:solidFill>
            <a:prstDash val="solid"/>
          </a:ln>
        </p:spPr>
      </p:sp>
      <p:sp>
        <p:nvSpPr>
          <p:cNvPr id="45" name="Text 43"/>
          <p:cNvSpPr/>
          <p:nvPr/>
        </p:nvSpPr>
        <p:spPr>
          <a:xfrm>
            <a:off x="2724912" y="251688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0.927</a:t>
            </a:r>
            <a:endParaRPr lang="en-US" sz="1100" dirty="0"/>
          </a:p>
        </p:txBody>
      </p:sp>
      <p:sp>
        <p:nvSpPr>
          <p:cNvPr id="46" name="Shape 44"/>
          <p:cNvSpPr/>
          <p:nvPr/>
        </p:nvSpPr>
        <p:spPr>
          <a:xfrm>
            <a:off x="4114800" y="2480310"/>
            <a:ext cx="1417320" cy="354330"/>
          </a:xfrm>
          <a:prstGeom prst="rect">
            <a:avLst/>
          </a:prstGeom>
          <a:solidFill>
            <a:srgbClr val="FFFFFF"/>
          </a:solidFill>
          <a:ln w="6350">
            <a:solidFill>
              <a:srgbClr val="FFFFFF"/>
            </a:solidFill>
            <a:prstDash val="solid"/>
          </a:ln>
        </p:spPr>
      </p:sp>
      <p:sp>
        <p:nvSpPr>
          <p:cNvPr id="47" name="Text 45"/>
          <p:cNvSpPr/>
          <p:nvPr/>
        </p:nvSpPr>
        <p:spPr>
          <a:xfrm>
            <a:off x="4142232" y="251688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0.012</a:t>
            </a:r>
            <a:endParaRPr lang="en-US" sz="1100" dirty="0"/>
          </a:p>
        </p:txBody>
      </p:sp>
      <p:sp>
        <p:nvSpPr>
          <p:cNvPr id="48" name="Shape 46"/>
          <p:cNvSpPr/>
          <p:nvPr/>
        </p:nvSpPr>
        <p:spPr>
          <a:xfrm>
            <a:off x="5532120" y="2480310"/>
            <a:ext cx="1417320" cy="354330"/>
          </a:xfrm>
          <a:prstGeom prst="rect">
            <a:avLst/>
          </a:prstGeom>
          <a:solidFill>
            <a:srgbClr val="FFFFFF"/>
          </a:solidFill>
          <a:ln w="6350">
            <a:solidFill>
              <a:srgbClr val="FFFFFF"/>
            </a:solidFill>
            <a:prstDash val="solid"/>
          </a:ln>
        </p:spPr>
      </p:sp>
      <p:sp>
        <p:nvSpPr>
          <p:cNvPr id="49" name="Text 47"/>
          <p:cNvSpPr/>
          <p:nvPr/>
        </p:nvSpPr>
        <p:spPr>
          <a:xfrm>
            <a:off x="5559552" y="2516886"/>
            <a:ext cx="136245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0.134</a:t>
            </a:r>
            <a:endParaRPr lang="en-US" sz="1100" dirty="0"/>
          </a:p>
        </p:txBody>
      </p:sp>
      <p:sp>
        <p:nvSpPr>
          <p:cNvPr id="50" name="Shape 48"/>
          <p:cNvSpPr/>
          <p:nvPr/>
        </p:nvSpPr>
        <p:spPr>
          <a:xfrm>
            <a:off x="6949440" y="2480310"/>
            <a:ext cx="1828800" cy="354330"/>
          </a:xfrm>
          <a:prstGeom prst="rect">
            <a:avLst/>
          </a:prstGeom>
          <a:solidFill>
            <a:srgbClr val="FFFFFF"/>
          </a:solidFill>
          <a:ln w="6350">
            <a:solidFill>
              <a:srgbClr val="FFFFFF"/>
            </a:solidFill>
            <a:prstDash val="solid"/>
          </a:ln>
        </p:spPr>
      </p:sp>
      <p:sp>
        <p:nvSpPr>
          <p:cNvPr id="51" name="Text 49"/>
          <p:cNvSpPr/>
          <p:nvPr/>
        </p:nvSpPr>
        <p:spPr>
          <a:xfrm>
            <a:off x="6976872" y="2516886"/>
            <a:ext cx="177393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0.836</a:t>
            </a:r>
            <a:endParaRPr lang="en-US" sz="1100" dirty="0"/>
          </a:p>
        </p:txBody>
      </p:sp>
      <p:sp>
        <p:nvSpPr>
          <p:cNvPr id="52" name="Shape 50"/>
          <p:cNvSpPr/>
          <p:nvPr/>
        </p:nvSpPr>
        <p:spPr>
          <a:xfrm>
            <a:off x="8778240" y="2480310"/>
            <a:ext cx="1828800" cy="354330"/>
          </a:xfrm>
          <a:prstGeom prst="rect">
            <a:avLst/>
          </a:prstGeom>
          <a:solidFill>
            <a:srgbClr val="FFFFFF"/>
          </a:solidFill>
          <a:ln w="6350">
            <a:solidFill>
              <a:srgbClr val="FFFFFF"/>
            </a:solidFill>
            <a:prstDash val="solid"/>
          </a:ln>
        </p:spPr>
      </p:sp>
      <p:sp>
        <p:nvSpPr>
          <p:cNvPr id="53" name="Text 51"/>
          <p:cNvSpPr/>
          <p:nvPr/>
        </p:nvSpPr>
        <p:spPr>
          <a:xfrm>
            <a:off x="8805672" y="2516886"/>
            <a:ext cx="1773936" cy="281178"/>
          </a:xfrm>
          <a:prstGeom prst="rect">
            <a:avLst/>
          </a:prstGeom>
          <a:noFill/>
          <a:ln/>
        </p:spPr>
        <p:txBody>
          <a:bodyPr wrap="square" lIns="127" tIns="127" rIns="127" bIns="127" rtlCol="0" anchor="ctr">
            <a:normAutofit/>
          </a:bodyPr>
          <a:lstStyle/>
          <a:p>
            <a:pPr algn="ctr" indent="0" marL="0">
              <a:buNone/>
            </a:pPr>
            <a:r>
              <a:rPr lang="en-US" sz="1100" dirty="0">
                <a:solidFill>
                  <a:srgbClr val="10203B"/>
                </a:solidFill>
              </a:rPr>
              <a:t>0.000</a:t>
            </a:r>
            <a:endParaRPr lang="en-US" sz="1100" dirty="0"/>
          </a:p>
        </p:txBody>
      </p:sp>
      <p:sp>
        <p:nvSpPr>
          <p:cNvPr id="54" name="Shape 52"/>
          <p:cNvSpPr/>
          <p:nvPr/>
        </p:nvSpPr>
        <p:spPr>
          <a:xfrm>
            <a:off x="731520" y="3246120"/>
            <a:ext cx="5120640" cy="2194560"/>
          </a:xfrm>
          <a:prstGeom prst="roundRect">
            <a:avLst>
              <a:gd name="adj" fmla="val 4167"/>
            </a:avLst>
          </a:prstGeom>
          <a:solidFill>
            <a:srgbClr val="FFFFFF"/>
          </a:solidFill>
          <a:ln w="12700">
            <a:solidFill>
              <a:srgbClr val="D8E1E8"/>
            </a:solidFill>
            <a:prstDash val="solid"/>
          </a:ln>
        </p:spPr>
      </p:sp>
      <p:sp>
        <p:nvSpPr>
          <p:cNvPr id="55" name="Text 53"/>
          <p:cNvSpPr/>
          <p:nvPr/>
        </p:nvSpPr>
        <p:spPr>
          <a:xfrm>
            <a:off x="960120" y="3429000"/>
            <a:ext cx="2377440" cy="228600"/>
          </a:xfrm>
          <a:prstGeom prst="rect">
            <a:avLst/>
          </a:prstGeom>
          <a:noFill/>
          <a:ln/>
        </p:spPr>
        <p:txBody>
          <a:bodyPr wrap="square" lIns="0" tIns="0" rIns="0" bIns="0" rtlCol="0" anchor="ctr"/>
          <a:lstStyle/>
          <a:p>
            <a:pPr indent="0" marL="0">
              <a:buNone/>
            </a:pPr>
            <a:r>
              <a:rPr lang="en-US" sz="1500" b="1" dirty="0">
                <a:solidFill>
                  <a:srgbClr val="0B1F4D"/>
                </a:solidFill>
              </a:rPr>
              <a:t>Clean baseline</a:t>
            </a:r>
            <a:endParaRPr lang="en-US" sz="1500" dirty="0"/>
          </a:p>
        </p:txBody>
      </p:sp>
      <p:sp>
        <p:nvSpPr>
          <p:cNvPr id="56" name="Text 54"/>
          <p:cNvSpPr/>
          <p:nvPr/>
        </p:nvSpPr>
        <p:spPr>
          <a:xfrm>
            <a:off x="960120" y="3840480"/>
            <a:ext cx="1645920" cy="146304"/>
          </a:xfrm>
          <a:prstGeom prst="rect">
            <a:avLst/>
          </a:prstGeom>
          <a:noFill/>
          <a:ln/>
        </p:spPr>
        <p:txBody>
          <a:bodyPr wrap="square" lIns="0" tIns="0" rIns="0" bIns="0" rtlCol="0" anchor="ctr"/>
          <a:lstStyle/>
          <a:p>
            <a:pPr indent="0" marL="0">
              <a:buNone/>
            </a:pPr>
            <a:r>
              <a:rPr lang="en-US" sz="750" dirty="0">
                <a:solidFill>
                  <a:srgbClr val="5F6F82"/>
                </a:solidFill>
              </a:rPr>
              <a:t>EfficientNet-B0</a:t>
            </a:r>
            <a:endParaRPr lang="en-US" sz="750" dirty="0"/>
          </a:p>
        </p:txBody>
      </p:sp>
      <p:sp>
        <p:nvSpPr>
          <p:cNvPr id="57" name="Shape 55"/>
          <p:cNvSpPr/>
          <p:nvPr/>
        </p:nvSpPr>
        <p:spPr>
          <a:xfrm>
            <a:off x="2468880" y="3886200"/>
            <a:ext cx="2971800" cy="109728"/>
          </a:xfrm>
          <a:prstGeom prst="rect">
            <a:avLst/>
          </a:prstGeom>
          <a:solidFill>
            <a:srgbClr val="E6EEF4"/>
          </a:solidFill>
          <a:ln w="12700">
            <a:solidFill>
              <a:srgbClr val="E6EEF4"/>
            </a:solidFill>
            <a:prstDash val="solid"/>
          </a:ln>
        </p:spPr>
      </p:sp>
      <p:sp>
        <p:nvSpPr>
          <p:cNvPr id="58" name="Shape 56"/>
          <p:cNvSpPr/>
          <p:nvPr/>
        </p:nvSpPr>
        <p:spPr>
          <a:xfrm>
            <a:off x="2468880" y="3886200"/>
            <a:ext cx="2906420" cy="109728"/>
          </a:xfrm>
          <a:prstGeom prst="rect">
            <a:avLst/>
          </a:prstGeom>
          <a:solidFill>
            <a:srgbClr val="0A7C80"/>
          </a:solidFill>
          <a:ln w="12700">
            <a:solidFill>
              <a:srgbClr val="0A7C80"/>
            </a:solidFill>
            <a:prstDash val="solid"/>
          </a:ln>
        </p:spPr>
      </p:sp>
      <p:sp>
        <p:nvSpPr>
          <p:cNvPr id="59" name="Text 57"/>
          <p:cNvSpPr/>
          <p:nvPr/>
        </p:nvSpPr>
        <p:spPr>
          <a:xfrm>
            <a:off x="4937760" y="3835908"/>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0.978</a:t>
            </a:r>
            <a:endParaRPr lang="en-US" sz="720" dirty="0"/>
          </a:p>
        </p:txBody>
      </p:sp>
      <p:sp>
        <p:nvSpPr>
          <p:cNvPr id="60" name="Text 58"/>
          <p:cNvSpPr/>
          <p:nvPr/>
        </p:nvSpPr>
        <p:spPr>
          <a:xfrm>
            <a:off x="960120" y="4233672"/>
            <a:ext cx="1645920" cy="146304"/>
          </a:xfrm>
          <a:prstGeom prst="rect">
            <a:avLst/>
          </a:prstGeom>
          <a:noFill/>
          <a:ln/>
        </p:spPr>
        <p:txBody>
          <a:bodyPr wrap="square" lIns="0" tIns="0" rIns="0" bIns="0" rtlCol="0" anchor="ctr"/>
          <a:lstStyle/>
          <a:p>
            <a:pPr indent="0" marL="0">
              <a:buNone/>
            </a:pPr>
            <a:r>
              <a:rPr lang="en-US" sz="750" dirty="0">
                <a:solidFill>
                  <a:srgbClr val="5F6F82"/>
                </a:solidFill>
              </a:rPr>
              <a:t>ResNet18</a:t>
            </a:r>
            <a:endParaRPr lang="en-US" sz="750" dirty="0"/>
          </a:p>
        </p:txBody>
      </p:sp>
      <p:sp>
        <p:nvSpPr>
          <p:cNvPr id="61" name="Shape 59"/>
          <p:cNvSpPr/>
          <p:nvPr/>
        </p:nvSpPr>
        <p:spPr>
          <a:xfrm>
            <a:off x="2468880" y="4279392"/>
            <a:ext cx="2971800" cy="109728"/>
          </a:xfrm>
          <a:prstGeom prst="rect">
            <a:avLst/>
          </a:prstGeom>
          <a:solidFill>
            <a:srgbClr val="E6EEF4"/>
          </a:solidFill>
          <a:ln w="12700">
            <a:solidFill>
              <a:srgbClr val="E6EEF4"/>
            </a:solidFill>
            <a:prstDash val="solid"/>
          </a:ln>
        </p:spPr>
      </p:sp>
      <p:sp>
        <p:nvSpPr>
          <p:cNvPr id="62" name="Shape 60"/>
          <p:cNvSpPr/>
          <p:nvPr/>
        </p:nvSpPr>
        <p:spPr>
          <a:xfrm>
            <a:off x="2468880" y="4279392"/>
            <a:ext cx="2864815" cy="109728"/>
          </a:xfrm>
          <a:prstGeom prst="rect">
            <a:avLst/>
          </a:prstGeom>
          <a:solidFill>
            <a:srgbClr val="0A7C80"/>
          </a:solidFill>
          <a:ln w="12700">
            <a:solidFill>
              <a:srgbClr val="0A7C80"/>
            </a:solidFill>
            <a:prstDash val="solid"/>
          </a:ln>
        </p:spPr>
      </p:sp>
      <p:sp>
        <p:nvSpPr>
          <p:cNvPr id="63" name="Text 61"/>
          <p:cNvSpPr/>
          <p:nvPr/>
        </p:nvSpPr>
        <p:spPr>
          <a:xfrm>
            <a:off x="4937760" y="4229100"/>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0.964</a:t>
            </a:r>
            <a:endParaRPr lang="en-US" sz="720" dirty="0"/>
          </a:p>
        </p:txBody>
      </p:sp>
      <p:sp>
        <p:nvSpPr>
          <p:cNvPr id="64" name="Text 62"/>
          <p:cNvSpPr/>
          <p:nvPr/>
        </p:nvSpPr>
        <p:spPr>
          <a:xfrm>
            <a:off x="960120" y="4626864"/>
            <a:ext cx="1645920" cy="146304"/>
          </a:xfrm>
          <a:prstGeom prst="rect">
            <a:avLst/>
          </a:prstGeom>
          <a:noFill/>
          <a:ln/>
        </p:spPr>
        <p:txBody>
          <a:bodyPr wrap="square" lIns="0" tIns="0" rIns="0" bIns="0" rtlCol="0" anchor="ctr"/>
          <a:lstStyle/>
          <a:p>
            <a:pPr indent="0" marL="0">
              <a:buNone/>
            </a:pPr>
            <a:r>
              <a:rPr lang="en-US" sz="750" dirty="0">
                <a:solidFill>
                  <a:srgbClr val="5F6F82"/>
                </a:solidFill>
              </a:rPr>
              <a:t>CLIP</a:t>
            </a:r>
            <a:endParaRPr lang="en-US" sz="750" dirty="0"/>
          </a:p>
        </p:txBody>
      </p:sp>
      <p:sp>
        <p:nvSpPr>
          <p:cNvPr id="65" name="Shape 63"/>
          <p:cNvSpPr/>
          <p:nvPr/>
        </p:nvSpPr>
        <p:spPr>
          <a:xfrm>
            <a:off x="2468880" y="4672584"/>
            <a:ext cx="2971800" cy="109728"/>
          </a:xfrm>
          <a:prstGeom prst="rect">
            <a:avLst/>
          </a:prstGeom>
          <a:solidFill>
            <a:srgbClr val="E6EEF4"/>
          </a:solidFill>
          <a:ln w="12700">
            <a:solidFill>
              <a:srgbClr val="E6EEF4"/>
            </a:solidFill>
            <a:prstDash val="solid"/>
          </a:ln>
        </p:spPr>
      </p:sp>
      <p:sp>
        <p:nvSpPr>
          <p:cNvPr id="66" name="Shape 64"/>
          <p:cNvSpPr/>
          <p:nvPr/>
        </p:nvSpPr>
        <p:spPr>
          <a:xfrm>
            <a:off x="2468880" y="4672584"/>
            <a:ext cx="2754859" cy="109728"/>
          </a:xfrm>
          <a:prstGeom prst="rect">
            <a:avLst/>
          </a:prstGeom>
          <a:solidFill>
            <a:srgbClr val="0A7C80"/>
          </a:solidFill>
          <a:ln w="12700">
            <a:solidFill>
              <a:srgbClr val="0A7C80"/>
            </a:solidFill>
            <a:prstDash val="solid"/>
          </a:ln>
        </p:spPr>
      </p:sp>
      <p:sp>
        <p:nvSpPr>
          <p:cNvPr id="67" name="Text 65"/>
          <p:cNvSpPr/>
          <p:nvPr/>
        </p:nvSpPr>
        <p:spPr>
          <a:xfrm>
            <a:off x="4937760" y="4622292"/>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0.927</a:t>
            </a:r>
            <a:endParaRPr lang="en-US" sz="720" dirty="0"/>
          </a:p>
        </p:txBody>
      </p:sp>
      <p:sp>
        <p:nvSpPr>
          <p:cNvPr id="68" name="Shape 66"/>
          <p:cNvSpPr/>
          <p:nvPr/>
        </p:nvSpPr>
        <p:spPr>
          <a:xfrm>
            <a:off x="6309360" y="3246120"/>
            <a:ext cx="5120640" cy="2194560"/>
          </a:xfrm>
          <a:prstGeom prst="roundRect">
            <a:avLst>
              <a:gd name="adj" fmla="val 4167"/>
            </a:avLst>
          </a:prstGeom>
          <a:solidFill>
            <a:srgbClr val="FFFFFF"/>
          </a:solidFill>
          <a:ln w="12700">
            <a:solidFill>
              <a:srgbClr val="D8E1E8"/>
            </a:solidFill>
            <a:prstDash val="solid"/>
          </a:ln>
        </p:spPr>
      </p:sp>
      <p:sp>
        <p:nvSpPr>
          <p:cNvPr id="69" name="Text 67"/>
          <p:cNvSpPr/>
          <p:nvPr/>
        </p:nvSpPr>
        <p:spPr>
          <a:xfrm>
            <a:off x="6537960" y="3429000"/>
            <a:ext cx="2834640" cy="228600"/>
          </a:xfrm>
          <a:prstGeom prst="rect">
            <a:avLst/>
          </a:prstGeom>
          <a:noFill/>
          <a:ln/>
        </p:spPr>
        <p:txBody>
          <a:bodyPr wrap="square" lIns="0" tIns="0" rIns="0" bIns="0" rtlCol="0" anchor="ctr"/>
          <a:lstStyle/>
          <a:p>
            <a:pPr indent="0" marL="0">
              <a:buNone/>
            </a:pPr>
            <a:r>
              <a:rPr lang="en-US" sz="1500" b="1" dirty="0">
                <a:solidFill>
                  <a:srgbClr val="0B1F4D"/>
                </a:solidFill>
              </a:rPr>
              <a:t>OOD weapon-flag rate</a:t>
            </a:r>
            <a:endParaRPr lang="en-US" sz="1500" dirty="0"/>
          </a:p>
        </p:txBody>
      </p:sp>
      <p:sp>
        <p:nvSpPr>
          <p:cNvPr id="70" name="Text 68"/>
          <p:cNvSpPr/>
          <p:nvPr/>
        </p:nvSpPr>
        <p:spPr>
          <a:xfrm>
            <a:off x="6537960" y="3840480"/>
            <a:ext cx="1645920" cy="146304"/>
          </a:xfrm>
          <a:prstGeom prst="rect">
            <a:avLst/>
          </a:prstGeom>
          <a:noFill/>
          <a:ln/>
        </p:spPr>
        <p:txBody>
          <a:bodyPr wrap="square" lIns="0" tIns="0" rIns="0" bIns="0" rtlCol="0" anchor="ctr"/>
          <a:lstStyle/>
          <a:p>
            <a:pPr indent="0" marL="0">
              <a:buNone/>
            </a:pPr>
            <a:r>
              <a:rPr lang="en-US" sz="750" dirty="0">
                <a:solidFill>
                  <a:srgbClr val="5F6F82"/>
                </a:solidFill>
              </a:rPr>
              <a:t>EfficientNet-B0</a:t>
            </a:r>
            <a:endParaRPr lang="en-US" sz="750" dirty="0"/>
          </a:p>
        </p:txBody>
      </p:sp>
      <p:sp>
        <p:nvSpPr>
          <p:cNvPr id="71" name="Shape 69"/>
          <p:cNvSpPr/>
          <p:nvPr/>
        </p:nvSpPr>
        <p:spPr>
          <a:xfrm>
            <a:off x="8046720" y="3886200"/>
            <a:ext cx="2971800" cy="109728"/>
          </a:xfrm>
          <a:prstGeom prst="rect">
            <a:avLst/>
          </a:prstGeom>
          <a:solidFill>
            <a:srgbClr val="E6EEF4"/>
          </a:solidFill>
          <a:ln w="12700">
            <a:solidFill>
              <a:srgbClr val="E6EEF4"/>
            </a:solidFill>
            <a:prstDash val="solid"/>
          </a:ln>
        </p:spPr>
      </p:sp>
      <p:sp>
        <p:nvSpPr>
          <p:cNvPr id="72" name="Shape 70"/>
          <p:cNvSpPr/>
          <p:nvPr/>
        </p:nvSpPr>
        <p:spPr>
          <a:xfrm>
            <a:off x="8046720" y="3886200"/>
            <a:ext cx="1099566" cy="109728"/>
          </a:xfrm>
          <a:prstGeom prst="rect">
            <a:avLst/>
          </a:prstGeom>
          <a:solidFill>
            <a:srgbClr val="0A7C80"/>
          </a:solidFill>
          <a:ln w="12700">
            <a:solidFill>
              <a:srgbClr val="0A7C80"/>
            </a:solidFill>
            <a:prstDash val="solid"/>
          </a:ln>
        </p:spPr>
      </p:sp>
      <p:sp>
        <p:nvSpPr>
          <p:cNvPr id="73" name="Text 71"/>
          <p:cNvSpPr/>
          <p:nvPr/>
        </p:nvSpPr>
        <p:spPr>
          <a:xfrm>
            <a:off x="10515600" y="3835908"/>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0.370</a:t>
            </a:r>
            <a:endParaRPr lang="en-US" sz="720" dirty="0"/>
          </a:p>
        </p:txBody>
      </p:sp>
      <p:sp>
        <p:nvSpPr>
          <p:cNvPr id="74" name="Text 72"/>
          <p:cNvSpPr/>
          <p:nvPr/>
        </p:nvSpPr>
        <p:spPr>
          <a:xfrm>
            <a:off x="6537960" y="4233672"/>
            <a:ext cx="1645920" cy="146304"/>
          </a:xfrm>
          <a:prstGeom prst="rect">
            <a:avLst/>
          </a:prstGeom>
          <a:noFill/>
          <a:ln/>
        </p:spPr>
        <p:txBody>
          <a:bodyPr wrap="square" lIns="0" tIns="0" rIns="0" bIns="0" rtlCol="0" anchor="ctr"/>
          <a:lstStyle/>
          <a:p>
            <a:pPr indent="0" marL="0">
              <a:buNone/>
            </a:pPr>
            <a:r>
              <a:rPr lang="en-US" sz="750" dirty="0">
                <a:solidFill>
                  <a:srgbClr val="5F6F82"/>
                </a:solidFill>
              </a:rPr>
              <a:t>ResNet18</a:t>
            </a:r>
            <a:endParaRPr lang="en-US" sz="750" dirty="0"/>
          </a:p>
        </p:txBody>
      </p:sp>
      <p:sp>
        <p:nvSpPr>
          <p:cNvPr id="75" name="Shape 73"/>
          <p:cNvSpPr/>
          <p:nvPr/>
        </p:nvSpPr>
        <p:spPr>
          <a:xfrm>
            <a:off x="8046720" y="4279392"/>
            <a:ext cx="2971800" cy="109728"/>
          </a:xfrm>
          <a:prstGeom prst="rect">
            <a:avLst/>
          </a:prstGeom>
          <a:solidFill>
            <a:srgbClr val="E6EEF4"/>
          </a:solidFill>
          <a:ln w="12700">
            <a:solidFill>
              <a:srgbClr val="E6EEF4"/>
            </a:solidFill>
            <a:prstDash val="solid"/>
          </a:ln>
        </p:spPr>
      </p:sp>
      <p:sp>
        <p:nvSpPr>
          <p:cNvPr id="76" name="Shape 74"/>
          <p:cNvSpPr/>
          <p:nvPr/>
        </p:nvSpPr>
        <p:spPr>
          <a:xfrm>
            <a:off x="8046720" y="4279392"/>
            <a:ext cx="1301648" cy="109728"/>
          </a:xfrm>
          <a:prstGeom prst="rect">
            <a:avLst/>
          </a:prstGeom>
          <a:solidFill>
            <a:srgbClr val="0A7C80"/>
          </a:solidFill>
          <a:ln w="12700">
            <a:solidFill>
              <a:srgbClr val="0A7C80"/>
            </a:solidFill>
            <a:prstDash val="solid"/>
          </a:ln>
        </p:spPr>
      </p:sp>
      <p:sp>
        <p:nvSpPr>
          <p:cNvPr id="77" name="Text 75"/>
          <p:cNvSpPr/>
          <p:nvPr/>
        </p:nvSpPr>
        <p:spPr>
          <a:xfrm>
            <a:off x="10515600" y="4229100"/>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0.438</a:t>
            </a:r>
            <a:endParaRPr lang="en-US" sz="720" dirty="0"/>
          </a:p>
        </p:txBody>
      </p:sp>
      <p:sp>
        <p:nvSpPr>
          <p:cNvPr id="78" name="Text 76"/>
          <p:cNvSpPr/>
          <p:nvPr/>
        </p:nvSpPr>
        <p:spPr>
          <a:xfrm>
            <a:off x="6537960" y="4626864"/>
            <a:ext cx="1645920" cy="146304"/>
          </a:xfrm>
          <a:prstGeom prst="rect">
            <a:avLst/>
          </a:prstGeom>
          <a:noFill/>
          <a:ln/>
        </p:spPr>
        <p:txBody>
          <a:bodyPr wrap="square" lIns="0" tIns="0" rIns="0" bIns="0" rtlCol="0" anchor="ctr"/>
          <a:lstStyle/>
          <a:p>
            <a:pPr indent="0" marL="0">
              <a:buNone/>
            </a:pPr>
            <a:r>
              <a:rPr lang="en-US" sz="750" dirty="0">
                <a:solidFill>
                  <a:srgbClr val="5F6F82"/>
                </a:solidFill>
              </a:rPr>
              <a:t>CLIP</a:t>
            </a:r>
            <a:endParaRPr lang="en-US" sz="750" dirty="0"/>
          </a:p>
        </p:txBody>
      </p:sp>
      <p:sp>
        <p:nvSpPr>
          <p:cNvPr id="79" name="Shape 77"/>
          <p:cNvSpPr/>
          <p:nvPr/>
        </p:nvSpPr>
        <p:spPr>
          <a:xfrm>
            <a:off x="8046720" y="4672584"/>
            <a:ext cx="2971800" cy="109728"/>
          </a:xfrm>
          <a:prstGeom prst="rect">
            <a:avLst/>
          </a:prstGeom>
          <a:solidFill>
            <a:srgbClr val="E6EEF4"/>
          </a:solidFill>
          <a:ln w="12700">
            <a:solidFill>
              <a:srgbClr val="E6EEF4"/>
            </a:solidFill>
            <a:prstDash val="solid"/>
          </a:ln>
        </p:spPr>
      </p:sp>
      <p:sp>
        <p:nvSpPr>
          <p:cNvPr id="80" name="Shape 78"/>
          <p:cNvSpPr/>
          <p:nvPr/>
        </p:nvSpPr>
        <p:spPr>
          <a:xfrm>
            <a:off x="8046720" y="4672584"/>
            <a:ext cx="2484425" cy="109728"/>
          </a:xfrm>
          <a:prstGeom prst="rect">
            <a:avLst/>
          </a:prstGeom>
          <a:solidFill>
            <a:srgbClr val="E76F28"/>
          </a:solidFill>
          <a:ln w="12700">
            <a:solidFill>
              <a:srgbClr val="E76F28"/>
            </a:solidFill>
            <a:prstDash val="solid"/>
          </a:ln>
        </p:spPr>
      </p:sp>
      <p:sp>
        <p:nvSpPr>
          <p:cNvPr id="81" name="Text 79"/>
          <p:cNvSpPr/>
          <p:nvPr/>
        </p:nvSpPr>
        <p:spPr>
          <a:xfrm>
            <a:off x="10515600" y="4622292"/>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0.836</a:t>
            </a:r>
            <a:endParaRPr lang="en-US" sz="720" dirty="0"/>
          </a:p>
        </p:txBody>
      </p:sp>
      <p:sp>
        <p:nvSpPr>
          <p:cNvPr id="82" name="Shape 80"/>
          <p:cNvSpPr/>
          <p:nvPr/>
        </p:nvSpPr>
        <p:spPr>
          <a:xfrm>
            <a:off x="1965960" y="5669280"/>
            <a:ext cx="8229600" cy="502920"/>
          </a:xfrm>
          <a:prstGeom prst="roundRect">
            <a:avLst>
              <a:gd name="adj" fmla="val 18182"/>
            </a:avLst>
          </a:prstGeom>
          <a:solidFill>
            <a:srgbClr val="FFFFFF"/>
          </a:solidFill>
          <a:ln w="16510">
            <a:solidFill>
              <a:srgbClr val="E76F28"/>
            </a:solidFill>
            <a:prstDash val="solid"/>
          </a:ln>
        </p:spPr>
      </p:sp>
      <p:sp>
        <p:nvSpPr>
          <p:cNvPr id="83" name="Text 81"/>
          <p:cNvSpPr/>
          <p:nvPr/>
        </p:nvSpPr>
        <p:spPr>
          <a:xfrm>
            <a:off x="2130552" y="5779008"/>
            <a:ext cx="790041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CLIP shows the lowest clean FNR, but the highest OOD absorption toward weapon.</a:t>
            </a:r>
            <a:endParaRPr lang="en-US" sz="1200" dirty="0"/>
          </a:p>
        </p:txBody>
      </p:sp>
      <p:sp>
        <p:nvSpPr>
          <p:cNvPr id="84" name="Shape 82"/>
          <p:cNvSpPr/>
          <p:nvPr/>
        </p:nvSpPr>
        <p:spPr>
          <a:xfrm>
            <a:off x="411480" y="6510528"/>
            <a:ext cx="11365992" cy="0"/>
          </a:xfrm>
          <a:prstGeom prst="line">
            <a:avLst/>
          </a:prstGeom>
          <a:noFill/>
          <a:ln w="8890">
            <a:solidFill>
              <a:srgbClr val="D8E1E8"/>
            </a:solidFill>
            <a:prstDash val="solid"/>
          </a:ln>
        </p:spPr>
      </p:sp>
      <p:sp>
        <p:nvSpPr>
          <p:cNvPr id="85" name="Text 83"/>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86" name="Text 84"/>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PROXY TRACK — ROBUSTNESS</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Proxy Models Under Perturbations</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White-box robustness differs sharply across model and attack family</a:t>
            </a:r>
            <a:endParaRPr lang="en-US" sz="1100" dirty="0"/>
          </a:p>
        </p:txBody>
      </p:sp>
      <p:sp>
        <p:nvSpPr>
          <p:cNvPr id="6" name="Shape 4"/>
          <p:cNvSpPr/>
          <p:nvPr/>
        </p:nvSpPr>
        <p:spPr>
          <a:xfrm>
            <a:off x="594360" y="1234440"/>
            <a:ext cx="5623560" cy="2286000"/>
          </a:xfrm>
          <a:prstGeom prst="roundRect">
            <a:avLst>
              <a:gd name="adj" fmla="val 4000"/>
            </a:avLst>
          </a:prstGeom>
          <a:solidFill>
            <a:srgbClr val="FFFFFF"/>
          </a:solidFill>
          <a:ln w="12700">
            <a:solidFill>
              <a:srgbClr val="D8E1E8"/>
            </a:solidFill>
            <a:prstDash val="solid"/>
          </a:ln>
        </p:spPr>
      </p:sp>
      <p:sp>
        <p:nvSpPr>
          <p:cNvPr id="7" name="Text 5"/>
          <p:cNvSpPr/>
          <p:nvPr/>
        </p:nvSpPr>
        <p:spPr>
          <a:xfrm>
            <a:off x="868680" y="1435608"/>
            <a:ext cx="2560320" cy="228600"/>
          </a:xfrm>
          <a:prstGeom prst="rect">
            <a:avLst/>
          </a:prstGeom>
          <a:noFill/>
          <a:ln/>
        </p:spPr>
        <p:txBody>
          <a:bodyPr wrap="square" lIns="0" tIns="0" rIns="0" bIns="0" rtlCol="0" anchor="ctr"/>
          <a:lstStyle/>
          <a:p>
            <a:pPr indent="0" marL="0">
              <a:buNone/>
            </a:pPr>
            <a:r>
              <a:rPr lang="en-US" sz="1500" b="1" dirty="0">
                <a:solidFill>
                  <a:srgbClr val="0B1F4D"/>
                </a:solidFill>
              </a:rPr>
              <a:t>Adversarial robustness</a:t>
            </a:r>
            <a:endParaRPr lang="en-US" sz="1500" dirty="0"/>
          </a:p>
        </p:txBody>
      </p:sp>
      <p:sp>
        <p:nvSpPr>
          <p:cNvPr id="8" name="Shape 6"/>
          <p:cNvSpPr/>
          <p:nvPr/>
        </p:nvSpPr>
        <p:spPr>
          <a:xfrm>
            <a:off x="822960" y="1828800"/>
            <a:ext cx="1325880" cy="331470"/>
          </a:xfrm>
          <a:prstGeom prst="rect">
            <a:avLst/>
          </a:prstGeom>
          <a:solidFill>
            <a:srgbClr val="0B1F4D"/>
          </a:solidFill>
          <a:ln w="12700">
            <a:solidFill>
              <a:srgbClr val="FFFFFF">
                <a:alpha val="0"/>
              </a:srgbClr>
            </a:solidFill>
            <a:prstDash val="solid"/>
          </a:ln>
        </p:spPr>
      </p:sp>
      <p:sp>
        <p:nvSpPr>
          <p:cNvPr id="9" name="Text 7"/>
          <p:cNvSpPr/>
          <p:nvPr/>
        </p:nvSpPr>
        <p:spPr>
          <a:xfrm>
            <a:off x="850392" y="1874520"/>
            <a:ext cx="127101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Model</a:t>
            </a:r>
            <a:endParaRPr lang="en-US" sz="770" dirty="0"/>
          </a:p>
        </p:txBody>
      </p:sp>
      <p:sp>
        <p:nvSpPr>
          <p:cNvPr id="10" name="Shape 8"/>
          <p:cNvSpPr/>
          <p:nvPr/>
        </p:nvSpPr>
        <p:spPr>
          <a:xfrm>
            <a:off x="2148840" y="1828800"/>
            <a:ext cx="1234440" cy="331470"/>
          </a:xfrm>
          <a:prstGeom prst="rect">
            <a:avLst/>
          </a:prstGeom>
          <a:solidFill>
            <a:srgbClr val="0B1F4D"/>
          </a:solidFill>
          <a:ln w="12700">
            <a:solidFill>
              <a:srgbClr val="FFFFFF">
                <a:alpha val="0"/>
              </a:srgbClr>
            </a:solidFill>
            <a:prstDash val="solid"/>
          </a:ln>
        </p:spPr>
      </p:sp>
      <p:sp>
        <p:nvSpPr>
          <p:cNvPr id="11" name="Text 9"/>
          <p:cNvSpPr/>
          <p:nvPr/>
        </p:nvSpPr>
        <p:spPr>
          <a:xfrm>
            <a:off x="2176272" y="1874520"/>
            <a:ext cx="117957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Adv. acc./drop</a:t>
            </a:r>
            <a:endParaRPr lang="en-US" sz="770" dirty="0"/>
          </a:p>
        </p:txBody>
      </p:sp>
      <p:sp>
        <p:nvSpPr>
          <p:cNvPr id="12" name="Shape 10"/>
          <p:cNvSpPr/>
          <p:nvPr/>
        </p:nvSpPr>
        <p:spPr>
          <a:xfrm>
            <a:off x="3383280" y="1828800"/>
            <a:ext cx="1600200" cy="331470"/>
          </a:xfrm>
          <a:prstGeom prst="rect">
            <a:avLst/>
          </a:prstGeom>
          <a:solidFill>
            <a:srgbClr val="0B1F4D"/>
          </a:solidFill>
          <a:ln w="12700">
            <a:solidFill>
              <a:srgbClr val="FFFFFF">
                <a:alpha val="0"/>
              </a:srgbClr>
            </a:solidFill>
            <a:prstDash val="solid"/>
          </a:ln>
        </p:spPr>
      </p:sp>
      <p:sp>
        <p:nvSpPr>
          <p:cNvPr id="13" name="Text 11"/>
          <p:cNvSpPr/>
          <p:nvPr/>
        </p:nvSpPr>
        <p:spPr>
          <a:xfrm>
            <a:off x="3410712" y="1874520"/>
            <a:ext cx="154533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Critical condition</a:t>
            </a:r>
            <a:endParaRPr lang="en-US" sz="770" dirty="0"/>
          </a:p>
        </p:txBody>
      </p:sp>
      <p:sp>
        <p:nvSpPr>
          <p:cNvPr id="14" name="Shape 12"/>
          <p:cNvSpPr/>
          <p:nvPr/>
        </p:nvSpPr>
        <p:spPr>
          <a:xfrm>
            <a:off x="4983480" y="1828800"/>
            <a:ext cx="1005840" cy="331470"/>
          </a:xfrm>
          <a:prstGeom prst="rect">
            <a:avLst/>
          </a:prstGeom>
          <a:solidFill>
            <a:srgbClr val="0B1F4D"/>
          </a:solidFill>
          <a:ln w="12700">
            <a:solidFill>
              <a:srgbClr val="FFFFFF">
                <a:alpha val="0"/>
              </a:srgbClr>
            </a:solidFill>
            <a:prstDash val="solid"/>
          </a:ln>
        </p:spPr>
      </p:sp>
      <p:sp>
        <p:nvSpPr>
          <p:cNvPr id="15" name="Text 13"/>
          <p:cNvSpPr/>
          <p:nvPr/>
        </p:nvSpPr>
        <p:spPr>
          <a:xfrm>
            <a:off x="5010912" y="1874520"/>
            <a:ext cx="95097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Induced errors</a:t>
            </a:r>
            <a:endParaRPr lang="en-US" sz="770" dirty="0"/>
          </a:p>
        </p:txBody>
      </p:sp>
      <p:sp>
        <p:nvSpPr>
          <p:cNvPr id="16" name="Shape 14"/>
          <p:cNvSpPr/>
          <p:nvPr/>
        </p:nvSpPr>
        <p:spPr>
          <a:xfrm>
            <a:off x="822960" y="2160270"/>
            <a:ext cx="1325880" cy="331470"/>
          </a:xfrm>
          <a:prstGeom prst="rect">
            <a:avLst/>
          </a:prstGeom>
          <a:solidFill>
            <a:srgbClr val="FFFFFF"/>
          </a:solidFill>
          <a:ln w="6350">
            <a:solidFill>
              <a:srgbClr val="FFFFFF"/>
            </a:solidFill>
            <a:prstDash val="solid"/>
          </a:ln>
        </p:spPr>
      </p:sp>
      <p:sp>
        <p:nvSpPr>
          <p:cNvPr id="17" name="Text 15"/>
          <p:cNvSpPr/>
          <p:nvPr/>
        </p:nvSpPr>
        <p:spPr>
          <a:xfrm>
            <a:off x="850392" y="2196846"/>
            <a:ext cx="1271016" cy="258318"/>
          </a:xfrm>
          <a:prstGeom prst="rect">
            <a:avLst/>
          </a:prstGeom>
          <a:noFill/>
          <a:ln/>
        </p:spPr>
        <p:txBody>
          <a:bodyPr wrap="square" lIns="127" tIns="127" rIns="127" bIns="127" rtlCol="0" anchor="ctr">
            <a:normAutofit/>
          </a:bodyPr>
          <a:lstStyle/>
          <a:p>
            <a:pPr algn="l" indent="0" marL="0">
              <a:buNone/>
            </a:pPr>
            <a:r>
              <a:rPr lang="en-US" sz="840" dirty="0">
                <a:solidFill>
                  <a:srgbClr val="10203B"/>
                </a:solidFill>
              </a:rPr>
              <a:t>EfficientNet-B0</a:t>
            </a:r>
            <a:endParaRPr lang="en-US" sz="840" dirty="0"/>
          </a:p>
        </p:txBody>
      </p:sp>
      <p:sp>
        <p:nvSpPr>
          <p:cNvPr id="18" name="Shape 16"/>
          <p:cNvSpPr/>
          <p:nvPr/>
        </p:nvSpPr>
        <p:spPr>
          <a:xfrm>
            <a:off x="2148840" y="2160270"/>
            <a:ext cx="1234440" cy="331470"/>
          </a:xfrm>
          <a:prstGeom prst="rect">
            <a:avLst/>
          </a:prstGeom>
          <a:solidFill>
            <a:srgbClr val="FFFFFF"/>
          </a:solidFill>
          <a:ln w="6350">
            <a:solidFill>
              <a:srgbClr val="FFFFFF"/>
            </a:solidFill>
            <a:prstDash val="solid"/>
          </a:ln>
        </p:spPr>
      </p:sp>
      <p:sp>
        <p:nvSpPr>
          <p:cNvPr id="19" name="Text 17"/>
          <p:cNvSpPr/>
          <p:nvPr/>
        </p:nvSpPr>
        <p:spPr>
          <a:xfrm>
            <a:off x="2176272" y="2196846"/>
            <a:ext cx="11795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0.695 / 0.283</a:t>
            </a:r>
            <a:endParaRPr lang="en-US" sz="840" dirty="0"/>
          </a:p>
        </p:txBody>
      </p:sp>
      <p:sp>
        <p:nvSpPr>
          <p:cNvPr id="20" name="Shape 18"/>
          <p:cNvSpPr/>
          <p:nvPr/>
        </p:nvSpPr>
        <p:spPr>
          <a:xfrm>
            <a:off x="3383280" y="2160270"/>
            <a:ext cx="1600200" cy="331470"/>
          </a:xfrm>
          <a:prstGeom prst="rect">
            <a:avLst/>
          </a:prstGeom>
          <a:solidFill>
            <a:srgbClr val="FFFFFF"/>
          </a:solidFill>
          <a:ln w="6350">
            <a:solidFill>
              <a:srgbClr val="FFFFFF"/>
            </a:solidFill>
            <a:prstDash val="solid"/>
          </a:ln>
        </p:spPr>
      </p:sp>
      <p:sp>
        <p:nvSpPr>
          <p:cNvPr id="21" name="Text 19"/>
          <p:cNvSpPr/>
          <p:nvPr/>
        </p:nvSpPr>
        <p:spPr>
          <a:xfrm>
            <a:off x="3410712" y="2196846"/>
            <a:ext cx="154533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SigmaZero acc. 0.015</a:t>
            </a:r>
            <a:endParaRPr lang="en-US" sz="840" dirty="0"/>
          </a:p>
        </p:txBody>
      </p:sp>
      <p:sp>
        <p:nvSpPr>
          <p:cNvPr id="22" name="Shape 20"/>
          <p:cNvSpPr/>
          <p:nvPr/>
        </p:nvSpPr>
        <p:spPr>
          <a:xfrm>
            <a:off x="4983480" y="2160270"/>
            <a:ext cx="1005840" cy="331470"/>
          </a:xfrm>
          <a:prstGeom prst="rect">
            <a:avLst/>
          </a:prstGeom>
          <a:solidFill>
            <a:srgbClr val="FFFFFF"/>
          </a:solidFill>
          <a:ln w="6350">
            <a:solidFill>
              <a:srgbClr val="FFFFFF"/>
            </a:solidFill>
            <a:prstDash val="solid"/>
          </a:ln>
        </p:spPr>
      </p:sp>
      <p:sp>
        <p:nvSpPr>
          <p:cNvPr id="23" name="Text 21"/>
          <p:cNvSpPr/>
          <p:nvPr/>
        </p:nvSpPr>
        <p:spPr>
          <a:xfrm>
            <a:off x="5010912" y="2196846"/>
            <a:ext cx="9509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963</a:t>
            </a:r>
            <a:endParaRPr lang="en-US" sz="840" dirty="0"/>
          </a:p>
        </p:txBody>
      </p:sp>
      <p:sp>
        <p:nvSpPr>
          <p:cNvPr id="24" name="Shape 22"/>
          <p:cNvSpPr/>
          <p:nvPr/>
        </p:nvSpPr>
        <p:spPr>
          <a:xfrm>
            <a:off x="822960" y="2491740"/>
            <a:ext cx="1325880" cy="331470"/>
          </a:xfrm>
          <a:prstGeom prst="rect">
            <a:avLst/>
          </a:prstGeom>
          <a:solidFill>
            <a:srgbClr val="F3F7FA"/>
          </a:solidFill>
          <a:ln w="6350">
            <a:solidFill>
              <a:srgbClr val="FFFFFF"/>
            </a:solidFill>
            <a:prstDash val="solid"/>
          </a:ln>
        </p:spPr>
      </p:sp>
      <p:sp>
        <p:nvSpPr>
          <p:cNvPr id="25" name="Text 23"/>
          <p:cNvSpPr/>
          <p:nvPr/>
        </p:nvSpPr>
        <p:spPr>
          <a:xfrm>
            <a:off x="850392" y="2528316"/>
            <a:ext cx="1271016" cy="258318"/>
          </a:xfrm>
          <a:prstGeom prst="rect">
            <a:avLst/>
          </a:prstGeom>
          <a:noFill/>
          <a:ln/>
        </p:spPr>
        <p:txBody>
          <a:bodyPr wrap="square" lIns="127" tIns="127" rIns="127" bIns="127" rtlCol="0" anchor="ctr">
            <a:normAutofit/>
          </a:bodyPr>
          <a:lstStyle/>
          <a:p>
            <a:pPr algn="l" indent="0" marL="0">
              <a:buNone/>
            </a:pPr>
            <a:r>
              <a:rPr lang="en-US" sz="840" dirty="0">
                <a:solidFill>
                  <a:srgbClr val="10203B"/>
                </a:solidFill>
              </a:rPr>
              <a:t>ResNet18</a:t>
            </a:r>
            <a:endParaRPr lang="en-US" sz="840" dirty="0"/>
          </a:p>
        </p:txBody>
      </p:sp>
      <p:sp>
        <p:nvSpPr>
          <p:cNvPr id="26" name="Shape 24"/>
          <p:cNvSpPr/>
          <p:nvPr/>
        </p:nvSpPr>
        <p:spPr>
          <a:xfrm>
            <a:off x="2148840" y="2491740"/>
            <a:ext cx="1234440" cy="331470"/>
          </a:xfrm>
          <a:prstGeom prst="rect">
            <a:avLst/>
          </a:prstGeom>
          <a:solidFill>
            <a:srgbClr val="F3F7FA"/>
          </a:solidFill>
          <a:ln w="6350">
            <a:solidFill>
              <a:srgbClr val="FFFFFF"/>
            </a:solidFill>
            <a:prstDash val="solid"/>
          </a:ln>
        </p:spPr>
      </p:sp>
      <p:sp>
        <p:nvSpPr>
          <p:cNvPr id="27" name="Text 25"/>
          <p:cNvSpPr/>
          <p:nvPr/>
        </p:nvSpPr>
        <p:spPr>
          <a:xfrm>
            <a:off x="2176272" y="2528316"/>
            <a:ext cx="11795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0.955 / 0.009</a:t>
            </a:r>
            <a:endParaRPr lang="en-US" sz="840" dirty="0"/>
          </a:p>
        </p:txBody>
      </p:sp>
      <p:sp>
        <p:nvSpPr>
          <p:cNvPr id="28" name="Shape 26"/>
          <p:cNvSpPr/>
          <p:nvPr/>
        </p:nvSpPr>
        <p:spPr>
          <a:xfrm>
            <a:off x="3383280" y="2491740"/>
            <a:ext cx="1600200" cy="331470"/>
          </a:xfrm>
          <a:prstGeom prst="rect">
            <a:avLst/>
          </a:prstGeom>
          <a:solidFill>
            <a:srgbClr val="F3F7FA"/>
          </a:solidFill>
          <a:ln w="6350">
            <a:solidFill>
              <a:srgbClr val="FFFFFF"/>
            </a:solidFill>
            <a:prstDash val="solid"/>
          </a:ln>
        </p:spPr>
      </p:sp>
      <p:sp>
        <p:nvSpPr>
          <p:cNvPr id="29" name="Text 27"/>
          <p:cNvSpPr/>
          <p:nvPr/>
        </p:nvSpPr>
        <p:spPr>
          <a:xfrm>
            <a:off x="3410712" y="2528316"/>
            <a:ext cx="154533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FGSM acc. 0.918</a:t>
            </a:r>
            <a:endParaRPr lang="en-US" sz="840" dirty="0"/>
          </a:p>
        </p:txBody>
      </p:sp>
      <p:sp>
        <p:nvSpPr>
          <p:cNvPr id="30" name="Shape 28"/>
          <p:cNvSpPr/>
          <p:nvPr/>
        </p:nvSpPr>
        <p:spPr>
          <a:xfrm>
            <a:off x="4983480" y="2491740"/>
            <a:ext cx="1005840" cy="331470"/>
          </a:xfrm>
          <a:prstGeom prst="rect">
            <a:avLst/>
          </a:prstGeom>
          <a:solidFill>
            <a:srgbClr val="F3F7FA"/>
          </a:solidFill>
          <a:ln w="6350">
            <a:solidFill>
              <a:srgbClr val="FFFFFF"/>
            </a:solidFill>
            <a:prstDash val="solid"/>
          </a:ln>
        </p:spPr>
      </p:sp>
      <p:sp>
        <p:nvSpPr>
          <p:cNvPr id="31" name="Text 29"/>
          <p:cNvSpPr/>
          <p:nvPr/>
        </p:nvSpPr>
        <p:spPr>
          <a:xfrm>
            <a:off x="5010912" y="2528316"/>
            <a:ext cx="9509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47</a:t>
            </a:r>
            <a:endParaRPr lang="en-US" sz="840" dirty="0"/>
          </a:p>
        </p:txBody>
      </p:sp>
      <p:sp>
        <p:nvSpPr>
          <p:cNvPr id="32" name="Shape 30"/>
          <p:cNvSpPr/>
          <p:nvPr/>
        </p:nvSpPr>
        <p:spPr>
          <a:xfrm>
            <a:off x="822960" y="2823210"/>
            <a:ext cx="1325880" cy="331470"/>
          </a:xfrm>
          <a:prstGeom prst="rect">
            <a:avLst/>
          </a:prstGeom>
          <a:solidFill>
            <a:srgbClr val="FFFFFF"/>
          </a:solidFill>
          <a:ln w="6350">
            <a:solidFill>
              <a:srgbClr val="FFFFFF"/>
            </a:solidFill>
            <a:prstDash val="solid"/>
          </a:ln>
        </p:spPr>
      </p:sp>
      <p:sp>
        <p:nvSpPr>
          <p:cNvPr id="33" name="Text 31"/>
          <p:cNvSpPr/>
          <p:nvPr/>
        </p:nvSpPr>
        <p:spPr>
          <a:xfrm>
            <a:off x="850392" y="2859786"/>
            <a:ext cx="1271016" cy="258318"/>
          </a:xfrm>
          <a:prstGeom prst="rect">
            <a:avLst/>
          </a:prstGeom>
          <a:noFill/>
          <a:ln/>
        </p:spPr>
        <p:txBody>
          <a:bodyPr wrap="square" lIns="127" tIns="127" rIns="127" bIns="127" rtlCol="0" anchor="ctr">
            <a:normAutofit/>
          </a:bodyPr>
          <a:lstStyle/>
          <a:p>
            <a:pPr algn="l" indent="0" marL="0">
              <a:buNone/>
            </a:pPr>
            <a:r>
              <a:rPr lang="en-US" sz="840" dirty="0">
                <a:solidFill>
                  <a:srgbClr val="10203B"/>
                </a:solidFill>
              </a:rPr>
              <a:t>CLIP</a:t>
            </a:r>
            <a:endParaRPr lang="en-US" sz="840" dirty="0"/>
          </a:p>
        </p:txBody>
      </p:sp>
      <p:sp>
        <p:nvSpPr>
          <p:cNvPr id="34" name="Shape 32"/>
          <p:cNvSpPr/>
          <p:nvPr/>
        </p:nvSpPr>
        <p:spPr>
          <a:xfrm>
            <a:off x="2148840" y="2823210"/>
            <a:ext cx="1234440" cy="331470"/>
          </a:xfrm>
          <a:prstGeom prst="rect">
            <a:avLst/>
          </a:prstGeom>
          <a:solidFill>
            <a:srgbClr val="FFFFFF"/>
          </a:solidFill>
          <a:ln w="6350">
            <a:solidFill>
              <a:srgbClr val="FFFFFF"/>
            </a:solidFill>
            <a:prstDash val="solid"/>
          </a:ln>
        </p:spPr>
      </p:sp>
      <p:sp>
        <p:nvSpPr>
          <p:cNvPr id="35" name="Text 33"/>
          <p:cNvSpPr/>
          <p:nvPr/>
        </p:nvSpPr>
        <p:spPr>
          <a:xfrm>
            <a:off x="2176272" y="2859786"/>
            <a:ext cx="11795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0.927 / 0.000</a:t>
            </a:r>
            <a:endParaRPr lang="en-US" sz="840" dirty="0"/>
          </a:p>
        </p:txBody>
      </p:sp>
      <p:sp>
        <p:nvSpPr>
          <p:cNvPr id="36" name="Shape 34"/>
          <p:cNvSpPr/>
          <p:nvPr/>
        </p:nvSpPr>
        <p:spPr>
          <a:xfrm>
            <a:off x="3383280" y="2823210"/>
            <a:ext cx="1600200" cy="331470"/>
          </a:xfrm>
          <a:prstGeom prst="rect">
            <a:avLst/>
          </a:prstGeom>
          <a:solidFill>
            <a:srgbClr val="FFFFFF"/>
          </a:solidFill>
          <a:ln w="6350">
            <a:solidFill>
              <a:srgbClr val="FFFFFF"/>
            </a:solidFill>
            <a:prstDash val="solid"/>
          </a:ln>
        </p:spPr>
      </p:sp>
      <p:sp>
        <p:nvSpPr>
          <p:cNvPr id="37" name="Text 35"/>
          <p:cNvSpPr/>
          <p:nvPr/>
        </p:nvSpPr>
        <p:spPr>
          <a:xfrm>
            <a:off x="3410712" y="2859786"/>
            <a:ext cx="154533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FGSM acc. 0.914</a:t>
            </a:r>
            <a:endParaRPr lang="en-US" sz="840" dirty="0"/>
          </a:p>
        </p:txBody>
      </p:sp>
      <p:sp>
        <p:nvSpPr>
          <p:cNvPr id="38" name="Shape 36"/>
          <p:cNvSpPr/>
          <p:nvPr/>
        </p:nvSpPr>
        <p:spPr>
          <a:xfrm>
            <a:off x="4983480" y="2823210"/>
            <a:ext cx="1005840" cy="331470"/>
          </a:xfrm>
          <a:prstGeom prst="rect">
            <a:avLst/>
          </a:prstGeom>
          <a:solidFill>
            <a:srgbClr val="FFFFFF"/>
          </a:solidFill>
          <a:ln w="6350">
            <a:solidFill>
              <a:srgbClr val="FFFFFF"/>
            </a:solidFill>
            <a:prstDash val="solid"/>
          </a:ln>
        </p:spPr>
      </p:sp>
      <p:sp>
        <p:nvSpPr>
          <p:cNvPr id="39" name="Text 37"/>
          <p:cNvSpPr/>
          <p:nvPr/>
        </p:nvSpPr>
        <p:spPr>
          <a:xfrm>
            <a:off x="5010912" y="2859786"/>
            <a:ext cx="9509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23</a:t>
            </a:r>
            <a:endParaRPr lang="en-US" sz="840" dirty="0"/>
          </a:p>
        </p:txBody>
      </p:sp>
      <p:sp>
        <p:nvSpPr>
          <p:cNvPr id="40" name="Shape 38"/>
          <p:cNvSpPr/>
          <p:nvPr/>
        </p:nvSpPr>
        <p:spPr>
          <a:xfrm>
            <a:off x="6446520" y="1234440"/>
            <a:ext cx="5166360" cy="2286000"/>
          </a:xfrm>
          <a:prstGeom prst="roundRect">
            <a:avLst>
              <a:gd name="adj" fmla="val 4000"/>
            </a:avLst>
          </a:prstGeom>
          <a:solidFill>
            <a:srgbClr val="FFFFFF"/>
          </a:solidFill>
          <a:ln w="12700">
            <a:solidFill>
              <a:srgbClr val="D8E1E8"/>
            </a:solidFill>
            <a:prstDash val="solid"/>
          </a:ln>
        </p:spPr>
      </p:sp>
      <p:sp>
        <p:nvSpPr>
          <p:cNvPr id="41" name="Text 39"/>
          <p:cNvSpPr/>
          <p:nvPr/>
        </p:nvSpPr>
        <p:spPr>
          <a:xfrm>
            <a:off x="6720840" y="1435608"/>
            <a:ext cx="2743200" cy="228600"/>
          </a:xfrm>
          <a:prstGeom prst="rect">
            <a:avLst/>
          </a:prstGeom>
          <a:noFill/>
          <a:ln/>
        </p:spPr>
        <p:txBody>
          <a:bodyPr wrap="square" lIns="0" tIns="0" rIns="0" bIns="0" rtlCol="0" anchor="ctr"/>
          <a:lstStyle/>
          <a:p>
            <a:pPr indent="0" marL="0">
              <a:buNone/>
            </a:pPr>
            <a:r>
              <a:rPr lang="en-US" sz="1500" b="1" dirty="0">
                <a:solidFill>
                  <a:srgbClr val="0B1F4D"/>
                </a:solidFill>
              </a:rPr>
              <a:t>Anti-forensic robustness</a:t>
            </a:r>
            <a:endParaRPr lang="en-US" sz="1500" dirty="0"/>
          </a:p>
        </p:txBody>
      </p:sp>
      <p:sp>
        <p:nvSpPr>
          <p:cNvPr id="42" name="Shape 40"/>
          <p:cNvSpPr/>
          <p:nvPr/>
        </p:nvSpPr>
        <p:spPr>
          <a:xfrm>
            <a:off x="6675120" y="1828800"/>
            <a:ext cx="1234440" cy="331470"/>
          </a:xfrm>
          <a:prstGeom prst="rect">
            <a:avLst/>
          </a:prstGeom>
          <a:solidFill>
            <a:srgbClr val="0B1F4D"/>
          </a:solidFill>
          <a:ln w="12700">
            <a:solidFill>
              <a:srgbClr val="FFFFFF">
                <a:alpha val="0"/>
              </a:srgbClr>
            </a:solidFill>
            <a:prstDash val="solid"/>
          </a:ln>
        </p:spPr>
      </p:sp>
      <p:sp>
        <p:nvSpPr>
          <p:cNvPr id="43" name="Text 41"/>
          <p:cNvSpPr/>
          <p:nvPr/>
        </p:nvSpPr>
        <p:spPr>
          <a:xfrm>
            <a:off x="6702552" y="1874520"/>
            <a:ext cx="117957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Model</a:t>
            </a:r>
            <a:endParaRPr lang="en-US" sz="770" dirty="0"/>
          </a:p>
        </p:txBody>
      </p:sp>
      <p:sp>
        <p:nvSpPr>
          <p:cNvPr id="44" name="Shape 42"/>
          <p:cNvSpPr/>
          <p:nvPr/>
        </p:nvSpPr>
        <p:spPr>
          <a:xfrm>
            <a:off x="7909560" y="1828800"/>
            <a:ext cx="1143000" cy="331470"/>
          </a:xfrm>
          <a:prstGeom prst="rect">
            <a:avLst/>
          </a:prstGeom>
          <a:solidFill>
            <a:srgbClr val="0B1F4D"/>
          </a:solidFill>
          <a:ln w="12700">
            <a:solidFill>
              <a:srgbClr val="FFFFFF">
                <a:alpha val="0"/>
              </a:srgbClr>
            </a:solidFill>
            <a:prstDash val="solid"/>
          </a:ln>
        </p:spPr>
      </p:sp>
      <p:sp>
        <p:nvSpPr>
          <p:cNvPr id="45" name="Text 43"/>
          <p:cNvSpPr/>
          <p:nvPr/>
        </p:nvSpPr>
        <p:spPr>
          <a:xfrm>
            <a:off x="7936992" y="1874520"/>
            <a:ext cx="108813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Anti acc./drop</a:t>
            </a:r>
            <a:endParaRPr lang="en-US" sz="770" dirty="0"/>
          </a:p>
        </p:txBody>
      </p:sp>
      <p:sp>
        <p:nvSpPr>
          <p:cNvPr id="46" name="Shape 44"/>
          <p:cNvSpPr/>
          <p:nvPr/>
        </p:nvSpPr>
        <p:spPr>
          <a:xfrm>
            <a:off x="9052560" y="1828800"/>
            <a:ext cx="1463040" cy="331470"/>
          </a:xfrm>
          <a:prstGeom prst="rect">
            <a:avLst/>
          </a:prstGeom>
          <a:solidFill>
            <a:srgbClr val="0B1F4D"/>
          </a:solidFill>
          <a:ln w="12700">
            <a:solidFill>
              <a:srgbClr val="FFFFFF">
                <a:alpha val="0"/>
              </a:srgbClr>
            </a:solidFill>
            <a:prstDash val="solid"/>
          </a:ln>
        </p:spPr>
      </p:sp>
      <p:sp>
        <p:nvSpPr>
          <p:cNvPr id="47" name="Text 45"/>
          <p:cNvSpPr/>
          <p:nvPr/>
        </p:nvSpPr>
        <p:spPr>
          <a:xfrm>
            <a:off x="9079992" y="1874520"/>
            <a:ext cx="140817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Critical condition</a:t>
            </a:r>
            <a:endParaRPr lang="en-US" sz="770" dirty="0"/>
          </a:p>
        </p:txBody>
      </p:sp>
      <p:sp>
        <p:nvSpPr>
          <p:cNvPr id="48" name="Shape 46"/>
          <p:cNvSpPr/>
          <p:nvPr/>
        </p:nvSpPr>
        <p:spPr>
          <a:xfrm>
            <a:off x="10515600" y="1828800"/>
            <a:ext cx="868680" cy="331470"/>
          </a:xfrm>
          <a:prstGeom prst="rect">
            <a:avLst/>
          </a:prstGeom>
          <a:solidFill>
            <a:srgbClr val="0B1F4D"/>
          </a:solidFill>
          <a:ln w="12700">
            <a:solidFill>
              <a:srgbClr val="FFFFFF">
                <a:alpha val="0"/>
              </a:srgbClr>
            </a:solidFill>
            <a:prstDash val="solid"/>
          </a:ln>
        </p:spPr>
      </p:sp>
      <p:sp>
        <p:nvSpPr>
          <p:cNvPr id="49" name="Text 47"/>
          <p:cNvSpPr/>
          <p:nvPr/>
        </p:nvSpPr>
        <p:spPr>
          <a:xfrm>
            <a:off x="10543032" y="1874520"/>
            <a:ext cx="813816" cy="258318"/>
          </a:xfrm>
          <a:prstGeom prst="rect">
            <a:avLst/>
          </a:prstGeom>
          <a:noFill/>
          <a:ln/>
        </p:spPr>
        <p:txBody>
          <a:bodyPr wrap="square" lIns="127" tIns="127" rIns="127" bIns="127" rtlCol="0" anchor="ctr">
            <a:normAutofit/>
          </a:bodyPr>
          <a:lstStyle/>
          <a:p>
            <a:pPr algn="ctr" indent="0" marL="0">
              <a:buNone/>
            </a:pPr>
            <a:r>
              <a:rPr lang="en-US" sz="770" b="1" dirty="0">
                <a:solidFill>
                  <a:srgbClr val="FFFFFF"/>
                </a:solidFill>
              </a:rPr>
              <a:t>Induced errors</a:t>
            </a:r>
            <a:endParaRPr lang="en-US" sz="770" dirty="0"/>
          </a:p>
        </p:txBody>
      </p:sp>
      <p:sp>
        <p:nvSpPr>
          <p:cNvPr id="50" name="Shape 48"/>
          <p:cNvSpPr/>
          <p:nvPr/>
        </p:nvSpPr>
        <p:spPr>
          <a:xfrm>
            <a:off x="6675120" y="2160270"/>
            <a:ext cx="1234440" cy="331470"/>
          </a:xfrm>
          <a:prstGeom prst="rect">
            <a:avLst/>
          </a:prstGeom>
          <a:solidFill>
            <a:srgbClr val="FFFFFF"/>
          </a:solidFill>
          <a:ln w="6350">
            <a:solidFill>
              <a:srgbClr val="FFFFFF"/>
            </a:solidFill>
            <a:prstDash val="solid"/>
          </a:ln>
        </p:spPr>
      </p:sp>
      <p:sp>
        <p:nvSpPr>
          <p:cNvPr id="51" name="Text 49"/>
          <p:cNvSpPr/>
          <p:nvPr/>
        </p:nvSpPr>
        <p:spPr>
          <a:xfrm>
            <a:off x="6702552" y="2196846"/>
            <a:ext cx="1179576" cy="258318"/>
          </a:xfrm>
          <a:prstGeom prst="rect">
            <a:avLst/>
          </a:prstGeom>
          <a:noFill/>
          <a:ln/>
        </p:spPr>
        <p:txBody>
          <a:bodyPr wrap="square" lIns="127" tIns="127" rIns="127" bIns="127" rtlCol="0" anchor="ctr">
            <a:normAutofit/>
          </a:bodyPr>
          <a:lstStyle/>
          <a:p>
            <a:pPr algn="l" indent="0" marL="0">
              <a:buNone/>
            </a:pPr>
            <a:r>
              <a:rPr lang="en-US" sz="840" dirty="0">
                <a:solidFill>
                  <a:srgbClr val="10203B"/>
                </a:solidFill>
              </a:rPr>
              <a:t>EfficientNet-B0</a:t>
            </a:r>
            <a:endParaRPr lang="en-US" sz="840" dirty="0"/>
          </a:p>
        </p:txBody>
      </p:sp>
      <p:sp>
        <p:nvSpPr>
          <p:cNvPr id="52" name="Shape 50"/>
          <p:cNvSpPr/>
          <p:nvPr/>
        </p:nvSpPr>
        <p:spPr>
          <a:xfrm>
            <a:off x="7909560" y="2160270"/>
            <a:ext cx="1143000" cy="331470"/>
          </a:xfrm>
          <a:prstGeom prst="rect">
            <a:avLst/>
          </a:prstGeom>
          <a:solidFill>
            <a:srgbClr val="FFFFFF"/>
          </a:solidFill>
          <a:ln w="6350">
            <a:solidFill>
              <a:srgbClr val="FFFFFF"/>
            </a:solidFill>
            <a:prstDash val="solid"/>
          </a:ln>
        </p:spPr>
      </p:sp>
      <p:sp>
        <p:nvSpPr>
          <p:cNvPr id="53" name="Text 51"/>
          <p:cNvSpPr/>
          <p:nvPr/>
        </p:nvSpPr>
        <p:spPr>
          <a:xfrm>
            <a:off x="7936992" y="2196846"/>
            <a:ext cx="108813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0.973 / 0.005</a:t>
            </a:r>
            <a:endParaRPr lang="en-US" sz="840" dirty="0"/>
          </a:p>
        </p:txBody>
      </p:sp>
      <p:sp>
        <p:nvSpPr>
          <p:cNvPr id="54" name="Shape 52"/>
          <p:cNvSpPr/>
          <p:nvPr/>
        </p:nvSpPr>
        <p:spPr>
          <a:xfrm>
            <a:off x="9052560" y="2160270"/>
            <a:ext cx="1463040" cy="331470"/>
          </a:xfrm>
          <a:prstGeom prst="rect">
            <a:avLst/>
          </a:prstGeom>
          <a:solidFill>
            <a:srgbClr val="FFFFFF"/>
          </a:solidFill>
          <a:ln w="6350">
            <a:solidFill>
              <a:srgbClr val="FFFFFF"/>
            </a:solidFill>
            <a:prstDash val="solid"/>
          </a:ln>
        </p:spPr>
      </p:sp>
      <p:sp>
        <p:nvSpPr>
          <p:cNvPr id="55" name="Text 53"/>
          <p:cNvSpPr/>
          <p:nvPr/>
        </p:nvSpPr>
        <p:spPr>
          <a:xfrm>
            <a:off x="9079992" y="2196846"/>
            <a:ext cx="14081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Gaussian blur</a:t>
            </a:r>
            <a:endParaRPr lang="en-US" sz="840" dirty="0"/>
          </a:p>
        </p:txBody>
      </p:sp>
      <p:sp>
        <p:nvSpPr>
          <p:cNvPr id="56" name="Shape 54"/>
          <p:cNvSpPr/>
          <p:nvPr/>
        </p:nvSpPr>
        <p:spPr>
          <a:xfrm>
            <a:off x="10515600" y="2160270"/>
            <a:ext cx="868680" cy="331470"/>
          </a:xfrm>
          <a:prstGeom prst="rect">
            <a:avLst/>
          </a:prstGeom>
          <a:solidFill>
            <a:srgbClr val="FFFFFF"/>
          </a:solidFill>
          <a:ln w="6350">
            <a:solidFill>
              <a:srgbClr val="FFFFFF"/>
            </a:solidFill>
            <a:prstDash val="solid"/>
          </a:ln>
        </p:spPr>
      </p:sp>
      <p:sp>
        <p:nvSpPr>
          <p:cNvPr id="57" name="Text 55"/>
          <p:cNvSpPr/>
          <p:nvPr/>
        </p:nvSpPr>
        <p:spPr>
          <a:xfrm>
            <a:off x="10543032" y="2196846"/>
            <a:ext cx="81381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17</a:t>
            </a:r>
            <a:endParaRPr lang="en-US" sz="840" dirty="0"/>
          </a:p>
        </p:txBody>
      </p:sp>
      <p:sp>
        <p:nvSpPr>
          <p:cNvPr id="58" name="Shape 56"/>
          <p:cNvSpPr/>
          <p:nvPr/>
        </p:nvSpPr>
        <p:spPr>
          <a:xfrm>
            <a:off x="6675120" y="2491740"/>
            <a:ext cx="1234440" cy="331470"/>
          </a:xfrm>
          <a:prstGeom prst="rect">
            <a:avLst/>
          </a:prstGeom>
          <a:solidFill>
            <a:srgbClr val="F3F7FA"/>
          </a:solidFill>
          <a:ln w="6350">
            <a:solidFill>
              <a:srgbClr val="FFFFFF"/>
            </a:solidFill>
            <a:prstDash val="solid"/>
          </a:ln>
        </p:spPr>
      </p:sp>
      <p:sp>
        <p:nvSpPr>
          <p:cNvPr id="59" name="Text 57"/>
          <p:cNvSpPr/>
          <p:nvPr/>
        </p:nvSpPr>
        <p:spPr>
          <a:xfrm>
            <a:off x="6702552" y="2528316"/>
            <a:ext cx="1179576" cy="258318"/>
          </a:xfrm>
          <a:prstGeom prst="rect">
            <a:avLst/>
          </a:prstGeom>
          <a:noFill/>
          <a:ln/>
        </p:spPr>
        <p:txBody>
          <a:bodyPr wrap="square" lIns="127" tIns="127" rIns="127" bIns="127" rtlCol="0" anchor="ctr">
            <a:normAutofit/>
          </a:bodyPr>
          <a:lstStyle/>
          <a:p>
            <a:pPr algn="l" indent="0" marL="0">
              <a:buNone/>
            </a:pPr>
            <a:r>
              <a:rPr lang="en-US" sz="840" dirty="0">
                <a:solidFill>
                  <a:srgbClr val="10203B"/>
                </a:solidFill>
              </a:rPr>
              <a:t>ResNet18</a:t>
            </a:r>
            <a:endParaRPr lang="en-US" sz="840" dirty="0"/>
          </a:p>
        </p:txBody>
      </p:sp>
      <p:sp>
        <p:nvSpPr>
          <p:cNvPr id="60" name="Shape 58"/>
          <p:cNvSpPr/>
          <p:nvPr/>
        </p:nvSpPr>
        <p:spPr>
          <a:xfrm>
            <a:off x="7909560" y="2491740"/>
            <a:ext cx="1143000" cy="331470"/>
          </a:xfrm>
          <a:prstGeom prst="rect">
            <a:avLst/>
          </a:prstGeom>
          <a:solidFill>
            <a:srgbClr val="F3F7FA"/>
          </a:solidFill>
          <a:ln w="6350">
            <a:solidFill>
              <a:srgbClr val="FFFFFF"/>
            </a:solidFill>
            <a:prstDash val="solid"/>
          </a:ln>
        </p:spPr>
      </p:sp>
      <p:sp>
        <p:nvSpPr>
          <p:cNvPr id="61" name="Text 59"/>
          <p:cNvSpPr/>
          <p:nvPr/>
        </p:nvSpPr>
        <p:spPr>
          <a:xfrm>
            <a:off x="7936992" y="2528316"/>
            <a:ext cx="108813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0.957 / 0.007</a:t>
            </a:r>
            <a:endParaRPr lang="en-US" sz="840" dirty="0"/>
          </a:p>
        </p:txBody>
      </p:sp>
      <p:sp>
        <p:nvSpPr>
          <p:cNvPr id="62" name="Shape 60"/>
          <p:cNvSpPr/>
          <p:nvPr/>
        </p:nvSpPr>
        <p:spPr>
          <a:xfrm>
            <a:off x="9052560" y="2491740"/>
            <a:ext cx="1463040" cy="331470"/>
          </a:xfrm>
          <a:prstGeom prst="rect">
            <a:avLst/>
          </a:prstGeom>
          <a:solidFill>
            <a:srgbClr val="F3F7FA"/>
          </a:solidFill>
          <a:ln w="6350">
            <a:solidFill>
              <a:srgbClr val="FFFFFF"/>
            </a:solidFill>
            <a:prstDash val="solid"/>
          </a:ln>
        </p:spPr>
      </p:sp>
      <p:sp>
        <p:nvSpPr>
          <p:cNvPr id="63" name="Text 61"/>
          <p:cNvSpPr/>
          <p:nvPr/>
        </p:nvSpPr>
        <p:spPr>
          <a:xfrm>
            <a:off x="9079992" y="2528316"/>
            <a:ext cx="14081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Histogram mod.</a:t>
            </a:r>
            <a:endParaRPr lang="en-US" sz="840" dirty="0"/>
          </a:p>
        </p:txBody>
      </p:sp>
      <p:sp>
        <p:nvSpPr>
          <p:cNvPr id="64" name="Shape 62"/>
          <p:cNvSpPr/>
          <p:nvPr/>
        </p:nvSpPr>
        <p:spPr>
          <a:xfrm>
            <a:off x="10515600" y="2491740"/>
            <a:ext cx="868680" cy="331470"/>
          </a:xfrm>
          <a:prstGeom prst="rect">
            <a:avLst/>
          </a:prstGeom>
          <a:solidFill>
            <a:srgbClr val="F3F7FA"/>
          </a:solidFill>
          <a:ln w="6350">
            <a:solidFill>
              <a:srgbClr val="FFFFFF"/>
            </a:solidFill>
            <a:prstDash val="solid"/>
          </a:ln>
        </p:spPr>
      </p:sp>
      <p:sp>
        <p:nvSpPr>
          <p:cNvPr id="65" name="Text 63"/>
          <p:cNvSpPr/>
          <p:nvPr/>
        </p:nvSpPr>
        <p:spPr>
          <a:xfrm>
            <a:off x="10543032" y="2528316"/>
            <a:ext cx="81381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39</a:t>
            </a:r>
            <a:endParaRPr lang="en-US" sz="840" dirty="0"/>
          </a:p>
        </p:txBody>
      </p:sp>
      <p:sp>
        <p:nvSpPr>
          <p:cNvPr id="66" name="Shape 64"/>
          <p:cNvSpPr/>
          <p:nvPr/>
        </p:nvSpPr>
        <p:spPr>
          <a:xfrm>
            <a:off x="6675120" y="2823210"/>
            <a:ext cx="1234440" cy="331470"/>
          </a:xfrm>
          <a:prstGeom prst="rect">
            <a:avLst/>
          </a:prstGeom>
          <a:solidFill>
            <a:srgbClr val="FFFFFF"/>
          </a:solidFill>
          <a:ln w="6350">
            <a:solidFill>
              <a:srgbClr val="FFFFFF"/>
            </a:solidFill>
            <a:prstDash val="solid"/>
          </a:ln>
        </p:spPr>
      </p:sp>
      <p:sp>
        <p:nvSpPr>
          <p:cNvPr id="67" name="Text 65"/>
          <p:cNvSpPr/>
          <p:nvPr/>
        </p:nvSpPr>
        <p:spPr>
          <a:xfrm>
            <a:off x="6702552" y="2859786"/>
            <a:ext cx="1179576" cy="258318"/>
          </a:xfrm>
          <a:prstGeom prst="rect">
            <a:avLst/>
          </a:prstGeom>
          <a:noFill/>
          <a:ln/>
        </p:spPr>
        <p:txBody>
          <a:bodyPr wrap="square" lIns="127" tIns="127" rIns="127" bIns="127" rtlCol="0" anchor="ctr">
            <a:normAutofit/>
          </a:bodyPr>
          <a:lstStyle/>
          <a:p>
            <a:pPr algn="l" indent="0" marL="0">
              <a:buNone/>
            </a:pPr>
            <a:r>
              <a:rPr lang="en-US" sz="840" dirty="0">
                <a:solidFill>
                  <a:srgbClr val="10203B"/>
                </a:solidFill>
              </a:rPr>
              <a:t>CLIP</a:t>
            </a:r>
            <a:endParaRPr lang="en-US" sz="840" dirty="0"/>
          </a:p>
        </p:txBody>
      </p:sp>
      <p:sp>
        <p:nvSpPr>
          <p:cNvPr id="68" name="Shape 66"/>
          <p:cNvSpPr/>
          <p:nvPr/>
        </p:nvSpPr>
        <p:spPr>
          <a:xfrm>
            <a:off x="7909560" y="2823210"/>
            <a:ext cx="1143000" cy="331470"/>
          </a:xfrm>
          <a:prstGeom prst="rect">
            <a:avLst/>
          </a:prstGeom>
          <a:solidFill>
            <a:srgbClr val="FFFFFF"/>
          </a:solidFill>
          <a:ln w="6350">
            <a:solidFill>
              <a:srgbClr val="FFFFFF"/>
            </a:solidFill>
            <a:prstDash val="solid"/>
          </a:ln>
        </p:spPr>
      </p:sp>
      <p:sp>
        <p:nvSpPr>
          <p:cNvPr id="69" name="Text 67"/>
          <p:cNvSpPr/>
          <p:nvPr/>
        </p:nvSpPr>
        <p:spPr>
          <a:xfrm>
            <a:off x="7936992" y="2859786"/>
            <a:ext cx="108813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0.928 / -0.001</a:t>
            </a:r>
            <a:endParaRPr lang="en-US" sz="840" dirty="0"/>
          </a:p>
        </p:txBody>
      </p:sp>
      <p:sp>
        <p:nvSpPr>
          <p:cNvPr id="70" name="Shape 68"/>
          <p:cNvSpPr/>
          <p:nvPr/>
        </p:nvSpPr>
        <p:spPr>
          <a:xfrm>
            <a:off x="9052560" y="2823210"/>
            <a:ext cx="1463040" cy="331470"/>
          </a:xfrm>
          <a:prstGeom prst="rect">
            <a:avLst/>
          </a:prstGeom>
          <a:solidFill>
            <a:srgbClr val="FFFFFF"/>
          </a:solidFill>
          <a:ln w="6350">
            <a:solidFill>
              <a:srgbClr val="FFFFFF"/>
            </a:solidFill>
            <a:prstDash val="solid"/>
          </a:ln>
        </p:spPr>
      </p:sp>
      <p:sp>
        <p:nvSpPr>
          <p:cNvPr id="71" name="Text 69"/>
          <p:cNvSpPr/>
          <p:nvPr/>
        </p:nvSpPr>
        <p:spPr>
          <a:xfrm>
            <a:off x="9079992" y="2859786"/>
            <a:ext cx="140817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Histogram mod.</a:t>
            </a:r>
            <a:endParaRPr lang="en-US" sz="840" dirty="0"/>
          </a:p>
        </p:txBody>
      </p:sp>
      <p:sp>
        <p:nvSpPr>
          <p:cNvPr id="72" name="Shape 70"/>
          <p:cNvSpPr/>
          <p:nvPr/>
        </p:nvSpPr>
        <p:spPr>
          <a:xfrm>
            <a:off x="10515600" y="2823210"/>
            <a:ext cx="868680" cy="331470"/>
          </a:xfrm>
          <a:prstGeom prst="rect">
            <a:avLst/>
          </a:prstGeom>
          <a:solidFill>
            <a:srgbClr val="FFFFFF"/>
          </a:solidFill>
          <a:ln w="6350">
            <a:solidFill>
              <a:srgbClr val="FFFFFF"/>
            </a:solidFill>
            <a:prstDash val="solid"/>
          </a:ln>
        </p:spPr>
      </p:sp>
      <p:sp>
        <p:nvSpPr>
          <p:cNvPr id="73" name="Text 71"/>
          <p:cNvSpPr/>
          <p:nvPr/>
        </p:nvSpPr>
        <p:spPr>
          <a:xfrm>
            <a:off x="10543032" y="2859786"/>
            <a:ext cx="813816" cy="258318"/>
          </a:xfrm>
          <a:prstGeom prst="rect">
            <a:avLst/>
          </a:prstGeom>
          <a:noFill/>
          <a:ln/>
        </p:spPr>
        <p:txBody>
          <a:bodyPr wrap="square" lIns="127" tIns="127" rIns="127" bIns="127" rtlCol="0" anchor="ctr">
            <a:normAutofit/>
          </a:bodyPr>
          <a:lstStyle/>
          <a:p>
            <a:pPr algn="ctr" indent="0" marL="0">
              <a:buNone/>
            </a:pPr>
            <a:r>
              <a:rPr lang="en-US" sz="840" dirty="0">
                <a:solidFill>
                  <a:srgbClr val="10203B"/>
                </a:solidFill>
              </a:rPr>
              <a:t>13</a:t>
            </a:r>
            <a:endParaRPr lang="en-US" sz="840" dirty="0"/>
          </a:p>
        </p:txBody>
      </p:sp>
      <p:sp>
        <p:nvSpPr>
          <p:cNvPr id="74" name="Shape 72"/>
          <p:cNvSpPr/>
          <p:nvPr/>
        </p:nvSpPr>
        <p:spPr>
          <a:xfrm>
            <a:off x="822960" y="3977640"/>
            <a:ext cx="5212080" cy="1325880"/>
          </a:xfrm>
          <a:prstGeom prst="roundRect">
            <a:avLst>
              <a:gd name="adj" fmla="val 6897"/>
            </a:avLst>
          </a:prstGeom>
          <a:solidFill>
            <a:srgbClr val="FFF2EA"/>
          </a:solidFill>
          <a:ln w="12700">
            <a:solidFill>
              <a:srgbClr val="F0B083"/>
            </a:solidFill>
            <a:prstDash val="solid"/>
          </a:ln>
        </p:spPr>
      </p:sp>
      <p:sp>
        <p:nvSpPr>
          <p:cNvPr id="75" name="Text 73"/>
          <p:cNvSpPr/>
          <p:nvPr/>
        </p:nvSpPr>
        <p:spPr>
          <a:xfrm>
            <a:off x="1051560" y="4160520"/>
            <a:ext cx="2743200" cy="228600"/>
          </a:xfrm>
          <a:prstGeom prst="rect">
            <a:avLst/>
          </a:prstGeom>
          <a:noFill/>
          <a:ln/>
        </p:spPr>
        <p:txBody>
          <a:bodyPr wrap="square" lIns="0" tIns="0" rIns="0" bIns="0" rtlCol="0" anchor="ctr"/>
          <a:lstStyle/>
          <a:p>
            <a:pPr indent="0" marL="0">
              <a:buNone/>
            </a:pPr>
            <a:r>
              <a:rPr lang="en-US" sz="1500" b="1" dirty="0">
                <a:solidFill>
                  <a:srgbClr val="E76F28"/>
                </a:solidFill>
              </a:rPr>
              <a:t>EfficientNet-B0 + SigmaZero</a:t>
            </a:r>
            <a:endParaRPr lang="en-US" sz="1500" dirty="0"/>
          </a:p>
        </p:txBody>
      </p:sp>
      <p:sp>
        <p:nvSpPr>
          <p:cNvPr id="76" name="Shape 74"/>
          <p:cNvSpPr/>
          <p:nvPr/>
        </p:nvSpPr>
        <p:spPr>
          <a:xfrm>
            <a:off x="1051560" y="4599432"/>
            <a:ext cx="73152" cy="73152"/>
          </a:xfrm>
          <a:prstGeom prst="ellipse">
            <a:avLst/>
          </a:prstGeom>
          <a:solidFill>
            <a:srgbClr val="E76F28"/>
          </a:solidFill>
          <a:ln w="12700">
            <a:solidFill>
              <a:srgbClr val="E76F28"/>
            </a:solidFill>
            <a:prstDash val="solid"/>
          </a:ln>
        </p:spPr>
      </p:sp>
      <p:sp>
        <p:nvSpPr>
          <p:cNvPr id="77" name="Text 75"/>
          <p:cNvSpPr/>
          <p:nvPr/>
        </p:nvSpPr>
        <p:spPr>
          <a:xfrm>
            <a:off x="1216152" y="4526280"/>
            <a:ext cx="4480560" cy="246888"/>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accuracy collapses to 0.015</a:t>
            </a:r>
            <a:endParaRPr lang="en-US" sz="1080" dirty="0"/>
          </a:p>
        </p:txBody>
      </p:sp>
      <p:sp>
        <p:nvSpPr>
          <p:cNvPr id="78" name="Shape 76"/>
          <p:cNvSpPr/>
          <p:nvPr/>
        </p:nvSpPr>
        <p:spPr>
          <a:xfrm>
            <a:off x="1051560" y="4846320"/>
            <a:ext cx="73152" cy="73152"/>
          </a:xfrm>
          <a:prstGeom prst="ellipse">
            <a:avLst/>
          </a:prstGeom>
          <a:solidFill>
            <a:srgbClr val="E76F28"/>
          </a:solidFill>
          <a:ln w="12700">
            <a:solidFill>
              <a:srgbClr val="E76F28"/>
            </a:solidFill>
            <a:prstDash val="solid"/>
          </a:ln>
        </p:spPr>
      </p:sp>
      <p:sp>
        <p:nvSpPr>
          <p:cNvPr id="79" name="Text 77"/>
          <p:cNvSpPr/>
          <p:nvPr/>
        </p:nvSpPr>
        <p:spPr>
          <a:xfrm>
            <a:off x="1216152" y="4773168"/>
            <a:ext cx="4480560" cy="246888"/>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963 induced errors</a:t>
            </a:r>
            <a:endParaRPr lang="en-US" sz="1080" dirty="0"/>
          </a:p>
        </p:txBody>
      </p:sp>
      <p:sp>
        <p:nvSpPr>
          <p:cNvPr id="80" name="Shape 78"/>
          <p:cNvSpPr/>
          <p:nvPr/>
        </p:nvSpPr>
        <p:spPr>
          <a:xfrm>
            <a:off x="1051560" y="5093208"/>
            <a:ext cx="73152" cy="73152"/>
          </a:xfrm>
          <a:prstGeom prst="ellipse">
            <a:avLst/>
          </a:prstGeom>
          <a:solidFill>
            <a:srgbClr val="E76F28"/>
          </a:solidFill>
          <a:ln w="12700">
            <a:solidFill>
              <a:srgbClr val="E76F28"/>
            </a:solidFill>
            <a:prstDash val="solid"/>
          </a:ln>
        </p:spPr>
      </p:sp>
      <p:sp>
        <p:nvSpPr>
          <p:cNvPr id="81" name="Text 79"/>
          <p:cNvSpPr/>
          <p:nvPr/>
        </p:nvSpPr>
        <p:spPr>
          <a:xfrm>
            <a:off x="1216152" y="5020056"/>
            <a:ext cx="4480560" cy="246888"/>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489 weapon → non-weapon transitions</a:t>
            </a:r>
            <a:endParaRPr lang="en-US" sz="1080" dirty="0"/>
          </a:p>
        </p:txBody>
      </p:sp>
      <p:sp>
        <p:nvSpPr>
          <p:cNvPr id="82" name="Shape 80"/>
          <p:cNvSpPr/>
          <p:nvPr/>
        </p:nvSpPr>
        <p:spPr>
          <a:xfrm>
            <a:off x="6355080" y="3977640"/>
            <a:ext cx="5074920" cy="1325880"/>
          </a:xfrm>
          <a:prstGeom prst="roundRect">
            <a:avLst>
              <a:gd name="adj" fmla="val 6897"/>
            </a:avLst>
          </a:prstGeom>
          <a:solidFill>
            <a:srgbClr val="EAF7F8"/>
          </a:solidFill>
          <a:ln w="12700">
            <a:solidFill>
              <a:srgbClr val="A7DADB"/>
            </a:solidFill>
            <a:prstDash val="solid"/>
          </a:ln>
        </p:spPr>
      </p:sp>
      <p:sp>
        <p:nvSpPr>
          <p:cNvPr id="83" name="Text 81"/>
          <p:cNvSpPr/>
          <p:nvPr/>
        </p:nvSpPr>
        <p:spPr>
          <a:xfrm>
            <a:off x="6583680" y="4160520"/>
            <a:ext cx="2194560" cy="228600"/>
          </a:xfrm>
          <a:prstGeom prst="rect">
            <a:avLst/>
          </a:prstGeom>
          <a:noFill/>
          <a:ln/>
        </p:spPr>
        <p:txBody>
          <a:bodyPr wrap="square" lIns="0" tIns="0" rIns="0" bIns="0" rtlCol="0" anchor="ctr"/>
          <a:lstStyle/>
          <a:p>
            <a:pPr indent="0" marL="0">
              <a:buNone/>
            </a:pPr>
            <a:r>
              <a:rPr lang="en-US" sz="1500" b="1" dirty="0">
                <a:solidFill>
                  <a:srgbClr val="0A7C80"/>
                </a:solidFill>
              </a:rPr>
              <a:t>Anti-forensic profile</a:t>
            </a:r>
            <a:endParaRPr lang="en-US" sz="1500" dirty="0"/>
          </a:p>
        </p:txBody>
      </p:sp>
      <p:sp>
        <p:nvSpPr>
          <p:cNvPr id="84" name="Shape 82"/>
          <p:cNvSpPr/>
          <p:nvPr/>
        </p:nvSpPr>
        <p:spPr>
          <a:xfrm>
            <a:off x="6583680" y="4599432"/>
            <a:ext cx="73152" cy="73152"/>
          </a:xfrm>
          <a:prstGeom prst="ellipse">
            <a:avLst/>
          </a:prstGeom>
          <a:solidFill>
            <a:srgbClr val="0A7C80"/>
          </a:solidFill>
          <a:ln w="12700">
            <a:solidFill>
              <a:srgbClr val="0A7C80"/>
            </a:solidFill>
            <a:prstDash val="solid"/>
          </a:ln>
        </p:spPr>
      </p:sp>
      <p:sp>
        <p:nvSpPr>
          <p:cNvPr id="85" name="Text 83"/>
          <p:cNvSpPr/>
          <p:nvPr/>
        </p:nvSpPr>
        <p:spPr>
          <a:xfrm>
            <a:off x="6748272" y="4526280"/>
            <a:ext cx="4389120" cy="246888"/>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generally limited degradation</a:t>
            </a:r>
            <a:endParaRPr lang="en-US" sz="1080" dirty="0"/>
          </a:p>
        </p:txBody>
      </p:sp>
      <p:sp>
        <p:nvSpPr>
          <p:cNvPr id="86" name="Shape 84"/>
          <p:cNvSpPr/>
          <p:nvPr/>
        </p:nvSpPr>
        <p:spPr>
          <a:xfrm>
            <a:off x="6583680" y="4846320"/>
            <a:ext cx="73152" cy="73152"/>
          </a:xfrm>
          <a:prstGeom prst="ellipse">
            <a:avLst/>
          </a:prstGeom>
          <a:solidFill>
            <a:srgbClr val="0A7C80"/>
          </a:solidFill>
          <a:ln w="12700">
            <a:solidFill>
              <a:srgbClr val="0A7C80"/>
            </a:solidFill>
            <a:prstDash val="solid"/>
          </a:ln>
        </p:spPr>
      </p:sp>
      <p:sp>
        <p:nvSpPr>
          <p:cNvPr id="87" name="Text 85"/>
          <p:cNvSpPr/>
          <p:nvPr/>
        </p:nvSpPr>
        <p:spPr>
          <a:xfrm>
            <a:off x="6748272" y="4773168"/>
            <a:ext cx="4389120" cy="246888"/>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blur affects EfficientNet-B0 false negatives</a:t>
            </a:r>
            <a:endParaRPr lang="en-US" sz="1080" dirty="0"/>
          </a:p>
        </p:txBody>
      </p:sp>
      <p:sp>
        <p:nvSpPr>
          <p:cNvPr id="88" name="Shape 86"/>
          <p:cNvSpPr/>
          <p:nvPr/>
        </p:nvSpPr>
        <p:spPr>
          <a:xfrm>
            <a:off x="6583680" y="5093208"/>
            <a:ext cx="73152" cy="73152"/>
          </a:xfrm>
          <a:prstGeom prst="ellipse">
            <a:avLst/>
          </a:prstGeom>
          <a:solidFill>
            <a:srgbClr val="0A7C80"/>
          </a:solidFill>
          <a:ln w="12700">
            <a:solidFill>
              <a:srgbClr val="0A7C80"/>
            </a:solidFill>
            <a:prstDash val="solid"/>
          </a:ln>
        </p:spPr>
      </p:sp>
      <p:sp>
        <p:nvSpPr>
          <p:cNvPr id="89" name="Text 87"/>
          <p:cNvSpPr/>
          <p:nvPr/>
        </p:nvSpPr>
        <p:spPr>
          <a:xfrm>
            <a:off x="6748272" y="5020056"/>
            <a:ext cx="4389120" cy="246888"/>
          </a:xfrm>
          <a:prstGeom prst="rect">
            <a:avLst/>
          </a:prstGeom>
          <a:noFill/>
          <a:ln/>
        </p:spPr>
        <p:txBody>
          <a:bodyPr wrap="square" lIns="254" tIns="254" rIns="254" bIns="254" rtlCol="0" anchor="ctr">
            <a:normAutofit/>
          </a:bodyPr>
          <a:lstStyle/>
          <a:p>
            <a:pPr indent="0" marL="0">
              <a:buNone/>
            </a:pPr>
            <a:r>
              <a:rPr lang="en-US" sz="1080" dirty="0">
                <a:solidFill>
                  <a:srgbClr val="10203B"/>
                </a:solidFill>
              </a:rPr>
              <a:t>tonal modification affects ResNet18</a:t>
            </a:r>
            <a:endParaRPr lang="en-US" sz="1080" dirty="0"/>
          </a:p>
        </p:txBody>
      </p:sp>
      <p:sp>
        <p:nvSpPr>
          <p:cNvPr id="90" name="Shape 88"/>
          <p:cNvSpPr/>
          <p:nvPr/>
        </p:nvSpPr>
        <p:spPr>
          <a:xfrm>
            <a:off x="411480" y="6510528"/>
            <a:ext cx="11365992" cy="0"/>
          </a:xfrm>
          <a:prstGeom prst="line">
            <a:avLst/>
          </a:prstGeom>
          <a:noFill/>
          <a:ln w="8890">
            <a:solidFill>
              <a:srgbClr val="D8E1E8"/>
            </a:solidFill>
            <a:prstDash val="solid"/>
          </a:ln>
        </p:spPr>
      </p:sp>
      <p:sp>
        <p:nvSpPr>
          <p:cNvPr id="91" name="Text 89"/>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92" name="Text 90"/>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BLACK-BOX TRACK — RESULTS</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Black-Box Software: Bundle-Weighted Overview</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Operational outputs over 11,500 matched files</a:t>
            </a:r>
            <a:endParaRPr lang="en-US" sz="1100" dirty="0"/>
          </a:p>
        </p:txBody>
      </p:sp>
      <p:sp>
        <p:nvSpPr>
          <p:cNvPr id="6" name="Shape 4"/>
          <p:cNvSpPr/>
          <p:nvPr/>
        </p:nvSpPr>
        <p:spPr>
          <a:xfrm>
            <a:off x="502920" y="1371600"/>
            <a:ext cx="2743200" cy="347472"/>
          </a:xfrm>
          <a:prstGeom prst="rect">
            <a:avLst/>
          </a:prstGeom>
          <a:solidFill>
            <a:srgbClr val="0B1F4D"/>
          </a:solidFill>
          <a:ln w="12700">
            <a:solidFill>
              <a:srgbClr val="FFFFFF">
                <a:alpha val="0"/>
              </a:srgbClr>
            </a:solidFill>
            <a:prstDash val="solid"/>
          </a:ln>
        </p:spPr>
      </p:sp>
      <p:sp>
        <p:nvSpPr>
          <p:cNvPr id="7" name="Text 5"/>
          <p:cNvSpPr/>
          <p:nvPr/>
        </p:nvSpPr>
        <p:spPr>
          <a:xfrm>
            <a:off x="530352" y="1417320"/>
            <a:ext cx="2688336" cy="274320"/>
          </a:xfrm>
          <a:prstGeom prst="rect">
            <a:avLst/>
          </a:prstGeom>
          <a:noFill/>
          <a:ln/>
        </p:spPr>
        <p:txBody>
          <a:bodyPr wrap="square" lIns="127" tIns="127" rIns="127" bIns="127" rtlCol="0" anchor="ctr">
            <a:normAutofit/>
          </a:bodyPr>
          <a:lstStyle/>
          <a:p>
            <a:pPr algn="ctr" indent="0" marL="0">
              <a:buNone/>
            </a:pPr>
            <a:r>
              <a:rPr lang="en-US" sz="780" b="1" dirty="0">
                <a:solidFill>
                  <a:srgbClr val="FFFFFF"/>
                </a:solidFill>
              </a:rPr>
              <a:t>System</a:t>
            </a:r>
            <a:endParaRPr lang="en-US" sz="780" dirty="0"/>
          </a:p>
        </p:txBody>
      </p:sp>
      <p:sp>
        <p:nvSpPr>
          <p:cNvPr id="8" name="Shape 6"/>
          <p:cNvSpPr/>
          <p:nvPr/>
        </p:nvSpPr>
        <p:spPr>
          <a:xfrm>
            <a:off x="3246120" y="1371600"/>
            <a:ext cx="1234440" cy="347472"/>
          </a:xfrm>
          <a:prstGeom prst="rect">
            <a:avLst/>
          </a:prstGeom>
          <a:solidFill>
            <a:srgbClr val="0B1F4D"/>
          </a:solidFill>
          <a:ln w="12700">
            <a:solidFill>
              <a:srgbClr val="FFFFFF">
                <a:alpha val="0"/>
              </a:srgbClr>
            </a:solidFill>
            <a:prstDash val="solid"/>
          </a:ln>
        </p:spPr>
      </p:sp>
      <p:sp>
        <p:nvSpPr>
          <p:cNvPr id="9" name="Text 7"/>
          <p:cNvSpPr/>
          <p:nvPr/>
        </p:nvSpPr>
        <p:spPr>
          <a:xfrm>
            <a:off x="3273552" y="1417320"/>
            <a:ext cx="1179576" cy="274320"/>
          </a:xfrm>
          <a:prstGeom prst="rect">
            <a:avLst/>
          </a:prstGeom>
          <a:noFill/>
          <a:ln/>
        </p:spPr>
        <p:txBody>
          <a:bodyPr wrap="square" lIns="127" tIns="127" rIns="127" bIns="127" rtlCol="0" anchor="ctr">
            <a:normAutofit/>
          </a:bodyPr>
          <a:lstStyle/>
          <a:p>
            <a:pPr algn="ctr" indent="0" marL="0">
              <a:buNone/>
            </a:pPr>
            <a:r>
              <a:rPr lang="en-US" sz="780" b="1" dirty="0">
                <a:solidFill>
                  <a:srgbClr val="FFFFFF"/>
                </a:solidFill>
              </a:rPr>
              <a:t>Clean FNR</a:t>
            </a:r>
            <a:endParaRPr lang="en-US" sz="780" dirty="0"/>
          </a:p>
        </p:txBody>
      </p:sp>
      <p:sp>
        <p:nvSpPr>
          <p:cNvPr id="10" name="Shape 8"/>
          <p:cNvSpPr/>
          <p:nvPr/>
        </p:nvSpPr>
        <p:spPr>
          <a:xfrm>
            <a:off x="4480560" y="1371600"/>
            <a:ext cx="1051560" cy="347472"/>
          </a:xfrm>
          <a:prstGeom prst="rect">
            <a:avLst/>
          </a:prstGeom>
          <a:solidFill>
            <a:srgbClr val="0B1F4D"/>
          </a:solidFill>
          <a:ln w="12700">
            <a:solidFill>
              <a:srgbClr val="FFFFFF">
                <a:alpha val="0"/>
              </a:srgbClr>
            </a:solidFill>
            <a:prstDash val="solid"/>
          </a:ln>
        </p:spPr>
      </p:sp>
      <p:sp>
        <p:nvSpPr>
          <p:cNvPr id="11" name="Text 9"/>
          <p:cNvSpPr/>
          <p:nvPr/>
        </p:nvSpPr>
        <p:spPr>
          <a:xfrm>
            <a:off x="4507992" y="1417320"/>
            <a:ext cx="996696" cy="274320"/>
          </a:xfrm>
          <a:prstGeom prst="rect">
            <a:avLst/>
          </a:prstGeom>
          <a:noFill/>
          <a:ln/>
        </p:spPr>
        <p:txBody>
          <a:bodyPr wrap="square" lIns="127" tIns="127" rIns="127" bIns="127" rtlCol="0" anchor="ctr">
            <a:normAutofit/>
          </a:bodyPr>
          <a:lstStyle/>
          <a:p>
            <a:pPr algn="ctr" indent="0" marL="0">
              <a:buNone/>
            </a:pPr>
            <a:r>
              <a:rPr lang="en-US" sz="780" b="1" dirty="0">
                <a:solidFill>
                  <a:srgbClr val="FFFFFF"/>
                </a:solidFill>
              </a:rPr>
              <a:t>Acc.</a:t>
            </a:r>
            <a:endParaRPr lang="en-US" sz="780" dirty="0"/>
          </a:p>
        </p:txBody>
      </p:sp>
      <p:sp>
        <p:nvSpPr>
          <p:cNvPr id="12" name="Shape 10"/>
          <p:cNvSpPr/>
          <p:nvPr/>
        </p:nvSpPr>
        <p:spPr>
          <a:xfrm>
            <a:off x="5532120" y="1371600"/>
            <a:ext cx="1325880" cy="347472"/>
          </a:xfrm>
          <a:prstGeom prst="rect">
            <a:avLst/>
          </a:prstGeom>
          <a:solidFill>
            <a:srgbClr val="0B1F4D"/>
          </a:solidFill>
          <a:ln w="12700">
            <a:solidFill>
              <a:srgbClr val="FFFFFF">
                <a:alpha val="0"/>
              </a:srgbClr>
            </a:solidFill>
            <a:prstDash val="solid"/>
          </a:ln>
        </p:spPr>
      </p:sp>
      <p:sp>
        <p:nvSpPr>
          <p:cNvPr id="13" name="Text 11"/>
          <p:cNvSpPr/>
          <p:nvPr/>
        </p:nvSpPr>
        <p:spPr>
          <a:xfrm>
            <a:off x="5559552" y="1417320"/>
            <a:ext cx="1271016" cy="274320"/>
          </a:xfrm>
          <a:prstGeom prst="rect">
            <a:avLst/>
          </a:prstGeom>
          <a:noFill/>
          <a:ln/>
        </p:spPr>
        <p:txBody>
          <a:bodyPr wrap="square" lIns="127" tIns="127" rIns="127" bIns="127" rtlCol="0" anchor="ctr">
            <a:normAutofit/>
          </a:bodyPr>
          <a:lstStyle/>
          <a:p>
            <a:pPr algn="ctr" indent="0" marL="0">
              <a:buNone/>
            </a:pPr>
            <a:r>
              <a:rPr lang="en-US" sz="780" b="1" dirty="0">
                <a:solidFill>
                  <a:srgbClr val="FFFFFF"/>
                </a:solidFill>
              </a:rPr>
              <a:t>Rᵥ weapon</a:t>
            </a:r>
            <a:endParaRPr lang="en-US" sz="780" dirty="0"/>
          </a:p>
        </p:txBody>
      </p:sp>
      <p:sp>
        <p:nvSpPr>
          <p:cNvPr id="14" name="Shape 12"/>
          <p:cNvSpPr/>
          <p:nvPr/>
        </p:nvSpPr>
        <p:spPr>
          <a:xfrm>
            <a:off x="6858000" y="1371600"/>
            <a:ext cx="1325880" cy="347472"/>
          </a:xfrm>
          <a:prstGeom prst="rect">
            <a:avLst/>
          </a:prstGeom>
          <a:solidFill>
            <a:srgbClr val="0B1F4D"/>
          </a:solidFill>
          <a:ln w="12700">
            <a:solidFill>
              <a:srgbClr val="FFFFFF">
                <a:alpha val="0"/>
              </a:srgbClr>
            </a:solidFill>
            <a:prstDash val="solid"/>
          </a:ln>
        </p:spPr>
      </p:sp>
      <p:sp>
        <p:nvSpPr>
          <p:cNvPr id="15" name="Text 13"/>
          <p:cNvSpPr/>
          <p:nvPr/>
        </p:nvSpPr>
        <p:spPr>
          <a:xfrm>
            <a:off x="6885432" y="1417320"/>
            <a:ext cx="1271016" cy="274320"/>
          </a:xfrm>
          <a:prstGeom prst="rect">
            <a:avLst/>
          </a:prstGeom>
          <a:noFill/>
          <a:ln/>
        </p:spPr>
        <p:txBody>
          <a:bodyPr wrap="square" lIns="127" tIns="127" rIns="127" bIns="127" rtlCol="0" anchor="ctr">
            <a:normAutofit/>
          </a:bodyPr>
          <a:lstStyle/>
          <a:p>
            <a:pPr algn="ctr" indent="0" marL="0">
              <a:buNone/>
            </a:pPr>
            <a:r>
              <a:rPr lang="en-US" sz="780" b="1" dirty="0">
                <a:solidFill>
                  <a:srgbClr val="FFFFFF"/>
                </a:solidFill>
              </a:rPr>
              <a:t>Bundle FNR</a:t>
            </a:r>
            <a:endParaRPr lang="en-US" sz="780" dirty="0"/>
          </a:p>
        </p:txBody>
      </p:sp>
      <p:sp>
        <p:nvSpPr>
          <p:cNvPr id="16" name="Shape 14"/>
          <p:cNvSpPr/>
          <p:nvPr/>
        </p:nvSpPr>
        <p:spPr>
          <a:xfrm>
            <a:off x="8183880" y="1371600"/>
            <a:ext cx="1325880" cy="347472"/>
          </a:xfrm>
          <a:prstGeom prst="rect">
            <a:avLst/>
          </a:prstGeom>
          <a:solidFill>
            <a:srgbClr val="0B1F4D"/>
          </a:solidFill>
          <a:ln w="12700">
            <a:solidFill>
              <a:srgbClr val="FFFFFF">
                <a:alpha val="0"/>
              </a:srgbClr>
            </a:solidFill>
            <a:prstDash val="solid"/>
          </a:ln>
        </p:spPr>
      </p:sp>
      <p:sp>
        <p:nvSpPr>
          <p:cNvPr id="17" name="Text 15"/>
          <p:cNvSpPr/>
          <p:nvPr/>
        </p:nvSpPr>
        <p:spPr>
          <a:xfrm>
            <a:off x="8211312" y="1417320"/>
            <a:ext cx="1271016" cy="274320"/>
          </a:xfrm>
          <a:prstGeom prst="rect">
            <a:avLst/>
          </a:prstGeom>
          <a:noFill/>
          <a:ln/>
        </p:spPr>
        <p:txBody>
          <a:bodyPr wrap="square" lIns="127" tIns="127" rIns="127" bIns="127" rtlCol="0" anchor="ctr">
            <a:normAutofit/>
          </a:bodyPr>
          <a:lstStyle/>
          <a:p>
            <a:pPr algn="ctr" indent="0" marL="0">
              <a:buNone/>
            </a:pPr>
            <a:r>
              <a:rPr lang="en-US" sz="780" b="1" dirty="0">
                <a:solidFill>
                  <a:srgbClr val="FFFFFF"/>
                </a:solidFill>
              </a:rPr>
              <a:t>Bundle FPR</a:t>
            </a:r>
            <a:endParaRPr lang="en-US" sz="780" dirty="0"/>
          </a:p>
        </p:txBody>
      </p:sp>
      <p:sp>
        <p:nvSpPr>
          <p:cNvPr id="18" name="Shape 16"/>
          <p:cNvSpPr/>
          <p:nvPr/>
        </p:nvSpPr>
        <p:spPr>
          <a:xfrm>
            <a:off x="9509760" y="1371600"/>
            <a:ext cx="1325880" cy="347472"/>
          </a:xfrm>
          <a:prstGeom prst="rect">
            <a:avLst/>
          </a:prstGeom>
          <a:solidFill>
            <a:srgbClr val="0B1F4D"/>
          </a:solidFill>
          <a:ln w="12700">
            <a:solidFill>
              <a:srgbClr val="FFFFFF">
                <a:alpha val="0"/>
              </a:srgbClr>
            </a:solidFill>
            <a:prstDash val="solid"/>
          </a:ln>
        </p:spPr>
      </p:sp>
      <p:sp>
        <p:nvSpPr>
          <p:cNvPr id="19" name="Text 17"/>
          <p:cNvSpPr/>
          <p:nvPr/>
        </p:nvSpPr>
        <p:spPr>
          <a:xfrm>
            <a:off x="9537192" y="1417320"/>
            <a:ext cx="1271016" cy="274320"/>
          </a:xfrm>
          <a:prstGeom prst="rect">
            <a:avLst/>
          </a:prstGeom>
          <a:noFill/>
          <a:ln/>
        </p:spPr>
        <p:txBody>
          <a:bodyPr wrap="square" lIns="127" tIns="127" rIns="127" bIns="127" rtlCol="0" anchor="ctr">
            <a:normAutofit/>
          </a:bodyPr>
          <a:lstStyle/>
          <a:p>
            <a:pPr algn="ctr" indent="0" marL="0">
              <a:buNone/>
            </a:pPr>
            <a:r>
              <a:rPr lang="en-US" sz="780" b="1" dirty="0">
                <a:solidFill>
                  <a:srgbClr val="FFFFFF"/>
                </a:solidFill>
              </a:rPr>
              <a:t>OOD W-rate</a:t>
            </a:r>
            <a:endParaRPr lang="en-US" sz="780" dirty="0"/>
          </a:p>
        </p:txBody>
      </p:sp>
      <p:sp>
        <p:nvSpPr>
          <p:cNvPr id="20" name="Shape 18"/>
          <p:cNvSpPr/>
          <p:nvPr/>
        </p:nvSpPr>
        <p:spPr>
          <a:xfrm>
            <a:off x="502920" y="1719072"/>
            <a:ext cx="2743200" cy="347472"/>
          </a:xfrm>
          <a:prstGeom prst="rect">
            <a:avLst/>
          </a:prstGeom>
          <a:solidFill>
            <a:srgbClr val="FFFFFF"/>
          </a:solidFill>
          <a:ln w="6350">
            <a:solidFill>
              <a:srgbClr val="FFFFFF"/>
            </a:solidFill>
            <a:prstDash val="solid"/>
          </a:ln>
        </p:spPr>
      </p:sp>
      <p:sp>
        <p:nvSpPr>
          <p:cNvPr id="21" name="Text 19"/>
          <p:cNvSpPr/>
          <p:nvPr/>
        </p:nvSpPr>
        <p:spPr>
          <a:xfrm>
            <a:off x="530352" y="1755648"/>
            <a:ext cx="2688336" cy="274320"/>
          </a:xfrm>
          <a:prstGeom prst="rect">
            <a:avLst/>
          </a:prstGeom>
          <a:noFill/>
          <a:ln/>
        </p:spPr>
        <p:txBody>
          <a:bodyPr wrap="square" lIns="127" tIns="127" rIns="127" bIns="127" rtlCol="0" anchor="ctr">
            <a:normAutofit/>
          </a:bodyPr>
          <a:lstStyle/>
          <a:p>
            <a:pPr algn="l" indent="0" marL="0">
              <a:buNone/>
            </a:pPr>
            <a:r>
              <a:rPr lang="en-US" sz="870" dirty="0">
                <a:solidFill>
                  <a:srgbClr val="10203B"/>
                </a:solidFill>
              </a:rPr>
              <a:t>Magnet AXIOM / Magnet.AI</a:t>
            </a:r>
            <a:endParaRPr lang="en-US" sz="870" dirty="0"/>
          </a:p>
        </p:txBody>
      </p:sp>
      <p:sp>
        <p:nvSpPr>
          <p:cNvPr id="22" name="Shape 20"/>
          <p:cNvSpPr/>
          <p:nvPr/>
        </p:nvSpPr>
        <p:spPr>
          <a:xfrm>
            <a:off x="3246120" y="1719072"/>
            <a:ext cx="1234440" cy="347472"/>
          </a:xfrm>
          <a:prstGeom prst="rect">
            <a:avLst/>
          </a:prstGeom>
          <a:solidFill>
            <a:srgbClr val="FFFFFF"/>
          </a:solidFill>
          <a:ln w="6350">
            <a:solidFill>
              <a:srgbClr val="FFFFFF"/>
            </a:solidFill>
            <a:prstDash val="solid"/>
          </a:ln>
        </p:spPr>
      </p:sp>
      <p:sp>
        <p:nvSpPr>
          <p:cNvPr id="23" name="Text 21"/>
          <p:cNvSpPr/>
          <p:nvPr/>
        </p:nvSpPr>
        <p:spPr>
          <a:xfrm>
            <a:off x="3273552" y="1755648"/>
            <a:ext cx="117957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0.070</a:t>
            </a:r>
            <a:endParaRPr lang="en-US" sz="870" dirty="0"/>
          </a:p>
        </p:txBody>
      </p:sp>
      <p:sp>
        <p:nvSpPr>
          <p:cNvPr id="24" name="Shape 22"/>
          <p:cNvSpPr/>
          <p:nvPr/>
        </p:nvSpPr>
        <p:spPr>
          <a:xfrm>
            <a:off x="4480560" y="1719072"/>
            <a:ext cx="1051560" cy="347472"/>
          </a:xfrm>
          <a:prstGeom prst="rect">
            <a:avLst/>
          </a:prstGeom>
          <a:solidFill>
            <a:srgbClr val="FFFFFF"/>
          </a:solidFill>
          <a:ln w="6350">
            <a:solidFill>
              <a:srgbClr val="FFFFFF"/>
            </a:solidFill>
            <a:prstDash val="solid"/>
          </a:ln>
        </p:spPr>
      </p:sp>
      <p:sp>
        <p:nvSpPr>
          <p:cNvPr id="25" name="Text 23"/>
          <p:cNvSpPr/>
          <p:nvPr/>
        </p:nvSpPr>
        <p:spPr>
          <a:xfrm>
            <a:off x="4507992" y="1755648"/>
            <a:ext cx="99669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0.933</a:t>
            </a:r>
            <a:endParaRPr lang="en-US" sz="870" dirty="0"/>
          </a:p>
        </p:txBody>
      </p:sp>
      <p:sp>
        <p:nvSpPr>
          <p:cNvPr id="26" name="Shape 24"/>
          <p:cNvSpPr/>
          <p:nvPr/>
        </p:nvSpPr>
        <p:spPr>
          <a:xfrm>
            <a:off x="5532120" y="1719072"/>
            <a:ext cx="1325880" cy="347472"/>
          </a:xfrm>
          <a:prstGeom prst="rect">
            <a:avLst/>
          </a:prstGeom>
          <a:solidFill>
            <a:srgbClr val="FFFFFF"/>
          </a:solidFill>
          <a:ln w="6350">
            <a:solidFill>
              <a:srgbClr val="FFFFFF"/>
            </a:solidFill>
            <a:prstDash val="solid"/>
          </a:ln>
        </p:spPr>
      </p:sp>
      <p:sp>
        <p:nvSpPr>
          <p:cNvPr id="27" name="Text 25"/>
          <p:cNvSpPr/>
          <p:nvPr/>
        </p:nvSpPr>
        <p:spPr>
          <a:xfrm>
            <a:off x="5559552" y="1755648"/>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0.901</a:t>
            </a:r>
            <a:endParaRPr lang="en-US" sz="870" dirty="0"/>
          </a:p>
        </p:txBody>
      </p:sp>
      <p:sp>
        <p:nvSpPr>
          <p:cNvPr id="28" name="Shape 26"/>
          <p:cNvSpPr/>
          <p:nvPr/>
        </p:nvSpPr>
        <p:spPr>
          <a:xfrm>
            <a:off x="6858000" y="1719072"/>
            <a:ext cx="1325880" cy="347472"/>
          </a:xfrm>
          <a:prstGeom prst="rect">
            <a:avLst/>
          </a:prstGeom>
          <a:solidFill>
            <a:srgbClr val="FFFFFF"/>
          </a:solidFill>
          <a:ln w="6350">
            <a:solidFill>
              <a:srgbClr val="FFFFFF"/>
            </a:solidFill>
            <a:prstDash val="solid"/>
          </a:ln>
        </p:spPr>
      </p:sp>
      <p:sp>
        <p:nvSpPr>
          <p:cNvPr id="29" name="Text 27"/>
          <p:cNvSpPr/>
          <p:nvPr/>
        </p:nvSpPr>
        <p:spPr>
          <a:xfrm>
            <a:off x="6885432" y="1755648"/>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0.099</a:t>
            </a:r>
            <a:endParaRPr lang="en-US" sz="870" dirty="0"/>
          </a:p>
        </p:txBody>
      </p:sp>
      <p:sp>
        <p:nvSpPr>
          <p:cNvPr id="30" name="Shape 28"/>
          <p:cNvSpPr/>
          <p:nvPr/>
        </p:nvSpPr>
        <p:spPr>
          <a:xfrm>
            <a:off x="8183880" y="1719072"/>
            <a:ext cx="1325880" cy="347472"/>
          </a:xfrm>
          <a:prstGeom prst="rect">
            <a:avLst/>
          </a:prstGeom>
          <a:solidFill>
            <a:srgbClr val="FFFFFF"/>
          </a:solidFill>
          <a:ln w="6350">
            <a:solidFill>
              <a:srgbClr val="FFFFFF"/>
            </a:solidFill>
            <a:prstDash val="solid"/>
          </a:ln>
        </p:spPr>
      </p:sp>
      <p:sp>
        <p:nvSpPr>
          <p:cNvPr id="31" name="Text 29"/>
          <p:cNvSpPr/>
          <p:nvPr/>
        </p:nvSpPr>
        <p:spPr>
          <a:xfrm>
            <a:off x="8211312" y="1755648"/>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0.035</a:t>
            </a:r>
            <a:endParaRPr lang="en-US" sz="870" dirty="0"/>
          </a:p>
        </p:txBody>
      </p:sp>
      <p:sp>
        <p:nvSpPr>
          <p:cNvPr id="32" name="Shape 30"/>
          <p:cNvSpPr/>
          <p:nvPr/>
        </p:nvSpPr>
        <p:spPr>
          <a:xfrm>
            <a:off x="9509760" y="1719072"/>
            <a:ext cx="1325880" cy="347472"/>
          </a:xfrm>
          <a:prstGeom prst="rect">
            <a:avLst/>
          </a:prstGeom>
          <a:solidFill>
            <a:srgbClr val="FFFFFF"/>
          </a:solidFill>
          <a:ln w="6350">
            <a:solidFill>
              <a:srgbClr val="FFFFFF"/>
            </a:solidFill>
            <a:prstDash val="solid"/>
          </a:ln>
        </p:spPr>
      </p:sp>
      <p:sp>
        <p:nvSpPr>
          <p:cNvPr id="33" name="Text 31"/>
          <p:cNvSpPr/>
          <p:nvPr/>
        </p:nvSpPr>
        <p:spPr>
          <a:xfrm>
            <a:off x="9537192" y="1755648"/>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0.360</a:t>
            </a:r>
            <a:endParaRPr lang="en-US" sz="870" dirty="0"/>
          </a:p>
        </p:txBody>
      </p:sp>
      <p:sp>
        <p:nvSpPr>
          <p:cNvPr id="34" name="Shape 32"/>
          <p:cNvSpPr/>
          <p:nvPr/>
        </p:nvSpPr>
        <p:spPr>
          <a:xfrm>
            <a:off x="502920" y="2066544"/>
            <a:ext cx="2743200" cy="347472"/>
          </a:xfrm>
          <a:prstGeom prst="rect">
            <a:avLst/>
          </a:prstGeom>
          <a:solidFill>
            <a:srgbClr val="F3F7FA"/>
          </a:solidFill>
          <a:ln w="6350">
            <a:solidFill>
              <a:srgbClr val="FFFFFF"/>
            </a:solidFill>
            <a:prstDash val="solid"/>
          </a:ln>
        </p:spPr>
      </p:sp>
      <p:sp>
        <p:nvSpPr>
          <p:cNvPr id="35" name="Text 33"/>
          <p:cNvSpPr/>
          <p:nvPr/>
        </p:nvSpPr>
        <p:spPr>
          <a:xfrm>
            <a:off x="530352" y="2103120"/>
            <a:ext cx="2688336" cy="274320"/>
          </a:xfrm>
          <a:prstGeom prst="rect">
            <a:avLst/>
          </a:prstGeom>
          <a:noFill/>
          <a:ln/>
        </p:spPr>
        <p:txBody>
          <a:bodyPr wrap="square" lIns="127" tIns="127" rIns="127" bIns="127" rtlCol="0" anchor="ctr">
            <a:normAutofit/>
          </a:bodyPr>
          <a:lstStyle/>
          <a:p>
            <a:pPr algn="l" indent="0" marL="0">
              <a:buNone/>
            </a:pPr>
            <a:r>
              <a:rPr lang="en-US" sz="870" dirty="0">
                <a:solidFill>
                  <a:srgbClr val="10203B"/>
                </a:solidFill>
              </a:rPr>
              <a:t>Excire Foto 2025 D50</a:t>
            </a:r>
            <a:endParaRPr lang="en-US" sz="870" dirty="0"/>
          </a:p>
        </p:txBody>
      </p:sp>
      <p:sp>
        <p:nvSpPr>
          <p:cNvPr id="36" name="Shape 34"/>
          <p:cNvSpPr/>
          <p:nvPr/>
        </p:nvSpPr>
        <p:spPr>
          <a:xfrm>
            <a:off x="3246120" y="2066544"/>
            <a:ext cx="1234440" cy="347472"/>
          </a:xfrm>
          <a:prstGeom prst="rect">
            <a:avLst/>
          </a:prstGeom>
          <a:solidFill>
            <a:srgbClr val="F3F7FA"/>
          </a:solidFill>
          <a:ln w="6350">
            <a:solidFill>
              <a:srgbClr val="FFFFFF"/>
            </a:solidFill>
            <a:prstDash val="solid"/>
          </a:ln>
        </p:spPr>
      </p:sp>
      <p:sp>
        <p:nvSpPr>
          <p:cNvPr id="37" name="Text 35"/>
          <p:cNvSpPr/>
          <p:nvPr/>
        </p:nvSpPr>
        <p:spPr>
          <a:xfrm>
            <a:off x="3273552" y="2103120"/>
            <a:ext cx="117957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0.042</a:t>
            </a:r>
            <a:endParaRPr lang="en-US" sz="870" dirty="0"/>
          </a:p>
        </p:txBody>
      </p:sp>
      <p:sp>
        <p:nvSpPr>
          <p:cNvPr id="38" name="Shape 36"/>
          <p:cNvSpPr/>
          <p:nvPr/>
        </p:nvSpPr>
        <p:spPr>
          <a:xfrm>
            <a:off x="4480560" y="2066544"/>
            <a:ext cx="1051560" cy="347472"/>
          </a:xfrm>
          <a:prstGeom prst="rect">
            <a:avLst/>
          </a:prstGeom>
          <a:solidFill>
            <a:srgbClr val="F3F7FA"/>
          </a:solidFill>
          <a:ln w="6350">
            <a:solidFill>
              <a:srgbClr val="FFFFFF"/>
            </a:solidFill>
            <a:prstDash val="solid"/>
          </a:ln>
        </p:spPr>
      </p:sp>
      <p:sp>
        <p:nvSpPr>
          <p:cNvPr id="39" name="Text 37"/>
          <p:cNvSpPr/>
          <p:nvPr/>
        </p:nvSpPr>
        <p:spPr>
          <a:xfrm>
            <a:off x="4507992" y="2103120"/>
            <a:ext cx="99669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0.925</a:t>
            </a:r>
            <a:endParaRPr lang="en-US" sz="870" dirty="0"/>
          </a:p>
        </p:txBody>
      </p:sp>
      <p:sp>
        <p:nvSpPr>
          <p:cNvPr id="40" name="Shape 38"/>
          <p:cNvSpPr/>
          <p:nvPr/>
        </p:nvSpPr>
        <p:spPr>
          <a:xfrm>
            <a:off x="5532120" y="2066544"/>
            <a:ext cx="1325880" cy="347472"/>
          </a:xfrm>
          <a:prstGeom prst="rect">
            <a:avLst/>
          </a:prstGeom>
          <a:solidFill>
            <a:srgbClr val="F3F7FA"/>
          </a:solidFill>
          <a:ln w="6350">
            <a:solidFill>
              <a:srgbClr val="FFFFFF"/>
            </a:solidFill>
            <a:prstDash val="solid"/>
          </a:ln>
        </p:spPr>
      </p:sp>
      <p:sp>
        <p:nvSpPr>
          <p:cNvPr id="41" name="Text 39"/>
          <p:cNvSpPr/>
          <p:nvPr/>
        </p:nvSpPr>
        <p:spPr>
          <a:xfrm>
            <a:off x="5559552" y="2103120"/>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0.949</a:t>
            </a:r>
            <a:endParaRPr lang="en-US" sz="870" dirty="0"/>
          </a:p>
        </p:txBody>
      </p:sp>
      <p:sp>
        <p:nvSpPr>
          <p:cNvPr id="42" name="Shape 40"/>
          <p:cNvSpPr/>
          <p:nvPr/>
        </p:nvSpPr>
        <p:spPr>
          <a:xfrm>
            <a:off x="6858000" y="2066544"/>
            <a:ext cx="1325880" cy="347472"/>
          </a:xfrm>
          <a:prstGeom prst="rect">
            <a:avLst/>
          </a:prstGeom>
          <a:solidFill>
            <a:srgbClr val="F3F7FA"/>
          </a:solidFill>
          <a:ln w="6350">
            <a:solidFill>
              <a:srgbClr val="FFFFFF"/>
            </a:solidFill>
            <a:prstDash val="solid"/>
          </a:ln>
        </p:spPr>
      </p:sp>
      <p:sp>
        <p:nvSpPr>
          <p:cNvPr id="43" name="Text 41"/>
          <p:cNvSpPr/>
          <p:nvPr/>
        </p:nvSpPr>
        <p:spPr>
          <a:xfrm>
            <a:off x="6885432" y="2103120"/>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0.051</a:t>
            </a:r>
            <a:endParaRPr lang="en-US" sz="870" dirty="0"/>
          </a:p>
        </p:txBody>
      </p:sp>
      <p:sp>
        <p:nvSpPr>
          <p:cNvPr id="44" name="Shape 42"/>
          <p:cNvSpPr/>
          <p:nvPr/>
        </p:nvSpPr>
        <p:spPr>
          <a:xfrm>
            <a:off x="8183880" y="2066544"/>
            <a:ext cx="1325880" cy="347472"/>
          </a:xfrm>
          <a:prstGeom prst="rect">
            <a:avLst/>
          </a:prstGeom>
          <a:solidFill>
            <a:srgbClr val="F3F7FA"/>
          </a:solidFill>
          <a:ln w="6350">
            <a:solidFill>
              <a:srgbClr val="FFFFFF"/>
            </a:solidFill>
            <a:prstDash val="solid"/>
          </a:ln>
        </p:spPr>
      </p:sp>
      <p:sp>
        <p:nvSpPr>
          <p:cNvPr id="45" name="Text 43"/>
          <p:cNvSpPr/>
          <p:nvPr/>
        </p:nvSpPr>
        <p:spPr>
          <a:xfrm>
            <a:off x="8211312" y="2103120"/>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0.099</a:t>
            </a:r>
            <a:endParaRPr lang="en-US" sz="870" dirty="0"/>
          </a:p>
        </p:txBody>
      </p:sp>
      <p:sp>
        <p:nvSpPr>
          <p:cNvPr id="46" name="Shape 44"/>
          <p:cNvSpPr/>
          <p:nvPr/>
        </p:nvSpPr>
        <p:spPr>
          <a:xfrm>
            <a:off x="9509760" y="2066544"/>
            <a:ext cx="1325880" cy="347472"/>
          </a:xfrm>
          <a:prstGeom prst="rect">
            <a:avLst/>
          </a:prstGeom>
          <a:solidFill>
            <a:srgbClr val="F3F7FA"/>
          </a:solidFill>
          <a:ln w="6350">
            <a:solidFill>
              <a:srgbClr val="FFFFFF"/>
            </a:solidFill>
            <a:prstDash val="solid"/>
          </a:ln>
        </p:spPr>
      </p:sp>
      <p:sp>
        <p:nvSpPr>
          <p:cNvPr id="47" name="Text 45"/>
          <p:cNvSpPr/>
          <p:nvPr/>
        </p:nvSpPr>
        <p:spPr>
          <a:xfrm>
            <a:off x="9537192" y="2103120"/>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0.340</a:t>
            </a:r>
            <a:endParaRPr lang="en-US" sz="870" dirty="0"/>
          </a:p>
        </p:txBody>
      </p:sp>
      <p:sp>
        <p:nvSpPr>
          <p:cNvPr id="48" name="Shape 46"/>
          <p:cNvSpPr/>
          <p:nvPr/>
        </p:nvSpPr>
        <p:spPr>
          <a:xfrm>
            <a:off x="502920" y="2414016"/>
            <a:ext cx="2743200" cy="347472"/>
          </a:xfrm>
          <a:prstGeom prst="rect">
            <a:avLst/>
          </a:prstGeom>
          <a:solidFill>
            <a:srgbClr val="FFFFFF"/>
          </a:solidFill>
          <a:ln w="6350">
            <a:solidFill>
              <a:srgbClr val="FFFFFF"/>
            </a:solidFill>
            <a:prstDash val="solid"/>
          </a:ln>
        </p:spPr>
      </p:sp>
      <p:sp>
        <p:nvSpPr>
          <p:cNvPr id="49" name="Text 47"/>
          <p:cNvSpPr/>
          <p:nvPr/>
        </p:nvSpPr>
        <p:spPr>
          <a:xfrm>
            <a:off x="530352" y="2450592"/>
            <a:ext cx="2688336" cy="274320"/>
          </a:xfrm>
          <a:prstGeom prst="rect">
            <a:avLst/>
          </a:prstGeom>
          <a:noFill/>
          <a:ln/>
        </p:spPr>
        <p:txBody>
          <a:bodyPr wrap="square" lIns="127" tIns="127" rIns="127" bIns="127" rtlCol="0" anchor="ctr">
            <a:normAutofit/>
          </a:bodyPr>
          <a:lstStyle/>
          <a:p>
            <a:pPr algn="l" indent="0" marL="0">
              <a:buNone/>
            </a:pPr>
            <a:r>
              <a:rPr lang="en-US" sz="870" dirty="0">
                <a:solidFill>
                  <a:srgbClr val="10203B"/>
                </a:solidFill>
              </a:rPr>
              <a:t>Cellebrite Inseyets</a:t>
            </a:r>
            <a:endParaRPr lang="en-US" sz="870" dirty="0"/>
          </a:p>
        </p:txBody>
      </p:sp>
      <p:sp>
        <p:nvSpPr>
          <p:cNvPr id="50" name="Shape 48"/>
          <p:cNvSpPr/>
          <p:nvPr/>
        </p:nvSpPr>
        <p:spPr>
          <a:xfrm>
            <a:off x="3246120" y="2414016"/>
            <a:ext cx="1234440" cy="347472"/>
          </a:xfrm>
          <a:prstGeom prst="rect">
            <a:avLst/>
          </a:prstGeom>
          <a:solidFill>
            <a:srgbClr val="FFFFFF"/>
          </a:solidFill>
          <a:ln w="6350">
            <a:solidFill>
              <a:srgbClr val="FFFFFF"/>
            </a:solidFill>
            <a:prstDash val="solid"/>
          </a:ln>
        </p:spPr>
      </p:sp>
      <p:sp>
        <p:nvSpPr>
          <p:cNvPr id="51" name="Text 49"/>
          <p:cNvSpPr/>
          <p:nvPr/>
        </p:nvSpPr>
        <p:spPr>
          <a:xfrm>
            <a:off x="3273552" y="2450592"/>
            <a:ext cx="117957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0.032</a:t>
            </a:r>
            <a:endParaRPr lang="en-US" sz="870" dirty="0"/>
          </a:p>
        </p:txBody>
      </p:sp>
      <p:sp>
        <p:nvSpPr>
          <p:cNvPr id="52" name="Shape 50"/>
          <p:cNvSpPr/>
          <p:nvPr/>
        </p:nvSpPr>
        <p:spPr>
          <a:xfrm>
            <a:off x="4480560" y="2414016"/>
            <a:ext cx="1051560" cy="347472"/>
          </a:xfrm>
          <a:prstGeom prst="rect">
            <a:avLst/>
          </a:prstGeom>
          <a:solidFill>
            <a:srgbClr val="FFFFFF"/>
          </a:solidFill>
          <a:ln w="6350">
            <a:solidFill>
              <a:srgbClr val="FFFFFF"/>
            </a:solidFill>
            <a:prstDash val="solid"/>
          </a:ln>
        </p:spPr>
      </p:sp>
      <p:sp>
        <p:nvSpPr>
          <p:cNvPr id="53" name="Text 51"/>
          <p:cNvSpPr/>
          <p:nvPr/>
        </p:nvSpPr>
        <p:spPr>
          <a:xfrm>
            <a:off x="4507992" y="2450592"/>
            <a:ext cx="99669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0.958</a:t>
            </a:r>
            <a:endParaRPr lang="en-US" sz="870" dirty="0"/>
          </a:p>
        </p:txBody>
      </p:sp>
      <p:sp>
        <p:nvSpPr>
          <p:cNvPr id="54" name="Shape 52"/>
          <p:cNvSpPr/>
          <p:nvPr/>
        </p:nvSpPr>
        <p:spPr>
          <a:xfrm>
            <a:off x="5532120" y="2414016"/>
            <a:ext cx="1325880" cy="347472"/>
          </a:xfrm>
          <a:prstGeom prst="rect">
            <a:avLst/>
          </a:prstGeom>
          <a:solidFill>
            <a:srgbClr val="FFFFFF"/>
          </a:solidFill>
          <a:ln w="6350">
            <a:solidFill>
              <a:srgbClr val="FFFFFF"/>
            </a:solidFill>
            <a:prstDash val="solid"/>
          </a:ln>
        </p:spPr>
      </p:sp>
      <p:sp>
        <p:nvSpPr>
          <p:cNvPr id="55" name="Text 53"/>
          <p:cNvSpPr/>
          <p:nvPr/>
        </p:nvSpPr>
        <p:spPr>
          <a:xfrm>
            <a:off x="5559552" y="2450592"/>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0.958</a:t>
            </a:r>
            <a:endParaRPr lang="en-US" sz="870" dirty="0"/>
          </a:p>
        </p:txBody>
      </p:sp>
      <p:sp>
        <p:nvSpPr>
          <p:cNvPr id="56" name="Shape 54"/>
          <p:cNvSpPr/>
          <p:nvPr/>
        </p:nvSpPr>
        <p:spPr>
          <a:xfrm>
            <a:off x="6858000" y="2414016"/>
            <a:ext cx="1325880" cy="347472"/>
          </a:xfrm>
          <a:prstGeom prst="rect">
            <a:avLst/>
          </a:prstGeom>
          <a:solidFill>
            <a:srgbClr val="FFFFFF"/>
          </a:solidFill>
          <a:ln w="6350">
            <a:solidFill>
              <a:srgbClr val="FFFFFF"/>
            </a:solidFill>
            <a:prstDash val="solid"/>
          </a:ln>
        </p:spPr>
      </p:sp>
      <p:sp>
        <p:nvSpPr>
          <p:cNvPr id="57" name="Text 55"/>
          <p:cNvSpPr/>
          <p:nvPr/>
        </p:nvSpPr>
        <p:spPr>
          <a:xfrm>
            <a:off x="6885432" y="2450592"/>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0.042</a:t>
            </a:r>
            <a:endParaRPr lang="en-US" sz="870" dirty="0"/>
          </a:p>
        </p:txBody>
      </p:sp>
      <p:sp>
        <p:nvSpPr>
          <p:cNvPr id="58" name="Shape 56"/>
          <p:cNvSpPr/>
          <p:nvPr/>
        </p:nvSpPr>
        <p:spPr>
          <a:xfrm>
            <a:off x="8183880" y="2414016"/>
            <a:ext cx="1325880" cy="347472"/>
          </a:xfrm>
          <a:prstGeom prst="rect">
            <a:avLst/>
          </a:prstGeom>
          <a:solidFill>
            <a:srgbClr val="FFFFFF"/>
          </a:solidFill>
          <a:ln w="6350">
            <a:solidFill>
              <a:srgbClr val="FFFFFF"/>
            </a:solidFill>
            <a:prstDash val="solid"/>
          </a:ln>
        </p:spPr>
      </p:sp>
      <p:sp>
        <p:nvSpPr>
          <p:cNvPr id="59" name="Text 57"/>
          <p:cNvSpPr/>
          <p:nvPr/>
        </p:nvSpPr>
        <p:spPr>
          <a:xfrm>
            <a:off x="8211312" y="2450592"/>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0.042</a:t>
            </a:r>
            <a:endParaRPr lang="en-US" sz="870" dirty="0"/>
          </a:p>
        </p:txBody>
      </p:sp>
      <p:sp>
        <p:nvSpPr>
          <p:cNvPr id="60" name="Shape 58"/>
          <p:cNvSpPr/>
          <p:nvPr/>
        </p:nvSpPr>
        <p:spPr>
          <a:xfrm>
            <a:off x="9509760" y="2414016"/>
            <a:ext cx="1325880" cy="347472"/>
          </a:xfrm>
          <a:prstGeom prst="rect">
            <a:avLst/>
          </a:prstGeom>
          <a:solidFill>
            <a:srgbClr val="FFFFFF"/>
          </a:solidFill>
          <a:ln w="6350">
            <a:solidFill>
              <a:srgbClr val="FFFFFF"/>
            </a:solidFill>
            <a:prstDash val="solid"/>
          </a:ln>
        </p:spPr>
      </p:sp>
      <p:sp>
        <p:nvSpPr>
          <p:cNvPr id="61" name="Text 59"/>
          <p:cNvSpPr/>
          <p:nvPr/>
        </p:nvSpPr>
        <p:spPr>
          <a:xfrm>
            <a:off x="9537192" y="2450592"/>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0.292</a:t>
            </a:r>
            <a:endParaRPr lang="en-US" sz="870" dirty="0"/>
          </a:p>
        </p:txBody>
      </p:sp>
      <p:sp>
        <p:nvSpPr>
          <p:cNvPr id="62" name="Shape 60"/>
          <p:cNvSpPr/>
          <p:nvPr/>
        </p:nvSpPr>
        <p:spPr>
          <a:xfrm>
            <a:off x="502920" y="2761488"/>
            <a:ext cx="2743200" cy="347472"/>
          </a:xfrm>
          <a:prstGeom prst="rect">
            <a:avLst/>
          </a:prstGeom>
          <a:solidFill>
            <a:srgbClr val="F3F7FA"/>
          </a:solidFill>
          <a:ln w="6350">
            <a:solidFill>
              <a:srgbClr val="FFFFFF"/>
            </a:solidFill>
            <a:prstDash val="solid"/>
          </a:ln>
        </p:spPr>
      </p:sp>
      <p:sp>
        <p:nvSpPr>
          <p:cNvPr id="63" name="Text 61"/>
          <p:cNvSpPr/>
          <p:nvPr/>
        </p:nvSpPr>
        <p:spPr>
          <a:xfrm>
            <a:off x="530352" y="2798064"/>
            <a:ext cx="2688336" cy="274320"/>
          </a:xfrm>
          <a:prstGeom prst="rect">
            <a:avLst/>
          </a:prstGeom>
          <a:noFill/>
          <a:ln/>
        </p:spPr>
        <p:txBody>
          <a:bodyPr wrap="square" lIns="127" tIns="127" rIns="127" bIns="127" rtlCol="0" anchor="ctr">
            <a:normAutofit/>
          </a:bodyPr>
          <a:lstStyle/>
          <a:p>
            <a:pPr algn="l" indent="0" marL="0">
              <a:buNone/>
            </a:pPr>
            <a:r>
              <a:rPr lang="en-US" sz="870" dirty="0">
                <a:solidFill>
                  <a:srgbClr val="10203B"/>
                </a:solidFill>
              </a:rPr>
              <a:t>Griffeye / T3K CORE</a:t>
            </a:r>
            <a:endParaRPr lang="en-US" sz="870" dirty="0"/>
          </a:p>
        </p:txBody>
      </p:sp>
      <p:sp>
        <p:nvSpPr>
          <p:cNvPr id="64" name="Shape 62"/>
          <p:cNvSpPr/>
          <p:nvPr/>
        </p:nvSpPr>
        <p:spPr>
          <a:xfrm>
            <a:off x="3246120" y="2761488"/>
            <a:ext cx="1234440" cy="347472"/>
          </a:xfrm>
          <a:prstGeom prst="rect">
            <a:avLst/>
          </a:prstGeom>
          <a:solidFill>
            <a:srgbClr val="F3F7FA"/>
          </a:solidFill>
          <a:ln w="6350">
            <a:solidFill>
              <a:srgbClr val="FFFFFF"/>
            </a:solidFill>
            <a:prstDash val="solid"/>
          </a:ln>
        </p:spPr>
      </p:sp>
      <p:sp>
        <p:nvSpPr>
          <p:cNvPr id="65" name="Text 63"/>
          <p:cNvSpPr/>
          <p:nvPr/>
        </p:nvSpPr>
        <p:spPr>
          <a:xfrm>
            <a:off x="3273552" y="2798064"/>
            <a:ext cx="117957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0.036</a:t>
            </a:r>
            <a:endParaRPr lang="en-US" sz="870" dirty="0"/>
          </a:p>
        </p:txBody>
      </p:sp>
      <p:sp>
        <p:nvSpPr>
          <p:cNvPr id="66" name="Shape 64"/>
          <p:cNvSpPr/>
          <p:nvPr/>
        </p:nvSpPr>
        <p:spPr>
          <a:xfrm>
            <a:off x="4480560" y="2761488"/>
            <a:ext cx="1051560" cy="347472"/>
          </a:xfrm>
          <a:prstGeom prst="rect">
            <a:avLst/>
          </a:prstGeom>
          <a:solidFill>
            <a:srgbClr val="F3F7FA"/>
          </a:solidFill>
          <a:ln w="6350">
            <a:solidFill>
              <a:srgbClr val="FFFFFF"/>
            </a:solidFill>
            <a:prstDash val="solid"/>
          </a:ln>
        </p:spPr>
      </p:sp>
      <p:sp>
        <p:nvSpPr>
          <p:cNvPr id="67" name="Text 65"/>
          <p:cNvSpPr/>
          <p:nvPr/>
        </p:nvSpPr>
        <p:spPr>
          <a:xfrm>
            <a:off x="4507992" y="2798064"/>
            <a:ext cx="99669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0.972</a:t>
            </a:r>
            <a:endParaRPr lang="en-US" sz="870" dirty="0"/>
          </a:p>
        </p:txBody>
      </p:sp>
      <p:sp>
        <p:nvSpPr>
          <p:cNvPr id="68" name="Shape 66"/>
          <p:cNvSpPr/>
          <p:nvPr/>
        </p:nvSpPr>
        <p:spPr>
          <a:xfrm>
            <a:off x="5532120" y="2761488"/>
            <a:ext cx="1325880" cy="347472"/>
          </a:xfrm>
          <a:prstGeom prst="rect">
            <a:avLst/>
          </a:prstGeom>
          <a:solidFill>
            <a:srgbClr val="F3F7FA"/>
          </a:solidFill>
          <a:ln w="6350">
            <a:solidFill>
              <a:srgbClr val="FFFFFF"/>
            </a:solidFill>
            <a:prstDash val="solid"/>
          </a:ln>
        </p:spPr>
      </p:sp>
      <p:sp>
        <p:nvSpPr>
          <p:cNvPr id="69" name="Text 67"/>
          <p:cNvSpPr/>
          <p:nvPr/>
        </p:nvSpPr>
        <p:spPr>
          <a:xfrm>
            <a:off x="5559552" y="2798064"/>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0.951</a:t>
            </a:r>
            <a:endParaRPr lang="en-US" sz="870" dirty="0"/>
          </a:p>
        </p:txBody>
      </p:sp>
      <p:sp>
        <p:nvSpPr>
          <p:cNvPr id="70" name="Shape 68"/>
          <p:cNvSpPr/>
          <p:nvPr/>
        </p:nvSpPr>
        <p:spPr>
          <a:xfrm>
            <a:off x="6858000" y="2761488"/>
            <a:ext cx="1325880" cy="347472"/>
          </a:xfrm>
          <a:prstGeom prst="rect">
            <a:avLst/>
          </a:prstGeom>
          <a:solidFill>
            <a:srgbClr val="F3F7FA"/>
          </a:solidFill>
          <a:ln w="6350">
            <a:solidFill>
              <a:srgbClr val="FFFFFF"/>
            </a:solidFill>
            <a:prstDash val="solid"/>
          </a:ln>
        </p:spPr>
      </p:sp>
      <p:sp>
        <p:nvSpPr>
          <p:cNvPr id="71" name="Text 69"/>
          <p:cNvSpPr/>
          <p:nvPr/>
        </p:nvSpPr>
        <p:spPr>
          <a:xfrm>
            <a:off x="6885432" y="2798064"/>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0.049</a:t>
            </a:r>
            <a:endParaRPr lang="en-US" sz="870" dirty="0"/>
          </a:p>
        </p:txBody>
      </p:sp>
      <p:sp>
        <p:nvSpPr>
          <p:cNvPr id="72" name="Shape 70"/>
          <p:cNvSpPr/>
          <p:nvPr/>
        </p:nvSpPr>
        <p:spPr>
          <a:xfrm>
            <a:off x="8183880" y="2761488"/>
            <a:ext cx="1325880" cy="347472"/>
          </a:xfrm>
          <a:prstGeom prst="rect">
            <a:avLst/>
          </a:prstGeom>
          <a:solidFill>
            <a:srgbClr val="F3F7FA"/>
          </a:solidFill>
          <a:ln w="6350">
            <a:solidFill>
              <a:srgbClr val="FFFFFF"/>
            </a:solidFill>
            <a:prstDash val="solid"/>
          </a:ln>
        </p:spPr>
      </p:sp>
      <p:sp>
        <p:nvSpPr>
          <p:cNvPr id="73" name="Text 71"/>
          <p:cNvSpPr/>
          <p:nvPr/>
        </p:nvSpPr>
        <p:spPr>
          <a:xfrm>
            <a:off x="8211312" y="2798064"/>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0.007</a:t>
            </a:r>
            <a:endParaRPr lang="en-US" sz="870" dirty="0"/>
          </a:p>
        </p:txBody>
      </p:sp>
      <p:sp>
        <p:nvSpPr>
          <p:cNvPr id="74" name="Shape 72"/>
          <p:cNvSpPr/>
          <p:nvPr/>
        </p:nvSpPr>
        <p:spPr>
          <a:xfrm>
            <a:off x="9509760" y="2761488"/>
            <a:ext cx="1325880" cy="347472"/>
          </a:xfrm>
          <a:prstGeom prst="rect">
            <a:avLst/>
          </a:prstGeom>
          <a:solidFill>
            <a:srgbClr val="F3F7FA"/>
          </a:solidFill>
          <a:ln w="6350">
            <a:solidFill>
              <a:srgbClr val="FFFFFF"/>
            </a:solidFill>
            <a:prstDash val="solid"/>
          </a:ln>
        </p:spPr>
      </p:sp>
      <p:sp>
        <p:nvSpPr>
          <p:cNvPr id="75" name="Text 73"/>
          <p:cNvSpPr/>
          <p:nvPr/>
        </p:nvSpPr>
        <p:spPr>
          <a:xfrm>
            <a:off x="9537192" y="2798064"/>
            <a:ext cx="1271016" cy="274320"/>
          </a:xfrm>
          <a:prstGeom prst="rect">
            <a:avLst/>
          </a:prstGeom>
          <a:noFill/>
          <a:ln/>
        </p:spPr>
        <p:txBody>
          <a:bodyPr wrap="square" lIns="127" tIns="127" rIns="127" bIns="127" rtlCol="0" anchor="ctr">
            <a:normAutofit/>
          </a:bodyPr>
          <a:lstStyle/>
          <a:p>
            <a:pPr algn="ctr" indent="0" marL="0">
              <a:buNone/>
            </a:pPr>
            <a:r>
              <a:rPr lang="en-US" sz="870" dirty="0">
                <a:solidFill>
                  <a:srgbClr val="10203B"/>
                </a:solidFill>
              </a:rPr>
              <a:t>0.260</a:t>
            </a:r>
            <a:endParaRPr lang="en-US" sz="870" dirty="0"/>
          </a:p>
        </p:txBody>
      </p:sp>
      <p:sp>
        <p:nvSpPr>
          <p:cNvPr id="76" name="Shape 74"/>
          <p:cNvSpPr/>
          <p:nvPr/>
        </p:nvSpPr>
        <p:spPr>
          <a:xfrm>
            <a:off x="685800" y="3611880"/>
            <a:ext cx="3429000" cy="1600200"/>
          </a:xfrm>
          <a:prstGeom prst="roundRect">
            <a:avLst>
              <a:gd name="adj" fmla="val 5714"/>
            </a:avLst>
          </a:prstGeom>
          <a:solidFill>
            <a:srgbClr val="FFFFFF"/>
          </a:solidFill>
          <a:ln w="12700">
            <a:solidFill>
              <a:srgbClr val="D8E1E8"/>
            </a:solidFill>
            <a:prstDash val="solid"/>
          </a:ln>
        </p:spPr>
      </p:sp>
      <p:sp>
        <p:nvSpPr>
          <p:cNvPr id="77" name="Text 75"/>
          <p:cNvSpPr/>
          <p:nvPr/>
        </p:nvSpPr>
        <p:spPr>
          <a:xfrm>
            <a:off x="914400" y="3794760"/>
            <a:ext cx="2194560" cy="228600"/>
          </a:xfrm>
          <a:prstGeom prst="rect">
            <a:avLst/>
          </a:prstGeom>
          <a:noFill/>
          <a:ln/>
        </p:spPr>
        <p:txBody>
          <a:bodyPr wrap="square" lIns="0" tIns="0" rIns="0" bIns="0" rtlCol="0" anchor="ctr"/>
          <a:lstStyle/>
          <a:p>
            <a:pPr indent="0" marL="0">
              <a:buNone/>
            </a:pPr>
            <a:r>
              <a:rPr lang="en-US" sz="1400" b="1" dirty="0">
                <a:solidFill>
                  <a:srgbClr val="0B1F4D"/>
                </a:solidFill>
              </a:rPr>
              <a:t>Highest bundle accuracy</a:t>
            </a:r>
            <a:endParaRPr lang="en-US" sz="1400" dirty="0"/>
          </a:p>
        </p:txBody>
      </p:sp>
      <p:sp>
        <p:nvSpPr>
          <p:cNvPr id="78" name="Text 76"/>
          <p:cNvSpPr/>
          <p:nvPr/>
        </p:nvSpPr>
        <p:spPr>
          <a:xfrm>
            <a:off x="914400" y="4160520"/>
            <a:ext cx="2377440" cy="685800"/>
          </a:xfrm>
          <a:prstGeom prst="rect">
            <a:avLst/>
          </a:prstGeom>
          <a:noFill/>
          <a:ln/>
        </p:spPr>
        <p:txBody>
          <a:bodyPr wrap="square" lIns="254" tIns="254" rIns="254" bIns="254" rtlCol="0" anchor="ctr"/>
          <a:lstStyle/>
          <a:p>
            <a:pPr algn="ctr" indent="0" marL="0">
              <a:buNone/>
            </a:pPr>
            <a:r>
              <a:rPr lang="en-US" sz="1800" b="1" dirty="0">
                <a:solidFill>
                  <a:srgbClr val="0A7C80"/>
                </a:solidFill>
              </a:rPr>
              <a:t>Griffeye / T3K CORE</a:t>
            </a:r>
            <a:endParaRPr lang="en-US" sz="1800" dirty="0"/>
          </a:p>
          <a:p>
            <a:pPr algn="ctr" indent="0" marL="0">
              <a:buNone/>
            </a:pPr>
            <a:r>
              <a:rPr lang="en-US" sz="1800" b="1" dirty="0">
                <a:solidFill>
                  <a:srgbClr val="0A7C80"/>
                </a:solidFill>
              </a:rPr>
              <a:t>0.972 accuracy</a:t>
            </a:r>
            <a:endParaRPr lang="en-US" sz="1800" dirty="0"/>
          </a:p>
          <a:p>
            <a:pPr algn="ctr" indent="0" marL="0">
              <a:buNone/>
            </a:pPr>
            <a:r>
              <a:rPr lang="en-US" sz="1800" b="1" dirty="0">
                <a:solidFill>
                  <a:srgbClr val="0A7C80"/>
                </a:solidFill>
              </a:rPr>
              <a:t>0.007 bundle FPR</a:t>
            </a:r>
            <a:endParaRPr lang="en-US" sz="1800" dirty="0"/>
          </a:p>
        </p:txBody>
      </p:sp>
      <p:sp>
        <p:nvSpPr>
          <p:cNvPr id="79" name="Shape 77"/>
          <p:cNvSpPr/>
          <p:nvPr/>
        </p:nvSpPr>
        <p:spPr>
          <a:xfrm>
            <a:off x="4389120" y="3611880"/>
            <a:ext cx="3429000" cy="1600200"/>
          </a:xfrm>
          <a:prstGeom prst="roundRect">
            <a:avLst>
              <a:gd name="adj" fmla="val 5714"/>
            </a:avLst>
          </a:prstGeom>
          <a:solidFill>
            <a:srgbClr val="FFFFFF"/>
          </a:solidFill>
          <a:ln w="12700">
            <a:solidFill>
              <a:srgbClr val="D8E1E8"/>
            </a:solidFill>
            <a:prstDash val="solid"/>
          </a:ln>
        </p:spPr>
      </p:sp>
      <p:sp>
        <p:nvSpPr>
          <p:cNvPr id="80" name="Text 78"/>
          <p:cNvSpPr/>
          <p:nvPr/>
        </p:nvSpPr>
        <p:spPr>
          <a:xfrm>
            <a:off x="4617720" y="3794760"/>
            <a:ext cx="2194560" cy="228600"/>
          </a:xfrm>
          <a:prstGeom prst="rect">
            <a:avLst/>
          </a:prstGeom>
          <a:noFill/>
          <a:ln/>
        </p:spPr>
        <p:txBody>
          <a:bodyPr wrap="square" lIns="0" tIns="0" rIns="0" bIns="0" rtlCol="0" anchor="ctr"/>
          <a:lstStyle/>
          <a:p>
            <a:pPr indent="0" marL="0">
              <a:buNone/>
            </a:pPr>
            <a:r>
              <a:rPr lang="en-US" sz="1400" b="1" dirty="0">
                <a:solidFill>
                  <a:srgbClr val="0B1F4D"/>
                </a:solidFill>
              </a:rPr>
              <a:t>Lowest clean FNR</a:t>
            </a:r>
            <a:endParaRPr lang="en-US" sz="1400" dirty="0"/>
          </a:p>
        </p:txBody>
      </p:sp>
      <p:sp>
        <p:nvSpPr>
          <p:cNvPr id="81" name="Text 79"/>
          <p:cNvSpPr/>
          <p:nvPr/>
        </p:nvSpPr>
        <p:spPr>
          <a:xfrm>
            <a:off x="4617720" y="4160520"/>
            <a:ext cx="2377440" cy="685800"/>
          </a:xfrm>
          <a:prstGeom prst="rect">
            <a:avLst/>
          </a:prstGeom>
          <a:noFill/>
          <a:ln/>
        </p:spPr>
        <p:txBody>
          <a:bodyPr wrap="square" lIns="254" tIns="254" rIns="254" bIns="254" rtlCol="0" anchor="ctr"/>
          <a:lstStyle/>
          <a:p>
            <a:pPr algn="ctr" indent="0" marL="0">
              <a:buNone/>
            </a:pPr>
            <a:r>
              <a:rPr lang="en-US" sz="1800" b="1" dirty="0">
                <a:solidFill>
                  <a:srgbClr val="0A7C80"/>
                </a:solidFill>
              </a:rPr>
              <a:t>Cellebrite Inseyets</a:t>
            </a:r>
            <a:endParaRPr lang="en-US" sz="1800" dirty="0"/>
          </a:p>
          <a:p>
            <a:pPr algn="ctr" indent="0" marL="0">
              <a:buNone/>
            </a:pPr>
            <a:r>
              <a:rPr lang="en-US" sz="1800" b="1" dirty="0">
                <a:solidFill>
                  <a:srgbClr val="0A7C80"/>
                </a:solidFill>
              </a:rPr>
              <a:t>0.032 clean FNR</a:t>
            </a:r>
            <a:endParaRPr lang="en-US" sz="1800" dirty="0"/>
          </a:p>
          <a:p>
            <a:pPr algn="ctr" indent="0" marL="0">
              <a:buNone/>
            </a:pPr>
            <a:r>
              <a:rPr lang="en-US" sz="1800" b="1" dirty="0">
                <a:solidFill>
                  <a:srgbClr val="0A7C80"/>
                </a:solidFill>
              </a:rPr>
              <a:t>0.292 OOD W-rate</a:t>
            </a:r>
            <a:endParaRPr lang="en-US" sz="1800" dirty="0"/>
          </a:p>
        </p:txBody>
      </p:sp>
      <p:sp>
        <p:nvSpPr>
          <p:cNvPr id="82" name="Shape 80"/>
          <p:cNvSpPr/>
          <p:nvPr/>
        </p:nvSpPr>
        <p:spPr>
          <a:xfrm>
            <a:off x="8092440" y="3611880"/>
            <a:ext cx="3429000" cy="1600200"/>
          </a:xfrm>
          <a:prstGeom prst="roundRect">
            <a:avLst>
              <a:gd name="adj" fmla="val 5714"/>
            </a:avLst>
          </a:prstGeom>
          <a:solidFill>
            <a:srgbClr val="FFF2EA"/>
          </a:solidFill>
          <a:ln w="12700">
            <a:solidFill>
              <a:srgbClr val="F0B083"/>
            </a:solidFill>
            <a:prstDash val="solid"/>
          </a:ln>
        </p:spPr>
      </p:sp>
      <p:sp>
        <p:nvSpPr>
          <p:cNvPr id="83" name="Text 81"/>
          <p:cNvSpPr/>
          <p:nvPr/>
        </p:nvSpPr>
        <p:spPr>
          <a:xfrm>
            <a:off x="8321040" y="3794760"/>
            <a:ext cx="2194560" cy="228600"/>
          </a:xfrm>
          <a:prstGeom prst="rect">
            <a:avLst/>
          </a:prstGeom>
          <a:noFill/>
          <a:ln/>
        </p:spPr>
        <p:txBody>
          <a:bodyPr wrap="square" lIns="0" tIns="0" rIns="0" bIns="0" rtlCol="0" anchor="ctr"/>
          <a:lstStyle/>
          <a:p>
            <a:pPr indent="0" marL="0">
              <a:buNone/>
            </a:pPr>
            <a:r>
              <a:rPr lang="en-US" sz="1400" b="1" dirty="0">
                <a:solidFill>
                  <a:srgbClr val="0B1F4D"/>
                </a:solidFill>
              </a:rPr>
              <a:t>Trade-off signal</a:t>
            </a:r>
            <a:endParaRPr lang="en-US" sz="1400" dirty="0"/>
          </a:p>
        </p:txBody>
      </p:sp>
      <p:sp>
        <p:nvSpPr>
          <p:cNvPr id="84" name="Text 82"/>
          <p:cNvSpPr/>
          <p:nvPr/>
        </p:nvSpPr>
        <p:spPr>
          <a:xfrm>
            <a:off x="8321040" y="4160520"/>
            <a:ext cx="2377440" cy="685800"/>
          </a:xfrm>
          <a:prstGeom prst="rect">
            <a:avLst/>
          </a:prstGeom>
          <a:noFill/>
          <a:ln/>
        </p:spPr>
        <p:txBody>
          <a:bodyPr wrap="square" lIns="254" tIns="254" rIns="254" bIns="254" rtlCol="0" anchor="ctr"/>
          <a:lstStyle/>
          <a:p>
            <a:pPr algn="ctr" indent="0" marL="0">
              <a:buNone/>
            </a:pPr>
            <a:r>
              <a:rPr lang="en-US" sz="1600" b="1" dirty="0">
                <a:solidFill>
                  <a:srgbClr val="E76F28"/>
                </a:solidFill>
              </a:rPr>
              <a:t>Excire D50</a:t>
            </a:r>
            <a:endParaRPr lang="en-US" sz="1600" dirty="0"/>
          </a:p>
          <a:p>
            <a:pPr algn="ctr" indent="0" marL="0">
              <a:buNone/>
            </a:pPr>
            <a:r>
              <a:rPr lang="en-US" sz="1600" b="1" dirty="0">
                <a:solidFill>
                  <a:srgbClr val="E76F28"/>
                </a:solidFill>
              </a:rPr>
              <a:t>higher recall</a:t>
            </a:r>
            <a:endParaRPr lang="en-US" sz="1600" dirty="0"/>
          </a:p>
          <a:p>
            <a:pPr algn="ctr" indent="0" marL="0">
              <a:buNone/>
            </a:pPr>
            <a:r>
              <a:rPr lang="en-US" sz="1600" b="1" dirty="0">
                <a:solidFill>
                  <a:srgbClr val="E76F28"/>
                </a:solidFill>
              </a:rPr>
              <a:t>but higher FPR / OOD</a:t>
            </a:r>
            <a:endParaRPr lang="en-US" sz="1600" dirty="0"/>
          </a:p>
        </p:txBody>
      </p:sp>
      <p:sp>
        <p:nvSpPr>
          <p:cNvPr id="85" name="Shape 83"/>
          <p:cNvSpPr/>
          <p:nvPr/>
        </p:nvSpPr>
        <p:spPr>
          <a:xfrm>
            <a:off x="1188720" y="5650992"/>
            <a:ext cx="9784080" cy="502920"/>
          </a:xfrm>
          <a:prstGeom prst="roundRect">
            <a:avLst>
              <a:gd name="adj" fmla="val 18182"/>
            </a:avLst>
          </a:prstGeom>
          <a:solidFill>
            <a:srgbClr val="FFFFFF"/>
          </a:solidFill>
          <a:ln w="16510">
            <a:solidFill>
              <a:srgbClr val="E76F28"/>
            </a:solidFill>
            <a:prstDash val="solid"/>
          </a:ln>
        </p:spPr>
      </p:sp>
      <p:sp>
        <p:nvSpPr>
          <p:cNvPr id="86" name="Text 84"/>
          <p:cNvSpPr/>
          <p:nvPr/>
        </p:nvSpPr>
        <p:spPr>
          <a:xfrm>
            <a:off x="1353312" y="5760720"/>
            <a:ext cx="945489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Values reflect the experimental bundle and conservative mappings; they are not product certifications.</a:t>
            </a:r>
            <a:endParaRPr lang="en-US" sz="1200" dirty="0"/>
          </a:p>
        </p:txBody>
      </p:sp>
      <p:sp>
        <p:nvSpPr>
          <p:cNvPr id="87" name="Shape 85"/>
          <p:cNvSpPr/>
          <p:nvPr/>
        </p:nvSpPr>
        <p:spPr>
          <a:xfrm>
            <a:off x="411480" y="6510528"/>
            <a:ext cx="11365992" cy="0"/>
          </a:xfrm>
          <a:prstGeom prst="line">
            <a:avLst/>
          </a:prstGeom>
          <a:noFill/>
          <a:ln w="8890">
            <a:solidFill>
              <a:srgbClr val="D8E1E8"/>
            </a:solidFill>
            <a:prstDash val="solid"/>
          </a:ln>
        </p:spPr>
      </p:sp>
      <p:sp>
        <p:nvSpPr>
          <p:cNvPr id="88" name="Text 86"/>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89" name="Text 87"/>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BLACK-BOX TRACK — PARAMETER SENSITIVITY</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Excire Foto 2025: Distance Limit Trade-off</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Parameter choice changes the forensic risk profile</a:t>
            </a:r>
            <a:endParaRPr lang="en-US" sz="1100" dirty="0"/>
          </a:p>
        </p:txBody>
      </p:sp>
      <p:sp>
        <p:nvSpPr>
          <p:cNvPr id="6" name="Shape 4"/>
          <p:cNvSpPr/>
          <p:nvPr/>
        </p:nvSpPr>
        <p:spPr>
          <a:xfrm>
            <a:off x="594360" y="1325880"/>
            <a:ext cx="1097280" cy="331470"/>
          </a:xfrm>
          <a:prstGeom prst="rect">
            <a:avLst/>
          </a:prstGeom>
          <a:solidFill>
            <a:srgbClr val="0B1F4D"/>
          </a:solidFill>
          <a:ln w="12700">
            <a:solidFill>
              <a:srgbClr val="FFFFFF">
                <a:alpha val="0"/>
              </a:srgbClr>
            </a:solidFill>
            <a:prstDash val="solid"/>
          </a:ln>
        </p:spPr>
      </p:sp>
      <p:sp>
        <p:nvSpPr>
          <p:cNvPr id="7" name="Text 5"/>
          <p:cNvSpPr/>
          <p:nvPr/>
        </p:nvSpPr>
        <p:spPr>
          <a:xfrm>
            <a:off x="621792" y="1371600"/>
            <a:ext cx="1042416" cy="258318"/>
          </a:xfrm>
          <a:prstGeom prst="rect">
            <a:avLst/>
          </a:prstGeom>
          <a:noFill/>
          <a:ln/>
        </p:spPr>
        <p:txBody>
          <a:bodyPr wrap="square" lIns="127" tIns="127" rIns="127" bIns="127" rtlCol="0" anchor="ctr">
            <a:normAutofit/>
          </a:bodyPr>
          <a:lstStyle/>
          <a:p>
            <a:pPr algn="ctr" indent="0" marL="0">
              <a:buNone/>
            </a:pPr>
            <a:r>
              <a:rPr lang="en-US" sz="820" b="1" dirty="0">
                <a:solidFill>
                  <a:srgbClr val="FFFFFF"/>
                </a:solidFill>
              </a:rPr>
              <a:t>Setting</a:t>
            </a:r>
            <a:endParaRPr lang="en-US" sz="820" dirty="0"/>
          </a:p>
        </p:txBody>
      </p:sp>
      <p:sp>
        <p:nvSpPr>
          <p:cNvPr id="8" name="Shape 6"/>
          <p:cNvSpPr/>
          <p:nvPr/>
        </p:nvSpPr>
        <p:spPr>
          <a:xfrm>
            <a:off x="1691640" y="1325880"/>
            <a:ext cx="1371600" cy="331470"/>
          </a:xfrm>
          <a:prstGeom prst="rect">
            <a:avLst/>
          </a:prstGeom>
          <a:solidFill>
            <a:srgbClr val="0B1F4D"/>
          </a:solidFill>
          <a:ln w="12700">
            <a:solidFill>
              <a:srgbClr val="FFFFFF">
                <a:alpha val="0"/>
              </a:srgbClr>
            </a:solidFill>
            <a:prstDash val="solid"/>
          </a:ln>
        </p:spPr>
      </p:sp>
      <p:sp>
        <p:nvSpPr>
          <p:cNvPr id="9" name="Text 7"/>
          <p:cNvSpPr/>
          <p:nvPr/>
        </p:nvSpPr>
        <p:spPr>
          <a:xfrm>
            <a:off x="1719072" y="1371600"/>
            <a:ext cx="1316736" cy="258318"/>
          </a:xfrm>
          <a:prstGeom prst="rect">
            <a:avLst/>
          </a:prstGeom>
          <a:noFill/>
          <a:ln/>
        </p:spPr>
        <p:txBody>
          <a:bodyPr wrap="square" lIns="127" tIns="127" rIns="127" bIns="127" rtlCol="0" anchor="ctr">
            <a:normAutofit/>
          </a:bodyPr>
          <a:lstStyle/>
          <a:p>
            <a:pPr algn="ctr" indent="0" marL="0">
              <a:buNone/>
            </a:pPr>
            <a:r>
              <a:rPr lang="en-US" sz="820" b="1" dirty="0">
                <a:solidFill>
                  <a:srgbClr val="FFFFFF"/>
                </a:solidFill>
              </a:rPr>
              <a:t>Clean Acc.</a:t>
            </a:r>
            <a:endParaRPr lang="en-US" sz="820" dirty="0"/>
          </a:p>
        </p:txBody>
      </p:sp>
      <p:sp>
        <p:nvSpPr>
          <p:cNvPr id="10" name="Shape 8"/>
          <p:cNvSpPr/>
          <p:nvPr/>
        </p:nvSpPr>
        <p:spPr>
          <a:xfrm>
            <a:off x="3063240" y="1325880"/>
            <a:ext cx="1737360" cy="331470"/>
          </a:xfrm>
          <a:prstGeom prst="rect">
            <a:avLst/>
          </a:prstGeom>
          <a:solidFill>
            <a:srgbClr val="0B1F4D"/>
          </a:solidFill>
          <a:ln w="12700">
            <a:solidFill>
              <a:srgbClr val="FFFFFF">
                <a:alpha val="0"/>
              </a:srgbClr>
            </a:solidFill>
            <a:prstDash val="solid"/>
          </a:ln>
        </p:spPr>
      </p:sp>
      <p:sp>
        <p:nvSpPr>
          <p:cNvPr id="11" name="Text 9"/>
          <p:cNvSpPr/>
          <p:nvPr/>
        </p:nvSpPr>
        <p:spPr>
          <a:xfrm>
            <a:off x="3090672" y="1371600"/>
            <a:ext cx="1682496" cy="258318"/>
          </a:xfrm>
          <a:prstGeom prst="rect">
            <a:avLst/>
          </a:prstGeom>
          <a:noFill/>
          <a:ln/>
        </p:spPr>
        <p:txBody>
          <a:bodyPr wrap="square" lIns="127" tIns="127" rIns="127" bIns="127" rtlCol="0" anchor="ctr">
            <a:normAutofit/>
          </a:bodyPr>
          <a:lstStyle/>
          <a:p>
            <a:pPr algn="ctr" indent="0" marL="0">
              <a:buNone/>
            </a:pPr>
            <a:r>
              <a:rPr lang="en-US" sz="820" b="1" dirty="0">
                <a:solidFill>
                  <a:srgbClr val="FFFFFF"/>
                </a:solidFill>
              </a:rPr>
              <a:t>Clean Recall weapon</a:t>
            </a:r>
            <a:endParaRPr lang="en-US" sz="820" dirty="0"/>
          </a:p>
        </p:txBody>
      </p:sp>
      <p:sp>
        <p:nvSpPr>
          <p:cNvPr id="12" name="Shape 10"/>
          <p:cNvSpPr/>
          <p:nvPr/>
        </p:nvSpPr>
        <p:spPr>
          <a:xfrm>
            <a:off x="4800600" y="1325880"/>
            <a:ext cx="1234440" cy="331470"/>
          </a:xfrm>
          <a:prstGeom prst="rect">
            <a:avLst/>
          </a:prstGeom>
          <a:solidFill>
            <a:srgbClr val="0B1F4D"/>
          </a:solidFill>
          <a:ln w="12700">
            <a:solidFill>
              <a:srgbClr val="FFFFFF">
                <a:alpha val="0"/>
              </a:srgbClr>
            </a:solidFill>
            <a:prstDash val="solid"/>
          </a:ln>
        </p:spPr>
      </p:sp>
      <p:sp>
        <p:nvSpPr>
          <p:cNvPr id="13" name="Text 11"/>
          <p:cNvSpPr/>
          <p:nvPr/>
        </p:nvSpPr>
        <p:spPr>
          <a:xfrm>
            <a:off x="4828032" y="1371600"/>
            <a:ext cx="1179576" cy="258318"/>
          </a:xfrm>
          <a:prstGeom prst="rect">
            <a:avLst/>
          </a:prstGeom>
          <a:noFill/>
          <a:ln/>
        </p:spPr>
        <p:txBody>
          <a:bodyPr wrap="square" lIns="127" tIns="127" rIns="127" bIns="127" rtlCol="0" anchor="ctr">
            <a:normAutofit/>
          </a:bodyPr>
          <a:lstStyle/>
          <a:p>
            <a:pPr algn="ctr" indent="0" marL="0">
              <a:buNone/>
            </a:pPr>
            <a:r>
              <a:rPr lang="en-US" sz="820" b="1" dirty="0">
                <a:solidFill>
                  <a:srgbClr val="FFFFFF"/>
                </a:solidFill>
              </a:rPr>
              <a:t>Clean FNR</a:t>
            </a:r>
            <a:endParaRPr lang="en-US" sz="820" dirty="0"/>
          </a:p>
        </p:txBody>
      </p:sp>
      <p:sp>
        <p:nvSpPr>
          <p:cNvPr id="14" name="Shape 12"/>
          <p:cNvSpPr/>
          <p:nvPr/>
        </p:nvSpPr>
        <p:spPr>
          <a:xfrm>
            <a:off x="6035040" y="1325880"/>
            <a:ext cx="1234440" cy="331470"/>
          </a:xfrm>
          <a:prstGeom prst="rect">
            <a:avLst/>
          </a:prstGeom>
          <a:solidFill>
            <a:srgbClr val="0B1F4D"/>
          </a:solidFill>
          <a:ln w="12700">
            <a:solidFill>
              <a:srgbClr val="FFFFFF">
                <a:alpha val="0"/>
              </a:srgbClr>
            </a:solidFill>
            <a:prstDash val="solid"/>
          </a:ln>
        </p:spPr>
      </p:sp>
      <p:sp>
        <p:nvSpPr>
          <p:cNvPr id="15" name="Text 13"/>
          <p:cNvSpPr/>
          <p:nvPr/>
        </p:nvSpPr>
        <p:spPr>
          <a:xfrm>
            <a:off x="6062472" y="1371600"/>
            <a:ext cx="1179576" cy="258318"/>
          </a:xfrm>
          <a:prstGeom prst="rect">
            <a:avLst/>
          </a:prstGeom>
          <a:noFill/>
          <a:ln/>
        </p:spPr>
        <p:txBody>
          <a:bodyPr wrap="square" lIns="127" tIns="127" rIns="127" bIns="127" rtlCol="0" anchor="ctr">
            <a:normAutofit/>
          </a:bodyPr>
          <a:lstStyle/>
          <a:p>
            <a:pPr algn="ctr" indent="0" marL="0">
              <a:buNone/>
            </a:pPr>
            <a:r>
              <a:rPr lang="en-US" sz="820" b="1" dirty="0">
                <a:solidFill>
                  <a:srgbClr val="FFFFFF"/>
                </a:solidFill>
              </a:rPr>
              <a:t>Clean FPR</a:t>
            </a:r>
            <a:endParaRPr lang="en-US" sz="820" dirty="0"/>
          </a:p>
        </p:txBody>
      </p:sp>
      <p:sp>
        <p:nvSpPr>
          <p:cNvPr id="16" name="Shape 14"/>
          <p:cNvSpPr/>
          <p:nvPr/>
        </p:nvSpPr>
        <p:spPr>
          <a:xfrm>
            <a:off x="7269480" y="1325880"/>
            <a:ext cx="1417320" cy="331470"/>
          </a:xfrm>
          <a:prstGeom prst="rect">
            <a:avLst/>
          </a:prstGeom>
          <a:solidFill>
            <a:srgbClr val="0B1F4D"/>
          </a:solidFill>
          <a:ln w="12700">
            <a:solidFill>
              <a:srgbClr val="FFFFFF">
                <a:alpha val="0"/>
              </a:srgbClr>
            </a:solidFill>
            <a:prstDash val="solid"/>
          </a:ln>
        </p:spPr>
      </p:sp>
      <p:sp>
        <p:nvSpPr>
          <p:cNvPr id="17" name="Text 15"/>
          <p:cNvSpPr/>
          <p:nvPr/>
        </p:nvSpPr>
        <p:spPr>
          <a:xfrm>
            <a:off x="7296912" y="1371600"/>
            <a:ext cx="1362456" cy="258318"/>
          </a:xfrm>
          <a:prstGeom prst="rect">
            <a:avLst/>
          </a:prstGeom>
          <a:noFill/>
          <a:ln/>
        </p:spPr>
        <p:txBody>
          <a:bodyPr wrap="square" lIns="127" tIns="127" rIns="127" bIns="127" rtlCol="0" anchor="ctr">
            <a:normAutofit/>
          </a:bodyPr>
          <a:lstStyle/>
          <a:p>
            <a:pPr algn="ctr" indent="0" marL="0">
              <a:buNone/>
            </a:pPr>
            <a:r>
              <a:rPr lang="en-US" sz="820" b="1" dirty="0">
                <a:solidFill>
                  <a:srgbClr val="FFFFFF"/>
                </a:solidFill>
              </a:rPr>
              <a:t>OOD W-rate</a:t>
            </a:r>
            <a:endParaRPr lang="en-US" sz="820" dirty="0"/>
          </a:p>
        </p:txBody>
      </p:sp>
      <p:sp>
        <p:nvSpPr>
          <p:cNvPr id="18" name="Shape 16"/>
          <p:cNvSpPr/>
          <p:nvPr/>
        </p:nvSpPr>
        <p:spPr>
          <a:xfrm>
            <a:off x="8686800" y="1325880"/>
            <a:ext cx="2926080" cy="331470"/>
          </a:xfrm>
          <a:prstGeom prst="rect">
            <a:avLst/>
          </a:prstGeom>
          <a:solidFill>
            <a:srgbClr val="0B1F4D"/>
          </a:solidFill>
          <a:ln w="12700">
            <a:solidFill>
              <a:srgbClr val="FFFFFF">
                <a:alpha val="0"/>
              </a:srgbClr>
            </a:solidFill>
            <a:prstDash val="solid"/>
          </a:ln>
        </p:spPr>
      </p:sp>
      <p:sp>
        <p:nvSpPr>
          <p:cNvPr id="19" name="Text 17"/>
          <p:cNvSpPr/>
          <p:nvPr/>
        </p:nvSpPr>
        <p:spPr>
          <a:xfrm>
            <a:off x="8714232" y="1371600"/>
            <a:ext cx="2871216" cy="258318"/>
          </a:xfrm>
          <a:prstGeom prst="rect">
            <a:avLst/>
          </a:prstGeom>
          <a:noFill/>
          <a:ln/>
        </p:spPr>
        <p:txBody>
          <a:bodyPr wrap="square" lIns="127" tIns="127" rIns="127" bIns="127" rtlCol="0" anchor="ctr">
            <a:normAutofit/>
          </a:bodyPr>
          <a:lstStyle/>
          <a:p>
            <a:pPr algn="ctr" indent="0" marL="0">
              <a:buNone/>
            </a:pPr>
            <a:r>
              <a:rPr lang="en-US" sz="820" b="1" dirty="0">
                <a:solidFill>
                  <a:srgbClr val="FFFFFF"/>
                </a:solidFill>
              </a:rPr>
              <a:t>Profile</a:t>
            </a:r>
            <a:endParaRPr lang="en-US" sz="820" dirty="0"/>
          </a:p>
        </p:txBody>
      </p:sp>
      <p:sp>
        <p:nvSpPr>
          <p:cNvPr id="20" name="Shape 18"/>
          <p:cNvSpPr/>
          <p:nvPr/>
        </p:nvSpPr>
        <p:spPr>
          <a:xfrm>
            <a:off x="594360" y="1657350"/>
            <a:ext cx="1097280" cy="331470"/>
          </a:xfrm>
          <a:prstGeom prst="rect">
            <a:avLst/>
          </a:prstGeom>
          <a:solidFill>
            <a:srgbClr val="FFFFFF"/>
          </a:solidFill>
          <a:ln w="6350">
            <a:solidFill>
              <a:srgbClr val="FFFFFF"/>
            </a:solidFill>
            <a:prstDash val="solid"/>
          </a:ln>
        </p:spPr>
      </p:sp>
      <p:sp>
        <p:nvSpPr>
          <p:cNvPr id="21" name="Text 19"/>
          <p:cNvSpPr/>
          <p:nvPr/>
        </p:nvSpPr>
        <p:spPr>
          <a:xfrm>
            <a:off x="621792" y="1693926"/>
            <a:ext cx="1042416" cy="258318"/>
          </a:xfrm>
          <a:prstGeom prst="rect">
            <a:avLst/>
          </a:prstGeom>
          <a:noFill/>
          <a:ln/>
        </p:spPr>
        <p:txBody>
          <a:bodyPr wrap="square" lIns="127" tIns="127" rIns="127" bIns="127" rtlCol="0" anchor="ctr">
            <a:normAutofit/>
          </a:bodyPr>
          <a:lstStyle/>
          <a:p>
            <a:pPr algn="l" indent="0" marL="0">
              <a:buNone/>
            </a:pPr>
            <a:r>
              <a:rPr lang="en-US" sz="950" dirty="0">
                <a:solidFill>
                  <a:srgbClr val="10203B"/>
                </a:solidFill>
              </a:rPr>
              <a:t>D20</a:t>
            </a:r>
            <a:endParaRPr lang="en-US" sz="950" dirty="0"/>
          </a:p>
        </p:txBody>
      </p:sp>
      <p:sp>
        <p:nvSpPr>
          <p:cNvPr id="22" name="Shape 20"/>
          <p:cNvSpPr/>
          <p:nvPr/>
        </p:nvSpPr>
        <p:spPr>
          <a:xfrm>
            <a:off x="1691640" y="1657350"/>
            <a:ext cx="1371600" cy="331470"/>
          </a:xfrm>
          <a:prstGeom prst="rect">
            <a:avLst/>
          </a:prstGeom>
          <a:solidFill>
            <a:srgbClr val="FFFFFF"/>
          </a:solidFill>
          <a:ln w="6350">
            <a:solidFill>
              <a:srgbClr val="FFFFFF"/>
            </a:solidFill>
            <a:prstDash val="solid"/>
          </a:ln>
        </p:spPr>
      </p:sp>
      <p:sp>
        <p:nvSpPr>
          <p:cNvPr id="23" name="Text 21"/>
          <p:cNvSpPr/>
          <p:nvPr/>
        </p:nvSpPr>
        <p:spPr>
          <a:xfrm>
            <a:off x="1719072" y="1693926"/>
            <a:ext cx="131673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0.927</a:t>
            </a:r>
            <a:endParaRPr lang="en-US" sz="950" dirty="0"/>
          </a:p>
        </p:txBody>
      </p:sp>
      <p:sp>
        <p:nvSpPr>
          <p:cNvPr id="24" name="Shape 22"/>
          <p:cNvSpPr/>
          <p:nvPr/>
        </p:nvSpPr>
        <p:spPr>
          <a:xfrm>
            <a:off x="3063240" y="1657350"/>
            <a:ext cx="1737360" cy="331470"/>
          </a:xfrm>
          <a:prstGeom prst="rect">
            <a:avLst/>
          </a:prstGeom>
          <a:solidFill>
            <a:srgbClr val="FFFFFF"/>
          </a:solidFill>
          <a:ln w="6350">
            <a:solidFill>
              <a:srgbClr val="FFFFFF"/>
            </a:solidFill>
            <a:prstDash val="solid"/>
          </a:ln>
        </p:spPr>
      </p:sp>
      <p:sp>
        <p:nvSpPr>
          <p:cNvPr id="25" name="Text 23"/>
          <p:cNvSpPr/>
          <p:nvPr/>
        </p:nvSpPr>
        <p:spPr>
          <a:xfrm>
            <a:off x="3090672" y="1693926"/>
            <a:ext cx="168249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0.880</a:t>
            </a:r>
            <a:endParaRPr lang="en-US" sz="950" dirty="0"/>
          </a:p>
        </p:txBody>
      </p:sp>
      <p:sp>
        <p:nvSpPr>
          <p:cNvPr id="26" name="Shape 24"/>
          <p:cNvSpPr/>
          <p:nvPr/>
        </p:nvSpPr>
        <p:spPr>
          <a:xfrm>
            <a:off x="4800600" y="1657350"/>
            <a:ext cx="1234440" cy="331470"/>
          </a:xfrm>
          <a:prstGeom prst="rect">
            <a:avLst/>
          </a:prstGeom>
          <a:solidFill>
            <a:srgbClr val="FFFFFF"/>
          </a:solidFill>
          <a:ln w="6350">
            <a:solidFill>
              <a:srgbClr val="FFFFFF"/>
            </a:solidFill>
            <a:prstDash val="solid"/>
          </a:ln>
        </p:spPr>
      </p:sp>
      <p:sp>
        <p:nvSpPr>
          <p:cNvPr id="27" name="Text 25"/>
          <p:cNvSpPr/>
          <p:nvPr/>
        </p:nvSpPr>
        <p:spPr>
          <a:xfrm>
            <a:off x="4828032" y="1693926"/>
            <a:ext cx="117957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0.120</a:t>
            </a:r>
            <a:endParaRPr lang="en-US" sz="950" dirty="0"/>
          </a:p>
        </p:txBody>
      </p:sp>
      <p:sp>
        <p:nvSpPr>
          <p:cNvPr id="28" name="Shape 26"/>
          <p:cNvSpPr/>
          <p:nvPr/>
        </p:nvSpPr>
        <p:spPr>
          <a:xfrm>
            <a:off x="6035040" y="1657350"/>
            <a:ext cx="1234440" cy="331470"/>
          </a:xfrm>
          <a:prstGeom prst="rect">
            <a:avLst/>
          </a:prstGeom>
          <a:solidFill>
            <a:srgbClr val="FFFFFF"/>
          </a:solidFill>
          <a:ln w="6350">
            <a:solidFill>
              <a:srgbClr val="FFFFFF"/>
            </a:solidFill>
            <a:prstDash val="solid"/>
          </a:ln>
        </p:spPr>
      </p:sp>
      <p:sp>
        <p:nvSpPr>
          <p:cNvPr id="29" name="Text 27"/>
          <p:cNvSpPr/>
          <p:nvPr/>
        </p:nvSpPr>
        <p:spPr>
          <a:xfrm>
            <a:off x="6062472" y="1693926"/>
            <a:ext cx="117957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0.026</a:t>
            </a:r>
            <a:endParaRPr lang="en-US" sz="950" dirty="0"/>
          </a:p>
        </p:txBody>
      </p:sp>
      <p:sp>
        <p:nvSpPr>
          <p:cNvPr id="30" name="Shape 28"/>
          <p:cNvSpPr/>
          <p:nvPr/>
        </p:nvSpPr>
        <p:spPr>
          <a:xfrm>
            <a:off x="7269480" y="1657350"/>
            <a:ext cx="1417320" cy="331470"/>
          </a:xfrm>
          <a:prstGeom prst="rect">
            <a:avLst/>
          </a:prstGeom>
          <a:solidFill>
            <a:srgbClr val="FFFFFF"/>
          </a:solidFill>
          <a:ln w="6350">
            <a:solidFill>
              <a:srgbClr val="FFFFFF"/>
            </a:solidFill>
            <a:prstDash val="solid"/>
          </a:ln>
        </p:spPr>
      </p:sp>
      <p:sp>
        <p:nvSpPr>
          <p:cNvPr id="31" name="Text 29"/>
          <p:cNvSpPr/>
          <p:nvPr/>
        </p:nvSpPr>
        <p:spPr>
          <a:xfrm>
            <a:off x="7296912" y="1693926"/>
            <a:ext cx="136245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0.238</a:t>
            </a:r>
            <a:endParaRPr lang="en-US" sz="950" dirty="0"/>
          </a:p>
        </p:txBody>
      </p:sp>
      <p:sp>
        <p:nvSpPr>
          <p:cNvPr id="32" name="Shape 30"/>
          <p:cNvSpPr/>
          <p:nvPr/>
        </p:nvSpPr>
        <p:spPr>
          <a:xfrm>
            <a:off x="8686800" y="1657350"/>
            <a:ext cx="2926080" cy="331470"/>
          </a:xfrm>
          <a:prstGeom prst="rect">
            <a:avLst/>
          </a:prstGeom>
          <a:solidFill>
            <a:srgbClr val="FFFFFF"/>
          </a:solidFill>
          <a:ln w="6350">
            <a:solidFill>
              <a:srgbClr val="FFFFFF"/>
            </a:solidFill>
            <a:prstDash val="solid"/>
          </a:ln>
        </p:spPr>
      </p:sp>
      <p:sp>
        <p:nvSpPr>
          <p:cNvPr id="33" name="Text 31"/>
          <p:cNvSpPr/>
          <p:nvPr/>
        </p:nvSpPr>
        <p:spPr>
          <a:xfrm>
            <a:off x="8714232" y="1693926"/>
            <a:ext cx="287121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restrictive</a:t>
            </a:r>
            <a:endParaRPr lang="en-US" sz="950" dirty="0"/>
          </a:p>
        </p:txBody>
      </p:sp>
      <p:sp>
        <p:nvSpPr>
          <p:cNvPr id="34" name="Shape 32"/>
          <p:cNvSpPr/>
          <p:nvPr/>
        </p:nvSpPr>
        <p:spPr>
          <a:xfrm>
            <a:off x="594360" y="1988820"/>
            <a:ext cx="1097280" cy="331470"/>
          </a:xfrm>
          <a:prstGeom prst="rect">
            <a:avLst/>
          </a:prstGeom>
          <a:solidFill>
            <a:srgbClr val="F3F7FA"/>
          </a:solidFill>
          <a:ln w="6350">
            <a:solidFill>
              <a:srgbClr val="FFFFFF"/>
            </a:solidFill>
            <a:prstDash val="solid"/>
          </a:ln>
        </p:spPr>
      </p:sp>
      <p:sp>
        <p:nvSpPr>
          <p:cNvPr id="35" name="Text 33"/>
          <p:cNvSpPr/>
          <p:nvPr/>
        </p:nvSpPr>
        <p:spPr>
          <a:xfrm>
            <a:off x="621792" y="2025396"/>
            <a:ext cx="1042416" cy="258318"/>
          </a:xfrm>
          <a:prstGeom prst="rect">
            <a:avLst/>
          </a:prstGeom>
          <a:noFill/>
          <a:ln/>
        </p:spPr>
        <p:txBody>
          <a:bodyPr wrap="square" lIns="127" tIns="127" rIns="127" bIns="127" rtlCol="0" anchor="ctr">
            <a:normAutofit/>
          </a:bodyPr>
          <a:lstStyle/>
          <a:p>
            <a:pPr algn="l" indent="0" marL="0">
              <a:buNone/>
            </a:pPr>
            <a:r>
              <a:rPr lang="en-US" sz="950" dirty="0">
                <a:solidFill>
                  <a:srgbClr val="10203B"/>
                </a:solidFill>
              </a:rPr>
              <a:t>D50</a:t>
            </a:r>
            <a:endParaRPr lang="en-US" sz="950" dirty="0"/>
          </a:p>
        </p:txBody>
      </p:sp>
      <p:sp>
        <p:nvSpPr>
          <p:cNvPr id="36" name="Shape 34"/>
          <p:cNvSpPr/>
          <p:nvPr/>
        </p:nvSpPr>
        <p:spPr>
          <a:xfrm>
            <a:off x="1691640" y="1988820"/>
            <a:ext cx="1371600" cy="331470"/>
          </a:xfrm>
          <a:prstGeom prst="rect">
            <a:avLst/>
          </a:prstGeom>
          <a:solidFill>
            <a:srgbClr val="F3F7FA"/>
          </a:solidFill>
          <a:ln w="6350">
            <a:solidFill>
              <a:srgbClr val="FFFFFF"/>
            </a:solidFill>
            <a:prstDash val="solid"/>
          </a:ln>
        </p:spPr>
      </p:sp>
      <p:sp>
        <p:nvSpPr>
          <p:cNvPr id="37" name="Text 35"/>
          <p:cNvSpPr/>
          <p:nvPr/>
        </p:nvSpPr>
        <p:spPr>
          <a:xfrm>
            <a:off x="1719072" y="2025396"/>
            <a:ext cx="131673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0.944</a:t>
            </a:r>
            <a:endParaRPr lang="en-US" sz="950" dirty="0"/>
          </a:p>
        </p:txBody>
      </p:sp>
      <p:sp>
        <p:nvSpPr>
          <p:cNvPr id="38" name="Shape 36"/>
          <p:cNvSpPr/>
          <p:nvPr/>
        </p:nvSpPr>
        <p:spPr>
          <a:xfrm>
            <a:off x="3063240" y="1988820"/>
            <a:ext cx="1737360" cy="331470"/>
          </a:xfrm>
          <a:prstGeom prst="rect">
            <a:avLst/>
          </a:prstGeom>
          <a:solidFill>
            <a:srgbClr val="F3F7FA"/>
          </a:solidFill>
          <a:ln w="6350">
            <a:solidFill>
              <a:srgbClr val="FFFFFF"/>
            </a:solidFill>
            <a:prstDash val="solid"/>
          </a:ln>
        </p:spPr>
      </p:sp>
      <p:sp>
        <p:nvSpPr>
          <p:cNvPr id="39" name="Text 37"/>
          <p:cNvSpPr/>
          <p:nvPr/>
        </p:nvSpPr>
        <p:spPr>
          <a:xfrm>
            <a:off x="3090672" y="2025396"/>
            <a:ext cx="168249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0.958</a:t>
            </a:r>
            <a:endParaRPr lang="en-US" sz="950" dirty="0"/>
          </a:p>
        </p:txBody>
      </p:sp>
      <p:sp>
        <p:nvSpPr>
          <p:cNvPr id="40" name="Shape 38"/>
          <p:cNvSpPr/>
          <p:nvPr/>
        </p:nvSpPr>
        <p:spPr>
          <a:xfrm>
            <a:off x="4800600" y="1988820"/>
            <a:ext cx="1234440" cy="331470"/>
          </a:xfrm>
          <a:prstGeom prst="rect">
            <a:avLst/>
          </a:prstGeom>
          <a:solidFill>
            <a:srgbClr val="F3F7FA"/>
          </a:solidFill>
          <a:ln w="6350">
            <a:solidFill>
              <a:srgbClr val="FFFFFF"/>
            </a:solidFill>
            <a:prstDash val="solid"/>
          </a:ln>
        </p:spPr>
      </p:sp>
      <p:sp>
        <p:nvSpPr>
          <p:cNvPr id="41" name="Text 39"/>
          <p:cNvSpPr/>
          <p:nvPr/>
        </p:nvSpPr>
        <p:spPr>
          <a:xfrm>
            <a:off x="4828032" y="2025396"/>
            <a:ext cx="117957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0.042</a:t>
            </a:r>
            <a:endParaRPr lang="en-US" sz="950" dirty="0"/>
          </a:p>
        </p:txBody>
      </p:sp>
      <p:sp>
        <p:nvSpPr>
          <p:cNvPr id="42" name="Shape 40"/>
          <p:cNvSpPr/>
          <p:nvPr/>
        </p:nvSpPr>
        <p:spPr>
          <a:xfrm>
            <a:off x="6035040" y="1988820"/>
            <a:ext cx="1234440" cy="331470"/>
          </a:xfrm>
          <a:prstGeom prst="rect">
            <a:avLst/>
          </a:prstGeom>
          <a:solidFill>
            <a:srgbClr val="F3F7FA"/>
          </a:solidFill>
          <a:ln w="6350">
            <a:solidFill>
              <a:srgbClr val="FFFFFF"/>
            </a:solidFill>
            <a:prstDash val="solid"/>
          </a:ln>
        </p:spPr>
      </p:sp>
      <p:sp>
        <p:nvSpPr>
          <p:cNvPr id="43" name="Text 41"/>
          <p:cNvSpPr/>
          <p:nvPr/>
        </p:nvSpPr>
        <p:spPr>
          <a:xfrm>
            <a:off x="6062472" y="2025396"/>
            <a:ext cx="117957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0.070</a:t>
            </a:r>
            <a:endParaRPr lang="en-US" sz="950" dirty="0"/>
          </a:p>
        </p:txBody>
      </p:sp>
      <p:sp>
        <p:nvSpPr>
          <p:cNvPr id="44" name="Shape 42"/>
          <p:cNvSpPr/>
          <p:nvPr/>
        </p:nvSpPr>
        <p:spPr>
          <a:xfrm>
            <a:off x="7269480" y="1988820"/>
            <a:ext cx="1417320" cy="331470"/>
          </a:xfrm>
          <a:prstGeom prst="rect">
            <a:avLst/>
          </a:prstGeom>
          <a:solidFill>
            <a:srgbClr val="F3F7FA"/>
          </a:solidFill>
          <a:ln w="6350">
            <a:solidFill>
              <a:srgbClr val="FFFFFF"/>
            </a:solidFill>
            <a:prstDash val="solid"/>
          </a:ln>
        </p:spPr>
      </p:sp>
      <p:sp>
        <p:nvSpPr>
          <p:cNvPr id="45" name="Text 43"/>
          <p:cNvSpPr/>
          <p:nvPr/>
        </p:nvSpPr>
        <p:spPr>
          <a:xfrm>
            <a:off x="7296912" y="2025396"/>
            <a:ext cx="136245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0.340</a:t>
            </a:r>
            <a:endParaRPr lang="en-US" sz="950" dirty="0"/>
          </a:p>
        </p:txBody>
      </p:sp>
      <p:sp>
        <p:nvSpPr>
          <p:cNvPr id="46" name="Shape 44"/>
          <p:cNvSpPr/>
          <p:nvPr/>
        </p:nvSpPr>
        <p:spPr>
          <a:xfrm>
            <a:off x="8686800" y="1988820"/>
            <a:ext cx="2926080" cy="331470"/>
          </a:xfrm>
          <a:prstGeom prst="rect">
            <a:avLst/>
          </a:prstGeom>
          <a:solidFill>
            <a:srgbClr val="F3F7FA"/>
          </a:solidFill>
          <a:ln w="6350">
            <a:solidFill>
              <a:srgbClr val="FFFFFF"/>
            </a:solidFill>
            <a:prstDash val="solid"/>
          </a:ln>
        </p:spPr>
      </p:sp>
      <p:sp>
        <p:nvSpPr>
          <p:cNvPr id="47" name="Text 45"/>
          <p:cNvSpPr/>
          <p:nvPr/>
        </p:nvSpPr>
        <p:spPr>
          <a:xfrm>
            <a:off x="8714232" y="2025396"/>
            <a:ext cx="287121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intermediate</a:t>
            </a:r>
            <a:endParaRPr lang="en-US" sz="950" dirty="0"/>
          </a:p>
        </p:txBody>
      </p:sp>
      <p:sp>
        <p:nvSpPr>
          <p:cNvPr id="48" name="Shape 46"/>
          <p:cNvSpPr/>
          <p:nvPr/>
        </p:nvSpPr>
        <p:spPr>
          <a:xfrm>
            <a:off x="594360" y="2320290"/>
            <a:ext cx="1097280" cy="331470"/>
          </a:xfrm>
          <a:prstGeom prst="rect">
            <a:avLst/>
          </a:prstGeom>
          <a:solidFill>
            <a:srgbClr val="FFFFFF"/>
          </a:solidFill>
          <a:ln w="6350">
            <a:solidFill>
              <a:srgbClr val="FFFFFF"/>
            </a:solidFill>
            <a:prstDash val="solid"/>
          </a:ln>
        </p:spPr>
      </p:sp>
      <p:sp>
        <p:nvSpPr>
          <p:cNvPr id="49" name="Text 47"/>
          <p:cNvSpPr/>
          <p:nvPr/>
        </p:nvSpPr>
        <p:spPr>
          <a:xfrm>
            <a:off x="621792" y="2356866"/>
            <a:ext cx="1042416" cy="258318"/>
          </a:xfrm>
          <a:prstGeom prst="rect">
            <a:avLst/>
          </a:prstGeom>
          <a:noFill/>
          <a:ln/>
        </p:spPr>
        <p:txBody>
          <a:bodyPr wrap="square" lIns="127" tIns="127" rIns="127" bIns="127" rtlCol="0" anchor="ctr">
            <a:normAutofit/>
          </a:bodyPr>
          <a:lstStyle/>
          <a:p>
            <a:pPr algn="l" indent="0" marL="0">
              <a:buNone/>
            </a:pPr>
            <a:r>
              <a:rPr lang="en-US" sz="950" dirty="0">
                <a:solidFill>
                  <a:srgbClr val="10203B"/>
                </a:solidFill>
              </a:rPr>
              <a:t>D80</a:t>
            </a:r>
            <a:endParaRPr lang="en-US" sz="950" dirty="0"/>
          </a:p>
        </p:txBody>
      </p:sp>
      <p:sp>
        <p:nvSpPr>
          <p:cNvPr id="50" name="Shape 48"/>
          <p:cNvSpPr/>
          <p:nvPr/>
        </p:nvSpPr>
        <p:spPr>
          <a:xfrm>
            <a:off x="1691640" y="2320290"/>
            <a:ext cx="1371600" cy="331470"/>
          </a:xfrm>
          <a:prstGeom prst="rect">
            <a:avLst/>
          </a:prstGeom>
          <a:solidFill>
            <a:srgbClr val="FFFFFF"/>
          </a:solidFill>
          <a:ln w="6350">
            <a:solidFill>
              <a:srgbClr val="FFFFFF"/>
            </a:solidFill>
            <a:prstDash val="solid"/>
          </a:ln>
        </p:spPr>
      </p:sp>
      <p:sp>
        <p:nvSpPr>
          <p:cNvPr id="51" name="Text 49"/>
          <p:cNvSpPr/>
          <p:nvPr/>
        </p:nvSpPr>
        <p:spPr>
          <a:xfrm>
            <a:off x="1719072" y="2356866"/>
            <a:ext cx="131673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0.915</a:t>
            </a:r>
            <a:endParaRPr lang="en-US" sz="950" dirty="0"/>
          </a:p>
        </p:txBody>
      </p:sp>
      <p:sp>
        <p:nvSpPr>
          <p:cNvPr id="52" name="Shape 50"/>
          <p:cNvSpPr/>
          <p:nvPr/>
        </p:nvSpPr>
        <p:spPr>
          <a:xfrm>
            <a:off x="3063240" y="2320290"/>
            <a:ext cx="1737360" cy="331470"/>
          </a:xfrm>
          <a:prstGeom prst="rect">
            <a:avLst/>
          </a:prstGeom>
          <a:solidFill>
            <a:srgbClr val="FFFFFF"/>
          </a:solidFill>
          <a:ln w="6350">
            <a:solidFill>
              <a:srgbClr val="FFFFFF"/>
            </a:solidFill>
            <a:prstDash val="solid"/>
          </a:ln>
        </p:spPr>
      </p:sp>
      <p:sp>
        <p:nvSpPr>
          <p:cNvPr id="53" name="Text 51"/>
          <p:cNvSpPr/>
          <p:nvPr/>
        </p:nvSpPr>
        <p:spPr>
          <a:xfrm>
            <a:off x="3090672" y="2356866"/>
            <a:ext cx="168249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0.986</a:t>
            </a:r>
            <a:endParaRPr lang="en-US" sz="950" dirty="0"/>
          </a:p>
        </p:txBody>
      </p:sp>
      <p:sp>
        <p:nvSpPr>
          <p:cNvPr id="54" name="Shape 52"/>
          <p:cNvSpPr/>
          <p:nvPr/>
        </p:nvSpPr>
        <p:spPr>
          <a:xfrm>
            <a:off x="4800600" y="2320290"/>
            <a:ext cx="1234440" cy="331470"/>
          </a:xfrm>
          <a:prstGeom prst="rect">
            <a:avLst/>
          </a:prstGeom>
          <a:solidFill>
            <a:srgbClr val="FFFFFF"/>
          </a:solidFill>
          <a:ln w="6350">
            <a:solidFill>
              <a:srgbClr val="FFFFFF"/>
            </a:solidFill>
            <a:prstDash val="solid"/>
          </a:ln>
        </p:spPr>
      </p:sp>
      <p:sp>
        <p:nvSpPr>
          <p:cNvPr id="55" name="Text 53"/>
          <p:cNvSpPr/>
          <p:nvPr/>
        </p:nvSpPr>
        <p:spPr>
          <a:xfrm>
            <a:off x="4828032" y="2356866"/>
            <a:ext cx="117957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0.014</a:t>
            </a:r>
            <a:endParaRPr lang="en-US" sz="950" dirty="0"/>
          </a:p>
        </p:txBody>
      </p:sp>
      <p:sp>
        <p:nvSpPr>
          <p:cNvPr id="56" name="Shape 54"/>
          <p:cNvSpPr/>
          <p:nvPr/>
        </p:nvSpPr>
        <p:spPr>
          <a:xfrm>
            <a:off x="6035040" y="2320290"/>
            <a:ext cx="1234440" cy="331470"/>
          </a:xfrm>
          <a:prstGeom prst="rect">
            <a:avLst/>
          </a:prstGeom>
          <a:solidFill>
            <a:srgbClr val="FFFFFF"/>
          </a:solidFill>
          <a:ln w="6350">
            <a:solidFill>
              <a:srgbClr val="FFFFFF"/>
            </a:solidFill>
            <a:prstDash val="solid"/>
          </a:ln>
        </p:spPr>
      </p:sp>
      <p:sp>
        <p:nvSpPr>
          <p:cNvPr id="57" name="Text 55"/>
          <p:cNvSpPr/>
          <p:nvPr/>
        </p:nvSpPr>
        <p:spPr>
          <a:xfrm>
            <a:off x="6062472" y="2356866"/>
            <a:ext cx="117957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0.156</a:t>
            </a:r>
            <a:endParaRPr lang="en-US" sz="950" dirty="0"/>
          </a:p>
        </p:txBody>
      </p:sp>
      <p:sp>
        <p:nvSpPr>
          <p:cNvPr id="58" name="Shape 56"/>
          <p:cNvSpPr/>
          <p:nvPr/>
        </p:nvSpPr>
        <p:spPr>
          <a:xfrm>
            <a:off x="7269480" y="2320290"/>
            <a:ext cx="1417320" cy="331470"/>
          </a:xfrm>
          <a:prstGeom prst="rect">
            <a:avLst/>
          </a:prstGeom>
          <a:solidFill>
            <a:srgbClr val="FFFFFF"/>
          </a:solidFill>
          <a:ln w="6350">
            <a:solidFill>
              <a:srgbClr val="FFFFFF"/>
            </a:solidFill>
            <a:prstDash val="solid"/>
          </a:ln>
        </p:spPr>
      </p:sp>
      <p:sp>
        <p:nvSpPr>
          <p:cNvPr id="59" name="Text 57"/>
          <p:cNvSpPr/>
          <p:nvPr/>
        </p:nvSpPr>
        <p:spPr>
          <a:xfrm>
            <a:off x="7296912" y="2356866"/>
            <a:ext cx="136245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0.522</a:t>
            </a:r>
            <a:endParaRPr lang="en-US" sz="950" dirty="0"/>
          </a:p>
        </p:txBody>
      </p:sp>
      <p:sp>
        <p:nvSpPr>
          <p:cNvPr id="60" name="Shape 58"/>
          <p:cNvSpPr/>
          <p:nvPr/>
        </p:nvSpPr>
        <p:spPr>
          <a:xfrm>
            <a:off x="8686800" y="2320290"/>
            <a:ext cx="2926080" cy="331470"/>
          </a:xfrm>
          <a:prstGeom prst="rect">
            <a:avLst/>
          </a:prstGeom>
          <a:solidFill>
            <a:srgbClr val="FFFFFF"/>
          </a:solidFill>
          <a:ln w="6350">
            <a:solidFill>
              <a:srgbClr val="FFFFFF"/>
            </a:solidFill>
            <a:prstDash val="solid"/>
          </a:ln>
        </p:spPr>
      </p:sp>
      <p:sp>
        <p:nvSpPr>
          <p:cNvPr id="61" name="Text 59"/>
          <p:cNvSpPr/>
          <p:nvPr/>
        </p:nvSpPr>
        <p:spPr>
          <a:xfrm>
            <a:off x="8714232" y="2356866"/>
            <a:ext cx="2871216" cy="258318"/>
          </a:xfrm>
          <a:prstGeom prst="rect">
            <a:avLst/>
          </a:prstGeom>
          <a:noFill/>
          <a:ln/>
        </p:spPr>
        <p:txBody>
          <a:bodyPr wrap="square" lIns="127" tIns="127" rIns="127" bIns="127" rtlCol="0" anchor="ctr">
            <a:normAutofit/>
          </a:bodyPr>
          <a:lstStyle/>
          <a:p>
            <a:pPr algn="ctr" indent="0" marL="0">
              <a:buNone/>
            </a:pPr>
            <a:r>
              <a:rPr lang="en-US" sz="950" dirty="0">
                <a:solidFill>
                  <a:srgbClr val="10203B"/>
                </a:solidFill>
              </a:rPr>
              <a:t>permissive</a:t>
            </a:r>
            <a:endParaRPr lang="en-US" sz="950" dirty="0"/>
          </a:p>
        </p:txBody>
      </p:sp>
      <p:sp>
        <p:nvSpPr>
          <p:cNvPr id="62" name="Shape 60"/>
          <p:cNvSpPr/>
          <p:nvPr/>
        </p:nvSpPr>
        <p:spPr>
          <a:xfrm>
            <a:off x="868680" y="3063240"/>
            <a:ext cx="3200400" cy="1965960"/>
          </a:xfrm>
          <a:prstGeom prst="roundRect">
            <a:avLst>
              <a:gd name="adj" fmla="val 4651"/>
            </a:avLst>
          </a:prstGeom>
          <a:solidFill>
            <a:srgbClr val="EEF5FF"/>
          </a:solidFill>
          <a:ln w="12700">
            <a:solidFill>
              <a:srgbClr val="B9CDE8"/>
            </a:solidFill>
            <a:prstDash val="solid"/>
          </a:ln>
        </p:spPr>
      </p:sp>
      <p:sp>
        <p:nvSpPr>
          <p:cNvPr id="63" name="Text 61"/>
          <p:cNvSpPr/>
          <p:nvPr/>
        </p:nvSpPr>
        <p:spPr>
          <a:xfrm>
            <a:off x="1097280" y="3291840"/>
            <a:ext cx="2468880" cy="228600"/>
          </a:xfrm>
          <a:prstGeom prst="rect">
            <a:avLst/>
          </a:prstGeom>
          <a:noFill/>
          <a:ln/>
        </p:spPr>
        <p:txBody>
          <a:bodyPr wrap="square" lIns="0" tIns="0" rIns="0" bIns="0" rtlCol="0" anchor="ctr"/>
          <a:lstStyle/>
          <a:p>
            <a:pPr algn="ctr" indent="0" marL="0">
              <a:buNone/>
            </a:pPr>
            <a:r>
              <a:rPr lang="en-US" sz="1500" b="1" dirty="0">
                <a:solidFill>
                  <a:srgbClr val="0B1F4D"/>
                </a:solidFill>
              </a:rPr>
              <a:t>D20 restrictive</a:t>
            </a:r>
            <a:endParaRPr lang="en-US" sz="1500" dirty="0"/>
          </a:p>
        </p:txBody>
      </p:sp>
      <p:sp>
        <p:nvSpPr>
          <p:cNvPr id="64" name="Text 62"/>
          <p:cNvSpPr/>
          <p:nvPr/>
        </p:nvSpPr>
        <p:spPr>
          <a:xfrm>
            <a:off x="1097280" y="3657600"/>
            <a:ext cx="2468880" cy="914400"/>
          </a:xfrm>
          <a:prstGeom prst="rect">
            <a:avLst/>
          </a:prstGeom>
          <a:noFill/>
          <a:ln/>
        </p:spPr>
        <p:txBody>
          <a:bodyPr wrap="square" lIns="0" tIns="0" rIns="0" bIns="0" rtlCol="0" anchor="ctr"/>
          <a:lstStyle/>
          <a:p>
            <a:pPr algn="ctr" indent="0" marL="0">
              <a:buNone/>
            </a:pPr>
            <a:r>
              <a:rPr lang="en-US" sz="1800" b="1" dirty="0">
                <a:solidFill>
                  <a:srgbClr val="10203B"/>
                </a:solidFill>
              </a:rPr>
              <a:t>Low OOD absorption</a:t>
            </a:r>
            <a:endParaRPr lang="en-US" sz="1800" dirty="0"/>
          </a:p>
          <a:p>
            <a:pPr algn="ctr" indent="0" marL="0">
              <a:buNone/>
            </a:pPr>
            <a:r>
              <a:rPr lang="en-US" sz="1800" b="1" dirty="0">
                <a:solidFill>
                  <a:srgbClr val="10203B"/>
                </a:solidFill>
              </a:rPr>
              <a:t>0.238</a:t>
            </a:r>
            <a:endParaRPr lang="en-US" sz="1800" dirty="0"/>
          </a:p>
          <a:p>
            <a:pPr algn="ctr" indent="0" marL="0">
              <a:buNone/>
            </a:pPr>
            <a:r>
              <a:rPr lang="en-US" sz="1800" b="1" dirty="0">
                <a:solidFill>
                  <a:srgbClr val="10203B"/>
                </a:solidFill>
              </a:rPr>
              <a:t>Higher FNR</a:t>
            </a:r>
            <a:endParaRPr lang="en-US" sz="1800" dirty="0"/>
          </a:p>
          <a:p>
            <a:pPr algn="ctr" indent="0" marL="0">
              <a:buNone/>
            </a:pPr>
            <a:r>
              <a:rPr lang="en-US" sz="1800" b="1" dirty="0">
                <a:solidFill>
                  <a:srgbClr val="10203B"/>
                </a:solidFill>
              </a:rPr>
              <a:t>0.120</a:t>
            </a:r>
            <a:endParaRPr lang="en-US" sz="1800" dirty="0"/>
          </a:p>
        </p:txBody>
      </p:sp>
      <p:sp>
        <p:nvSpPr>
          <p:cNvPr id="65" name="Shape 63"/>
          <p:cNvSpPr/>
          <p:nvPr/>
        </p:nvSpPr>
        <p:spPr>
          <a:xfrm>
            <a:off x="4480560" y="3063240"/>
            <a:ext cx="3200400" cy="1965960"/>
          </a:xfrm>
          <a:prstGeom prst="roundRect">
            <a:avLst>
              <a:gd name="adj" fmla="val 4651"/>
            </a:avLst>
          </a:prstGeom>
          <a:solidFill>
            <a:srgbClr val="EAF7F8"/>
          </a:solidFill>
          <a:ln w="12700">
            <a:solidFill>
              <a:srgbClr val="A7DADB"/>
            </a:solidFill>
            <a:prstDash val="solid"/>
          </a:ln>
        </p:spPr>
      </p:sp>
      <p:sp>
        <p:nvSpPr>
          <p:cNvPr id="66" name="Text 64"/>
          <p:cNvSpPr/>
          <p:nvPr/>
        </p:nvSpPr>
        <p:spPr>
          <a:xfrm>
            <a:off x="4709160" y="3291840"/>
            <a:ext cx="2468880" cy="228600"/>
          </a:xfrm>
          <a:prstGeom prst="rect">
            <a:avLst/>
          </a:prstGeom>
          <a:noFill/>
          <a:ln/>
        </p:spPr>
        <p:txBody>
          <a:bodyPr wrap="square" lIns="0" tIns="0" rIns="0" bIns="0" rtlCol="0" anchor="ctr"/>
          <a:lstStyle/>
          <a:p>
            <a:pPr algn="ctr" indent="0" marL="0">
              <a:buNone/>
            </a:pPr>
            <a:r>
              <a:rPr lang="en-US" sz="1500" b="1" dirty="0">
                <a:solidFill>
                  <a:srgbClr val="0A7C80"/>
                </a:solidFill>
              </a:rPr>
              <a:t>D50 intermediate</a:t>
            </a:r>
            <a:endParaRPr lang="en-US" sz="1500" dirty="0"/>
          </a:p>
        </p:txBody>
      </p:sp>
      <p:sp>
        <p:nvSpPr>
          <p:cNvPr id="67" name="Text 65"/>
          <p:cNvSpPr/>
          <p:nvPr/>
        </p:nvSpPr>
        <p:spPr>
          <a:xfrm>
            <a:off x="4709160" y="3657600"/>
            <a:ext cx="2468880" cy="914400"/>
          </a:xfrm>
          <a:prstGeom prst="rect">
            <a:avLst/>
          </a:prstGeom>
          <a:noFill/>
          <a:ln/>
        </p:spPr>
        <p:txBody>
          <a:bodyPr wrap="square" lIns="0" tIns="0" rIns="0" bIns="0" rtlCol="0" anchor="ctr"/>
          <a:lstStyle/>
          <a:p>
            <a:pPr algn="ctr" indent="0" marL="0">
              <a:buNone/>
            </a:pPr>
            <a:r>
              <a:rPr lang="en-US" sz="1600" b="1" dirty="0">
                <a:solidFill>
                  <a:srgbClr val="10203B"/>
                </a:solidFill>
              </a:rPr>
              <a:t>Best compromise</a:t>
            </a:r>
            <a:endParaRPr lang="en-US" sz="1600" dirty="0"/>
          </a:p>
          <a:p>
            <a:pPr algn="ctr" indent="0" marL="0">
              <a:buNone/>
            </a:pPr>
            <a:r>
              <a:rPr lang="en-US" sz="1600" b="1" dirty="0">
                <a:solidFill>
                  <a:srgbClr val="10203B"/>
                </a:solidFill>
              </a:rPr>
              <a:t>clean acc. 0.944</a:t>
            </a:r>
            <a:endParaRPr lang="en-US" sz="1600" dirty="0"/>
          </a:p>
          <a:p>
            <a:pPr algn="ctr" indent="0" marL="0">
              <a:buNone/>
            </a:pPr>
            <a:r>
              <a:rPr lang="en-US" sz="1600" b="1" dirty="0">
                <a:solidFill>
                  <a:srgbClr val="10203B"/>
                </a:solidFill>
              </a:rPr>
              <a:t>FNR 0.042</a:t>
            </a:r>
            <a:endParaRPr lang="en-US" sz="1600" dirty="0"/>
          </a:p>
          <a:p>
            <a:pPr algn="ctr" indent="0" marL="0">
              <a:buNone/>
            </a:pPr>
            <a:r>
              <a:rPr lang="en-US" sz="1600" b="1" dirty="0">
                <a:solidFill>
                  <a:srgbClr val="10203B"/>
                </a:solidFill>
              </a:rPr>
              <a:t>OOD 0.340</a:t>
            </a:r>
            <a:endParaRPr lang="en-US" sz="1600" dirty="0"/>
          </a:p>
        </p:txBody>
      </p:sp>
      <p:sp>
        <p:nvSpPr>
          <p:cNvPr id="68" name="Shape 66"/>
          <p:cNvSpPr/>
          <p:nvPr/>
        </p:nvSpPr>
        <p:spPr>
          <a:xfrm>
            <a:off x="8092440" y="3063240"/>
            <a:ext cx="3200400" cy="1965960"/>
          </a:xfrm>
          <a:prstGeom prst="roundRect">
            <a:avLst>
              <a:gd name="adj" fmla="val 4651"/>
            </a:avLst>
          </a:prstGeom>
          <a:solidFill>
            <a:srgbClr val="FFF2EA"/>
          </a:solidFill>
          <a:ln w="12700">
            <a:solidFill>
              <a:srgbClr val="F0B083"/>
            </a:solidFill>
            <a:prstDash val="solid"/>
          </a:ln>
        </p:spPr>
      </p:sp>
      <p:sp>
        <p:nvSpPr>
          <p:cNvPr id="69" name="Text 67"/>
          <p:cNvSpPr/>
          <p:nvPr/>
        </p:nvSpPr>
        <p:spPr>
          <a:xfrm>
            <a:off x="8321040" y="3291840"/>
            <a:ext cx="2468880" cy="228600"/>
          </a:xfrm>
          <a:prstGeom prst="rect">
            <a:avLst/>
          </a:prstGeom>
          <a:noFill/>
          <a:ln/>
        </p:spPr>
        <p:txBody>
          <a:bodyPr wrap="square" lIns="0" tIns="0" rIns="0" bIns="0" rtlCol="0" anchor="ctr"/>
          <a:lstStyle/>
          <a:p>
            <a:pPr algn="ctr" indent="0" marL="0">
              <a:buNone/>
            </a:pPr>
            <a:r>
              <a:rPr lang="en-US" sz="1500" b="1" dirty="0">
                <a:solidFill>
                  <a:srgbClr val="E76F28"/>
                </a:solidFill>
              </a:rPr>
              <a:t>D80 permissive</a:t>
            </a:r>
            <a:endParaRPr lang="en-US" sz="1500" dirty="0"/>
          </a:p>
        </p:txBody>
      </p:sp>
      <p:sp>
        <p:nvSpPr>
          <p:cNvPr id="70" name="Text 68"/>
          <p:cNvSpPr/>
          <p:nvPr/>
        </p:nvSpPr>
        <p:spPr>
          <a:xfrm>
            <a:off x="8321040" y="3657600"/>
            <a:ext cx="2468880" cy="914400"/>
          </a:xfrm>
          <a:prstGeom prst="rect">
            <a:avLst/>
          </a:prstGeom>
          <a:noFill/>
          <a:ln/>
        </p:spPr>
        <p:txBody>
          <a:bodyPr wrap="square" lIns="0" tIns="0" rIns="0" bIns="0" rtlCol="0" anchor="ctr"/>
          <a:lstStyle/>
          <a:p>
            <a:pPr algn="ctr" indent="0" marL="0">
              <a:buNone/>
            </a:pPr>
            <a:r>
              <a:rPr lang="en-US" sz="1600" b="1" dirty="0">
                <a:solidFill>
                  <a:srgbClr val="10203B"/>
                </a:solidFill>
              </a:rPr>
              <a:t>High recall</a:t>
            </a:r>
            <a:endParaRPr lang="en-US" sz="1600" dirty="0"/>
          </a:p>
          <a:p>
            <a:pPr algn="ctr" indent="0" marL="0">
              <a:buNone/>
            </a:pPr>
            <a:r>
              <a:rPr lang="en-US" sz="1600" b="1" dirty="0">
                <a:solidFill>
                  <a:srgbClr val="10203B"/>
                </a:solidFill>
              </a:rPr>
              <a:t>0.986</a:t>
            </a:r>
            <a:endParaRPr lang="en-US" sz="1600" dirty="0"/>
          </a:p>
          <a:p>
            <a:pPr algn="ctr" indent="0" marL="0">
              <a:buNone/>
            </a:pPr>
            <a:r>
              <a:rPr lang="en-US" sz="1600" b="1" dirty="0">
                <a:solidFill>
                  <a:srgbClr val="10203B"/>
                </a:solidFill>
              </a:rPr>
              <a:t>But FPR 0.156</a:t>
            </a:r>
            <a:endParaRPr lang="en-US" sz="1600" dirty="0"/>
          </a:p>
          <a:p>
            <a:pPr algn="ctr" indent="0" marL="0">
              <a:buNone/>
            </a:pPr>
            <a:r>
              <a:rPr lang="en-US" sz="1600" b="1" dirty="0">
                <a:solidFill>
                  <a:srgbClr val="10203B"/>
                </a:solidFill>
              </a:rPr>
              <a:t>OOD 0.522</a:t>
            </a:r>
            <a:endParaRPr lang="en-US" sz="1600" dirty="0"/>
          </a:p>
        </p:txBody>
      </p:sp>
      <p:sp>
        <p:nvSpPr>
          <p:cNvPr id="71" name="Shape 69"/>
          <p:cNvSpPr/>
          <p:nvPr/>
        </p:nvSpPr>
        <p:spPr>
          <a:xfrm>
            <a:off x="1920240" y="5623560"/>
            <a:ext cx="8321040" cy="502920"/>
          </a:xfrm>
          <a:prstGeom prst="roundRect">
            <a:avLst>
              <a:gd name="adj" fmla="val 18182"/>
            </a:avLst>
          </a:prstGeom>
          <a:solidFill>
            <a:srgbClr val="FFFFFF"/>
          </a:solidFill>
          <a:ln w="16510">
            <a:solidFill>
              <a:srgbClr val="0B1F4D"/>
            </a:solidFill>
            <a:prstDash val="solid"/>
          </a:ln>
        </p:spPr>
      </p:sp>
      <p:sp>
        <p:nvSpPr>
          <p:cNvPr id="72" name="Text 70"/>
          <p:cNvSpPr/>
          <p:nvPr/>
        </p:nvSpPr>
        <p:spPr>
          <a:xfrm>
            <a:off x="2084832" y="5733288"/>
            <a:ext cx="7991856" cy="283464"/>
          </a:xfrm>
          <a:prstGeom prst="rect">
            <a:avLst/>
          </a:prstGeom>
          <a:noFill/>
          <a:ln/>
        </p:spPr>
        <p:txBody>
          <a:bodyPr wrap="square" lIns="254" tIns="254" rIns="254" bIns="254" rtlCol="0" anchor="ctr">
            <a:normAutofit/>
          </a:bodyPr>
          <a:lstStyle/>
          <a:p>
            <a:pPr algn="ctr" indent="0" marL="0">
              <a:buNone/>
            </a:pPr>
            <a:r>
              <a:rPr lang="en-US" sz="1200" b="1" dirty="0">
                <a:solidFill>
                  <a:srgbClr val="0B1F4D"/>
                </a:solidFill>
              </a:rPr>
              <a:t>D50 is used as the representative compromise configuration in the comparative slides.</a:t>
            </a:r>
            <a:endParaRPr lang="en-US" sz="1200" dirty="0"/>
          </a:p>
        </p:txBody>
      </p:sp>
      <p:sp>
        <p:nvSpPr>
          <p:cNvPr id="73" name="Shape 71"/>
          <p:cNvSpPr/>
          <p:nvPr/>
        </p:nvSpPr>
        <p:spPr>
          <a:xfrm>
            <a:off x="411480" y="6510528"/>
            <a:ext cx="11365992" cy="0"/>
          </a:xfrm>
          <a:prstGeom prst="line">
            <a:avLst/>
          </a:prstGeom>
          <a:noFill/>
          <a:ln w="8890">
            <a:solidFill>
              <a:srgbClr val="D8E1E8"/>
            </a:solidFill>
            <a:prstDash val="solid"/>
          </a:ln>
        </p:spPr>
      </p:sp>
      <p:sp>
        <p:nvSpPr>
          <p:cNvPr id="74" name="Text 72"/>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75" name="Text 73"/>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COMPARATIVE RESULTS</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Clean Performance vs. OOD Handling</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Clean accuracy alone is not sufficient for triage reliability</a:t>
            </a:r>
            <a:endParaRPr lang="en-US" sz="1100" dirty="0"/>
          </a:p>
        </p:txBody>
      </p:sp>
      <p:sp>
        <p:nvSpPr>
          <p:cNvPr id="6" name="Shape 4"/>
          <p:cNvSpPr/>
          <p:nvPr/>
        </p:nvSpPr>
        <p:spPr>
          <a:xfrm>
            <a:off x="502920" y="1325880"/>
            <a:ext cx="1920240" cy="457200"/>
          </a:xfrm>
          <a:prstGeom prst="rect">
            <a:avLst/>
          </a:prstGeom>
          <a:solidFill>
            <a:srgbClr val="0B1F4D"/>
          </a:solidFill>
          <a:ln w="12700">
            <a:solidFill>
              <a:srgbClr val="FFFFFF">
                <a:alpha val="0"/>
              </a:srgbClr>
            </a:solidFill>
            <a:prstDash val="solid"/>
          </a:ln>
        </p:spPr>
      </p:sp>
      <p:sp>
        <p:nvSpPr>
          <p:cNvPr id="7" name="Text 5"/>
          <p:cNvSpPr/>
          <p:nvPr/>
        </p:nvSpPr>
        <p:spPr>
          <a:xfrm>
            <a:off x="530352" y="1371600"/>
            <a:ext cx="1865376" cy="384048"/>
          </a:xfrm>
          <a:prstGeom prst="rect">
            <a:avLst/>
          </a:prstGeom>
          <a:noFill/>
          <a:ln/>
        </p:spPr>
        <p:txBody>
          <a:bodyPr wrap="square" lIns="127" tIns="127" rIns="127" bIns="127" rtlCol="0" anchor="ctr">
            <a:normAutofit/>
          </a:bodyPr>
          <a:lstStyle/>
          <a:p>
            <a:pPr algn="ctr" indent="0" marL="0">
              <a:buNone/>
            </a:pPr>
            <a:r>
              <a:rPr lang="en-US" sz="800" b="1" dirty="0">
                <a:solidFill>
                  <a:srgbClr val="FFFFFF"/>
                </a:solidFill>
              </a:rPr>
              <a:t>System</a:t>
            </a:r>
            <a:endParaRPr lang="en-US" sz="800" dirty="0"/>
          </a:p>
        </p:txBody>
      </p:sp>
      <p:sp>
        <p:nvSpPr>
          <p:cNvPr id="8" name="Shape 6"/>
          <p:cNvSpPr/>
          <p:nvPr/>
        </p:nvSpPr>
        <p:spPr>
          <a:xfrm>
            <a:off x="2423160" y="1325880"/>
            <a:ext cx="1097280" cy="457200"/>
          </a:xfrm>
          <a:prstGeom prst="rect">
            <a:avLst/>
          </a:prstGeom>
          <a:solidFill>
            <a:srgbClr val="0B1F4D"/>
          </a:solidFill>
          <a:ln w="12700">
            <a:solidFill>
              <a:srgbClr val="FFFFFF">
                <a:alpha val="0"/>
              </a:srgbClr>
            </a:solidFill>
            <a:prstDash val="solid"/>
          </a:ln>
        </p:spPr>
      </p:sp>
      <p:sp>
        <p:nvSpPr>
          <p:cNvPr id="9" name="Text 7"/>
          <p:cNvSpPr/>
          <p:nvPr/>
        </p:nvSpPr>
        <p:spPr>
          <a:xfrm>
            <a:off x="2450592" y="1371600"/>
            <a:ext cx="1042416" cy="384048"/>
          </a:xfrm>
          <a:prstGeom prst="rect">
            <a:avLst/>
          </a:prstGeom>
          <a:noFill/>
          <a:ln/>
        </p:spPr>
        <p:txBody>
          <a:bodyPr wrap="square" lIns="127" tIns="127" rIns="127" bIns="127" rtlCol="0" anchor="ctr">
            <a:normAutofit/>
          </a:bodyPr>
          <a:lstStyle/>
          <a:p>
            <a:pPr algn="ctr" indent="0" marL="0">
              <a:buNone/>
            </a:pPr>
            <a:r>
              <a:rPr lang="en-US" sz="800" b="1" dirty="0">
                <a:solidFill>
                  <a:srgbClr val="FFFFFF"/>
                </a:solidFill>
              </a:rPr>
              <a:t>Type</a:t>
            </a:r>
            <a:endParaRPr lang="en-US" sz="800" dirty="0"/>
          </a:p>
        </p:txBody>
      </p:sp>
      <p:sp>
        <p:nvSpPr>
          <p:cNvPr id="10" name="Shape 8"/>
          <p:cNvSpPr/>
          <p:nvPr/>
        </p:nvSpPr>
        <p:spPr>
          <a:xfrm>
            <a:off x="3520440" y="1325880"/>
            <a:ext cx="960120" cy="457200"/>
          </a:xfrm>
          <a:prstGeom prst="rect">
            <a:avLst/>
          </a:prstGeom>
          <a:solidFill>
            <a:srgbClr val="0B1F4D"/>
          </a:solidFill>
          <a:ln w="12700">
            <a:solidFill>
              <a:srgbClr val="FFFFFF">
                <a:alpha val="0"/>
              </a:srgbClr>
            </a:solidFill>
            <a:prstDash val="solid"/>
          </a:ln>
        </p:spPr>
      </p:sp>
      <p:sp>
        <p:nvSpPr>
          <p:cNvPr id="11" name="Text 9"/>
          <p:cNvSpPr/>
          <p:nvPr/>
        </p:nvSpPr>
        <p:spPr>
          <a:xfrm>
            <a:off x="3547872" y="1371600"/>
            <a:ext cx="905256" cy="384048"/>
          </a:xfrm>
          <a:prstGeom prst="rect">
            <a:avLst/>
          </a:prstGeom>
          <a:noFill/>
          <a:ln/>
        </p:spPr>
        <p:txBody>
          <a:bodyPr wrap="square" lIns="127" tIns="127" rIns="127" bIns="127" rtlCol="0" anchor="ctr">
            <a:normAutofit/>
          </a:bodyPr>
          <a:lstStyle/>
          <a:p>
            <a:pPr algn="ctr" indent="0" marL="0">
              <a:buNone/>
            </a:pPr>
            <a:r>
              <a:rPr lang="en-US" sz="800" b="1" dirty="0">
                <a:solidFill>
                  <a:srgbClr val="FFFFFF"/>
                </a:solidFill>
              </a:rPr>
              <a:t>Clean acc.</a:t>
            </a:r>
            <a:endParaRPr lang="en-US" sz="800" dirty="0"/>
          </a:p>
        </p:txBody>
      </p:sp>
      <p:sp>
        <p:nvSpPr>
          <p:cNvPr id="12" name="Shape 10"/>
          <p:cNvSpPr/>
          <p:nvPr/>
        </p:nvSpPr>
        <p:spPr>
          <a:xfrm>
            <a:off x="4480560" y="1325880"/>
            <a:ext cx="960120" cy="457200"/>
          </a:xfrm>
          <a:prstGeom prst="rect">
            <a:avLst/>
          </a:prstGeom>
          <a:solidFill>
            <a:srgbClr val="0B1F4D"/>
          </a:solidFill>
          <a:ln w="12700">
            <a:solidFill>
              <a:srgbClr val="FFFFFF">
                <a:alpha val="0"/>
              </a:srgbClr>
            </a:solidFill>
            <a:prstDash val="solid"/>
          </a:ln>
        </p:spPr>
      </p:sp>
      <p:sp>
        <p:nvSpPr>
          <p:cNvPr id="13" name="Text 11"/>
          <p:cNvSpPr/>
          <p:nvPr/>
        </p:nvSpPr>
        <p:spPr>
          <a:xfrm>
            <a:off x="4507992" y="1371600"/>
            <a:ext cx="905256" cy="384048"/>
          </a:xfrm>
          <a:prstGeom prst="rect">
            <a:avLst/>
          </a:prstGeom>
          <a:noFill/>
          <a:ln/>
        </p:spPr>
        <p:txBody>
          <a:bodyPr wrap="square" lIns="127" tIns="127" rIns="127" bIns="127" rtlCol="0" anchor="ctr">
            <a:normAutofit/>
          </a:bodyPr>
          <a:lstStyle/>
          <a:p>
            <a:pPr algn="ctr" indent="0" marL="0">
              <a:buNone/>
            </a:pPr>
            <a:r>
              <a:rPr lang="en-US" sz="800" b="1" dirty="0">
                <a:solidFill>
                  <a:srgbClr val="FFFFFF"/>
                </a:solidFill>
              </a:rPr>
              <a:t>Clean FNR</a:t>
            </a:r>
            <a:endParaRPr lang="en-US" sz="800" dirty="0"/>
          </a:p>
        </p:txBody>
      </p:sp>
      <p:sp>
        <p:nvSpPr>
          <p:cNvPr id="14" name="Shape 12"/>
          <p:cNvSpPr/>
          <p:nvPr/>
        </p:nvSpPr>
        <p:spPr>
          <a:xfrm>
            <a:off x="5440680" y="1325880"/>
            <a:ext cx="914400" cy="457200"/>
          </a:xfrm>
          <a:prstGeom prst="rect">
            <a:avLst/>
          </a:prstGeom>
          <a:solidFill>
            <a:srgbClr val="0B1F4D"/>
          </a:solidFill>
          <a:ln w="12700">
            <a:solidFill>
              <a:srgbClr val="FFFFFF">
                <a:alpha val="0"/>
              </a:srgbClr>
            </a:solidFill>
            <a:prstDash val="solid"/>
          </a:ln>
        </p:spPr>
      </p:sp>
      <p:sp>
        <p:nvSpPr>
          <p:cNvPr id="15" name="Text 13"/>
          <p:cNvSpPr/>
          <p:nvPr/>
        </p:nvSpPr>
        <p:spPr>
          <a:xfrm>
            <a:off x="5468112" y="1371600"/>
            <a:ext cx="859536" cy="384048"/>
          </a:xfrm>
          <a:prstGeom prst="rect">
            <a:avLst/>
          </a:prstGeom>
          <a:noFill/>
          <a:ln/>
        </p:spPr>
        <p:txBody>
          <a:bodyPr wrap="square" lIns="127" tIns="127" rIns="127" bIns="127" rtlCol="0" anchor="ctr">
            <a:normAutofit/>
          </a:bodyPr>
          <a:lstStyle/>
          <a:p>
            <a:pPr algn="ctr" indent="0" marL="0">
              <a:buNone/>
            </a:pPr>
            <a:r>
              <a:rPr lang="en-US" sz="800" b="1" dirty="0">
                <a:solidFill>
                  <a:srgbClr val="FFFFFF"/>
                </a:solidFill>
              </a:rPr>
              <a:t>OOD W-rate</a:t>
            </a:r>
            <a:endParaRPr lang="en-US" sz="800" dirty="0"/>
          </a:p>
        </p:txBody>
      </p:sp>
      <p:sp>
        <p:nvSpPr>
          <p:cNvPr id="16" name="Shape 14"/>
          <p:cNvSpPr/>
          <p:nvPr/>
        </p:nvSpPr>
        <p:spPr>
          <a:xfrm>
            <a:off x="502920" y="1783080"/>
            <a:ext cx="1920240" cy="457200"/>
          </a:xfrm>
          <a:prstGeom prst="rect">
            <a:avLst/>
          </a:prstGeom>
          <a:solidFill>
            <a:srgbClr val="FFFFFF"/>
          </a:solidFill>
          <a:ln w="6350">
            <a:solidFill>
              <a:srgbClr val="FFFFFF"/>
            </a:solidFill>
            <a:prstDash val="solid"/>
          </a:ln>
        </p:spPr>
      </p:sp>
      <p:sp>
        <p:nvSpPr>
          <p:cNvPr id="17" name="Text 15"/>
          <p:cNvSpPr/>
          <p:nvPr/>
        </p:nvSpPr>
        <p:spPr>
          <a:xfrm>
            <a:off x="530352" y="1819656"/>
            <a:ext cx="1865376" cy="384048"/>
          </a:xfrm>
          <a:prstGeom prst="rect">
            <a:avLst/>
          </a:prstGeom>
          <a:noFill/>
          <a:ln/>
        </p:spPr>
        <p:txBody>
          <a:bodyPr wrap="square" lIns="127" tIns="127" rIns="127" bIns="127" rtlCol="0" anchor="ctr">
            <a:normAutofit/>
          </a:bodyPr>
          <a:lstStyle/>
          <a:p>
            <a:pPr algn="l" indent="0" marL="0">
              <a:buNone/>
            </a:pPr>
            <a:r>
              <a:rPr lang="en-US" sz="880" dirty="0">
                <a:solidFill>
                  <a:srgbClr val="10203B"/>
                </a:solidFill>
              </a:rPr>
              <a:t>EfficientNet-B0</a:t>
            </a:r>
            <a:endParaRPr lang="en-US" sz="880" dirty="0"/>
          </a:p>
        </p:txBody>
      </p:sp>
      <p:sp>
        <p:nvSpPr>
          <p:cNvPr id="18" name="Shape 16"/>
          <p:cNvSpPr/>
          <p:nvPr/>
        </p:nvSpPr>
        <p:spPr>
          <a:xfrm>
            <a:off x="2423160" y="1783080"/>
            <a:ext cx="1097280" cy="457200"/>
          </a:xfrm>
          <a:prstGeom prst="rect">
            <a:avLst/>
          </a:prstGeom>
          <a:solidFill>
            <a:srgbClr val="FFFFFF"/>
          </a:solidFill>
          <a:ln w="6350">
            <a:solidFill>
              <a:srgbClr val="FFFFFF"/>
            </a:solidFill>
            <a:prstDash val="solid"/>
          </a:ln>
        </p:spPr>
      </p:sp>
      <p:sp>
        <p:nvSpPr>
          <p:cNvPr id="19" name="Text 17"/>
          <p:cNvSpPr/>
          <p:nvPr/>
        </p:nvSpPr>
        <p:spPr>
          <a:xfrm>
            <a:off x="2450592" y="1819656"/>
            <a:ext cx="104241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Proxy</a:t>
            </a:r>
            <a:endParaRPr lang="en-US" sz="880" dirty="0"/>
          </a:p>
        </p:txBody>
      </p:sp>
      <p:sp>
        <p:nvSpPr>
          <p:cNvPr id="20" name="Shape 18"/>
          <p:cNvSpPr/>
          <p:nvPr/>
        </p:nvSpPr>
        <p:spPr>
          <a:xfrm>
            <a:off x="3520440" y="1783080"/>
            <a:ext cx="960120" cy="457200"/>
          </a:xfrm>
          <a:prstGeom prst="rect">
            <a:avLst/>
          </a:prstGeom>
          <a:solidFill>
            <a:srgbClr val="FFFFFF"/>
          </a:solidFill>
          <a:ln w="6350">
            <a:solidFill>
              <a:srgbClr val="FFFFFF"/>
            </a:solidFill>
            <a:prstDash val="solid"/>
          </a:ln>
        </p:spPr>
      </p:sp>
      <p:sp>
        <p:nvSpPr>
          <p:cNvPr id="21" name="Text 19"/>
          <p:cNvSpPr/>
          <p:nvPr/>
        </p:nvSpPr>
        <p:spPr>
          <a:xfrm>
            <a:off x="3547872" y="18196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0.978</a:t>
            </a:r>
            <a:endParaRPr lang="en-US" sz="880" dirty="0"/>
          </a:p>
        </p:txBody>
      </p:sp>
      <p:sp>
        <p:nvSpPr>
          <p:cNvPr id="22" name="Shape 20"/>
          <p:cNvSpPr/>
          <p:nvPr/>
        </p:nvSpPr>
        <p:spPr>
          <a:xfrm>
            <a:off x="4480560" y="1783080"/>
            <a:ext cx="960120" cy="457200"/>
          </a:xfrm>
          <a:prstGeom prst="rect">
            <a:avLst/>
          </a:prstGeom>
          <a:solidFill>
            <a:srgbClr val="FFFFFF"/>
          </a:solidFill>
          <a:ln w="6350">
            <a:solidFill>
              <a:srgbClr val="FFFFFF"/>
            </a:solidFill>
            <a:prstDash val="solid"/>
          </a:ln>
        </p:spPr>
      </p:sp>
      <p:sp>
        <p:nvSpPr>
          <p:cNvPr id="23" name="Text 21"/>
          <p:cNvSpPr/>
          <p:nvPr/>
        </p:nvSpPr>
        <p:spPr>
          <a:xfrm>
            <a:off x="4507992" y="18196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0.016</a:t>
            </a:r>
            <a:endParaRPr lang="en-US" sz="880" dirty="0"/>
          </a:p>
        </p:txBody>
      </p:sp>
      <p:sp>
        <p:nvSpPr>
          <p:cNvPr id="24" name="Shape 22"/>
          <p:cNvSpPr/>
          <p:nvPr/>
        </p:nvSpPr>
        <p:spPr>
          <a:xfrm>
            <a:off x="5440680" y="1783080"/>
            <a:ext cx="914400" cy="457200"/>
          </a:xfrm>
          <a:prstGeom prst="rect">
            <a:avLst/>
          </a:prstGeom>
          <a:solidFill>
            <a:srgbClr val="FFFFFF"/>
          </a:solidFill>
          <a:ln w="6350">
            <a:solidFill>
              <a:srgbClr val="FFFFFF"/>
            </a:solidFill>
            <a:prstDash val="solid"/>
          </a:ln>
        </p:spPr>
      </p:sp>
      <p:sp>
        <p:nvSpPr>
          <p:cNvPr id="25" name="Text 23"/>
          <p:cNvSpPr/>
          <p:nvPr/>
        </p:nvSpPr>
        <p:spPr>
          <a:xfrm>
            <a:off x="5468112" y="1819656"/>
            <a:ext cx="85953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0.370</a:t>
            </a:r>
            <a:endParaRPr lang="en-US" sz="880" dirty="0"/>
          </a:p>
        </p:txBody>
      </p:sp>
      <p:sp>
        <p:nvSpPr>
          <p:cNvPr id="26" name="Shape 24"/>
          <p:cNvSpPr/>
          <p:nvPr/>
        </p:nvSpPr>
        <p:spPr>
          <a:xfrm>
            <a:off x="502920" y="2240280"/>
            <a:ext cx="1920240" cy="457200"/>
          </a:xfrm>
          <a:prstGeom prst="rect">
            <a:avLst/>
          </a:prstGeom>
          <a:solidFill>
            <a:srgbClr val="F3F7FA"/>
          </a:solidFill>
          <a:ln w="6350">
            <a:solidFill>
              <a:srgbClr val="FFFFFF"/>
            </a:solidFill>
            <a:prstDash val="solid"/>
          </a:ln>
        </p:spPr>
      </p:sp>
      <p:sp>
        <p:nvSpPr>
          <p:cNvPr id="27" name="Text 25"/>
          <p:cNvSpPr/>
          <p:nvPr/>
        </p:nvSpPr>
        <p:spPr>
          <a:xfrm>
            <a:off x="530352" y="2276856"/>
            <a:ext cx="1865376" cy="384048"/>
          </a:xfrm>
          <a:prstGeom prst="rect">
            <a:avLst/>
          </a:prstGeom>
          <a:noFill/>
          <a:ln/>
        </p:spPr>
        <p:txBody>
          <a:bodyPr wrap="square" lIns="127" tIns="127" rIns="127" bIns="127" rtlCol="0" anchor="ctr">
            <a:normAutofit/>
          </a:bodyPr>
          <a:lstStyle/>
          <a:p>
            <a:pPr algn="l" indent="0" marL="0">
              <a:buNone/>
            </a:pPr>
            <a:r>
              <a:rPr lang="en-US" sz="880" dirty="0">
                <a:solidFill>
                  <a:srgbClr val="10203B"/>
                </a:solidFill>
              </a:rPr>
              <a:t>ResNet18</a:t>
            </a:r>
            <a:endParaRPr lang="en-US" sz="880" dirty="0"/>
          </a:p>
        </p:txBody>
      </p:sp>
      <p:sp>
        <p:nvSpPr>
          <p:cNvPr id="28" name="Shape 26"/>
          <p:cNvSpPr/>
          <p:nvPr/>
        </p:nvSpPr>
        <p:spPr>
          <a:xfrm>
            <a:off x="2423160" y="2240280"/>
            <a:ext cx="1097280" cy="457200"/>
          </a:xfrm>
          <a:prstGeom prst="rect">
            <a:avLst/>
          </a:prstGeom>
          <a:solidFill>
            <a:srgbClr val="F3F7FA"/>
          </a:solidFill>
          <a:ln w="6350">
            <a:solidFill>
              <a:srgbClr val="FFFFFF"/>
            </a:solidFill>
            <a:prstDash val="solid"/>
          </a:ln>
        </p:spPr>
      </p:sp>
      <p:sp>
        <p:nvSpPr>
          <p:cNvPr id="29" name="Text 27"/>
          <p:cNvSpPr/>
          <p:nvPr/>
        </p:nvSpPr>
        <p:spPr>
          <a:xfrm>
            <a:off x="2450592" y="2276856"/>
            <a:ext cx="104241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Proxy</a:t>
            </a:r>
            <a:endParaRPr lang="en-US" sz="880" dirty="0"/>
          </a:p>
        </p:txBody>
      </p:sp>
      <p:sp>
        <p:nvSpPr>
          <p:cNvPr id="30" name="Shape 28"/>
          <p:cNvSpPr/>
          <p:nvPr/>
        </p:nvSpPr>
        <p:spPr>
          <a:xfrm>
            <a:off x="3520440" y="2240280"/>
            <a:ext cx="960120" cy="457200"/>
          </a:xfrm>
          <a:prstGeom prst="rect">
            <a:avLst/>
          </a:prstGeom>
          <a:solidFill>
            <a:srgbClr val="F3F7FA"/>
          </a:solidFill>
          <a:ln w="6350">
            <a:solidFill>
              <a:srgbClr val="FFFFFF"/>
            </a:solidFill>
            <a:prstDash val="solid"/>
          </a:ln>
        </p:spPr>
      </p:sp>
      <p:sp>
        <p:nvSpPr>
          <p:cNvPr id="31" name="Text 29"/>
          <p:cNvSpPr/>
          <p:nvPr/>
        </p:nvSpPr>
        <p:spPr>
          <a:xfrm>
            <a:off x="3547872" y="22768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0.964</a:t>
            </a:r>
            <a:endParaRPr lang="en-US" sz="880" dirty="0"/>
          </a:p>
        </p:txBody>
      </p:sp>
      <p:sp>
        <p:nvSpPr>
          <p:cNvPr id="32" name="Shape 30"/>
          <p:cNvSpPr/>
          <p:nvPr/>
        </p:nvSpPr>
        <p:spPr>
          <a:xfrm>
            <a:off x="4480560" y="2240280"/>
            <a:ext cx="960120" cy="457200"/>
          </a:xfrm>
          <a:prstGeom prst="rect">
            <a:avLst/>
          </a:prstGeom>
          <a:solidFill>
            <a:srgbClr val="F3F7FA"/>
          </a:solidFill>
          <a:ln w="6350">
            <a:solidFill>
              <a:srgbClr val="FFFFFF"/>
            </a:solidFill>
            <a:prstDash val="solid"/>
          </a:ln>
        </p:spPr>
      </p:sp>
      <p:sp>
        <p:nvSpPr>
          <p:cNvPr id="33" name="Text 31"/>
          <p:cNvSpPr/>
          <p:nvPr/>
        </p:nvSpPr>
        <p:spPr>
          <a:xfrm>
            <a:off x="4507992" y="22768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0.030</a:t>
            </a:r>
            <a:endParaRPr lang="en-US" sz="880" dirty="0"/>
          </a:p>
        </p:txBody>
      </p:sp>
      <p:sp>
        <p:nvSpPr>
          <p:cNvPr id="34" name="Shape 32"/>
          <p:cNvSpPr/>
          <p:nvPr/>
        </p:nvSpPr>
        <p:spPr>
          <a:xfrm>
            <a:off x="5440680" y="2240280"/>
            <a:ext cx="914400" cy="457200"/>
          </a:xfrm>
          <a:prstGeom prst="rect">
            <a:avLst/>
          </a:prstGeom>
          <a:solidFill>
            <a:srgbClr val="F3F7FA"/>
          </a:solidFill>
          <a:ln w="6350">
            <a:solidFill>
              <a:srgbClr val="FFFFFF"/>
            </a:solidFill>
            <a:prstDash val="solid"/>
          </a:ln>
        </p:spPr>
      </p:sp>
      <p:sp>
        <p:nvSpPr>
          <p:cNvPr id="35" name="Text 33"/>
          <p:cNvSpPr/>
          <p:nvPr/>
        </p:nvSpPr>
        <p:spPr>
          <a:xfrm>
            <a:off x="5468112" y="2276856"/>
            <a:ext cx="85953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0.438</a:t>
            </a:r>
            <a:endParaRPr lang="en-US" sz="880" dirty="0"/>
          </a:p>
        </p:txBody>
      </p:sp>
      <p:sp>
        <p:nvSpPr>
          <p:cNvPr id="36" name="Shape 34"/>
          <p:cNvSpPr/>
          <p:nvPr/>
        </p:nvSpPr>
        <p:spPr>
          <a:xfrm>
            <a:off x="502920" y="2697480"/>
            <a:ext cx="1920240" cy="457200"/>
          </a:xfrm>
          <a:prstGeom prst="rect">
            <a:avLst/>
          </a:prstGeom>
          <a:solidFill>
            <a:srgbClr val="FFFFFF"/>
          </a:solidFill>
          <a:ln w="6350">
            <a:solidFill>
              <a:srgbClr val="FFFFFF"/>
            </a:solidFill>
            <a:prstDash val="solid"/>
          </a:ln>
        </p:spPr>
      </p:sp>
      <p:sp>
        <p:nvSpPr>
          <p:cNvPr id="37" name="Text 35"/>
          <p:cNvSpPr/>
          <p:nvPr/>
        </p:nvSpPr>
        <p:spPr>
          <a:xfrm>
            <a:off x="530352" y="2734056"/>
            <a:ext cx="1865376" cy="384048"/>
          </a:xfrm>
          <a:prstGeom prst="rect">
            <a:avLst/>
          </a:prstGeom>
          <a:noFill/>
          <a:ln/>
        </p:spPr>
        <p:txBody>
          <a:bodyPr wrap="square" lIns="127" tIns="127" rIns="127" bIns="127" rtlCol="0" anchor="ctr">
            <a:normAutofit/>
          </a:bodyPr>
          <a:lstStyle/>
          <a:p>
            <a:pPr algn="l" indent="0" marL="0">
              <a:buNone/>
            </a:pPr>
            <a:r>
              <a:rPr lang="en-US" sz="880" dirty="0">
                <a:solidFill>
                  <a:srgbClr val="10203B"/>
                </a:solidFill>
              </a:rPr>
              <a:t>CLIP</a:t>
            </a:r>
            <a:endParaRPr lang="en-US" sz="880" dirty="0"/>
          </a:p>
        </p:txBody>
      </p:sp>
      <p:sp>
        <p:nvSpPr>
          <p:cNvPr id="38" name="Shape 36"/>
          <p:cNvSpPr/>
          <p:nvPr/>
        </p:nvSpPr>
        <p:spPr>
          <a:xfrm>
            <a:off x="2423160" y="2697480"/>
            <a:ext cx="1097280" cy="457200"/>
          </a:xfrm>
          <a:prstGeom prst="rect">
            <a:avLst/>
          </a:prstGeom>
          <a:solidFill>
            <a:srgbClr val="FFFFFF"/>
          </a:solidFill>
          <a:ln w="6350">
            <a:solidFill>
              <a:srgbClr val="FFFFFF"/>
            </a:solidFill>
            <a:prstDash val="solid"/>
          </a:ln>
        </p:spPr>
      </p:sp>
      <p:sp>
        <p:nvSpPr>
          <p:cNvPr id="39" name="Text 37"/>
          <p:cNvSpPr/>
          <p:nvPr/>
        </p:nvSpPr>
        <p:spPr>
          <a:xfrm>
            <a:off x="2450592" y="2734056"/>
            <a:ext cx="104241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Proxy</a:t>
            </a:r>
            <a:endParaRPr lang="en-US" sz="880" dirty="0"/>
          </a:p>
        </p:txBody>
      </p:sp>
      <p:sp>
        <p:nvSpPr>
          <p:cNvPr id="40" name="Shape 38"/>
          <p:cNvSpPr/>
          <p:nvPr/>
        </p:nvSpPr>
        <p:spPr>
          <a:xfrm>
            <a:off x="3520440" y="2697480"/>
            <a:ext cx="960120" cy="457200"/>
          </a:xfrm>
          <a:prstGeom prst="rect">
            <a:avLst/>
          </a:prstGeom>
          <a:solidFill>
            <a:srgbClr val="FFFFFF"/>
          </a:solidFill>
          <a:ln w="6350">
            <a:solidFill>
              <a:srgbClr val="FFFFFF"/>
            </a:solidFill>
            <a:prstDash val="solid"/>
          </a:ln>
        </p:spPr>
      </p:sp>
      <p:sp>
        <p:nvSpPr>
          <p:cNvPr id="41" name="Text 39"/>
          <p:cNvSpPr/>
          <p:nvPr/>
        </p:nvSpPr>
        <p:spPr>
          <a:xfrm>
            <a:off x="3547872" y="27340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0.927</a:t>
            </a:r>
            <a:endParaRPr lang="en-US" sz="880" dirty="0"/>
          </a:p>
        </p:txBody>
      </p:sp>
      <p:sp>
        <p:nvSpPr>
          <p:cNvPr id="42" name="Shape 40"/>
          <p:cNvSpPr/>
          <p:nvPr/>
        </p:nvSpPr>
        <p:spPr>
          <a:xfrm>
            <a:off x="4480560" y="2697480"/>
            <a:ext cx="960120" cy="457200"/>
          </a:xfrm>
          <a:prstGeom prst="rect">
            <a:avLst/>
          </a:prstGeom>
          <a:solidFill>
            <a:srgbClr val="FFFFFF"/>
          </a:solidFill>
          <a:ln w="6350">
            <a:solidFill>
              <a:srgbClr val="FFFFFF"/>
            </a:solidFill>
            <a:prstDash val="solid"/>
          </a:ln>
        </p:spPr>
      </p:sp>
      <p:sp>
        <p:nvSpPr>
          <p:cNvPr id="43" name="Text 41"/>
          <p:cNvSpPr/>
          <p:nvPr/>
        </p:nvSpPr>
        <p:spPr>
          <a:xfrm>
            <a:off x="4507992" y="27340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0.012</a:t>
            </a:r>
            <a:endParaRPr lang="en-US" sz="880" dirty="0"/>
          </a:p>
        </p:txBody>
      </p:sp>
      <p:sp>
        <p:nvSpPr>
          <p:cNvPr id="44" name="Shape 42"/>
          <p:cNvSpPr/>
          <p:nvPr/>
        </p:nvSpPr>
        <p:spPr>
          <a:xfrm>
            <a:off x="5440680" y="2697480"/>
            <a:ext cx="914400" cy="457200"/>
          </a:xfrm>
          <a:prstGeom prst="rect">
            <a:avLst/>
          </a:prstGeom>
          <a:solidFill>
            <a:srgbClr val="FFFFFF"/>
          </a:solidFill>
          <a:ln w="6350">
            <a:solidFill>
              <a:srgbClr val="FFFFFF"/>
            </a:solidFill>
            <a:prstDash val="solid"/>
          </a:ln>
        </p:spPr>
      </p:sp>
      <p:sp>
        <p:nvSpPr>
          <p:cNvPr id="45" name="Text 43"/>
          <p:cNvSpPr/>
          <p:nvPr/>
        </p:nvSpPr>
        <p:spPr>
          <a:xfrm>
            <a:off x="5468112" y="2734056"/>
            <a:ext cx="85953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0.836</a:t>
            </a:r>
            <a:endParaRPr lang="en-US" sz="880" dirty="0"/>
          </a:p>
        </p:txBody>
      </p:sp>
      <p:sp>
        <p:nvSpPr>
          <p:cNvPr id="46" name="Shape 44"/>
          <p:cNvSpPr/>
          <p:nvPr/>
        </p:nvSpPr>
        <p:spPr>
          <a:xfrm>
            <a:off x="502920" y="3154680"/>
            <a:ext cx="1920240" cy="457200"/>
          </a:xfrm>
          <a:prstGeom prst="rect">
            <a:avLst/>
          </a:prstGeom>
          <a:solidFill>
            <a:srgbClr val="F3F7FA"/>
          </a:solidFill>
          <a:ln w="6350">
            <a:solidFill>
              <a:srgbClr val="FFFFFF"/>
            </a:solidFill>
            <a:prstDash val="solid"/>
          </a:ln>
        </p:spPr>
      </p:sp>
      <p:sp>
        <p:nvSpPr>
          <p:cNvPr id="47" name="Text 45"/>
          <p:cNvSpPr/>
          <p:nvPr/>
        </p:nvSpPr>
        <p:spPr>
          <a:xfrm>
            <a:off x="530352" y="3191256"/>
            <a:ext cx="1865376" cy="384048"/>
          </a:xfrm>
          <a:prstGeom prst="rect">
            <a:avLst/>
          </a:prstGeom>
          <a:noFill/>
          <a:ln/>
        </p:spPr>
        <p:txBody>
          <a:bodyPr wrap="square" lIns="127" tIns="127" rIns="127" bIns="127" rtlCol="0" anchor="ctr">
            <a:normAutofit/>
          </a:bodyPr>
          <a:lstStyle/>
          <a:p>
            <a:pPr algn="l" indent="0" marL="0">
              <a:buNone/>
            </a:pPr>
            <a:r>
              <a:rPr lang="en-US" sz="880" dirty="0">
                <a:solidFill>
                  <a:srgbClr val="10203B"/>
                </a:solidFill>
              </a:rPr>
              <a:t>Magnet AI</a:t>
            </a:r>
            <a:endParaRPr lang="en-US" sz="880" dirty="0"/>
          </a:p>
        </p:txBody>
      </p:sp>
      <p:sp>
        <p:nvSpPr>
          <p:cNvPr id="48" name="Shape 46"/>
          <p:cNvSpPr/>
          <p:nvPr/>
        </p:nvSpPr>
        <p:spPr>
          <a:xfrm>
            <a:off x="2423160" y="3154680"/>
            <a:ext cx="1097280" cy="457200"/>
          </a:xfrm>
          <a:prstGeom prst="rect">
            <a:avLst/>
          </a:prstGeom>
          <a:solidFill>
            <a:srgbClr val="F3F7FA"/>
          </a:solidFill>
          <a:ln w="6350">
            <a:solidFill>
              <a:srgbClr val="FFFFFF"/>
            </a:solidFill>
            <a:prstDash val="solid"/>
          </a:ln>
        </p:spPr>
      </p:sp>
      <p:sp>
        <p:nvSpPr>
          <p:cNvPr id="49" name="Text 47"/>
          <p:cNvSpPr/>
          <p:nvPr/>
        </p:nvSpPr>
        <p:spPr>
          <a:xfrm>
            <a:off x="2450592" y="3191256"/>
            <a:ext cx="104241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Black-box</a:t>
            </a:r>
            <a:endParaRPr lang="en-US" sz="880" dirty="0"/>
          </a:p>
        </p:txBody>
      </p:sp>
      <p:sp>
        <p:nvSpPr>
          <p:cNvPr id="50" name="Shape 48"/>
          <p:cNvSpPr/>
          <p:nvPr/>
        </p:nvSpPr>
        <p:spPr>
          <a:xfrm>
            <a:off x="3520440" y="3154680"/>
            <a:ext cx="960120" cy="457200"/>
          </a:xfrm>
          <a:prstGeom prst="rect">
            <a:avLst/>
          </a:prstGeom>
          <a:solidFill>
            <a:srgbClr val="F3F7FA"/>
          </a:solidFill>
          <a:ln w="6350">
            <a:solidFill>
              <a:srgbClr val="FFFFFF"/>
            </a:solidFill>
            <a:prstDash val="solid"/>
          </a:ln>
        </p:spPr>
      </p:sp>
      <p:sp>
        <p:nvSpPr>
          <p:cNvPr id="51" name="Text 49"/>
          <p:cNvSpPr/>
          <p:nvPr/>
        </p:nvSpPr>
        <p:spPr>
          <a:xfrm>
            <a:off x="3547872" y="31912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0.950</a:t>
            </a:r>
            <a:endParaRPr lang="en-US" sz="880" dirty="0"/>
          </a:p>
        </p:txBody>
      </p:sp>
      <p:sp>
        <p:nvSpPr>
          <p:cNvPr id="52" name="Shape 50"/>
          <p:cNvSpPr/>
          <p:nvPr/>
        </p:nvSpPr>
        <p:spPr>
          <a:xfrm>
            <a:off x="4480560" y="3154680"/>
            <a:ext cx="960120" cy="457200"/>
          </a:xfrm>
          <a:prstGeom prst="rect">
            <a:avLst/>
          </a:prstGeom>
          <a:solidFill>
            <a:srgbClr val="F3F7FA"/>
          </a:solidFill>
          <a:ln w="6350">
            <a:solidFill>
              <a:srgbClr val="FFFFFF"/>
            </a:solidFill>
            <a:prstDash val="solid"/>
          </a:ln>
        </p:spPr>
      </p:sp>
      <p:sp>
        <p:nvSpPr>
          <p:cNvPr id="53" name="Text 51"/>
          <p:cNvSpPr/>
          <p:nvPr/>
        </p:nvSpPr>
        <p:spPr>
          <a:xfrm>
            <a:off x="4507992" y="31912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0.070</a:t>
            </a:r>
            <a:endParaRPr lang="en-US" sz="880" dirty="0"/>
          </a:p>
        </p:txBody>
      </p:sp>
      <p:sp>
        <p:nvSpPr>
          <p:cNvPr id="54" name="Shape 52"/>
          <p:cNvSpPr/>
          <p:nvPr/>
        </p:nvSpPr>
        <p:spPr>
          <a:xfrm>
            <a:off x="5440680" y="3154680"/>
            <a:ext cx="914400" cy="457200"/>
          </a:xfrm>
          <a:prstGeom prst="rect">
            <a:avLst/>
          </a:prstGeom>
          <a:solidFill>
            <a:srgbClr val="F3F7FA"/>
          </a:solidFill>
          <a:ln w="6350">
            <a:solidFill>
              <a:srgbClr val="FFFFFF"/>
            </a:solidFill>
            <a:prstDash val="solid"/>
          </a:ln>
        </p:spPr>
      </p:sp>
      <p:sp>
        <p:nvSpPr>
          <p:cNvPr id="55" name="Text 53"/>
          <p:cNvSpPr/>
          <p:nvPr/>
        </p:nvSpPr>
        <p:spPr>
          <a:xfrm>
            <a:off x="5468112" y="3191256"/>
            <a:ext cx="85953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0.360</a:t>
            </a:r>
            <a:endParaRPr lang="en-US" sz="880" dirty="0"/>
          </a:p>
        </p:txBody>
      </p:sp>
      <p:sp>
        <p:nvSpPr>
          <p:cNvPr id="56" name="Shape 54"/>
          <p:cNvSpPr/>
          <p:nvPr/>
        </p:nvSpPr>
        <p:spPr>
          <a:xfrm>
            <a:off x="502920" y="3611880"/>
            <a:ext cx="1920240" cy="457200"/>
          </a:xfrm>
          <a:prstGeom prst="rect">
            <a:avLst/>
          </a:prstGeom>
          <a:solidFill>
            <a:srgbClr val="FFFFFF"/>
          </a:solidFill>
          <a:ln w="6350">
            <a:solidFill>
              <a:srgbClr val="FFFFFF"/>
            </a:solidFill>
            <a:prstDash val="solid"/>
          </a:ln>
        </p:spPr>
      </p:sp>
      <p:sp>
        <p:nvSpPr>
          <p:cNvPr id="57" name="Text 55"/>
          <p:cNvSpPr/>
          <p:nvPr/>
        </p:nvSpPr>
        <p:spPr>
          <a:xfrm>
            <a:off x="530352" y="3648456"/>
            <a:ext cx="1865376" cy="384048"/>
          </a:xfrm>
          <a:prstGeom prst="rect">
            <a:avLst/>
          </a:prstGeom>
          <a:noFill/>
          <a:ln/>
        </p:spPr>
        <p:txBody>
          <a:bodyPr wrap="square" lIns="127" tIns="127" rIns="127" bIns="127" rtlCol="0" anchor="ctr">
            <a:normAutofit/>
          </a:bodyPr>
          <a:lstStyle/>
          <a:p>
            <a:pPr algn="l" indent="0" marL="0">
              <a:buNone/>
            </a:pPr>
            <a:r>
              <a:rPr lang="en-US" sz="880" dirty="0">
                <a:solidFill>
                  <a:srgbClr val="10203B"/>
                </a:solidFill>
              </a:rPr>
              <a:t>Excire D50</a:t>
            </a:r>
            <a:endParaRPr lang="en-US" sz="880" dirty="0"/>
          </a:p>
        </p:txBody>
      </p:sp>
      <p:sp>
        <p:nvSpPr>
          <p:cNvPr id="58" name="Shape 56"/>
          <p:cNvSpPr/>
          <p:nvPr/>
        </p:nvSpPr>
        <p:spPr>
          <a:xfrm>
            <a:off x="2423160" y="3611880"/>
            <a:ext cx="1097280" cy="457200"/>
          </a:xfrm>
          <a:prstGeom prst="rect">
            <a:avLst/>
          </a:prstGeom>
          <a:solidFill>
            <a:srgbClr val="FFFFFF"/>
          </a:solidFill>
          <a:ln w="6350">
            <a:solidFill>
              <a:srgbClr val="FFFFFF"/>
            </a:solidFill>
            <a:prstDash val="solid"/>
          </a:ln>
        </p:spPr>
      </p:sp>
      <p:sp>
        <p:nvSpPr>
          <p:cNvPr id="59" name="Text 57"/>
          <p:cNvSpPr/>
          <p:nvPr/>
        </p:nvSpPr>
        <p:spPr>
          <a:xfrm>
            <a:off x="2450592" y="3648456"/>
            <a:ext cx="104241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Black-box</a:t>
            </a:r>
            <a:endParaRPr lang="en-US" sz="880" dirty="0"/>
          </a:p>
        </p:txBody>
      </p:sp>
      <p:sp>
        <p:nvSpPr>
          <p:cNvPr id="60" name="Shape 58"/>
          <p:cNvSpPr/>
          <p:nvPr/>
        </p:nvSpPr>
        <p:spPr>
          <a:xfrm>
            <a:off x="3520440" y="3611880"/>
            <a:ext cx="960120" cy="457200"/>
          </a:xfrm>
          <a:prstGeom prst="rect">
            <a:avLst/>
          </a:prstGeom>
          <a:solidFill>
            <a:srgbClr val="FFFFFF"/>
          </a:solidFill>
          <a:ln w="6350">
            <a:solidFill>
              <a:srgbClr val="FFFFFF"/>
            </a:solidFill>
            <a:prstDash val="solid"/>
          </a:ln>
        </p:spPr>
      </p:sp>
      <p:sp>
        <p:nvSpPr>
          <p:cNvPr id="61" name="Text 59"/>
          <p:cNvSpPr/>
          <p:nvPr/>
        </p:nvSpPr>
        <p:spPr>
          <a:xfrm>
            <a:off x="3547872" y="36484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0.944</a:t>
            </a:r>
            <a:endParaRPr lang="en-US" sz="880" dirty="0"/>
          </a:p>
        </p:txBody>
      </p:sp>
      <p:sp>
        <p:nvSpPr>
          <p:cNvPr id="62" name="Shape 60"/>
          <p:cNvSpPr/>
          <p:nvPr/>
        </p:nvSpPr>
        <p:spPr>
          <a:xfrm>
            <a:off x="4480560" y="3611880"/>
            <a:ext cx="960120" cy="457200"/>
          </a:xfrm>
          <a:prstGeom prst="rect">
            <a:avLst/>
          </a:prstGeom>
          <a:solidFill>
            <a:srgbClr val="FFFFFF"/>
          </a:solidFill>
          <a:ln w="6350">
            <a:solidFill>
              <a:srgbClr val="FFFFFF"/>
            </a:solidFill>
            <a:prstDash val="solid"/>
          </a:ln>
        </p:spPr>
      </p:sp>
      <p:sp>
        <p:nvSpPr>
          <p:cNvPr id="63" name="Text 61"/>
          <p:cNvSpPr/>
          <p:nvPr/>
        </p:nvSpPr>
        <p:spPr>
          <a:xfrm>
            <a:off x="4507992" y="36484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0.042</a:t>
            </a:r>
            <a:endParaRPr lang="en-US" sz="880" dirty="0"/>
          </a:p>
        </p:txBody>
      </p:sp>
      <p:sp>
        <p:nvSpPr>
          <p:cNvPr id="64" name="Shape 62"/>
          <p:cNvSpPr/>
          <p:nvPr/>
        </p:nvSpPr>
        <p:spPr>
          <a:xfrm>
            <a:off x="5440680" y="3611880"/>
            <a:ext cx="914400" cy="457200"/>
          </a:xfrm>
          <a:prstGeom prst="rect">
            <a:avLst/>
          </a:prstGeom>
          <a:solidFill>
            <a:srgbClr val="FFFFFF"/>
          </a:solidFill>
          <a:ln w="6350">
            <a:solidFill>
              <a:srgbClr val="FFFFFF"/>
            </a:solidFill>
            <a:prstDash val="solid"/>
          </a:ln>
        </p:spPr>
      </p:sp>
      <p:sp>
        <p:nvSpPr>
          <p:cNvPr id="65" name="Text 63"/>
          <p:cNvSpPr/>
          <p:nvPr/>
        </p:nvSpPr>
        <p:spPr>
          <a:xfrm>
            <a:off x="5468112" y="3648456"/>
            <a:ext cx="85953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0.340</a:t>
            </a:r>
            <a:endParaRPr lang="en-US" sz="880" dirty="0"/>
          </a:p>
        </p:txBody>
      </p:sp>
      <p:sp>
        <p:nvSpPr>
          <p:cNvPr id="66" name="Shape 64"/>
          <p:cNvSpPr/>
          <p:nvPr/>
        </p:nvSpPr>
        <p:spPr>
          <a:xfrm>
            <a:off x="502920" y="4069080"/>
            <a:ext cx="1920240" cy="457200"/>
          </a:xfrm>
          <a:prstGeom prst="rect">
            <a:avLst/>
          </a:prstGeom>
          <a:solidFill>
            <a:srgbClr val="F3F7FA"/>
          </a:solidFill>
          <a:ln w="6350">
            <a:solidFill>
              <a:srgbClr val="FFFFFF"/>
            </a:solidFill>
            <a:prstDash val="solid"/>
          </a:ln>
        </p:spPr>
      </p:sp>
      <p:sp>
        <p:nvSpPr>
          <p:cNvPr id="67" name="Text 65"/>
          <p:cNvSpPr/>
          <p:nvPr/>
        </p:nvSpPr>
        <p:spPr>
          <a:xfrm>
            <a:off x="530352" y="4105656"/>
            <a:ext cx="1865376" cy="384048"/>
          </a:xfrm>
          <a:prstGeom prst="rect">
            <a:avLst/>
          </a:prstGeom>
          <a:noFill/>
          <a:ln/>
        </p:spPr>
        <p:txBody>
          <a:bodyPr wrap="square" lIns="127" tIns="127" rIns="127" bIns="127" rtlCol="0" anchor="ctr">
            <a:normAutofit/>
          </a:bodyPr>
          <a:lstStyle/>
          <a:p>
            <a:pPr algn="l" indent="0" marL="0">
              <a:buNone/>
            </a:pPr>
            <a:r>
              <a:rPr lang="en-US" sz="880" dirty="0">
                <a:solidFill>
                  <a:srgbClr val="10203B"/>
                </a:solidFill>
              </a:rPr>
              <a:t>Cellebrite</a:t>
            </a:r>
            <a:endParaRPr lang="en-US" sz="880" dirty="0"/>
          </a:p>
        </p:txBody>
      </p:sp>
      <p:sp>
        <p:nvSpPr>
          <p:cNvPr id="68" name="Shape 66"/>
          <p:cNvSpPr/>
          <p:nvPr/>
        </p:nvSpPr>
        <p:spPr>
          <a:xfrm>
            <a:off x="2423160" y="4069080"/>
            <a:ext cx="1097280" cy="457200"/>
          </a:xfrm>
          <a:prstGeom prst="rect">
            <a:avLst/>
          </a:prstGeom>
          <a:solidFill>
            <a:srgbClr val="F3F7FA"/>
          </a:solidFill>
          <a:ln w="6350">
            <a:solidFill>
              <a:srgbClr val="FFFFFF"/>
            </a:solidFill>
            <a:prstDash val="solid"/>
          </a:ln>
        </p:spPr>
      </p:sp>
      <p:sp>
        <p:nvSpPr>
          <p:cNvPr id="69" name="Text 67"/>
          <p:cNvSpPr/>
          <p:nvPr/>
        </p:nvSpPr>
        <p:spPr>
          <a:xfrm>
            <a:off x="2450592" y="4105656"/>
            <a:ext cx="104241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Black-box</a:t>
            </a:r>
            <a:endParaRPr lang="en-US" sz="880" dirty="0"/>
          </a:p>
        </p:txBody>
      </p:sp>
      <p:sp>
        <p:nvSpPr>
          <p:cNvPr id="70" name="Shape 68"/>
          <p:cNvSpPr/>
          <p:nvPr/>
        </p:nvSpPr>
        <p:spPr>
          <a:xfrm>
            <a:off x="3520440" y="4069080"/>
            <a:ext cx="960120" cy="457200"/>
          </a:xfrm>
          <a:prstGeom prst="rect">
            <a:avLst/>
          </a:prstGeom>
          <a:solidFill>
            <a:srgbClr val="F3F7FA"/>
          </a:solidFill>
          <a:ln w="6350">
            <a:solidFill>
              <a:srgbClr val="FFFFFF"/>
            </a:solidFill>
            <a:prstDash val="solid"/>
          </a:ln>
        </p:spPr>
      </p:sp>
      <p:sp>
        <p:nvSpPr>
          <p:cNvPr id="71" name="Text 69"/>
          <p:cNvSpPr/>
          <p:nvPr/>
        </p:nvSpPr>
        <p:spPr>
          <a:xfrm>
            <a:off x="3547872" y="41056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0.964</a:t>
            </a:r>
            <a:endParaRPr lang="en-US" sz="880" dirty="0"/>
          </a:p>
        </p:txBody>
      </p:sp>
      <p:sp>
        <p:nvSpPr>
          <p:cNvPr id="72" name="Shape 70"/>
          <p:cNvSpPr/>
          <p:nvPr/>
        </p:nvSpPr>
        <p:spPr>
          <a:xfrm>
            <a:off x="4480560" y="4069080"/>
            <a:ext cx="960120" cy="457200"/>
          </a:xfrm>
          <a:prstGeom prst="rect">
            <a:avLst/>
          </a:prstGeom>
          <a:solidFill>
            <a:srgbClr val="F3F7FA"/>
          </a:solidFill>
          <a:ln w="6350">
            <a:solidFill>
              <a:srgbClr val="FFFFFF"/>
            </a:solidFill>
            <a:prstDash val="solid"/>
          </a:ln>
        </p:spPr>
      </p:sp>
      <p:sp>
        <p:nvSpPr>
          <p:cNvPr id="73" name="Text 71"/>
          <p:cNvSpPr/>
          <p:nvPr/>
        </p:nvSpPr>
        <p:spPr>
          <a:xfrm>
            <a:off x="4507992" y="41056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0.032</a:t>
            </a:r>
            <a:endParaRPr lang="en-US" sz="880" dirty="0"/>
          </a:p>
        </p:txBody>
      </p:sp>
      <p:sp>
        <p:nvSpPr>
          <p:cNvPr id="74" name="Shape 72"/>
          <p:cNvSpPr/>
          <p:nvPr/>
        </p:nvSpPr>
        <p:spPr>
          <a:xfrm>
            <a:off x="5440680" y="4069080"/>
            <a:ext cx="914400" cy="457200"/>
          </a:xfrm>
          <a:prstGeom prst="rect">
            <a:avLst/>
          </a:prstGeom>
          <a:solidFill>
            <a:srgbClr val="F3F7FA"/>
          </a:solidFill>
          <a:ln w="6350">
            <a:solidFill>
              <a:srgbClr val="FFFFFF"/>
            </a:solidFill>
            <a:prstDash val="solid"/>
          </a:ln>
        </p:spPr>
      </p:sp>
      <p:sp>
        <p:nvSpPr>
          <p:cNvPr id="75" name="Text 73"/>
          <p:cNvSpPr/>
          <p:nvPr/>
        </p:nvSpPr>
        <p:spPr>
          <a:xfrm>
            <a:off x="5468112" y="4105656"/>
            <a:ext cx="85953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0.292</a:t>
            </a:r>
            <a:endParaRPr lang="en-US" sz="880" dirty="0"/>
          </a:p>
        </p:txBody>
      </p:sp>
      <p:sp>
        <p:nvSpPr>
          <p:cNvPr id="76" name="Shape 74"/>
          <p:cNvSpPr/>
          <p:nvPr/>
        </p:nvSpPr>
        <p:spPr>
          <a:xfrm>
            <a:off x="502920" y="4526280"/>
            <a:ext cx="1920240" cy="457200"/>
          </a:xfrm>
          <a:prstGeom prst="rect">
            <a:avLst/>
          </a:prstGeom>
          <a:solidFill>
            <a:srgbClr val="FFFFFF"/>
          </a:solidFill>
          <a:ln w="6350">
            <a:solidFill>
              <a:srgbClr val="FFFFFF"/>
            </a:solidFill>
            <a:prstDash val="solid"/>
          </a:ln>
        </p:spPr>
      </p:sp>
      <p:sp>
        <p:nvSpPr>
          <p:cNvPr id="77" name="Text 75"/>
          <p:cNvSpPr/>
          <p:nvPr/>
        </p:nvSpPr>
        <p:spPr>
          <a:xfrm>
            <a:off x="530352" y="4562856"/>
            <a:ext cx="1865376" cy="384048"/>
          </a:xfrm>
          <a:prstGeom prst="rect">
            <a:avLst/>
          </a:prstGeom>
          <a:noFill/>
          <a:ln/>
        </p:spPr>
        <p:txBody>
          <a:bodyPr wrap="square" lIns="127" tIns="127" rIns="127" bIns="127" rtlCol="0" anchor="ctr">
            <a:normAutofit/>
          </a:bodyPr>
          <a:lstStyle/>
          <a:p>
            <a:pPr algn="l" indent="0" marL="0">
              <a:buNone/>
            </a:pPr>
            <a:r>
              <a:rPr lang="en-US" sz="880" dirty="0">
                <a:solidFill>
                  <a:srgbClr val="10203B"/>
                </a:solidFill>
              </a:rPr>
              <a:t>Griffeye/T3K</a:t>
            </a:r>
            <a:endParaRPr lang="en-US" sz="880" dirty="0"/>
          </a:p>
        </p:txBody>
      </p:sp>
      <p:sp>
        <p:nvSpPr>
          <p:cNvPr id="78" name="Shape 76"/>
          <p:cNvSpPr/>
          <p:nvPr/>
        </p:nvSpPr>
        <p:spPr>
          <a:xfrm>
            <a:off x="2423160" y="4526280"/>
            <a:ext cx="1097280" cy="457200"/>
          </a:xfrm>
          <a:prstGeom prst="rect">
            <a:avLst/>
          </a:prstGeom>
          <a:solidFill>
            <a:srgbClr val="FFFFFF"/>
          </a:solidFill>
          <a:ln w="6350">
            <a:solidFill>
              <a:srgbClr val="FFFFFF"/>
            </a:solidFill>
            <a:prstDash val="solid"/>
          </a:ln>
        </p:spPr>
      </p:sp>
      <p:sp>
        <p:nvSpPr>
          <p:cNvPr id="79" name="Text 77"/>
          <p:cNvSpPr/>
          <p:nvPr/>
        </p:nvSpPr>
        <p:spPr>
          <a:xfrm>
            <a:off x="2450592" y="4562856"/>
            <a:ext cx="104241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Black-box</a:t>
            </a:r>
            <a:endParaRPr lang="en-US" sz="880" dirty="0"/>
          </a:p>
        </p:txBody>
      </p:sp>
      <p:sp>
        <p:nvSpPr>
          <p:cNvPr id="80" name="Shape 78"/>
          <p:cNvSpPr/>
          <p:nvPr/>
        </p:nvSpPr>
        <p:spPr>
          <a:xfrm>
            <a:off x="3520440" y="4526280"/>
            <a:ext cx="960120" cy="457200"/>
          </a:xfrm>
          <a:prstGeom prst="rect">
            <a:avLst/>
          </a:prstGeom>
          <a:solidFill>
            <a:srgbClr val="FFFFFF"/>
          </a:solidFill>
          <a:ln w="6350">
            <a:solidFill>
              <a:srgbClr val="FFFFFF"/>
            </a:solidFill>
            <a:prstDash val="solid"/>
          </a:ln>
        </p:spPr>
      </p:sp>
      <p:sp>
        <p:nvSpPr>
          <p:cNvPr id="81" name="Text 79"/>
          <p:cNvSpPr/>
          <p:nvPr/>
        </p:nvSpPr>
        <p:spPr>
          <a:xfrm>
            <a:off x="3547872" y="45628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0.978</a:t>
            </a:r>
            <a:endParaRPr lang="en-US" sz="880" dirty="0"/>
          </a:p>
        </p:txBody>
      </p:sp>
      <p:sp>
        <p:nvSpPr>
          <p:cNvPr id="82" name="Shape 80"/>
          <p:cNvSpPr/>
          <p:nvPr/>
        </p:nvSpPr>
        <p:spPr>
          <a:xfrm>
            <a:off x="4480560" y="4526280"/>
            <a:ext cx="960120" cy="457200"/>
          </a:xfrm>
          <a:prstGeom prst="rect">
            <a:avLst/>
          </a:prstGeom>
          <a:solidFill>
            <a:srgbClr val="FFFFFF"/>
          </a:solidFill>
          <a:ln w="6350">
            <a:solidFill>
              <a:srgbClr val="FFFFFF"/>
            </a:solidFill>
            <a:prstDash val="solid"/>
          </a:ln>
        </p:spPr>
      </p:sp>
      <p:sp>
        <p:nvSpPr>
          <p:cNvPr id="83" name="Text 81"/>
          <p:cNvSpPr/>
          <p:nvPr/>
        </p:nvSpPr>
        <p:spPr>
          <a:xfrm>
            <a:off x="4507992" y="4562856"/>
            <a:ext cx="90525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0.036</a:t>
            </a:r>
            <a:endParaRPr lang="en-US" sz="880" dirty="0"/>
          </a:p>
        </p:txBody>
      </p:sp>
      <p:sp>
        <p:nvSpPr>
          <p:cNvPr id="84" name="Shape 82"/>
          <p:cNvSpPr/>
          <p:nvPr/>
        </p:nvSpPr>
        <p:spPr>
          <a:xfrm>
            <a:off x="5440680" y="4526280"/>
            <a:ext cx="914400" cy="457200"/>
          </a:xfrm>
          <a:prstGeom prst="rect">
            <a:avLst/>
          </a:prstGeom>
          <a:solidFill>
            <a:srgbClr val="FFFFFF"/>
          </a:solidFill>
          <a:ln w="6350">
            <a:solidFill>
              <a:srgbClr val="FFFFFF"/>
            </a:solidFill>
            <a:prstDash val="solid"/>
          </a:ln>
        </p:spPr>
      </p:sp>
      <p:sp>
        <p:nvSpPr>
          <p:cNvPr id="85" name="Text 83"/>
          <p:cNvSpPr/>
          <p:nvPr/>
        </p:nvSpPr>
        <p:spPr>
          <a:xfrm>
            <a:off x="5468112" y="4562856"/>
            <a:ext cx="859536" cy="384048"/>
          </a:xfrm>
          <a:prstGeom prst="rect">
            <a:avLst/>
          </a:prstGeom>
          <a:noFill/>
          <a:ln/>
        </p:spPr>
        <p:txBody>
          <a:bodyPr wrap="square" lIns="127" tIns="127" rIns="127" bIns="127" rtlCol="0" anchor="ctr">
            <a:normAutofit/>
          </a:bodyPr>
          <a:lstStyle/>
          <a:p>
            <a:pPr algn="ctr" indent="0" marL="0">
              <a:buNone/>
            </a:pPr>
            <a:r>
              <a:rPr lang="en-US" sz="880" dirty="0">
                <a:solidFill>
                  <a:srgbClr val="10203B"/>
                </a:solidFill>
              </a:rPr>
              <a:t>0.260</a:t>
            </a:r>
            <a:endParaRPr lang="en-US" sz="880" dirty="0"/>
          </a:p>
        </p:txBody>
      </p:sp>
      <p:sp>
        <p:nvSpPr>
          <p:cNvPr id="86" name="Shape 84"/>
          <p:cNvSpPr/>
          <p:nvPr/>
        </p:nvSpPr>
        <p:spPr>
          <a:xfrm>
            <a:off x="6675120" y="1325880"/>
            <a:ext cx="4892040" cy="3657600"/>
          </a:xfrm>
          <a:prstGeom prst="roundRect">
            <a:avLst>
              <a:gd name="adj" fmla="val 2500"/>
            </a:avLst>
          </a:prstGeom>
          <a:solidFill>
            <a:srgbClr val="FFFFFF"/>
          </a:solidFill>
          <a:ln w="12700">
            <a:solidFill>
              <a:srgbClr val="D8E1E8"/>
            </a:solidFill>
            <a:prstDash val="solid"/>
          </a:ln>
        </p:spPr>
      </p:sp>
      <p:sp>
        <p:nvSpPr>
          <p:cNvPr id="87" name="Text 85"/>
          <p:cNvSpPr/>
          <p:nvPr/>
        </p:nvSpPr>
        <p:spPr>
          <a:xfrm>
            <a:off x="6903720" y="1536192"/>
            <a:ext cx="2560320" cy="228600"/>
          </a:xfrm>
          <a:prstGeom prst="rect">
            <a:avLst/>
          </a:prstGeom>
          <a:noFill/>
          <a:ln/>
        </p:spPr>
        <p:txBody>
          <a:bodyPr wrap="square" lIns="0" tIns="0" rIns="0" bIns="0" rtlCol="0" anchor="ctr"/>
          <a:lstStyle/>
          <a:p>
            <a:pPr indent="0" marL="0">
              <a:buNone/>
            </a:pPr>
            <a:r>
              <a:rPr lang="en-US" sz="1600" b="1" dirty="0">
                <a:solidFill>
                  <a:srgbClr val="0B1F4D"/>
                </a:solidFill>
              </a:rPr>
              <a:t>OOD weapon-flag rate</a:t>
            </a:r>
            <a:endParaRPr lang="en-US" sz="1600" dirty="0"/>
          </a:p>
        </p:txBody>
      </p:sp>
      <p:sp>
        <p:nvSpPr>
          <p:cNvPr id="88" name="Text 86"/>
          <p:cNvSpPr/>
          <p:nvPr/>
        </p:nvSpPr>
        <p:spPr>
          <a:xfrm>
            <a:off x="6903720" y="2011680"/>
            <a:ext cx="1645920" cy="146304"/>
          </a:xfrm>
          <a:prstGeom prst="rect">
            <a:avLst/>
          </a:prstGeom>
          <a:noFill/>
          <a:ln/>
        </p:spPr>
        <p:txBody>
          <a:bodyPr wrap="square" lIns="0" tIns="0" rIns="0" bIns="0" rtlCol="0" anchor="ctr"/>
          <a:lstStyle/>
          <a:p>
            <a:pPr indent="0" marL="0">
              <a:buNone/>
            </a:pPr>
            <a:r>
              <a:rPr lang="en-US" sz="750" dirty="0">
                <a:solidFill>
                  <a:srgbClr val="5F6F82"/>
                </a:solidFill>
              </a:rPr>
              <a:t>CLIP</a:t>
            </a:r>
            <a:endParaRPr lang="en-US" sz="750" dirty="0"/>
          </a:p>
        </p:txBody>
      </p:sp>
      <p:sp>
        <p:nvSpPr>
          <p:cNvPr id="89" name="Shape 87"/>
          <p:cNvSpPr/>
          <p:nvPr/>
        </p:nvSpPr>
        <p:spPr>
          <a:xfrm>
            <a:off x="8412480" y="2057400"/>
            <a:ext cx="2788920" cy="109728"/>
          </a:xfrm>
          <a:prstGeom prst="rect">
            <a:avLst/>
          </a:prstGeom>
          <a:solidFill>
            <a:srgbClr val="E6EEF4"/>
          </a:solidFill>
          <a:ln w="12700">
            <a:solidFill>
              <a:srgbClr val="E6EEF4"/>
            </a:solidFill>
            <a:prstDash val="solid"/>
          </a:ln>
        </p:spPr>
      </p:sp>
      <p:sp>
        <p:nvSpPr>
          <p:cNvPr id="90" name="Shape 88"/>
          <p:cNvSpPr/>
          <p:nvPr/>
        </p:nvSpPr>
        <p:spPr>
          <a:xfrm>
            <a:off x="8412480" y="2057400"/>
            <a:ext cx="2331537" cy="109728"/>
          </a:xfrm>
          <a:prstGeom prst="rect">
            <a:avLst/>
          </a:prstGeom>
          <a:solidFill>
            <a:srgbClr val="E76F28"/>
          </a:solidFill>
          <a:ln w="12700">
            <a:solidFill>
              <a:srgbClr val="E76F28"/>
            </a:solidFill>
            <a:prstDash val="solid"/>
          </a:ln>
        </p:spPr>
      </p:sp>
      <p:sp>
        <p:nvSpPr>
          <p:cNvPr id="91" name="Text 89"/>
          <p:cNvSpPr/>
          <p:nvPr/>
        </p:nvSpPr>
        <p:spPr>
          <a:xfrm>
            <a:off x="10698480" y="2007108"/>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0.836</a:t>
            </a:r>
            <a:endParaRPr lang="en-US" sz="720" dirty="0"/>
          </a:p>
        </p:txBody>
      </p:sp>
      <p:sp>
        <p:nvSpPr>
          <p:cNvPr id="92" name="Text 90"/>
          <p:cNvSpPr/>
          <p:nvPr/>
        </p:nvSpPr>
        <p:spPr>
          <a:xfrm>
            <a:off x="6903720" y="2340864"/>
            <a:ext cx="1645920" cy="146304"/>
          </a:xfrm>
          <a:prstGeom prst="rect">
            <a:avLst/>
          </a:prstGeom>
          <a:noFill/>
          <a:ln/>
        </p:spPr>
        <p:txBody>
          <a:bodyPr wrap="square" lIns="0" tIns="0" rIns="0" bIns="0" rtlCol="0" anchor="ctr"/>
          <a:lstStyle/>
          <a:p>
            <a:pPr indent="0" marL="0">
              <a:buNone/>
            </a:pPr>
            <a:r>
              <a:rPr lang="en-US" sz="750" dirty="0">
                <a:solidFill>
                  <a:srgbClr val="5F6F82"/>
                </a:solidFill>
              </a:rPr>
              <a:t>ResNet18</a:t>
            </a:r>
            <a:endParaRPr lang="en-US" sz="750" dirty="0"/>
          </a:p>
        </p:txBody>
      </p:sp>
      <p:sp>
        <p:nvSpPr>
          <p:cNvPr id="93" name="Shape 91"/>
          <p:cNvSpPr/>
          <p:nvPr/>
        </p:nvSpPr>
        <p:spPr>
          <a:xfrm>
            <a:off x="8412480" y="2386584"/>
            <a:ext cx="2788920" cy="109728"/>
          </a:xfrm>
          <a:prstGeom prst="rect">
            <a:avLst/>
          </a:prstGeom>
          <a:solidFill>
            <a:srgbClr val="E6EEF4"/>
          </a:solidFill>
          <a:ln w="12700">
            <a:solidFill>
              <a:srgbClr val="E6EEF4"/>
            </a:solidFill>
            <a:prstDash val="solid"/>
          </a:ln>
        </p:spPr>
      </p:sp>
      <p:sp>
        <p:nvSpPr>
          <p:cNvPr id="94" name="Shape 92"/>
          <p:cNvSpPr/>
          <p:nvPr/>
        </p:nvSpPr>
        <p:spPr>
          <a:xfrm>
            <a:off x="8412480" y="2386584"/>
            <a:ext cx="1221547" cy="109728"/>
          </a:xfrm>
          <a:prstGeom prst="rect">
            <a:avLst/>
          </a:prstGeom>
          <a:solidFill>
            <a:srgbClr val="0A7C80"/>
          </a:solidFill>
          <a:ln w="12700">
            <a:solidFill>
              <a:srgbClr val="0A7C80"/>
            </a:solidFill>
            <a:prstDash val="solid"/>
          </a:ln>
        </p:spPr>
      </p:sp>
      <p:sp>
        <p:nvSpPr>
          <p:cNvPr id="95" name="Text 93"/>
          <p:cNvSpPr/>
          <p:nvPr/>
        </p:nvSpPr>
        <p:spPr>
          <a:xfrm>
            <a:off x="10698480" y="2336292"/>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0.438</a:t>
            </a:r>
            <a:endParaRPr lang="en-US" sz="720" dirty="0"/>
          </a:p>
        </p:txBody>
      </p:sp>
      <p:sp>
        <p:nvSpPr>
          <p:cNvPr id="96" name="Text 94"/>
          <p:cNvSpPr/>
          <p:nvPr/>
        </p:nvSpPr>
        <p:spPr>
          <a:xfrm>
            <a:off x="6903720" y="2670048"/>
            <a:ext cx="1645920" cy="146304"/>
          </a:xfrm>
          <a:prstGeom prst="rect">
            <a:avLst/>
          </a:prstGeom>
          <a:noFill/>
          <a:ln/>
        </p:spPr>
        <p:txBody>
          <a:bodyPr wrap="square" lIns="0" tIns="0" rIns="0" bIns="0" rtlCol="0" anchor="ctr"/>
          <a:lstStyle/>
          <a:p>
            <a:pPr indent="0" marL="0">
              <a:buNone/>
            </a:pPr>
            <a:r>
              <a:rPr lang="en-US" sz="750" dirty="0">
                <a:solidFill>
                  <a:srgbClr val="5F6F82"/>
                </a:solidFill>
              </a:rPr>
              <a:t>EffNet-B0</a:t>
            </a:r>
            <a:endParaRPr lang="en-US" sz="750" dirty="0"/>
          </a:p>
        </p:txBody>
      </p:sp>
      <p:sp>
        <p:nvSpPr>
          <p:cNvPr id="97" name="Shape 95"/>
          <p:cNvSpPr/>
          <p:nvPr/>
        </p:nvSpPr>
        <p:spPr>
          <a:xfrm>
            <a:off x="8412480" y="2715768"/>
            <a:ext cx="2788920" cy="109728"/>
          </a:xfrm>
          <a:prstGeom prst="rect">
            <a:avLst/>
          </a:prstGeom>
          <a:solidFill>
            <a:srgbClr val="E6EEF4"/>
          </a:solidFill>
          <a:ln w="12700">
            <a:solidFill>
              <a:srgbClr val="E6EEF4"/>
            </a:solidFill>
            <a:prstDash val="solid"/>
          </a:ln>
        </p:spPr>
      </p:sp>
      <p:sp>
        <p:nvSpPr>
          <p:cNvPr id="98" name="Shape 96"/>
          <p:cNvSpPr/>
          <p:nvPr/>
        </p:nvSpPr>
        <p:spPr>
          <a:xfrm>
            <a:off x="8412480" y="2715768"/>
            <a:ext cx="1031900" cy="109728"/>
          </a:xfrm>
          <a:prstGeom prst="rect">
            <a:avLst/>
          </a:prstGeom>
          <a:solidFill>
            <a:srgbClr val="0A7C80"/>
          </a:solidFill>
          <a:ln w="12700">
            <a:solidFill>
              <a:srgbClr val="0A7C80"/>
            </a:solidFill>
            <a:prstDash val="solid"/>
          </a:ln>
        </p:spPr>
      </p:sp>
      <p:sp>
        <p:nvSpPr>
          <p:cNvPr id="99" name="Text 97"/>
          <p:cNvSpPr/>
          <p:nvPr/>
        </p:nvSpPr>
        <p:spPr>
          <a:xfrm>
            <a:off x="10698480" y="2665476"/>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0.370</a:t>
            </a:r>
            <a:endParaRPr lang="en-US" sz="720" dirty="0"/>
          </a:p>
        </p:txBody>
      </p:sp>
      <p:sp>
        <p:nvSpPr>
          <p:cNvPr id="100" name="Text 98"/>
          <p:cNvSpPr/>
          <p:nvPr/>
        </p:nvSpPr>
        <p:spPr>
          <a:xfrm>
            <a:off x="6903720" y="2999232"/>
            <a:ext cx="1645920" cy="146304"/>
          </a:xfrm>
          <a:prstGeom prst="rect">
            <a:avLst/>
          </a:prstGeom>
          <a:noFill/>
          <a:ln/>
        </p:spPr>
        <p:txBody>
          <a:bodyPr wrap="square" lIns="0" tIns="0" rIns="0" bIns="0" rtlCol="0" anchor="ctr"/>
          <a:lstStyle/>
          <a:p>
            <a:pPr indent="0" marL="0">
              <a:buNone/>
            </a:pPr>
            <a:r>
              <a:rPr lang="en-US" sz="750" dirty="0">
                <a:solidFill>
                  <a:srgbClr val="5F6F82"/>
                </a:solidFill>
              </a:rPr>
              <a:t>Magnet AI</a:t>
            </a:r>
            <a:endParaRPr lang="en-US" sz="750" dirty="0"/>
          </a:p>
        </p:txBody>
      </p:sp>
      <p:sp>
        <p:nvSpPr>
          <p:cNvPr id="101" name="Shape 99"/>
          <p:cNvSpPr/>
          <p:nvPr/>
        </p:nvSpPr>
        <p:spPr>
          <a:xfrm>
            <a:off x="8412480" y="3044952"/>
            <a:ext cx="2788920" cy="109728"/>
          </a:xfrm>
          <a:prstGeom prst="rect">
            <a:avLst/>
          </a:prstGeom>
          <a:solidFill>
            <a:srgbClr val="E6EEF4"/>
          </a:solidFill>
          <a:ln w="12700">
            <a:solidFill>
              <a:srgbClr val="E6EEF4"/>
            </a:solidFill>
            <a:prstDash val="solid"/>
          </a:ln>
        </p:spPr>
      </p:sp>
      <p:sp>
        <p:nvSpPr>
          <p:cNvPr id="102" name="Shape 100"/>
          <p:cNvSpPr/>
          <p:nvPr/>
        </p:nvSpPr>
        <p:spPr>
          <a:xfrm>
            <a:off x="8412480" y="3044952"/>
            <a:ext cx="1004011" cy="109728"/>
          </a:xfrm>
          <a:prstGeom prst="rect">
            <a:avLst/>
          </a:prstGeom>
          <a:solidFill>
            <a:srgbClr val="0A7C80"/>
          </a:solidFill>
          <a:ln w="12700">
            <a:solidFill>
              <a:srgbClr val="0A7C80"/>
            </a:solidFill>
            <a:prstDash val="solid"/>
          </a:ln>
        </p:spPr>
      </p:sp>
      <p:sp>
        <p:nvSpPr>
          <p:cNvPr id="103" name="Text 101"/>
          <p:cNvSpPr/>
          <p:nvPr/>
        </p:nvSpPr>
        <p:spPr>
          <a:xfrm>
            <a:off x="10698480" y="2994660"/>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0.360</a:t>
            </a:r>
            <a:endParaRPr lang="en-US" sz="720" dirty="0"/>
          </a:p>
        </p:txBody>
      </p:sp>
      <p:sp>
        <p:nvSpPr>
          <p:cNvPr id="104" name="Text 102"/>
          <p:cNvSpPr/>
          <p:nvPr/>
        </p:nvSpPr>
        <p:spPr>
          <a:xfrm>
            <a:off x="6903720" y="3328416"/>
            <a:ext cx="1645920" cy="146304"/>
          </a:xfrm>
          <a:prstGeom prst="rect">
            <a:avLst/>
          </a:prstGeom>
          <a:noFill/>
          <a:ln/>
        </p:spPr>
        <p:txBody>
          <a:bodyPr wrap="square" lIns="0" tIns="0" rIns="0" bIns="0" rtlCol="0" anchor="ctr"/>
          <a:lstStyle/>
          <a:p>
            <a:pPr indent="0" marL="0">
              <a:buNone/>
            </a:pPr>
            <a:r>
              <a:rPr lang="en-US" sz="750" dirty="0">
                <a:solidFill>
                  <a:srgbClr val="5F6F82"/>
                </a:solidFill>
              </a:rPr>
              <a:t>Excire D50</a:t>
            </a:r>
            <a:endParaRPr lang="en-US" sz="750" dirty="0"/>
          </a:p>
        </p:txBody>
      </p:sp>
      <p:sp>
        <p:nvSpPr>
          <p:cNvPr id="105" name="Shape 103"/>
          <p:cNvSpPr/>
          <p:nvPr/>
        </p:nvSpPr>
        <p:spPr>
          <a:xfrm>
            <a:off x="8412480" y="3374136"/>
            <a:ext cx="2788920" cy="109728"/>
          </a:xfrm>
          <a:prstGeom prst="rect">
            <a:avLst/>
          </a:prstGeom>
          <a:solidFill>
            <a:srgbClr val="E6EEF4"/>
          </a:solidFill>
          <a:ln w="12700">
            <a:solidFill>
              <a:srgbClr val="E6EEF4"/>
            </a:solidFill>
            <a:prstDash val="solid"/>
          </a:ln>
        </p:spPr>
      </p:sp>
      <p:sp>
        <p:nvSpPr>
          <p:cNvPr id="106" name="Shape 104"/>
          <p:cNvSpPr/>
          <p:nvPr/>
        </p:nvSpPr>
        <p:spPr>
          <a:xfrm>
            <a:off x="8412480" y="3374136"/>
            <a:ext cx="948233" cy="109728"/>
          </a:xfrm>
          <a:prstGeom prst="rect">
            <a:avLst/>
          </a:prstGeom>
          <a:solidFill>
            <a:srgbClr val="0A7C80"/>
          </a:solidFill>
          <a:ln w="12700">
            <a:solidFill>
              <a:srgbClr val="0A7C80"/>
            </a:solidFill>
            <a:prstDash val="solid"/>
          </a:ln>
        </p:spPr>
      </p:sp>
      <p:sp>
        <p:nvSpPr>
          <p:cNvPr id="107" name="Text 105"/>
          <p:cNvSpPr/>
          <p:nvPr/>
        </p:nvSpPr>
        <p:spPr>
          <a:xfrm>
            <a:off x="10698480" y="3323844"/>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0.340</a:t>
            </a:r>
            <a:endParaRPr lang="en-US" sz="720" dirty="0"/>
          </a:p>
        </p:txBody>
      </p:sp>
      <p:sp>
        <p:nvSpPr>
          <p:cNvPr id="108" name="Text 106"/>
          <p:cNvSpPr/>
          <p:nvPr/>
        </p:nvSpPr>
        <p:spPr>
          <a:xfrm>
            <a:off x="6903720" y="3657600"/>
            <a:ext cx="1645920" cy="146304"/>
          </a:xfrm>
          <a:prstGeom prst="rect">
            <a:avLst/>
          </a:prstGeom>
          <a:noFill/>
          <a:ln/>
        </p:spPr>
        <p:txBody>
          <a:bodyPr wrap="square" lIns="0" tIns="0" rIns="0" bIns="0" rtlCol="0" anchor="ctr"/>
          <a:lstStyle/>
          <a:p>
            <a:pPr indent="0" marL="0">
              <a:buNone/>
            </a:pPr>
            <a:r>
              <a:rPr lang="en-US" sz="750" dirty="0">
                <a:solidFill>
                  <a:srgbClr val="5F6F82"/>
                </a:solidFill>
              </a:rPr>
              <a:t>Cellebrite</a:t>
            </a:r>
            <a:endParaRPr lang="en-US" sz="750" dirty="0"/>
          </a:p>
        </p:txBody>
      </p:sp>
      <p:sp>
        <p:nvSpPr>
          <p:cNvPr id="109" name="Shape 107"/>
          <p:cNvSpPr/>
          <p:nvPr/>
        </p:nvSpPr>
        <p:spPr>
          <a:xfrm>
            <a:off x="8412480" y="3703320"/>
            <a:ext cx="2788920" cy="109728"/>
          </a:xfrm>
          <a:prstGeom prst="rect">
            <a:avLst/>
          </a:prstGeom>
          <a:solidFill>
            <a:srgbClr val="E6EEF4"/>
          </a:solidFill>
          <a:ln w="12700">
            <a:solidFill>
              <a:srgbClr val="E6EEF4"/>
            </a:solidFill>
            <a:prstDash val="solid"/>
          </a:ln>
        </p:spPr>
      </p:sp>
      <p:sp>
        <p:nvSpPr>
          <p:cNvPr id="110" name="Shape 108"/>
          <p:cNvSpPr/>
          <p:nvPr/>
        </p:nvSpPr>
        <p:spPr>
          <a:xfrm>
            <a:off x="8412480" y="3703320"/>
            <a:ext cx="814365" cy="109728"/>
          </a:xfrm>
          <a:prstGeom prst="rect">
            <a:avLst/>
          </a:prstGeom>
          <a:solidFill>
            <a:srgbClr val="0A7C80"/>
          </a:solidFill>
          <a:ln w="12700">
            <a:solidFill>
              <a:srgbClr val="0A7C80"/>
            </a:solidFill>
            <a:prstDash val="solid"/>
          </a:ln>
        </p:spPr>
      </p:sp>
      <p:sp>
        <p:nvSpPr>
          <p:cNvPr id="111" name="Text 109"/>
          <p:cNvSpPr/>
          <p:nvPr/>
        </p:nvSpPr>
        <p:spPr>
          <a:xfrm>
            <a:off x="10698480" y="3653028"/>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0.292</a:t>
            </a:r>
            <a:endParaRPr lang="en-US" sz="720" dirty="0"/>
          </a:p>
        </p:txBody>
      </p:sp>
      <p:sp>
        <p:nvSpPr>
          <p:cNvPr id="112" name="Text 110"/>
          <p:cNvSpPr/>
          <p:nvPr/>
        </p:nvSpPr>
        <p:spPr>
          <a:xfrm>
            <a:off x="6903720" y="3986784"/>
            <a:ext cx="1645920" cy="146304"/>
          </a:xfrm>
          <a:prstGeom prst="rect">
            <a:avLst/>
          </a:prstGeom>
          <a:noFill/>
          <a:ln/>
        </p:spPr>
        <p:txBody>
          <a:bodyPr wrap="square" lIns="0" tIns="0" rIns="0" bIns="0" rtlCol="0" anchor="ctr"/>
          <a:lstStyle/>
          <a:p>
            <a:pPr indent="0" marL="0">
              <a:buNone/>
            </a:pPr>
            <a:r>
              <a:rPr lang="en-US" sz="750" dirty="0">
                <a:solidFill>
                  <a:srgbClr val="5F6F82"/>
                </a:solidFill>
              </a:rPr>
              <a:t>Griffeye/T3K</a:t>
            </a:r>
            <a:endParaRPr lang="en-US" sz="750" dirty="0"/>
          </a:p>
        </p:txBody>
      </p:sp>
      <p:sp>
        <p:nvSpPr>
          <p:cNvPr id="113" name="Shape 111"/>
          <p:cNvSpPr/>
          <p:nvPr/>
        </p:nvSpPr>
        <p:spPr>
          <a:xfrm>
            <a:off x="8412480" y="4032504"/>
            <a:ext cx="2788920" cy="109728"/>
          </a:xfrm>
          <a:prstGeom prst="rect">
            <a:avLst/>
          </a:prstGeom>
          <a:solidFill>
            <a:srgbClr val="E6EEF4"/>
          </a:solidFill>
          <a:ln w="12700">
            <a:solidFill>
              <a:srgbClr val="E6EEF4"/>
            </a:solidFill>
            <a:prstDash val="solid"/>
          </a:ln>
        </p:spPr>
      </p:sp>
      <p:sp>
        <p:nvSpPr>
          <p:cNvPr id="114" name="Shape 112"/>
          <p:cNvSpPr/>
          <p:nvPr/>
        </p:nvSpPr>
        <p:spPr>
          <a:xfrm>
            <a:off x="8412480" y="4032504"/>
            <a:ext cx="725119" cy="109728"/>
          </a:xfrm>
          <a:prstGeom prst="rect">
            <a:avLst/>
          </a:prstGeom>
          <a:solidFill>
            <a:srgbClr val="0A7C80"/>
          </a:solidFill>
          <a:ln w="12700">
            <a:solidFill>
              <a:srgbClr val="0A7C80"/>
            </a:solidFill>
            <a:prstDash val="solid"/>
          </a:ln>
        </p:spPr>
      </p:sp>
      <p:sp>
        <p:nvSpPr>
          <p:cNvPr id="115" name="Text 113"/>
          <p:cNvSpPr/>
          <p:nvPr/>
        </p:nvSpPr>
        <p:spPr>
          <a:xfrm>
            <a:off x="10698480" y="3982212"/>
            <a:ext cx="502920" cy="164592"/>
          </a:xfrm>
          <a:prstGeom prst="rect">
            <a:avLst/>
          </a:prstGeom>
          <a:noFill/>
          <a:ln/>
        </p:spPr>
        <p:txBody>
          <a:bodyPr wrap="square" lIns="0" tIns="0" rIns="0" bIns="0" rtlCol="0" anchor="ctr"/>
          <a:lstStyle/>
          <a:p>
            <a:pPr algn="r" indent="0" marL="0">
              <a:buNone/>
            </a:pPr>
            <a:r>
              <a:rPr lang="en-US" sz="720" dirty="0">
                <a:solidFill>
                  <a:srgbClr val="10203B"/>
                </a:solidFill>
              </a:rPr>
              <a:t>0.260</a:t>
            </a:r>
            <a:endParaRPr lang="en-US" sz="720" dirty="0"/>
          </a:p>
        </p:txBody>
      </p:sp>
      <p:sp>
        <p:nvSpPr>
          <p:cNvPr id="116" name="Shape 114"/>
          <p:cNvSpPr/>
          <p:nvPr/>
        </p:nvSpPr>
        <p:spPr>
          <a:xfrm>
            <a:off x="2103120" y="5532120"/>
            <a:ext cx="8092440" cy="502920"/>
          </a:xfrm>
          <a:prstGeom prst="roundRect">
            <a:avLst>
              <a:gd name="adj" fmla="val 18182"/>
            </a:avLst>
          </a:prstGeom>
          <a:solidFill>
            <a:srgbClr val="FFFFFF"/>
          </a:solidFill>
          <a:ln w="16510">
            <a:solidFill>
              <a:srgbClr val="E76F28"/>
            </a:solidFill>
            <a:prstDash val="solid"/>
          </a:ln>
        </p:spPr>
      </p:sp>
      <p:sp>
        <p:nvSpPr>
          <p:cNvPr id="117" name="Text 115"/>
          <p:cNvSpPr/>
          <p:nvPr/>
        </p:nvSpPr>
        <p:spPr>
          <a:xfrm>
            <a:off x="2267712" y="5641848"/>
            <a:ext cx="776325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OOD behavior exposes operational risk that is not visible from clean accuracy.</a:t>
            </a:r>
            <a:endParaRPr lang="en-US" sz="1200" dirty="0"/>
          </a:p>
        </p:txBody>
      </p:sp>
      <p:sp>
        <p:nvSpPr>
          <p:cNvPr id="118" name="Shape 116"/>
          <p:cNvSpPr/>
          <p:nvPr/>
        </p:nvSpPr>
        <p:spPr>
          <a:xfrm>
            <a:off x="411480" y="6510528"/>
            <a:ext cx="11365992" cy="0"/>
          </a:xfrm>
          <a:prstGeom prst="line">
            <a:avLst/>
          </a:prstGeom>
          <a:noFill/>
          <a:ln w="8890">
            <a:solidFill>
              <a:srgbClr val="D8E1E8"/>
            </a:solidFill>
            <a:prstDash val="solid"/>
          </a:ln>
        </p:spPr>
      </p:sp>
      <p:sp>
        <p:nvSpPr>
          <p:cNvPr id="119" name="Text 117"/>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120" name="Text 118"/>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COMPARATIVE RESULTS</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Robustness Under Perturbations</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Different tools fail through different operational modes</a:t>
            </a:r>
            <a:endParaRPr lang="en-US" sz="1100" dirty="0"/>
          </a:p>
        </p:txBody>
      </p:sp>
      <p:sp>
        <p:nvSpPr>
          <p:cNvPr id="6" name="Shape 4"/>
          <p:cNvSpPr/>
          <p:nvPr/>
        </p:nvSpPr>
        <p:spPr>
          <a:xfrm>
            <a:off x="457200" y="1325880"/>
            <a:ext cx="1828800" cy="365760"/>
          </a:xfrm>
          <a:prstGeom prst="rect">
            <a:avLst/>
          </a:prstGeom>
          <a:solidFill>
            <a:srgbClr val="0B1F4D"/>
          </a:solidFill>
          <a:ln w="12700">
            <a:solidFill>
              <a:srgbClr val="FFFFFF">
                <a:alpha val="0"/>
              </a:srgbClr>
            </a:solidFill>
            <a:prstDash val="solid"/>
          </a:ln>
        </p:spPr>
      </p:sp>
      <p:sp>
        <p:nvSpPr>
          <p:cNvPr id="7" name="Text 5"/>
          <p:cNvSpPr/>
          <p:nvPr/>
        </p:nvSpPr>
        <p:spPr>
          <a:xfrm>
            <a:off x="484632" y="1371600"/>
            <a:ext cx="1773936" cy="292608"/>
          </a:xfrm>
          <a:prstGeom prst="rect">
            <a:avLst/>
          </a:prstGeom>
          <a:noFill/>
          <a:ln/>
        </p:spPr>
        <p:txBody>
          <a:bodyPr wrap="square" lIns="127" tIns="127" rIns="127" bIns="127" rtlCol="0" anchor="ctr">
            <a:normAutofit/>
          </a:bodyPr>
          <a:lstStyle/>
          <a:p>
            <a:pPr algn="ctr" indent="0" marL="0">
              <a:buNone/>
            </a:pPr>
            <a:r>
              <a:rPr lang="en-US" sz="750" b="1" dirty="0">
                <a:solidFill>
                  <a:srgbClr val="FFFFFF"/>
                </a:solidFill>
              </a:rPr>
              <a:t>System</a:t>
            </a:r>
            <a:endParaRPr lang="en-US" sz="750" dirty="0"/>
          </a:p>
        </p:txBody>
      </p:sp>
      <p:sp>
        <p:nvSpPr>
          <p:cNvPr id="8" name="Shape 6"/>
          <p:cNvSpPr/>
          <p:nvPr/>
        </p:nvSpPr>
        <p:spPr>
          <a:xfrm>
            <a:off x="2286000" y="1325880"/>
            <a:ext cx="1645920" cy="365760"/>
          </a:xfrm>
          <a:prstGeom prst="rect">
            <a:avLst/>
          </a:prstGeom>
          <a:solidFill>
            <a:srgbClr val="0B1F4D"/>
          </a:solidFill>
          <a:ln w="12700">
            <a:solidFill>
              <a:srgbClr val="FFFFFF">
                <a:alpha val="0"/>
              </a:srgbClr>
            </a:solidFill>
            <a:prstDash val="solid"/>
          </a:ln>
        </p:spPr>
      </p:sp>
      <p:sp>
        <p:nvSpPr>
          <p:cNvPr id="9" name="Text 7"/>
          <p:cNvSpPr/>
          <p:nvPr/>
        </p:nvSpPr>
        <p:spPr>
          <a:xfrm>
            <a:off x="2313432" y="1371600"/>
            <a:ext cx="1591056" cy="292608"/>
          </a:xfrm>
          <a:prstGeom prst="rect">
            <a:avLst/>
          </a:prstGeom>
          <a:noFill/>
          <a:ln/>
        </p:spPr>
        <p:txBody>
          <a:bodyPr wrap="square" lIns="127" tIns="127" rIns="127" bIns="127" rtlCol="0" anchor="ctr">
            <a:normAutofit/>
          </a:bodyPr>
          <a:lstStyle/>
          <a:p>
            <a:pPr algn="ctr" indent="0" marL="0">
              <a:buNone/>
            </a:pPr>
            <a:r>
              <a:rPr lang="en-US" sz="750" b="1" dirty="0">
                <a:solidFill>
                  <a:srgbClr val="FFFFFF"/>
                </a:solidFill>
              </a:rPr>
              <a:t>Adv. acc./drop</a:t>
            </a:r>
            <a:endParaRPr lang="en-US" sz="750" dirty="0"/>
          </a:p>
        </p:txBody>
      </p:sp>
      <p:sp>
        <p:nvSpPr>
          <p:cNvPr id="10" name="Shape 8"/>
          <p:cNvSpPr/>
          <p:nvPr/>
        </p:nvSpPr>
        <p:spPr>
          <a:xfrm>
            <a:off x="3931920" y="1325880"/>
            <a:ext cx="1920240" cy="365760"/>
          </a:xfrm>
          <a:prstGeom prst="rect">
            <a:avLst/>
          </a:prstGeom>
          <a:solidFill>
            <a:srgbClr val="0B1F4D"/>
          </a:solidFill>
          <a:ln w="12700">
            <a:solidFill>
              <a:srgbClr val="FFFFFF">
                <a:alpha val="0"/>
              </a:srgbClr>
            </a:solidFill>
            <a:prstDash val="solid"/>
          </a:ln>
        </p:spPr>
      </p:sp>
      <p:sp>
        <p:nvSpPr>
          <p:cNvPr id="11" name="Text 9"/>
          <p:cNvSpPr/>
          <p:nvPr/>
        </p:nvSpPr>
        <p:spPr>
          <a:xfrm>
            <a:off x="3959352" y="1371600"/>
            <a:ext cx="1865376" cy="292608"/>
          </a:xfrm>
          <a:prstGeom prst="rect">
            <a:avLst/>
          </a:prstGeom>
          <a:noFill/>
          <a:ln/>
        </p:spPr>
        <p:txBody>
          <a:bodyPr wrap="square" lIns="127" tIns="127" rIns="127" bIns="127" rtlCol="0" anchor="ctr">
            <a:normAutofit/>
          </a:bodyPr>
          <a:lstStyle/>
          <a:p>
            <a:pPr algn="ctr" indent="0" marL="0">
              <a:buNone/>
            </a:pPr>
            <a:r>
              <a:rPr lang="en-US" sz="750" b="1" dirty="0">
                <a:solidFill>
                  <a:srgbClr val="FFFFFF"/>
                </a:solidFill>
              </a:rPr>
              <a:t>Adv. critical</a:t>
            </a:r>
            <a:endParaRPr lang="en-US" sz="750" dirty="0"/>
          </a:p>
        </p:txBody>
      </p:sp>
      <p:sp>
        <p:nvSpPr>
          <p:cNvPr id="12" name="Shape 10"/>
          <p:cNvSpPr/>
          <p:nvPr/>
        </p:nvSpPr>
        <p:spPr>
          <a:xfrm>
            <a:off x="5852160" y="1325880"/>
            <a:ext cx="1508760" cy="365760"/>
          </a:xfrm>
          <a:prstGeom prst="rect">
            <a:avLst/>
          </a:prstGeom>
          <a:solidFill>
            <a:srgbClr val="0B1F4D"/>
          </a:solidFill>
          <a:ln w="12700">
            <a:solidFill>
              <a:srgbClr val="FFFFFF">
                <a:alpha val="0"/>
              </a:srgbClr>
            </a:solidFill>
            <a:prstDash val="solid"/>
          </a:ln>
        </p:spPr>
      </p:sp>
      <p:sp>
        <p:nvSpPr>
          <p:cNvPr id="13" name="Text 11"/>
          <p:cNvSpPr/>
          <p:nvPr/>
        </p:nvSpPr>
        <p:spPr>
          <a:xfrm>
            <a:off x="5879592" y="1371600"/>
            <a:ext cx="1453896" cy="292608"/>
          </a:xfrm>
          <a:prstGeom prst="rect">
            <a:avLst/>
          </a:prstGeom>
          <a:noFill/>
          <a:ln/>
        </p:spPr>
        <p:txBody>
          <a:bodyPr wrap="square" lIns="127" tIns="127" rIns="127" bIns="127" rtlCol="0" anchor="ctr">
            <a:normAutofit/>
          </a:bodyPr>
          <a:lstStyle/>
          <a:p>
            <a:pPr algn="ctr" indent="0" marL="0">
              <a:buNone/>
            </a:pPr>
            <a:r>
              <a:rPr lang="en-US" sz="750" b="1" dirty="0">
                <a:solidFill>
                  <a:srgbClr val="FFFFFF"/>
                </a:solidFill>
              </a:rPr>
              <a:t>Main adv. error</a:t>
            </a:r>
            <a:endParaRPr lang="en-US" sz="750" dirty="0"/>
          </a:p>
        </p:txBody>
      </p:sp>
      <p:sp>
        <p:nvSpPr>
          <p:cNvPr id="14" name="Shape 12"/>
          <p:cNvSpPr/>
          <p:nvPr/>
        </p:nvSpPr>
        <p:spPr>
          <a:xfrm>
            <a:off x="7360920" y="1325880"/>
            <a:ext cx="1645920" cy="365760"/>
          </a:xfrm>
          <a:prstGeom prst="rect">
            <a:avLst/>
          </a:prstGeom>
          <a:solidFill>
            <a:srgbClr val="0B1F4D"/>
          </a:solidFill>
          <a:ln w="12700">
            <a:solidFill>
              <a:srgbClr val="FFFFFF">
                <a:alpha val="0"/>
              </a:srgbClr>
            </a:solidFill>
            <a:prstDash val="solid"/>
          </a:ln>
        </p:spPr>
      </p:sp>
      <p:sp>
        <p:nvSpPr>
          <p:cNvPr id="15" name="Text 13"/>
          <p:cNvSpPr/>
          <p:nvPr/>
        </p:nvSpPr>
        <p:spPr>
          <a:xfrm>
            <a:off x="7388352" y="1371600"/>
            <a:ext cx="1591056" cy="292608"/>
          </a:xfrm>
          <a:prstGeom prst="rect">
            <a:avLst/>
          </a:prstGeom>
          <a:noFill/>
          <a:ln/>
        </p:spPr>
        <p:txBody>
          <a:bodyPr wrap="square" lIns="127" tIns="127" rIns="127" bIns="127" rtlCol="0" anchor="ctr">
            <a:normAutofit/>
          </a:bodyPr>
          <a:lstStyle/>
          <a:p>
            <a:pPr algn="ctr" indent="0" marL="0">
              <a:buNone/>
            </a:pPr>
            <a:r>
              <a:rPr lang="en-US" sz="750" b="1" dirty="0">
                <a:solidFill>
                  <a:srgbClr val="FFFFFF"/>
                </a:solidFill>
              </a:rPr>
              <a:t>Anti acc./drop</a:t>
            </a:r>
            <a:endParaRPr lang="en-US" sz="750" dirty="0"/>
          </a:p>
        </p:txBody>
      </p:sp>
      <p:sp>
        <p:nvSpPr>
          <p:cNvPr id="16" name="Shape 14"/>
          <p:cNvSpPr/>
          <p:nvPr/>
        </p:nvSpPr>
        <p:spPr>
          <a:xfrm>
            <a:off x="9006840" y="1325880"/>
            <a:ext cx="2743200" cy="365760"/>
          </a:xfrm>
          <a:prstGeom prst="rect">
            <a:avLst/>
          </a:prstGeom>
          <a:solidFill>
            <a:srgbClr val="0B1F4D"/>
          </a:solidFill>
          <a:ln w="12700">
            <a:solidFill>
              <a:srgbClr val="FFFFFF">
                <a:alpha val="0"/>
              </a:srgbClr>
            </a:solidFill>
            <a:prstDash val="solid"/>
          </a:ln>
        </p:spPr>
      </p:sp>
      <p:sp>
        <p:nvSpPr>
          <p:cNvPr id="17" name="Text 15"/>
          <p:cNvSpPr/>
          <p:nvPr/>
        </p:nvSpPr>
        <p:spPr>
          <a:xfrm>
            <a:off x="9034272" y="1371600"/>
            <a:ext cx="2688336" cy="292608"/>
          </a:xfrm>
          <a:prstGeom prst="rect">
            <a:avLst/>
          </a:prstGeom>
          <a:noFill/>
          <a:ln/>
        </p:spPr>
        <p:txBody>
          <a:bodyPr wrap="square" lIns="127" tIns="127" rIns="127" bIns="127" rtlCol="0" anchor="ctr">
            <a:normAutofit/>
          </a:bodyPr>
          <a:lstStyle/>
          <a:p>
            <a:pPr algn="ctr" indent="0" marL="0">
              <a:buNone/>
            </a:pPr>
            <a:r>
              <a:rPr lang="en-US" sz="750" b="1" dirty="0">
                <a:solidFill>
                  <a:srgbClr val="FFFFFF"/>
                </a:solidFill>
              </a:rPr>
              <a:t>Anti critical</a:t>
            </a:r>
            <a:endParaRPr lang="en-US" sz="750" dirty="0"/>
          </a:p>
        </p:txBody>
      </p:sp>
      <p:sp>
        <p:nvSpPr>
          <p:cNvPr id="18" name="Shape 16"/>
          <p:cNvSpPr/>
          <p:nvPr/>
        </p:nvSpPr>
        <p:spPr>
          <a:xfrm>
            <a:off x="457200" y="1691640"/>
            <a:ext cx="1828800" cy="365760"/>
          </a:xfrm>
          <a:prstGeom prst="rect">
            <a:avLst/>
          </a:prstGeom>
          <a:solidFill>
            <a:srgbClr val="FFFFFF"/>
          </a:solidFill>
          <a:ln w="6350">
            <a:solidFill>
              <a:srgbClr val="FFFFFF"/>
            </a:solidFill>
            <a:prstDash val="solid"/>
          </a:ln>
        </p:spPr>
      </p:sp>
      <p:sp>
        <p:nvSpPr>
          <p:cNvPr id="19" name="Text 17"/>
          <p:cNvSpPr/>
          <p:nvPr/>
        </p:nvSpPr>
        <p:spPr>
          <a:xfrm>
            <a:off x="484632" y="1728216"/>
            <a:ext cx="1773936" cy="29260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Magnet AI</a:t>
            </a:r>
            <a:endParaRPr lang="en-US" sz="830" dirty="0"/>
          </a:p>
        </p:txBody>
      </p:sp>
      <p:sp>
        <p:nvSpPr>
          <p:cNvPr id="20" name="Shape 18"/>
          <p:cNvSpPr/>
          <p:nvPr/>
        </p:nvSpPr>
        <p:spPr>
          <a:xfrm>
            <a:off x="2286000" y="1691640"/>
            <a:ext cx="1645920" cy="365760"/>
          </a:xfrm>
          <a:prstGeom prst="rect">
            <a:avLst/>
          </a:prstGeom>
          <a:solidFill>
            <a:srgbClr val="FFFFFF"/>
          </a:solidFill>
          <a:ln w="6350">
            <a:solidFill>
              <a:srgbClr val="FFFFFF"/>
            </a:solidFill>
            <a:prstDash val="solid"/>
          </a:ln>
        </p:spPr>
      </p:sp>
      <p:sp>
        <p:nvSpPr>
          <p:cNvPr id="21" name="Text 19"/>
          <p:cNvSpPr/>
          <p:nvPr/>
        </p:nvSpPr>
        <p:spPr>
          <a:xfrm>
            <a:off x="2313432" y="172821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0.923 / 0.027</a:t>
            </a:r>
            <a:endParaRPr lang="en-US" sz="830" dirty="0"/>
          </a:p>
        </p:txBody>
      </p:sp>
      <p:sp>
        <p:nvSpPr>
          <p:cNvPr id="22" name="Shape 20"/>
          <p:cNvSpPr/>
          <p:nvPr/>
        </p:nvSpPr>
        <p:spPr>
          <a:xfrm>
            <a:off x="3931920" y="1691640"/>
            <a:ext cx="1920240" cy="365760"/>
          </a:xfrm>
          <a:prstGeom prst="rect">
            <a:avLst/>
          </a:prstGeom>
          <a:solidFill>
            <a:srgbClr val="FFFFFF"/>
          </a:solidFill>
          <a:ln w="6350">
            <a:solidFill>
              <a:srgbClr val="FFFFFF"/>
            </a:solidFill>
            <a:prstDash val="solid"/>
          </a:ln>
        </p:spPr>
      </p:sp>
      <p:sp>
        <p:nvSpPr>
          <p:cNvPr id="23" name="Text 21"/>
          <p:cNvSpPr/>
          <p:nvPr/>
        </p:nvSpPr>
        <p:spPr>
          <a:xfrm>
            <a:off x="3959352" y="1728216"/>
            <a:ext cx="186537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FGSM FNR 0.192</a:t>
            </a:r>
            <a:endParaRPr lang="en-US" sz="830" dirty="0"/>
          </a:p>
        </p:txBody>
      </p:sp>
      <p:sp>
        <p:nvSpPr>
          <p:cNvPr id="24" name="Shape 22"/>
          <p:cNvSpPr/>
          <p:nvPr/>
        </p:nvSpPr>
        <p:spPr>
          <a:xfrm>
            <a:off x="5852160" y="1691640"/>
            <a:ext cx="1508760" cy="365760"/>
          </a:xfrm>
          <a:prstGeom prst="rect">
            <a:avLst/>
          </a:prstGeom>
          <a:solidFill>
            <a:srgbClr val="FFFFFF"/>
          </a:solidFill>
          <a:ln w="6350">
            <a:solidFill>
              <a:srgbClr val="FFFFFF"/>
            </a:solidFill>
            <a:prstDash val="solid"/>
          </a:ln>
        </p:spPr>
      </p:sp>
      <p:sp>
        <p:nvSpPr>
          <p:cNvPr id="25" name="Text 23"/>
          <p:cNvSpPr/>
          <p:nvPr/>
        </p:nvSpPr>
        <p:spPr>
          <a:xfrm>
            <a:off x="5879592" y="1728216"/>
            <a:ext cx="145389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96 FN</a:t>
            </a:r>
            <a:endParaRPr lang="en-US" sz="830" dirty="0"/>
          </a:p>
        </p:txBody>
      </p:sp>
      <p:sp>
        <p:nvSpPr>
          <p:cNvPr id="26" name="Shape 24"/>
          <p:cNvSpPr/>
          <p:nvPr/>
        </p:nvSpPr>
        <p:spPr>
          <a:xfrm>
            <a:off x="7360920" y="1691640"/>
            <a:ext cx="1645920" cy="365760"/>
          </a:xfrm>
          <a:prstGeom prst="rect">
            <a:avLst/>
          </a:prstGeom>
          <a:solidFill>
            <a:srgbClr val="FFFFFF"/>
          </a:solidFill>
          <a:ln w="6350">
            <a:solidFill>
              <a:srgbClr val="FFFFFF"/>
            </a:solidFill>
            <a:prstDash val="solid"/>
          </a:ln>
        </p:spPr>
      </p:sp>
      <p:sp>
        <p:nvSpPr>
          <p:cNvPr id="27" name="Text 25"/>
          <p:cNvSpPr/>
          <p:nvPr/>
        </p:nvSpPr>
        <p:spPr>
          <a:xfrm>
            <a:off x="7388352" y="172821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0.940 / 0.010</a:t>
            </a:r>
            <a:endParaRPr lang="en-US" sz="830" dirty="0"/>
          </a:p>
        </p:txBody>
      </p:sp>
      <p:sp>
        <p:nvSpPr>
          <p:cNvPr id="28" name="Shape 26"/>
          <p:cNvSpPr/>
          <p:nvPr/>
        </p:nvSpPr>
        <p:spPr>
          <a:xfrm>
            <a:off x="9006840" y="1691640"/>
            <a:ext cx="2743200" cy="365760"/>
          </a:xfrm>
          <a:prstGeom prst="rect">
            <a:avLst/>
          </a:prstGeom>
          <a:solidFill>
            <a:srgbClr val="FFFFFF"/>
          </a:solidFill>
          <a:ln w="6350">
            <a:solidFill>
              <a:srgbClr val="FFFFFF"/>
            </a:solidFill>
            <a:prstDash val="solid"/>
          </a:ln>
        </p:spPr>
      </p:sp>
      <p:sp>
        <p:nvSpPr>
          <p:cNvPr id="29" name="Text 27"/>
          <p:cNvSpPr/>
          <p:nvPr/>
        </p:nvSpPr>
        <p:spPr>
          <a:xfrm>
            <a:off x="9034272" y="1728216"/>
            <a:ext cx="268833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Gaussian blur</a:t>
            </a:r>
            <a:endParaRPr lang="en-US" sz="830" dirty="0"/>
          </a:p>
        </p:txBody>
      </p:sp>
      <p:sp>
        <p:nvSpPr>
          <p:cNvPr id="30" name="Shape 28"/>
          <p:cNvSpPr/>
          <p:nvPr/>
        </p:nvSpPr>
        <p:spPr>
          <a:xfrm>
            <a:off x="457200" y="2057400"/>
            <a:ext cx="1828800" cy="365760"/>
          </a:xfrm>
          <a:prstGeom prst="rect">
            <a:avLst/>
          </a:prstGeom>
          <a:solidFill>
            <a:srgbClr val="F3F7FA"/>
          </a:solidFill>
          <a:ln w="6350">
            <a:solidFill>
              <a:srgbClr val="FFFFFF"/>
            </a:solidFill>
            <a:prstDash val="solid"/>
          </a:ln>
        </p:spPr>
      </p:sp>
      <p:sp>
        <p:nvSpPr>
          <p:cNvPr id="31" name="Text 29"/>
          <p:cNvSpPr/>
          <p:nvPr/>
        </p:nvSpPr>
        <p:spPr>
          <a:xfrm>
            <a:off x="484632" y="2093976"/>
            <a:ext cx="1773936" cy="29260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Excire D50</a:t>
            </a:r>
            <a:endParaRPr lang="en-US" sz="830" dirty="0"/>
          </a:p>
        </p:txBody>
      </p:sp>
      <p:sp>
        <p:nvSpPr>
          <p:cNvPr id="32" name="Shape 30"/>
          <p:cNvSpPr/>
          <p:nvPr/>
        </p:nvSpPr>
        <p:spPr>
          <a:xfrm>
            <a:off x="2286000" y="2057400"/>
            <a:ext cx="1645920" cy="365760"/>
          </a:xfrm>
          <a:prstGeom prst="rect">
            <a:avLst/>
          </a:prstGeom>
          <a:solidFill>
            <a:srgbClr val="F3F7FA"/>
          </a:solidFill>
          <a:ln w="6350">
            <a:solidFill>
              <a:srgbClr val="FFFFFF"/>
            </a:solidFill>
            <a:prstDash val="solid"/>
          </a:ln>
        </p:spPr>
      </p:sp>
      <p:sp>
        <p:nvSpPr>
          <p:cNvPr id="33" name="Text 31"/>
          <p:cNvSpPr/>
          <p:nvPr/>
        </p:nvSpPr>
        <p:spPr>
          <a:xfrm>
            <a:off x="2313432" y="209397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0.904 / 0.040</a:t>
            </a:r>
            <a:endParaRPr lang="en-US" sz="830" dirty="0"/>
          </a:p>
        </p:txBody>
      </p:sp>
      <p:sp>
        <p:nvSpPr>
          <p:cNvPr id="34" name="Shape 32"/>
          <p:cNvSpPr/>
          <p:nvPr/>
        </p:nvSpPr>
        <p:spPr>
          <a:xfrm>
            <a:off x="3931920" y="2057400"/>
            <a:ext cx="1920240" cy="365760"/>
          </a:xfrm>
          <a:prstGeom prst="rect">
            <a:avLst/>
          </a:prstGeom>
          <a:solidFill>
            <a:srgbClr val="F3F7FA"/>
          </a:solidFill>
          <a:ln w="6350">
            <a:solidFill>
              <a:srgbClr val="FFFFFF"/>
            </a:solidFill>
            <a:prstDash val="solid"/>
          </a:ln>
        </p:spPr>
      </p:sp>
      <p:sp>
        <p:nvSpPr>
          <p:cNvPr id="35" name="Text 33"/>
          <p:cNvSpPr/>
          <p:nvPr/>
        </p:nvSpPr>
        <p:spPr>
          <a:xfrm>
            <a:off x="3959352" y="2093976"/>
            <a:ext cx="186537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SigmaZero FPR 0.442</a:t>
            </a:r>
            <a:endParaRPr lang="en-US" sz="830" dirty="0"/>
          </a:p>
        </p:txBody>
      </p:sp>
      <p:sp>
        <p:nvSpPr>
          <p:cNvPr id="36" name="Shape 34"/>
          <p:cNvSpPr/>
          <p:nvPr/>
        </p:nvSpPr>
        <p:spPr>
          <a:xfrm>
            <a:off x="5852160" y="2057400"/>
            <a:ext cx="1508760" cy="365760"/>
          </a:xfrm>
          <a:prstGeom prst="rect">
            <a:avLst/>
          </a:prstGeom>
          <a:solidFill>
            <a:srgbClr val="F3F7FA"/>
          </a:solidFill>
          <a:ln w="6350">
            <a:solidFill>
              <a:srgbClr val="FFFFFF"/>
            </a:solidFill>
            <a:prstDash val="solid"/>
          </a:ln>
        </p:spPr>
      </p:sp>
      <p:sp>
        <p:nvSpPr>
          <p:cNvPr id="37" name="Text 35"/>
          <p:cNvSpPr/>
          <p:nvPr/>
        </p:nvSpPr>
        <p:spPr>
          <a:xfrm>
            <a:off x="5879592" y="2093976"/>
            <a:ext cx="145389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221 FP</a:t>
            </a:r>
            <a:endParaRPr lang="en-US" sz="830" dirty="0"/>
          </a:p>
        </p:txBody>
      </p:sp>
      <p:sp>
        <p:nvSpPr>
          <p:cNvPr id="38" name="Shape 36"/>
          <p:cNvSpPr/>
          <p:nvPr/>
        </p:nvSpPr>
        <p:spPr>
          <a:xfrm>
            <a:off x="7360920" y="2057400"/>
            <a:ext cx="1645920" cy="365760"/>
          </a:xfrm>
          <a:prstGeom prst="rect">
            <a:avLst/>
          </a:prstGeom>
          <a:solidFill>
            <a:srgbClr val="F3F7FA"/>
          </a:solidFill>
          <a:ln w="6350">
            <a:solidFill>
              <a:srgbClr val="FFFFFF"/>
            </a:solidFill>
            <a:prstDash val="solid"/>
          </a:ln>
        </p:spPr>
      </p:sp>
      <p:sp>
        <p:nvSpPr>
          <p:cNvPr id="39" name="Text 37"/>
          <p:cNvSpPr/>
          <p:nvPr/>
        </p:nvSpPr>
        <p:spPr>
          <a:xfrm>
            <a:off x="7388352" y="209397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0.941 / 0.003</a:t>
            </a:r>
            <a:endParaRPr lang="en-US" sz="830" dirty="0"/>
          </a:p>
        </p:txBody>
      </p:sp>
      <p:sp>
        <p:nvSpPr>
          <p:cNvPr id="40" name="Shape 38"/>
          <p:cNvSpPr/>
          <p:nvPr/>
        </p:nvSpPr>
        <p:spPr>
          <a:xfrm>
            <a:off x="9006840" y="2057400"/>
            <a:ext cx="2743200" cy="365760"/>
          </a:xfrm>
          <a:prstGeom prst="rect">
            <a:avLst/>
          </a:prstGeom>
          <a:solidFill>
            <a:srgbClr val="F3F7FA"/>
          </a:solidFill>
          <a:ln w="6350">
            <a:solidFill>
              <a:srgbClr val="FFFFFF"/>
            </a:solidFill>
            <a:prstDash val="solid"/>
          </a:ln>
        </p:spPr>
      </p:sp>
      <p:sp>
        <p:nvSpPr>
          <p:cNvPr id="41" name="Text 39"/>
          <p:cNvSpPr/>
          <p:nvPr/>
        </p:nvSpPr>
        <p:spPr>
          <a:xfrm>
            <a:off x="9034272" y="2093976"/>
            <a:ext cx="268833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Histogram mod.</a:t>
            </a:r>
            <a:endParaRPr lang="en-US" sz="830" dirty="0"/>
          </a:p>
        </p:txBody>
      </p:sp>
      <p:sp>
        <p:nvSpPr>
          <p:cNvPr id="42" name="Shape 40"/>
          <p:cNvSpPr/>
          <p:nvPr/>
        </p:nvSpPr>
        <p:spPr>
          <a:xfrm>
            <a:off x="457200" y="2423160"/>
            <a:ext cx="1828800" cy="365760"/>
          </a:xfrm>
          <a:prstGeom prst="rect">
            <a:avLst/>
          </a:prstGeom>
          <a:solidFill>
            <a:srgbClr val="FFFFFF"/>
          </a:solidFill>
          <a:ln w="6350">
            <a:solidFill>
              <a:srgbClr val="FFFFFF"/>
            </a:solidFill>
            <a:prstDash val="solid"/>
          </a:ln>
        </p:spPr>
      </p:sp>
      <p:sp>
        <p:nvSpPr>
          <p:cNvPr id="43" name="Text 41"/>
          <p:cNvSpPr/>
          <p:nvPr/>
        </p:nvSpPr>
        <p:spPr>
          <a:xfrm>
            <a:off x="484632" y="2459736"/>
            <a:ext cx="1773936" cy="29260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Cellebrite</a:t>
            </a:r>
            <a:endParaRPr lang="en-US" sz="830" dirty="0"/>
          </a:p>
        </p:txBody>
      </p:sp>
      <p:sp>
        <p:nvSpPr>
          <p:cNvPr id="44" name="Shape 42"/>
          <p:cNvSpPr/>
          <p:nvPr/>
        </p:nvSpPr>
        <p:spPr>
          <a:xfrm>
            <a:off x="2286000" y="2423160"/>
            <a:ext cx="1645920" cy="365760"/>
          </a:xfrm>
          <a:prstGeom prst="rect">
            <a:avLst/>
          </a:prstGeom>
          <a:solidFill>
            <a:srgbClr val="FFFFFF"/>
          </a:solidFill>
          <a:ln w="6350">
            <a:solidFill>
              <a:srgbClr val="FFFFFF"/>
            </a:solidFill>
            <a:prstDash val="solid"/>
          </a:ln>
        </p:spPr>
      </p:sp>
      <p:sp>
        <p:nvSpPr>
          <p:cNvPr id="45" name="Text 43"/>
          <p:cNvSpPr/>
          <p:nvPr/>
        </p:nvSpPr>
        <p:spPr>
          <a:xfrm>
            <a:off x="2313432" y="245973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0.955 / 0.009</a:t>
            </a:r>
            <a:endParaRPr lang="en-US" sz="830" dirty="0"/>
          </a:p>
        </p:txBody>
      </p:sp>
      <p:sp>
        <p:nvSpPr>
          <p:cNvPr id="46" name="Shape 44"/>
          <p:cNvSpPr/>
          <p:nvPr/>
        </p:nvSpPr>
        <p:spPr>
          <a:xfrm>
            <a:off x="3931920" y="2423160"/>
            <a:ext cx="1920240" cy="365760"/>
          </a:xfrm>
          <a:prstGeom prst="rect">
            <a:avLst/>
          </a:prstGeom>
          <a:solidFill>
            <a:srgbClr val="FFFFFF"/>
          </a:solidFill>
          <a:ln w="6350">
            <a:solidFill>
              <a:srgbClr val="FFFFFF"/>
            </a:solidFill>
            <a:prstDash val="solid"/>
          </a:ln>
        </p:spPr>
      </p:sp>
      <p:sp>
        <p:nvSpPr>
          <p:cNvPr id="47" name="Text 45"/>
          <p:cNvSpPr/>
          <p:nvPr/>
        </p:nvSpPr>
        <p:spPr>
          <a:xfrm>
            <a:off x="3959352" y="2459736"/>
            <a:ext cx="186537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FGSM FNR 0.106</a:t>
            </a:r>
            <a:endParaRPr lang="en-US" sz="830" dirty="0"/>
          </a:p>
        </p:txBody>
      </p:sp>
      <p:sp>
        <p:nvSpPr>
          <p:cNvPr id="48" name="Shape 46"/>
          <p:cNvSpPr/>
          <p:nvPr/>
        </p:nvSpPr>
        <p:spPr>
          <a:xfrm>
            <a:off x="5852160" y="2423160"/>
            <a:ext cx="1508760" cy="365760"/>
          </a:xfrm>
          <a:prstGeom prst="rect">
            <a:avLst/>
          </a:prstGeom>
          <a:solidFill>
            <a:srgbClr val="FFFFFF"/>
          </a:solidFill>
          <a:ln w="6350">
            <a:solidFill>
              <a:srgbClr val="FFFFFF"/>
            </a:solidFill>
            <a:prstDash val="solid"/>
          </a:ln>
        </p:spPr>
      </p:sp>
      <p:sp>
        <p:nvSpPr>
          <p:cNvPr id="49" name="Text 47"/>
          <p:cNvSpPr/>
          <p:nvPr/>
        </p:nvSpPr>
        <p:spPr>
          <a:xfrm>
            <a:off x="5879592" y="2459736"/>
            <a:ext cx="145389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53 FN</a:t>
            </a:r>
            <a:endParaRPr lang="en-US" sz="830" dirty="0"/>
          </a:p>
        </p:txBody>
      </p:sp>
      <p:sp>
        <p:nvSpPr>
          <p:cNvPr id="50" name="Shape 48"/>
          <p:cNvSpPr/>
          <p:nvPr/>
        </p:nvSpPr>
        <p:spPr>
          <a:xfrm>
            <a:off x="7360920" y="2423160"/>
            <a:ext cx="1645920" cy="365760"/>
          </a:xfrm>
          <a:prstGeom prst="rect">
            <a:avLst/>
          </a:prstGeom>
          <a:solidFill>
            <a:srgbClr val="FFFFFF"/>
          </a:solidFill>
          <a:ln w="6350">
            <a:solidFill>
              <a:srgbClr val="FFFFFF"/>
            </a:solidFill>
            <a:prstDash val="solid"/>
          </a:ln>
        </p:spPr>
      </p:sp>
      <p:sp>
        <p:nvSpPr>
          <p:cNvPr id="51" name="Text 49"/>
          <p:cNvSpPr/>
          <p:nvPr/>
        </p:nvSpPr>
        <p:spPr>
          <a:xfrm>
            <a:off x="7388352" y="245973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0.960 / 0.004</a:t>
            </a:r>
            <a:endParaRPr lang="en-US" sz="830" dirty="0"/>
          </a:p>
        </p:txBody>
      </p:sp>
      <p:sp>
        <p:nvSpPr>
          <p:cNvPr id="52" name="Shape 50"/>
          <p:cNvSpPr/>
          <p:nvPr/>
        </p:nvSpPr>
        <p:spPr>
          <a:xfrm>
            <a:off x="9006840" y="2423160"/>
            <a:ext cx="2743200" cy="365760"/>
          </a:xfrm>
          <a:prstGeom prst="rect">
            <a:avLst/>
          </a:prstGeom>
          <a:solidFill>
            <a:srgbClr val="FFFFFF"/>
          </a:solidFill>
          <a:ln w="6350">
            <a:solidFill>
              <a:srgbClr val="FFFFFF"/>
            </a:solidFill>
            <a:prstDash val="solid"/>
          </a:ln>
        </p:spPr>
      </p:sp>
      <p:sp>
        <p:nvSpPr>
          <p:cNvPr id="53" name="Text 51"/>
          <p:cNvSpPr/>
          <p:nvPr/>
        </p:nvSpPr>
        <p:spPr>
          <a:xfrm>
            <a:off x="9034272" y="2459736"/>
            <a:ext cx="268833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Histogram mod.</a:t>
            </a:r>
            <a:endParaRPr lang="en-US" sz="830" dirty="0"/>
          </a:p>
        </p:txBody>
      </p:sp>
      <p:sp>
        <p:nvSpPr>
          <p:cNvPr id="54" name="Shape 52"/>
          <p:cNvSpPr/>
          <p:nvPr/>
        </p:nvSpPr>
        <p:spPr>
          <a:xfrm>
            <a:off x="457200" y="2788920"/>
            <a:ext cx="1828800" cy="365760"/>
          </a:xfrm>
          <a:prstGeom prst="rect">
            <a:avLst/>
          </a:prstGeom>
          <a:solidFill>
            <a:srgbClr val="F3F7FA"/>
          </a:solidFill>
          <a:ln w="6350">
            <a:solidFill>
              <a:srgbClr val="FFFFFF"/>
            </a:solidFill>
            <a:prstDash val="solid"/>
          </a:ln>
        </p:spPr>
      </p:sp>
      <p:sp>
        <p:nvSpPr>
          <p:cNvPr id="55" name="Text 53"/>
          <p:cNvSpPr/>
          <p:nvPr/>
        </p:nvSpPr>
        <p:spPr>
          <a:xfrm>
            <a:off x="484632" y="2825496"/>
            <a:ext cx="1773936" cy="292608"/>
          </a:xfrm>
          <a:prstGeom prst="rect">
            <a:avLst/>
          </a:prstGeom>
          <a:noFill/>
          <a:ln/>
        </p:spPr>
        <p:txBody>
          <a:bodyPr wrap="square" lIns="127" tIns="127" rIns="127" bIns="127" rtlCol="0" anchor="ctr">
            <a:normAutofit/>
          </a:bodyPr>
          <a:lstStyle/>
          <a:p>
            <a:pPr algn="l" indent="0" marL="0">
              <a:buNone/>
            </a:pPr>
            <a:r>
              <a:rPr lang="en-US" sz="830" dirty="0">
                <a:solidFill>
                  <a:srgbClr val="10203B"/>
                </a:solidFill>
              </a:rPr>
              <a:t>Griffeye/T3K</a:t>
            </a:r>
            <a:endParaRPr lang="en-US" sz="830" dirty="0"/>
          </a:p>
        </p:txBody>
      </p:sp>
      <p:sp>
        <p:nvSpPr>
          <p:cNvPr id="56" name="Shape 54"/>
          <p:cNvSpPr/>
          <p:nvPr/>
        </p:nvSpPr>
        <p:spPr>
          <a:xfrm>
            <a:off x="2286000" y="2788920"/>
            <a:ext cx="1645920" cy="365760"/>
          </a:xfrm>
          <a:prstGeom prst="rect">
            <a:avLst/>
          </a:prstGeom>
          <a:solidFill>
            <a:srgbClr val="F3F7FA"/>
          </a:solidFill>
          <a:ln w="6350">
            <a:solidFill>
              <a:srgbClr val="FFFFFF"/>
            </a:solidFill>
            <a:prstDash val="solid"/>
          </a:ln>
        </p:spPr>
      </p:sp>
      <p:sp>
        <p:nvSpPr>
          <p:cNvPr id="57" name="Text 55"/>
          <p:cNvSpPr/>
          <p:nvPr/>
        </p:nvSpPr>
        <p:spPr>
          <a:xfrm>
            <a:off x="2313432" y="282549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0.969 / 0.009</a:t>
            </a:r>
            <a:endParaRPr lang="en-US" sz="830" dirty="0"/>
          </a:p>
        </p:txBody>
      </p:sp>
      <p:sp>
        <p:nvSpPr>
          <p:cNvPr id="58" name="Shape 56"/>
          <p:cNvSpPr/>
          <p:nvPr/>
        </p:nvSpPr>
        <p:spPr>
          <a:xfrm>
            <a:off x="3931920" y="2788920"/>
            <a:ext cx="1920240" cy="365760"/>
          </a:xfrm>
          <a:prstGeom prst="rect">
            <a:avLst/>
          </a:prstGeom>
          <a:solidFill>
            <a:srgbClr val="F3F7FA"/>
          </a:solidFill>
          <a:ln w="6350">
            <a:solidFill>
              <a:srgbClr val="FFFFFF"/>
            </a:solidFill>
            <a:prstDash val="solid"/>
          </a:ln>
        </p:spPr>
      </p:sp>
      <p:sp>
        <p:nvSpPr>
          <p:cNvPr id="59" name="Text 57"/>
          <p:cNvSpPr/>
          <p:nvPr/>
        </p:nvSpPr>
        <p:spPr>
          <a:xfrm>
            <a:off x="3959352" y="2825496"/>
            <a:ext cx="186537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SigmaZero FNR 0.074</a:t>
            </a:r>
            <a:endParaRPr lang="en-US" sz="830" dirty="0"/>
          </a:p>
        </p:txBody>
      </p:sp>
      <p:sp>
        <p:nvSpPr>
          <p:cNvPr id="60" name="Shape 58"/>
          <p:cNvSpPr/>
          <p:nvPr/>
        </p:nvSpPr>
        <p:spPr>
          <a:xfrm>
            <a:off x="5852160" y="2788920"/>
            <a:ext cx="1508760" cy="365760"/>
          </a:xfrm>
          <a:prstGeom prst="rect">
            <a:avLst/>
          </a:prstGeom>
          <a:solidFill>
            <a:srgbClr val="F3F7FA"/>
          </a:solidFill>
          <a:ln w="6350">
            <a:solidFill>
              <a:srgbClr val="FFFFFF"/>
            </a:solidFill>
            <a:prstDash val="solid"/>
          </a:ln>
        </p:spPr>
      </p:sp>
      <p:sp>
        <p:nvSpPr>
          <p:cNvPr id="61" name="Text 59"/>
          <p:cNvSpPr/>
          <p:nvPr/>
        </p:nvSpPr>
        <p:spPr>
          <a:xfrm>
            <a:off x="5879592" y="2825496"/>
            <a:ext cx="145389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37 FN</a:t>
            </a:r>
            <a:endParaRPr lang="en-US" sz="830" dirty="0"/>
          </a:p>
        </p:txBody>
      </p:sp>
      <p:sp>
        <p:nvSpPr>
          <p:cNvPr id="62" name="Shape 60"/>
          <p:cNvSpPr/>
          <p:nvPr/>
        </p:nvSpPr>
        <p:spPr>
          <a:xfrm>
            <a:off x="7360920" y="2788920"/>
            <a:ext cx="1645920" cy="365760"/>
          </a:xfrm>
          <a:prstGeom prst="rect">
            <a:avLst/>
          </a:prstGeom>
          <a:solidFill>
            <a:srgbClr val="F3F7FA"/>
          </a:solidFill>
          <a:ln w="6350">
            <a:solidFill>
              <a:srgbClr val="FFFFFF"/>
            </a:solidFill>
            <a:prstDash val="solid"/>
          </a:ln>
        </p:spPr>
      </p:sp>
      <p:sp>
        <p:nvSpPr>
          <p:cNvPr id="63" name="Text 61"/>
          <p:cNvSpPr/>
          <p:nvPr/>
        </p:nvSpPr>
        <p:spPr>
          <a:xfrm>
            <a:off x="7388352" y="2825496"/>
            <a:ext cx="159105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0.974 / 0.004</a:t>
            </a:r>
            <a:endParaRPr lang="en-US" sz="830" dirty="0"/>
          </a:p>
        </p:txBody>
      </p:sp>
      <p:sp>
        <p:nvSpPr>
          <p:cNvPr id="64" name="Shape 62"/>
          <p:cNvSpPr/>
          <p:nvPr/>
        </p:nvSpPr>
        <p:spPr>
          <a:xfrm>
            <a:off x="9006840" y="2788920"/>
            <a:ext cx="2743200" cy="365760"/>
          </a:xfrm>
          <a:prstGeom prst="rect">
            <a:avLst/>
          </a:prstGeom>
          <a:solidFill>
            <a:srgbClr val="F3F7FA"/>
          </a:solidFill>
          <a:ln w="6350">
            <a:solidFill>
              <a:srgbClr val="FFFFFF"/>
            </a:solidFill>
            <a:prstDash val="solid"/>
          </a:ln>
        </p:spPr>
      </p:sp>
      <p:sp>
        <p:nvSpPr>
          <p:cNvPr id="65" name="Text 63"/>
          <p:cNvSpPr/>
          <p:nvPr/>
        </p:nvSpPr>
        <p:spPr>
          <a:xfrm>
            <a:off x="9034272" y="2825496"/>
            <a:ext cx="2688336" cy="292608"/>
          </a:xfrm>
          <a:prstGeom prst="rect">
            <a:avLst/>
          </a:prstGeom>
          <a:noFill/>
          <a:ln/>
        </p:spPr>
        <p:txBody>
          <a:bodyPr wrap="square" lIns="127" tIns="127" rIns="127" bIns="127" rtlCol="0" anchor="ctr">
            <a:normAutofit/>
          </a:bodyPr>
          <a:lstStyle/>
          <a:p>
            <a:pPr algn="ctr" indent="0" marL="0">
              <a:buNone/>
            </a:pPr>
            <a:r>
              <a:rPr lang="en-US" sz="830" dirty="0">
                <a:solidFill>
                  <a:srgbClr val="10203B"/>
                </a:solidFill>
              </a:rPr>
              <a:t>Histogram mod.</a:t>
            </a:r>
            <a:endParaRPr lang="en-US" sz="830" dirty="0"/>
          </a:p>
        </p:txBody>
      </p:sp>
      <p:sp>
        <p:nvSpPr>
          <p:cNvPr id="66" name="Shape 64"/>
          <p:cNvSpPr/>
          <p:nvPr/>
        </p:nvSpPr>
        <p:spPr>
          <a:xfrm>
            <a:off x="685800" y="3703320"/>
            <a:ext cx="3520440" cy="1508760"/>
          </a:xfrm>
          <a:prstGeom prst="roundRect">
            <a:avLst>
              <a:gd name="adj" fmla="val 6061"/>
            </a:avLst>
          </a:prstGeom>
          <a:solidFill>
            <a:srgbClr val="FFF2EA"/>
          </a:solidFill>
          <a:ln w="12700">
            <a:solidFill>
              <a:srgbClr val="F0B083"/>
            </a:solidFill>
            <a:prstDash val="solid"/>
          </a:ln>
        </p:spPr>
      </p:sp>
      <p:sp>
        <p:nvSpPr>
          <p:cNvPr id="67" name="Text 65"/>
          <p:cNvSpPr/>
          <p:nvPr/>
        </p:nvSpPr>
        <p:spPr>
          <a:xfrm>
            <a:off x="914400" y="3886200"/>
            <a:ext cx="1463040" cy="228600"/>
          </a:xfrm>
          <a:prstGeom prst="rect">
            <a:avLst/>
          </a:prstGeom>
          <a:noFill/>
          <a:ln/>
        </p:spPr>
        <p:txBody>
          <a:bodyPr wrap="square" lIns="0" tIns="0" rIns="0" bIns="0" rtlCol="0" anchor="ctr"/>
          <a:lstStyle/>
          <a:p>
            <a:pPr indent="0" marL="0">
              <a:buNone/>
            </a:pPr>
            <a:r>
              <a:rPr lang="en-US" sz="1500" b="1" dirty="0">
                <a:solidFill>
                  <a:srgbClr val="0B1F4D"/>
                </a:solidFill>
              </a:rPr>
              <a:t>Magnet AI</a:t>
            </a:r>
            <a:endParaRPr lang="en-US" sz="1500" dirty="0"/>
          </a:p>
        </p:txBody>
      </p:sp>
      <p:sp>
        <p:nvSpPr>
          <p:cNvPr id="68" name="Text 66"/>
          <p:cNvSpPr/>
          <p:nvPr/>
        </p:nvSpPr>
        <p:spPr>
          <a:xfrm>
            <a:off x="914400" y="4325112"/>
            <a:ext cx="2971800" cy="502920"/>
          </a:xfrm>
          <a:prstGeom prst="rect">
            <a:avLst/>
          </a:prstGeom>
          <a:noFill/>
          <a:ln/>
        </p:spPr>
        <p:txBody>
          <a:bodyPr wrap="square" lIns="254" tIns="254" rIns="254" bIns="254" rtlCol="0" anchor="ctr"/>
          <a:lstStyle/>
          <a:p>
            <a:pPr algn="ctr" indent="0" marL="0">
              <a:buNone/>
            </a:pPr>
            <a:r>
              <a:rPr lang="en-US" sz="1300" dirty="0">
                <a:solidFill>
                  <a:srgbClr val="10203B"/>
                </a:solidFill>
              </a:rPr>
              <a:t>FGSM increases missed weapon detection</a:t>
            </a:r>
            <a:endParaRPr lang="en-US" sz="1300" dirty="0"/>
          </a:p>
          <a:p>
            <a:pPr algn="ctr" indent="0" marL="0">
              <a:buNone/>
            </a:pPr>
            <a:r>
              <a:rPr lang="en-US" sz="1300" dirty="0">
                <a:solidFill>
                  <a:srgbClr val="10203B"/>
                </a:solidFill>
              </a:rPr>
              <a:t>FNR 0.192, 96 FN</a:t>
            </a:r>
            <a:endParaRPr lang="en-US" sz="1300" dirty="0"/>
          </a:p>
        </p:txBody>
      </p:sp>
      <p:sp>
        <p:nvSpPr>
          <p:cNvPr id="69" name="Shape 67"/>
          <p:cNvSpPr/>
          <p:nvPr/>
        </p:nvSpPr>
        <p:spPr>
          <a:xfrm>
            <a:off x="4343400" y="3703320"/>
            <a:ext cx="3520440" cy="1508760"/>
          </a:xfrm>
          <a:prstGeom prst="roundRect">
            <a:avLst>
              <a:gd name="adj" fmla="val 6061"/>
            </a:avLst>
          </a:prstGeom>
          <a:solidFill>
            <a:srgbClr val="FFF2EA"/>
          </a:solidFill>
          <a:ln w="12700">
            <a:solidFill>
              <a:srgbClr val="F0B083"/>
            </a:solidFill>
            <a:prstDash val="solid"/>
          </a:ln>
        </p:spPr>
      </p:sp>
      <p:sp>
        <p:nvSpPr>
          <p:cNvPr id="70" name="Text 68"/>
          <p:cNvSpPr/>
          <p:nvPr/>
        </p:nvSpPr>
        <p:spPr>
          <a:xfrm>
            <a:off x="4572000" y="3886200"/>
            <a:ext cx="1554480" cy="228600"/>
          </a:xfrm>
          <a:prstGeom prst="rect">
            <a:avLst/>
          </a:prstGeom>
          <a:noFill/>
          <a:ln/>
        </p:spPr>
        <p:txBody>
          <a:bodyPr wrap="square" lIns="0" tIns="0" rIns="0" bIns="0" rtlCol="0" anchor="ctr"/>
          <a:lstStyle/>
          <a:p>
            <a:pPr indent="0" marL="0">
              <a:buNone/>
            </a:pPr>
            <a:r>
              <a:rPr lang="en-US" sz="1500" b="1" dirty="0">
                <a:solidFill>
                  <a:srgbClr val="0B1F4D"/>
                </a:solidFill>
              </a:rPr>
              <a:t>Excire D50</a:t>
            </a:r>
            <a:endParaRPr lang="en-US" sz="1500" dirty="0"/>
          </a:p>
        </p:txBody>
      </p:sp>
      <p:sp>
        <p:nvSpPr>
          <p:cNvPr id="71" name="Text 69"/>
          <p:cNvSpPr/>
          <p:nvPr/>
        </p:nvSpPr>
        <p:spPr>
          <a:xfrm>
            <a:off x="4572000" y="4325112"/>
            <a:ext cx="2971800" cy="502920"/>
          </a:xfrm>
          <a:prstGeom prst="rect">
            <a:avLst/>
          </a:prstGeom>
          <a:noFill/>
          <a:ln/>
        </p:spPr>
        <p:txBody>
          <a:bodyPr wrap="square" lIns="254" tIns="254" rIns="254" bIns="254" rtlCol="0" anchor="ctr"/>
          <a:lstStyle/>
          <a:p>
            <a:pPr algn="ctr" indent="0" marL="0">
              <a:buNone/>
            </a:pPr>
            <a:r>
              <a:rPr lang="en-US" sz="1300" dirty="0">
                <a:solidFill>
                  <a:srgbClr val="10203B"/>
                </a:solidFill>
              </a:rPr>
              <a:t>SigmaZero causes over-triggering</a:t>
            </a:r>
            <a:endParaRPr lang="en-US" sz="1300" dirty="0"/>
          </a:p>
          <a:p>
            <a:pPr algn="ctr" indent="0" marL="0">
              <a:buNone/>
            </a:pPr>
            <a:r>
              <a:rPr lang="en-US" sz="1300" dirty="0">
                <a:solidFill>
                  <a:srgbClr val="10203B"/>
                </a:solidFill>
              </a:rPr>
              <a:t>FPR 0.442, 221 FP</a:t>
            </a:r>
            <a:endParaRPr lang="en-US" sz="1300" dirty="0"/>
          </a:p>
        </p:txBody>
      </p:sp>
      <p:sp>
        <p:nvSpPr>
          <p:cNvPr id="72" name="Shape 70"/>
          <p:cNvSpPr/>
          <p:nvPr/>
        </p:nvSpPr>
        <p:spPr>
          <a:xfrm>
            <a:off x="8001000" y="3703320"/>
            <a:ext cx="3520440" cy="1508760"/>
          </a:xfrm>
          <a:prstGeom prst="roundRect">
            <a:avLst>
              <a:gd name="adj" fmla="val 6061"/>
            </a:avLst>
          </a:prstGeom>
          <a:solidFill>
            <a:srgbClr val="EAF7F8"/>
          </a:solidFill>
          <a:ln w="12700">
            <a:solidFill>
              <a:srgbClr val="A7DADB"/>
            </a:solidFill>
            <a:prstDash val="solid"/>
          </a:ln>
        </p:spPr>
      </p:sp>
      <p:sp>
        <p:nvSpPr>
          <p:cNvPr id="73" name="Text 71"/>
          <p:cNvSpPr/>
          <p:nvPr/>
        </p:nvSpPr>
        <p:spPr>
          <a:xfrm>
            <a:off x="8229600" y="3886200"/>
            <a:ext cx="2377440" cy="228600"/>
          </a:xfrm>
          <a:prstGeom prst="rect">
            <a:avLst/>
          </a:prstGeom>
          <a:noFill/>
          <a:ln/>
        </p:spPr>
        <p:txBody>
          <a:bodyPr wrap="square" lIns="0" tIns="0" rIns="0" bIns="0" rtlCol="0" anchor="ctr"/>
          <a:lstStyle/>
          <a:p>
            <a:pPr indent="0" marL="0">
              <a:buNone/>
            </a:pPr>
            <a:r>
              <a:rPr lang="en-US" sz="1500" b="1" dirty="0">
                <a:solidFill>
                  <a:srgbClr val="0A7C80"/>
                </a:solidFill>
              </a:rPr>
              <a:t>Cellebrite / Griffeye</a:t>
            </a:r>
            <a:endParaRPr lang="en-US" sz="1500" dirty="0"/>
          </a:p>
        </p:txBody>
      </p:sp>
      <p:sp>
        <p:nvSpPr>
          <p:cNvPr id="74" name="Text 72"/>
          <p:cNvSpPr/>
          <p:nvPr/>
        </p:nvSpPr>
        <p:spPr>
          <a:xfrm>
            <a:off x="8229600" y="4325112"/>
            <a:ext cx="2971800" cy="502920"/>
          </a:xfrm>
          <a:prstGeom prst="rect">
            <a:avLst/>
          </a:prstGeom>
          <a:noFill/>
          <a:ln/>
        </p:spPr>
        <p:txBody>
          <a:bodyPr wrap="square" lIns="254" tIns="254" rIns="254" bIns="254" rtlCol="0" anchor="ctr"/>
          <a:lstStyle/>
          <a:p>
            <a:pPr algn="ctr" indent="0" marL="0">
              <a:buNone/>
            </a:pPr>
            <a:r>
              <a:rPr lang="en-US" sz="1250" dirty="0">
                <a:solidFill>
                  <a:srgbClr val="10203B"/>
                </a:solidFill>
              </a:rPr>
              <a:t>Good aggregate stability, but residual FN risk remains under specific perturbations.</a:t>
            </a:r>
            <a:endParaRPr lang="en-US" sz="1250" dirty="0"/>
          </a:p>
        </p:txBody>
      </p:sp>
      <p:sp>
        <p:nvSpPr>
          <p:cNvPr id="75" name="Shape 73"/>
          <p:cNvSpPr/>
          <p:nvPr/>
        </p:nvSpPr>
        <p:spPr>
          <a:xfrm>
            <a:off x="411480" y="6510528"/>
            <a:ext cx="11365992" cy="0"/>
          </a:xfrm>
          <a:prstGeom prst="line">
            <a:avLst/>
          </a:prstGeom>
          <a:noFill/>
          <a:ln w="8890">
            <a:solidFill>
              <a:srgbClr val="D8E1E8"/>
            </a:solidFill>
            <a:prstDash val="solid"/>
          </a:ln>
        </p:spPr>
      </p:sp>
      <p:sp>
        <p:nvSpPr>
          <p:cNvPr id="76" name="Text 74"/>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77" name="Text 75"/>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SYNTHESIS</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Key Findings and Operational Risk</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The relevant question is not only “how accurate?”, but “how can it fail?”</a:t>
            </a:r>
            <a:endParaRPr lang="en-US" sz="1100" dirty="0"/>
          </a:p>
        </p:txBody>
      </p:sp>
      <p:sp>
        <p:nvSpPr>
          <p:cNvPr id="6" name="Shape 4"/>
          <p:cNvSpPr/>
          <p:nvPr/>
        </p:nvSpPr>
        <p:spPr>
          <a:xfrm>
            <a:off x="731520" y="1417320"/>
            <a:ext cx="5120640" cy="960120"/>
          </a:xfrm>
          <a:prstGeom prst="roundRect">
            <a:avLst>
              <a:gd name="adj" fmla="val 9524"/>
            </a:avLst>
          </a:prstGeom>
          <a:solidFill>
            <a:srgbClr val="FFFFFF"/>
          </a:solidFill>
          <a:ln w="12700">
            <a:solidFill>
              <a:srgbClr val="D8E1E8"/>
            </a:solidFill>
            <a:prstDash val="solid"/>
          </a:ln>
        </p:spPr>
      </p:sp>
      <p:sp>
        <p:nvSpPr>
          <p:cNvPr id="7" name="Shape 5"/>
          <p:cNvSpPr/>
          <p:nvPr/>
        </p:nvSpPr>
        <p:spPr>
          <a:xfrm>
            <a:off x="914400" y="1673352"/>
            <a:ext cx="420624" cy="420624"/>
          </a:xfrm>
          <a:prstGeom prst="ellipse">
            <a:avLst/>
          </a:prstGeom>
          <a:solidFill>
            <a:srgbClr val="E76F28"/>
          </a:solidFill>
          <a:ln w="12700">
            <a:solidFill>
              <a:srgbClr val="E76F28"/>
            </a:solidFill>
            <a:prstDash val="solid"/>
          </a:ln>
        </p:spPr>
      </p:sp>
      <p:sp>
        <p:nvSpPr>
          <p:cNvPr id="8" name="Text 6"/>
          <p:cNvSpPr/>
          <p:nvPr/>
        </p:nvSpPr>
        <p:spPr>
          <a:xfrm>
            <a:off x="932688" y="176022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444752" y="1618488"/>
            <a:ext cx="2057400" cy="201168"/>
          </a:xfrm>
          <a:prstGeom prst="rect">
            <a:avLst/>
          </a:prstGeom>
          <a:noFill/>
          <a:ln/>
        </p:spPr>
        <p:txBody>
          <a:bodyPr wrap="square" lIns="0" tIns="0" rIns="0" bIns="0" rtlCol="0" anchor="ctr"/>
          <a:lstStyle/>
          <a:p>
            <a:pPr indent="0" marL="0">
              <a:buNone/>
            </a:pPr>
            <a:r>
              <a:rPr lang="en-US" sz="1400" b="1" dirty="0">
                <a:solidFill>
                  <a:srgbClr val="0B1F4D"/>
                </a:solidFill>
              </a:rPr>
              <a:t>Clean ≠ Robust</a:t>
            </a:r>
            <a:endParaRPr lang="en-US" sz="1400" dirty="0"/>
          </a:p>
        </p:txBody>
      </p:sp>
      <p:sp>
        <p:nvSpPr>
          <p:cNvPr id="10" name="Text 8"/>
          <p:cNvSpPr/>
          <p:nvPr/>
        </p:nvSpPr>
        <p:spPr>
          <a:xfrm>
            <a:off x="1444752" y="1947672"/>
            <a:ext cx="4114800" cy="210312"/>
          </a:xfrm>
          <a:prstGeom prst="rect">
            <a:avLst/>
          </a:prstGeom>
          <a:noFill/>
          <a:ln/>
        </p:spPr>
        <p:txBody>
          <a:bodyPr wrap="square" lIns="0" tIns="0" rIns="0" bIns="0" rtlCol="0" anchor="ctr">
            <a:normAutofit/>
          </a:bodyPr>
          <a:lstStyle/>
          <a:p>
            <a:pPr indent="0" marL="0">
              <a:buNone/>
            </a:pPr>
            <a:r>
              <a:rPr lang="en-US" sz="1020" dirty="0">
                <a:solidFill>
                  <a:srgbClr val="10203B"/>
                </a:solidFill>
              </a:rPr>
              <a:t>EfficientNet-B0: 0.978 clean acc., but 0.015 under SigmaZero.</a:t>
            </a:r>
            <a:endParaRPr lang="en-US" sz="1020" dirty="0"/>
          </a:p>
        </p:txBody>
      </p:sp>
      <p:sp>
        <p:nvSpPr>
          <p:cNvPr id="11" name="Shape 9"/>
          <p:cNvSpPr/>
          <p:nvPr/>
        </p:nvSpPr>
        <p:spPr>
          <a:xfrm>
            <a:off x="6217920" y="1417320"/>
            <a:ext cx="5120640" cy="960120"/>
          </a:xfrm>
          <a:prstGeom prst="roundRect">
            <a:avLst>
              <a:gd name="adj" fmla="val 9524"/>
            </a:avLst>
          </a:prstGeom>
          <a:solidFill>
            <a:srgbClr val="FFFFFF"/>
          </a:solidFill>
          <a:ln w="12700">
            <a:solidFill>
              <a:srgbClr val="D8E1E8"/>
            </a:solidFill>
            <a:prstDash val="solid"/>
          </a:ln>
        </p:spPr>
      </p:sp>
      <p:sp>
        <p:nvSpPr>
          <p:cNvPr id="12" name="Shape 10"/>
          <p:cNvSpPr/>
          <p:nvPr/>
        </p:nvSpPr>
        <p:spPr>
          <a:xfrm>
            <a:off x="6400800" y="1673352"/>
            <a:ext cx="420624" cy="420624"/>
          </a:xfrm>
          <a:prstGeom prst="ellipse">
            <a:avLst/>
          </a:prstGeom>
          <a:solidFill>
            <a:srgbClr val="E76F28"/>
          </a:solidFill>
          <a:ln w="12700">
            <a:solidFill>
              <a:srgbClr val="E76F28"/>
            </a:solidFill>
            <a:prstDash val="solid"/>
          </a:ln>
        </p:spPr>
      </p:sp>
      <p:sp>
        <p:nvSpPr>
          <p:cNvPr id="13" name="Text 11"/>
          <p:cNvSpPr/>
          <p:nvPr/>
        </p:nvSpPr>
        <p:spPr>
          <a:xfrm>
            <a:off x="6419088" y="176022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6931152" y="1618488"/>
            <a:ext cx="2057400" cy="201168"/>
          </a:xfrm>
          <a:prstGeom prst="rect">
            <a:avLst/>
          </a:prstGeom>
          <a:noFill/>
          <a:ln/>
        </p:spPr>
        <p:txBody>
          <a:bodyPr wrap="square" lIns="0" tIns="0" rIns="0" bIns="0" rtlCol="0" anchor="ctr"/>
          <a:lstStyle/>
          <a:p>
            <a:pPr indent="0" marL="0">
              <a:buNone/>
            </a:pPr>
            <a:r>
              <a:rPr lang="en-US" sz="1400" b="1" dirty="0">
                <a:solidFill>
                  <a:srgbClr val="0B1F4D"/>
                </a:solidFill>
              </a:rPr>
              <a:t>OOD matters</a:t>
            </a:r>
            <a:endParaRPr lang="en-US" sz="1400" dirty="0"/>
          </a:p>
        </p:txBody>
      </p:sp>
      <p:sp>
        <p:nvSpPr>
          <p:cNvPr id="15" name="Text 13"/>
          <p:cNvSpPr/>
          <p:nvPr/>
        </p:nvSpPr>
        <p:spPr>
          <a:xfrm>
            <a:off x="6931152" y="1947672"/>
            <a:ext cx="4114800" cy="210312"/>
          </a:xfrm>
          <a:prstGeom prst="rect">
            <a:avLst/>
          </a:prstGeom>
          <a:noFill/>
          <a:ln/>
        </p:spPr>
        <p:txBody>
          <a:bodyPr wrap="square" lIns="0" tIns="0" rIns="0" bIns="0" rtlCol="0" anchor="ctr">
            <a:normAutofit/>
          </a:bodyPr>
          <a:lstStyle/>
          <a:p>
            <a:pPr indent="0" marL="0">
              <a:buNone/>
            </a:pPr>
            <a:r>
              <a:rPr lang="en-US" sz="1020" dirty="0">
                <a:solidFill>
                  <a:srgbClr val="10203B"/>
                </a:solidFill>
              </a:rPr>
              <a:t>CLIP: 0.836 OOD weapon-flag rate despite low clean FNR.</a:t>
            </a:r>
            <a:endParaRPr lang="en-US" sz="1020" dirty="0"/>
          </a:p>
        </p:txBody>
      </p:sp>
      <p:sp>
        <p:nvSpPr>
          <p:cNvPr id="16" name="Shape 14"/>
          <p:cNvSpPr/>
          <p:nvPr/>
        </p:nvSpPr>
        <p:spPr>
          <a:xfrm>
            <a:off x="731520" y="2743200"/>
            <a:ext cx="5120640" cy="960120"/>
          </a:xfrm>
          <a:prstGeom prst="roundRect">
            <a:avLst>
              <a:gd name="adj" fmla="val 9524"/>
            </a:avLst>
          </a:prstGeom>
          <a:solidFill>
            <a:srgbClr val="FFFFFF"/>
          </a:solidFill>
          <a:ln w="12700">
            <a:solidFill>
              <a:srgbClr val="D8E1E8"/>
            </a:solidFill>
            <a:prstDash val="solid"/>
          </a:ln>
        </p:spPr>
      </p:sp>
      <p:sp>
        <p:nvSpPr>
          <p:cNvPr id="17" name="Shape 15"/>
          <p:cNvSpPr/>
          <p:nvPr/>
        </p:nvSpPr>
        <p:spPr>
          <a:xfrm>
            <a:off x="914400" y="2999232"/>
            <a:ext cx="420624" cy="420624"/>
          </a:xfrm>
          <a:prstGeom prst="ellipse">
            <a:avLst/>
          </a:prstGeom>
          <a:solidFill>
            <a:srgbClr val="E76F28"/>
          </a:solidFill>
          <a:ln w="12700">
            <a:solidFill>
              <a:srgbClr val="E76F28"/>
            </a:solidFill>
            <a:prstDash val="solid"/>
          </a:ln>
        </p:spPr>
      </p:sp>
      <p:sp>
        <p:nvSpPr>
          <p:cNvPr id="18" name="Text 16"/>
          <p:cNvSpPr/>
          <p:nvPr/>
        </p:nvSpPr>
        <p:spPr>
          <a:xfrm>
            <a:off x="932688" y="308610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1444752" y="2944368"/>
            <a:ext cx="2057400" cy="201168"/>
          </a:xfrm>
          <a:prstGeom prst="rect">
            <a:avLst/>
          </a:prstGeom>
          <a:noFill/>
          <a:ln/>
        </p:spPr>
        <p:txBody>
          <a:bodyPr wrap="square" lIns="0" tIns="0" rIns="0" bIns="0" rtlCol="0" anchor="ctr"/>
          <a:lstStyle/>
          <a:p>
            <a:pPr indent="0" marL="0">
              <a:buNone/>
            </a:pPr>
            <a:r>
              <a:rPr lang="en-US" sz="1400" b="1" dirty="0">
                <a:solidFill>
                  <a:srgbClr val="0B1F4D"/>
                </a:solidFill>
              </a:rPr>
              <a:t>False negatives matter</a:t>
            </a:r>
            <a:endParaRPr lang="en-US" sz="1400" dirty="0"/>
          </a:p>
        </p:txBody>
      </p:sp>
      <p:sp>
        <p:nvSpPr>
          <p:cNvPr id="20" name="Text 18"/>
          <p:cNvSpPr/>
          <p:nvPr/>
        </p:nvSpPr>
        <p:spPr>
          <a:xfrm>
            <a:off x="1444752" y="3273552"/>
            <a:ext cx="4114800" cy="210312"/>
          </a:xfrm>
          <a:prstGeom prst="rect">
            <a:avLst/>
          </a:prstGeom>
          <a:noFill/>
          <a:ln/>
        </p:spPr>
        <p:txBody>
          <a:bodyPr wrap="square" lIns="0" tIns="0" rIns="0" bIns="0" rtlCol="0" anchor="ctr">
            <a:normAutofit/>
          </a:bodyPr>
          <a:lstStyle/>
          <a:p>
            <a:pPr indent="0" marL="0">
              <a:buNone/>
            </a:pPr>
            <a:r>
              <a:rPr lang="en-US" sz="1020" dirty="0">
                <a:solidFill>
                  <a:srgbClr val="10203B"/>
                </a:solidFill>
              </a:rPr>
              <a:t>Magnet AI under FGSM: FNR 0.192, 96 weapon FN.</a:t>
            </a:r>
            <a:endParaRPr lang="en-US" sz="1020" dirty="0"/>
          </a:p>
        </p:txBody>
      </p:sp>
      <p:sp>
        <p:nvSpPr>
          <p:cNvPr id="21" name="Shape 19"/>
          <p:cNvSpPr/>
          <p:nvPr/>
        </p:nvSpPr>
        <p:spPr>
          <a:xfrm>
            <a:off x="6217920" y="2743200"/>
            <a:ext cx="5120640" cy="960120"/>
          </a:xfrm>
          <a:prstGeom prst="roundRect">
            <a:avLst>
              <a:gd name="adj" fmla="val 9524"/>
            </a:avLst>
          </a:prstGeom>
          <a:solidFill>
            <a:srgbClr val="FFFFFF"/>
          </a:solidFill>
          <a:ln w="12700">
            <a:solidFill>
              <a:srgbClr val="D8E1E8"/>
            </a:solidFill>
            <a:prstDash val="solid"/>
          </a:ln>
        </p:spPr>
      </p:sp>
      <p:sp>
        <p:nvSpPr>
          <p:cNvPr id="22" name="Shape 20"/>
          <p:cNvSpPr/>
          <p:nvPr/>
        </p:nvSpPr>
        <p:spPr>
          <a:xfrm>
            <a:off x="6400800" y="2999232"/>
            <a:ext cx="420624" cy="420624"/>
          </a:xfrm>
          <a:prstGeom prst="ellipse">
            <a:avLst/>
          </a:prstGeom>
          <a:solidFill>
            <a:srgbClr val="E76F28"/>
          </a:solidFill>
          <a:ln w="12700">
            <a:solidFill>
              <a:srgbClr val="E76F28"/>
            </a:solidFill>
            <a:prstDash val="solid"/>
          </a:ln>
        </p:spPr>
      </p:sp>
      <p:sp>
        <p:nvSpPr>
          <p:cNvPr id="23" name="Text 21"/>
          <p:cNvSpPr/>
          <p:nvPr/>
        </p:nvSpPr>
        <p:spPr>
          <a:xfrm>
            <a:off x="6419088" y="308610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p:nvPr/>
        </p:nvSpPr>
        <p:spPr>
          <a:xfrm>
            <a:off x="6931152" y="2944368"/>
            <a:ext cx="2057400" cy="201168"/>
          </a:xfrm>
          <a:prstGeom prst="rect">
            <a:avLst/>
          </a:prstGeom>
          <a:noFill/>
          <a:ln/>
        </p:spPr>
        <p:txBody>
          <a:bodyPr wrap="square" lIns="0" tIns="0" rIns="0" bIns="0" rtlCol="0" anchor="ctr"/>
          <a:lstStyle/>
          <a:p>
            <a:pPr indent="0" marL="0">
              <a:buNone/>
            </a:pPr>
            <a:r>
              <a:rPr lang="en-US" sz="1400" b="1" dirty="0">
                <a:solidFill>
                  <a:srgbClr val="0B1F4D"/>
                </a:solidFill>
              </a:rPr>
              <a:t>False positives matter</a:t>
            </a:r>
            <a:endParaRPr lang="en-US" sz="1400" dirty="0"/>
          </a:p>
        </p:txBody>
      </p:sp>
      <p:sp>
        <p:nvSpPr>
          <p:cNvPr id="25" name="Text 23"/>
          <p:cNvSpPr/>
          <p:nvPr/>
        </p:nvSpPr>
        <p:spPr>
          <a:xfrm>
            <a:off x="6931152" y="3273552"/>
            <a:ext cx="4114800" cy="210312"/>
          </a:xfrm>
          <a:prstGeom prst="rect">
            <a:avLst/>
          </a:prstGeom>
          <a:noFill/>
          <a:ln/>
        </p:spPr>
        <p:txBody>
          <a:bodyPr wrap="square" lIns="0" tIns="0" rIns="0" bIns="0" rtlCol="0" anchor="ctr">
            <a:normAutofit/>
          </a:bodyPr>
          <a:lstStyle/>
          <a:p>
            <a:pPr indent="0" marL="0">
              <a:buNone/>
            </a:pPr>
            <a:r>
              <a:rPr lang="en-US" sz="1020" dirty="0">
                <a:solidFill>
                  <a:srgbClr val="10203B"/>
                </a:solidFill>
              </a:rPr>
              <a:t>Excire D50 under SigmaZero: FPR 0.442, 221 FP.</a:t>
            </a:r>
            <a:endParaRPr lang="en-US" sz="1020" dirty="0"/>
          </a:p>
        </p:txBody>
      </p:sp>
      <p:sp>
        <p:nvSpPr>
          <p:cNvPr id="26" name="Shape 24"/>
          <p:cNvSpPr/>
          <p:nvPr/>
        </p:nvSpPr>
        <p:spPr>
          <a:xfrm>
            <a:off x="731520" y="4069080"/>
            <a:ext cx="5120640" cy="960120"/>
          </a:xfrm>
          <a:prstGeom prst="roundRect">
            <a:avLst>
              <a:gd name="adj" fmla="val 9524"/>
            </a:avLst>
          </a:prstGeom>
          <a:solidFill>
            <a:srgbClr val="EAF7F8"/>
          </a:solidFill>
          <a:ln w="12700">
            <a:solidFill>
              <a:srgbClr val="A7DADB"/>
            </a:solidFill>
            <a:prstDash val="solid"/>
          </a:ln>
        </p:spPr>
      </p:sp>
      <p:sp>
        <p:nvSpPr>
          <p:cNvPr id="27" name="Shape 25"/>
          <p:cNvSpPr/>
          <p:nvPr/>
        </p:nvSpPr>
        <p:spPr>
          <a:xfrm>
            <a:off x="914400" y="4325112"/>
            <a:ext cx="420624" cy="420624"/>
          </a:xfrm>
          <a:prstGeom prst="ellipse">
            <a:avLst/>
          </a:prstGeom>
          <a:solidFill>
            <a:srgbClr val="0A7C80"/>
          </a:solidFill>
          <a:ln w="12700">
            <a:solidFill>
              <a:srgbClr val="0A7C80"/>
            </a:solidFill>
            <a:prstDash val="solid"/>
          </a:ln>
        </p:spPr>
      </p:sp>
      <p:sp>
        <p:nvSpPr>
          <p:cNvPr id="28" name="Text 26"/>
          <p:cNvSpPr/>
          <p:nvPr/>
        </p:nvSpPr>
        <p:spPr>
          <a:xfrm>
            <a:off x="932688" y="441198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9" name="Text 27"/>
          <p:cNvSpPr/>
          <p:nvPr/>
        </p:nvSpPr>
        <p:spPr>
          <a:xfrm>
            <a:off x="1444752" y="4270248"/>
            <a:ext cx="2057400" cy="201168"/>
          </a:xfrm>
          <a:prstGeom prst="rect">
            <a:avLst/>
          </a:prstGeom>
          <a:noFill/>
          <a:ln/>
        </p:spPr>
        <p:txBody>
          <a:bodyPr wrap="square" lIns="0" tIns="0" rIns="0" bIns="0" rtlCol="0" anchor="ctr"/>
          <a:lstStyle/>
          <a:p>
            <a:pPr indent="0" marL="0">
              <a:buNone/>
            </a:pPr>
            <a:r>
              <a:rPr lang="en-US" sz="1400" b="1" dirty="0">
                <a:solidFill>
                  <a:srgbClr val="0B1F4D"/>
                </a:solidFill>
              </a:rPr>
              <a:t>Traceability matters</a:t>
            </a:r>
            <a:endParaRPr lang="en-US" sz="1400" dirty="0"/>
          </a:p>
        </p:txBody>
      </p:sp>
      <p:sp>
        <p:nvSpPr>
          <p:cNvPr id="30" name="Text 28"/>
          <p:cNvSpPr/>
          <p:nvPr/>
        </p:nvSpPr>
        <p:spPr>
          <a:xfrm>
            <a:off x="1444752" y="4599432"/>
            <a:ext cx="4114800" cy="210312"/>
          </a:xfrm>
          <a:prstGeom prst="rect">
            <a:avLst/>
          </a:prstGeom>
          <a:noFill/>
          <a:ln/>
        </p:spPr>
        <p:txBody>
          <a:bodyPr wrap="square" lIns="0" tIns="0" rIns="0" bIns="0" rtlCol="0" anchor="ctr">
            <a:normAutofit/>
          </a:bodyPr>
          <a:lstStyle/>
          <a:p>
            <a:pPr indent="0" marL="0">
              <a:buNone/>
            </a:pPr>
            <a:r>
              <a:rPr lang="en-US" sz="1020" dirty="0">
                <a:solidFill>
                  <a:srgbClr val="10203B"/>
                </a:solidFill>
              </a:rPr>
              <a:t>Black-box outputs require conservative mapping and auditability.</a:t>
            </a:r>
            <a:endParaRPr lang="en-US" sz="1020" dirty="0"/>
          </a:p>
        </p:txBody>
      </p:sp>
      <p:sp>
        <p:nvSpPr>
          <p:cNvPr id="31" name="Shape 29"/>
          <p:cNvSpPr/>
          <p:nvPr/>
        </p:nvSpPr>
        <p:spPr>
          <a:xfrm>
            <a:off x="1965960" y="5650992"/>
            <a:ext cx="8229600" cy="502920"/>
          </a:xfrm>
          <a:prstGeom prst="roundRect">
            <a:avLst>
              <a:gd name="adj" fmla="val 18182"/>
            </a:avLst>
          </a:prstGeom>
          <a:solidFill>
            <a:srgbClr val="FFFFFF"/>
          </a:solidFill>
          <a:ln w="16510">
            <a:solidFill>
              <a:srgbClr val="0B1F4D"/>
            </a:solidFill>
            <a:prstDash val="solid"/>
          </a:ln>
        </p:spPr>
      </p:sp>
      <p:sp>
        <p:nvSpPr>
          <p:cNvPr id="32" name="Text 30"/>
          <p:cNvSpPr/>
          <p:nvPr/>
        </p:nvSpPr>
        <p:spPr>
          <a:xfrm>
            <a:off x="2130552" y="5760720"/>
            <a:ext cx="7900416" cy="283464"/>
          </a:xfrm>
          <a:prstGeom prst="rect">
            <a:avLst/>
          </a:prstGeom>
          <a:noFill/>
          <a:ln/>
        </p:spPr>
        <p:txBody>
          <a:bodyPr wrap="square" lIns="254" tIns="254" rIns="254" bIns="254" rtlCol="0" anchor="ctr">
            <a:normAutofit/>
          </a:bodyPr>
          <a:lstStyle/>
          <a:p>
            <a:pPr algn="ctr" indent="0" marL="0">
              <a:buNone/>
            </a:pPr>
            <a:r>
              <a:rPr lang="en-US" sz="1200" b="1" dirty="0">
                <a:solidFill>
                  <a:srgbClr val="0B1F4D"/>
                </a:solidFill>
              </a:rPr>
              <a:t>AI-assisted forensic triage should be evaluated for operational robustness under manipulated inputs.</a:t>
            </a:r>
            <a:endParaRPr lang="en-US" sz="1200" dirty="0"/>
          </a:p>
        </p:txBody>
      </p:sp>
      <p:sp>
        <p:nvSpPr>
          <p:cNvPr id="33" name="Shape 31"/>
          <p:cNvSpPr/>
          <p:nvPr/>
        </p:nvSpPr>
        <p:spPr>
          <a:xfrm>
            <a:off x="411480" y="6510528"/>
            <a:ext cx="11365992" cy="0"/>
          </a:xfrm>
          <a:prstGeom prst="line">
            <a:avLst/>
          </a:prstGeom>
          <a:noFill/>
          <a:ln w="8890">
            <a:solidFill>
              <a:srgbClr val="D8E1E8"/>
            </a:solidFill>
            <a:prstDash val="solid"/>
          </a:ln>
        </p:spPr>
      </p:sp>
      <p:sp>
        <p:nvSpPr>
          <p:cNvPr id="34" name="Text 32"/>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5" name="Text 33"/>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SCOPE</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Limitations</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Rigorous within scope, but version- and protocol-dependent</a:t>
            </a:r>
            <a:endParaRPr lang="en-US" sz="1100" dirty="0"/>
          </a:p>
        </p:txBody>
      </p:sp>
      <p:sp>
        <p:nvSpPr>
          <p:cNvPr id="6" name="Shape 4"/>
          <p:cNvSpPr/>
          <p:nvPr/>
        </p:nvSpPr>
        <p:spPr>
          <a:xfrm>
            <a:off x="1005840" y="1234440"/>
            <a:ext cx="10149840" cy="4389120"/>
          </a:xfrm>
          <a:prstGeom prst="roundRect">
            <a:avLst>
              <a:gd name="adj" fmla="val 2083"/>
            </a:avLst>
          </a:prstGeom>
          <a:solidFill>
            <a:srgbClr val="FFFFFF"/>
          </a:solidFill>
          <a:ln w="12700">
            <a:solidFill>
              <a:srgbClr val="D8E1E8"/>
            </a:solidFill>
            <a:prstDash val="solid"/>
          </a:ln>
        </p:spPr>
      </p:sp>
      <p:sp>
        <p:nvSpPr>
          <p:cNvPr id="7" name="Shape 5"/>
          <p:cNvSpPr/>
          <p:nvPr/>
        </p:nvSpPr>
        <p:spPr>
          <a:xfrm>
            <a:off x="1325880" y="1764792"/>
            <a:ext cx="73152" cy="73152"/>
          </a:xfrm>
          <a:prstGeom prst="ellipse">
            <a:avLst/>
          </a:prstGeom>
          <a:solidFill>
            <a:srgbClr val="E76F28"/>
          </a:solidFill>
          <a:ln w="12700">
            <a:solidFill>
              <a:srgbClr val="E76F28"/>
            </a:solidFill>
            <a:prstDash val="solid"/>
          </a:ln>
        </p:spPr>
      </p:sp>
      <p:sp>
        <p:nvSpPr>
          <p:cNvPr id="8" name="Text 6"/>
          <p:cNvSpPr/>
          <p:nvPr/>
        </p:nvSpPr>
        <p:spPr>
          <a:xfrm>
            <a:off x="1490472" y="1691640"/>
            <a:ext cx="9418320" cy="621792"/>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Selected tool versions only; results should not be generalized to future releases.</a:t>
            </a:r>
            <a:endParaRPr lang="en-US" sz="1500" dirty="0"/>
          </a:p>
        </p:txBody>
      </p:sp>
      <p:sp>
        <p:nvSpPr>
          <p:cNvPr id="9" name="Shape 7"/>
          <p:cNvSpPr/>
          <p:nvPr/>
        </p:nvSpPr>
        <p:spPr>
          <a:xfrm>
            <a:off x="1325880" y="2386584"/>
            <a:ext cx="73152" cy="73152"/>
          </a:xfrm>
          <a:prstGeom prst="ellipse">
            <a:avLst/>
          </a:prstGeom>
          <a:solidFill>
            <a:srgbClr val="E76F28"/>
          </a:solidFill>
          <a:ln w="12700">
            <a:solidFill>
              <a:srgbClr val="E76F28"/>
            </a:solidFill>
            <a:prstDash val="solid"/>
          </a:ln>
        </p:spPr>
      </p:sp>
      <p:sp>
        <p:nvSpPr>
          <p:cNvPr id="10" name="Text 8"/>
          <p:cNvSpPr/>
          <p:nvPr/>
        </p:nvSpPr>
        <p:spPr>
          <a:xfrm>
            <a:off x="1490472" y="2313432"/>
            <a:ext cx="9418320" cy="621792"/>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Commercial tools are black-box systems; internal decision mechanisms are not available.</a:t>
            </a:r>
            <a:endParaRPr lang="en-US" sz="1500" dirty="0"/>
          </a:p>
        </p:txBody>
      </p:sp>
      <p:sp>
        <p:nvSpPr>
          <p:cNvPr id="11" name="Shape 9"/>
          <p:cNvSpPr/>
          <p:nvPr/>
        </p:nvSpPr>
        <p:spPr>
          <a:xfrm>
            <a:off x="1325880" y="3008376"/>
            <a:ext cx="73152" cy="73152"/>
          </a:xfrm>
          <a:prstGeom prst="ellipse">
            <a:avLst/>
          </a:prstGeom>
          <a:solidFill>
            <a:srgbClr val="E76F28"/>
          </a:solidFill>
          <a:ln w="12700">
            <a:solidFill>
              <a:srgbClr val="E76F28"/>
            </a:solidFill>
            <a:prstDash val="solid"/>
          </a:ln>
        </p:spPr>
      </p:sp>
      <p:sp>
        <p:nvSpPr>
          <p:cNvPr id="12" name="Text 10"/>
          <p:cNvSpPr/>
          <p:nvPr/>
        </p:nvSpPr>
        <p:spPr>
          <a:xfrm>
            <a:off x="1490472" y="2935224"/>
            <a:ext cx="9418320" cy="621792"/>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Dataset scope is controlled and finite; it supports evaluation, not universal validation.</a:t>
            </a:r>
            <a:endParaRPr lang="en-US" sz="1500" dirty="0"/>
          </a:p>
        </p:txBody>
      </p:sp>
      <p:sp>
        <p:nvSpPr>
          <p:cNvPr id="13" name="Shape 11"/>
          <p:cNvSpPr/>
          <p:nvPr/>
        </p:nvSpPr>
        <p:spPr>
          <a:xfrm>
            <a:off x="1325880" y="3630168"/>
            <a:ext cx="73152" cy="73152"/>
          </a:xfrm>
          <a:prstGeom prst="ellipse">
            <a:avLst/>
          </a:prstGeom>
          <a:solidFill>
            <a:srgbClr val="E76F28"/>
          </a:solidFill>
          <a:ln w="12700">
            <a:solidFill>
              <a:srgbClr val="E76F28"/>
            </a:solidFill>
            <a:prstDash val="solid"/>
          </a:ln>
        </p:spPr>
      </p:sp>
      <p:sp>
        <p:nvSpPr>
          <p:cNvPr id="14" name="Text 12"/>
          <p:cNvSpPr/>
          <p:nvPr/>
        </p:nvSpPr>
        <p:spPr>
          <a:xfrm>
            <a:off x="1490472" y="3557016"/>
            <a:ext cx="9418320" cy="621792"/>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Adversarial testing is proxy-based; commercial tools are stressed through observable outputs.</a:t>
            </a:r>
            <a:endParaRPr lang="en-US" sz="1500" dirty="0"/>
          </a:p>
        </p:txBody>
      </p:sp>
      <p:sp>
        <p:nvSpPr>
          <p:cNvPr id="15" name="Shape 13"/>
          <p:cNvSpPr/>
          <p:nvPr/>
        </p:nvSpPr>
        <p:spPr>
          <a:xfrm>
            <a:off x="1325880" y="4251960"/>
            <a:ext cx="73152" cy="73152"/>
          </a:xfrm>
          <a:prstGeom prst="ellipse">
            <a:avLst/>
          </a:prstGeom>
          <a:solidFill>
            <a:srgbClr val="E76F28"/>
          </a:solidFill>
          <a:ln w="12700">
            <a:solidFill>
              <a:srgbClr val="E76F28"/>
            </a:solidFill>
            <a:prstDash val="solid"/>
          </a:ln>
        </p:spPr>
      </p:sp>
      <p:sp>
        <p:nvSpPr>
          <p:cNvPr id="16" name="Text 14"/>
          <p:cNvSpPr/>
          <p:nvPr/>
        </p:nvSpPr>
        <p:spPr>
          <a:xfrm>
            <a:off x="1490472" y="4178808"/>
            <a:ext cx="9418320" cy="621792"/>
          </a:xfrm>
          <a:prstGeom prst="rect">
            <a:avLst/>
          </a:prstGeom>
          <a:noFill/>
          <a:ln/>
        </p:spPr>
        <p:txBody>
          <a:bodyPr wrap="square" lIns="254" tIns="254" rIns="254" bIns="254" rtlCol="0" anchor="ctr">
            <a:normAutofit/>
          </a:bodyPr>
          <a:lstStyle/>
          <a:p>
            <a:pPr indent="0" marL="0">
              <a:buNone/>
            </a:pPr>
            <a:r>
              <a:rPr lang="en-US" sz="1500" dirty="0">
                <a:solidFill>
                  <a:srgbClr val="10203B"/>
                </a:solidFill>
              </a:rPr>
              <a:t>OOD and perturbation branches are deliberately separated to avoid conflating failure modes.</a:t>
            </a:r>
            <a:endParaRPr lang="en-US" sz="1500" dirty="0"/>
          </a:p>
        </p:txBody>
      </p:sp>
      <p:sp>
        <p:nvSpPr>
          <p:cNvPr id="17" name="Shape 15"/>
          <p:cNvSpPr/>
          <p:nvPr/>
        </p:nvSpPr>
        <p:spPr>
          <a:xfrm>
            <a:off x="1920240" y="5806440"/>
            <a:ext cx="8321040" cy="502920"/>
          </a:xfrm>
          <a:prstGeom prst="roundRect">
            <a:avLst>
              <a:gd name="adj" fmla="val 18182"/>
            </a:avLst>
          </a:prstGeom>
          <a:solidFill>
            <a:srgbClr val="FFFFFF"/>
          </a:solidFill>
          <a:ln w="16510">
            <a:solidFill>
              <a:srgbClr val="0A7C80"/>
            </a:solidFill>
            <a:prstDash val="solid"/>
          </a:ln>
        </p:spPr>
      </p:sp>
      <p:sp>
        <p:nvSpPr>
          <p:cNvPr id="18" name="Text 16"/>
          <p:cNvSpPr/>
          <p:nvPr/>
        </p:nvSpPr>
        <p:spPr>
          <a:xfrm>
            <a:off x="2084832" y="5916168"/>
            <a:ext cx="7991856" cy="283464"/>
          </a:xfrm>
          <a:prstGeom prst="rect">
            <a:avLst/>
          </a:prstGeom>
          <a:noFill/>
          <a:ln/>
        </p:spPr>
        <p:txBody>
          <a:bodyPr wrap="square" lIns="254" tIns="254" rIns="254" bIns="254" rtlCol="0" anchor="ctr">
            <a:normAutofit/>
          </a:bodyPr>
          <a:lstStyle/>
          <a:p>
            <a:pPr algn="ctr" indent="0" marL="0">
              <a:buNone/>
            </a:pPr>
            <a:r>
              <a:rPr lang="en-US" sz="1200" b="1" dirty="0">
                <a:solidFill>
                  <a:srgbClr val="0A7C80"/>
                </a:solidFill>
              </a:rPr>
              <a:t>These limitations motivate periodic re-testing and transparent validation protocols.</a:t>
            </a:r>
            <a:endParaRPr lang="en-US" sz="1200" dirty="0"/>
          </a:p>
        </p:txBody>
      </p:sp>
      <p:sp>
        <p:nvSpPr>
          <p:cNvPr id="19" name="Shape 17"/>
          <p:cNvSpPr/>
          <p:nvPr/>
        </p:nvSpPr>
        <p:spPr>
          <a:xfrm>
            <a:off x="411480" y="6510528"/>
            <a:ext cx="11365992" cy="0"/>
          </a:xfrm>
          <a:prstGeom prst="line">
            <a:avLst/>
          </a:prstGeom>
          <a:noFill/>
          <a:ln w="8890">
            <a:solidFill>
              <a:srgbClr val="D8E1E8"/>
            </a:solidFill>
            <a:prstDash val="solid"/>
          </a:ln>
        </p:spPr>
      </p:sp>
      <p:sp>
        <p:nvSpPr>
          <p:cNvPr id="20" name="Text 18"/>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21" name="Text 19"/>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CLOSING</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Conclusions and Future Work</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Toward robustness-aware forensic tool evaluation</a:t>
            </a:r>
            <a:endParaRPr lang="en-US" sz="1100" dirty="0"/>
          </a:p>
        </p:txBody>
      </p:sp>
      <p:sp>
        <p:nvSpPr>
          <p:cNvPr id="6" name="Shape 4"/>
          <p:cNvSpPr/>
          <p:nvPr/>
        </p:nvSpPr>
        <p:spPr>
          <a:xfrm>
            <a:off x="731520" y="1325880"/>
            <a:ext cx="5349240" cy="3977640"/>
          </a:xfrm>
          <a:prstGeom prst="roundRect">
            <a:avLst>
              <a:gd name="adj" fmla="val 2299"/>
            </a:avLst>
          </a:prstGeom>
          <a:solidFill>
            <a:srgbClr val="FFFFFF"/>
          </a:solidFill>
          <a:ln w="12700">
            <a:solidFill>
              <a:srgbClr val="D8E1E8"/>
            </a:solidFill>
            <a:prstDash val="solid"/>
          </a:ln>
        </p:spPr>
      </p:sp>
      <p:sp>
        <p:nvSpPr>
          <p:cNvPr id="7" name="Shape 5"/>
          <p:cNvSpPr/>
          <p:nvPr/>
        </p:nvSpPr>
        <p:spPr>
          <a:xfrm>
            <a:off x="960120" y="1572768"/>
            <a:ext cx="1645920" cy="384048"/>
          </a:xfrm>
          <a:prstGeom prst="roundRect">
            <a:avLst>
              <a:gd name="adj" fmla="val 21429"/>
            </a:avLst>
          </a:prstGeom>
          <a:solidFill>
            <a:srgbClr val="0B1F4D"/>
          </a:solidFill>
          <a:ln w="12700">
            <a:solidFill>
              <a:srgbClr val="0B1F4D"/>
            </a:solidFill>
            <a:prstDash val="solid"/>
          </a:ln>
        </p:spPr>
      </p:sp>
      <p:sp>
        <p:nvSpPr>
          <p:cNvPr id="8" name="Text 6"/>
          <p:cNvSpPr/>
          <p:nvPr/>
        </p:nvSpPr>
        <p:spPr>
          <a:xfrm>
            <a:off x="1033272" y="1668780"/>
            <a:ext cx="1499616" cy="182880"/>
          </a:xfrm>
          <a:prstGeom prst="rect">
            <a:avLst/>
          </a:prstGeom>
          <a:noFill/>
          <a:ln/>
        </p:spPr>
        <p:txBody>
          <a:bodyPr wrap="square" lIns="0" tIns="0" rIns="0" bIns="0" rtlCol="0" anchor="ctr"/>
          <a:lstStyle/>
          <a:p>
            <a:pPr algn="ctr" indent="0" marL="0">
              <a:buNone/>
            </a:pPr>
            <a:r>
              <a:rPr lang="en-US" sz="1000" b="1" dirty="0">
                <a:solidFill>
                  <a:srgbClr val="FFFFFF"/>
                </a:solidFill>
              </a:rPr>
              <a:t>CONCLUSIONS</a:t>
            </a:r>
            <a:endParaRPr lang="en-US" sz="1000" dirty="0"/>
          </a:p>
        </p:txBody>
      </p:sp>
      <p:sp>
        <p:nvSpPr>
          <p:cNvPr id="9" name="Shape 7"/>
          <p:cNvSpPr/>
          <p:nvPr/>
        </p:nvSpPr>
        <p:spPr>
          <a:xfrm>
            <a:off x="1005840" y="2221992"/>
            <a:ext cx="73152" cy="73152"/>
          </a:xfrm>
          <a:prstGeom prst="ellipse">
            <a:avLst/>
          </a:prstGeom>
          <a:solidFill>
            <a:srgbClr val="0A7C80"/>
          </a:solidFill>
          <a:ln w="12700">
            <a:solidFill>
              <a:srgbClr val="0A7C80"/>
            </a:solidFill>
            <a:prstDash val="solid"/>
          </a:ln>
        </p:spPr>
      </p:sp>
      <p:sp>
        <p:nvSpPr>
          <p:cNvPr id="10" name="Text 8"/>
          <p:cNvSpPr/>
          <p:nvPr/>
        </p:nvSpPr>
        <p:spPr>
          <a:xfrm>
            <a:off x="1170432" y="2148840"/>
            <a:ext cx="4754880" cy="502920"/>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AI-assisted forensic tools require robustness evaluation.</a:t>
            </a:r>
            <a:endParaRPr lang="en-US" sz="1320" dirty="0"/>
          </a:p>
        </p:txBody>
      </p:sp>
      <p:sp>
        <p:nvSpPr>
          <p:cNvPr id="11" name="Shape 9"/>
          <p:cNvSpPr/>
          <p:nvPr/>
        </p:nvSpPr>
        <p:spPr>
          <a:xfrm>
            <a:off x="1005840" y="2724912"/>
            <a:ext cx="73152" cy="73152"/>
          </a:xfrm>
          <a:prstGeom prst="ellipse">
            <a:avLst/>
          </a:prstGeom>
          <a:solidFill>
            <a:srgbClr val="0A7C80"/>
          </a:solidFill>
          <a:ln w="12700">
            <a:solidFill>
              <a:srgbClr val="0A7C80"/>
            </a:solidFill>
            <a:prstDash val="solid"/>
          </a:ln>
        </p:spPr>
      </p:sp>
      <p:sp>
        <p:nvSpPr>
          <p:cNvPr id="12" name="Text 10"/>
          <p:cNvSpPr/>
          <p:nvPr/>
        </p:nvSpPr>
        <p:spPr>
          <a:xfrm>
            <a:off x="1170432" y="2651760"/>
            <a:ext cx="4754880" cy="502920"/>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Controlled perturbation testing reveals operational failure modes.</a:t>
            </a:r>
            <a:endParaRPr lang="en-US" sz="1320" dirty="0"/>
          </a:p>
        </p:txBody>
      </p:sp>
      <p:sp>
        <p:nvSpPr>
          <p:cNvPr id="13" name="Shape 11"/>
          <p:cNvSpPr/>
          <p:nvPr/>
        </p:nvSpPr>
        <p:spPr>
          <a:xfrm>
            <a:off x="1005840" y="3227832"/>
            <a:ext cx="73152" cy="73152"/>
          </a:xfrm>
          <a:prstGeom prst="ellipse">
            <a:avLst/>
          </a:prstGeom>
          <a:solidFill>
            <a:srgbClr val="0A7C80"/>
          </a:solidFill>
          <a:ln w="12700">
            <a:solidFill>
              <a:srgbClr val="0A7C80"/>
            </a:solidFill>
            <a:prstDash val="solid"/>
          </a:ln>
        </p:spPr>
      </p:sp>
      <p:sp>
        <p:nvSpPr>
          <p:cNvPr id="14" name="Text 12"/>
          <p:cNvSpPr/>
          <p:nvPr/>
        </p:nvSpPr>
        <p:spPr>
          <a:xfrm>
            <a:off x="1170432" y="3154680"/>
            <a:ext cx="4754880" cy="502920"/>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Proxy and commercial evaluations are complementary.</a:t>
            </a:r>
            <a:endParaRPr lang="en-US" sz="1320" dirty="0"/>
          </a:p>
        </p:txBody>
      </p:sp>
      <p:sp>
        <p:nvSpPr>
          <p:cNvPr id="15" name="Shape 13"/>
          <p:cNvSpPr/>
          <p:nvPr/>
        </p:nvSpPr>
        <p:spPr>
          <a:xfrm>
            <a:off x="1005840" y="3730752"/>
            <a:ext cx="73152" cy="73152"/>
          </a:xfrm>
          <a:prstGeom prst="ellipse">
            <a:avLst/>
          </a:prstGeom>
          <a:solidFill>
            <a:srgbClr val="0A7C80"/>
          </a:solidFill>
          <a:ln w="12700">
            <a:solidFill>
              <a:srgbClr val="0A7C80"/>
            </a:solidFill>
            <a:prstDash val="solid"/>
          </a:ln>
        </p:spPr>
      </p:sp>
      <p:sp>
        <p:nvSpPr>
          <p:cNvPr id="16" name="Text 14"/>
          <p:cNvSpPr/>
          <p:nvPr/>
        </p:nvSpPr>
        <p:spPr>
          <a:xfrm>
            <a:off x="1170432" y="3657600"/>
            <a:ext cx="4754880" cy="502920"/>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Normalization and traceability are necessary for forensic reliability.</a:t>
            </a:r>
            <a:endParaRPr lang="en-US" sz="1320" dirty="0"/>
          </a:p>
        </p:txBody>
      </p:sp>
      <p:sp>
        <p:nvSpPr>
          <p:cNvPr id="17" name="Shape 15"/>
          <p:cNvSpPr/>
          <p:nvPr/>
        </p:nvSpPr>
        <p:spPr>
          <a:xfrm>
            <a:off x="6309360" y="1325880"/>
            <a:ext cx="5166360" cy="3977640"/>
          </a:xfrm>
          <a:prstGeom prst="roundRect">
            <a:avLst>
              <a:gd name="adj" fmla="val 2299"/>
            </a:avLst>
          </a:prstGeom>
          <a:solidFill>
            <a:srgbClr val="FFFFFF"/>
          </a:solidFill>
          <a:ln w="12700">
            <a:solidFill>
              <a:srgbClr val="D8E1E8"/>
            </a:solidFill>
            <a:prstDash val="solid"/>
          </a:ln>
        </p:spPr>
      </p:sp>
      <p:sp>
        <p:nvSpPr>
          <p:cNvPr id="18" name="Shape 16"/>
          <p:cNvSpPr/>
          <p:nvPr/>
        </p:nvSpPr>
        <p:spPr>
          <a:xfrm>
            <a:off x="6537960" y="1572768"/>
            <a:ext cx="1645920" cy="384048"/>
          </a:xfrm>
          <a:prstGeom prst="roundRect">
            <a:avLst>
              <a:gd name="adj" fmla="val 21429"/>
            </a:avLst>
          </a:prstGeom>
          <a:solidFill>
            <a:srgbClr val="0A7C80"/>
          </a:solidFill>
          <a:ln w="12700">
            <a:solidFill>
              <a:srgbClr val="0A7C80"/>
            </a:solidFill>
            <a:prstDash val="solid"/>
          </a:ln>
        </p:spPr>
      </p:sp>
      <p:sp>
        <p:nvSpPr>
          <p:cNvPr id="19" name="Text 17"/>
          <p:cNvSpPr/>
          <p:nvPr/>
        </p:nvSpPr>
        <p:spPr>
          <a:xfrm>
            <a:off x="6611112" y="1668780"/>
            <a:ext cx="1499616" cy="182880"/>
          </a:xfrm>
          <a:prstGeom prst="rect">
            <a:avLst/>
          </a:prstGeom>
          <a:noFill/>
          <a:ln/>
        </p:spPr>
        <p:txBody>
          <a:bodyPr wrap="square" lIns="0" tIns="0" rIns="0" bIns="0" rtlCol="0" anchor="ctr"/>
          <a:lstStyle/>
          <a:p>
            <a:pPr algn="ctr" indent="0" marL="0">
              <a:buNone/>
            </a:pPr>
            <a:r>
              <a:rPr lang="en-US" sz="1000" b="1" dirty="0">
                <a:solidFill>
                  <a:srgbClr val="FFFFFF"/>
                </a:solidFill>
              </a:rPr>
              <a:t>FUTURE WORK</a:t>
            </a:r>
            <a:endParaRPr lang="en-US" sz="1000" dirty="0"/>
          </a:p>
        </p:txBody>
      </p:sp>
      <p:sp>
        <p:nvSpPr>
          <p:cNvPr id="20" name="Shape 18"/>
          <p:cNvSpPr/>
          <p:nvPr/>
        </p:nvSpPr>
        <p:spPr>
          <a:xfrm>
            <a:off x="6583680" y="2221992"/>
            <a:ext cx="73152" cy="73152"/>
          </a:xfrm>
          <a:prstGeom prst="ellipse">
            <a:avLst/>
          </a:prstGeom>
          <a:solidFill>
            <a:srgbClr val="E76F28"/>
          </a:solidFill>
          <a:ln w="12700">
            <a:solidFill>
              <a:srgbClr val="E76F28"/>
            </a:solidFill>
            <a:prstDash val="solid"/>
          </a:ln>
        </p:spPr>
      </p:sp>
      <p:sp>
        <p:nvSpPr>
          <p:cNvPr id="21" name="Text 19"/>
          <p:cNvSpPr/>
          <p:nvPr/>
        </p:nvSpPr>
        <p:spPr>
          <a:xfrm>
            <a:off x="6748272" y="2148840"/>
            <a:ext cx="4572000" cy="438912"/>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Additional tools, versions and configurations.</a:t>
            </a:r>
            <a:endParaRPr lang="en-US" sz="1320" dirty="0"/>
          </a:p>
        </p:txBody>
      </p:sp>
      <p:sp>
        <p:nvSpPr>
          <p:cNvPr id="22" name="Shape 20"/>
          <p:cNvSpPr/>
          <p:nvPr/>
        </p:nvSpPr>
        <p:spPr>
          <a:xfrm>
            <a:off x="6583680" y="2660904"/>
            <a:ext cx="73152" cy="73152"/>
          </a:xfrm>
          <a:prstGeom prst="ellipse">
            <a:avLst/>
          </a:prstGeom>
          <a:solidFill>
            <a:srgbClr val="E76F28"/>
          </a:solidFill>
          <a:ln w="12700">
            <a:solidFill>
              <a:srgbClr val="E76F28"/>
            </a:solidFill>
            <a:prstDash val="solid"/>
          </a:ln>
        </p:spPr>
      </p:sp>
      <p:sp>
        <p:nvSpPr>
          <p:cNvPr id="23" name="Text 21"/>
          <p:cNvSpPr/>
          <p:nvPr/>
        </p:nvSpPr>
        <p:spPr>
          <a:xfrm>
            <a:off x="6748272" y="2587752"/>
            <a:ext cx="4572000" cy="438912"/>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Larger datasets and semantic categories.</a:t>
            </a:r>
            <a:endParaRPr lang="en-US" sz="1320" dirty="0"/>
          </a:p>
        </p:txBody>
      </p:sp>
      <p:sp>
        <p:nvSpPr>
          <p:cNvPr id="24" name="Shape 22"/>
          <p:cNvSpPr/>
          <p:nvPr/>
        </p:nvSpPr>
        <p:spPr>
          <a:xfrm>
            <a:off x="6583680" y="3099816"/>
            <a:ext cx="73152" cy="73152"/>
          </a:xfrm>
          <a:prstGeom prst="ellipse">
            <a:avLst/>
          </a:prstGeom>
          <a:solidFill>
            <a:srgbClr val="E76F28"/>
          </a:solidFill>
          <a:ln w="12700">
            <a:solidFill>
              <a:srgbClr val="E76F28"/>
            </a:solidFill>
            <a:prstDash val="solid"/>
          </a:ln>
        </p:spPr>
      </p:sp>
      <p:sp>
        <p:nvSpPr>
          <p:cNvPr id="25" name="Text 23"/>
          <p:cNvSpPr/>
          <p:nvPr/>
        </p:nvSpPr>
        <p:spPr>
          <a:xfrm>
            <a:off x="6748272" y="3026664"/>
            <a:ext cx="4572000" cy="438912"/>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Extended attack and transformation models.</a:t>
            </a:r>
            <a:endParaRPr lang="en-US" sz="1320" dirty="0"/>
          </a:p>
        </p:txBody>
      </p:sp>
      <p:sp>
        <p:nvSpPr>
          <p:cNvPr id="26" name="Shape 24"/>
          <p:cNvSpPr/>
          <p:nvPr/>
        </p:nvSpPr>
        <p:spPr>
          <a:xfrm>
            <a:off x="6583680" y="3538728"/>
            <a:ext cx="73152" cy="73152"/>
          </a:xfrm>
          <a:prstGeom prst="ellipse">
            <a:avLst/>
          </a:prstGeom>
          <a:solidFill>
            <a:srgbClr val="E76F28"/>
          </a:solidFill>
          <a:ln w="12700">
            <a:solidFill>
              <a:srgbClr val="E76F28"/>
            </a:solidFill>
            <a:prstDash val="solid"/>
          </a:ln>
        </p:spPr>
      </p:sp>
      <p:sp>
        <p:nvSpPr>
          <p:cNvPr id="27" name="Text 25"/>
          <p:cNvSpPr/>
          <p:nvPr/>
        </p:nvSpPr>
        <p:spPr>
          <a:xfrm>
            <a:off x="6748272" y="3465576"/>
            <a:ext cx="4572000" cy="438912"/>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Uncertainty-aware triage and review workflows.</a:t>
            </a:r>
            <a:endParaRPr lang="en-US" sz="1320" dirty="0"/>
          </a:p>
        </p:txBody>
      </p:sp>
      <p:sp>
        <p:nvSpPr>
          <p:cNvPr id="28" name="Shape 26"/>
          <p:cNvSpPr/>
          <p:nvPr/>
        </p:nvSpPr>
        <p:spPr>
          <a:xfrm>
            <a:off x="6583680" y="3977640"/>
            <a:ext cx="73152" cy="73152"/>
          </a:xfrm>
          <a:prstGeom prst="ellipse">
            <a:avLst/>
          </a:prstGeom>
          <a:solidFill>
            <a:srgbClr val="E76F28"/>
          </a:solidFill>
          <a:ln w="12700">
            <a:solidFill>
              <a:srgbClr val="E76F28"/>
            </a:solidFill>
            <a:prstDash val="solid"/>
          </a:ln>
        </p:spPr>
      </p:sp>
      <p:sp>
        <p:nvSpPr>
          <p:cNvPr id="29" name="Text 27"/>
          <p:cNvSpPr/>
          <p:nvPr/>
        </p:nvSpPr>
        <p:spPr>
          <a:xfrm>
            <a:off x="6748272" y="3904488"/>
            <a:ext cx="4572000" cy="438912"/>
          </a:xfrm>
          <a:prstGeom prst="rect">
            <a:avLst/>
          </a:prstGeom>
          <a:noFill/>
          <a:ln/>
        </p:spPr>
        <p:txBody>
          <a:bodyPr wrap="square" lIns="254" tIns="254" rIns="254" bIns="254" rtlCol="0" anchor="ctr">
            <a:normAutofit/>
          </a:bodyPr>
          <a:lstStyle/>
          <a:p>
            <a:pPr indent="0" marL="0">
              <a:buNone/>
            </a:pPr>
            <a:r>
              <a:rPr lang="en-US" sz="1320" dirty="0">
                <a:solidFill>
                  <a:srgbClr val="10203B"/>
                </a:solidFill>
              </a:rPr>
              <a:t>Stronger validation protocols for operational deployment.</a:t>
            </a:r>
            <a:endParaRPr lang="en-US" sz="1320" dirty="0"/>
          </a:p>
        </p:txBody>
      </p:sp>
      <p:sp>
        <p:nvSpPr>
          <p:cNvPr id="30" name="Shape 28"/>
          <p:cNvSpPr/>
          <p:nvPr/>
        </p:nvSpPr>
        <p:spPr>
          <a:xfrm>
            <a:off x="1234440" y="5623560"/>
            <a:ext cx="9738360" cy="594360"/>
          </a:xfrm>
          <a:prstGeom prst="roundRect">
            <a:avLst>
              <a:gd name="adj" fmla="val 15385"/>
            </a:avLst>
          </a:prstGeom>
          <a:solidFill>
            <a:srgbClr val="FFFFFF"/>
          </a:solidFill>
          <a:ln w="16510">
            <a:solidFill>
              <a:srgbClr val="0B1F4D"/>
            </a:solidFill>
            <a:prstDash val="solid"/>
          </a:ln>
        </p:spPr>
      </p:sp>
      <p:sp>
        <p:nvSpPr>
          <p:cNvPr id="31" name="Text 29"/>
          <p:cNvSpPr/>
          <p:nvPr/>
        </p:nvSpPr>
        <p:spPr>
          <a:xfrm>
            <a:off x="1399032" y="5733288"/>
            <a:ext cx="9409176" cy="374904"/>
          </a:xfrm>
          <a:prstGeom prst="rect">
            <a:avLst/>
          </a:prstGeom>
          <a:noFill/>
          <a:ln/>
        </p:spPr>
        <p:txBody>
          <a:bodyPr wrap="square" lIns="254" tIns="254" rIns="254" bIns="254" rtlCol="0" anchor="ctr">
            <a:normAutofit/>
          </a:bodyPr>
          <a:lstStyle/>
          <a:p>
            <a:pPr algn="ctr" indent="0" marL="0">
              <a:buNone/>
            </a:pPr>
            <a:r>
              <a:rPr lang="en-US" sz="1200" b="1" dirty="0">
                <a:solidFill>
                  <a:srgbClr val="0B1F4D"/>
                </a:solidFill>
              </a:rPr>
              <a:t>Final takeaway: evaluate AI forensic triage not only for accuracy, but for operational robustness.</a:t>
            </a:r>
            <a:endParaRPr lang="en-US" sz="1200" dirty="0"/>
          </a:p>
        </p:txBody>
      </p:sp>
      <p:sp>
        <p:nvSpPr>
          <p:cNvPr id="32" name="Shape 30"/>
          <p:cNvSpPr/>
          <p:nvPr/>
        </p:nvSpPr>
        <p:spPr>
          <a:xfrm>
            <a:off x="411480" y="6510528"/>
            <a:ext cx="11365992" cy="0"/>
          </a:xfrm>
          <a:prstGeom prst="line">
            <a:avLst/>
          </a:prstGeom>
          <a:noFill/>
          <a:ln w="8890">
            <a:solidFill>
              <a:srgbClr val="D8E1E8"/>
            </a:solidFill>
            <a:prstDash val="solid"/>
          </a:ln>
        </p:spPr>
      </p:sp>
      <p:sp>
        <p:nvSpPr>
          <p:cNvPr id="33" name="Text 31"/>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4" name="Text 32"/>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BACKUP — Q&amp;A REFERENCE</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Metric Definitions</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Quick reference for discussion</a:t>
            </a:r>
            <a:endParaRPr lang="en-US" sz="1100" dirty="0"/>
          </a:p>
        </p:txBody>
      </p:sp>
      <p:sp>
        <p:nvSpPr>
          <p:cNvPr id="6" name="Shape 4"/>
          <p:cNvSpPr/>
          <p:nvPr/>
        </p:nvSpPr>
        <p:spPr>
          <a:xfrm>
            <a:off x="1188720" y="1508760"/>
            <a:ext cx="2468880" cy="579120"/>
          </a:xfrm>
          <a:prstGeom prst="rect">
            <a:avLst/>
          </a:prstGeom>
          <a:solidFill>
            <a:srgbClr val="0B1F4D"/>
          </a:solidFill>
          <a:ln w="12700">
            <a:solidFill>
              <a:srgbClr val="FFFFFF">
                <a:alpha val="0"/>
              </a:srgbClr>
            </a:solidFill>
            <a:prstDash val="solid"/>
          </a:ln>
        </p:spPr>
      </p:sp>
      <p:sp>
        <p:nvSpPr>
          <p:cNvPr id="7" name="Text 5"/>
          <p:cNvSpPr/>
          <p:nvPr/>
        </p:nvSpPr>
        <p:spPr>
          <a:xfrm>
            <a:off x="1216152" y="1554480"/>
            <a:ext cx="2414016" cy="505968"/>
          </a:xfrm>
          <a:prstGeom prst="rect">
            <a:avLst/>
          </a:prstGeom>
          <a:noFill/>
          <a:ln/>
        </p:spPr>
        <p:txBody>
          <a:bodyPr wrap="square" lIns="127" tIns="127" rIns="127" bIns="127" rtlCol="0" anchor="ctr">
            <a:normAutofit/>
          </a:bodyPr>
          <a:lstStyle/>
          <a:p>
            <a:pPr algn="ctr" indent="0" marL="0">
              <a:buNone/>
            </a:pPr>
            <a:r>
              <a:rPr lang="en-US" sz="1300" b="1" dirty="0">
                <a:solidFill>
                  <a:srgbClr val="FFFFFF"/>
                </a:solidFill>
              </a:rPr>
              <a:t>Metric</a:t>
            </a:r>
            <a:endParaRPr lang="en-US" sz="1300" dirty="0"/>
          </a:p>
        </p:txBody>
      </p:sp>
      <p:sp>
        <p:nvSpPr>
          <p:cNvPr id="8" name="Shape 6"/>
          <p:cNvSpPr/>
          <p:nvPr/>
        </p:nvSpPr>
        <p:spPr>
          <a:xfrm>
            <a:off x="3657600" y="1508760"/>
            <a:ext cx="7406640" cy="579120"/>
          </a:xfrm>
          <a:prstGeom prst="rect">
            <a:avLst/>
          </a:prstGeom>
          <a:solidFill>
            <a:srgbClr val="0B1F4D"/>
          </a:solidFill>
          <a:ln w="12700">
            <a:solidFill>
              <a:srgbClr val="FFFFFF">
                <a:alpha val="0"/>
              </a:srgbClr>
            </a:solidFill>
            <a:prstDash val="solid"/>
          </a:ln>
        </p:spPr>
      </p:sp>
      <p:sp>
        <p:nvSpPr>
          <p:cNvPr id="9" name="Text 7"/>
          <p:cNvSpPr/>
          <p:nvPr/>
        </p:nvSpPr>
        <p:spPr>
          <a:xfrm>
            <a:off x="3685032" y="1554480"/>
            <a:ext cx="7351776" cy="505968"/>
          </a:xfrm>
          <a:prstGeom prst="rect">
            <a:avLst/>
          </a:prstGeom>
          <a:noFill/>
          <a:ln/>
        </p:spPr>
        <p:txBody>
          <a:bodyPr wrap="square" lIns="127" tIns="127" rIns="127" bIns="127" rtlCol="0" anchor="ctr">
            <a:normAutofit/>
          </a:bodyPr>
          <a:lstStyle/>
          <a:p>
            <a:pPr algn="ctr" indent="0" marL="0">
              <a:buNone/>
            </a:pPr>
            <a:r>
              <a:rPr lang="en-US" sz="1300" b="1" dirty="0">
                <a:solidFill>
                  <a:srgbClr val="FFFFFF"/>
                </a:solidFill>
              </a:rPr>
              <a:t>Meaning</a:t>
            </a:r>
            <a:endParaRPr lang="en-US" sz="1300" dirty="0"/>
          </a:p>
        </p:txBody>
      </p:sp>
      <p:sp>
        <p:nvSpPr>
          <p:cNvPr id="10" name="Shape 8"/>
          <p:cNvSpPr/>
          <p:nvPr/>
        </p:nvSpPr>
        <p:spPr>
          <a:xfrm>
            <a:off x="1188720" y="2087880"/>
            <a:ext cx="2468880" cy="579120"/>
          </a:xfrm>
          <a:prstGeom prst="rect">
            <a:avLst/>
          </a:prstGeom>
          <a:solidFill>
            <a:srgbClr val="FFFFFF"/>
          </a:solidFill>
          <a:ln w="6350">
            <a:solidFill>
              <a:srgbClr val="FFFFFF"/>
            </a:solidFill>
            <a:prstDash val="solid"/>
          </a:ln>
        </p:spPr>
      </p:sp>
      <p:sp>
        <p:nvSpPr>
          <p:cNvPr id="11" name="Text 9"/>
          <p:cNvSpPr/>
          <p:nvPr/>
        </p:nvSpPr>
        <p:spPr>
          <a:xfrm>
            <a:off x="1216152" y="2124456"/>
            <a:ext cx="2414016" cy="505968"/>
          </a:xfrm>
          <a:prstGeom prst="rect">
            <a:avLst/>
          </a:prstGeom>
          <a:noFill/>
          <a:ln/>
        </p:spPr>
        <p:txBody>
          <a:bodyPr wrap="square" lIns="127" tIns="127" rIns="127" bIns="127" rtlCol="0" anchor="ctr">
            <a:normAutofit/>
          </a:bodyPr>
          <a:lstStyle/>
          <a:p>
            <a:pPr algn="l" indent="0" marL="0">
              <a:buNone/>
            </a:pPr>
            <a:r>
              <a:rPr lang="en-US" sz="1500" dirty="0">
                <a:solidFill>
                  <a:srgbClr val="10203B"/>
                </a:solidFill>
              </a:rPr>
              <a:t>TP / TN</a:t>
            </a:r>
            <a:endParaRPr lang="en-US" sz="1500" dirty="0"/>
          </a:p>
        </p:txBody>
      </p:sp>
      <p:sp>
        <p:nvSpPr>
          <p:cNvPr id="12" name="Shape 10"/>
          <p:cNvSpPr/>
          <p:nvPr/>
        </p:nvSpPr>
        <p:spPr>
          <a:xfrm>
            <a:off x="3657600" y="2087880"/>
            <a:ext cx="7406640" cy="579120"/>
          </a:xfrm>
          <a:prstGeom prst="rect">
            <a:avLst/>
          </a:prstGeom>
          <a:solidFill>
            <a:srgbClr val="FFFFFF"/>
          </a:solidFill>
          <a:ln w="6350">
            <a:solidFill>
              <a:srgbClr val="FFFFFF"/>
            </a:solidFill>
            <a:prstDash val="solid"/>
          </a:ln>
        </p:spPr>
      </p:sp>
      <p:sp>
        <p:nvSpPr>
          <p:cNvPr id="13" name="Text 11"/>
          <p:cNvSpPr/>
          <p:nvPr/>
        </p:nvSpPr>
        <p:spPr>
          <a:xfrm>
            <a:off x="3685032" y="2124456"/>
            <a:ext cx="7351776" cy="505968"/>
          </a:xfrm>
          <a:prstGeom prst="rect">
            <a:avLst/>
          </a:prstGeom>
          <a:noFill/>
          <a:ln/>
        </p:spPr>
        <p:txBody>
          <a:bodyPr wrap="square" lIns="127" tIns="127" rIns="127" bIns="127" rtlCol="0" anchor="ctr">
            <a:normAutofit/>
          </a:bodyPr>
          <a:lstStyle/>
          <a:p>
            <a:pPr algn="ctr" indent="0" marL="0">
              <a:buNone/>
            </a:pPr>
            <a:r>
              <a:rPr lang="en-US" sz="1500" dirty="0">
                <a:solidFill>
                  <a:srgbClr val="10203B"/>
                </a:solidFill>
              </a:rPr>
              <a:t>correct weapon / non-weapon classification</a:t>
            </a:r>
            <a:endParaRPr lang="en-US" sz="1500" dirty="0"/>
          </a:p>
        </p:txBody>
      </p:sp>
      <p:sp>
        <p:nvSpPr>
          <p:cNvPr id="14" name="Shape 12"/>
          <p:cNvSpPr/>
          <p:nvPr/>
        </p:nvSpPr>
        <p:spPr>
          <a:xfrm>
            <a:off x="1188720" y="2667000"/>
            <a:ext cx="2468880" cy="579120"/>
          </a:xfrm>
          <a:prstGeom prst="rect">
            <a:avLst/>
          </a:prstGeom>
          <a:solidFill>
            <a:srgbClr val="F3F7FA"/>
          </a:solidFill>
          <a:ln w="6350">
            <a:solidFill>
              <a:srgbClr val="FFFFFF"/>
            </a:solidFill>
            <a:prstDash val="solid"/>
          </a:ln>
        </p:spPr>
      </p:sp>
      <p:sp>
        <p:nvSpPr>
          <p:cNvPr id="15" name="Text 13"/>
          <p:cNvSpPr/>
          <p:nvPr/>
        </p:nvSpPr>
        <p:spPr>
          <a:xfrm>
            <a:off x="1216152" y="2703576"/>
            <a:ext cx="2414016" cy="505968"/>
          </a:xfrm>
          <a:prstGeom prst="rect">
            <a:avLst/>
          </a:prstGeom>
          <a:noFill/>
          <a:ln/>
        </p:spPr>
        <p:txBody>
          <a:bodyPr wrap="square" lIns="127" tIns="127" rIns="127" bIns="127" rtlCol="0" anchor="ctr">
            <a:normAutofit/>
          </a:bodyPr>
          <a:lstStyle/>
          <a:p>
            <a:pPr algn="l" indent="0" marL="0">
              <a:buNone/>
            </a:pPr>
            <a:r>
              <a:rPr lang="en-US" sz="1500" dirty="0">
                <a:solidFill>
                  <a:srgbClr val="10203B"/>
                </a:solidFill>
              </a:rPr>
              <a:t>FP / FN</a:t>
            </a:r>
            <a:endParaRPr lang="en-US" sz="1500" dirty="0"/>
          </a:p>
        </p:txBody>
      </p:sp>
      <p:sp>
        <p:nvSpPr>
          <p:cNvPr id="16" name="Shape 14"/>
          <p:cNvSpPr/>
          <p:nvPr/>
        </p:nvSpPr>
        <p:spPr>
          <a:xfrm>
            <a:off x="3657600" y="2667000"/>
            <a:ext cx="7406640" cy="579120"/>
          </a:xfrm>
          <a:prstGeom prst="rect">
            <a:avLst/>
          </a:prstGeom>
          <a:solidFill>
            <a:srgbClr val="F3F7FA"/>
          </a:solidFill>
          <a:ln w="6350">
            <a:solidFill>
              <a:srgbClr val="FFFFFF"/>
            </a:solidFill>
            <a:prstDash val="solid"/>
          </a:ln>
        </p:spPr>
      </p:sp>
      <p:sp>
        <p:nvSpPr>
          <p:cNvPr id="17" name="Text 15"/>
          <p:cNvSpPr/>
          <p:nvPr/>
        </p:nvSpPr>
        <p:spPr>
          <a:xfrm>
            <a:off x="3685032" y="2703576"/>
            <a:ext cx="7351776" cy="505968"/>
          </a:xfrm>
          <a:prstGeom prst="rect">
            <a:avLst/>
          </a:prstGeom>
          <a:noFill/>
          <a:ln/>
        </p:spPr>
        <p:txBody>
          <a:bodyPr wrap="square" lIns="127" tIns="127" rIns="127" bIns="127" rtlCol="0" anchor="ctr">
            <a:normAutofit/>
          </a:bodyPr>
          <a:lstStyle/>
          <a:p>
            <a:pPr algn="ctr" indent="0" marL="0">
              <a:buNone/>
            </a:pPr>
            <a:r>
              <a:rPr lang="en-US" sz="1500" dirty="0">
                <a:solidFill>
                  <a:srgbClr val="10203B"/>
                </a:solidFill>
              </a:rPr>
              <a:t>incorrect classification in either direction</a:t>
            </a:r>
            <a:endParaRPr lang="en-US" sz="1500" dirty="0"/>
          </a:p>
        </p:txBody>
      </p:sp>
      <p:sp>
        <p:nvSpPr>
          <p:cNvPr id="18" name="Shape 16"/>
          <p:cNvSpPr/>
          <p:nvPr/>
        </p:nvSpPr>
        <p:spPr>
          <a:xfrm>
            <a:off x="1188720" y="3246120"/>
            <a:ext cx="2468880" cy="579120"/>
          </a:xfrm>
          <a:prstGeom prst="rect">
            <a:avLst/>
          </a:prstGeom>
          <a:solidFill>
            <a:srgbClr val="FFFFFF"/>
          </a:solidFill>
          <a:ln w="6350">
            <a:solidFill>
              <a:srgbClr val="FFFFFF"/>
            </a:solidFill>
            <a:prstDash val="solid"/>
          </a:ln>
        </p:spPr>
      </p:sp>
      <p:sp>
        <p:nvSpPr>
          <p:cNvPr id="19" name="Text 17"/>
          <p:cNvSpPr/>
          <p:nvPr/>
        </p:nvSpPr>
        <p:spPr>
          <a:xfrm>
            <a:off x="1216152" y="3282696"/>
            <a:ext cx="2414016" cy="505968"/>
          </a:xfrm>
          <a:prstGeom prst="rect">
            <a:avLst/>
          </a:prstGeom>
          <a:noFill/>
          <a:ln/>
        </p:spPr>
        <p:txBody>
          <a:bodyPr wrap="square" lIns="127" tIns="127" rIns="127" bIns="127" rtlCol="0" anchor="ctr">
            <a:normAutofit/>
          </a:bodyPr>
          <a:lstStyle/>
          <a:p>
            <a:pPr algn="l" indent="0" marL="0">
              <a:buNone/>
            </a:pPr>
            <a:r>
              <a:rPr lang="en-US" sz="1500" dirty="0">
                <a:solidFill>
                  <a:srgbClr val="10203B"/>
                </a:solidFill>
              </a:rPr>
              <a:t>FNR / FPR</a:t>
            </a:r>
            <a:endParaRPr lang="en-US" sz="1500" dirty="0"/>
          </a:p>
        </p:txBody>
      </p:sp>
      <p:sp>
        <p:nvSpPr>
          <p:cNvPr id="20" name="Shape 18"/>
          <p:cNvSpPr/>
          <p:nvPr/>
        </p:nvSpPr>
        <p:spPr>
          <a:xfrm>
            <a:off x="3657600" y="3246120"/>
            <a:ext cx="7406640" cy="579120"/>
          </a:xfrm>
          <a:prstGeom prst="rect">
            <a:avLst/>
          </a:prstGeom>
          <a:solidFill>
            <a:srgbClr val="FFFFFF"/>
          </a:solidFill>
          <a:ln w="6350">
            <a:solidFill>
              <a:srgbClr val="FFFFFF"/>
            </a:solidFill>
            <a:prstDash val="solid"/>
          </a:ln>
        </p:spPr>
      </p:sp>
      <p:sp>
        <p:nvSpPr>
          <p:cNvPr id="21" name="Text 19"/>
          <p:cNvSpPr/>
          <p:nvPr/>
        </p:nvSpPr>
        <p:spPr>
          <a:xfrm>
            <a:off x="3685032" y="3282696"/>
            <a:ext cx="7351776" cy="505968"/>
          </a:xfrm>
          <a:prstGeom prst="rect">
            <a:avLst/>
          </a:prstGeom>
          <a:noFill/>
          <a:ln/>
        </p:spPr>
        <p:txBody>
          <a:bodyPr wrap="square" lIns="127" tIns="127" rIns="127" bIns="127" rtlCol="0" anchor="ctr">
            <a:normAutofit/>
          </a:bodyPr>
          <a:lstStyle/>
          <a:p>
            <a:pPr algn="ctr" indent="0" marL="0">
              <a:buNone/>
            </a:pPr>
            <a:r>
              <a:rPr lang="en-US" sz="1500" dirty="0">
                <a:solidFill>
                  <a:srgbClr val="10203B"/>
                </a:solidFill>
              </a:rPr>
              <a:t>false negative rate / false positive rate</a:t>
            </a:r>
            <a:endParaRPr lang="en-US" sz="1500" dirty="0"/>
          </a:p>
        </p:txBody>
      </p:sp>
      <p:sp>
        <p:nvSpPr>
          <p:cNvPr id="22" name="Shape 20"/>
          <p:cNvSpPr/>
          <p:nvPr/>
        </p:nvSpPr>
        <p:spPr>
          <a:xfrm>
            <a:off x="1188720" y="3825240"/>
            <a:ext cx="2468880" cy="579120"/>
          </a:xfrm>
          <a:prstGeom prst="rect">
            <a:avLst/>
          </a:prstGeom>
          <a:solidFill>
            <a:srgbClr val="F3F7FA"/>
          </a:solidFill>
          <a:ln w="6350">
            <a:solidFill>
              <a:srgbClr val="FFFFFF"/>
            </a:solidFill>
            <a:prstDash val="solid"/>
          </a:ln>
        </p:spPr>
      </p:sp>
      <p:sp>
        <p:nvSpPr>
          <p:cNvPr id="23" name="Text 21"/>
          <p:cNvSpPr/>
          <p:nvPr/>
        </p:nvSpPr>
        <p:spPr>
          <a:xfrm>
            <a:off x="1216152" y="3861816"/>
            <a:ext cx="2414016" cy="505968"/>
          </a:xfrm>
          <a:prstGeom prst="rect">
            <a:avLst/>
          </a:prstGeom>
          <a:noFill/>
          <a:ln/>
        </p:spPr>
        <p:txBody>
          <a:bodyPr wrap="square" lIns="127" tIns="127" rIns="127" bIns="127" rtlCol="0" anchor="ctr">
            <a:normAutofit/>
          </a:bodyPr>
          <a:lstStyle/>
          <a:p>
            <a:pPr algn="l" indent="0" marL="0">
              <a:buNone/>
            </a:pPr>
            <a:r>
              <a:rPr lang="en-US" sz="1500" dirty="0">
                <a:solidFill>
                  <a:srgbClr val="10203B"/>
                </a:solidFill>
              </a:rPr>
              <a:t>Unknown rate</a:t>
            </a:r>
            <a:endParaRPr lang="en-US" sz="1500" dirty="0"/>
          </a:p>
        </p:txBody>
      </p:sp>
      <p:sp>
        <p:nvSpPr>
          <p:cNvPr id="24" name="Shape 22"/>
          <p:cNvSpPr/>
          <p:nvPr/>
        </p:nvSpPr>
        <p:spPr>
          <a:xfrm>
            <a:off x="3657600" y="3825240"/>
            <a:ext cx="7406640" cy="579120"/>
          </a:xfrm>
          <a:prstGeom prst="rect">
            <a:avLst/>
          </a:prstGeom>
          <a:solidFill>
            <a:srgbClr val="F3F7FA"/>
          </a:solidFill>
          <a:ln w="6350">
            <a:solidFill>
              <a:srgbClr val="FFFFFF"/>
            </a:solidFill>
            <a:prstDash val="solid"/>
          </a:ln>
        </p:spPr>
      </p:sp>
      <p:sp>
        <p:nvSpPr>
          <p:cNvPr id="25" name="Text 23"/>
          <p:cNvSpPr/>
          <p:nvPr/>
        </p:nvSpPr>
        <p:spPr>
          <a:xfrm>
            <a:off x="3685032" y="3861816"/>
            <a:ext cx="7351776" cy="505968"/>
          </a:xfrm>
          <a:prstGeom prst="rect">
            <a:avLst/>
          </a:prstGeom>
          <a:noFill/>
          <a:ln/>
        </p:spPr>
        <p:txBody>
          <a:bodyPr wrap="square" lIns="127" tIns="127" rIns="127" bIns="127" rtlCol="0" anchor="ctr">
            <a:normAutofit/>
          </a:bodyPr>
          <a:lstStyle/>
          <a:p>
            <a:pPr algn="ctr" indent="0" marL="0">
              <a:buNone/>
            </a:pPr>
            <a:r>
              <a:rPr lang="en-US" sz="1500" dirty="0">
                <a:solidFill>
                  <a:srgbClr val="10203B"/>
                </a:solidFill>
              </a:rPr>
              <a:t>share of outputs not conservatively mappable to a label</a:t>
            </a:r>
            <a:endParaRPr lang="en-US" sz="1500" dirty="0"/>
          </a:p>
        </p:txBody>
      </p:sp>
      <p:sp>
        <p:nvSpPr>
          <p:cNvPr id="26" name="Shape 24"/>
          <p:cNvSpPr/>
          <p:nvPr/>
        </p:nvSpPr>
        <p:spPr>
          <a:xfrm>
            <a:off x="1188720" y="4404360"/>
            <a:ext cx="2468880" cy="579120"/>
          </a:xfrm>
          <a:prstGeom prst="rect">
            <a:avLst/>
          </a:prstGeom>
          <a:solidFill>
            <a:srgbClr val="FFFFFF"/>
          </a:solidFill>
          <a:ln w="6350">
            <a:solidFill>
              <a:srgbClr val="FFFFFF"/>
            </a:solidFill>
            <a:prstDash val="solid"/>
          </a:ln>
        </p:spPr>
      </p:sp>
      <p:sp>
        <p:nvSpPr>
          <p:cNvPr id="27" name="Text 25"/>
          <p:cNvSpPr/>
          <p:nvPr/>
        </p:nvSpPr>
        <p:spPr>
          <a:xfrm>
            <a:off x="1216152" y="4440936"/>
            <a:ext cx="2414016" cy="505968"/>
          </a:xfrm>
          <a:prstGeom prst="rect">
            <a:avLst/>
          </a:prstGeom>
          <a:noFill/>
          <a:ln/>
        </p:spPr>
        <p:txBody>
          <a:bodyPr wrap="square" lIns="127" tIns="127" rIns="127" bIns="127" rtlCol="0" anchor="ctr">
            <a:normAutofit/>
          </a:bodyPr>
          <a:lstStyle/>
          <a:p>
            <a:pPr algn="l" indent="0" marL="0">
              <a:buNone/>
            </a:pPr>
            <a:r>
              <a:rPr lang="en-US" sz="1500" dirty="0">
                <a:solidFill>
                  <a:srgbClr val="10203B"/>
                </a:solidFill>
              </a:rPr>
              <a:t>OOD weapon-flag rate</a:t>
            </a:r>
            <a:endParaRPr lang="en-US" sz="1500" dirty="0"/>
          </a:p>
        </p:txBody>
      </p:sp>
      <p:sp>
        <p:nvSpPr>
          <p:cNvPr id="28" name="Shape 26"/>
          <p:cNvSpPr/>
          <p:nvPr/>
        </p:nvSpPr>
        <p:spPr>
          <a:xfrm>
            <a:off x="3657600" y="4404360"/>
            <a:ext cx="7406640" cy="579120"/>
          </a:xfrm>
          <a:prstGeom prst="rect">
            <a:avLst/>
          </a:prstGeom>
          <a:solidFill>
            <a:srgbClr val="FFFFFF"/>
          </a:solidFill>
          <a:ln w="6350">
            <a:solidFill>
              <a:srgbClr val="FFFFFF"/>
            </a:solidFill>
            <a:prstDash val="solid"/>
          </a:ln>
        </p:spPr>
      </p:sp>
      <p:sp>
        <p:nvSpPr>
          <p:cNvPr id="29" name="Text 27"/>
          <p:cNvSpPr/>
          <p:nvPr/>
        </p:nvSpPr>
        <p:spPr>
          <a:xfrm>
            <a:off x="3685032" y="4440936"/>
            <a:ext cx="7351776" cy="505968"/>
          </a:xfrm>
          <a:prstGeom prst="rect">
            <a:avLst/>
          </a:prstGeom>
          <a:noFill/>
          <a:ln/>
        </p:spPr>
        <p:txBody>
          <a:bodyPr wrap="square" lIns="127" tIns="127" rIns="127" bIns="127" rtlCol="0" anchor="ctr">
            <a:normAutofit/>
          </a:bodyPr>
          <a:lstStyle/>
          <a:p>
            <a:pPr algn="ctr" indent="0" marL="0">
              <a:buNone/>
            </a:pPr>
            <a:r>
              <a:rPr lang="en-US" sz="1500" dirty="0">
                <a:solidFill>
                  <a:srgbClr val="10203B"/>
                </a:solidFill>
              </a:rPr>
              <a:t>share of OOD images operationally mapped to weapon</a:t>
            </a:r>
            <a:endParaRPr lang="en-US" sz="1500" dirty="0"/>
          </a:p>
        </p:txBody>
      </p:sp>
      <p:sp>
        <p:nvSpPr>
          <p:cNvPr id="30" name="Shape 28"/>
          <p:cNvSpPr/>
          <p:nvPr/>
        </p:nvSpPr>
        <p:spPr>
          <a:xfrm>
            <a:off x="411480" y="6510528"/>
            <a:ext cx="11365992" cy="0"/>
          </a:xfrm>
          <a:prstGeom prst="line">
            <a:avLst/>
          </a:prstGeom>
          <a:noFill/>
          <a:ln w="8890">
            <a:solidFill>
              <a:srgbClr val="D8E1E8"/>
            </a:solidFill>
            <a:prstDash val="solid"/>
          </a:ln>
        </p:spPr>
      </p:sp>
      <p:sp>
        <p:nvSpPr>
          <p:cNvPr id="31" name="Text 29"/>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2" name="Text 30"/>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B1</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BACKUP — Q&amp;A REFERENCE</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Why OOD Remains Clean</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Avoid conflating two distinct failure modes</a:t>
            </a:r>
            <a:endParaRPr lang="en-US" sz="1100" dirty="0"/>
          </a:p>
        </p:txBody>
      </p:sp>
      <p:sp>
        <p:nvSpPr>
          <p:cNvPr id="6" name="Shape 4"/>
          <p:cNvSpPr/>
          <p:nvPr/>
        </p:nvSpPr>
        <p:spPr>
          <a:xfrm>
            <a:off x="1097280" y="1417320"/>
            <a:ext cx="9966960" cy="4297680"/>
          </a:xfrm>
          <a:prstGeom prst="roundRect">
            <a:avLst>
              <a:gd name="adj" fmla="val 2128"/>
            </a:avLst>
          </a:prstGeom>
          <a:solidFill>
            <a:srgbClr val="FFFFFF"/>
          </a:solidFill>
          <a:ln w="12700">
            <a:solidFill>
              <a:srgbClr val="D8E1E8"/>
            </a:solidFill>
            <a:prstDash val="solid"/>
          </a:ln>
        </p:spPr>
      </p:sp>
      <p:sp>
        <p:nvSpPr>
          <p:cNvPr id="7" name="Shape 5"/>
          <p:cNvSpPr/>
          <p:nvPr/>
        </p:nvSpPr>
        <p:spPr>
          <a:xfrm>
            <a:off x="1508760" y="1993392"/>
            <a:ext cx="73152" cy="73152"/>
          </a:xfrm>
          <a:prstGeom prst="ellipse">
            <a:avLst/>
          </a:prstGeom>
          <a:solidFill>
            <a:srgbClr val="0A7C80"/>
          </a:solidFill>
          <a:ln w="12700">
            <a:solidFill>
              <a:srgbClr val="0A7C80"/>
            </a:solidFill>
            <a:prstDash val="solid"/>
          </a:ln>
        </p:spPr>
      </p:sp>
      <p:sp>
        <p:nvSpPr>
          <p:cNvPr id="8" name="Text 6"/>
          <p:cNvSpPr/>
          <p:nvPr/>
        </p:nvSpPr>
        <p:spPr>
          <a:xfrm>
            <a:off x="1673352" y="1920240"/>
            <a:ext cx="8961120" cy="640080"/>
          </a:xfrm>
          <a:prstGeom prst="rect">
            <a:avLst/>
          </a:prstGeom>
          <a:noFill/>
          <a:ln/>
        </p:spPr>
        <p:txBody>
          <a:bodyPr wrap="square" lIns="254" tIns="254" rIns="254" bIns="254" rtlCol="0" anchor="ctr">
            <a:normAutofit/>
          </a:bodyPr>
          <a:lstStyle/>
          <a:p>
            <a:pPr indent="0" marL="0">
              <a:buNone/>
            </a:pPr>
            <a:r>
              <a:rPr lang="en-US" sz="1600" dirty="0">
                <a:solidFill>
                  <a:srgbClr val="10203B"/>
                </a:solidFill>
              </a:rPr>
              <a:t>OOD probes distribution shift, not perturbation robustness.</a:t>
            </a:r>
            <a:endParaRPr lang="en-US" sz="1600" dirty="0"/>
          </a:p>
        </p:txBody>
      </p:sp>
      <p:sp>
        <p:nvSpPr>
          <p:cNvPr id="9" name="Shape 7"/>
          <p:cNvSpPr/>
          <p:nvPr/>
        </p:nvSpPr>
        <p:spPr>
          <a:xfrm>
            <a:off x="1508760" y="2633472"/>
            <a:ext cx="73152" cy="73152"/>
          </a:xfrm>
          <a:prstGeom prst="ellipse">
            <a:avLst/>
          </a:prstGeom>
          <a:solidFill>
            <a:srgbClr val="0A7C80"/>
          </a:solidFill>
          <a:ln w="12700">
            <a:solidFill>
              <a:srgbClr val="0A7C80"/>
            </a:solidFill>
            <a:prstDash val="solid"/>
          </a:ln>
        </p:spPr>
      </p:sp>
      <p:sp>
        <p:nvSpPr>
          <p:cNvPr id="10" name="Text 8"/>
          <p:cNvSpPr/>
          <p:nvPr/>
        </p:nvSpPr>
        <p:spPr>
          <a:xfrm>
            <a:off x="1673352" y="2560320"/>
            <a:ext cx="8961120" cy="640080"/>
          </a:xfrm>
          <a:prstGeom prst="rect">
            <a:avLst/>
          </a:prstGeom>
          <a:noFill/>
          <a:ln/>
        </p:spPr>
        <p:txBody>
          <a:bodyPr wrap="square" lIns="254" tIns="254" rIns="254" bIns="254" rtlCol="0" anchor="ctr">
            <a:normAutofit/>
          </a:bodyPr>
          <a:lstStyle/>
          <a:p>
            <a:pPr indent="0" marL="0">
              <a:buNone/>
            </a:pPr>
            <a:r>
              <a:rPr lang="en-US" sz="1600" dirty="0">
                <a:solidFill>
                  <a:srgbClr val="10203B"/>
                </a:solidFill>
              </a:rPr>
              <a:t>OOD images test whether unfamiliar content is absorbed into the weapon class.</a:t>
            </a:r>
            <a:endParaRPr lang="en-US" sz="1600" dirty="0"/>
          </a:p>
        </p:txBody>
      </p:sp>
      <p:sp>
        <p:nvSpPr>
          <p:cNvPr id="11" name="Shape 9"/>
          <p:cNvSpPr/>
          <p:nvPr/>
        </p:nvSpPr>
        <p:spPr>
          <a:xfrm>
            <a:off x="1508760" y="3273552"/>
            <a:ext cx="73152" cy="73152"/>
          </a:xfrm>
          <a:prstGeom prst="ellipse">
            <a:avLst/>
          </a:prstGeom>
          <a:solidFill>
            <a:srgbClr val="0A7C80"/>
          </a:solidFill>
          <a:ln w="12700">
            <a:solidFill>
              <a:srgbClr val="0A7C80"/>
            </a:solidFill>
            <a:prstDash val="solid"/>
          </a:ln>
        </p:spPr>
      </p:sp>
      <p:sp>
        <p:nvSpPr>
          <p:cNvPr id="12" name="Text 10"/>
          <p:cNvSpPr/>
          <p:nvPr/>
        </p:nvSpPr>
        <p:spPr>
          <a:xfrm>
            <a:off x="1673352" y="3200400"/>
            <a:ext cx="8961120" cy="640080"/>
          </a:xfrm>
          <a:prstGeom prst="rect">
            <a:avLst/>
          </a:prstGeom>
          <a:noFill/>
          <a:ln/>
        </p:spPr>
        <p:txBody>
          <a:bodyPr wrap="square" lIns="254" tIns="254" rIns="254" bIns="254" rtlCol="0" anchor="ctr">
            <a:normAutofit/>
          </a:bodyPr>
          <a:lstStyle/>
          <a:p>
            <a:pPr indent="0" marL="0">
              <a:buNone/>
            </a:pPr>
            <a:r>
              <a:rPr lang="en-US" sz="1600" dirty="0">
                <a:solidFill>
                  <a:srgbClr val="10203B"/>
                </a:solidFill>
              </a:rPr>
              <a:t>Adding perturbations to OOD would mix distribution shift with evasion stress.</a:t>
            </a:r>
            <a:endParaRPr lang="en-US" sz="1600" dirty="0"/>
          </a:p>
        </p:txBody>
      </p:sp>
      <p:sp>
        <p:nvSpPr>
          <p:cNvPr id="13" name="Shape 11"/>
          <p:cNvSpPr/>
          <p:nvPr/>
        </p:nvSpPr>
        <p:spPr>
          <a:xfrm>
            <a:off x="1508760" y="3913632"/>
            <a:ext cx="73152" cy="73152"/>
          </a:xfrm>
          <a:prstGeom prst="ellipse">
            <a:avLst/>
          </a:prstGeom>
          <a:solidFill>
            <a:srgbClr val="0A7C80"/>
          </a:solidFill>
          <a:ln w="12700">
            <a:solidFill>
              <a:srgbClr val="0A7C80"/>
            </a:solidFill>
            <a:prstDash val="solid"/>
          </a:ln>
        </p:spPr>
      </p:sp>
      <p:sp>
        <p:nvSpPr>
          <p:cNvPr id="14" name="Text 12"/>
          <p:cNvSpPr/>
          <p:nvPr/>
        </p:nvSpPr>
        <p:spPr>
          <a:xfrm>
            <a:off x="1673352" y="3840480"/>
            <a:ext cx="8961120" cy="640080"/>
          </a:xfrm>
          <a:prstGeom prst="rect">
            <a:avLst/>
          </a:prstGeom>
          <a:noFill/>
          <a:ln/>
        </p:spPr>
        <p:txBody>
          <a:bodyPr wrap="square" lIns="254" tIns="254" rIns="254" bIns="254" rtlCol="0" anchor="ctr">
            <a:normAutofit/>
          </a:bodyPr>
          <a:lstStyle/>
          <a:p>
            <a:pPr indent="0" marL="0">
              <a:buNone/>
            </a:pPr>
            <a:r>
              <a:rPr lang="en-US" sz="1600" dirty="0">
                <a:solidFill>
                  <a:srgbClr val="10203B"/>
                </a:solidFill>
              </a:rPr>
              <a:t>Keeping OOD clean makes interpretation sharper and defensible.</a:t>
            </a:r>
            <a:endParaRPr lang="en-US" sz="1600" dirty="0"/>
          </a:p>
        </p:txBody>
      </p:sp>
      <p:sp>
        <p:nvSpPr>
          <p:cNvPr id="15" name="Shape 13"/>
          <p:cNvSpPr/>
          <p:nvPr/>
        </p:nvSpPr>
        <p:spPr>
          <a:xfrm>
            <a:off x="2194560" y="5806440"/>
            <a:ext cx="7772400" cy="502920"/>
          </a:xfrm>
          <a:prstGeom prst="roundRect">
            <a:avLst>
              <a:gd name="adj" fmla="val 18182"/>
            </a:avLst>
          </a:prstGeom>
          <a:solidFill>
            <a:srgbClr val="FFFFFF"/>
          </a:solidFill>
          <a:ln w="16510">
            <a:solidFill>
              <a:srgbClr val="E76F28"/>
            </a:solidFill>
            <a:prstDash val="solid"/>
          </a:ln>
        </p:spPr>
      </p:sp>
      <p:sp>
        <p:nvSpPr>
          <p:cNvPr id="16" name="Text 14"/>
          <p:cNvSpPr/>
          <p:nvPr/>
        </p:nvSpPr>
        <p:spPr>
          <a:xfrm>
            <a:off x="2359152" y="5916168"/>
            <a:ext cx="7443216" cy="283464"/>
          </a:xfrm>
          <a:prstGeom prst="rect">
            <a:avLst/>
          </a:prstGeom>
          <a:noFill/>
          <a:ln/>
        </p:spPr>
        <p:txBody>
          <a:bodyPr wrap="square" lIns="254" tIns="254" rIns="254" bIns="254" rtlCol="0" anchor="ctr">
            <a:normAutofit/>
          </a:bodyPr>
          <a:lstStyle/>
          <a:p>
            <a:pPr algn="ctr" indent="0" marL="0">
              <a:buNone/>
            </a:pPr>
            <a:r>
              <a:rPr lang="en-US" sz="1200" b="1" dirty="0">
                <a:solidFill>
                  <a:srgbClr val="E76F28"/>
                </a:solidFill>
              </a:rPr>
              <a:t>OOD = separate operational risk branch.</a:t>
            </a:r>
            <a:endParaRPr lang="en-US" sz="1200" dirty="0"/>
          </a:p>
        </p:txBody>
      </p:sp>
      <p:sp>
        <p:nvSpPr>
          <p:cNvPr id="17" name="Shape 15"/>
          <p:cNvSpPr/>
          <p:nvPr/>
        </p:nvSpPr>
        <p:spPr>
          <a:xfrm>
            <a:off x="411480" y="6510528"/>
            <a:ext cx="11365992" cy="0"/>
          </a:xfrm>
          <a:prstGeom prst="line">
            <a:avLst/>
          </a:prstGeom>
          <a:noFill/>
          <a:ln w="8890">
            <a:solidFill>
              <a:srgbClr val="D8E1E8"/>
            </a:solidFill>
            <a:prstDash val="solid"/>
          </a:ln>
        </p:spPr>
      </p:sp>
      <p:sp>
        <p:nvSpPr>
          <p:cNvPr id="18" name="Text 16"/>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19" name="Text 17"/>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B2</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109728"/>
            <a:ext cx="2377440" cy="164592"/>
          </a:xfrm>
          <a:prstGeom prst="rect">
            <a:avLst/>
          </a:prstGeom>
          <a:noFill/>
          <a:ln/>
        </p:spPr>
        <p:txBody>
          <a:bodyPr wrap="square" lIns="0" tIns="0" rIns="0" bIns="0" rtlCol="0" anchor="ctr"/>
          <a:lstStyle/>
          <a:p>
            <a:pPr indent="0" marL="0">
              <a:buNone/>
            </a:pPr>
            <a:r>
              <a:rPr lang="en-US" sz="800" b="1" dirty="0">
                <a:solidFill>
                  <a:srgbClr val="E76F28"/>
                </a:solidFill>
              </a:rPr>
              <a:t>BACKUP — Q&amp;A REFERENCE</a:t>
            </a:r>
            <a:endParaRPr lang="en-US" sz="800" dirty="0"/>
          </a:p>
        </p:txBody>
      </p:sp>
      <p:sp>
        <p:nvSpPr>
          <p:cNvPr id="3" name="Text 1"/>
          <p:cNvSpPr/>
          <p:nvPr/>
        </p:nvSpPr>
        <p:spPr>
          <a:xfrm>
            <a:off x="502920" y="320040"/>
            <a:ext cx="10241280" cy="384048"/>
          </a:xfrm>
          <a:prstGeom prst="rect">
            <a:avLst/>
          </a:prstGeom>
          <a:noFill/>
          <a:ln/>
        </p:spPr>
        <p:txBody>
          <a:bodyPr wrap="square" lIns="0" tIns="0" rIns="0" bIns="0" rtlCol="0" anchor="ctr"/>
          <a:lstStyle/>
          <a:p>
            <a:pPr indent="0" marL="0">
              <a:buNone/>
            </a:pPr>
            <a:r>
              <a:rPr lang="en-US" sz="2800" b="1" dirty="0">
                <a:solidFill>
                  <a:srgbClr val="0B1F4D"/>
                </a:solidFill>
                <a:latin typeface="Aptos Display" pitchFamily="34" charset="0"/>
                <a:ea typeface="Aptos Display" pitchFamily="34" charset="-122"/>
                <a:cs typeface="Aptos Display" pitchFamily="34" charset="-120"/>
              </a:rPr>
              <a:t>Why Proxy Models Are Needed</a:t>
            </a:r>
            <a:endParaRPr lang="en-US" sz="2800" dirty="0"/>
          </a:p>
        </p:txBody>
      </p:sp>
      <p:sp>
        <p:nvSpPr>
          <p:cNvPr id="4" name="Shape 2"/>
          <p:cNvSpPr/>
          <p:nvPr/>
        </p:nvSpPr>
        <p:spPr>
          <a:xfrm>
            <a:off x="502920" y="822960"/>
            <a:ext cx="731520" cy="45720"/>
          </a:xfrm>
          <a:prstGeom prst="rect">
            <a:avLst/>
          </a:prstGeom>
          <a:solidFill>
            <a:srgbClr val="E76F28"/>
          </a:solidFill>
          <a:ln w="12700">
            <a:solidFill>
              <a:srgbClr val="E76F28"/>
            </a:solidFill>
            <a:prstDash val="solid"/>
          </a:ln>
        </p:spPr>
      </p:sp>
      <p:sp>
        <p:nvSpPr>
          <p:cNvPr id="5" name="Text 3"/>
          <p:cNvSpPr/>
          <p:nvPr/>
        </p:nvSpPr>
        <p:spPr>
          <a:xfrm>
            <a:off x="502920" y="932688"/>
            <a:ext cx="9601200" cy="256032"/>
          </a:xfrm>
          <a:prstGeom prst="rect">
            <a:avLst/>
          </a:prstGeom>
          <a:noFill/>
          <a:ln/>
        </p:spPr>
        <p:txBody>
          <a:bodyPr wrap="square" lIns="0" tIns="0" rIns="0" bIns="0" rtlCol="0" anchor="ctr"/>
          <a:lstStyle/>
          <a:p>
            <a:pPr indent="0" marL="0">
              <a:buNone/>
            </a:pPr>
            <a:r>
              <a:rPr lang="en-US" sz="1100" dirty="0">
                <a:solidFill>
                  <a:srgbClr val="5F6F82"/>
                </a:solidFill>
              </a:rPr>
              <a:t>Capabilities unavailable in black-box commercial tools</a:t>
            </a:r>
            <a:endParaRPr lang="en-US" sz="1100" dirty="0"/>
          </a:p>
        </p:txBody>
      </p:sp>
      <p:sp>
        <p:nvSpPr>
          <p:cNvPr id="6" name="Shape 4"/>
          <p:cNvSpPr/>
          <p:nvPr/>
        </p:nvSpPr>
        <p:spPr>
          <a:xfrm>
            <a:off x="914400" y="1554480"/>
            <a:ext cx="4754880" cy="1325880"/>
          </a:xfrm>
          <a:prstGeom prst="roundRect">
            <a:avLst>
              <a:gd name="adj" fmla="val 6897"/>
            </a:avLst>
          </a:prstGeom>
          <a:solidFill>
            <a:srgbClr val="FFFFFF"/>
          </a:solidFill>
          <a:ln w="12700">
            <a:solidFill>
              <a:srgbClr val="D8E1E8"/>
            </a:solidFill>
            <a:prstDash val="solid"/>
          </a:ln>
        </p:spPr>
      </p:sp>
      <p:sp>
        <p:nvSpPr>
          <p:cNvPr id="7" name="Shape 5"/>
          <p:cNvSpPr/>
          <p:nvPr/>
        </p:nvSpPr>
        <p:spPr>
          <a:xfrm>
            <a:off x="1143000" y="1993392"/>
            <a:ext cx="420624" cy="420624"/>
          </a:xfrm>
          <a:prstGeom prst="ellipse">
            <a:avLst/>
          </a:prstGeom>
          <a:solidFill>
            <a:srgbClr val="0A7C80"/>
          </a:solidFill>
          <a:ln w="12700">
            <a:solidFill>
              <a:srgbClr val="0A7C80"/>
            </a:solidFill>
            <a:prstDash val="solid"/>
          </a:ln>
        </p:spPr>
      </p:sp>
      <p:sp>
        <p:nvSpPr>
          <p:cNvPr id="8" name="Text 6"/>
          <p:cNvSpPr/>
          <p:nvPr/>
        </p:nvSpPr>
        <p:spPr>
          <a:xfrm>
            <a:off x="1161288" y="208026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737360" y="1901952"/>
            <a:ext cx="3474720" cy="228600"/>
          </a:xfrm>
          <a:prstGeom prst="rect">
            <a:avLst/>
          </a:prstGeom>
          <a:noFill/>
          <a:ln/>
        </p:spPr>
        <p:txBody>
          <a:bodyPr wrap="square" lIns="0" tIns="0" rIns="0" bIns="0" rtlCol="0" anchor="ctr"/>
          <a:lstStyle/>
          <a:p>
            <a:pPr indent="0" marL="0">
              <a:buNone/>
            </a:pPr>
            <a:r>
              <a:rPr lang="en-US" sz="1500" b="1" dirty="0">
                <a:solidFill>
                  <a:srgbClr val="0B1F4D"/>
                </a:solidFill>
              </a:rPr>
              <a:t>Controlled adversarial testing</a:t>
            </a:r>
            <a:endParaRPr lang="en-US" sz="1500" dirty="0"/>
          </a:p>
        </p:txBody>
      </p:sp>
      <p:sp>
        <p:nvSpPr>
          <p:cNvPr id="10" name="Text 8"/>
          <p:cNvSpPr/>
          <p:nvPr/>
        </p:nvSpPr>
        <p:spPr>
          <a:xfrm>
            <a:off x="1737360" y="2313432"/>
            <a:ext cx="3566160" cy="201168"/>
          </a:xfrm>
          <a:prstGeom prst="rect">
            <a:avLst/>
          </a:prstGeom>
          <a:noFill/>
          <a:ln/>
        </p:spPr>
        <p:txBody>
          <a:bodyPr wrap="square" lIns="0" tIns="0" rIns="0" bIns="0" rtlCol="0" anchor="ctr"/>
          <a:lstStyle/>
          <a:p>
            <a:pPr indent="0" marL="0">
              <a:buNone/>
            </a:pPr>
            <a:r>
              <a:rPr lang="en-US" sz="1050" dirty="0">
                <a:solidFill>
                  <a:srgbClr val="5F6F82"/>
                </a:solidFill>
              </a:rPr>
              <a:t>repeatable perturbations against known targets</a:t>
            </a:r>
            <a:endParaRPr lang="en-US" sz="1050" dirty="0"/>
          </a:p>
        </p:txBody>
      </p:sp>
      <p:sp>
        <p:nvSpPr>
          <p:cNvPr id="11" name="Shape 9"/>
          <p:cNvSpPr/>
          <p:nvPr/>
        </p:nvSpPr>
        <p:spPr>
          <a:xfrm>
            <a:off x="6217920" y="1554480"/>
            <a:ext cx="4754880" cy="1325880"/>
          </a:xfrm>
          <a:prstGeom prst="roundRect">
            <a:avLst>
              <a:gd name="adj" fmla="val 6897"/>
            </a:avLst>
          </a:prstGeom>
          <a:solidFill>
            <a:srgbClr val="FFFFFF"/>
          </a:solidFill>
          <a:ln w="12700">
            <a:solidFill>
              <a:srgbClr val="D8E1E8"/>
            </a:solidFill>
            <a:prstDash val="solid"/>
          </a:ln>
        </p:spPr>
      </p:sp>
      <p:sp>
        <p:nvSpPr>
          <p:cNvPr id="12" name="Shape 10"/>
          <p:cNvSpPr/>
          <p:nvPr/>
        </p:nvSpPr>
        <p:spPr>
          <a:xfrm>
            <a:off x="6446520" y="1993392"/>
            <a:ext cx="420624" cy="420624"/>
          </a:xfrm>
          <a:prstGeom prst="ellipse">
            <a:avLst/>
          </a:prstGeom>
          <a:solidFill>
            <a:srgbClr val="0A7C80"/>
          </a:solidFill>
          <a:ln w="12700">
            <a:solidFill>
              <a:srgbClr val="0A7C80"/>
            </a:solidFill>
            <a:prstDash val="solid"/>
          </a:ln>
        </p:spPr>
      </p:sp>
      <p:sp>
        <p:nvSpPr>
          <p:cNvPr id="13" name="Text 11"/>
          <p:cNvSpPr/>
          <p:nvPr/>
        </p:nvSpPr>
        <p:spPr>
          <a:xfrm>
            <a:off x="6464808" y="208026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7040880" y="1901952"/>
            <a:ext cx="3474720" cy="228600"/>
          </a:xfrm>
          <a:prstGeom prst="rect">
            <a:avLst/>
          </a:prstGeom>
          <a:noFill/>
          <a:ln/>
        </p:spPr>
        <p:txBody>
          <a:bodyPr wrap="square" lIns="0" tIns="0" rIns="0" bIns="0" rtlCol="0" anchor="ctr"/>
          <a:lstStyle/>
          <a:p>
            <a:pPr indent="0" marL="0">
              <a:buNone/>
            </a:pPr>
            <a:r>
              <a:rPr lang="en-US" sz="1500" b="1" dirty="0">
                <a:solidFill>
                  <a:srgbClr val="0B1F4D"/>
                </a:solidFill>
              </a:rPr>
              <a:t>Confidence outputs</a:t>
            </a:r>
            <a:endParaRPr lang="en-US" sz="1500" dirty="0"/>
          </a:p>
        </p:txBody>
      </p:sp>
      <p:sp>
        <p:nvSpPr>
          <p:cNvPr id="15" name="Text 13"/>
          <p:cNvSpPr/>
          <p:nvPr/>
        </p:nvSpPr>
        <p:spPr>
          <a:xfrm>
            <a:off x="7040880" y="2313432"/>
            <a:ext cx="3566160" cy="201168"/>
          </a:xfrm>
          <a:prstGeom prst="rect">
            <a:avLst/>
          </a:prstGeom>
          <a:noFill/>
          <a:ln/>
        </p:spPr>
        <p:txBody>
          <a:bodyPr wrap="square" lIns="0" tIns="0" rIns="0" bIns="0" rtlCol="0" anchor="ctr"/>
          <a:lstStyle/>
          <a:p>
            <a:pPr indent="0" marL="0">
              <a:buNone/>
            </a:pPr>
            <a:r>
              <a:rPr lang="en-US" sz="1050" dirty="0">
                <a:solidFill>
                  <a:srgbClr val="5F6F82"/>
                </a:solidFill>
              </a:rPr>
              <a:t>probability-level analysis</a:t>
            </a:r>
            <a:endParaRPr lang="en-US" sz="1050" dirty="0"/>
          </a:p>
        </p:txBody>
      </p:sp>
      <p:sp>
        <p:nvSpPr>
          <p:cNvPr id="16" name="Shape 14"/>
          <p:cNvSpPr/>
          <p:nvPr/>
        </p:nvSpPr>
        <p:spPr>
          <a:xfrm>
            <a:off x="914400" y="3383280"/>
            <a:ext cx="4754880" cy="1325880"/>
          </a:xfrm>
          <a:prstGeom prst="roundRect">
            <a:avLst>
              <a:gd name="adj" fmla="val 6897"/>
            </a:avLst>
          </a:prstGeom>
          <a:solidFill>
            <a:srgbClr val="FFFFFF"/>
          </a:solidFill>
          <a:ln w="12700">
            <a:solidFill>
              <a:srgbClr val="D8E1E8"/>
            </a:solidFill>
            <a:prstDash val="solid"/>
          </a:ln>
        </p:spPr>
      </p:sp>
      <p:sp>
        <p:nvSpPr>
          <p:cNvPr id="17" name="Shape 15"/>
          <p:cNvSpPr/>
          <p:nvPr/>
        </p:nvSpPr>
        <p:spPr>
          <a:xfrm>
            <a:off x="1143000" y="3822192"/>
            <a:ext cx="420624" cy="420624"/>
          </a:xfrm>
          <a:prstGeom prst="ellipse">
            <a:avLst/>
          </a:prstGeom>
          <a:solidFill>
            <a:srgbClr val="0A7C80"/>
          </a:solidFill>
          <a:ln w="12700">
            <a:solidFill>
              <a:srgbClr val="0A7C80"/>
            </a:solidFill>
            <a:prstDash val="solid"/>
          </a:ln>
        </p:spPr>
      </p:sp>
      <p:sp>
        <p:nvSpPr>
          <p:cNvPr id="18" name="Text 16"/>
          <p:cNvSpPr/>
          <p:nvPr/>
        </p:nvSpPr>
        <p:spPr>
          <a:xfrm>
            <a:off x="1161288" y="390906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1737360" y="3730752"/>
            <a:ext cx="3474720" cy="228600"/>
          </a:xfrm>
          <a:prstGeom prst="rect">
            <a:avLst/>
          </a:prstGeom>
          <a:noFill/>
          <a:ln/>
        </p:spPr>
        <p:txBody>
          <a:bodyPr wrap="square" lIns="0" tIns="0" rIns="0" bIns="0" rtlCol="0" anchor="ctr"/>
          <a:lstStyle/>
          <a:p>
            <a:pPr indent="0" marL="0">
              <a:buNone/>
            </a:pPr>
            <a:r>
              <a:rPr lang="en-US" sz="1500" b="1" dirty="0">
                <a:solidFill>
                  <a:srgbClr val="0B1F4D"/>
                </a:solidFill>
              </a:rPr>
              <a:t>Gradient access</a:t>
            </a:r>
            <a:endParaRPr lang="en-US" sz="1500" dirty="0"/>
          </a:p>
        </p:txBody>
      </p:sp>
      <p:sp>
        <p:nvSpPr>
          <p:cNvPr id="20" name="Text 18"/>
          <p:cNvSpPr/>
          <p:nvPr/>
        </p:nvSpPr>
        <p:spPr>
          <a:xfrm>
            <a:off x="1737360" y="4142232"/>
            <a:ext cx="3566160" cy="201168"/>
          </a:xfrm>
          <a:prstGeom prst="rect">
            <a:avLst/>
          </a:prstGeom>
          <a:noFill/>
          <a:ln/>
        </p:spPr>
        <p:txBody>
          <a:bodyPr wrap="square" lIns="0" tIns="0" rIns="0" bIns="0" rtlCol="0" anchor="ctr"/>
          <a:lstStyle/>
          <a:p>
            <a:pPr indent="0" marL="0">
              <a:buNone/>
            </a:pPr>
            <a:r>
              <a:rPr lang="en-US" sz="1050" dirty="0">
                <a:solidFill>
                  <a:srgbClr val="5F6F82"/>
                </a:solidFill>
              </a:rPr>
              <a:t>required for gradient-based attacks</a:t>
            </a:r>
            <a:endParaRPr lang="en-US" sz="1050" dirty="0"/>
          </a:p>
        </p:txBody>
      </p:sp>
      <p:sp>
        <p:nvSpPr>
          <p:cNvPr id="21" name="Shape 19"/>
          <p:cNvSpPr/>
          <p:nvPr/>
        </p:nvSpPr>
        <p:spPr>
          <a:xfrm>
            <a:off x="6217920" y="3383280"/>
            <a:ext cx="4754880" cy="1325880"/>
          </a:xfrm>
          <a:prstGeom prst="roundRect">
            <a:avLst>
              <a:gd name="adj" fmla="val 6897"/>
            </a:avLst>
          </a:prstGeom>
          <a:solidFill>
            <a:srgbClr val="FFFFFF"/>
          </a:solidFill>
          <a:ln w="12700">
            <a:solidFill>
              <a:srgbClr val="D8E1E8"/>
            </a:solidFill>
            <a:prstDash val="solid"/>
          </a:ln>
        </p:spPr>
      </p:sp>
      <p:sp>
        <p:nvSpPr>
          <p:cNvPr id="22" name="Shape 20"/>
          <p:cNvSpPr/>
          <p:nvPr/>
        </p:nvSpPr>
        <p:spPr>
          <a:xfrm>
            <a:off x="6446520" y="3822192"/>
            <a:ext cx="420624" cy="420624"/>
          </a:xfrm>
          <a:prstGeom prst="ellipse">
            <a:avLst/>
          </a:prstGeom>
          <a:solidFill>
            <a:srgbClr val="0A7C80"/>
          </a:solidFill>
          <a:ln w="12700">
            <a:solidFill>
              <a:srgbClr val="0A7C80"/>
            </a:solidFill>
            <a:prstDash val="solid"/>
          </a:ln>
        </p:spPr>
      </p:sp>
      <p:sp>
        <p:nvSpPr>
          <p:cNvPr id="23" name="Text 21"/>
          <p:cNvSpPr/>
          <p:nvPr/>
        </p:nvSpPr>
        <p:spPr>
          <a:xfrm>
            <a:off x="6464808" y="3909060"/>
            <a:ext cx="38404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p:nvPr/>
        </p:nvSpPr>
        <p:spPr>
          <a:xfrm>
            <a:off x="7040880" y="3730752"/>
            <a:ext cx="3474720" cy="228600"/>
          </a:xfrm>
          <a:prstGeom prst="rect">
            <a:avLst/>
          </a:prstGeom>
          <a:noFill/>
          <a:ln/>
        </p:spPr>
        <p:txBody>
          <a:bodyPr wrap="square" lIns="0" tIns="0" rIns="0" bIns="0" rtlCol="0" anchor="ctr"/>
          <a:lstStyle/>
          <a:p>
            <a:pPr indent="0" marL="0">
              <a:buNone/>
            </a:pPr>
            <a:r>
              <a:rPr lang="en-US" sz="1500" b="1" dirty="0">
                <a:solidFill>
                  <a:srgbClr val="0B1F4D"/>
                </a:solidFill>
              </a:rPr>
              <a:t>XAI</a:t>
            </a:r>
            <a:endParaRPr lang="en-US" sz="1500" dirty="0"/>
          </a:p>
        </p:txBody>
      </p:sp>
      <p:sp>
        <p:nvSpPr>
          <p:cNvPr id="25" name="Text 23"/>
          <p:cNvSpPr/>
          <p:nvPr/>
        </p:nvSpPr>
        <p:spPr>
          <a:xfrm>
            <a:off x="7040880" y="4142232"/>
            <a:ext cx="3566160" cy="201168"/>
          </a:xfrm>
          <a:prstGeom prst="rect">
            <a:avLst/>
          </a:prstGeom>
          <a:noFill/>
          <a:ln/>
        </p:spPr>
        <p:txBody>
          <a:bodyPr wrap="square" lIns="0" tIns="0" rIns="0" bIns="0" rtlCol="0" anchor="ctr"/>
          <a:lstStyle/>
          <a:p>
            <a:pPr indent="0" marL="0">
              <a:buNone/>
            </a:pPr>
            <a:r>
              <a:rPr lang="en-US" sz="1050" dirty="0">
                <a:solidFill>
                  <a:srgbClr val="5F6F82"/>
                </a:solidFill>
              </a:rPr>
              <a:t>attribution maps and failure inspection</a:t>
            </a:r>
            <a:endParaRPr lang="en-US" sz="1050" dirty="0"/>
          </a:p>
        </p:txBody>
      </p:sp>
      <p:sp>
        <p:nvSpPr>
          <p:cNvPr id="26" name="Shape 24"/>
          <p:cNvSpPr/>
          <p:nvPr/>
        </p:nvSpPr>
        <p:spPr>
          <a:xfrm>
            <a:off x="1828800" y="5669280"/>
            <a:ext cx="8595360" cy="502920"/>
          </a:xfrm>
          <a:prstGeom prst="roundRect">
            <a:avLst>
              <a:gd name="adj" fmla="val 18182"/>
            </a:avLst>
          </a:prstGeom>
          <a:solidFill>
            <a:srgbClr val="FFFFFF"/>
          </a:solidFill>
          <a:ln w="16510">
            <a:solidFill>
              <a:srgbClr val="0B1F4D"/>
            </a:solidFill>
            <a:prstDash val="solid"/>
          </a:ln>
        </p:spPr>
      </p:sp>
      <p:sp>
        <p:nvSpPr>
          <p:cNvPr id="27" name="Text 25"/>
          <p:cNvSpPr/>
          <p:nvPr/>
        </p:nvSpPr>
        <p:spPr>
          <a:xfrm>
            <a:off x="1993392" y="5779008"/>
            <a:ext cx="8266176" cy="283464"/>
          </a:xfrm>
          <a:prstGeom prst="rect">
            <a:avLst/>
          </a:prstGeom>
          <a:noFill/>
          <a:ln/>
        </p:spPr>
        <p:txBody>
          <a:bodyPr wrap="square" lIns="254" tIns="254" rIns="254" bIns="254" rtlCol="0" anchor="ctr">
            <a:normAutofit/>
          </a:bodyPr>
          <a:lstStyle/>
          <a:p>
            <a:pPr algn="ctr" indent="0" marL="0">
              <a:buNone/>
            </a:pPr>
            <a:r>
              <a:rPr lang="en-US" sz="1200" b="1" dirty="0">
                <a:solidFill>
                  <a:srgbClr val="0B1F4D"/>
                </a:solidFill>
              </a:rPr>
              <a:t>Proxy models enable controlled stress testing; commercial tools provide operational black-box evidence.</a:t>
            </a:r>
            <a:endParaRPr lang="en-US" sz="1200" dirty="0"/>
          </a:p>
        </p:txBody>
      </p:sp>
      <p:sp>
        <p:nvSpPr>
          <p:cNvPr id="28" name="Shape 26"/>
          <p:cNvSpPr/>
          <p:nvPr/>
        </p:nvSpPr>
        <p:spPr>
          <a:xfrm>
            <a:off x="411480" y="6510528"/>
            <a:ext cx="11365992" cy="0"/>
          </a:xfrm>
          <a:prstGeom prst="line">
            <a:avLst/>
          </a:prstGeom>
          <a:noFill/>
          <a:ln w="8890">
            <a:solidFill>
              <a:srgbClr val="D8E1E8"/>
            </a:solidFill>
            <a:prstDash val="solid"/>
          </a:ln>
        </p:spPr>
      </p:sp>
      <p:sp>
        <p:nvSpPr>
          <p:cNvPr id="29" name="Text 27"/>
          <p:cNvSpPr/>
          <p:nvPr/>
        </p:nvSpPr>
        <p:spPr>
          <a:xfrm>
            <a:off x="502920" y="6583680"/>
            <a:ext cx="7772400" cy="164592"/>
          </a:xfrm>
          <a:prstGeom prst="rect">
            <a:avLst/>
          </a:prstGeom>
          <a:noFill/>
          <a:ln/>
        </p:spPr>
        <p:txBody>
          <a:bodyPr wrap="square" lIns="0" tIns="0" rIns="0" bIns="0" rtlCol="0" anchor="ctr"/>
          <a:lstStyle/>
          <a:p>
            <a:pPr indent="0" marL="0">
              <a:buNone/>
            </a:pPr>
            <a:r>
              <a:rPr lang="en-US" sz="750" dirty="0">
                <a:solidFill>
                  <a:srgbClr val="5F6F82"/>
                </a:solidFill>
                <a:latin typeface="Aptos" pitchFamily="34" charset="0"/>
                <a:ea typeface="Aptos" pitchFamily="34" charset="-122"/>
                <a:cs typeface="Aptos" pitchFamily="34" charset="-120"/>
              </a:rPr>
              <a:t>Robustness of AI-Based Forensic Tools  |  Lello Molinario</a:t>
            </a:r>
            <a:endParaRPr lang="en-US" sz="750" dirty="0"/>
          </a:p>
        </p:txBody>
      </p:sp>
      <p:sp>
        <p:nvSpPr>
          <p:cNvPr id="30" name="Text 28"/>
          <p:cNvSpPr/>
          <p:nvPr/>
        </p:nvSpPr>
        <p:spPr>
          <a:xfrm>
            <a:off x="11384280" y="6537960"/>
            <a:ext cx="384048" cy="228600"/>
          </a:xfrm>
          <a:prstGeom prst="rect">
            <a:avLst/>
          </a:prstGeom>
          <a:noFill/>
          <a:ln/>
        </p:spPr>
        <p:txBody>
          <a:bodyPr wrap="square" lIns="0" tIns="0" rIns="0" bIns="0" rtlCol="0" anchor="ctr"/>
          <a:lstStyle/>
          <a:p>
            <a:pPr algn="r" indent="0" marL="0">
              <a:buNone/>
            </a:pPr>
            <a:r>
              <a:rPr lang="en-US" sz="800" dirty="0">
                <a:solidFill>
                  <a:srgbClr val="5F6F82"/>
                </a:solidFill>
                <a:latin typeface="Aptos" pitchFamily="34" charset="0"/>
                <a:ea typeface="Aptos" pitchFamily="34" charset="-122"/>
                <a:cs typeface="Aptos" pitchFamily="34" charset="-120"/>
              </a:rPr>
              <a:t>B3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University of Cagliari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Robustness of AI-Based Forensic Tools under Adversarial and Anti-Forensic Attacks</dc:title>
  <dc:subject>Master thesis defense</dc:subject>
  <dc:creator>Lello Molinario</dc:creator>
  <cp:lastModifiedBy>Lello Molinario</cp:lastModifiedBy>
  <cp:revision>1</cp:revision>
  <dcterms:created xsi:type="dcterms:W3CDTF">2026-07-03T07:48:33Z</dcterms:created>
  <dcterms:modified xsi:type="dcterms:W3CDTF">2026-07-03T07:48:33Z</dcterms:modified>
</cp:coreProperties>
</file>