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1.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2.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310e47ad4bb4dea" /><Relationship Type="http://schemas.openxmlformats.org/officeDocument/2006/relationships/extended-properties" Target="/docProps/app.xml" Id="R0a7169a7d9d143fd" /><Relationship Type="http://schemas.openxmlformats.org/officeDocument/2006/relationships/officeDocument" Target="/ppt/presentation.xml" Id="Rd2774ff2af9d4d2e" /></Relationships>
</file>

<file path=ppt/presentation.xml><?xml version="1.0" encoding="utf-8"?>
<p:presentation xmlns:p="http://schemas.openxmlformats.org/presentationml/2006/main">
  <p:sldMasterIdLst>
    <p:sldMasterId xmlns:r="http://schemas.openxmlformats.org/officeDocument/2006/relationships" id="2147483648" r:id="R39bddb2df9784f0f"/>
  </p:sldMasterIdLst>
  <p:notesMasterIdLst>
    <p:notesMasterId xmlns:r="http://schemas.openxmlformats.org/officeDocument/2006/relationships" r:id="R680278fb2f594d1d"/>
  </p:notesMasterIdLst>
  <p:sldIdLst>
    <p:sldId xmlns:r="http://schemas.openxmlformats.org/officeDocument/2006/relationships" id="256" r:id="R090f774546f44547"/>
    <p:sldId xmlns:r="http://schemas.openxmlformats.org/officeDocument/2006/relationships" id="257" r:id="R9598c231abbb41b6"/>
    <p:sldId xmlns:r="http://schemas.openxmlformats.org/officeDocument/2006/relationships" id="258" r:id="Ra8fa9f80e48343e0"/>
    <p:sldId xmlns:r="http://schemas.openxmlformats.org/officeDocument/2006/relationships" id="259" r:id="R1f45a531462446b3"/>
    <p:sldId xmlns:r="http://schemas.openxmlformats.org/officeDocument/2006/relationships" id="260" r:id="R6629b4153b1549c4"/>
    <p:sldId xmlns:r="http://schemas.openxmlformats.org/officeDocument/2006/relationships" id="261" r:id="Rb241350067e14881"/>
    <p:sldId xmlns:r="http://schemas.openxmlformats.org/officeDocument/2006/relationships" id="262" r:id="R4fcb48f642104aaf"/>
    <p:sldId xmlns:r="http://schemas.openxmlformats.org/officeDocument/2006/relationships" id="263" r:id="R65c1facb61aa4d68"/>
    <p:sldId xmlns:r="http://schemas.openxmlformats.org/officeDocument/2006/relationships" id="264" r:id="R95df32a5049248ec"/>
    <p:sldId xmlns:r="http://schemas.openxmlformats.org/officeDocument/2006/relationships" id="265" r:id="R8d34c210fee54903"/>
    <p:sldId xmlns:r="http://schemas.openxmlformats.org/officeDocument/2006/relationships" id="266" r:id="R91cc894bbc0b4cab"/>
    <p:sldId xmlns:r="http://schemas.openxmlformats.org/officeDocument/2006/relationships" id="267" r:id="Rc2029d124d574a48"/>
    <p:sldId xmlns:r="http://schemas.openxmlformats.org/officeDocument/2006/relationships" id="268" r:id="R37a0993ed94e44da"/>
    <p:sldId xmlns:r="http://schemas.openxmlformats.org/officeDocument/2006/relationships" id="269" r:id="R584d65e8ad6240a3"/>
    <p:sldId xmlns:r="http://schemas.openxmlformats.org/officeDocument/2006/relationships" id="270" r:id="Ra6c0ec8f5546461f"/>
    <p:sldId xmlns:r="http://schemas.openxmlformats.org/officeDocument/2006/relationships" id="271" r:id="R77bdd9e08f9b499f"/>
    <p:sldId xmlns:r="http://schemas.openxmlformats.org/officeDocument/2006/relationships" id="272" r:id="R7a634981d8d14117"/>
    <p:sldId xmlns:r="http://schemas.openxmlformats.org/officeDocument/2006/relationships" id="273" r:id="R6d99ad735f42430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90ff9af7b9b44da" /><Relationship Type="http://schemas.openxmlformats.org/officeDocument/2006/relationships/slideMaster" Target="/ppt/slideMasters/slideMaster1.xml" Id="R39bddb2df9784f0f" /><Relationship Type="http://schemas.openxmlformats.org/officeDocument/2006/relationships/notesMaster" Target="/ppt/notesMasters/notesMaster1.xml" Id="R680278fb2f594d1d" /><Relationship Type="http://schemas.openxmlformats.org/officeDocument/2006/relationships/presProps" Target="/ppt/presProps.xml" Id="Rc3aab9f60c604b98" /><Relationship Type="http://schemas.openxmlformats.org/officeDocument/2006/relationships/tableStyles" Target="/ppt/tableStyles.xml" Id="Rd65b9c1041634c51" /><Relationship Type="http://schemas.openxmlformats.org/officeDocument/2006/relationships/slide" Target="/ppt/slides/slide1.xml" Id="R090f774546f44547" /><Relationship Type="http://schemas.openxmlformats.org/officeDocument/2006/relationships/slide" Target="/ppt/slides/slide2.xml" Id="R9598c231abbb41b6" /><Relationship Type="http://schemas.openxmlformats.org/officeDocument/2006/relationships/slide" Target="/ppt/slides/slide3.xml" Id="Ra8fa9f80e48343e0" /><Relationship Type="http://schemas.openxmlformats.org/officeDocument/2006/relationships/slide" Target="/ppt/slides/slide4.xml" Id="R1f45a531462446b3" /><Relationship Type="http://schemas.openxmlformats.org/officeDocument/2006/relationships/slide" Target="/ppt/slides/slide5.xml" Id="R6629b4153b1549c4" /><Relationship Type="http://schemas.openxmlformats.org/officeDocument/2006/relationships/slide" Target="/ppt/slides/slide6.xml" Id="Rb241350067e14881" /><Relationship Type="http://schemas.openxmlformats.org/officeDocument/2006/relationships/slide" Target="/ppt/slides/slide7.xml" Id="R4fcb48f642104aaf" /><Relationship Type="http://schemas.openxmlformats.org/officeDocument/2006/relationships/slide" Target="/ppt/slides/slide8.xml" Id="R65c1facb61aa4d68" /><Relationship Type="http://schemas.openxmlformats.org/officeDocument/2006/relationships/slide" Target="/ppt/slides/slide9.xml" Id="R95df32a5049248ec" /><Relationship Type="http://schemas.openxmlformats.org/officeDocument/2006/relationships/slide" Target="/ppt/slides/slide10.xml" Id="R8d34c210fee54903" /><Relationship Type="http://schemas.openxmlformats.org/officeDocument/2006/relationships/slide" Target="/ppt/slides/slide11.xml" Id="R91cc894bbc0b4cab" /><Relationship Type="http://schemas.openxmlformats.org/officeDocument/2006/relationships/slide" Target="/ppt/slides/slide12.xml" Id="Rc2029d124d574a48" /><Relationship Type="http://schemas.openxmlformats.org/officeDocument/2006/relationships/slide" Target="/ppt/slides/slide13.xml" Id="R37a0993ed94e44da" /><Relationship Type="http://schemas.openxmlformats.org/officeDocument/2006/relationships/slide" Target="/ppt/slides/slide14.xml" Id="R584d65e8ad6240a3" /><Relationship Type="http://schemas.openxmlformats.org/officeDocument/2006/relationships/slide" Target="/ppt/slides/slide15.xml" Id="Ra6c0ec8f5546461f" /><Relationship Type="http://schemas.openxmlformats.org/officeDocument/2006/relationships/slide" Target="/ppt/slides/slide16.xml" Id="R77bdd9e08f9b499f" /><Relationship Type="http://schemas.openxmlformats.org/officeDocument/2006/relationships/slide" Target="/ppt/slides/slide17.xml" Id="R7a634981d8d14117" /><Relationship Type="http://schemas.openxmlformats.org/officeDocument/2006/relationships/slide" Target="/ppt/slides/slide18.xml" Id="R6d99ad735f42430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ca14b7db1c943c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38dc339fca0455c" /><Relationship Type="http://schemas.openxmlformats.org/officeDocument/2006/relationships/notesMaster" Target="/ppt/notesMasters/notesMaster1.xml" Id="Rf4319de204114371" /></Relationships>
</file>

<file path=ppt/notesSlides/_rels/notesSlide2.xml.rels>&#65279;<?xml version="1.0" encoding="utf-8"?><Relationships xmlns="http://schemas.openxmlformats.org/package/2006/relationships"><Relationship Type="http://schemas.openxmlformats.org/officeDocument/2006/relationships/slide" Target="/ppt/slides/slide2.xml" Id="R202ba93c1dcd424f" /><Relationship Type="http://schemas.openxmlformats.org/officeDocument/2006/relationships/notesMaster" Target="/ppt/notesMasters/notesMaster1.xml" Id="Ref55e7a53b184b11" /></Relationships>
</file>

<file path=ppt/notesSlides/_rels/notesSlide3.xml.rels>&#65279;<?xml version="1.0" encoding="utf-8"?><Relationships xmlns="http://schemas.openxmlformats.org/package/2006/relationships"><Relationship Type="http://schemas.openxmlformats.org/officeDocument/2006/relationships/slide" Target="/ppt/slides/slide3.xml" Id="Ra3df5bdd848a4519" /><Relationship Type="http://schemas.openxmlformats.org/officeDocument/2006/relationships/notesMaster" Target="/ppt/notesMasters/notesMaster1.xml" Id="R0614c57abd9e4698" /></Relationships>
</file>

<file path=ppt/notesSlides/_rels/notesSlide4.xml.rels>&#65279;<?xml version="1.0" encoding="utf-8"?><Relationships xmlns="http://schemas.openxmlformats.org/package/2006/relationships"><Relationship Type="http://schemas.openxmlformats.org/officeDocument/2006/relationships/slide" Target="/ppt/slides/slide4.xml" Id="R761214f9e7754109" /><Relationship Type="http://schemas.openxmlformats.org/officeDocument/2006/relationships/notesMaster" Target="/ppt/notesMasters/notesMaster1.xml" Id="Rc45ee7ae1d684419" /></Relationships>
</file>

<file path=ppt/notesSlides/_rels/notesSlide5.xml.rels>&#65279;<?xml version="1.0" encoding="utf-8"?><Relationships xmlns="http://schemas.openxmlformats.org/package/2006/relationships"><Relationship Type="http://schemas.openxmlformats.org/officeDocument/2006/relationships/slide" Target="/ppt/slides/slide5.xml" Id="R090de8129e474d4b" /><Relationship Type="http://schemas.openxmlformats.org/officeDocument/2006/relationships/notesMaster" Target="/ppt/notesMasters/notesMaster1.xml" Id="R1969b6759aa24a86" /></Relationships>
</file>

<file path=ppt/notesSlides/_rels/notesSlide6.xml.rels>&#65279;<?xml version="1.0" encoding="utf-8"?><Relationships xmlns="http://schemas.openxmlformats.org/package/2006/relationships"><Relationship Type="http://schemas.openxmlformats.org/officeDocument/2006/relationships/slide" Target="/ppt/slides/slide6.xml" Id="R6df53eaf5bad4252" /><Relationship Type="http://schemas.openxmlformats.org/officeDocument/2006/relationships/notesMaster" Target="/ppt/notesMasters/notesMaster1.xml" Id="R25cb28468059438a" /></Relationships>
</file>

<file path=ppt/notesSlides/_rels/notesSlide7.xml.rels>&#65279;<?xml version="1.0" encoding="utf-8"?><Relationships xmlns="http://schemas.openxmlformats.org/package/2006/relationships"><Relationship Type="http://schemas.openxmlformats.org/officeDocument/2006/relationships/slide" Target="/ppt/slides/slide7.xml" Id="Rdefd3be6b6cf4fd7" /><Relationship Type="http://schemas.openxmlformats.org/officeDocument/2006/relationships/notesMaster" Target="/ppt/notesMasters/notesMaster1.xml" Id="R8a2a6bb393d043c7" /></Relationships>
</file>

<file path=ppt/notesSlides/_rels/notesSlide8.xml.rels>&#65279;<?xml version="1.0" encoding="utf-8"?><Relationships xmlns="http://schemas.openxmlformats.org/package/2006/relationships"><Relationship Type="http://schemas.openxmlformats.org/officeDocument/2006/relationships/slide" Target="/ppt/slides/slide8.xml" Id="R561a5329993f44ca" /><Relationship Type="http://schemas.openxmlformats.org/officeDocument/2006/relationships/notesMaster" Target="/ppt/notesMasters/notesMaster1.xml" Id="R777b0e8f83e147f2" /></Relationships>
</file>

<file path=ppt/notesSlides/_rels/notesSlide9.xml.rels>&#65279;<?xml version="1.0" encoding="utf-8"?><Relationships xmlns="http://schemas.openxmlformats.org/package/2006/relationships"><Relationship Type="http://schemas.openxmlformats.org/officeDocument/2006/relationships/slide" Target="/ppt/slides/slide9.xml" Id="Rdd5faf1a2d20482b" /><Relationship Type="http://schemas.openxmlformats.org/officeDocument/2006/relationships/notesMaster" Target="/ppt/notesMasters/notesMaster1.xml" Id="R0573814a49e1488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e5f3ca3e47f4231" /><Relationship Type="http://schemas.openxmlformats.org/officeDocument/2006/relationships/notesMaster" Target="/ppt/notesMasters/notesMaster1.xml" Id="Re242a0f0ce4f471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46f15e127f94275" /><Relationship Type="http://schemas.openxmlformats.org/officeDocument/2006/relationships/notesMaster" Target="/ppt/notesMasters/notesMaster1.xml" Id="R90ed1b3a0fdc42b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4482388368747db" /><Relationship Type="http://schemas.openxmlformats.org/officeDocument/2006/relationships/notesMaster" Target="/ppt/notesMasters/notesMaster1.xml" Id="R89d9d84ccce340e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1f39890b43f4dec" /><Relationship Type="http://schemas.openxmlformats.org/officeDocument/2006/relationships/notesMaster" Target="/ppt/notesMasters/notesMaster1.xml" Id="R964348b59c51492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3bf274994224618" /><Relationship Type="http://schemas.openxmlformats.org/officeDocument/2006/relationships/notesMaster" Target="/ppt/notesMasters/notesMaster1.xml" Id="Ra46f5712dc654d1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3adeb84cd444bbf" /><Relationship Type="http://schemas.openxmlformats.org/officeDocument/2006/relationships/notesMaster" Target="/ppt/notesMasters/notesMaster1.xml" Id="R89c3527c0fc74bd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ffa70ba271549cc" /><Relationship Type="http://schemas.openxmlformats.org/officeDocument/2006/relationships/notesMaster" Target="/ppt/notesMasters/notesMaster1.xml" Id="R0062ababad004a9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11ddf2106cd4619" /><Relationship Type="http://schemas.openxmlformats.org/officeDocument/2006/relationships/notesMaster" Target="/ppt/notesMasters/notesMaster1.xml" Id="R75ab104f4bea4547"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d7c0b8596b44037" /><Relationship Type="http://schemas.openxmlformats.org/officeDocument/2006/relationships/notesMaster" Target="/ppt/notesMasters/notesMaster1.xml" Id="R03ec3d2c757d4a0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0:00–0:30</a:t>
            </a:r>
          </a:p>
          <a:p xmlns:a="http://schemas.openxmlformats.org/drawingml/2006/main">
            <a:r>
              <a:t>Good morning. My thesis evaluates the robustness of AI-based forensic image-triage tools under adversarial and anti-forensic attacks. The goal is not to build a new firearm classifier. The goal is to understand whether AI-assisted triage remains dependable when images are out of distribution, degraded, or deliberately manipulated.</a:t>
            </a:r>
          </a:p>
          <a:p xmlns:a="http://schemas.openxmlformats.org/drawingml/2006/main">
            <a:r>
              <a:t>Transition: I will start from the operational risk that motivated the work.</a:t>
            </a:r>
          </a:p>
          <a:p xmlns:a="http://schemas.openxmlformats.org/drawingml/2006/main">
            <a:r>
              <a:t/>
            </a:r>
          </a:p>
          <a:p xmlns:a="http://schemas.openxmlformats.org/drawingml/2006/main">
            <a:r>
              <a:t>[Sources]</a:t>
            </a:r>
          </a:p>
          <a:p xmlns:a="http://schemas.openxmlformats.org/drawingml/2006/main">
            <a:r>
              <a:t>- docs/LatexThesis/title.tex</a:t>
            </a:r>
          </a:p>
          <a:p xmlns:a="http://schemas.openxmlformats.org/drawingml/2006/main">
            <a:r>
              <a:t>- docs/LatexThesis/sections/00_abstract.tex</a:t>
            </a:r>
          </a:p>
          <a:p xmlns:a="http://schemas.openxmlformats.org/drawingml/2006/main">
            <a:r>
              <a:t>- docs/LatexSlides/assets/background.png; theme license in docs/LatexSlides/LICENSE.txt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0:30–1:25</a:t>
            </a:r>
          </a:p>
          <a:p xmlns:a="http://schemas.openxmlformats.org/drawingml/2006/main">
            <a:r>
              <a:t>Digital investigations may contain very large image collections, so AI can help prioritize what an analyst reviews first. The risk is asymmetric: a false positive creates extra work, but a false negative can quietly move relevant evidence out of the priority queue. This leads to my central question: how does image triage behave under adversarial, anti-forensic and out-of-distribution inputs? My contribution is an auditable robustness assessment, not a new classifier.</a:t>
            </a:r>
          </a:p>
          <a:p xmlns:a="http://schemas.openxmlformats.org/drawingml/2006/main">
            <a:r>
              <a:t>Transition: To answer this question, I designed the FAIRLab protocol.</a:t>
            </a:r>
          </a:p>
          <a:p xmlns:a="http://schemas.openxmlformats.org/drawingml/2006/main">
            <a:r>
              <a:t/>
            </a:r>
          </a:p>
          <a:p xmlns:a="http://schemas.openxmlformats.org/drawingml/2006/main">
            <a:r>
              <a:t>[Sources]</a:t>
            </a:r>
          </a:p>
          <a:p xmlns:a="http://schemas.openxmlformats.org/drawingml/2006/main">
            <a:r>
              <a:t>- docs/LatexThesis/sections/01_introduction.tex</a:t>
            </a:r>
          </a:p>
          <a:p xmlns:a="http://schemas.openxmlformats.org/drawingml/2006/main">
            <a:r>
              <a:t>- docs/LatexThesis/sections/04_methodology.tex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1:25–2:25</a:t>
            </a:r>
          </a:p>
          <a:p xmlns:a="http://schemas.openxmlformats.org/drawingml/2006/main">
            <a:r>
              <a:t>FAIRLab connects six stages. I start from a heterogeneous image pool, validate and deduplicate it, and freeze 1,500 source images. I then generate controlled perturbations, evaluate three transparent proxies and six commercial configurations, normalize the observable outputs, and interpret the result in forensic terms. Traceability runs through the complete process using deterministic identifiers, manifests, checksums, frozen configurations and source-to-output links.</a:t>
            </a:r>
          </a:p>
          <a:p xmlns:a="http://schemas.openxmlformats.org/drawingml/2006/main">
            <a:r>
              <a:t>Transition: The next slide shows the exact experimental population behind every comparison.</a:t>
            </a:r>
          </a:p>
          <a:p xmlns:a="http://schemas.openxmlformats.org/drawingml/2006/main">
            <a:r>
              <a:t/>
            </a:r>
          </a:p>
          <a:p xmlns:a="http://schemas.openxmlformats.org/drawingml/2006/main">
            <a:r>
              <a:t>[Sources]</a:t>
            </a:r>
          </a:p>
          <a:p xmlns:a="http://schemas.openxmlformats.org/drawingml/2006/main">
            <a:r>
              <a:t>- docs/LatexThesis/sections/04_methodology.tex</a:t>
            </a:r>
          </a:p>
          <a:p xmlns:a="http://schemas.openxmlformats.org/drawingml/2006/main">
            <a:r>
              <a:t>- docs/LatexThesis/sections/05_implementation.tex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2:25–3:20</a:t>
            </a:r>
          </a:p>
          <a:p xmlns:a="http://schemas.openxmlformats.org/drawingml/2006/main">
            <a:r>
              <a:t>The frozen population contains 1,500 source images: 500 weapon, 500 non-weapon and 500 images in a separate OOD branch. The 1,000 binary images produce ten linked manipulated variants each, for 10,000 adversarial and anti-forensic files. Together with the clean sources, the tool-facing bundle contains 11,500 files. The important point is that the variants are linked to their sources; they are not 10,000 independent cases. OOD is also evaluated separately, not as a third supervised class.</a:t>
            </a:r>
          </a:p>
          <a:p xmlns:a="http://schemas.openxmlformats.org/drawingml/2006/main">
            <a:r>
              <a:t>Transition: I used the same frozen corpus at two complementary evidence levels.</a:t>
            </a:r>
          </a:p>
          <a:p xmlns:a="http://schemas.openxmlformats.org/drawingml/2006/main">
            <a:r>
              <a:t/>
            </a:r>
          </a:p>
          <a:p xmlns:a="http://schemas.openxmlformats.org/drawingml/2006/main">
            <a:r>
              <a:t>[Sources]</a:t>
            </a:r>
          </a:p>
          <a:p xmlns:a="http://schemas.openxmlformats.org/drawingml/2006/main">
            <a:r>
              <a:t>- docs/LatexThesis/sections/04_methodology.tex</a:t>
            </a:r>
          </a:p>
          <a:p xmlns:a="http://schemas.openxmlformats.org/drawingml/2006/main">
            <a:r>
              <a:t>- docs/LatexThesis/sections/05_implementation.tex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3:20–4:20</a:t>
            </a:r>
          </a:p>
          <a:p xmlns:a="http://schemas.openxmlformats.org/drawingml/2006/main">
            <a:r>
              <a:t>The first level uses transparent proxy models: EfficientNet-B0, ResNet18 and a CLIP-based proxy. Here I can inspect predictions, gradients and checkpoints. The second level uses four commercial black-box systems in six configurations, where only analyst-visible outputs are available. The threat model matters: model-dependent attacks are direct only on EfficientNet-B0. On the other systems, the same files measure empirical transfer. Color Shift and the anti-forensic transformations are model-agnostic conditions.</a:t>
            </a:r>
          </a:p>
          <a:p xmlns:a="http://schemas.openxmlformats.org/drawingml/2006/main">
            <a:r>
              <a:t>Transition: Because these systems expose different outputs, they must be normalized explicitly.</a:t>
            </a:r>
          </a:p>
          <a:p xmlns:a="http://schemas.openxmlformats.org/drawingml/2006/main">
            <a:r>
              <a:t/>
            </a:r>
          </a:p>
          <a:p xmlns:a="http://schemas.openxmlformats.org/drawingml/2006/main">
            <a:r>
              <a:t>[Sources]</a:t>
            </a:r>
          </a:p>
          <a:p xmlns:a="http://schemas.openxmlformats.org/drawingml/2006/main">
            <a:r>
              <a:t>- docs/LatexThesis/sections/00_abstract.tex</a:t>
            </a:r>
          </a:p>
          <a:p xmlns:a="http://schemas.openxmlformats.org/drawingml/2006/main">
            <a:r>
              <a:t>- docs/LatexThesis/sections/04_methodology.tex — evaluated systems and attack pathways</a:t>
            </a:r>
          </a:p>
          <a:p xmlns:a="http://schemas.openxmlformats.org/drawingml/2006/main">
            <a:r>
              <a:t>- evaluation/forensic_tools/tool_version_log.csv</a:t>
            </a:r>
          </a:p>
          <a:p xmlns:a="http://schemas.openxmlformats.org/drawingml/2006/main">
            <a:r>
              <a:t>- models/model_registry.json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4:20–5:15</a:t>
            </a:r>
          </a:p>
          <a:p xmlns:a="http://schemas.openxmlformats.org/drawingml/2006/main">
            <a:r>
              <a:t>Commercial tools expose tags, bookmarks, labels or retrieval results rather than a common prediction interface. I therefore freeze a mapping for each tool version and configuration and convert the observable output into weapon, non-weapon or unknown. This makes directional errors comparable. The false-negative rate represents missed-target risk, while the false-positive rate represents additional review workload. OOD weapon assignment is reported separately. No unknown state occurred in the 69,000 normalized commercial decisions, but the state remains part of the protocol.</a:t>
            </a:r>
          </a:p>
          <a:p xmlns:a="http://schemas.openxmlformats.org/drawingml/2006/main">
            <a:r>
              <a:t>Transition: With these definitions in place, I can show the main robustness result.</a:t>
            </a:r>
          </a:p>
          <a:p xmlns:a="http://schemas.openxmlformats.org/drawingml/2006/main">
            <a:r>
              <a:t/>
            </a:r>
          </a:p>
          <a:p xmlns:a="http://schemas.openxmlformats.org/drawingml/2006/main">
            <a:r>
              <a:t>[Sources]</a:t>
            </a:r>
          </a:p>
          <a:p xmlns:a="http://schemas.openxmlformats.org/drawingml/2006/main">
            <a:r>
              <a:t>- docs/LatexThesis/sections/05_implementation.tex — output normalization</a:t>
            </a:r>
          </a:p>
          <a:p xmlns:a="http://schemas.openxmlformats.org/drawingml/2006/main">
            <a:r>
              <a:t>- docs/LatexThesis/sections/06_results.tex — metric definitions and normalized decision counts</a:t>
            </a:r>
          </a:p>
          <a:p xmlns:a="http://schemas.openxmlformats.org/drawingml/2006/main">
            <a:r>
              <a:t>- evaluation/forensic_tools/normalized_predictions_public_summary.json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5:15–6:25</a:t>
            </a:r>
          </a:p>
          <a:p xmlns:a="http://schemas.openxmlformats.org/drawingml/2006/main">
            <a:r>
              <a:t>EfficientNet-B0 has the highest clean accuracy, 97.8 percent, but under the strongest direct Sigma Zero condition it falls to 1.5 percent: a drop of 96.3 percentage points. The same generated artifacts do not transfer uniformly. The worst transferred accuracy is 91.8 percent for ResNet18 and 91.4 percent for CLIP. These are different claims: the first is direct-target vulnerability; the others are empirical transfer. Anti-forensic effects are smaller in aggregate, with a largest proxy drop of 3.0 points, although individual directional errors still matter.</a:t>
            </a:r>
          </a:p>
          <a:p xmlns:a="http://schemas.openxmlformats.org/drawingml/2006/main">
            <a:r>
              <a:t>Transition: The publication heatmap extends this transfer analysis to the commercial tools.</a:t>
            </a:r>
          </a:p>
          <a:p xmlns:a="http://schemas.openxmlformats.org/drawingml/2006/main">
            <a:r>
              <a:t/>
            </a:r>
          </a:p>
          <a:p xmlns:a="http://schemas.openxmlformats.org/drawingml/2006/main">
            <a:r>
              <a:t>[Sources]</a:t>
            </a:r>
          </a:p>
          <a:p xmlns:a="http://schemas.openxmlformats.org/drawingml/2006/main">
            <a:r>
              <a:t>- results/metrics/proxy_model_clean_metrics.csv</a:t>
            </a:r>
          </a:p>
          <a:p xmlns:a="http://schemas.openxmlformats.org/drawingml/2006/main">
            <a:r>
              <a:t>- results/metrics/proxy_model_adversarial_metrics.csv</a:t>
            </a:r>
          </a:p>
          <a:p xmlns:a="http://schemas.openxmlformats.org/drawingml/2006/main">
            <a:r>
              <a:t>- results/metrics/proxy_model_anti_forensic_metrics.csv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6:25–7:35</a:t>
            </a:r>
          </a:p>
          <a:p xmlns:a="http://schemas.openxmlformats.org/drawingml/2006/main">
            <a:r>
              <a:t>This heatmap is taken from the publication analysis and shows the accuracy drop for each attack family and commercial configuration. I would not read every cell. The main message is heterogeneity: the same EfficientNet-generated artifacts can have very different effects across tools and even across settings of the same tool. The largest observed effects are Sigma Zero transfers on Excire D50 and D80, with drops of 20.2 and 25.8 percentage points. These remain transfer results, not direct attacks on proprietary models, and they do not create a product ranking.</a:t>
            </a:r>
          </a:p>
          <a:p xmlns:a="http://schemas.openxmlformats.org/drawingml/2006/main">
            <a:r>
              <a:t>Transition: Configuration also changes the ordinary clean-condition error trade-off.</a:t>
            </a:r>
          </a:p>
          <a:p xmlns:a="http://schemas.openxmlformats.org/drawingml/2006/main">
            <a:r>
              <a:t/>
            </a:r>
          </a:p>
          <a:p xmlns:a="http://schemas.openxmlformats.org/drawingml/2006/main">
            <a:r>
              <a:t>[Sources]</a:t>
            </a:r>
          </a:p>
          <a:p xmlns:a="http://schemas.openxmlformats.org/drawingml/2006/main">
            <a:r>
              <a:t>- results/figures/chapter_5/fig_forensic_tools_adversarial_accuracy_drop_heatmap.png</a:t>
            </a:r>
          </a:p>
          <a:p xmlns:a="http://schemas.openxmlformats.org/drawingml/2006/main">
            <a:r>
              <a:t>- results/figures/chapter_5/tab_forensic_tools_worst_cases.csv</a:t>
            </a:r>
          </a:p>
          <a:p xmlns:a="http://schemas.openxmlformats.org/drawingml/2006/main">
            <a:r>
              <a:t>- Publication package: DFRWS_27/sections/images/heatmap_blackbox.png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7:35–8:45</a:t>
            </a:r>
          </a:p>
          <a:p xmlns:a="http://schemas.openxmlformats.org/drawingml/2006/main">
            <a:r>
              <a:t>The clean results show why one accuracy value is not enough. For Excire, moving from distance 20 to distance 80 reduces the missed-target rate from 12.0 to 1.4 percent. However, the false-positive rate increases from 2.6 to 15.6 percent, and the OOD weapon-assignment rate increases from 23.8 to 52.2 percent. A configuration can therefore reduce silent misses while creating much more review work and more OOD routing. I interpret these rows as frozen operating profiles, not as a universal ranking of commercial products.</a:t>
            </a:r>
          </a:p>
          <a:p xmlns:a="http://schemas.openxmlformats.org/drawingml/2006/main">
            <a:r>
              <a:t>Transition: The separate OOD branch makes that third behavior visible.</a:t>
            </a:r>
          </a:p>
          <a:p xmlns:a="http://schemas.openxmlformats.org/drawingml/2006/main">
            <a:r>
              <a:t/>
            </a:r>
          </a:p>
          <a:p xmlns:a="http://schemas.openxmlformats.org/drawingml/2006/main">
            <a:r>
              <a:t>[Sources]</a:t>
            </a:r>
          </a:p>
          <a:p xmlns:a="http://schemas.openxmlformats.org/drawingml/2006/main">
            <a:r>
              <a:t>- results/figures/chapter_5/tab_forensic_tools_clean_metrics.csv</a:t>
            </a:r>
          </a:p>
          <a:p xmlns:a="http://schemas.openxmlformats.org/drawingml/2006/main">
            <a:r>
              <a:t>- results/figures/chapter_5/tab_forensic_tools_ood_metrics.csv</a:t>
            </a:r>
          </a:p>
          <a:p xmlns:a="http://schemas.openxmlformats.org/drawingml/2006/main">
            <a:r>
              <a:t>- docs/LatexThesis/sections/07_conclusions.tex — RQ3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8:45–9:40</a:t>
            </a:r>
          </a:p>
          <a:p xmlns:a="http://schemas.openxmlformats.org/drawingml/2006/main">
            <a:r>
              <a:t>Every evaluated system assigns at least some OOD images to the weapon-oriented state. The CLIP proxy reaches 83.6 percent, while the commercial configurations range from 23.8 to 52.2 percent. These values are not ordinary false-positive rates because the OOD images have no supervised weapon or non-weapon role in this analysis. They describe closed-set operating behavior and show why clean binary accuracy alone cannot characterize a forensic triage system.</a:t>
            </a:r>
          </a:p>
          <a:p xmlns:a="http://schemas.openxmlformats.org/drawingml/2006/main">
            <a:r>
              <a:t>Transition: A single explainability case illustrates why a high output score is also not a guarantee.</a:t>
            </a:r>
          </a:p>
          <a:p xmlns:a="http://schemas.openxmlformats.org/drawingml/2006/main">
            <a:r>
              <a:t/>
            </a:r>
          </a:p>
          <a:p xmlns:a="http://schemas.openxmlformats.org/drawingml/2006/main">
            <a:r>
              <a:t>[Sources]</a:t>
            </a:r>
          </a:p>
          <a:p xmlns:a="http://schemas.openxmlformats.org/drawingml/2006/main">
            <a:r>
              <a:t>- results/metrics/proxy_model_ood_metrics.csv</a:t>
            </a:r>
          </a:p>
          <a:p xmlns:a="http://schemas.openxmlformats.org/drawingml/2006/main">
            <a:r>
              <a:t>- results/figures/chapter_5/tab_forensic_tools_ood_metrics.csv</a:t>
            </a:r>
          </a:p>
          <a:p xmlns:a="http://schemas.openxmlformats.org/drawingml/2006/main">
            <a:r>
              <a:t>- docs/LatexThesis/sections/07_conclusions.tex — RQ1, RQ3 and RQ4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9:40–10:35</a:t>
            </a:r>
          </a:p>
          <a:p xmlns:a="http://schemas.openxmlformats.org/drawingml/2006/main">
            <a:r>
              <a:t>In case 0015, the reference class is non-weapon. After Sigma Zero, the proxy predicts weapon with a maximum predicted-class probability of 1.000. The Integrated Gradients views help inspect where the proxy response is concentrated, but the claim is deliberately limited. The attribution is a qualitative diagnostic for this selected proxy output. It does not certify correctness, calibrate confidence, or explain the internal behavior of a proprietary tool.</a:t>
            </a:r>
          </a:p>
          <a:p xmlns:a="http://schemas.openxmlformats.org/drawingml/2006/main">
            <a:r>
              <a:t>Transition: These findings suggest a clear rule for operational use.</a:t>
            </a:r>
          </a:p>
          <a:p xmlns:a="http://schemas.openxmlformats.org/drawingml/2006/main">
            <a:r>
              <a:t/>
            </a:r>
          </a:p>
          <a:p xmlns:a="http://schemas.openxmlformats.org/drawingml/2006/main">
            <a:r>
              <a:t>[Sources]</a:t>
            </a:r>
          </a:p>
          <a:p xmlns:a="http://schemas.openxmlformats.org/drawingml/2006/main">
            <a:r>
              <a:t>- docs/LatexThesis/sections/06_results.tex — Maximum-probability adversarial false positive</a:t>
            </a:r>
          </a:p>
          <a:p xmlns:a="http://schemas.openxmlformats.org/drawingml/2006/main">
            <a:r>
              <a:t>- docs/LatexThesis/images/fig_xai_case5_adversarial_high_conf_failure_input.png</a:t>
            </a:r>
          </a:p>
          <a:p xmlns:a="http://schemas.openxmlformats.org/drawingml/2006/main">
            <a:r>
              <a:t>- docs/LatexThesis/images/fig_xai_case5_adversarial_high_conf_failure_heatmap.png</a:t>
            </a:r>
          </a:p>
          <a:p xmlns:a="http://schemas.openxmlformats.org/drawingml/2006/main">
            <a:r>
              <a:t>- docs/LatexThesis/images/fig_xai_case5_adversarial_high_conf_failure_overlay.png</a:t>
            </a:r>
          </a:p>
          <a:p xmlns:a="http://schemas.openxmlformats.org/drawingml/2006/main">
            <a:r>
              <a:t>- explainability/manifests/chapter5/thesis_selection.csv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10:35–11:35</a:t>
            </a:r>
          </a:p>
          <a:p xmlns:a="http://schemas.openxmlformats.org/drawingml/2006/main">
            <a:r>
              <a:t>AI can still be useful, but it should create a prioritized queue rather than an irreversible exclusion. The analyst must review the context and make the final decision. For every action, the workflow should preserve the tool version, configuration, output mapping and validation context. This keeps efficiency benefits while making the process reviewable and defensible. The practical rule is simple: use AI to prioritize evidence review, never to silently exclude evidence.</a:t>
            </a:r>
          </a:p>
          <a:p xmlns:a="http://schemas.openxmlformats.org/drawingml/2006/main">
            <a:r>
              <a:t>Transition: I will close with the three conclusions I want you to remember.</a:t>
            </a:r>
          </a:p>
          <a:p xmlns:a="http://schemas.openxmlformats.org/drawingml/2006/main">
            <a:r>
              <a:t/>
            </a:r>
          </a:p>
          <a:p xmlns:a="http://schemas.openxmlformats.org/drawingml/2006/main">
            <a:r>
              <a:t>[Sources]</a:t>
            </a:r>
          </a:p>
          <a:p xmlns:a="http://schemas.openxmlformats.org/drawingml/2006/main">
            <a:r>
              <a:t>- docs/LatexThesis/sections/07_conclusions.tex — Operational Implications and Recommendations</a:t>
            </a:r>
          </a:p>
          <a:p xmlns:a="http://schemas.openxmlformats.org/drawingml/2006/main">
            <a:r>
              <a:t>- docs/LatexThesis/sections/00_abstract.tex — concluding paragraph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11:35–12:25</a:t>
            </a:r>
          </a:p>
          <a:p xmlns:a="http://schemas.openxmlformats.org/drawingml/2006/main">
            <a:r>
              <a:t>First, clean performance is only a baseline; robustness depends on the condition. Second, direct attacks, empirical transfer, OOD behavior and configuration trade-offs must be interpreted as distinct dimensions. Third, FAIRLab makes these dimensions traceable and auditable for a forensic expert. The final message is that AI can prioritize evidence, but it must not silently exclude it. Thank you for your attention. I am happy to answer your questions.</a:t>
            </a:r>
          </a:p>
          <a:p xmlns:a="http://schemas.openxmlformats.org/drawingml/2006/main">
            <a:r>
              <a:t>Presenter cue: stop here. Open a backup slide only when it answers a specific question.</a:t>
            </a:r>
          </a:p>
          <a:p xmlns:a="http://schemas.openxmlformats.org/drawingml/2006/main">
            <a:r>
              <a:t/>
            </a:r>
          </a:p>
          <a:p xmlns:a="http://schemas.openxmlformats.org/drawingml/2006/main">
            <a:r>
              <a:t>[Sources]</a:t>
            </a:r>
          </a:p>
          <a:p xmlns:a="http://schemas.openxmlformats.org/drawingml/2006/main">
            <a:r>
              <a:t>- docs/LatexThesis/sections/07_conclusions.tex — central conclusion and main contributions</a:t>
            </a:r>
          </a:p>
          <a:p xmlns:a="http://schemas.openxmlformats.org/drawingml/2006/main">
            <a:r>
              <a:t>- docs/LatexSlides/assets/logo_RGB.png; theme license in docs/LatexSlides/LICENSE.txt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 exact research questions</a:t>
            </a:r>
          </a:p>
          <a:p xmlns:a="http://schemas.openxmlformats.org/drawingml/2006/main">
            <a:r>
              <a:t>Use this slide only if the commission asks for the formal formulation of the research questions. Read the relevant question, then answer it with the corresponding result from slides 7 to 10. End by restating the scope: this is an operational robustness assessment under a frozen protocol, not certification, legal admissibility or a universal product ranking.</a:t>
            </a:r>
          </a:p>
          <a:p xmlns:a="http://schemas.openxmlformats.org/drawingml/2006/main">
            <a:r>
              <a:t/>
            </a:r>
          </a:p>
          <a:p xmlns:a="http://schemas.openxmlformats.org/drawingml/2006/main">
            <a:r>
              <a:t>[Sources]</a:t>
            </a:r>
          </a:p>
          <a:p xmlns:a="http://schemas.openxmlformats.org/drawingml/2006/main">
            <a:r>
              <a:t>- docs/LatexThesis/sections/01_introduction.tex — Research Questions</a:t>
            </a:r>
          </a:p>
          <a:p xmlns:a="http://schemas.openxmlformats.org/drawingml/2006/main">
            <a:r>
              <a:t>- docs/LatexThesis/sections/07_conclusions.tex — Answers to the Research 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 perturbation suite</a:t>
            </a:r>
          </a:p>
          <a:p xmlns:a="http://schemas.openxmlformats.org/drawingml/2006/main">
            <a:r>
              <a:t>The adversarial and adversarial-style families are FGSM, One Pixel, Sigma Zero, SuperDeepFool and deterministic Color Shift. The anti-forensic transformations are JPEG recompression, resize, Gaussian blur, histogram modification and contrast stretching. Model-dependent attacks are direct only on EfficientNet-B0 and transferred elsewhere; Color Shift and the anti-forensic transformations are model-agnostic conditions.</a:t>
            </a:r>
          </a:p>
          <a:p xmlns:a="http://schemas.openxmlformats.org/drawingml/2006/main">
            <a:r>
              <a:t/>
            </a:r>
          </a:p>
          <a:p xmlns:a="http://schemas.openxmlformats.org/drawingml/2006/main">
            <a:r>
              <a:t>[Sources]</a:t>
            </a:r>
          </a:p>
          <a:p xmlns:a="http://schemas.openxmlformats.org/drawingml/2006/main">
            <a:r>
              <a:t>- docs/LatexThesis/sections/04_methodology.tex — perturbation definitions</a:t>
            </a:r>
          </a:p>
          <a:p xmlns:a="http://schemas.openxmlformats.org/drawingml/2006/main">
            <a:r>
              <a:t>- attacks/manifests/README.md</a:t>
            </a:r>
          </a:p>
          <a:p xmlns:a="http://schemas.openxmlformats.org/drawingml/2006/main">
            <a:r>
              <a:t>- docs/LatexThesis/sections/07_conclusions.tex — RQ2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 exact commercial metrics</a:t>
            </a:r>
          </a:p>
          <a:p xmlns:a="http://schemas.openxmlformats.org/drawingml/2006/main">
            <a:r>
              <a:t>Use the table for a numerical question about a specific configuration. Keep clean binary metrics and OOD routing separate. The strongest clean accuracy in this frozen comparison is 97.8 percent for Griffeye/T3K, but the rows are operating profiles under specific versions and settings; they do not establish a general product ranking.</a:t>
            </a:r>
          </a:p>
          <a:p xmlns:a="http://schemas.openxmlformats.org/drawingml/2006/main">
            <a:r>
              <a:t/>
            </a:r>
          </a:p>
          <a:p xmlns:a="http://schemas.openxmlformats.org/drawingml/2006/main">
            <a:r>
              <a:t>[Sources]</a:t>
            </a:r>
          </a:p>
          <a:p xmlns:a="http://schemas.openxmlformats.org/drawingml/2006/main">
            <a:r>
              <a:t>- results/figures/chapter_5/tab_forensic_tools_clean_metrics.csv</a:t>
            </a:r>
          </a:p>
          <a:p xmlns:a="http://schemas.openxmlformats.org/drawingml/2006/main">
            <a:r>
              <a:t>- results/figures/chapter_5/tab_forensic_tools_ood_metrics.csv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 reproducibility and audit</a:t>
            </a:r>
          </a:p>
          <a:p xmlns:a="http://schemas.openxmlformats.org/drawingml/2006/main">
            <a:r>
              <a:t>A reported figure can be traced from the source manifest through the derived variant, model or tool decision, normalized state, metric table and final report. SHA-256 digests, frozen registries and explicit mapping rules protect the integrity of this chain. Repository scripts regenerate the main metrics and thesis-ready assets.</a:t>
            </a:r>
          </a:p>
          <a:p xmlns:a="http://schemas.openxmlformats.org/drawingml/2006/main">
            <a:r>
              <a:t/>
            </a:r>
          </a:p>
          <a:p xmlns:a="http://schemas.openxmlformats.org/drawingml/2006/main">
            <a:r>
              <a:t>[Sources]</a:t>
            </a:r>
          </a:p>
          <a:p xmlns:a="http://schemas.openxmlformats.org/drawingml/2006/main">
            <a:r>
              <a:t>- docs/artifact/THESIS_ARTIFACT.md</a:t>
            </a:r>
          </a:p>
          <a:p xmlns:a="http://schemas.openxmlformats.org/drawingml/2006/main">
            <a:r>
              <a:t>- docs/artifact/REPRODUCIBILITY.md</a:t>
            </a:r>
          </a:p>
          <a:p xmlns:a="http://schemas.openxmlformats.org/drawingml/2006/main">
            <a:r>
              <a:t>- docs/artifact/CONTROLLED_ARTIFACT_CHECKSUMS.sha256</a:t>
            </a:r>
          </a:p>
          <a:p xmlns:a="http://schemas.openxmlformats.org/drawingml/2006/main">
            <a:r>
              <a:t>- docs/LatexThesis/sections/05_implementation.tex — traceability and integrity controls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 limitations and metadata sensitivity</a:t>
            </a:r>
          </a:p>
          <a:p xmlns:a="http://schemas.openxmlformats.org/drawingml/2006/main">
            <a:r>
              <a:t>The strongest limitations are the 1,500-image single-reviewer corpus, one frozen parameter setting per perturbation, direct attacks only on EfficientNet-B0, and version-dependent black-box outputs. Fifteen of 11,500 files matched a predefined sensitive metadata term. Leave-out differences were small, but this does not prove that metadata was causally irrelevant to every decision. The work makes no legal-admissibility or certification claim.</a:t>
            </a:r>
          </a:p>
          <a:p xmlns:a="http://schemas.openxmlformats.org/drawingml/2006/main">
            <a:r>
              <a:t/>
            </a:r>
          </a:p>
          <a:p xmlns:a="http://schemas.openxmlformats.org/drawingml/2006/main">
            <a:r>
              <a:t>[Sources]</a:t>
            </a:r>
          </a:p>
          <a:p xmlns:a="http://schemas.openxmlformats.org/drawingml/2006/main">
            <a:r>
              <a:t>- results/figures/chapter_5/embedded_metadata_sensitivity_summary.json</a:t>
            </a:r>
          </a:p>
          <a:p xmlns:a="http://schemas.openxmlformats.org/drawingml/2006/main">
            <a:r>
              <a:t>- docs/LatexThesis/sections/06_results.tex</a:t>
            </a:r>
          </a:p>
          <a:p xmlns:a="http://schemas.openxmlformats.org/drawingml/2006/main">
            <a:r>
              <a:t>- docs/LatexThesis/sections/07_conclusions.tex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54c31eb7dbc4f8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3187eb0995e4eea" /><Relationship Type="http://schemas.openxmlformats.org/officeDocument/2006/relationships/slideLayout" Target="/ppt/slideLayouts/slideLayout1.xml" Id="R8953b284556a4ae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953b284556a4ae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c29ece978c14962" /><Relationship Type="http://schemas.openxmlformats.org/officeDocument/2006/relationships/image" Target="/ppt/media/image.jpeg" Id="R508b5162fa68443a" /><Relationship Type="http://schemas.openxmlformats.org/officeDocument/2006/relationships/notesSlide" Target="/ppt/notesSlides/notesSlide1.xml" Id="R1724bbc62edf414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1ac47fe97b04f74" /><Relationship Type="http://schemas.openxmlformats.org/officeDocument/2006/relationships/notesSlide" Target="/ppt/notesSlides/notesSlide2.xml" Id="Re04ca143cecd472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5f54b529d2c4e3d" /><Relationship Type="http://schemas.openxmlformats.org/officeDocument/2006/relationships/notesSlide" Target="/ppt/notesSlides/notesSlide3.xml" Id="R67e962ba13bc4c1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f53f4a994e64550" /><Relationship Type="http://schemas.openxmlformats.org/officeDocument/2006/relationships/notesSlide" Target="/ppt/notesSlides/notesSlide4.xml" Id="Re2f83e4550a54c9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e80dd4803d54b11" /><Relationship Type="http://schemas.openxmlformats.org/officeDocument/2006/relationships/notesSlide" Target="/ppt/notesSlides/notesSlide5.xml" Id="Re0aaeed10e694f5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631f37f75a54b68" /><Relationship Type="http://schemas.openxmlformats.org/officeDocument/2006/relationships/notesSlide" Target="/ppt/notesSlides/notesSlide6.xml" Id="R5d30a3cb35ed4b1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d52a47017894dd3" /><Relationship Type="http://schemas.openxmlformats.org/officeDocument/2006/relationships/notesSlide" Target="/ppt/notesSlides/notesSlide7.xml" Id="R186b3984fe924a1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35175a720aa4249" /><Relationship Type="http://schemas.openxmlformats.org/officeDocument/2006/relationships/image" Target="/ppt/media/image2.jpeg" Id="R9950a1e10b574ee8" /><Relationship Type="http://schemas.openxmlformats.org/officeDocument/2006/relationships/notesSlide" Target="/ppt/notesSlides/notesSlide8.xml" Id="Rd5dffcace792469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1cfb6af27aa4952" /><Relationship Type="http://schemas.openxmlformats.org/officeDocument/2006/relationships/chart" Target="/ppt/slides/charts/chart1.xml" Id="Rd6bbba2ba671460a" /><Relationship Type="http://schemas.openxmlformats.org/officeDocument/2006/relationships/notesSlide" Target="/ppt/notesSlides/notesSlide9.xml" Id="R2b165e520ade43b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1c9929df53c466c" /><Relationship Type="http://schemas.openxmlformats.org/officeDocument/2006/relationships/chart" Target="/ppt/slides/charts/chart2.xml" Id="Re6109dba7e294cae" /><Relationship Type="http://schemas.openxmlformats.org/officeDocument/2006/relationships/notesSlide" Target="/ppt/notesSlides/notesSlide10.xml" Id="R327df8eec72f425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37cd855134d4dd0" /><Relationship Type="http://schemas.openxmlformats.org/officeDocument/2006/relationships/image" Target="/ppt/media/image.png" Id="R42c17bdfdff5403c" /><Relationship Type="http://schemas.openxmlformats.org/officeDocument/2006/relationships/image" Target="/ppt/media/image2.png" Id="Rd79b65fa49e74fb5" /><Relationship Type="http://schemas.openxmlformats.org/officeDocument/2006/relationships/image" Target="/ppt/media/image3.png" Id="R7eec9a3aa82b4a32" /><Relationship Type="http://schemas.openxmlformats.org/officeDocument/2006/relationships/notesSlide" Target="/ppt/notesSlides/notesSlide11.xml" Id="Reb940626336740b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0622da9b036a43ef" /><Relationship Type="http://schemas.openxmlformats.org/officeDocument/2006/relationships/notesSlide" Target="/ppt/notesSlides/notesSlide12.xml" Id="Ra33ea3bbad76448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b077a65b080343f6" /><Relationship Type="http://schemas.openxmlformats.org/officeDocument/2006/relationships/image" Target="/ppt/media/image4.png" Id="Rc5e4701042fc43ce" /><Relationship Type="http://schemas.openxmlformats.org/officeDocument/2006/relationships/notesSlide" Target="/ppt/notesSlides/notesSlide13.xml" Id="Re9d383c3651e468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e6806a5b3347469d" /><Relationship Type="http://schemas.openxmlformats.org/officeDocument/2006/relationships/notesSlide" Target="/ppt/notesSlides/notesSlide14.xml" Id="Rf80e9bd3a8d44b8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8e3dc24d114544e0" /><Relationship Type="http://schemas.openxmlformats.org/officeDocument/2006/relationships/notesSlide" Target="/ppt/notesSlides/notesSlide15.xml" Id="R739446d3c7fe443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ce3b8ef58dbb414f" /><Relationship Type="http://schemas.openxmlformats.org/officeDocument/2006/relationships/notesSlide" Target="/ppt/notesSlides/notesSlide16.xml" Id="R26fdf9ebde7944a8"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dcaf000ac4564076" /><Relationship Type="http://schemas.openxmlformats.org/officeDocument/2006/relationships/notesSlide" Target="/ppt/notesSlides/notesSlide17.xml" Id="R2e45f7db06f34e0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173fbbb6946e427a" /><Relationship Type="http://schemas.openxmlformats.org/officeDocument/2006/relationships/notesSlide" Target="/ppt/notesSlides/notesSlide18.xml" Id="Re0d2633df5f7484d" /></Relationships>
</file>

<file path=ppt/slides/charts/chart1.xml><?xml version="1.0" encoding="utf-8"?>
<c:chartSpace xmlns:c="http://schemas.openxmlformats.org/drawingml/2006/chart">
  <c:lang val="en-US"/>
  <c:chart>
    <c:plotArea>
      <c:barChart>
        <c:barDir val="bar"/>
        <c:grouping val="clustered"/>
        <c:varyColors val="0"/>
        <c:ser>
          <c:idx val="0"/>
          <c:order val="0"/>
          <c:tx>
            <c:v>FNR · missed-target risk</c:v>
          </c:tx>
          <c:spPr>
            <a:solidFill xmlns:a="http://schemas.openxmlformats.org/drawingml/2006/main">
              <a:srgbClr val="BE3C37"/>
            </a:solidFill>
          </c:spPr>
          <c:cat>
            <c:strLit>
              <c:ptCount val="6"/>
              <c:pt idx="0">
                <c:v>Magnet.AI</c:v>
              </c:pt>
              <c:pt idx="1">
                <c:v>Excire D20</c:v>
              </c:pt>
              <c:pt idx="2">
                <c:v>Excire D50</c:v>
              </c:pt>
              <c:pt idx="3">
                <c:v>Excire D80</c:v>
              </c:pt>
              <c:pt idx="4">
                <c:v>Cellebrite</c:v>
              </c:pt>
              <c:pt idx="5">
                <c:v>Griffeye / T3K</c:v>
              </c:pt>
            </c:strLit>
          </c:cat>
          <c:val>
            <c:numLit>
              <c:formatCode>0.0%</c:formatCode>
              <c:ptCount val="6"/>
              <c:pt idx="0">
                <c:v>0.07</c:v>
              </c:pt>
              <c:pt idx="1">
                <c:v>0.12</c:v>
              </c:pt>
              <c:pt idx="2">
                <c:v>0.042</c:v>
              </c:pt>
              <c:pt idx="3">
                <c:v>0.014</c:v>
              </c:pt>
              <c:pt idx="4">
                <c:v>0.032</c:v>
              </c:pt>
              <c:pt idx="5">
                <c:v>0.036</c:v>
              </c:pt>
            </c:numLit>
          </c:val>
        </c:ser>
        <c:ser>
          <c:idx val="1"/>
          <c:order val="1"/>
          <c:tx>
            <c:v>FPR · review workload</c:v>
          </c:tx>
          <c:spPr>
            <a:solidFill xmlns:a="http://schemas.openxmlformats.org/drawingml/2006/main">
              <a:srgbClr val="C89B14"/>
            </a:solidFill>
          </c:spPr>
          <c:cat>
            <c:strLit>
              <c:ptCount val="6"/>
              <c:pt idx="0">
                <c:v>Magnet.AI</c:v>
              </c:pt>
              <c:pt idx="1">
                <c:v>Excire D20</c:v>
              </c:pt>
              <c:pt idx="2">
                <c:v>Excire D50</c:v>
              </c:pt>
              <c:pt idx="3">
                <c:v>Excire D80</c:v>
              </c:pt>
              <c:pt idx="4">
                <c:v>Cellebrite</c:v>
              </c:pt>
              <c:pt idx="5">
                <c:v>Griffeye / T3K</c:v>
              </c:pt>
            </c:strLit>
          </c:cat>
          <c:val>
            <c:numLit>
              <c:formatCode>0.0%</c:formatCode>
              <c:ptCount val="6"/>
              <c:pt idx="0">
                <c:v>0.03</c:v>
              </c:pt>
              <c:pt idx="1">
                <c:v>0.026</c:v>
              </c:pt>
              <c:pt idx="2">
                <c:v>0.07</c:v>
              </c:pt>
              <c:pt idx="3">
                <c:v>0.156</c:v>
              </c:pt>
              <c:pt idx="4">
                <c:v>0.04</c:v>
              </c:pt>
              <c:pt idx="5">
                <c:v>0.008</c:v>
              </c:pt>
            </c:numLit>
          </c:val>
        </c:ser>
        <c:dLbls>
          <c:txPr>
            <a:bodyPr xmlns:a="http://schemas.openxmlformats.org/drawingml/2006/main" anchorCtr="1"/>
            <a:lstStyle xmlns:a="http://schemas.openxmlformats.org/drawingml/2006/main"/>
            <a:p xmlns:a="http://schemas.openxmlformats.org/drawingml/2006/main">
              <a:pPr>
                <a:defRPr sz="1125" b="1">
                  <a:solidFill>
                    <a:srgbClr val="172033"/>
                  </a:solidFill>
                </a:defRPr>
              </a:pPr>
            </a:p>
          </c:txPr>
          <c:dLblPos val="outEnd"/>
          <c:showLegendKey val="0"/>
          <c:showVal val="1"/>
          <c:showCatName val="0"/>
          <c:showSerName val="0"/>
          <c:showPercent val="0"/>
          <c:showBubbleSize val="0"/>
          <c:showLeaderLines val="0"/>
        </c:dLbls>
        <c:gapWidth val="48"/>
        <c:axId val="48650112"/>
        <c:axId val="48672768"/>
      </c:barChart>
      <c:catAx>
        <c:axId val="48650112"/>
        <c:scaling>
          <c:orientation val="minMax"/>
        </c:scaling>
        <c:delete val="0"/>
        <c:axPos val="l"/>
        <c:majorGridlines>
          <c:spPr>
            <a:ln xmlns:a="http://schemas.openxmlformats.org/drawingml/2006/main" w="9525">
              <a:solidFill>
                <a:srgbClr val="D9DEE8"/>
              </a:solidFill>
              <a:prstDash val="solid"/>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5B6577"/>
                </a:solidFill>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9DEE8"/>
            </a:solidFill>
            <a:prstDash val="solid"/>
          </a:ln>
        </c:spPr>
        <c:txPr>
          <a:bodyPr xmlns:a="http://schemas.openxmlformats.org/drawingml/2006/main" anchorCtr="1"/>
          <a:lstStyle xmlns:a="http://schemas.openxmlformats.org/drawingml/2006/main"/>
          <a:p xmlns:a="http://schemas.openxmlformats.org/drawingml/2006/main">
            <a:pPr>
              <a:defRPr sz="1275">
                <a:solidFill>
                  <a:srgbClr val="172033"/>
                </a:solidFill>
              </a:defRPr>
            </a:pPr>
          </a:p>
        </c:txPr>
        <c:crossAx val="48650112"/>
        <c:crossBetween val="between"/>
      </c:valAx>
      <c:spPr>
        <a:solidFill xmlns:a="http://schemas.openxmlformats.org/drawingml/2006/main">
          <a:srgbClr val="F7F8FA"/>
        </a:solidFill>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1200">
              <a:solidFill>
                <a:srgbClr val="5B6577"/>
              </a:solidFill>
            </a:defRPr>
          </a:pPr>
        </a:p>
      </c:txPr>
    </c:legend>
    <c:plotVisOnly val="1"/>
  </c:chart>
  <c:spPr>
    <a:solidFill xmlns:a="http://schemas.openxmlformats.org/drawingml/2006/main">
      <a:srgbClr val="F7F8FA"/>
    </a:solidFill>
    <a:ln xmlns:a="http://schemas.openxmlformats.org/drawingml/2006/main" w="0">
      <a:noFill/>
      <a:prstDash val="solid"/>
    </a:ln>
  </c:spPr>
</c:chartSpace>
</file>

<file path=ppt/slides/charts/chart2.xml><?xml version="1.0" encoding="utf-8"?>
<c:chartSpace xmlns:c="http://schemas.openxmlformats.org/drawingml/2006/chart">
  <c:lang val="en-US"/>
  <c:chart>
    <c:plotArea>
      <c:barChart>
        <c:barDir val="bar"/>
        <c:grouping val="clustered"/>
        <c:varyColors val="0"/>
        <c:ser>
          <c:idx val="0"/>
          <c:order val="0"/>
          <c:tx>
            <c:v>OOD weapon-assignment rate</c:v>
          </c:tx>
          <c:spPr>
            <a:solidFill xmlns:a="http://schemas.openxmlformats.org/drawingml/2006/main">
              <a:srgbClr val="233A70"/>
            </a:solidFill>
          </c:spPr>
          <c:dPt>
            <c:idx val="2"/>
            <c:invertIfNegative val="0"/>
            <c:spPr>
              <a:solidFill xmlns:a="http://schemas.openxmlformats.org/drawingml/2006/main">
                <a:srgbClr val="BE3C37"/>
              </a:solidFill>
            </c:spPr>
          </c:dPt>
          <c:dPt>
            <c:idx val="6"/>
            <c:invertIfNegative val="0"/>
            <c:spPr>
              <a:solidFill xmlns:a="http://schemas.openxmlformats.org/drawingml/2006/main">
                <a:srgbClr val="C89B14"/>
              </a:solidFill>
            </c:spPr>
          </c:dPt>
          <c:dPt>
            <c:idx val="3"/>
            <c:invertIfNegative val="0"/>
            <c:spPr>
              <a:solidFill xmlns:a="http://schemas.openxmlformats.org/drawingml/2006/main">
                <a:srgbClr val="087A50"/>
              </a:solidFill>
            </c:spPr>
          </c:dPt>
          <c:dPt>
            <c:idx val="4"/>
            <c:invertIfNegative val="0"/>
            <c:spPr>
              <a:solidFill xmlns:a="http://schemas.openxmlformats.org/drawingml/2006/main">
                <a:srgbClr val="087A50"/>
              </a:solidFill>
            </c:spPr>
          </c:dPt>
          <c:dPt>
            <c:idx val="5"/>
            <c:invertIfNegative val="0"/>
            <c:spPr>
              <a:solidFill xmlns:a="http://schemas.openxmlformats.org/drawingml/2006/main">
                <a:srgbClr val="087A50"/>
              </a:solidFill>
            </c:spPr>
          </c:dPt>
          <c:dPt>
            <c:idx val="7"/>
            <c:invertIfNegative val="0"/>
            <c:spPr>
              <a:solidFill xmlns:a="http://schemas.openxmlformats.org/drawingml/2006/main">
                <a:srgbClr val="087A50"/>
              </a:solidFill>
            </c:spPr>
          </c:dPt>
          <c:dPt>
            <c:idx val="8"/>
            <c:invertIfNegative val="0"/>
            <c:spPr>
              <a:solidFill xmlns:a="http://schemas.openxmlformats.org/drawingml/2006/main">
                <a:srgbClr val="087A50"/>
              </a:solidFill>
            </c:spPr>
          </c:dPt>
          <c:cat>
            <c:strLit>
              <c:ptCount val="9"/>
              <c:pt idx="0">
                <c:v>EfficientNet-B0</c:v>
              </c:pt>
              <c:pt idx="1">
                <c:v>ResNet18</c:v>
              </c:pt>
              <c:pt idx="2">
                <c:v>CLIP proxy</c:v>
              </c:pt>
              <c:pt idx="3">
                <c:v>Magnet.AI</c:v>
              </c:pt>
              <c:pt idx="4">
                <c:v>Excire D20</c:v>
              </c:pt>
              <c:pt idx="5">
                <c:v>Excire D50</c:v>
              </c:pt>
              <c:pt idx="6">
                <c:v>Excire D80</c:v>
              </c:pt>
              <c:pt idx="7">
                <c:v>Cellebrite</c:v>
              </c:pt>
              <c:pt idx="8">
                <c:v>Griffeye / T3K</c:v>
              </c:pt>
            </c:strLit>
          </c:cat>
          <c:val>
            <c:numLit>
              <c:formatCode>0.0%</c:formatCode>
              <c:ptCount val="9"/>
              <c:pt idx="0">
                <c:v>0.3696</c:v>
              </c:pt>
              <c:pt idx="1">
                <c:v>0.4376</c:v>
              </c:pt>
              <c:pt idx="2">
                <c:v>0.8356</c:v>
              </c:pt>
              <c:pt idx="3">
                <c:v>0.36</c:v>
              </c:pt>
              <c:pt idx="4">
                <c:v>0.238</c:v>
              </c:pt>
              <c:pt idx="5">
                <c:v>0.34</c:v>
              </c:pt>
              <c:pt idx="6">
                <c:v>0.522</c:v>
              </c:pt>
              <c:pt idx="7">
                <c:v>0.292</c:v>
              </c:pt>
              <c:pt idx="8">
                <c:v>0.26</c:v>
              </c:pt>
            </c:numLit>
          </c:val>
        </c:ser>
        <c:dLbls>
          <c:txPr>
            <a:bodyPr xmlns:a="http://schemas.openxmlformats.org/drawingml/2006/main" anchorCtr="1"/>
            <a:lstStyle xmlns:a="http://schemas.openxmlformats.org/drawingml/2006/main"/>
            <a:p xmlns:a="http://schemas.openxmlformats.org/drawingml/2006/main">
              <a:pPr>
                <a:defRPr sz="1050" b="1">
                  <a:solidFill>
                    <a:srgbClr val="172033"/>
                  </a:solidFill>
                </a:defRPr>
              </a:pPr>
            </a:p>
          </c:txPr>
          <c:dLblPos val="outEnd"/>
          <c:showLegendKey val="0"/>
          <c:showVal val="1"/>
          <c:showCatName val="0"/>
          <c:showSerName val="0"/>
          <c:showPercent val="0"/>
          <c:showBubbleSize val="0"/>
          <c:showLeaderLines val="0"/>
        </c:dLbls>
        <c:gapWidth val="38"/>
        <c:axId val="48650112"/>
        <c:axId val="48672768"/>
      </c:barChart>
      <c:catAx>
        <c:axId val="48650112"/>
        <c:scaling>
          <c:orientation val="minMax"/>
        </c:scaling>
        <c:delete val="0"/>
        <c:axPos val="l"/>
        <c:majorGridlines>
          <c:spPr>
            <a:ln xmlns:a="http://schemas.openxmlformats.org/drawingml/2006/main" w="9525">
              <a:solidFill>
                <a:srgbClr val="D9DEE8"/>
              </a:solidFill>
              <a:prstDash val="solid"/>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5B6577"/>
                </a:solidFill>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9DEE8"/>
            </a:solidFill>
            <a:prstDash val="solid"/>
          </a:ln>
        </c:spPr>
        <c:txPr>
          <a:bodyPr xmlns:a="http://schemas.openxmlformats.org/drawingml/2006/main" anchorCtr="1"/>
          <a:lstStyle xmlns:a="http://schemas.openxmlformats.org/drawingml/2006/main"/>
          <a:p xmlns:a="http://schemas.openxmlformats.org/drawingml/2006/main">
            <a:pPr>
              <a:defRPr sz="1200">
                <a:solidFill>
                  <a:srgbClr val="172033"/>
                </a:solidFill>
              </a:defRPr>
            </a:pPr>
          </a:p>
        </c:txPr>
        <c:crossAx val="48650112"/>
        <c:crossBetween val="between"/>
      </c:valAx>
      <c:spPr>
        <a:solidFill xmlns:a="http://schemas.openxmlformats.org/drawingml/2006/main">
          <a:srgbClr val="F7F8FA"/>
        </a:solidFill>
        <a:ln xmlns:a="http://schemas.openxmlformats.org/drawingml/2006/main" w="0">
          <a:noFill/>
          <a:prstDash val="solid"/>
        </a:ln>
      </c:spPr>
    </c:plotArea>
    <c:plotVisOnly val="1"/>
  </c:chart>
  <c:spPr>
    <a:solidFill xmlns:a="http://schemas.openxmlformats.org/drawingml/2006/main">
      <a:srgbClr val="F7F8FA"/>
    </a:solidFill>
    <a:ln xmlns:a="http://schemas.openxmlformats.org/drawingml/2006/main" w="0">
      <a:noFill/>
      <a:prstDash val="solid"/>
    </a:ln>
  </c:spPr>
</c:chartSpace>
</file>

<file path=ppt/slides/slide1.xml><?xml version="1.0" encoding="utf-8"?>
<p:sld xmlns:p="http://schemas.openxmlformats.org/presentationml/2006/main">
  <p:cSld>
    <p:bg>
      <p:bgPr>
        <a:solidFill xmlns:a="http://schemas.openxmlformats.org/drawingml/2006/main">
          <a:srgbClr val="233A70"/>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508b5162fa68443a"/>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9C14C53-25DF-4E7F-BED3-ADE9EBB92B9C}"/>
              </a:ext>
            </a:extLst>
          </p:cNvPr>
          <p:cNvSpPr>
            <a:spLocks xmlns:a="http://schemas.openxmlformats.org/drawingml/2006/main" noGrp="1"/>
          </p:cNvSpPr>
          <p:nvPr/>
        </p:nvSpPr>
        <p:spPr>
          <a:xfrm xmlns:a="http://schemas.openxmlformats.org/drawingml/2006/main">
            <a:off x="685800" y="381000"/>
            <a:ext cx="952500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5100" b="1">
                <a:solidFill>
                  <a:srgbClr val="FFFFFF"/>
                </a:solidFill>
                <a:latin typeface="Arial"/>
                <a:ea typeface="Arial"/>
                <a:cs typeface="Arial"/>
              </a:defRPr>
            </a:pPr>
            <a:r>
              <a:rPr sz="5100" b="1">
                <a:solidFill>
                  <a:srgbClr val="FFFFFF"/>
                </a:solidFill>
                <a:latin typeface="Arial"/>
                <a:ea typeface="Arial"/>
                <a:cs typeface="Arial"/>
              </a:rPr>
              <a:t>Evaluating the Robustness of</a:t>
            </a:r>
          </a:p>
          <a:p xmlns:a="http://schemas.openxmlformats.org/drawingml/2006/main">
            <a:pPr algn="l">
              <a:defRPr sz="5100" b="1">
                <a:solidFill>
                  <a:srgbClr val="FFFFFF"/>
                </a:solidFill>
                <a:latin typeface="Arial"/>
                <a:ea typeface="Arial"/>
                <a:cs typeface="Arial"/>
              </a:defRPr>
            </a:pPr>
            <a:r>
              <a:rPr sz="5100" b="1">
                <a:solidFill>
                  <a:srgbClr val="FFFFFF"/>
                </a:solidFill>
                <a:latin typeface="Arial"/>
                <a:ea typeface="Arial"/>
                <a:cs typeface="Arial"/>
              </a:rPr>
              <a:t>AI-Based Forensic Tools</a:t>
            </a:r>
          </a:p>
          <a:p xmlns:a="http://schemas.openxmlformats.org/drawingml/2006/main">
            <a:pPr algn="l">
              <a:defRPr sz="5100" b="1">
                <a:solidFill>
                  <a:srgbClr val="FFFFFF"/>
                </a:solidFill>
                <a:latin typeface="Arial"/>
                <a:ea typeface="Arial"/>
                <a:cs typeface="Arial"/>
              </a:defRPr>
            </a:pPr>
            <a:r>
              <a:rPr sz="5100" b="1">
                <a:solidFill>
                  <a:srgbClr val="FFFFFF"/>
                </a:solidFill>
                <a:latin typeface="Arial"/>
                <a:ea typeface="Arial"/>
                <a:cs typeface="Arial"/>
              </a:rPr>
              <a:t>under Adversarial and</a:t>
            </a:r>
          </a:p>
          <a:p xmlns:a="http://schemas.openxmlformats.org/drawingml/2006/main">
            <a:pPr algn="l">
              <a:defRPr sz="5100" b="1">
                <a:solidFill>
                  <a:srgbClr val="FFFFFF"/>
                </a:solidFill>
                <a:latin typeface="Arial"/>
                <a:ea typeface="Arial"/>
                <a:cs typeface="Arial"/>
              </a:defRPr>
            </a:pPr>
            <a:r>
              <a:rPr sz="5100" b="1">
                <a:solidFill>
                  <a:srgbClr val="FFFFFF"/>
                </a:solidFill>
                <a:latin typeface="Arial"/>
                <a:ea typeface="Arial"/>
                <a:cs typeface="Arial"/>
              </a:rPr>
              <a:t>Anti-Forensic Attacks</a:t>
            </a:r>
          </a:p>
        </p:txBody>
      </p:sp>
      <p:sp>
        <p:nvSpPr>
          <p:cNvPr id="3" name="">
            <a:extLst xmlns:a="http://schemas.openxmlformats.org/drawingml/2006/main">
              <a:ext uri="{FF2B5EF4-FFF2-40B4-BE49-F238E27FC236}">
                <a16:creationId xmlns:a16="http://schemas.microsoft.com/office/drawing/2014/main" id="{1DF289AA-9FF2-4364-A0CF-03DACB320303}"/>
              </a:ext>
            </a:extLst>
          </p:cNvPr>
          <p:cNvSpPr>
            <a:spLocks xmlns:a="http://schemas.openxmlformats.org/drawingml/2006/main" noGrp="1"/>
          </p:cNvSpPr>
          <p:nvPr/>
        </p:nvSpPr>
        <p:spPr>
          <a:xfrm xmlns:a="http://schemas.openxmlformats.org/drawingml/2006/main">
            <a:off x="685800" y="3429000"/>
            <a:ext cx="1809750" cy="66675"/>
          </a:xfrm>
          <a:prstGeom xmlns:a="http://schemas.openxmlformats.org/drawingml/2006/main" prst="rect">
            <a:avLst/>
          </a:prstGeom>
          <a:solidFill xmlns:a="http://schemas.openxmlformats.org/drawingml/2006/main">
            <a:srgbClr val="14B97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0DDD2D60-E67C-4008-876D-646754F4A83A}"/>
              </a:ext>
            </a:extLst>
          </p:cNvPr>
          <p:cNvSpPr>
            <a:spLocks xmlns:a="http://schemas.openxmlformats.org/drawingml/2006/main" noGrp="1"/>
          </p:cNvSpPr>
          <p:nvPr/>
        </p:nvSpPr>
        <p:spPr>
          <a:xfrm xmlns:a="http://schemas.openxmlformats.org/drawingml/2006/main">
            <a:off x="685800" y="3676650"/>
            <a:ext cx="5334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FFFFFF"/>
                </a:solidFill>
                <a:latin typeface="Arial"/>
                <a:ea typeface="Arial"/>
                <a:cs typeface="Arial"/>
              </a:defRPr>
            </a:pPr>
            <a:r>
              <a:rPr sz="1800" b="1">
                <a:solidFill>
                  <a:srgbClr val="FFFFFF"/>
                </a:solidFill>
                <a:latin typeface="Arial"/>
                <a:ea typeface="Arial"/>
                <a:cs typeface="Arial"/>
              </a:rPr>
              <a:t>Lello Molinario  ·  70/90/00369</a:t>
            </a:r>
          </a:p>
        </p:txBody>
      </p:sp>
      <p:sp>
        <p:nvSpPr>
          <p:cNvPr id="5" name="">
            <a:extLst xmlns:a="http://schemas.openxmlformats.org/drawingml/2006/main">
              <a:ext uri="{FF2B5EF4-FFF2-40B4-BE49-F238E27FC236}">
                <a16:creationId xmlns:a16="http://schemas.microsoft.com/office/drawing/2014/main" id="{CCA870A5-D370-4500-B03F-A3ADCA8AA68C}"/>
              </a:ext>
            </a:extLst>
          </p:cNvPr>
          <p:cNvSpPr>
            <a:spLocks xmlns:a="http://schemas.openxmlformats.org/drawingml/2006/main" noGrp="1"/>
          </p:cNvSpPr>
          <p:nvPr/>
        </p:nvSpPr>
        <p:spPr>
          <a:xfrm xmlns:a="http://schemas.openxmlformats.org/drawingml/2006/main">
            <a:off x="685800" y="4133850"/>
            <a:ext cx="59055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DCE4F3"/>
                </a:solidFill>
                <a:latin typeface="Arial"/>
                <a:ea typeface="Arial"/>
                <a:cs typeface="Arial"/>
              </a:defRPr>
            </a:pPr>
            <a:r>
              <a:rPr sz="1500" b="0">
                <a:solidFill>
                  <a:srgbClr val="DCE4F3"/>
                </a:solidFill>
                <a:latin typeface="Arial"/>
                <a:ea typeface="Arial"/>
                <a:cs typeface="Arial"/>
              </a:rPr>
              <a:t>Advisor: Prof. Davide Maiorca</a:t>
            </a:r>
          </a:p>
          <a:p xmlns:a="http://schemas.openxmlformats.org/drawingml/2006/main">
            <a:pPr algn="l">
              <a:defRPr sz="1500" b="0">
                <a:solidFill>
                  <a:srgbClr val="DCE4F3"/>
                </a:solidFill>
                <a:latin typeface="Arial"/>
                <a:ea typeface="Arial"/>
                <a:cs typeface="Arial"/>
              </a:defRPr>
            </a:pPr>
            <a:r>
              <a:rPr sz="1500" b="0">
                <a:solidFill>
                  <a:srgbClr val="DCE4F3"/>
                </a:solidFill>
                <a:latin typeface="Arial"/>
                <a:ea typeface="Arial"/>
                <a:cs typeface="Arial"/>
              </a:rPr>
              <a:t>Co-Advisor: Silvia Lucia Sanna, Ph.D.</a:t>
            </a:r>
          </a:p>
          <a:p xmlns:a="http://schemas.openxmlformats.org/drawingml/2006/main">
            <a:pPr algn="l">
              <a:defRPr sz="1500" b="0">
                <a:solidFill>
                  <a:srgbClr val="DCE4F3"/>
                </a:solidFill>
                <a:latin typeface="Arial"/>
                <a:ea typeface="Arial"/>
                <a:cs typeface="Arial"/>
              </a:defRPr>
            </a:pPr>
            <a:r>
              <a:rPr sz="1500" b="0">
                <a:solidFill>
                  <a:srgbClr val="DCE4F3"/>
                </a:solidFill>
                <a:latin typeface="Arial"/>
                <a:ea typeface="Arial"/>
                <a:cs typeface="Arial"/>
              </a:rPr>
              <a:t>Academic Year 2025/2026</a:t>
            </a:r>
          </a:p>
        </p:txBody>
      </p:sp>
    </p:spTree>
    <p:extLst>
      <p:ext uri="{BB962C8B-B14F-4D97-AF65-F5344CB8AC3E}">
        <p14:creationId xmlns:p14="http://schemas.microsoft.com/office/powerpoint/2010/main" val="25308488"/>
      </p:ext>
    </p:extLst>
  </p:cSld>
</p:sld>
</file>

<file path=ppt/slides/slide2.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B8A7D5BD-3F8A-4BB6-975D-5266EF1DB7CC}"/>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233A70"/>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588B664-C98E-41C9-A1E0-71858EDC4002}"/>
              </a:ext>
            </a:extLst>
          </p:cNvPr>
          <p:cNvSpPr>
            <a:spLocks xmlns:a="http://schemas.openxmlformats.org/drawingml/2006/main" noGrp="1"/>
          </p:cNvSpPr>
          <p:nvPr/>
        </p:nvSpPr>
        <p:spPr>
          <a:xfrm xmlns:a="http://schemas.openxmlformats.org/drawingml/2006/main">
            <a:off x="685800" y="43815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600" b="1">
                <a:solidFill>
                  <a:srgbClr val="233A70"/>
                </a:solidFill>
                <a:latin typeface="Arial"/>
                <a:ea typeface="Arial"/>
                <a:cs typeface="Arial"/>
              </a:defRPr>
            </a:pPr>
            <a:r>
              <a:rPr sz="3600" b="1">
                <a:solidFill>
                  <a:srgbClr val="233A70"/>
                </a:solidFill>
                <a:latin typeface="Arial"/>
                <a:ea typeface="Arial"/>
                <a:cs typeface="Arial"/>
              </a:rPr>
              <a:t>The operational risk is silent exclusion</a:t>
            </a:r>
          </a:p>
        </p:txBody>
      </p:sp>
      <p:sp>
        <p:nvSpPr>
          <p:cNvPr id="3" name="">
            <a:extLst xmlns:a="http://schemas.openxmlformats.org/drawingml/2006/main">
              <a:ext uri="{FF2B5EF4-FFF2-40B4-BE49-F238E27FC236}">
                <a16:creationId xmlns:a16="http://schemas.microsoft.com/office/drawing/2014/main" id="{8C61DB06-AF65-4B2C-AA7F-B35A9C8C91A9}"/>
              </a:ext>
            </a:extLst>
          </p:cNvPr>
          <p:cNvSpPr>
            <a:spLocks xmlns:a="http://schemas.openxmlformats.org/drawingml/2006/main" noGrp="1"/>
          </p:cNvSpPr>
          <p:nvPr/>
        </p:nvSpPr>
        <p:spPr>
          <a:xfrm xmlns:a="http://schemas.openxmlformats.org/drawingml/2006/main">
            <a:off x="685800" y="1104900"/>
            <a:ext cx="10820400" cy="19050"/>
          </a:xfrm>
          <a:prstGeom xmlns:a="http://schemas.openxmlformats.org/drawingml/2006/main" prst="rect">
            <a:avLst/>
          </a:prstGeom>
          <a:solidFill xmlns:a="http://schemas.openxmlformats.org/drawingml/2006/main">
            <a:srgbClr val="D9DEE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965599AD-B896-4974-A1A2-CBC1B2481DAF}"/>
              </a:ext>
            </a:extLst>
          </p:cNvPr>
          <p:cNvSpPr>
            <a:spLocks xmlns:a="http://schemas.openxmlformats.org/drawingml/2006/main" noGrp="1"/>
          </p:cNvSpPr>
          <p:nvPr/>
        </p:nvSpPr>
        <p:spPr>
          <a:xfrm xmlns:a="http://schemas.openxmlformats.org/drawingml/2006/main">
            <a:off x="685800" y="6524625"/>
            <a:ext cx="438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050" b="0">
                <a:solidFill>
                  <a:srgbClr val="5B6577"/>
                </a:solidFill>
                <a:latin typeface="Arial"/>
                <a:ea typeface="Arial"/>
                <a:cs typeface="Arial"/>
              </a:defRPr>
            </a:pPr>
            <a:r>
              <a:rPr sz="1050" b="0">
                <a:solidFill>
                  <a:srgbClr val="5B6577"/>
                </a:solidFill>
                <a:latin typeface="Arial"/>
                <a:ea typeface="Arial"/>
                <a:cs typeface="Arial"/>
              </a:rPr>
              <a:t>Lello Molinario  |  MSc Thesis Defense</a:t>
            </a:r>
          </a:p>
        </p:txBody>
      </p:sp>
      <p:sp>
        <p:nvSpPr>
          <p:cNvPr id="5" name="">
            <a:extLst xmlns:a="http://schemas.openxmlformats.org/drawingml/2006/main">
              <a:ext uri="{FF2B5EF4-FFF2-40B4-BE49-F238E27FC236}">
                <a16:creationId xmlns:a16="http://schemas.microsoft.com/office/drawing/2014/main" id="{1E12A901-ED39-4DD2-822A-E7619785E99C}"/>
              </a:ext>
            </a:extLst>
          </p:cNvPr>
          <p:cNvSpPr>
            <a:spLocks xmlns:a="http://schemas.openxmlformats.org/drawingml/2006/main" noGrp="1"/>
          </p:cNvSpPr>
          <p:nvPr/>
        </p:nvSpPr>
        <p:spPr>
          <a:xfrm xmlns:a="http://schemas.openxmlformats.org/drawingml/2006/main">
            <a:off x="11049000" y="652462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050" b="0">
                <a:solidFill>
                  <a:srgbClr val="5B6577"/>
                </a:solidFill>
                <a:latin typeface="Arial"/>
                <a:ea typeface="Arial"/>
                <a:cs typeface="Arial"/>
              </a:defRPr>
            </a:pPr>
            <a:r>
              <a:rPr sz="1050" b="0">
                <a:solidFill>
                  <a:srgbClr val="5B6577"/>
                </a:solidFill>
                <a:latin typeface="Arial"/>
                <a:ea typeface="Arial"/>
                <a:cs typeface="Arial"/>
              </a:rPr>
              <a:t>02</a:t>
            </a:r>
          </a:p>
        </p:txBody>
      </p:sp>
      <p:sp>
        <p:nvSpPr>
          <p:cNvPr id="6" name="">
            <a:extLst xmlns:a="http://schemas.openxmlformats.org/drawingml/2006/main">
              <a:ext uri="{FF2B5EF4-FFF2-40B4-BE49-F238E27FC236}">
                <a16:creationId xmlns:a16="http://schemas.microsoft.com/office/drawing/2014/main" id="{295FDD48-F0EC-46C5-B827-2A805C95A516}"/>
              </a:ext>
            </a:extLst>
          </p:cNvPr>
          <p:cNvSpPr>
            <a:spLocks xmlns:a="http://schemas.openxmlformats.org/drawingml/2006/main" noGrp="1"/>
          </p:cNvSpPr>
          <p:nvPr/>
        </p:nvSpPr>
        <p:spPr>
          <a:xfrm xmlns:a="http://schemas.openxmlformats.org/drawingml/2006/main">
            <a:off x="685800" y="1524000"/>
            <a:ext cx="3048000" cy="1200150"/>
          </a:xfrm>
          <a:prstGeom xmlns:a="http://schemas.openxmlformats.org/drawingml/2006/main" prst="roundRect">
            <a:avLst>
              <a:gd name="adj" fmla="val 14286"/>
            </a:avLst>
          </a:prstGeom>
          <a:solidFill xmlns:a="http://schemas.openxmlformats.org/drawingml/2006/main">
            <a:srgbClr val="FFFFFF"/>
          </a:solidFill>
          <a:ln xmlns:a="http://schemas.openxmlformats.org/drawingml/2006/main" w="9525">
            <a:solidFill>
              <a:srgbClr val="D9DEE8"/>
            </a:solidFill>
            <a:prstDash val="solid"/>
          </a:ln>
        </p:spPr>
      </p:sp>
      <p:sp>
        <p:nvSpPr>
          <p:cNvPr id="7" name="">
            <a:extLst xmlns:a="http://schemas.openxmlformats.org/drawingml/2006/main">
              <a:ext uri="{FF2B5EF4-FFF2-40B4-BE49-F238E27FC236}">
                <a16:creationId xmlns:a16="http://schemas.microsoft.com/office/drawing/2014/main" id="{134106DB-7DBE-4BE2-AF47-E9B1070376D7}"/>
              </a:ext>
            </a:extLst>
          </p:cNvPr>
          <p:cNvSpPr>
            <a:spLocks xmlns:a="http://schemas.openxmlformats.org/drawingml/2006/main" noGrp="1"/>
          </p:cNvSpPr>
          <p:nvPr/>
        </p:nvSpPr>
        <p:spPr>
          <a:xfrm xmlns:a="http://schemas.openxmlformats.org/drawingml/2006/main">
            <a:off x="876300" y="1743075"/>
            <a:ext cx="2667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850" b="1">
                <a:solidFill>
                  <a:srgbClr val="233A70"/>
                </a:solidFill>
                <a:latin typeface="Arial"/>
                <a:ea typeface="Arial"/>
                <a:cs typeface="Arial"/>
              </a:defRPr>
            </a:pPr>
            <a:r>
              <a:rPr sz="2850" b="1">
                <a:solidFill>
                  <a:srgbClr val="233A70"/>
                </a:solidFill>
                <a:latin typeface="Arial"/>
                <a:ea typeface="Arial"/>
                <a:cs typeface="Arial"/>
              </a:rPr>
              <a:t>LARGE</a:t>
            </a:r>
          </a:p>
        </p:txBody>
      </p:sp>
      <p:sp>
        <p:nvSpPr>
          <p:cNvPr id="8" name="">
            <a:extLst xmlns:a="http://schemas.openxmlformats.org/drawingml/2006/main">
              <a:ext uri="{FF2B5EF4-FFF2-40B4-BE49-F238E27FC236}">
                <a16:creationId xmlns:a16="http://schemas.microsoft.com/office/drawing/2014/main" id="{6866549D-9D17-463F-9BE9-DC9437B3FE8D}"/>
              </a:ext>
            </a:extLst>
          </p:cNvPr>
          <p:cNvSpPr>
            <a:spLocks xmlns:a="http://schemas.openxmlformats.org/drawingml/2006/main" noGrp="1"/>
          </p:cNvSpPr>
          <p:nvPr/>
        </p:nvSpPr>
        <p:spPr>
          <a:xfrm xmlns:a="http://schemas.openxmlformats.org/drawingml/2006/main">
            <a:off x="876300" y="2266950"/>
            <a:ext cx="266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0">
                <a:solidFill>
                  <a:srgbClr val="5B6577"/>
                </a:solidFill>
                <a:latin typeface="Arial"/>
                <a:ea typeface="Arial"/>
                <a:cs typeface="Arial"/>
              </a:defRPr>
            </a:pPr>
            <a:r>
              <a:rPr sz="1500" b="0">
                <a:solidFill>
                  <a:srgbClr val="5B6577"/>
                </a:solidFill>
                <a:latin typeface="Arial"/>
                <a:ea typeface="Arial"/>
                <a:cs typeface="Arial"/>
              </a:rPr>
              <a:t>image collections</a:t>
            </a:r>
          </a:p>
        </p:txBody>
      </p:sp>
      <p:sp>
        <p:nvSpPr>
          <p:cNvPr id="9" name="">
            <a:extLst xmlns:a="http://schemas.openxmlformats.org/drawingml/2006/main">
              <a:ext uri="{FF2B5EF4-FFF2-40B4-BE49-F238E27FC236}">
                <a16:creationId xmlns:a16="http://schemas.microsoft.com/office/drawing/2014/main" id="{1B4F03EB-5A2C-471C-ABF0-97B8F80F2258}"/>
              </a:ext>
            </a:extLst>
          </p:cNvPr>
          <p:cNvSpPr>
            <a:spLocks xmlns:a="http://schemas.openxmlformats.org/drawingml/2006/main" noGrp="1"/>
          </p:cNvSpPr>
          <p:nvPr/>
        </p:nvSpPr>
        <p:spPr>
          <a:xfrm xmlns:a="http://schemas.openxmlformats.org/drawingml/2006/main">
            <a:off x="4343400" y="1524000"/>
            <a:ext cx="3048000" cy="1200150"/>
          </a:xfrm>
          <a:prstGeom xmlns:a="http://schemas.openxmlformats.org/drawingml/2006/main" prst="roundRect">
            <a:avLst>
              <a:gd name="adj" fmla="val 14286"/>
            </a:avLst>
          </a:prstGeom>
          <a:solidFill xmlns:a="http://schemas.openxmlformats.org/drawingml/2006/main">
            <a:srgbClr val="E9EEF8"/>
          </a:solidFill>
          <a:ln xmlns:a="http://schemas.openxmlformats.org/drawingml/2006/main" w="9525">
            <a:solidFill>
              <a:srgbClr val="E9EEF8"/>
            </a:solidFill>
            <a:prstDash val="solid"/>
          </a:ln>
        </p:spPr>
      </p:sp>
      <p:sp>
        <p:nvSpPr>
          <p:cNvPr id="10" name="">
            <a:extLst xmlns:a="http://schemas.openxmlformats.org/drawingml/2006/main">
              <a:ext uri="{FF2B5EF4-FFF2-40B4-BE49-F238E27FC236}">
                <a16:creationId xmlns:a16="http://schemas.microsoft.com/office/drawing/2014/main" id="{AFC8020C-45AE-4038-A8C9-738588A763B5}"/>
              </a:ext>
            </a:extLst>
          </p:cNvPr>
          <p:cNvSpPr>
            <a:spLocks xmlns:a="http://schemas.openxmlformats.org/drawingml/2006/main" noGrp="1"/>
          </p:cNvSpPr>
          <p:nvPr/>
        </p:nvSpPr>
        <p:spPr>
          <a:xfrm xmlns:a="http://schemas.openxmlformats.org/drawingml/2006/main">
            <a:off x="4533900" y="1743075"/>
            <a:ext cx="2667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850" b="1">
                <a:solidFill>
                  <a:srgbClr val="233A70"/>
                </a:solidFill>
                <a:latin typeface="Arial"/>
                <a:ea typeface="Arial"/>
                <a:cs typeface="Arial"/>
              </a:defRPr>
            </a:pPr>
            <a:r>
              <a:rPr sz="2850" b="1">
                <a:solidFill>
                  <a:srgbClr val="233A70"/>
                </a:solidFill>
                <a:latin typeface="Arial"/>
                <a:ea typeface="Arial"/>
                <a:cs typeface="Arial"/>
              </a:rPr>
              <a:t>AI</a:t>
            </a:r>
          </a:p>
        </p:txBody>
      </p:sp>
      <p:sp>
        <p:nvSpPr>
          <p:cNvPr id="11" name="">
            <a:extLst xmlns:a="http://schemas.openxmlformats.org/drawingml/2006/main">
              <a:ext uri="{FF2B5EF4-FFF2-40B4-BE49-F238E27FC236}">
                <a16:creationId xmlns:a16="http://schemas.microsoft.com/office/drawing/2014/main" id="{C33FDAE1-0BA9-4918-83D0-329C1792220C}"/>
              </a:ext>
            </a:extLst>
          </p:cNvPr>
          <p:cNvSpPr>
            <a:spLocks xmlns:a="http://schemas.openxmlformats.org/drawingml/2006/main" noGrp="1"/>
          </p:cNvSpPr>
          <p:nvPr/>
        </p:nvSpPr>
        <p:spPr>
          <a:xfrm xmlns:a="http://schemas.openxmlformats.org/drawingml/2006/main">
            <a:off x="4533900" y="2266950"/>
            <a:ext cx="266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0">
                <a:solidFill>
                  <a:srgbClr val="5B6577"/>
                </a:solidFill>
                <a:latin typeface="Arial"/>
                <a:ea typeface="Arial"/>
                <a:cs typeface="Arial"/>
              </a:defRPr>
            </a:pPr>
            <a:r>
              <a:rPr sz="1500" b="0">
                <a:solidFill>
                  <a:srgbClr val="5B6577"/>
                </a:solidFill>
                <a:latin typeface="Arial"/>
                <a:ea typeface="Arial"/>
                <a:cs typeface="Arial"/>
              </a:rPr>
              <a:t>assisted triage</a:t>
            </a:r>
          </a:p>
        </p:txBody>
      </p:sp>
      <p:sp>
        <p:nvSpPr>
          <p:cNvPr id="12" name="">
            <a:extLst xmlns:a="http://schemas.openxmlformats.org/drawingml/2006/main">
              <a:ext uri="{FF2B5EF4-FFF2-40B4-BE49-F238E27FC236}">
                <a16:creationId xmlns:a16="http://schemas.microsoft.com/office/drawing/2014/main" id="{4C845868-F781-47A9-940E-F0CDBB7371DC}"/>
              </a:ext>
            </a:extLst>
          </p:cNvPr>
          <p:cNvSpPr>
            <a:spLocks xmlns:a="http://schemas.openxmlformats.org/drawingml/2006/main" noGrp="1"/>
          </p:cNvSpPr>
          <p:nvPr/>
        </p:nvSpPr>
        <p:spPr>
          <a:xfrm xmlns:a="http://schemas.openxmlformats.org/drawingml/2006/main">
            <a:off x="8001000" y="1524000"/>
            <a:ext cx="3048000" cy="1200150"/>
          </a:xfrm>
          <a:prstGeom xmlns:a="http://schemas.openxmlformats.org/drawingml/2006/main" prst="roundRect">
            <a:avLst>
              <a:gd name="adj" fmla="val 14286"/>
            </a:avLst>
          </a:prstGeom>
          <a:solidFill xmlns:a="http://schemas.openxmlformats.org/drawingml/2006/main">
            <a:srgbClr val="FBEAEA"/>
          </a:solidFill>
          <a:ln xmlns:a="http://schemas.openxmlformats.org/drawingml/2006/main" w="9525">
            <a:solidFill>
              <a:srgbClr val="FBEAEA"/>
            </a:solidFill>
            <a:prstDash val="solid"/>
          </a:ln>
        </p:spPr>
      </p:sp>
      <p:sp>
        <p:nvSpPr>
          <p:cNvPr id="13" name="">
            <a:extLst xmlns:a="http://schemas.openxmlformats.org/drawingml/2006/main">
              <a:ext uri="{FF2B5EF4-FFF2-40B4-BE49-F238E27FC236}">
                <a16:creationId xmlns:a16="http://schemas.microsoft.com/office/drawing/2014/main" id="{E1D87471-E992-400B-8BA5-98A79A7C8C69}"/>
              </a:ext>
            </a:extLst>
          </p:cNvPr>
          <p:cNvSpPr>
            <a:spLocks xmlns:a="http://schemas.openxmlformats.org/drawingml/2006/main" noGrp="1"/>
          </p:cNvSpPr>
          <p:nvPr/>
        </p:nvSpPr>
        <p:spPr>
          <a:xfrm xmlns:a="http://schemas.openxmlformats.org/drawingml/2006/main">
            <a:off x="8191500" y="1743075"/>
            <a:ext cx="2667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850" b="1">
                <a:solidFill>
                  <a:srgbClr val="BE3C37"/>
                </a:solidFill>
                <a:latin typeface="Arial"/>
                <a:ea typeface="Arial"/>
                <a:cs typeface="Arial"/>
              </a:defRPr>
            </a:pPr>
            <a:r>
              <a:rPr sz="2850" b="1">
                <a:solidFill>
                  <a:srgbClr val="BE3C37"/>
                </a:solidFill>
                <a:latin typeface="Arial"/>
                <a:ea typeface="Arial"/>
                <a:cs typeface="Arial"/>
              </a:rPr>
              <a:t>MISS</a:t>
            </a:r>
          </a:p>
        </p:txBody>
      </p:sp>
      <p:sp>
        <p:nvSpPr>
          <p:cNvPr id="14" name="">
            <a:extLst xmlns:a="http://schemas.openxmlformats.org/drawingml/2006/main">
              <a:ext uri="{FF2B5EF4-FFF2-40B4-BE49-F238E27FC236}">
                <a16:creationId xmlns:a16="http://schemas.microsoft.com/office/drawing/2014/main" id="{B0C05342-6D6D-4097-A670-5979C502D4B5}"/>
              </a:ext>
            </a:extLst>
          </p:cNvPr>
          <p:cNvSpPr>
            <a:spLocks xmlns:a="http://schemas.openxmlformats.org/drawingml/2006/main" noGrp="1"/>
          </p:cNvSpPr>
          <p:nvPr/>
        </p:nvSpPr>
        <p:spPr>
          <a:xfrm xmlns:a="http://schemas.openxmlformats.org/drawingml/2006/main">
            <a:off x="8191500" y="2266950"/>
            <a:ext cx="266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0">
                <a:solidFill>
                  <a:srgbClr val="5B6577"/>
                </a:solidFill>
                <a:latin typeface="Arial"/>
                <a:ea typeface="Arial"/>
                <a:cs typeface="Arial"/>
              </a:defRPr>
            </a:pPr>
            <a:r>
              <a:rPr sz="1500" b="0">
                <a:solidFill>
                  <a:srgbClr val="5B6577"/>
                </a:solidFill>
                <a:latin typeface="Arial"/>
                <a:ea typeface="Arial"/>
                <a:cs typeface="Arial"/>
              </a:rPr>
              <a:t>relevant evidence</a:t>
            </a:r>
          </a:p>
        </p:txBody>
      </p:sp>
      <p:sp>
        <p:nvSpPr>
          <p:cNvPr id="15" name="">
            <a:extLst xmlns:a="http://schemas.openxmlformats.org/drawingml/2006/main">
              <a:ext uri="{FF2B5EF4-FFF2-40B4-BE49-F238E27FC236}">
                <a16:creationId xmlns:a16="http://schemas.microsoft.com/office/drawing/2014/main" id="{BE95789F-29F4-458B-9109-B5F4176210EA}"/>
              </a:ext>
            </a:extLst>
          </p:cNvPr>
          <p:cNvSpPr>
            <a:spLocks xmlns:a="http://schemas.openxmlformats.org/drawingml/2006/main" noGrp="1"/>
          </p:cNvSpPr>
          <p:nvPr/>
        </p:nvSpPr>
        <p:spPr>
          <a:xfrm xmlns:a="http://schemas.openxmlformats.org/drawingml/2006/main">
            <a:off x="3752850" y="1866900"/>
            <a:ext cx="571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3150" b="1">
                <a:solidFill>
                  <a:srgbClr val="233A70"/>
                </a:solidFill>
                <a:latin typeface="Arial"/>
                <a:ea typeface="Arial"/>
                <a:cs typeface="Arial"/>
              </a:defRPr>
            </a:pPr>
            <a:r>
              <a:rPr sz="3150" b="1">
                <a:solidFill>
                  <a:srgbClr val="233A70"/>
                </a:solidFill>
                <a:latin typeface="Arial"/>
                <a:ea typeface="Arial"/>
                <a:cs typeface="Arial"/>
              </a:rPr>
              <a:t>→</a:t>
            </a:r>
          </a:p>
        </p:txBody>
      </p:sp>
      <p:sp>
        <p:nvSpPr>
          <p:cNvPr id="16" name="">
            <a:extLst xmlns:a="http://schemas.openxmlformats.org/drawingml/2006/main">
              <a:ext uri="{FF2B5EF4-FFF2-40B4-BE49-F238E27FC236}">
                <a16:creationId xmlns:a16="http://schemas.microsoft.com/office/drawing/2014/main" id="{B813C1EC-E4C9-443B-9424-97804AB1F480}"/>
              </a:ext>
            </a:extLst>
          </p:cNvPr>
          <p:cNvSpPr>
            <a:spLocks xmlns:a="http://schemas.openxmlformats.org/drawingml/2006/main" noGrp="1"/>
          </p:cNvSpPr>
          <p:nvPr/>
        </p:nvSpPr>
        <p:spPr>
          <a:xfrm xmlns:a="http://schemas.openxmlformats.org/drawingml/2006/main">
            <a:off x="7410450" y="1866900"/>
            <a:ext cx="571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3150" b="1">
                <a:solidFill>
                  <a:srgbClr val="233A70"/>
                </a:solidFill>
                <a:latin typeface="Arial"/>
                <a:ea typeface="Arial"/>
                <a:cs typeface="Arial"/>
              </a:defRPr>
            </a:pPr>
            <a:r>
              <a:rPr sz="3150" b="1">
                <a:solidFill>
                  <a:srgbClr val="233A70"/>
                </a:solidFill>
                <a:latin typeface="Arial"/>
                <a:ea typeface="Arial"/>
                <a:cs typeface="Arial"/>
              </a:rPr>
              <a:t>→</a:t>
            </a:r>
          </a:p>
        </p:txBody>
      </p:sp>
      <p:sp>
        <p:nvSpPr>
          <p:cNvPr id="17" name="">
            <a:extLst xmlns:a="http://schemas.openxmlformats.org/drawingml/2006/main">
              <a:ext uri="{FF2B5EF4-FFF2-40B4-BE49-F238E27FC236}">
                <a16:creationId xmlns:a16="http://schemas.microsoft.com/office/drawing/2014/main" id="{4EBFE33E-8979-4761-84B8-587E7AC16DD3}"/>
              </a:ext>
            </a:extLst>
          </p:cNvPr>
          <p:cNvSpPr>
            <a:spLocks xmlns:a="http://schemas.openxmlformats.org/drawingml/2006/main" noGrp="1"/>
          </p:cNvSpPr>
          <p:nvPr/>
        </p:nvSpPr>
        <p:spPr>
          <a:xfrm xmlns:a="http://schemas.openxmlformats.org/drawingml/2006/main">
            <a:off x="1123950" y="3162300"/>
            <a:ext cx="9944100" cy="1352550"/>
          </a:xfrm>
          <a:prstGeom xmlns:a="http://schemas.openxmlformats.org/drawingml/2006/main" prst="roundRect">
            <a:avLst>
              <a:gd name="adj" fmla="val 12676"/>
            </a:avLst>
          </a:prstGeom>
          <a:solidFill xmlns:a="http://schemas.openxmlformats.org/drawingml/2006/main">
            <a:srgbClr val="233A70"/>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77611C6C-126C-490B-8FFB-2004E5871B70}"/>
              </a:ext>
            </a:extLst>
          </p:cNvPr>
          <p:cNvSpPr>
            <a:spLocks xmlns:a="http://schemas.openxmlformats.org/drawingml/2006/main" noGrp="1"/>
          </p:cNvSpPr>
          <p:nvPr/>
        </p:nvSpPr>
        <p:spPr>
          <a:xfrm xmlns:a="http://schemas.openxmlformats.org/drawingml/2006/main">
            <a:off x="1504950" y="3429000"/>
            <a:ext cx="91821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400" b="1">
                <a:solidFill>
                  <a:srgbClr val="FFFFFF"/>
                </a:solidFill>
                <a:latin typeface="Arial"/>
                <a:ea typeface="Arial"/>
                <a:cs typeface="Arial"/>
              </a:defRPr>
            </a:pPr>
            <a:r>
              <a:rPr sz="2400" b="1">
                <a:solidFill>
                  <a:srgbClr val="FFFFFF"/>
                </a:solidFill>
                <a:latin typeface="Arial"/>
                <a:ea typeface="Arial"/>
                <a:cs typeface="Arial"/>
              </a:rPr>
              <a:t>How does forensic image triage behave under</a:t>
            </a:r>
          </a:p>
          <a:p xmlns:a="http://schemas.openxmlformats.org/drawingml/2006/main">
            <a:pPr algn="ctr">
              <a:defRPr sz="2400" b="1">
                <a:solidFill>
                  <a:srgbClr val="FFFFFF"/>
                </a:solidFill>
                <a:latin typeface="Arial"/>
                <a:ea typeface="Arial"/>
                <a:cs typeface="Arial"/>
              </a:defRPr>
            </a:pPr>
            <a:r>
              <a:rPr sz="2400" b="1">
                <a:solidFill>
                  <a:srgbClr val="FFFFFF"/>
                </a:solidFill>
                <a:latin typeface="Arial"/>
                <a:ea typeface="Arial"/>
                <a:cs typeface="Arial"/>
              </a:rPr>
              <a:t>adversarial, anti-forensic and OOD inputs?</a:t>
            </a:r>
          </a:p>
        </p:txBody>
      </p:sp>
      <p:sp>
        <p:nvSpPr>
          <p:cNvPr id="19" name="">
            <a:extLst xmlns:a="http://schemas.openxmlformats.org/drawingml/2006/main">
              <a:ext uri="{FF2B5EF4-FFF2-40B4-BE49-F238E27FC236}">
                <a16:creationId xmlns:a16="http://schemas.microsoft.com/office/drawing/2014/main" id="{DDA7D3C5-CB47-4C4D-BA38-0571EC45CEF8}"/>
              </a:ext>
            </a:extLst>
          </p:cNvPr>
          <p:cNvSpPr>
            <a:spLocks xmlns:a="http://schemas.openxmlformats.org/drawingml/2006/main" noGrp="1"/>
          </p:cNvSpPr>
          <p:nvPr/>
        </p:nvSpPr>
        <p:spPr>
          <a:xfrm xmlns:a="http://schemas.openxmlformats.org/drawingml/2006/main">
            <a:off x="1428750" y="4857750"/>
            <a:ext cx="9334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0">
                <a:solidFill>
                  <a:srgbClr val="5B6577"/>
                </a:solidFill>
                <a:latin typeface="Arial"/>
                <a:ea typeface="Arial"/>
                <a:cs typeface="Arial"/>
              </a:defRPr>
            </a:pPr>
            <a:r>
              <a:rPr sz="1575" b="0">
                <a:solidFill>
                  <a:srgbClr val="5B6577"/>
                </a:solidFill>
                <a:latin typeface="Arial"/>
                <a:ea typeface="Arial"/>
                <a:cs typeface="Arial"/>
              </a:rPr>
              <a:t>Clean accuracy may look reassuring while a relevant item is quietly moved out of the analyst’s priority queue.</a:t>
            </a:r>
          </a:p>
        </p:txBody>
      </p:sp>
      <p:sp>
        <p:nvSpPr>
          <p:cNvPr id="20" name="">
            <a:extLst xmlns:a="http://schemas.openxmlformats.org/drawingml/2006/main">
              <a:ext uri="{FF2B5EF4-FFF2-40B4-BE49-F238E27FC236}">
                <a16:creationId xmlns:a16="http://schemas.microsoft.com/office/drawing/2014/main" id="{59855B48-B64C-42AD-8C97-0C65B6AAAAF3}"/>
              </a:ext>
            </a:extLst>
          </p:cNvPr>
          <p:cNvSpPr>
            <a:spLocks xmlns:a="http://schemas.openxmlformats.org/drawingml/2006/main" noGrp="1"/>
          </p:cNvSpPr>
          <p:nvPr/>
        </p:nvSpPr>
        <p:spPr>
          <a:xfrm xmlns:a="http://schemas.openxmlformats.org/drawingml/2006/main">
            <a:off x="2000250" y="5600700"/>
            <a:ext cx="8191500" cy="514350"/>
          </a:xfrm>
          <a:prstGeom xmlns:a="http://schemas.openxmlformats.org/drawingml/2006/main" prst="roundRect">
            <a:avLst>
              <a:gd name="adj" fmla="val 25926"/>
            </a:avLst>
          </a:prstGeom>
          <a:solidFill xmlns:a="http://schemas.openxmlformats.org/drawingml/2006/main">
            <a:srgbClr val="E7F8F0"/>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C5A6713C-2452-4272-91E6-86D11A7F5573}"/>
              </a:ext>
            </a:extLst>
          </p:cNvPr>
          <p:cNvSpPr>
            <a:spLocks xmlns:a="http://schemas.openxmlformats.org/drawingml/2006/main" noGrp="1"/>
          </p:cNvSpPr>
          <p:nvPr/>
        </p:nvSpPr>
        <p:spPr>
          <a:xfrm xmlns:a="http://schemas.openxmlformats.org/drawingml/2006/main">
            <a:off x="2266950" y="5743575"/>
            <a:ext cx="7658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425" b="1">
                <a:solidFill>
                  <a:srgbClr val="087A50"/>
                </a:solidFill>
                <a:latin typeface="Arial"/>
                <a:ea typeface="Arial"/>
                <a:cs typeface="Arial"/>
              </a:defRPr>
            </a:pPr>
            <a:r>
              <a:rPr sz="1425" b="1">
                <a:solidFill>
                  <a:srgbClr val="087A50"/>
                </a:solidFill>
                <a:latin typeface="Arial"/>
                <a:ea typeface="Arial"/>
                <a:cs typeface="Arial"/>
              </a:rPr>
              <a:t>Contribution: auditable robustness assessment—not a new firearm classifier.</a:t>
            </a:r>
          </a:p>
        </p:txBody>
      </p:sp>
    </p:spTree>
    <p:extLst>
      <p:ext uri="{BB962C8B-B14F-4D97-AF65-F5344CB8AC3E}">
        <p14:creationId xmlns:p14="http://schemas.microsoft.com/office/powerpoint/2010/main" val="1479526657"/>
      </p:ext>
    </p:extLst>
  </p:cSld>
</p:sld>
</file>

<file path=ppt/slides/slide3.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6C0B1A53-D25B-4A63-AC3D-8F73AF1B454A}"/>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233A70"/>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BB695DD-AE95-440C-B8F5-952448E18C0F}"/>
              </a:ext>
            </a:extLst>
          </p:cNvPr>
          <p:cNvSpPr>
            <a:spLocks xmlns:a="http://schemas.openxmlformats.org/drawingml/2006/main" noGrp="1"/>
          </p:cNvSpPr>
          <p:nvPr/>
        </p:nvSpPr>
        <p:spPr>
          <a:xfrm xmlns:a="http://schemas.openxmlformats.org/drawingml/2006/main">
            <a:off x="685800" y="43815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600" b="1">
                <a:solidFill>
                  <a:srgbClr val="233A70"/>
                </a:solidFill>
                <a:latin typeface="Arial"/>
                <a:ea typeface="Arial"/>
                <a:cs typeface="Arial"/>
              </a:defRPr>
            </a:pPr>
            <a:r>
              <a:rPr sz="3600" b="1">
                <a:solidFill>
                  <a:srgbClr val="233A70"/>
                </a:solidFill>
                <a:latin typeface="Arial"/>
                <a:ea typeface="Arial"/>
                <a:cs typeface="Arial"/>
              </a:rPr>
              <a:t>FAIRLab makes robustness auditable</a:t>
            </a:r>
          </a:p>
        </p:txBody>
      </p:sp>
      <p:sp>
        <p:nvSpPr>
          <p:cNvPr id="3" name="">
            <a:extLst xmlns:a="http://schemas.openxmlformats.org/drawingml/2006/main">
              <a:ext uri="{FF2B5EF4-FFF2-40B4-BE49-F238E27FC236}">
                <a16:creationId xmlns:a16="http://schemas.microsoft.com/office/drawing/2014/main" id="{043FF31C-DB46-4E33-817A-CBBE738643F9}"/>
              </a:ext>
            </a:extLst>
          </p:cNvPr>
          <p:cNvSpPr>
            <a:spLocks xmlns:a="http://schemas.openxmlformats.org/drawingml/2006/main" noGrp="1"/>
          </p:cNvSpPr>
          <p:nvPr/>
        </p:nvSpPr>
        <p:spPr>
          <a:xfrm xmlns:a="http://schemas.openxmlformats.org/drawingml/2006/main">
            <a:off x="685800" y="1104900"/>
            <a:ext cx="10820400" cy="19050"/>
          </a:xfrm>
          <a:prstGeom xmlns:a="http://schemas.openxmlformats.org/drawingml/2006/main" prst="rect">
            <a:avLst/>
          </a:prstGeom>
          <a:solidFill xmlns:a="http://schemas.openxmlformats.org/drawingml/2006/main">
            <a:srgbClr val="D9DEE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319FC2A-5C48-4679-98E3-D8A119AEE97E}"/>
              </a:ext>
            </a:extLst>
          </p:cNvPr>
          <p:cNvSpPr>
            <a:spLocks xmlns:a="http://schemas.openxmlformats.org/drawingml/2006/main" noGrp="1"/>
          </p:cNvSpPr>
          <p:nvPr/>
        </p:nvSpPr>
        <p:spPr>
          <a:xfrm xmlns:a="http://schemas.openxmlformats.org/drawingml/2006/main">
            <a:off x="685800" y="6524625"/>
            <a:ext cx="438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050" b="0">
                <a:solidFill>
                  <a:srgbClr val="5B6577"/>
                </a:solidFill>
                <a:latin typeface="Arial"/>
                <a:ea typeface="Arial"/>
                <a:cs typeface="Arial"/>
              </a:defRPr>
            </a:pPr>
            <a:r>
              <a:rPr sz="1050" b="0">
                <a:solidFill>
                  <a:srgbClr val="5B6577"/>
                </a:solidFill>
                <a:latin typeface="Arial"/>
                <a:ea typeface="Arial"/>
                <a:cs typeface="Arial"/>
              </a:rPr>
              <a:t>Lello Molinario  |  MSc Thesis Defense</a:t>
            </a:r>
          </a:p>
        </p:txBody>
      </p:sp>
      <p:sp>
        <p:nvSpPr>
          <p:cNvPr id="5" name="">
            <a:extLst xmlns:a="http://schemas.openxmlformats.org/drawingml/2006/main">
              <a:ext uri="{FF2B5EF4-FFF2-40B4-BE49-F238E27FC236}">
                <a16:creationId xmlns:a16="http://schemas.microsoft.com/office/drawing/2014/main" id="{3B214099-1E39-4983-88F2-9CF7A1ED2504}"/>
              </a:ext>
            </a:extLst>
          </p:cNvPr>
          <p:cNvSpPr>
            <a:spLocks xmlns:a="http://schemas.openxmlformats.org/drawingml/2006/main" noGrp="1"/>
          </p:cNvSpPr>
          <p:nvPr/>
        </p:nvSpPr>
        <p:spPr>
          <a:xfrm xmlns:a="http://schemas.openxmlformats.org/drawingml/2006/main">
            <a:off x="11049000" y="652462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050" b="0">
                <a:solidFill>
                  <a:srgbClr val="5B6577"/>
                </a:solidFill>
                <a:latin typeface="Arial"/>
                <a:ea typeface="Arial"/>
                <a:cs typeface="Arial"/>
              </a:defRPr>
            </a:pPr>
            <a:r>
              <a:rPr sz="1050" b="0">
                <a:solidFill>
                  <a:srgbClr val="5B6577"/>
                </a:solidFill>
                <a:latin typeface="Arial"/>
                <a:ea typeface="Arial"/>
                <a:cs typeface="Arial"/>
              </a:rPr>
              <a:t>03</a:t>
            </a:r>
          </a:p>
        </p:txBody>
      </p:sp>
      <p:sp>
        <p:nvSpPr>
          <p:cNvPr id="6" name="">
            <a:extLst xmlns:a="http://schemas.openxmlformats.org/drawingml/2006/main">
              <a:ext uri="{FF2B5EF4-FFF2-40B4-BE49-F238E27FC236}">
                <a16:creationId xmlns:a16="http://schemas.microsoft.com/office/drawing/2014/main" id="{F91845BA-A49A-4FC8-8C94-20F23A40393D}"/>
              </a:ext>
            </a:extLst>
          </p:cNvPr>
          <p:cNvSpPr>
            <a:spLocks xmlns:a="http://schemas.openxmlformats.org/drawingml/2006/main" noGrp="1"/>
          </p:cNvSpPr>
          <p:nvPr/>
        </p:nvSpPr>
        <p:spPr>
          <a:xfrm xmlns:a="http://schemas.openxmlformats.org/drawingml/2006/main">
            <a:off x="685800" y="1524000"/>
            <a:ext cx="3048000" cy="1200150"/>
          </a:xfrm>
          <a:prstGeom xmlns:a="http://schemas.openxmlformats.org/drawingml/2006/main" prst="roundRect">
            <a:avLst>
              <a:gd name="adj" fmla="val 12698"/>
            </a:avLst>
          </a:prstGeom>
          <a:solidFill xmlns:a="http://schemas.openxmlformats.org/drawingml/2006/main">
            <a:srgbClr val="FFFFFF"/>
          </a:solidFill>
          <a:ln xmlns:a="http://schemas.openxmlformats.org/drawingml/2006/main" w="9525">
            <a:solidFill>
              <a:srgbClr val="D9DEE8"/>
            </a:solidFill>
            <a:prstDash val="solid"/>
          </a:ln>
        </p:spPr>
      </p:sp>
      <p:sp>
        <p:nvSpPr>
          <p:cNvPr id="7" name="">
            <a:extLst xmlns:a="http://schemas.openxmlformats.org/drawingml/2006/main">
              <a:ext uri="{FF2B5EF4-FFF2-40B4-BE49-F238E27FC236}">
                <a16:creationId xmlns:a16="http://schemas.microsoft.com/office/drawing/2014/main" id="{4B2F791D-898D-4C09-88CD-BCF8DAF22C9B}"/>
              </a:ext>
            </a:extLst>
          </p:cNvPr>
          <p:cNvSpPr>
            <a:spLocks xmlns:a="http://schemas.openxmlformats.org/drawingml/2006/main" noGrp="1"/>
          </p:cNvSpPr>
          <p:nvPr/>
        </p:nvSpPr>
        <p:spPr>
          <a:xfrm xmlns:a="http://schemas.openxmlformats.org/drawingml/2006/main">
            <a:off x="876300" y="1752600"/>
            <a:ext cx="266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350" b="1">
                <a:solidFill>
                  <a:srgbClr val="233A70"/>
                </a:solidFill>
                <a:latin typeface="Arial"/>
                <a:ea typeface="Arial"/>
                <a:cs typeface="Arial"/>
              </a:defRPr>
            </a:pPr>
            <a:r>
              <a:rPr sz="1350" b="1">
                <a:solidFill>
                  <a:srgbClr val="233A70"/>
                </a:solidFill>
                <a:latin typeface="Arial"/>
                <a:ea typeface="Arial"/>
                <a:cs typeface="Arial"/>
              </a:rPr>
              <a:t>01 · SOURCE</a:t>
            </a:r>
          </a:p>
        </p:txBody>
      </p:sp>
      <p:sp>
        <p:nvSpPr>
          <p:cNvPr id="8" name="">
            <a:extLst xmlns:a="http://schemas.openxmlformats.org/drawingml/2006/main">
              <a:ext uri="{FF2B5EF4-FFF2-40B4-BE49-F238E27FC236}">
                <a16:creationId xmlns:a16="http://schemas.microsoft.com/office/drawing/2014/main" id="{DD23DB3C-604D-4EEA-A4FA-3C66E44C8E4F}"/>
              </a:ext>
            </a:extLst>
          </p:cNvPr>
          <p:cNvSpPr>
            <a:spLocks xmlns:a="http://schemas.openxmlformats.org/drawingml/2006/main" noGrp="1"/>
          </p:cNvSpPr>
          <p:nvPr/>
        </p:nvSpPr>
        <p:spPr>
          <a:xfrm xmlns:a="http://schemas.openxmlformats.org/drawingml/2006/main">
            <a:off x="876300" y="2190750"/>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b="1">
                <a:solidFill>
                  <a:srgbClr val="172033"/>
                </a:solidFill>
                <a:latin typeface="Arial"/>
                <a:ea typeface="Arial"/>
                <a:cs typeface="Arial"/>
              </a:defRPr>
            </a:pPr>
            <a:r>
              <a:rPr sz="1800" b="1">
                <a:solidFill>
                  <a:srgbClr val="172033"/>
                </a:solidFill>
                <a:latin typeface="Arial"/>
                <a:ea typeface="Arial"/>
                <a:cs typeface="Arial"/>
              </a:rPr>
              <a:t>heterogeneous pool</a:t>
            </a:r>
          </a:p>
        </p:txBody>
      </p:sp>
      <p:sp>
        <p:nvSpPr>
          <p:cNvPr id="9" name="">
            <a:extLst xmlns:a="http://schemas.openxmlformats.org/drawingml/2006/main">
              <a:ext uri="{FF2B5EF4-FFF2-40B4-BE49-F238E27FC236}">
                <a16:creationId xmlns:a16="http://schemas.microsoft.com/office/drawing/2014/main" id="{99A661A2-1646-46C8-B23D-CEAE1DEB18C1}"/>
              </a:ext>
            </a:extLst>
          </p:cNvPr>
          <p:cNvSpPr>
            <a:spLocks xmlns:a="http://schemas.openxmlformats.org/drawingml/2006/main" noGrp="1"/>
          </p:cNvSpPr>
          <p:nvPr/>
        </p:nvSpPr>
        <p:spPr>
          <a:xfrm xmlns:a="http://schemas.openxmlformats.org/drawingml/2006/main">
            <a:off x="4343400" y="1524000"/>
            <a:ext cx="3048000" cy="1200150"/>
          </a:xfrm>
          <a:prstGeom xmlns:a="http://schemas.openxmlformats.org/drawingml/2006/main" prst="roundRect">
            <a:avLst>
              <a:gd name="adj" fmla="val 12698"/>
            </a:avLst>
          </a:prstGeom>
          <a:solidFill xmlns:a="http://schemas.openxmlformats.org/drawingml/2006/main">
            <a:srgbClr val="E7F8F0"/>
          </a:solidFill>
          <a:ln xmlns:a="http://schemas.openxmlformats.org/drawingml/2006/main" w="9525">
            <a:solidFill>
              <a:srgbClr val="E7F8F0"/>
            </a:solidFill>
            <a:prstDash val="solid"/>
          </a:ln>
        </p:spPr>
      </p:sp>
      <p:sp>
        <p:nvSpPr>
          <p:cNvPr id="10" name="">
            <a:extLst xmlns:a="http://schemas.openxmlformats.org/drawingml/2006/main">
              <a:ext uri="{FF2B5EF4-FFF2-40B4-BE49-F238E27FC236}">
                <a16:creationId xmlns:a16="http://schemas.microsoft.com/office/drawing/2014/main" id="{AFED12D9-FF88-4E60-BD67-EFEB869BA78A}"/>
              </a:ext>
            </a:extLst>
          </p:cNvPr>
          <p:cNvSpPr>
            <a:spLocks xmlns:a="http://schemas.openxmlformats.org/drawingml/2006/main" noGrp="1"/>
          </p:cNvSpPr>
          <p:nvPr/>
        </p:nvSpPr>
        <p:spPr>
          <a:xfrm xmlns:a="http://schemas.openxmlformats.org/drawingml/2006/main">
            <a:off x="4533900" y="1752600"/>
            <a:ext cx="266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350" b="1">
                <a:solidFill>
                  <a:srgbClr val="087A50"/>
                </a:solidFill>
                <a:latin typeface="Arial"/>
                <a:ea typeface="Arial"/>
                <a:cs typeface="Arial"/>
              </a:defRPr>
            </a:pPr>
            <a:r>
              <a:rPr sz="1350" b="1">
                <a:solidFill>
                  <a:srgbClr val="087A50"/>
                </a:solidFill>
                <a:latin typeface="Arial"/>
                <a:ea typeface="Arial"/>
                <a:cs typeface="Arial"/>
              </a:rPr>
              <a:t>02 · VALIDATE</a:t>
            </a:r>
          </a:p>
        </p:txBody>
      </p:sp>
      <p:sp>
        <p:nvSpPr>
          <p:cNvPr id="11" name="">
            <a:extLst xmlns:a="http://schemas.openxmlformats.org/drawingml/2006/main">
              <a:ext uri="{FF2B5EF4-FFF2-40B4-BE49-F238E27FC236}">
                <a16:creationId xmlns:a16="http://schemas.microsoft.com/office/drawing/2014/main" id="{3160162F-71B4-4503-94D0-C14C526A20C3}"/>
              </a:ext>
            </a:extLst>
          </p:cNvPr>
          <p:cNvSpPr>
            <a:spLocks xmlns:a="http://schemas.openxmlformats.org/drawingml/2006/main" noGrp="1"/>
          </p:cNvSpPr>
          <p:nvPr/>
        </p:nvSpPr>
        <p:spPr>
          <a:xfrm xmlns:a="http://schemas.openxmlformats.org/drawingml/2006/main">
            <a:off x="4533900" y="2190750"/>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b="1">
                <a:solidFill>
                  <a:srgbClr val="172033"/>
                </a:solidFill>
                <a:latin typeface="Arial"/>
                <a:ea typeface="Arial"/>
                <a:cs typeface="Arial"/>
              </a:defRPr>
            </a:pPr>
            <a:r>
              <a:rPr sz="1800" b="1">
                <a:solidFill>
                  <a:srgbClr val="172033"/>
                </a:solidFill>
                <a:latin typeface="Arial"/>
                <a:ea typeface="Arial"/>
                <a:cs typeface="Arial"/>
              </a:rPr>
              <a:t>review + dedup</a:t>
            </a:r>
          </a:p>
        </p:txBody>
      </p:sp>
      <p:sp>
        <p:nvSpPr>
          <p:cNvPr id="12" name="">
            <a:extLst xmlns:a="http://schemas.openxmlformats.org/drawingml/2006/main">
              <a:ext uri="{FF2B5EF4-FFF2-40B4-BE49-F238E27FC236}">
                <a16:creationId xmlns:a16="http://schemas.microsoft.com/office/drawing/2014/main" id="{4441295A-C9D9-4A2C-BE6D-DA5D40668718}"/>
              </a:ext>
            </a:extLst>
          </p:cNvPr>
          <p:cNvSpPr>
            <a:spLocks xmlns:a="http://schemas.openxmlformats.org/drawingml/2006/main" noGrp="1"/>
          </p:cNvSpPr>
          <p:nvPr/>
        </p:nvSpPr>
        <p:spPr>
          <a:xfrm xmlns:a="http://schemas.openxmlformats.org/drawingml/2006/main">
            <a:off x="8001000" y="1524000"/>
            <a:ext cx="3048000" cy="1200150"/>
          </a:xfrm>
          <a:prstGeom xmlns:a="http://schemas.openxmlformats.org/drawingml/2006/main" prst="roundRect">
            <a:avLst>
              <a:gd name="adj" fmla="val 12698"/>
            </a:avLst>
          </a:prstGeom>
          <a:solidFill xmlns:a="http://schemas.openxmlformats.org/drawingml/2006/main">
            <a:srgbClr val="E9EEF8"/>
          </a:solidFill>
          <a:ln xmlns:a="http://schemas.openxmlformats.org/drawingml/2006/main" w="9525">
            <a:solidFill>
              <a:srgbClr val="E9EEF8"/>
            </a:solidFill>
            <a:prstDash val="solid"/>
          </a:ln>
        </p:spPr>
      </p:sp>
      <p:sp>
        <p:nvSpPr>
          <p:cNvPr id="13" name="">
            <a:extLst xmlns:a="http://schemas.openxmlformats.org/drawingml/2006/main">
              <a:ext uri="{FF2B5EF4-FFF2-40B4-BE49-F238E27FC236}">
                <a16:creationId xmlns:a16="http://schemas.microsoft.com/office/drawing/2014/main" id="{338253A6-A215-4512-91B2-D613B8843D99}"/>
              </a:ext>
            </a:extLst>
          </p:cNvPr>
          <p:cNvSpPr>
            <a:spLocks xmlns:a="http://schemas.openxmlformats.org/drawingml/2006/main" noGrp="1"/>
          </p:cNvSpPr>
          <p:nvPr/>
        </p:nvSpPr>
        <p:spPr>
          <a:xfrm xmlns:a="http://schemas.openxmlformats.org/drawingml/2006/main">
            <a:off x="8191500" y="1752600"/>
            <a:ext cx="266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350" b="1">
                <a:solidFill>
                  <a:srgbClr val="233A70"/>
                </a:solidFill>
                <a:latin typeface="Arial"/>
                <a:ea typeface="Arial"/>
                <a:cs typeface="Arial"/>
              </a:defRPr>
            </a:pPr>
            <a:r>
              <a:rPr sz="1350" b="1">
                <a:solidFill>
                  <a:srgbClr val="233A70"/>
                </a:solidFill>
                <a:latin typeface="Arial"/>
                <a:ea typeface="Arial"/>
                <a:cs typeface="Arial"/>
              </a:rPr>
              <a:t>03 · FREEZE</a:t>
            </a:r>
          </a:p>
        </p:txBody>
      </p:sp>
      <p:sp>
        <p:nvSpPr>
          <p:cNvPr id="14" name="">
            <a:extLst xmlns:a="http://schemas.openxmlformats.org/drawingml/2006/main">
              <a:ext uri="{FF2B5EF4-FFF2-40B4-BE49-F238E27FC236}">
                <a16:creationId xmlns:a16="http://schemas.microsoft.com/office/drawing/2014/main" id="{2E74B2CF-06EF-494C-B330-0AB6D414FA74}"/>
              </a:ext>
            </a:extLst>
          </p:cNvPr>
          <p:cNvSpPr>
            <a:spLocks xmlns:a="http://schemas.openxmlformats.org/drawingml/2006/main" noGrp="1"/>
          </p:cNvSpPr>
          <p:nvPr/>
        </p:nvSpPr>
        <p:spPr>
          <a:xfrm xmlns:a="http://schemas.openxmlformats.org/drawingml/2006/main">
            <a:off x="8191500" y="2190750"/>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b="1">
                <a:solidFill>
                  <a:srgbClr val="172033"/>
                </a:solidFill>
                <a:latin typeface="Arial"/>
                <a:ea typeface="Arial"/>
                <a:cs typeface="Arial"/>
              </a:defRPr>
            </a:pPr>
            <a:r>
              <a:rPr sz="1800" b="1">
                <a:solidFill>
                  <a:srgbClr val="172033"/>
                </a:solidFill>
                <a:latin typeface="Arial"/>
                <a:ea typeface="Arial"/>
                <a:cs typeface="Arial"/>
              </a:rPr>
              <a:t>1,500 sources</a:t>
            </a:r>
          </a:p>
        </p:txBody>
      </p:sp>
      <p:sp>
        <p:nvSpPr>
          <p:cNvPr id="15" name="">
            <a:extLst xmlns:a="http://schemas.openxmlformats.org/drawingml/2006/main">
              <a:ext uri="{FF2B5EF4-FFF2-40B4-BE49-F238E27FC236}">
                <a16:creationId xmlns:a16="http://schemas.microsoft.com/office/drawing/2014/main" id="{D680E11F-9529-4EA7-B8B2-3E7934F1DACD}"/>
              </a:ext>
            </a:extLst>
          </p:cNvPr>
          <p:cNvSpPr>
            <a:spLocks xmlns:a="http://schemas.openxmlformats.org/drawingml/2006/main" noGrp="1"/>
          </p:cNvSpPr>
          <p:nvPr/>
        </p:nvSpPr>
        <p:spPr>
          <a:xfrm xmlns:a="http://schemas.openxmlformats.org/drawingml/2006/main">
            <a:off x="8001000" y="3409950"/>
            <a:ext cx="3048000" cy="1200150"/>
          </a:xfrm>
          <a:prstGeom xmlns:a="http://schemas.openxmlformats.org/drawingml/2006/main" prst="roundRect">
            <a:avLst>
              <a:gd name="adj" fmla="val 12698"/>
            </a:avLst>
          </a:prstGeom>
          <a:solidFill xmlns:a="http://schemas.openxmlformats.org/drawingml/2006/main">
            <a:srgbClr val="FFF4CD"/>
          </a:solidFill>
          <a:ln xmlns:a="http://schemas.openxmlformats.org/drawingml/2006/main" w="9525">
            <a:solidFill>
              <a:srgbClr val="FFF4CD"/>
            </a:solidFill>
            <a:prstDash val="solid"/>
          </a:ln>
        </p:spPr>
      </p:sp>
      <p:sp>
        <p:nvSpPr>
          <p:cNvPr id="16" name="">
            <a:extLst xmlns:a="http://schemas.openxmlformats.org/drawingml/2006/main">
              <a:ext uri="{FF2B5EF4-FFF2-40B4-BE49-F238E27FC236}">
                <a16:creationId xmlns:a16="http://schemas.microsoft.com/office/drawing/2014/main" id="{2EEF2A37-33E3-4CAF-8CCD-8C45ED364321}"/>
              </a:ext>
            </a:extLst>
          </p:cNvPr>
          <p:cNvSpPr>
            <a:spLocks xmlns:a="http://schemas.openxmlformats.org/drawingml/2006/main" noGrp="1"/>
          </p:cNvSpPr>
          <p:nvPr/>
        </p:nvSpPr>
        <p:spPr>
          <a:xfrm xmlns:a="http://schemas.openxmlformats.org/drawingml/2006/main">
            <a:off x="8191500" y="3638550"/>
            <a:ext cx="266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350" b="1">
                <a:solidFill>
                  <a:srgbClr val="C89B14"/>
                </a:solidFill>
                <a:latin typeface="Arial"/>
                <a:ea typeface="Arial"/>
                <a:cs typeface="Arial"/>
              </a:defRPr>
            </a:pPr>
            <a:r>
              <a:rPr sz="1350" b="1">
                <a:solidFill>
                  <a:srgbClr val="C89B14"/>
                </a:solidFill>
                <a:latin typeface="Arial"/>
                <a:ea typeface="Arial"/>
                <a:cs typeface="Arial"/>
              </a:rPr>
              <a:t>04 · PERTURB</a:t>
            </a:r>
          </a:p>
        </p:txBody>
      </p:sp>
      <p:sp>
        <p:nvSpPr>
          <p:cNvPr id="17" name="">
            <a:extLst xmlns:a="http://schemas.openxmlformats.org/drawingml/2006/main">
              <a:ext uri="{FF2B5EF4-FFF2-40B4-BE49-F238E27FC236}">
                <a16:creationId xmlns:a16="http://schemas.microsoft.com/office/drawing/2014/main" id="{BE58FD48-63A5-43A4-AE2D-68109E9A97B5}"/>
              </a:ext>
            </a:extLst>
          </p:cNvPr>
          <p:cNvSpPr>
            <a:spLocks xmlns:a="http://schemas.openxmlformats.org/drawingml/2006/main" noGrp="1"/>
          </p:cNvSpPr>
          <p:nvPr/>
        </p:nvSpPr>
        <p:spPr>
          <a:xfrm xmlns:a="http://schemas.openxmlformats.org/drawingml/2006/main">
            <a:off x="8191500" y="4076700"/>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b="1">
                <a:solidFill>
                  <a:srgbClr val="172033"/>
                </a:solidFill>
                <a:latin typeface="Arial"/>
                <a:ea typeface="Arial"/>
                <a:cs typeface="Arial"/>
              </a:defRPr>
            </a:pPr>
            <a:r>
              <a:rPr sz="1800" b="1">
                <a:solidFill>
                  <a:srgbClr val="172033"/>
                </a:solidFill>
                <a:latin typeface="Arial"/>
                <a:ea typeface="Arial"/>
                <a:cs typeface="Arial"/>
              </a:rPr>
              <a:t>10,000 variants</a:t>
            </a:r>
          </a:p>
        </p:txBody>
      </p:sp>
      <p:sp>
        <p:nvSpPr>
          <p:cNvPr id="18" name="">
            <a:extLst xmlns:a="http://schemas.openxmlformats.org/drawingml/2006/main">
              <a:ext uri="{FF2B5EF4-FFF2-40B4-BE49-F238E27FC236}">
                <a16:creationId xmlns:a16="http://schemas.microsoft.com/office/drawing/2014/main" id="{6D80ED9B-D274-464D-8DFA-5D4EB141CE12}"/>
              </a:ext>
            </a:extLst>
          </p:cNvPr>
          <p:cNvSpPr>
            <a:spLocks xmlns:a="http://schemas.openxmlformats.org/drawingml/2006/main" noGrp="1"/>
          </p:cNvSpPr>
          <p:nvPr/>
        </p:nvSpPr>
        <p:spPr>
          <a:xfrm xmlns:a="http://schemas.openxmlformats.org/drawingml/2006/main">
            <a:off x="4343400" y="3409950"/>
            <a:ext cx="3048000" cy="1200150"/>
          </a:xfrm>
          <a:prstGeom xmlns:a="http://schemas.openxmlformats.org/drawingml/2006/main" prst="roundRect">
            <a:avLst>
              <a:gd name="adj" fmla="val 12698"/>
            </a:avLst>
          </a:prstGeom>
          <a:solidFill xmlns:a="http://schemas.openxmlformats.org/drawingml/2006/main">
            <a:srgbClr val="FFFFFF"/>
          </a:solidFill>
          <a:ln xmlns:a="http://schemas.openxmlformats.org/drawingml/2006/main" w="9525">
            <a:solidFill>
              <a:srgbClr val="D9DEE8"/>
            </a:solidFill>
            <a:prstDash val="solid"/>
          </a:ln>
        </p:spPr>
      </p:sp>
      <p:sp>
        <p:nvSpPr>
          <p:cNvPr id="19" name="">
            <a:extLst xmlns:a="http://schemas.openxmlformats.org/drawingml/2006/main">
              <a:ext uri="{FF2B5EF4-FFF2-40B4-BE49-F238E27FC236}">
                <a16:creationId xmlns:a16="http://schemas.microsoft.com/office/drawing/2014/main" id="{8C00595D-2E4C-4798-9AFA-918EB03D6CE1}"/>
              </a:ext>
            </a:extLst>
          </p:cNvPr>
          <p:cNvSpPr>
            <a:spLocks xmlns:a="http://schemas.openxmlformats.org/drawingml/2006/main" noGrp="1"/>
          </p:cNvSpPr>
          <p:nvPr/>
        </p:nvSpPr>
        <p:spPr>
          <a:xfrm xmlns:a="http://schemas.openxmlformats.org/drawingml/2006/main">
            <a:off x="4533900" y="3638550"/>
            <a:ext cx="266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350" b="1">
                <a:solidFill>
                  <a:srgbClr val="233A70"/>
                </a:solidFill>
                <a:latin typeface="Arial"/>
                <a:ea typeface="Arial"/>
                <a:cs typeface="Arial"/>
              </a:defRPr>
            </a:pPr>
            <a:r>
              <a:rPr sz="1350" b="1">
                <a:solidFill>
                  <a:srgbClr val="233A70"/>
                </a:solidFill>
                <a:latin typeface="Arial"/>
                <a:ea typeface="Arial"/>
                <a:cs typeface="Arial"/>
              </a:rPr>
              <a:t>05 · EVALUATE</a:t>
            </a:r>
          </a:p>
        </p:txBody>
      </p:sp>
      <p:sp>
        <p:nvSpPr>
          <p:cNvPr id="20" name="">
            <a:extLst xmlns:a="http://schemas.openxmlformats.org/drawingml/2006/main">
              <a:ext uri="{FF2B5EF4-FFF2-40B4-BE49-F238E27FC236}">
                <a16:creationId xmlns:a16="http://schemas.microsoft.com/office/drawing/2014/main" id="{25CC8402-52F3-415B-8334-9D28329B23A7}"/>
              </a:ext>
            </a:extLst>
          </p:cNvPr>
          <p:cNvSpPr>
            <a:spLocks xmlns:a="http://schemas.openxmlformats.org/drawingml/2006/main" noGrp="1"/>
          </p:cNvSpPr>
          <p:nvPr/>
        </p:nvSpPr>
        <p:spPr>
          <a:xfrm xmlns:a="http://schemas.openxmlformats.org/drawingml/2006/main">
            <a:off x="4533900" y="4076700"/>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b="1">
                <a:solidFill>
                  <a:srgbClr val="172033"/>
                </a:solidFill>
                <a:latin typeface="Arial"/>
                <a:ea typeface="Arial"/>
                <a:cs typeface="Arial"/>
              </a:defRPr>
            </a:pPr>
            <a:r>
              <a:rPr sz="1800" b="1">
                <a:solidFill>
                  <a:srgbClr val="172033"/>
                </a:solidFill>
                <a:latin typeface="Arial"/>
                <a:ea typeface="Arial"/>
                <a:cs typeface="Arial"/>
              </a:rPr>
              <a:t>3 proxies + 6 configs</a:t>
            </a:r>
          </a:p>
        </p:txBody>
      </p:sp>
      <p:sp>
        <p:nvSpPr>
          <p:cNvPr id="21" name="">
            <a:extLst xmlns:a="http://schemas.openxmlformats.org/drawingml/2006/main">
              <a:ext uri="{FF2B5EF4-FFF2-40B4-BE49-F238E27FC236}">
                <a16:creationId xmlns:a16="http://schemas.microsoft.com/office/drawing/2014/main" id="{F96800EB-DDFB-441A-ACC4-724820F4F532}"/>
              </a:ext>
            </a:extLst>
          </p:cNvPr>
          <p:cNvSpPr>
            <a:spLocks xmlns:a="http://schemas.openxmlformats.org/drawingml/2006/main" noGrp="1"/>
          </p:cNvSpPr>
          <p:nvPr/>
        </p:nvSpPr>
        <p:spPr>
          <a:xfrm xmlns:a="http://schemas.openxmlformats.org/drawingml/2006/main">
            <a:off x="685800" y="3409950"/>
            <a:ext cx="3048000" cy="1200150"/>
          </a:xfrm>
          <a:prstGeom xmlns:a="http://schemas.openxmlformats.org/drawingml/2006/main" prst="roundRect">
            <a:avLst>
              <a:gd name="adj" fmla="val 12698"/>
            </a:avLst>
          </a:prstGeom>
          <a:solidFill xmlns:a="http://schemas.openxmlformats.org/drawingml/2006/main">
            <a:srgbClr val="E7F8F0"/>
          </a:solidFill>
          <a:ln xmlns:a="http://schemas.openxmlformats.org/drawingml/2006/main" w="9525">
            <a:solidFill>
              <a:srgbClr val="E7F8F0"/>
            </a:solidFill>
            <a:prstDash val="solid"/>
          </a:ln>
        </p:spPr>
      </p:sp>
      <p:sp>
        <p:nvSpPr>
          <p:cNvPr id="22" name="">
            <a:extLst xmlns:a="http://schemas.openxmlformats.org/drawingml/2006/main">
              <a:ext uri="{FF2B5EF4-FFF2-40B4-BE49-F238E27FC236}">
                <a16:creationId xmlns:a16="http://schemas.microsoft.com/office/drawing/2014/main" id="{445E9920-1B66-4358-8F69-F6C653EC3630}"/>
              </a:ext>
            </a:extLst>
          </p:cNvPr>
          <p:cNvSpPr>
            <a:spLocks xmlns:a="http://schemas.openxmlformats.org/drawingml/2006/main" noGrp="1"/>
          </p:cNvSpPr>
          <p:nvPr/>
        </p:nvSpPr>
        <p:spPr>
          <a:xfrm xmlns:a="http://schemas.openxmlformats.org/drawingml/2006/main">
            <a:off x="876300" y="3638550"/>
            <a:ext cx="266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350" b="1">
                <a:solidFill>
                  <a:srgbClr val="087A50"/>
                </a:solidFill>
                <a:latin typeface="Arial"/>
                <a:ea typeface="Arial"/>
                <a:cs typeface="Arial"/>
              </a:defRPr>
            </a:pPr>
            <a:r>
              <a:rPr sz="1350" b="1">
                <a:solidFill>
                  <a:srgbClr val="087A50"/>
                </a:solidFill>
                <a:latin typeface="Arial"/>
                <a:ea typeface="Arial"/>
                <a:cs typeface="Arial"/>
              </a:rPr>
              <a:t>06 · INTERPRET</a:t>
            </a:r>
          </a:p>
        </p:txBody>
      </p:sp>
      <p:sp>
        <p:nvSpPr>
          <p:cNvPr id="23" name="">
            <a:extLst xmlns:a="http://schemas.openxmlformats.org/drawingml/2006/main">
              <a:ext uri="{FF2B5EF4-FFF2-40B4-BE49-F238E27FC236}">
                <a16:creationId xmlns:a16="http://schemas.microsoft.com/office/drawing/2014/main" id="{80975C52-4A62-447C-ADE4-34216CFBF10A}"/>
              </a:ext>
            </a:extLst>
          </p:cNvPr>
          <p:cNvSpPr>
            <a:spLocks xmlns:a="http://schemas.openxmlformats.org/drawingml/2006/main" noGrp="1"/>
          </p:cNvSpPr>
          <p:nvPr/>
        </p:nvSpPr>
        <p:spPr>
          <a:xfrm xmlns:a="http://schemas.openxmlformats.org/drawingml/2006/main">
            <a:off x="876300" y="4076700"/>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b="1">
                <a:solidFill>
                  <a:srgbClr val="172033"/>
                </a:solidFill>
                <a:latin typeface="Arial"/>
                <a:ea typeface="Arial"/>
                <a:cs typeface="Arial"/>
              </a:defRPr>
            </a:pPr>
            <a:r>
              <a:rPr sz="1800" b="1">
                <a:solidFill>
                  <a:srgbClr val="172033"/>
                </a:solidFill>
                <a:latin typeface="Arial"/>
                <a:ea typeface="Arial"/>
                <a:cs typeface="Arial"/>
              </a:rPr>
              <a:t>normalize + interpret</a:t>
            </a:r>
          </a:p>
        </p:txBody>
      </p:sp>
      <p:sp>
        <p:nvSpPr>
          <p:cNvPr id="24" name="">
            <a:extLst xmlns:a="http://schemas.openxmlformats.org/drawingml/2006/main">
              <a:ext uri="{FF2B5EF4-FFF2-40B4-BE49-F238E27FC236}">
                <a16:creationId xmlns:a16="http://schemas.microsoft.com/office/drawing/2014/main" id="{38172E1D-A294-4F18-8D9E-59C9800F9A07}"/>
              </a:ext>
            </a:extLst>
          </p:cNvPr>
          <p:cNvSpPr>
            <a:spLocks xmlns:a="http://schemas.openxmlformats.org/drawingml/2006/main" noGrp="1"/>
          </p:cNvSpPr>
          <p:nvPr/>
        </p:nvSpPr>
        <p:spPr>
          <a:xfrm xmlns:a="http://schemas.openxmlformats.org/drawingml/2006/main">
            <a:off x="3752850" y="1866900"/>
            <a:ext cx="571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3000" b="1">
                <a:solidFill>
                  <a:srgbClr val="233A70"/>
                </a:solidFill>
                <a:latin typeface="Arial"/>
                <a:ea typeface="Arial"/>
                <a:cs typeface="Arial"/>
              </a:defRPr>
            </a:pPr>
            <a:r>
              <a:rPr sz="3000" b="1">
                <a:solidFill>
                  <a:srgbClr val="233A70"/>
                </a:solidFill>
                <a:latin typeface="Arial"/>
                <a:ea typeface="Arial"/>
                <a:cs typeface="Arial"/>
              </a:rPr>
              <a:t>→</a:t>
            </a:r>
          </a:p>
        </p:txBody>
      </p:sp>
      <p:sp>
        <p:nvSpPr>
          <p:cNvPr id="25" name="">
            <a:extLst xmlns:a="http://schemas.openxmlformats.org/drawingml/2006/main">
              <a:ext uri="{FF2B5EF4-FFF2-40B4-BE49-F238E27FC236}">
                <a16:creationId xmlns:a16="http://schemas.microsoft.com/office/drawing/2014/main" id="{B0C79570-604F-4B83-988C-6FFC8922885B}"/>
              </a:ext>
            </a:extLst>
          </p:cNvPr>
          <p:cNvSpPr>
            <a:spLocks xmlns:a="http://schemas.openxmlformats.org/drawingml/2006/main" noGrp="1"/>
          </p:cNvSpPr>
          <p:nvPr/>
        </p:nvSpPr>
        <p:spPr>
          <a:xfrm xmlns:a="http://schemas.openxmlformats.org/drawingml/2006/main">
            <a:off x="7410450" y="1866900"/>
            <a:ext cx="571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3000" b="1">
                <a:solidFill>
                  <a:srgbClr val="233A70"/>
                </a:solidFill>
                <a:latin typeface="Arial"/>
                <a:ea typeface="Arial"/>
                <a:cs typeface="Arial"/>
              </a:defRPr>
            </a:pPr>
            <a:r>
              <a:rPr sz="3000" b="1">
                <a:solidFill>
                  <a:srgbClr val="233A70"/>
                </a:solidFill>
                <a:latin typeface="Arial"/>
                <a:ea typeface="Arial"/>
                <a:cs typeface="Arial"/>
              </a:rPr>
              <a:t>→</a:t>
            </a:r>
          </a:p>
        </p:txBody>
      </p:sp>
      <p:sp>
        <p:nvSpPr>
          <p:cNvPr id="26" name="">
            <a:extLst xmlns:a="http://schemas.openxmlformats.org/drawingml/2006/main">
              <a:ext uri="{FF2B5EF4-FFF2-40B4-BE49-F238E27FC236}">
                <a16:creationId xmlns:a16="http://schemas.microsoft.com/office/drawing/2014/main" id="{F96F2BBD-EA80-4DB4-86CA-2A3F56F711DE}"/>
              </a:ext>
            </a:extLst>
          </p:cNvPr>
          <p:cNvSpPr>
            <a:spLocks xmlns:a="http://schemas.openxmlformats.org/drawingml/2006/main" noGrp="1"/>
          </p:cNvSpPr>
          <p:nvPr/>
        </p:nvSpPr>
        <p:spPr>
          <a:xfrm xmlns:a="http://schemas.openxmlformats.org/drawingml/2006/main">
            <a:off x="9239250" y="2819400"/>
            <a:ext cx="571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3000" b="1">
                <a:solidFill>
                  <a:srgbClr val="233A70"/>
                </a:solidFill>
                <a:latin typeface="Arial"/>
                <a:ea typeface="Arial"/>
                <a:cs typeface="Arial"/>
              </a:defRPr>
            </a:pPr>
            <a:r>
              <a:rPr sz="3000" b="1">
                <a:solidFill>
                  <a:srgbClr val="233A70"/>
                </a:solidFill>
                <a:latin typeface="Arial"/>
                <a:ea typeface="Arial"/>
                <a:cs typeface="Arial"/>
              </a:rPr>
              <a:t>↓</a:t>
            </a:r>
          </a:p>
        </p:txBody>
      </p:sp>
      <p:sp>
        <p:nvSpPr>
          <p:cNvPr id="27" name="">
            <a:extLst xmlns:a="http://schemas.openxmlformats.org/drawingml/2006/main">
              <a:ext uri="{FF2B5EF4-FFF2-40B4-BE49-F238E27FC236}">
                <a16:creationId xmlns:a16="http://schemas.microsoft.com/office/drawing/2014/main" id="{44084EFE-410F-44E2-89FE-E361686FEAB1}"/>
              </a:ext>
            </a:extLst>
          </p:cNvPr>
          <p:cNvSpPr>
            <a:spLocks xmlns:a="http://schemas.openxmlformats.org/drawingml/2006/main" noGrp="1"/>
          </p:cNvSpPr>
          <p:nvPr/>
        </p:nvSpPr>
        <p:spPr>
          <a:xfrm xmlns:a="http://schemas.openxmlformats.org/drawingml/2006/main">
            <a:off x="7410450" y="3752850"/>
            <a:ext cx="571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3000" b="1">
                <a:solidFill>
                  <a:srgbClr val="233A70"/>
                </a:solidFill>
                <a:latin typeface="Arial"/>
                <a:ea typeface="Arial"/>
                <a:cs typeface="Arial"/>
              </a:defRPr>
            </a:pPr>
            <a:r>
              <a:rPr sz="3000" b="1">
                <a:solidFill>
                  <a:srgbClr val="233A70"/>
                </a:solidFill>
                <a:latin typeface="Arial"/>
                <a:ea typeface="Arial"/>
                <a:cs typeface="Arial"/>
              </a:rPr>
              <a:t>←</a:t>
            </a:r>
          </a:p>
        </p:txBody>
      </p:sp>
      <p:sp>
        <p:nvSpPr>
          <p:cNvPr id="28" name="">
            <a:extLst xmlns:a="http://schemas.openxmlformats.org/drawingml/2006/main">
              <a:ext uri="{FF2B5EF4-FFF2-40B4-BE49-F238E27FC236}">
                <a16:creationId xmlns:a16="http://schemas.microsoft.com/office/drawing/2014/main" id="{28D85B2B-3959-47A8-B720-64C081695514}"/>
              </a:ext>
            </a:extLst>
          </p:cNvPr>
          <p:cNvSpPr>
            <a:spLocks xmlns:a="http://schemas.openxmlformats.org/drawingml/2006/main" noGrp="1"/>
          </p:cNvSpPr>
          <p:nvPr/>
        </p:nvSpPr>
        <p:spPr>
          <a:xfrm xmlns:a="http://schemas.openxmlformats.org/drawingml/2006/main">
            <a:off x="3752850" y="3752850"/>
            <a:ext cx="571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3000" b="1">
                <a:solidFill>
                  <a:srgbClr val="233A70"/>
                </a:solidFill>
                <a:latin typeface="Arial"/>
                <a:ea typeface="Arial"/>
                <a:cs typeface="Arial"/>
              </a:defRPr>
            </a:pPr>
            <a:r>
              <a:rPr sz="3000" b="1">
                <a:solidFill>
                  <a:srgbClr val="233A70"/>
                </a:solidFill>
                <a:latin typeface="Arial"/>
                <a:ea typeface="Arial"/>
                <a:cs typeface="Arial"/>
              </a:rPr>
              <a:t>←</a:t>
            </a:r>
          </a:p>
        </p:txBody>
      </p:sp>
      <p:sp>
        <p:nvSpPr>
          <p:cNvPr id="29" name="">
            <a:extLst xmlns:a="http://schemas.openxmlformats.org/drawingml/2006/main">
              <a:ext uri="{FF2B5EF4-FFF2-40B4-BE49-F238E27FC236}">
                <a16:creationId xmlns:a16="http://schemas.microsoft.com/office/drawing/2014/main" id="{2A76AEB6-1FF2-487B-8819-3E7FBEC77FE1}"/>
              </a:ext>
            </a:extLst>
          </p:cNvPr>
          <p:cNvSpPr>
            <a:spLocks xmlns:a="http://schemas.openxmlformats.org/drawingml/2006/main" noGrp="1"/>
          </p:cNvSpPr>
          <p:nvPr/>
        </p:nvSpPr>
        <p:spPr>
          <a:xfrm xmlns:a="http://schemas.openxmlformats.org/drawingml/2006/main">
            <a:off x="1123950" y="5181600"/>
            <a:ext cx="9944100" cy="895350"/>
          </a:xfrm>
          <a:prstGeom xmlns:a="http://schemas.openxmlformats.org/drawingml/2006/main" prst="roundRect">
            <a:avLst>
              <a:gd name="adj" fmla="val 17021"/>
            </a:avLst>
          </a:prstGeom>
          <a:solidFill xmlns:a="http://schemas.openxmlformats.org/drawingml/2006/main">
            <a:srgbClr val="233A70"/>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E50CBE53-BF18-4A80-A29D-95B884CE3AAD}"/>
              </a:ext>
            </a:extLst>
          </p:cNvPr>
          <p:cNvSpPr>
            <a:spLocks xmlns:a="http://schemas.openxmlformats.org/drawingml/2006/main" noGrp="1"/>
          </p:cNvSpPr>
          <p:nvPr/>
        </p:nvSpPr>
        <p:spPr>
          <a:xfrm xmlns:a="http://schemas.openxmlformats.org/drawingml/2006/main">
            <a:off x="1524000" y="5314950"/>
            <a:ext cx="914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350" b="1">
                <a:solidFill>
                  <a:srgbClr val="14B978"/>
                </a:solidFill>
                <a:latin typeface="Arial"/>
                <a:ea typeface="Arial"/>
                <a:cs typeface="Arial"/>
              </a:defRPr>
            </a:pPr>
            <a:r>
              <a:rPr sz="1350" b="1">
                <a:solidFill>
                  <a:srgbClr val="14B978"/>
                </a:solidFill>
                <a:latin typeface="Arial"/>
                <a:ea typeface="Arial"/>
                <a:cs typeface="Arial"/>
              </a:rPr>
              <a:t>TRACEABILITY THROUGHOUT</a:t>
            </a:r>
          </a:p>
        </p:txBody>
      </p:sp>
      <p:sp>
        <p:nvSpPr>
          <p:cNvPr id="31" name="">
            <a:extLst xmlns:a="http://schemas.openxmlformats.org/drawingml/2006/main">
              <a:ext uri="{FF2B5EF4-FFF2-40B4-BE49-F238E27FC236}">
                <a16:creationId xmlns:a16="http://schemas.microsoft.com/office/drawing/2014/main" id="{3A3D9C14-794F-4016-9A53-92CC5AA4F5CE}"/>
              </a:ext>
            </a:extLst>
          </p:cNvPr>
          <p:cNvSpPr>
            <a:spLocks xmlns:a="http://schemas.openxmlformats.org/drawingml/2006/main" noGrp="1"/>
          </p:cNvSpPr>
          <p:nvPr/>
        </p:nvSpPr>
        <p:spPr>
          <a:xfrm xmlns:a="http://schemas.openxmlformats.org/drawingml/2006/main">
            <a:off x="1381125" y="5676900"/>
            <a:ext cx="942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425" b="0">
                <a:solidFill>
                  <a:srgbClr val="FFFFFF"/>
                </a:solidFill>
                <a:latin typeface="Arial"/>
                <a:ea typeface="Arial"/>
                <a:cs typeface="Arial"/>
              </a:defRPr>
            </a:pPr>
            <a:r>
              <a:rPr sz="1425" b="0">
                <a:solidFill>
                  <a:srgbClr val="FFFFFF"/>
                </a:solidFill>
                <a:latin typeface="Arial"/>
                <a:ea typeface="Arial"/>
                <a:cs typeface="Arial"/>
              </a:rPr>
              <a:t>deterministic identifiers  ·  manifests  ·  checksums  ·  frozen configurations  ·  source-to-output links</a:t>
            </a:r>
          </a:p>
        </p:txBody>
      </p:sp>
    </p:spTree>
    <p:extLst>
      <p:ext uri="{BB962C8B-B14F-4D97-AF65-F5344CB8AC3E}">
        <p14:creationId xmlns:p14="http://schemas.microsoft.com/office/powerpoint/2010/main" val="936095708"/>
      </p:ext>
    </p:extLst>
  </p:cSld>
</p:sld>
</file>

<file path=ppt/slides/slide4.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8F233B7B-EA32-4CE0-BCAD-4A6722324753}"/>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233A70"/>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19E34FA-C1B9-47A3-8BA3-61812BD51E71}"/>
              </a:ext>
            </a:extLst>
          </p:cNvPr>
          <p:cNvSpPr>
            <a:spLocks xmlns:a="http://schemas.openxmlformats.org/drawingml/2006/main" noGrp="1"/>
          </p:cNvSpPr>
          <p:nvPr/>
        </p:nvSpPr>
        <p:spPr>
          <a:xfrm xmlns:a="http://schemas.openxmlformats.org/drawingml/2006/main">
            <a:off x="685800" y="43815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600" b="1">
                <a:solidFill>
                  <a:srgbClr val="233A70"/>
                </a:solidFill>
                <a:latin typeface="Arial"/>
                <a:ea typeface="Arial"/>
                <a:cs typeface="Arial"/>
              </a:defRPr>
            </a:pPr>
            <a:r>
              <a:rPr sz="3600" b="1">
                <a:solidFill>
                  <a:srgbClr val="233A70"/>
                </a:solidFill>
                <a:latin typeface="Arial"/>
                <a:ea typeface="Arial"/>
                <a:cs typeface="Arial"/>
              </a:rPr>
              <a:t>One population becomes 11,500 traceable files</a:t>
            </a:r>
          </a:p>
        </p:txBody>
      </p:sp>
      <p:sp>
        <p:nvSpPr>
          <p:cNvPr id="3" name="">
            <a:extLst xmlns:a="http://schemas.openxmlformats.org/drawingml/2006/main">
              <a:ext uri="{FF2B5EF4-FFF2-40B4-BE49-F238E27FC236}">
                <a16:creationId xmlns:a16="http://schemas.microsoft.com/office/drawing/2014/main" id="{0D8F709E-76E6-4E38-8E82-5BE12BAB1219}"/>
              </a:ext>
            </a:extLst>
          </p:cNvPr>
          <p:cNvSpPr>
            <a:spLocks xmlns:a="http://schemas.openxmlformats.org/drawingml/2006/main" noGrp="1"/>
          </p:cNvSpPr>
          <p:nvPr/>
        </p:nvSpPr>
        <p:spPr>
          <a:xfrm xmlns:a="http://schemas.openxmlformats.org/drawingml/2006/main">
            <a:off x="685800" y="1104900"/>
            <a:ext cx="10820400" cy="19050"/>
          </a:xfrm>
          <a:prstGeom xmlns:a="http://schemas.openxmlformats.org/drawingml/2006/main" prst="rect">
            <a:avLst/>
          </a:prstGeom>
          <a:solidFill xmlns:a="http://schemas.openxmlformats.org/drawingml/2006/main">
            <a:srgbClr val="D9DEE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C66E610D-CF25-46AB-B840-2131076D741E}"/>
              </a:ext>
            </a:extLst>
          </p:cNvPr>
          <p:cNvSpPr>
            <a:spLocks xmlns:a="http://schemas.openxmlformats.org/drawingml/2006/main" noGrp="1"/>
          </p:cNvSpPr>
          <p:nvPr/>
        </p:nvSpPr>
        <p:spPr>
          <a:xfrm xmlns:a="http://schemas.openxmlformats.org/drawingml/2006/main">
            <a:off x="685800" y="6524625"/>
            <a:ext cx="438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050" b="0">
                <a:solidFill>
                  <a:srgbClr val="5B6577"/>
                </a:solidFill>
                <a:latin typeface="Arial"/>
                <a:ea typeface="Arial"/>
                <a:cs typeface="Arial"/>
              </a:defRPr>
            </a:pPr>
            <a:r>
              <a:rPr sz="1050" b="0">
                <a:solidFill>
                  <a:srgbClr val="5B6577"/>
                </a:solidFill>
                <a:latin typeface="Arial"/>
                <a:ea typeface="Arial"/>
                <a:cs typeface="Arial"/>
              </a:rPr>
              <a:t>Lello Molinario  |  MSc Thesis Defense</a:t>
            </a:r>
          </a:p>
        </p:txBody>
      </p:sp>
      <p:sp>
        <p:nvSpPr>
          <p:cNvPr id="5" name="">
            <a:extLst xmlns:a="http://schemas.openxmlformats.org/drawingml/2006/main">
              <a:ext uri="{FF2B5EF4-FFF2-40B4-BE49-F238E27FC236}">
                <a16:creationId xmlns:a16="http://schemas.microsoft.com/office/drawing/2014/main" id="{51A81E0D-402E-4998-85C6-567245A7304C}"/>
              </a:ext>
            </a:extLst>
          </p:cNvPr>
          <p:cNvSpPr>
            <a:spLocks xmlns:a="http://schemas.openxmlformats.org/drawingml/2006/main" noGrp="1"/>
          </p:cNvSpPr>
          <p:nvPr/>
        </p:nvSpPr>
        <p:spPr>
          <a:xfrm xmlns:a="http://schemas.openxmlformats.org/drawingml/2006/main">
            <a:off x="11049000" y="652462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050" b="0">
                <a:solidFill>
                  <a:srgbClr val="5B6577"/>
                </a:solidFill>
                <a:latin typeface="Arial"/>
                <a:ea typeface="Arial"/>
                <a:cs typeface="Arial"/>
              </a:defRPr>
            </a:pPr>
            <a:r>
              <a:rPr sz="1050" b="0">
                <a:solidFill>
                  <a:srgbClr val="5B6577"/>
                </a:solidFill>
                <a:latin typeface="Arial"/>
                <a:ea typeface="Arial"/>
                <a:cs typeface="Arial"/>
              </a:rPr>
              <a:t>04</a:t>
            </a:r>
          </a:p>
        </p:txBody>
      </p:sp>
      <p:sp>
        <p:nvSpPr>
          <p:cNvPr id="6" name="">
            <a:extLst xmlns:a="http://schemas.openxmlformats.org/drawingml/2006/main">
              <a:ext uri="{FF2B5EF4-FFF2-40B4-BE49-F238E27FC236}">
                <a16:creationId xmlns:a16="http://schemas.microsoft.com/office/drawing/2014/main" id="{52FE96BF-C5D8-4EBB-ADFA-45DAE60C8A98}"/>
              </a:ext>
            </a:extLst>
          </p:cNvPr>
          <p:cNvSpPr>
            <a:spLocks xmlns:a="http://schemas.openxmlformats.org/drawingml/2006/main" noGrp="1"/>
          </p:cNvSpPr>
          <p:nvPr/>
        </p:nvSpPr>
        <p:spPr>
          <a:xfrm xmlns:a="http://schemas.openxmlformats.org/drawingml/2006/main">
            <a:off x="685800" y="1390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3225" b="1">
                <a:solidFill>
                  <a:srgbClr val="233A70"/>
                </a:solidFill>
                <a:latin typeface="Arial"/>
                <a:ea typeface="Arial"/>
                <a:cs typeface="Arial"/>
              </a:defRPr>
            </a:pPr>
            <a:r>
              <a:rPr sz="3225" b="1">
                <a:solidFill>
                  <a:srgbClr val="233A70"/>
                </a:solidFill>
                <a:latin typeface="Arial"/>
                <a:ea typeface="Arial"/>
                <a:cs typeface="Arial"/>
              </a:rPr>
              <a:t>1,500 SOURCE IMAGES</a:t>
            </a:r>
          </a:p>
        </p:txBody>
      </p:sp>
      <p:sp>
        <p:nvSpPr>
          <p:cNvPr id="7" name="">
            <a:extLst xmlns:a="http://schemas.openxmlformats.org/drawingml/2006/main">
              <a:ext uri="{FF2B5EF4-FFF2-40B4-BE49-F238E27FC236}">
                <a16:creationId xmlns:a16="http://schemas.microsoft.com/office/drawing/2014/main" id="{A8148055-D97E-4B5A-9B6A-F238DC4DBA1C}"/>
              </a:ext>
            </a:extLst>
          </p:cNvPr>
          <p:cNvSpPr>
            <a:spLocks xmlns:a="http://schemas.openxmlformats.org/drawingml/2006/main" noGrp="1"/>
          </p:cNvSpPr>
          <p:nvPr/>
        </p:nvSpPr>
        <p:spPr>
          <a:xfrm xmlns:a="http://schemas.openxmlformats.org/drawingml/2006/main">
            <a:off x="685800" y="2114550"/>
            <a:ext cx="3048000" cy="1181100"/>
          </a:xfrm>
          <a:prstGeom xmlns:a="http://schemas.openxmlformats.org/drawingml/2006/main" prst="roundRect">
            <a:avLst>
              <a:gd name="adj" fmla="val 12903"/>
            </a:avLst>
          </a:prstGeom>
          <a:solidFill xmlns:a="http://schemas.openxmlformats.org/drawingml/2006/main">
            <a:srgbClr val="FBEAEA"/>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67CF2057-B56B-4EF8-B891-1D8A8FB5D789}"/>
              </a:ext>
            </a:extLst>
          </p:cNvPr>
          <p:cNvSpPr>
            <a:spLocks xmlns:a="http://schemas.openxmlformats.org/drawingml/2006/main" noGrp="1"/>
          </p:cNvSpPr>
          <p:nvPr/>
        </p:nvSpPr>
        <p:spPr>
          <a:xfrm xmlns:a="http://schemas.openxmlformats.org/drawingml/2006/main">
            <a:off x="876300" y="2286000"/>
            <a:ext cx="266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3150" b="1">
                <a:solidFill>
                  <a:srgbClr val="BE3C37"/>
                </a:solidFill>
                <a:latin typeface="Arial"/>
                <a:ea typeface="Arial"/>
                <a:cs typeface="Arial"/>
              </a:defRPr>
            </a:pPr>
            <a:r>
              <a:rPr sz="3150" b="1">
                <a:solidFill>
                  <a:srgbClr val="BE3C37"/>
                </a:solidFill>
                <a:latin typeface="Arial"/>
                <a:ea typeface="Arial"/>
                <a:cs typeface="Arial"/>
              </a:rPr>
              <a:t>500</a:t>
            </a:r>
          </a:p>
        </p:txBody>
      </p:sp>
      <p:sp>
        <p:nvSpPr>
          <p:cNvPr id="9" name="">
            <a:extLst xmlns:a="http://schemas.openxmlformats.org/drawingml/2006/main">
              <a:ext uri="{FF2B5EF4-FFF2-40B4-BE49-F238E27FC236}">
                <a16:creationId xmlns:a16="http://schemas.microsoft.com/office/drawing/2014/main" id="{C91F0788-58B8-4BE5-B7B6-9DA31BD87AB9}"/>
              </a:ext>
            </a:extLst>
          </p:cNvPr>
          <p:cNvSpPr>
            <a:spLocks xmlns:a="http://schemas.openxmlformats.org/drawingml/2006/main" noGrp="1"/>
          </p:cNvSpPr>
          <p:nvPr/>
        </p:nvSpPr>
        <p:spPr>
          <a:xfrm xmlns:a="http://schemas.openxmlformats.org/drawingml/2006/main">
            <a:off x="876300" y="2857500"/>
            <a:ext cx="266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75" b="1">
                <a:solidFill>
                  <a:srgbClr val="172033"/>
                </a:solidFill>
                <a:latin typeface="Arial"/>
                <a:ea typeface="Arial"/>
                <a:cs typeface="Arial"/>
              </a:defRPr>
            </a:pPr>
            <a:r>
              <a:rPr sz="1575" b="1">
                <a:solidFill>
                  <a:srgbClr val="172033"/>
                </a:solidFill>
                <a:latin typeface="Arial"/>
                <a:ea typeface="Arial"/>
                <a:cs typeface="Arial"/>
              </a:rPr>
              <a:t>weapon</a:t>
            </a:r>
          </a:p>
        </p:txBody>
      </p:sp>
      <p:sp>
        <p:nvSpPr>
          <p:cNvPr id="10" name="">
            <a:extLst xmlns:a="http://schemas.openxmlformats.org/drawingml/2006/main">
              <a:ext uri="{FF2B5EF4-FFF2-40B4-BE49-F238E27FC236}">
                <a16:creationId xmlns:a16="http://schemas.microsoft.com/office/drawing/2014/main" id="{DAD1981F-B9B3-4955-8E93-2C4366243B80}"/>
              </a:ext>
            </a:extLst>
          </p:cNvPr>
          <p:cNvSpPr>
            <a:spLocks xmlns:a="http://schemas.openxmlformats.org/drawingml/2006/main" noGrp="1"/>
          </p:cNvSpPr>
          <p:nvPr/>
        </p:nvSpPr>
        <p:spPr>
          <a:xfrm xmlns:a="http://schemas.openxmlformats.org/drawingml/2006/main">
            <a:off x="4343400" y="2114550"/>
            <a:ext cx="3048000" cy="1181100"/>
          </a:xfrm>
          <a:prstGeom xmlns:a="http://schemas.openxmlformats.org/drawingml/2006/main" prst="roundRect">
            <a:avLst>
              <a:gd name="adj" fmla="val 12903"/>
            </a:avLst>
          </a:prstGeom>
          <a:solidFill xmlns:a="http://schemas.openxmlformats.org/drawingml/2006/main">
            <a:srgbClr val="E7F8F0"/>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F51DE534-5451-426F-8C55-A3847300037B}"/>
              </a:ext>
            </a:extLst>
          </p:cNvPr>
          <p:cNvSpPr>
            <a:spLocks xmlns:a="http://schemas.openxmlformats.org/drawingml/2006/main" noGrp="1"/>
          </p:cNvSpPr>
          <p:nvPr/>
        </p:nvSpPr>
        <p:spPr>
          <a:xfrm xmlns:a="http://schemas.openxmlformats.org/drawingml/2006/main">
            <a:off x="4533900" y="2286000"/>
            <a:ext cx="266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3150" b="1">
                <a:solidFill>
                  <a:srgbClr val="087A50"/>
                </a:solidFill>
                <a:latin typeface="Arial"/>
                <a:ea typeface="Arial"/>
                <a:cs typeface="Arial"/>
              </a:defRPr>
            </a:pPr>
            <a:r>
              <a:rPr sz="3150" b="1">
                <a:solidFill>
                  <a:srgbClr val="087A50"/>
                </a:solidFill>
                <a:latin typeface="Arial"/>
                <a:ea typeface="Arial"/>
                <a:cs typeface="Arial"/>
              </a:rPr>
              <a:t>500</a:t>
            </a:r>
          </a:p>
        </p:txBody>
      </p:sp>
      <p:sp>
        <p:nvSpPr>
          <p:cNvPr id="12" name="">
            <a:extLst xmlns:a="http://schemas.openxmlformats.org/drawingml/2006/main">
              <a:ext uri="{FF2B5EF4-FFF2-40B4-BE49-F238E27FC236}">
                <a16:creationId xmlns:a16="http://schemas.microsoft.com/office/drawing/2014/main" id="{B95C25BE-E0AC-4211-88DD-AF36BE27D58C}"/>
              </a:ext>
            </a:extLst>
          </p:cNvPr>
          <p:cNvSpPr>
            <a:spLocks xmlns:a="http://schemas.openxmlformats.org/drawingml/2006/main" noGrp="1"/>
          </p:cNvSpPr>
          <p:nvPr/>
        </p:nvSpPr>
        <p:spPr>
          <a:xfrm xmlns:a="http://schemas.openxmlformats.org/drawingml/2006/main">
            <a:off x="4533900" y="2857500"/>
            <a:ext cx="266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75" b="1">
                <a:solidFill>
                  <a:srgbClr val="172033"/>
                </a:solidFill>
                <a:latin typeface="Arial"/>
                <a:ea typeface="Arial"/>
                <a:cs typeface="Arial"/>
              </a:defRPr>
            </a:pPr>
            <a:r>
              <a:rPr sz="1575" b="1">
                <a:solidFill>
                  <a:srgbClr val="172033"/>
                </a:solidFill>
                <a:latin typeface="Arial"/>
                <a:ea typeface="Arial"/>
                <a:cs typeface="Arial"/>
              </a:rPr>
              <a:t>non-weapon</a:t>
            </a:r>
          </a:p>
        </p:txBody>
      </p:sp>
      <p:sp>
        <p:nvSpPr>
          <p:cNvPr id="13" name="">
            <a:extLst xmlns:a="http://schemas.openxmlformats.org/drawingml/2006/main">
              <a:ext uri="{FF2B5EF4-FFF2-40B4-BE49-F238E27FC236}">
                <a16:creationId xmlns:a16="http://schemas.microsoft.com/office/drawing/2014/main" id="{AA057755-0908-41EF-9861-B5B3136090A8}"/>
              </a:ext>
            </a:extLst>
          </p:cNvPr>
          <p:cNvSpPr>
            <a:spLocks xmlns:a="http://schemas.openxmlformats.org/drawingml/2006/main" noGrp="1"/>
          </p:cNvSpPr>
          <p:nvPr/>
        </p:nvSpPr>
        <p:spPr>
          <a:xfrm xmlns:a="http://schemas.openxmlformats.org/drawingml/2006/main">
            <a:off x="8001000" y="2114550"/>
            <a:ext cx="3048000" cy="1181100"/>
          </a:xfrm>
          <a:prstGeom xmlns:a="http://schemas.openxmlformats.org/drawingml/2006/main" prst="roundRect">
            <a:avLst>
              <a:gd name="adj" fmla="val 12903"/>
            </a:avLst>
          </a:prstGeom>
          <a:solidFill xmlns:a="http://schemas.openxmlformats.org/drawingml/2006/main">
            <a:srgbClr val="FFF4CD"/>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FBF595D1-D2F2-4609-90AA-9836312F8BEA}"/>
              </a:ext>
            </a:extLst>
          </p:cNvPr>
          <p:cNvSpPr>
            <a:spLocks xmlns:a="http://schemas.openxmlformats.org/drawingml/2006/main" noGrp="1"/>
          </p:cNvSpPr>
          <p:nvPr/>
        </p:nvSpPr>
        <p:spPr>
          <a:xfrm xmlns:a="http://schemas.openxmlformats.org/drawingml/2006/main">
            <a:off x="8191500" y="2286000"/>
            <a:ext cx="266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3150" b="1">
                <a:solidFill>
                  <a:srgbClr val="C89B14"/>
                </a:solidFill>
                <a:latin typeface="Arial"/>
                <a:ea typeface="Arial"/>
                <a:cs typeface="Arial"/>
              </a:defRPr>
            </a:pPr>
            <a:r>
              <a:rPr sz="3150" b="1">
                <a:solidFill>
                  <a:srgbClr val="C89B14"/>
                </a:solidFill>
                <a:latin typeface="Arial"/>
                <a:ea typeface="Arial"/>
                <a:cs typeface="Arial"/>
              </a:rPr>
              <a:t>500</a:t>
            </a:r>
          </a:p>
        </p:txBody>
      </p:sp>
      <p:sp>
        <p:nvSpPr>
          <p:cNvPr id="15" name="">
            <a:extLst xmlns:a="http://schemas.openxmlformats.org/drawingml/2006/main">
              <a:ext uri="{FF2B5EF4-FFF2-40B4-BE49-F238E27FC236}">
                <a16:creationId xmlns:a16="http://schemas.microsoft.com/office/drawing/2014/main" id="{CA31140D-6563-486C-A3B6-00812F0790B5}"/>
              </a:ext>
            </a:extLst>
          </p:cNvPr>
          <p:cNvSpPr>
            <a:spLocks xmlns:a="http://schemas.openxmlformats.org/drawingml/2006/main" noGrp="1"/>
          </p:cNvSpPr>
          <p:nvPr/>
        </p:nvSpPr>
        <p:spPr>
          <a:xfrm xmlns:a="http://schemas.openxmlformats.org/drawingml/2006/main">
            <a:off x="8191500" y="2857500"/>
            <a:ext cx="266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75" b="1">
                <a:solidFill>
                  <a:srgbClr val="172033"/>
                </a:solidFill>
                <a:latin typeface="Arial"/>
                <a:ea typeface="Arial"/>
                <a:cs typeface="Arial"/>
              </a:defRPr>
            </a:pPr>
            <a:r>
              <a:rPr sz="1575" b="1">
                <a:solidFill>
                  <a:srgbClr val="172033"/>
                </a:solidFill>
                <a:latin typeface="Arial"/>
                <a:ea typeface="Arial"/>
                <a:cs typeface="Arial"/>
              </a:rPr>
              <a:t>separate OOD branch</a:t>
            </a:r>
          </a:p>
        </p:txBody>
      </p:sp>
      <p:sp>
        <p:nvSpPr>
          <p:cNvPr id="16" name="">
            <a:extLst xmlns:a="http://schemas.openxmlformats.org/drawingml/2006/main">
              <a:ext uri="{FF2B5EF4-FFF2-40B4-BE49-F238E27FC236}">
                <a16:creationId xmlns:a16="http://schemas.microsoft.com/office/drawing/2014/main" id="{E8AE0E5F-D588-4518-BA59-676FC615A528}"/>
              </a:ext>
            </a:extLst>
          </p:cNvPr>
          <p:cNvSpPr>
            <a:spLocks xmlns:a="http://schemas.openxmlformats.org/drawingml/2006/main" noGrp="1"/>
          </p:cNvSpPr>
          <p:nvPr/>
        </p:nvSpPr>
        <p:spPr>
          <a:xfrm xmlns:a="http://schemas.openxmlformats.org/drawingml/2006/main">
            <a:off x="685800" y="3714750"/>
            <a:ext cx="6667500" cy="1352550"/>
          </a:xfrm>
          <a:prstGeom xmlns:a="http://schemas.openxmlformats.org/drawingml/2006/main" prst="roundRect">
            <a:avLst>
              <a:gd name="adj" fmla="val 12676"/>
            </a:avLst>
          </a:prstGeom>
          <a:solidFill xmlns:a="http://schemas.openxmlformats.org/drawingml/2006/main">
            <a:srgbClr val="E9EEF8"/>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86E49BA0-1207-489F-96D4-25FAF47B2880}"/>
              </a:ext>
            </a:extLst>
          </p:cNvPr>
          <p:cNvSpPr>
            <a:spLocks xmlns:a="http://schemas.openxmlformats.org/drawingml/2006/main" noGrp="1"/>
          </p:cNvSpPr>
          <p:nvPr/>
        </p:nvSpPr>
        <p:spPr>
          <a:xfrm xmlns:a="http://schemas.openxmlformats.org/drawingml/2006/main">
            <a:off x="952500" y="3962400"/>
            <a:ext cx="61341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850" b="1">
                <a:solidFill>
                  <a:srgbClr val="233A70"/>
                </a:solidFill>
                <a:latin typeface="Arial"/>
                <a:ea typeface="Arial"/>
                <a:cs typeface="Arial"/>
              </a:defRPr>
            </a:pPr>
            <a:r>
              <a:rPr sz="2850" b="1">
                <a:solidFill>
                  <a:srgbClr val="233A70"/>
                </a:solidFill>
                <a:latin typeface="Arial"/>
                <a:ea typeface="Arial"/>
                <a:cs typeface="Arial"/>
              </a:rPr>
              <a:t>1,000 × 10 = 10,000</a:t>
            </a:r>
          </a:p>
        </p:txBody>
      </p:sp>
      <p:sp>
        <p:nvSpPr>
          <p:cNvPr id="18" name="">
            <a:extLst xmlns:a="http://schemas.openxmlformats.org/drawingml/2006/main">
              <a:ext uri="{FF2B5EF4-FFF2-40B4-BE49-F238E27FC236}">
                <a16:creationId xmlns:a16="http://schemas.microsoft.com/office/drawing/2014/main" id="{2E908EB8-C4F4-4547-90E0-2C16671F8D2D}"/>
              </a:ext>
            </a:extLst>
          </p:cNvPr>
          <p:cNvSpPr>
            <a:spLocks xmlns:a="http://schemas.openxmlformats.org/drawingml/2006/main" noGrp="1"/>
          </p:cNvSpPr>
          <p:nvPr/>
        </p:nvSpPr>
        <p:spPr>
          <a:xfrm xmlns:a="http://schemas.openxmlformats.org/drawingml/2006/main">
            <a:off x="952500" y="4572000"/>
            <a:ext cx="6134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75" b="0">
                <a:solidFill>
                  <a:srgbClr val="5B6577"/>
                </a:solidFill>
                <a:latin typeface="Arial"/>
                <a:ea typeface="Arial"/>
                <a:cs typeface="Arial"/>
              </a:defRPr>
            </a:pPr>
            <a:r>
              <a:rPr sz="1575" b="0">
                <a:solidFill>
                  <a:srgbClr val="5B6577"/>
                </a:solidFill>
                <a:latin typeface="Arial"/>
                <a:ea typeface="Arial"/>
                <a:cs typeface="Arial"/>
              </a:rPr>
              <a:t>linked adversarial and anti-forensic variants</a:t>
            </a:r>
          </a:p>
        </p:txBody>
      </p:sp>
      <p:sp>
        <p:nvSpPr>
          <p:cNvPr id="19" name="">
            <a:extLst xmlns:a="http://schemas.openxmlformats.org/drawingml/2006/main">
              <a:ext uri="{FF2B5EF4-FFF2-40B4-BE49-F238E27FC236}">
                <a16:creationId xmlns:a16="http://schemas.microsoft.com/office/drawing/2014/main" id="{493E70C3-409B-43B7-A636-07BDD643C977}"/>
              </a:ext>
            </a:extLst>
          </p:cNvPr>
          <p:cNvSpPr>
            <a:spLocks xmlns:a="http://schemas.openxmlformats.org/drawingml/2006/main" noGrp="1"/>
          </p:cNvSpPr>
          <p:nvPr/>
        </p:nvSpPr>
        <p:spPr>
          <a:xfrm xmlns:a="http://schemas.openxmlformats.org/drawingml/2006/main">
            <a:off x="7734300" y="3714750"/>
            <a:ext cx="3771900" cy="1352550"/>
          </a:xfrm>
          <a:prstGeom xmlns:a="http://schemas.openxmlformats.org/drawingml/2006/main" prst="roundRect">
            <a:avLst>
              <a:gd name="adj" fmla="val 12676"/>
            </a:avLst>
          </a:prstGeom>
          <a:solidFill xmlns:a="http://schemas.openxmlformats.org/drawingml/2006/main">
            <a:srgbClr val="233A70"/>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CFA7B9EC-C8CD-4FB2-B247-F8C9592B3AAE}"/>
              </a:ext>
            </a:extLst>
          </p:cNvPr>
          <p:cNvSpPr>
            <a:spLocks xmlns:a="http://schemas.openxmlformats.org/drawingml/2006/main" noGrp="1"/>
          </p:cNvSpPr>
          <p:nvPr/>
        </p:nvSpPr>
        <p:spPr>
          <a:xfrm xmlns:a="http://schemas.openxmlformats.org/drawingml/2006/main">
            <a:off x="8001000" y="3924300"/>
            <a:ext cx="3238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3450" b="1">
                <a:solidFill>
                  <a:srgbClr val="FFFFFF"/>
                </a:solidFill>
                <a:latin typeface="Arial"/>
                <a:ea typeface="Arial"/>
                <a:cs typeface="Arial"/>
              </a:defRPr>
            </a:pPr>
            <a:r>
              <a:rPr sz="3450" b="1">
                <a:solidFill>
                  <a:srgbClr val="FFFFFF"/>
                </a:solidFill>
                <a:latin typeface="Arial"/>
                <a:ea typeface="Arial"/>
                <a:cs typeface="Arial"/>
              </a:rPr>
              <a:t>11,500</a:t>
            </a:r>
          </a:p>
        </p:txBody>
      </p:sp>
      <p:sp>
        <p:nvSpPr>
          <p:cNvPr id="21" name="">
            <a:extLst xmlns:a="http://schemas.openxmlformats.org/drawingml/2006/main">
              <a:ext uri="{FF2B5EF4-FFF2-40B4-BE49-F238E27FC236}">
                <a16:creationId xmlns:a16="http://schemas.microsoft.com/office/drawing/2014/main" id="{C59CA103-07C3-4D93-ABAE-B985C7F5307B}"/>
              </a:ext>
            </a:extLst>
          </p:cNvPr>
          <p:cNvSpPr>
            <a:spLocks xmlns:a="http://schemas.openxmlformats.org/drawingml/2006/main" noGrp="1"/>
          </p:cNvSpPr>
          <p:nvPr/>
        </p:nvSpPr>
        <p:spPr>
          <a:xfrm xmlns:a="http://schemas.openxmlformats.org/drawingml/2006/main">
            <a:off x="8001000" y="4572000"/>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650" b="1">
                <a:solidFill>
                  <a:srgbClr val="14B978"/>
                </a:solidFill>
                <a:latin typeface="Arial"/>
                <a:ea typeface="Arial"/>
                <a:cs typeface="Arial"/>
              </a:defRPr>
            </a:pPr>
            <a:r>
              <a:rPr sz="1650" b="1">
                <a:solidFill>
                  <a:srgbClr val="14B978"/>
                </a:solidFill>
                <a:latin typeface="Arial"/>
                <a:ea typeface="Arial"/>
                <a:cs typeface="Arial"/>
              </a:rPr>
              <a:t>tool-facing files</a:t>
            </a:r>
          </a:p>
        </p:txBody>
      </p:sp>
      <p:sp>
        <p:nvSpPr>
          <p:cNvPr id="22" name="">
            <a:extLst xmlns:a="http://schemas.openxmlformats.org/drawingml/2006/main">
              <a:ext uri="{FF2B5EF4-FFF2-40B4-BE49-F238E27FC236}">
                <a16:creationId xmlns:a16="http://schemas.microsoft.com/office/drawing/2014/main" id="{97064189-DD4E-40F9-A7D8-F52355D532F4}"/>
              </a:ext>
            </a:extLst>
          </p:cNvPr>
          <p:cNvSpPr>
            <a:spLocks xmlns:a="http://schemas.openxmlformats.org/drawingml/2006/main" noGrp="1"/>
          </p:cNvSpPr>
          <p:nvPr/>
        </p:nvSpPr>
        <p:spPr>
          <a:xfrm xmlns:a="http://schemas.openxmlformats.org/drawingml/2006/main">
            <a:off x="1428750" y="5448300"/>
            <a:ext cx="933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1">
                <a:solidFill>
                  <a:srgbClr val="5B6577"/>
                </a:solidFill>
                <a:latin typeface="Arial"/>
                <a:ea typeface="Arial"/>
                <a:cs typeface="Arial"/>
              </a:defRPr>
            </a:pPr>
            <a:r>
              <a:rPr sz="1500" b="1">
                <a:solidFill>
                  <a:srgbClr val="5B6577"/>
                </a:solidFill>
                <a:latin typeface="Arial"/>
                <a:ea typeface="Arial"/>
                <a:cs typeface="Arial"/>
              </a:rPr>
              <a:t>The manipulated files are linked source–condition variants—not 10,000 independent cases.</a:t>
            </a:r>
          </a:p>
        </p:txBody>
      </p:sp>
      <p:sp>
        <p:nvSpPr>
          <p:cNvPr id="23" name="">
            <a:extLst xmlns:a="http://schemas.openxmlformats.org/drawingml/2006/main">
              <a:ext uri="{FF2B5EF4-FFF2-40B4-BE49-F238E27FC236}">
                <a16:creationId xmlns:a16="http://schemas.microsoft.com/office/drawing/2014/main" id="{54B01487-7E01-457B-8FE5-D55CB28A858C}"/>
              </a:ext>
            </a:extLst>
          </p:cNvPr>
          <p:cNvSpPr>
            <a:spLocks xmlns:a="http://schemas.openxmlformats.org/drawingml/2006/main" noGrp="1"/>
          </p:cNvSpPr>
          <p:nvPr/>
        </p:nvSpPr>
        <p:spPr>
          <a:xfrm xmlns:a="http://schemas.openxmlformats.org/drawingml/2006/main">
            <a:off x="1714500" y="5829300"/>
            <a:ext cx="876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350" b="0">
                <a:solidFill>
                  <a:srgbClr val="5B6577"/>
                </a:solidFill>
                <a:latin typeface="Arial"/>
                <a:ea typeface="Arial"/>
                <a:cs typeface="Arial"/>
              </a:defRPr>
            </a:pPr>
            <a:r>
              <a:rPr sz="1350" b="0">
                <a:solidFill>
                  <a:srgbClr val="5B6577"/>
                </a:solidFill>
                <a:latin typeface="Arial"/>
                <a:ea typeface="Arial"/>
                <a:cs typeface="Arial"/>
              </a:rPr>
              <a:t>OOD is evaluated separately and is not a third supervised class.</a:t>
            </a:r>
          </a:p>
        </p:txBody>
      </p:sp>
    </p:spTree>
    <p:extLst>
      <p:ext uri="{BB962C8B-B14F-4D97-AF65-F5344CB8AC3E}">
        <p14:creationId xmlns:p14="http://schemas.microsoft.com/office/powerpoint/2010/main" val="104610003"/>
      </p:ext>
    </p:extLst>
  </p:cSld>
</p:sld>
</file>

<file path=ppt/slides/slide5.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8A9DF18E-4042-467C-97B9-4589B37E30B1}"/>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233A70"/>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13CC87C-9B72-4C2C-AD30-2FB203B46991}"/>
              </a:ext>
            </a:extLst>
          </p:cNvPr>
          <p:cNvSpPr>
            <a:spLocks xmlns:a="http://schemas.openxmlformats.org/drawingml/2006/main" noGrp="1"/>
          </p:cNvSpPr>
          <p:nvPr/>
        </p:nvSpPr>
        <p:spPr>
          <a:xfrm xmlns:a="http://schemas.openxmlformats.org/drawingml/2006/main">
            <a:off x="685800" y="43815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600" b="1">
                <a:solidFill>
                  <a:srgbClr val="233A70"/>
                </a:solidFill>
                <a:latin typeface="Arial"/>
                <a:ea typeface="Arial"/>
                <a:cs typeface="Arial"/>
              </a:defRPr>
            </a:pPr>
            <a:r>
              <a:rPr sz="3600" b="1">
                <a:solidFill>
                  <a:srgbClr val="233A70"/>
                </a:solidFill>
                <a:latin typeface="Arial"/>
                <a:ea typeface="Arial"/>
                <a:cs typeface="Arial"/>
              </a:rPr>
              <a:t>Two evidence levels, one experimental basis</a:t>
            </a:r>
          </a:p>
        </p:txBody>
      </p:sp>
      <p:sp>
        <p:nvSpPr>
          <p:cNvPr id="3" name="">
            <a:extLst xmlns:a="http://schemas.openxmlformats.org/drawingml/2006/main">
              <a:ext uri="{FF2B5EF4-FFF2-40B4-BE49-F238E27FC236}">
                <a16:creationId xmlns:a16="http://schemas.microsoft.com/office/drawing/2014/main" id="{BCB0685F-E48D-4052-8734-E6910A0E4C4F}"/>
              </a:ext>
            </a:extLst>
          </p:cNvPr>
          <p:cNvSpPr>
            <a:spLocks xmlns:a="http://schemas.openxmlformats.org/drawingml/2006/main" noGrp="1"/>
          </p:cNvSpPr>
          <p:nvPr/>
        </p:nvSpPr>
        <p:spPr>
          <a:xfrm xmlns:a="http://schemas.openxmlformats.org/drawingml/2006/main">
            <a:off x="685800" y="1104900"/>
            <a:ext cx="10820400" cy="19050"/>
          </a:xfrm>
          <a:prstGeom xmlns:a="http://schemas.openxmlformats.org/drawingml/2006/main" prst="rect">
            <a:avLst/>
          </a:prstGeom>
          <a:solidFill xmlns:a="http://schemas.openxmlformats.org/drawingml/2006/main">
            <a:srgbClr val="D9DEE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04F4A7D0-C37E-4471-9B99-5FD96688AE1B}"/>
              </a:ext>
            </a:extLst>
          </p:cNvPr>
          <p:cNvSpPr>
            <a:spLocks xmlns:a="http://schemas.openxmlformats.org/drawingml/2006/main" noGrp="1"/>
          </p:cNvSpPr>
          <p:nvPr/>
        </p:nvSpPr>
        <p:spPr>
          <a:xfrm xmlns:a="http://schemas.openxmlformats.org/drawingml/2006/main">
            <a:off x="685800" y="6524625"/>
            <a:ext cx="438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050" b="0">
                <a:solidFill>
                  <a:srgbClr val="5B6577"/>
                </a:solidFill>
                <a:latin typeface="Arial"/>
                <a:ea typeface="Arial"/>
                <a:cs typeface="Arial"/>
              </a:defRPr>
            </a:pPr>
            <a:r>
              <a:rPr sz="1050" b="0">
                <a:solidFill>
                  <a:srgbClr val="5B6577"/>
                </a:solidFill>
                <a:latin typeface="Arial"/>
                <a:ea typeface="Arial"/>
                <a:cs typeface="Arial"/>
              </a:rPr>
              <a:t>Lello Molinario  |  MSc Thesis Defense</a:t>
            </a:r>
          </a:p>
        </p:txBody>
      </p:sp>
      <p:sp>
        <p:nvSpPr>
          <p:cNvPr id="5" name="">
            <a:extLst xmlns:a="http://schemas.openxmlformats.org/drawingml/2006/main">
              <a:ext uri="{FF2B5EF4-FFF2-40B4-BE49-F238E27FC236}">
                <a16:creationId xmlns:a16="http://schemas.microsoft.com/office/drawing/2014/main" id="{4A482C16-A30B-415B-84DE-F197B421E064}"/>
              </a:ext>
            </a:extLst>
          </p:cNvPr>
          <p:cNvSpPr>
            <a:spLocks xmlns:a="http://schemas.openxmlformats.org/drawingml/2006/main" noGrp="1"/>
          </p:cNvSpPr>
          <p:nvPr/>
        </p:nvSpPr>
        <p:spPr>
          <a:xfrm xmlns:a="http://schemas.openxmlformats.org/drawingml/2006/main">
            <a:off x="11049000" y="652462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050" b="0">
                <a:solidFill>
                  <a:srgbClr val="5B6577"/>
                </a:solidFill>
                <a:latin typeface="Arial"/>
                <a:ea typeface="Arial"/>
                <a:cs typeface="Arial"/>
              </a:defRPr>
            </a:pPr>
            <a:r>
              <a:rPr sz="1050" b="0">
                <a:solidFill>
                  <a:srgbClr val="5B6577"/>
                </a:solidFill>
                <a:latin typeface="Arial"/>
                <a:ea typeface="Arial"/>
                <a:cs typeface="Arial"/>
              </a:rPr>
              <a:t>05</a:t>
            </a:r>
          </a:p>
        </p:txBody>
      </p:sp>
      <p:sp>
        <p:nvSpPr>
          <p:cNvPr id="6" name="">
            <a:extLst xmlns:a="http://schemas.openxmlformats.org/drawingml/2006/main">
              <a:ext uri="{FF2B5EF4-FFF2-40B4-BE49-F238E27FC236}">
                <a16:creationId xmlns:a16="http://schemas.microsoft.com/office/drawing/2014/main" id="{19694DF6-BA12-4007-B98D-CE24074B6695}"/>
              </a:ext>
            </a:extLst>
          </p:cNvPr>
          <p:cNvSpPr>
            <a:spLocks xmlns:a="http://schemas.openxmlformats.org/drawingml/2006/main" noGrp="1"/>
          </p:cNvSpPr>
          <p:nvPr/>
        </p:nvSpPr>
        <p:spPr>
          <a:xfrm xmlns:a="http://schemas.openxmlformats.org/drawingml/2006/main">
            <a:off x="685800" y="1409700"/>
            <a:ext cx="5143500" cy="2705100"/>
          </a:xfrm>
          <a:prstGeom xmlns:a="http://schemas.openxmlformats.org/drawingml/2006/main" prst="roundRect">
            <a:avLst>
              <a:gd name="adj" fmla="val 6338"/>
            </a:avLst>
          </a:prstGeom>
          <a:solidFill xmlns:a="http://schemas.openxmlformats.org/drawingml/2006/main">
            <a:srgbClr val="E9EEF8"/>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C754D5C3-C7C7-47E3-B4A6-F28E654F1A1F}"/>
              </a:ext>
            </a:extLst>
          </p:cNvPr>
          <p:cNvSpPr>
            <a:spLocks xmlns:a="http://schemas.openxmlformats.org/drawingml/2006/main" noGrp="1"/>
          </p:cNvSpPr>
          <p:nvPr/>
        </p:nvSpPr>
        <p:spPr>
          <a:xfrm xmlns:a="http://schemas.openxmlformats.org/drawingml/2006/main">
            <a:off x="990600" y="1657350"/>
            <a:ext cx="4533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233A70"/>
                </a:solidFill>
                <a:latin typeface="Arial"/>
                <a:ea typeface="Arial"/>
                <a:cs typeface="Arial"/>
              </a:defRPr>
            </a:pPr>
            <a:r>
              <a:rPr sz="1350" b="1">
                <a:solidFill>
                  <a:srgbClr val="233A70"/>
                </a:solidFill>
                <a:latin typeface="Arial"/>
                <a:ea typeface="Arial"/>
                <a:cs typeface="Arial"/>
              </a:rPr>
              <a:t>TRANSPARENT PROXIES</a:t>
            </a:r>
          </a:p>
        </p:txBody>
      </p:sp>
      <p:sp>
        <p:nvSpPr>
          <p:cNvPr id="8" name="">
            <a:extLst xmlns:a="http://schemas.openxmlformats.org/drawingml/2006/main">
              <a:ext uri="{FF2B5EF4-FFF2-40B4-BE49-F238E27FC236}">
                <a16:creationId xmlns:a16="http://schemas.microsoft.com/office/drawing/2014/main" id="{DFFB7302-4FE1-4F8C-B8DE-30ECA9608832}"/>
              </a:ext>
            </a:extLst>
          </p:cNvPr>
          <p:cNvSpPr>
            <a:spLocks xmlns:a="http://schemas.openxmlformats.org/drawingml/2006/main" noGrp="1"/>
          </p:cNvSpPr>
          <p:nvPr/>
        </p:nvSpPr>
        <p:spPr>
          <a:xfrm xmlns:a="http://schemas.openxmlformats.org/drawingml/2006/main">
            <a:off x="990600" y="2114550"/>
            <a:ext cx="285750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2033"/>
                </a:solidFill>
                <a:latin typeface="Arial"/>
                <a:ea typeface="Arial"/>
                <a:cs typeface="Arial"/>
              </a:defRPr>
            </a:pPr>
            <a:r>
              <a:rPr sz="2250" b="1">
                <a:solidFill>
                  <a:srgbClr val="172033"/>
                </a:solidFill>
                <a:latin typeface="Arial"/>
                <a:ea typeface="Arial"/>
                <a:cs typeface="Arial"/>
              </a:rPr>
              <a:t>EfficientNet-B0</a:t>
            </a:r>
          </a:p>
          <a:p xmlns:a="http://schemas.openxmlformats.org/drawingml/2006/main">
            <a:pPr algn="l">
              <a:defRPr sz="2250" b="1">
                <a:solidFill>
                  <a:srgbClr val="172033"/>
                </a:solidFill>
                <a:latin typeface="Arial"/>
                <a:ea typeface="Arial"/>
                <a:cs typeface="Arial"/>
              </a:defRPr>
            </a:pPr>
            <a:r>
              <a:rPr sz="2250" b="1">
                <a:solidFill>
                  <a:srgbClr val="172033"/>
                </a:solidFill>
                <a:latin typeface="Arial"/>
                <a:ea typeface="Arial"/>
                <a:cs typeface="Arial"/>
              </a:rPr>
              <a:t>ResNet18</a:t>
            </a:r>
          </a:p>
          <a:p xmlns:a="http://schemas.openxmlformats.org/drawingml/2006/main">
            <a:pPr algn="l">
              <a:defRPr sz="2250" b="1">
                <a:solidFill>
                  <a:srgbClr val="172033"/>
                </a:solidFill>
                <a:latin typeface="Arial"/>
                <a:ea typeface="Arial"/>
                <a:cs typeface="Arial"/>
              </a:defRPr>
            </a:pPr>
            <a:r>
              <a:rPr sz="2250" b="1">
                <a:solidFill>
                  <a:srgbClr val="172033"/>
                </a:solidFill>
                <a:latin typeface="Arial"/>
                <a:ea typeface="Arial"/>
                <a:cs typeface="Arial"/>
              </a:rPr>
              <a:t>CLIP-based proxy</a:t>
            </a:r>
          </a:p>
        </p:txBody>
      </p:sp>
      <p:sp>
        <p:nvSpPr>
          <p:cNvPr id="9" name="">
            <a:extLst xmlns:a="http://schemas.openxmlformats.org/drawingml/2006/main">
              <a:ext uri="{FF2B5EF4-FFF2-40B4-BE49-F238E27FC236}">
                <a16:creationId xmlns:a16="http://schemas.microsoft.com/office/drawing/2014/main" id="{2C5E08B1-D6FC-4045-B482-500474653204}"/>
              </a:ext>
            </a:extLst>
          </p:cNvPr>
          <p:cNvSpPr>
            <a:spLocks xmlns:a="http://schemas.openxmlformats.org/drawingml/2006/main" noGrp="1"/>
          </p:cNvSpPr>
          <p:nvPr/>
        </p:nvSpPr>
        <p:spPr>
          <a:xfrm xmlns:a="http://schemas.openxmlformats.org/drawingml/2006/main">
            <a:off x="990600" y="3524250"/>
            <a:ext cx="4286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B6577"/>
                </a:solidFill>
                <a:latin typeface="Arial"/>
                <a:ea typeface="Arial"/>
                <a:cs typeface="Arial"/>
              </a:defRPr>
            </a:pPr>
            <a:r>
              <a:rPr sz="1350" b="0">
                <a:solidFill>
                  <a:srgbClr val="5B6577"/>
                </a:solidFill>
                <a:latin typeface="Arial"/>
                <a:ea typeface="Arial"/>
                <a:cs typeface="Arial"/>
              </a:rPr>
              <a:t>Inspectable predictions · gradients · fold-aware checkpoints</a:t>
            </a:r>
          </a:p>
        </p:txBody>
      </p:sp>
      <p:sp>
        <p:nvSpPr>
          <p:cNvPr id="10" name="">
            <a:extLst xmlns:a="http://schemas.openxmlformats.org/drawingml/2006/main">
              <a:ext uri="{FF2B5EF4-FFF2-40B4-BE49-F238E27FC236}">
                <a16:creationId xmlns:a16="http://schemas.microsoft.com/office/drawing/2014/main" id="{98A93300-E588-4524-BF87-E02F18B50A9D}"/>
              </a:ext>
            </a:extLst>
          </p:cNvPr>
          <p:cNvSpPr>
            <a:spLocks xmlns:a="http://schemas.openxmlformats.org/drawingml/2006/main" noGrp="1"/>
          </p:cNvSpPr>
          <p:nvPr/>
        </p:nvSpPr>
        <p:spPr>
          <a:xfrm xmlns:a="http://schemas.openxmlformats.org/drawingml/2006/main">
            <a:off x="6362700" y="1409700"/>
            <a:ext cx="5143500" cy="2705100"/>
          </a:xfrm>
          <a:prstGeom xmlns:a="http://schemas.openxmlformats.org/drawingml/2006/main" prst="roundRect">
            <a:avLst>
              <a:gd name="adj" fmla="val 6338"/>
            </a:avLst>
          </a:prstGeom>
          <a:solidFill xmlns:a="http://schemas.openxmlformats.org/drawingml/2006/main">
            <a:srgbClr val="FFFFFF"/>
          </a:solidFill>
          <a:ln xmlns:a="http://schemas.openxmlformats.org/drawingml/2006/main" w="9525">
            <a:solidFill>
              <a:srgbClr val="D9DEE8"/>
            </a:solidFill>
            <a:prstDash val="solid"/>
          </a:ln>
        </p:spPr>
      </p:sp>
      <p:sp>
        <p:nvSpPr>
          <p:cNvPr id="11" name="">
            <a:extLst xmlns:a="http://schemas.openxmlformats.org/drawingml/2006/main">
              <a:ext uri="{FF2B5EF4-FFF2-40B4-BE49-F238E27FC236}">
                <a16:creationId xmlns:a16="http://schemas.microsoft.com/office/drawing/2014/main" id="{56EC00C9-A240-4103-BF94-6EB97877400B}"/>
              </a:ext>
            </a:extLst>
          </p:cNvPr>
          <p:cNvSpPr>
            <a:spLocks xmlns:a="http://schemas.openxmlformats.org/drawingml/2006/main" noGrp="1"/>
          </p:cNvSpPr>
          <p:nvPr/>
        </p:nvSpPr>
        <p:spPr>
          <a:xfrm xmlns:a="http://schemas.openxmlformats.org/drawingml/2006/main">
            <a:off x="6667500" y="1657350"/>
            <a:ext cx="4533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233A70"/>
                </a:solidFill>
                <a:latin typeface="Arial"/>
                <a:ea typeface="Arial"/>
                <a:cs typeface="Arial"/>
              </a:defRPr>
            </a:pPr>
            <a:r>
              <a:rPr sz="1350" b="1">
                <a:solidFill>
                  <a:srgbClr val="233A70"/>
                </a:solidFill>
                <a:latin typeface="Arial"/>
                <a:ea typeface="Arial"/>
                <a:cs typeface="Arial"/>
              </a:rPr>
              <a:t>BLACK-BOX SOFTWARE · 4 SYSTEMS / 6 CONFIGURATIONS</a:t>
            </a:r>
          </a:p>
        </p:txBody>
      </p:sp>
      <p:sp>
        <p:nvSpPr>
          <p:cNvPr id="12" name="">
            <a:extLst xmlns:a="http://schemas.openxmlformats.org/drawingml/2006/main">
              <a:ext uri="{FF2B5EF4-FFF2-40B4-BE49-F238E27FC236}">
                <a16:creationId xmlns:a16="http://schemas.microsoft.com/office/drawing/2014/main" id="{4EB6323D-5229-4FB7-99FB-3FC21DAEEEBD}"/>
              </a:ext>
            </a:extLst>
          </p:cNvPr>
          <p:cNvSpPr>
            <a:spLocks xmlns:a="http://schemas.openxmlformats.org/drawingml/2006/main" noGrp="1"/>
          </p:cNvSpPr>
          <p:nvPr/>
        </p:nvSpPr>
        <p:spPr>
          <a:xfrm xmlns:a="http://schemas.openxmlformats.org/drawingml/2006/main">
            <a:off x="6667500" y="2114550"/>
            <a:ext cx="4333875"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172033"/>
                </a:solidFill>
                <a:latin typeface="Arial"/>
                <a:ea typeface="Arial"/>
                <a:cs typeface="Arial"/>
              </a:defRPr>
            </a:pPr>
            <a:r>
              <a:rPr sz="1725" b="1">
                <a:solidFill>
                  <a:srgbClr val="172033"/>
                </a:solidFill>
                <a:latin typeface="Arial"/>
                <a:ea typeface="Arial"/>
                <a:cs typeface="Arial"/>
              </a:rPr>
              <a:t>Magnet AXIOM / Magnet.AI</a:t>
            </a:r>
          </a:p>
          <a:p xmlns:a="http://schemas.openxmlformats.org/drawingml/2006/main">
            <a:pPr algn="l">
              <a:defRPr sz="1725" b="1">
                <a:solidFill>
                  <a:srgbClr val="172033"/>
                </a:solidFill>
                <a:latin typeface="Arial"/>
                <a:ea typeface="Arial"/>
                <a:cs typeface="Arial"/>
              </a:defRPr>
            </a:pPr>
            <a:r>
              <a:rPr sz="1725" b="1">
                <a:solidFill>
                  <a:srgbClr val="172033"/>
                </a:solidFill>
                <a:latin typeface="Arial"/>
                <a:ea typeface="Arial"/>
                <a:cs typeface="Arial"/>
              </a:rPr>
              <a:t>Excire Foto 2025 · D20 / D50 / D80</a:t>
            </a:r>
          </a:p>
          <a:p xmlns:a="http://schemas.openxmlformats.org/drawingml/2006/main">
            <a:pPr algn="l">
              <a:defRPr sz="1725" b="1">
                <a:solidFill>
                  <a:srgbClr val="172033"/>
                </a:solidFill>
                <a:latin typeface="Arial"/>
                <a:ea typeface="Arial"/>
                <a:cs typeface="Arial"/>
              </a:defRPr>
            </a:pPr>
            <a:r>
              <a:rPr sz="1725" b="1">
                <a:solidFill>
                  <a:srgbClr val="172033"/>
                </a:solidFill>
                <a:latin typeface="Arial"/>
                <a:ea typeface="Arial"/>
                <a:cs typeface="Arial"/>
              </a:rPr>
              <a:t>Cellebrite Inseyets</a:t>
            </a:r>
          </a:p>
          <a:p xmlns:a="http://schemas.openxmlformats.org/drawingml/2006/main">
            <a:pPr algn="l">
              <a:defRPr sz="1725" b="1">
                <a:solidFill>
                  <a:srgbClr val="172033"/>
                </a:solidFill>
                <a:latin typeface="Arial"/>
                <a:ea typeface="Arial"/>
                <a:cs typeface="Arial"/>
              </a:defRPr>
            </a:pPr>
            <a:r>
              <a:rPr sz="1725" b="1">
                <a:solidFill>
                  <a:srgbClr val="172033"/>
                </a:solidFill>
                <a:latin typeface="Arial"/>
                <a:ea typeface="Arial"/>
                <a:cs typeface="Arial"/>
              </a:rPr>
              <a:t>Magnet Griffeye / T3K CORE</a:t>
            </a:r>
          </a:p>
        </p:txBody>
      </p:sp>
      <p:sp>
        <p:nvSpPr>
          <p:cNvPr id="13" name="">
            <a:extLst xmlns:a="http://schemas.openxmlformats.org/drawingml/2006/main">
              <a:ext uri="{FF2B5EF4-FFF2-40B4-BE49-F238E27FC236}">
                <a16:creationId xmlns:a16="http://schemas.microsoft.com/office/drawing/2014/main" id="{1940F821-DB94-4198-A67D-0F34539A9B01}"/>
              </a:ext>
            </a:extLst>
          </p:cNvPr>
          <p:cNvSpPr>
            <a:spLocks xmlns:a="http://schemas.openxmlformats.org/drawingml/2006/main" noGrp="1"/>
          </p:cNvSpPr>
          <p:nvPr/>
        </p:nvSpPr>
        <p:spPr>
          <a:xfrm xmlns:a="http://schemas.openxmlformats.org/drawingml/2006/main">
            <a:off x="6667500" y="3657600"/>
            <a:ext cx="428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B6577"/>
                </a:solidFill>
                <a:latin typeface="Arial"/>
                <a:ea typeface="Arial"/>
                <a:cs typeface="Arial"/>
              </a:defRPr>
            </a:pPr>
            <a:r>
              <a:rPr sz="1350" b="0">
                <a:solidFill>
                  <a:srgbClr val="5B6577"/>
                </a:solidFill>
                <a:latin typeface="Arial"/>
                <a:ea typeface="Arial"/>
                <a:cs typeface="Arial"/>
              </a:rPr>
              <a:t>Observable tags · bookmarks · labels · semantic retrieval</a:t>
            </a:r>
          </a:p>
        </p:txBody>
      </p:sp>
      <p:sp>
        <p:nvSpPr>
          <p:cNvPr id="14" name="">
            <a:extLst xmlns:a="http://schemas.openxmlformats.org/drawingml/2006/main">
              <a:ext uri="{FF2B5EF4-FFF2-40B4-BE49-F238E27FC236}">
                <a16:creationId xmlns:a16="http://schemas.microsoft.com/office/drawing/2014/main" id="{88C109F7-273D-459C-BB14-90A9205313D4}"/>
              </a:ext>
            </a:extLst>
          </p:cNvPr>
          <p:cNvSpPr>
            <a:spLocks xmlns:a="http://schemas.openxmlformats.org/drawingml/2006/main" noGrp="1"/>
          </p:cNvSpPr>
          <p:nvPr/>
        </p:nvSpPr>
        <p:spPr>
          <a:xfrm xmlns:a="http://schemas.openxmlformats.org/drawingml/2006/main">
            <a:off x="685800" y="4457700"/>
            <a:ext cx="10820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275" b="1">
                <a:solidFill>
                  <a:srgbClr val="233A70"/>
                </a:solidFill>
                <a:latin typeface="Arial"/>
                <a:ea typeface="Arial"/>
                <a:cs typeface="Arial"/>
              </a:defRPr>
            </a:pPr>
            <a:r>
              <a:rPr sz="1275" b="1">
                <a:solidFill>
                  <a:srgbClr val="233A70"/>
                </a:solidFill>
                <a:latin typeface="Arial"/>
                <a:ea typeface="Arial"/>
                <a:cs typeface="Arial"/>
              </a:rPr>
              <a:t>THREAT-MODEL PATHS</a:t>
            </a:r>
          </a:p>
        </p:txBody>
      </p:sp>
      <p:sp>
        <p:nvSpPr>
          <p:cNvPr id="15" name="">
            <a:extLst xmlns:a="http://schemas.openxmlformats.org/drawingml/2006/main">
              <a:ext uri="{FF2B5EF4-FFF2-40B4-BE49-F238E27FC236}">
                <a16:creationId xmlns:a16="http://schemas.microsoft.com/office/drawing/2014/main" id="{D0FAD262-96F1-4338-83F7-F0766FE9CDD5}"/>
              </a:ext>
            </a:extLst>
          </p:cNvPr>
          <p:cNvSpPr>
            <a:spLocks xmlns:a="http://schemas.openxmlformats.org/drawingml/2006/main" noGrp="1"/>
          </p:cNvSpPr>
          <p:nvPr/>
        </p:nvSpPr>
        <p:spPr>
          <a:xfrm xmlns:a="http://schemas.openxmlformats.org/drawingml/2006/main">
            <a:off x="685800" y="4857750"/>
            <a:ext cx="3505200" cy="1104900"/>
          </a:xfrm>
          <a:prstGeom xmlns:a="http://schemas.openxmlformats.org/drawingml/2006/main" prst="roundRect">
            <a:avLst>
              <a:gd name="adj" fmla="val 12069"/>
            </a:avLst>
          </a:prstGeom>
          <a:solidFill xmlns:a="http://schemas.openxmlformats.org/drawingml/2006/main">
            <a:srgbClr val="FBEAE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A1BC2A9B-3EA3-421B-B9EF-D8552CAA31A6}"/>
              </a:ext>
            </a:extLst>
          </p:cNvPr>
          <p:cNvSpPr>
            <a:spLocks xmlns:a="http://schemas.openxmlformats.org/drawingml/2006/main" noGrp="1"/>
          </p:cNvSpPr>
          <p:nvPr/>
        </p:nvSpPr>
        <p:spPr>
          <a:xfrm xmlns:a="http://schemas.openxmlformats.org/drawingml/2006/main">
            <a:off x="857250" y="5029200"/>
            <a:ext cx="3162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350" b="1">
                <a:solidFill>
                  <a:srgbClr val="BE3C37"/>
                </a:solidFill>
                <a:latin typeface="Arial"/>
                <a:ea typeface="Arial"/>
                <a:cs typeface="Arial"/>
              </a:defRPr>
            </a:pPr>
            <a:r>
              <a:rPr sz="1350" b="1">
                <a:solidFill>
                  <a:srgbClr val="BE3C37"/>
                </a:solidFill>
                <a:latin typeface="Arial"/>
                <a:ea typeface="Arial"/>
                <a:cs typeface="Arial"/>
              </a:rPr>
              <a:t>DIRECT TARGET</a:t>
            </a:r>
          </a:p>
        </p:txBody>
      </p:sp>
      <p:sp>
        <p:nvSpPr>
          <p:cNvPr id="17" name="">
            <a:extLst xmlns:a="http://schemas.openxmlformats.org/drawingml/2006/main">
              <a:ext uri="{FF2B5EF4-FFF2-40B4-BE49-F238E27FC236}">
                <a16:creationId xmlns:a16="http://schemas.microsoft.com/office/drawing/2014/main" id="{F37C7E16-C6EA-40E2-8936-26BD745EF6C6}"/>
              </a:ext>
            </a:extLst>
          </p:cNvPr>
          <p:cNvSpPr>
            <a:spLocks xmlns:a="http://schemas.openxmlformats.org/drawingml/2006/main" noGrp="1"/>
          </p:cNvSpPr>
          <p:nvPr/>
        </p:nvSpPr>
        <p:spPr>
          <a:xfrm xmlns:a="http://schemas.openxmlformats.org/drawingml/2006/main">
            <a:off x="914400" y="5391150"/>
            <a:ext cx="304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50" b="0">
                <a:solidFill>
                  <a:srgbClr val="172033"/>
                </a:solidFill>
                <a:latin typeface="Arial"/>
                <a:ea typeface="Arial"/>
                <a:cs typeface="Arial"/>
              </a:defRPr>
            </a:pPr>
            <a:r>
              <a:rPr sz="1350" b="0">
                <a:solidFill>
                  <a:srgbClr val="172033"/>
                </a:solidFill>
                <a:latin typeface="Arial"/>
                <a:ea typeface="Arial"/>
                <a:cs typeface="Arial"/>
              </a:rPr>
              <a:t>Model-dependent attacks evaluated on EfficientNet-B0</a:t>
            </a:r>
          </a:p>
        </p:txBody>
      </p:sp>
      <p:sp>
        <p:nvSpPr>
          <p:cNvPr id="18" name="">
            <a:extLst xmlns:a="http://schemas.openxmlformats.org/drawingml/2006/main">
              <a:ext uri="{FF2B5EF4-FFF2-40B4-BE49-F238E27FC236}">
                <a16:creationId xmlns:a16="http://schemas.microsoft.com/office/drawing/2014/main" id="{FC128AEF-92C5-4E35-BDB3-6D38879C6AD4}"/>
              </a:ext>
            </a:extLst>
          </p:cNvPr>
          <p:cNvSpPr>
            <a:spLocks xmlns:a="http://schemas.openxmlformats.org/drawingml/2006/main" noGrp="1"/>
          </p:cNvSpPr>
          <p:nvPr/>
        </p:nvSpPr>
        <p:spPr>
          <a:xfrm xmlns:a="http://schemas.openxmlformats.org/drawingml/2006/main">
            <a:off x="4343400" y="4857750"/>
            <a:ext cx="3505200" cy="1104900"/>
          </a:xfrm>
          <a:prstGeom xmlns:a="http://schemas.openxmlformats.org/drawingml/2006/main" prst="roundRect">
            <a:avLst>
              <a:gd name="adj" fmla="val 12069"/>
            </a:avLst>
          </a:prstGeom>
          <a:solidFill xmlns:a="http://schemas.openxmlformats.org/drawingml/2006/main">
            <a:srgbClr val="FFF4CD"/>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2CE88DA7-3406-417C-9434-A21622865CD5}"/>
              </a:ext>
            </a:extLst>
          </p:cNvPr>
          <p:cNvSpPr>
            <a:spLocks xmlns:a="http://schemas.openxmlformats.org/drawingml/2006/main" noGrp="1"/>
          </p:cNvSpPr>
          <p:nvPr/>
        </p:nvSpPr>
        <p:spPr>
          <a:xfrm xmlns:a="http://schemas.openxmlformats.org/drawingml/2006/main">
            <a:off x="4514850" y="5029200"/>
            <a:ext cx="3162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350" b="1">
                <a:solidFill>
                  <a:srgbClr val="C89B14"/>
                </a:solidFill>
                <a:latin typeface="Arial"/>
                <a:ea typeface="Arial"/>
                <a:cs typeface="Arial"/>
              </a:defRPr>
            </a:pPr>
            <a:r>
              <a:rPr sz="1350" b="1">
                <a:solidFill>
                  <a:srgbClr val="C89B14"/>
                </a:solidFill>
                <a:latin typeface="Arial"/>
                <a:ea typeface="Arial"/>
                <a:cs typeface="Arial"/>
              </a:rPr>
              <a:t>EMPIRICAL TRANSFER</a:t>
            </a:r>
          </a:p>
        </p:txBody>
      </p:sp>
      <p:sp>
        <p:nvSpPr>
          <p:cNvPr id="20" name="">
            <a:extLst xmlns:a="http://schemas.openxmlformats.org/drawingml/2006/main">
              <a:ext uri="{FF2B5EF4-FFF2-40B4-BE49-F238E27FC236}">
                <a16:creationId xmlns:a16="http://schemas.microsoft.com/office/drawing/2014/main" id="{3B11CD2C-E9E6-4F62-8369-743441D1FC5E}"/>
              </a:ext>
            </a:extLst>
          </p:cNvPr>
          <p:cNvSpPr>
            <a:spLocks xmlns:a="http://schemas.openxmlformats.org/drawingml/2006/main" noGrp="1"/>
          </p:cNvSpPr>
          <p:nvPr/>
        </p:nvSpPr>
        <p:spPr>
          <a:xfrm xmlns:a="http://schemas.openxmlformats.org/drawingml/2006/main">
            <a:off x="4572000" y="5391150"/>
            <a:ext cx="304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50" b="0">
                <a:solidFill>
                  <a:srgbClr val="172033"/>
                </a:solidFill>
                <a:latin typeface="Arial"/>
                <a:ea typeface="Arial"/>
                <a:cs typeface="Arial"/>
              </a:defRPr>
            </a:pPr>
            <a:r>
              <a:rPr sz="1350" b="0">
                <a:solidFill>
                  <a:srgbClr val="172033"/>
                </a:solidFill>
                <a:latin typeface="Arial"/>
                <a:ea typeface="Arial"/>
                <a:cs typeface="Arial"/>
              </a:rPr>
              <a:t>The same artifacts applied to non-target systems</a:t>
            </a:r>
          </a:p>
        </p:txBody>
      </p:sp>
      <p:sp>
        <p:nvSpPr>
          <p:cNvPr id="21" name="">
            <a:extLst xmlns:a="http://schemas.openxmlformats.org/drawingml/2006/main">
              <a:ext uri="{FF2B5EF4-FFF2-40B4-BE49-F238E27FC236}">
                <a16:creationId xmlns:a16="http://schemas.microsoft.com/office/drawing/2014/main" id="{67DA1114-C657-4C88-BA6D-0A11C4C0C09D}"/>
              </a:ext>
            </a:extLst>
          </p:cNvPr>
          <p:cNvSpPr>
            <a:spLocks xmlns:a="http://schemas.openxmlformats.org/drawingml/2006/main" noGrp="1"/>
          </p:cNvSpPr>
          <p:nvPr/>
        </p:nvSpPr>
        <p:spPr>
          <a:xfrm xmlns:a="http://schemas.openxmlformats.org/drawingml/2006/main">
            <a:off x="8001000" y="4857750"/>
            <a:ext cx="3505200" cy="1104900"/>
          </a:xfrm>
          <a:prstGeom xmlns:a="http://schemas.openxmlformats.org/drawingml/2006/main" prst="roundRect">
            <a:avLst>
              <a:gd name="adj" fmla="val 12069"/>
            </a:avLst>
          </a:prstGeom>
          <a:solidFill xmlns:a="http://schemas.openxmlformats.org/drawingml/2006/main">
            <a:srgbClr val="E7F8F0"/>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28CECFA8-8A49-4567-8CE6-BD12F2E08422}"/>
              </a:ext>
            </a:extLst>
          </p:cNvPr>
          <p:cNvSpPr>
            <a:spLocks xmlns:a="http://schemas.openxmlformats.org/drawingml/2006/main" noGrp="1"/>
          </p:cNvSpPr>
          <p:nvPr/>
        </p:nvSpPr>
        <p:spPr>
          <a:xfrm xmlns:a="http://schemas.openxmlformats.org/drawingml/2006/main">
            <a:off x="8172450" y="5029200"/>
            <a:ext cx="3162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350" b="1">
                <a:solidFill>
                  <a:srgbClr val="087A50"/>
                </a:solidFill>
                <a:latin typeface="Arial"/>
                <a:ea typeface="Arial"/>
                <a:cs typeface="Arial"/>
              </a:defRPr>
            </a:pPr>
            <a:r>
              <a:rPr sz="1350" b="1">
                <a:solidFill>
                  <a:srgbClr val="087A50"/>
                </a:solidFill>
                <a:latin typeface="Arial"/>
                <a:ea typeface="Arial"/>
                <a:cs typeface="Arial"/>
              </a:rPr>
              <a:t>MODEL-AGNOSTIC</a:t>
            </a:r>
          </a:p>
        </p:txBody>
      </p:sp>
      <p:sp>
        <p:nvSpPr>
          <p:cNvPr id="23" name="">
            <a:extLst xmlns:a="http://schemas.openxmlformats.org/drawingml/2006/main">
              <a:ext uri="{FF2B5EF4-FFF2-40B4-BE49-F238E27FC236}">
                <a16:creationId xmlns:a16="http://schemas.microsoft.com/office/drawing/2014/main" id="{C604F757-AFD3-46F8-BFBF-FDE0793FAF4D}"/>
              </a:ext>
            </a:extLst>
          </p:cNvPr>
          <p:cNvSpPr>
            <a:spLocks xmlns:a="http://schemas.openxmlformats.org/drawingml/2006/main" noGrp="1"/>
          </p:cNvSpPr>
          <p:nvPr/>
        </p:nvSpPr>
        <p:spPr>
          <a:xfrm xmlns:a="http://schemas.openxmlformats.org/drawingml/2006/main">
            <a:off x="8229600" y="5391150"/>
            <a:ext cx="304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50" b="0">
                <a:solidFill>
                  <a:srgbClr val="172033"/>
                </a:solidFill>
                <a:latin typeface="Arial"/>
                <a:ea typeface="Arial"/>
                <a:cs typeface="Arial"/>
              </a:defRPr>
            </a:pPr>
            <a:r>
              <a:rPr sz="1350" b="0">
                <a:solidFill>
                  <a:srgbClr val="172033"/>
                </a:solidFill>
                <a:latin typeface="Arial"/>
                <a:ea typeface="Arial"/>
                <a:cs typeface="Arial"/>
              </a:rPr>
              <a:t>Color Shift and five anti-forensic transformations</a:t>
            </a:r>
          </a:p>
        </p:txBody>
      </p:sp>
    </p:spTree>
    <p:extLst>
      <p:ext uri="{BB962C8B-B14F-4D97-AF65-F5344CB8AC3E}">
        <p14:creationId xmlns:p14="http://schemas.microsoft.com/office/powerpoint/2010/main" val="850148102"/>
      </p:ext>
    </p:extLst>
  </p:cSld>
</p:sld>
</file>

<file path=ppt/slides/slide6.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81E6EA5E-1BA3-4F66-A39C-B36EC7546441}"/>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233A70"/>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030D2A4-C965-47CF-8557-481DDBF7BAD0}"/>
              </a:ext>
            </a:extLst>
          </p:cNvPr>
          <p:cNvSpPr>
            <a:spLocks xmlns:a="http://schemas.openxmlformats.org/drawingml/2006/main" noGrp="1"/>
          </p:cNvSpPr>
          <p:nvPr/>
        </p:nvSpPr>
        <p:spPr>
          <a:xfrm xmlns:a="http://schemas.openxmlformats.org/drawingml/2006/main">
            <a:off x="685800" y="43815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600" b="1">
                <a:solidFill>
                  <a:srgbClr val="233A70"/>
                </a:solidFill>
                <a:latin typeface="Arial"/>
                <a:ea typeface="Arial"/>
                <a:cs typeface="Arial"/>
              </a:defRPr>
            </a:pPr>
            <a:r>
              <a:rPr sz="3600" b="1">
                <a:solidFill>
                  <a:srgbClr val="233A70"/>
                </a:solidFill>
                <a:latin typeface="Arial"/>
                <a:ea typeface="Arial"/>
                <a:cs typeface="Arial"/>
              </a:rPr>
              <a:t>Explicit mappings enable comparison</a:t>
            </a:r>
          </a:p>
        </p:txBody>
      </p:sp>
      <p:sp>
        <p:nvSpPr>
          <p:cNvPr id="3" name="">
            <a:extLst xmlns:a="http://schemas.openxmlformats.org/drawingml/2006/main">
              <a:ext uri="{FF2B5EF4-FFF2-40B4-BE49-F238E27FC236}">
                <a16:creationId xmlns:a16="http://schemas.microsoft.com/office/drawing/2014/main" id="{574AC689-33AE-4188-BD30-A98CE3C1F13C}"/>
              </a:ext>
            </a:extLst>
          </p:cNvPr>
          <p:cNvSpPr>
            <a:spLocks xmlns:a="http://schemas.openxmlformats.org/drawingml/2006/main" noGrp="1"/>
          </p:cNvSpPr>
          <p:nvPr/>
        </p:nvSpPr>
        <p:spPr>
          <a:xfrm xmlns:a="http://schemas.openxmlformats.org/drawingml/2006/main">
            <a:off x="685800" y="1104900"/>
            <a:ext cx="10820400" cy="19050"/>
          </a:xfrm>
          <a:prstGeom xmlns:a="http://schemas.openxmlformats.org/drawingml/2006/main" prst="rect">
            <a:avLst/>
          </a:prstGeom>
          <a:solidFill xmlns:a="http://schemas.openxmlformats.org/drawingml/2006/main">
            <a:srgbClr val="D9DEE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89D44508-8BE4-44DA-A23D-C69ABEFD1038}"/>
              </a:ext>
            </a:extLst>
          </p:cNvPr>
          <p:cNvSpPr>
            <a:spLocks xmlns:a="http://schemas.openxmlformats.org/drawingml/2006/main" noGrp="1"/>
          </p:cNvSpPr>
          <p:nvPr/>
        </p:nvSpPr>
        <p:spPr>
          <a:xfrm xmlns:a="http://schemas.openxmlformats.org/drawingml/2006/main">
            <a:off x="685800" y="6524625"/>
            <a:ext cx="438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050" b="0">
                <a:solidFill>
                  <a:srgbClr val="5B6577"/>
                </a:solidFill>
                <a:latin typeface="Arial"/>
                <a:ea typeface="Arial"/>
                <a:cs typeface="Arial"/>
              </a:defRPr>
            </a:pPr>
            <a:r>
              <a:rPr sz="1050" b="0">
                <a:solidFill>
                  <a:srgbClr val="5B6577"/>
                </a:solidFill>
                <a:latin typeface="Arial"/>
                <a:ea typeface="Arial"/>
                <a:cs typeface="Arial"/>
              </a:rPr>
              <a:t>Lello Molinario  |  MSc Thesis Defense</a:t>
            </a:r>
          </a:p>
        </p:txBody>
      </p:sp>
      <p:sp>
        <p:nvSpPr>
          <p:cNvPr id="5" name="">
            <a:extLst xmlns:a="http://schemas.openxmlformats.org/drawingml/2006/main">
              <a:ext uri="{FF2B5EF4-FFF2-40B4-BE49-F238E27FC236}">
                <a16:creationId xmlns:a16="http://schemas.microsoft.com/office/drawing/2014/main" id="{9874DB88-CD45-410D-B418-22DA962B98FC}"/>
              </a:ext>
            </a:extLst>
          </p:cNvPr>
          <p:cNvSpPr>
            <a:spLocks xmlns:a="http://schemas.openxmlformats.org/drawingml/2006/main" noGrp="1"/>
          </p:cNvSpPr>
          <p:nvPr/>
        </p:nvSpPr>
        <p:spPr>
          <a:xfrm xmlns:a="http://schemas.openxmlformats.org/drawingml/2006/main">
            <a:off x="11049000" y="652462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050" b="0">
                <a:solidFill>
                  <a:srgbClr val="5B6577"/>
                </a:solidFill>
                <a:latin typeface="Arial"/>
                <a:ea typeface="Arial"/>
                <a:cs typeface="Arial"/>
              </a:defRPr>
            </a:pPr>
            <a:r>
              <a:rPr sz="1050" b="0">
                <a:solidFill>
                  <a:srgbClr val="5B6577"/>
                </a:solidFill>
                <a:latin typeface="Arial"/>
                <a:ea typeface="Arial"/>
                <a:cs typeface="Arial"/>
              </a:rPr>
              <a:t>06</a:t>
            </a:r>
          </a:p>
        </p:txBody>
      </p:sp>
      <p:sp>
        <p:nvSpPr>
          <p:cNvPr id="6" name="">
            <a:extLst xmlns:a="http://schemas.openxmlformats.org/drawingml/2006/main">
              <a:ext uri="{FF2B5EF4-FFF2-40B4-BE49-F238E27FC236}">
                <a16:creationId xmlns:a16="http://schemas.microsoft.com/office/drawing/2014/main" id="{C4E232F5-EA03-4FB1-8CD5-60017B2B3666}"/>
              </a:ext>
            </a:extLst>
          </p:cNvPr>
          <p:cNvSpPr>
            <a:spLocks xmlns:a="http://schemas.openxmlformats.org/drawingml/2006/main" noGrp="1"/>
          </p:cNvSpPr>
          <p:nvPr/>
        </p:nvSpPr>
        <p:spPr>
          <a:xfrm xmlns:a="http://schemas.openxmlformats.org/drawingml/2006/main">
            <a:off x="1733550" y="2266950"/>
            <a:ext cx="8724900" cy="57150"/>
          </a:xfrm>
          <a:prstGeom xmlns:a="http://schemas.openxmlformats.org/drawingml/2006/main" prst="rect">
            <a:avLst/>
          </a:prstGeom>
          <a:solidFill xmlns:a="http://schemas.openxmlformats.org/drawingml/2006/main">
            <a:srgbClr val="D9DEE8"/>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A546D0B0-58E3-4310-ABD1-CC65AA1F65B9}"/>
              </a:ext>
            </a:extLst>
          </p:cNvPr>
          <p:cNvSpPr>
            <a:spLocks xmlns:a="http://schemas.openxmlformats.org/drawingml/2006/main" noGrp="1"/>
          </p:cNvSpPr>
          <p:nvPr/>
        </p:nvSpPr>
        <p:spPr>
          <a:xfrm xmlns:a="http://schemas.openxmlformats.org/drawingml/2006/main">
            <a:off x="685800" y="1657350"/>
            <a:ext cx="2667000" cy="1257300"/>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9525">
            <a:solidFill>
              <a:srgbClr val="D9DEE8"/>
            </a:solidFill>
            <a:prstDash val="solid"/>
          </a:ln>
        </p:spPr>
      </p:sp>
      <p:sp>
        <p:nvSpPr>
          <p:cNvPr id="8" name="">
            <a:extLst xmlns:a="http://schemas.openxmlformats.org/drawingml/2006/main">
              <a:ext uri="{FF2B5EF4-FFF2-40B4-BE49-F238E27FC236}">
                <a16:creationId xmlns:a16="http://schemas.microsoft.com/office/drawing/2014/main" id="{A81CFEC4-5E35-4C15-A807-197F3453E411}"/>
              </a:ext>
            </a:extLst>
          </p:cNvPr>
          <p:cNvSpPr>
            <a:spLocks xmlns:a="http://schemas.openxmlformats.org/drawingml/2006/main" noGrp="1"/>
          </p:cNvSpPr>
          <p:nvPr/>
        </p:nvSpPr>
        <p:spPr>
          <a:xfrm xmlns:a="http://schemas.openxmlformats.org/drawingml/2006/main">
            <a:off x="857250" y="1885950"/>
            <a:ext cx="2324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650" b="1">
                <a:solidFill>
                  <a:srgbClr val="233A70"/>
                </a:solidFill>
                <a:latin typeface="Arial"/>
                <a:ea typeface="Arial"/>
                <a:cs typeface="Arial"/>
              </a:defRPr>
            </a:pPr>
            <a:r>
              <a:rPr sz="1650" b="1">
                <a:solidFill>
                  <a:srgbClr val="233A70"/>
                </a:solidFill>
                <a:latin typeface="Arial"/>
                <a:ea typeface="Arial"/>
                <a:cs typeface="Arial"/>
              </a:rPr>
              <a:t>Observable outputs</a:t>
            </a:r>
          </a:p>
        </p:txBody>
      </p:sp>
      <p:sp>
        <p:nvSpPr>
          <p:cNvPr id="9" name="">
            <a:extLst xmlns:a="http://schemas.openxmlformats.org/drawingml/2006/main">
              <a:ext uri="{FF2B5EF4-FFF2-40B4-BE49-F238E27FC236}">
                <a16:creationId xmlns:a16="http://schemas.microsoft.com/office/drawing/2014/main" id="{0C82864D-2992-412D-87C9-C8116242CB92}"/>
              </a:ext>
            </a:extLst>
          </p:cNvPr>
          <p:cNvSpPr>
            <a:spLocks xmlns:a="http://schemas.openxmlformats.org/drawingml/2006/main" noGrp="1"/>
          </p:cNvSpPr>
          <p:nvPr/>
        </p:nvSpPr>
        <p:spPr>
          <a:xfrm xmlns:a="http://schemas.openxmlformats.org/drawingml/2006/main">
            <a:off x="857250" y="2343150"/>
            <a:ext cx="2324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50" b="0">
                <a:solidFill>
                  <a:srgbClr val="5B6577"/>
                </a:solidFill>
                <a:latin typeface="Arial"/>
                <a:ea typeface="Arial"/>
                <a:cs typeface="Arial"/>
              </a:defRPr>
            </a:pPr>
            <a:r>
              <a:rPr sz="1350" b="0">
                <a:solidFill>
                  <a:srgbClr val="5B6577"/>
                </a:solidFill>
                <a:latin typeface="Arial"/>
                <a:ea typeface="Arial"/>
                <a:cs typeface="Arial"/>
              </a:rPr>
              <a:t>tags · bookmarks · labels · retrieval</a:t>
            </a:r>
          </a:p>
        </p:txBody>
      </p:sp>
      <p:sp>
        <p:nvSpPr>
          <p:cNvPr id="10" name="">
            <a:extLst xmlns:a="http://schemas.openxmlformats.org/drawingml/2006/main">
              <a:ext uri="{FF2B5EF4-FFF2-40B4-BE49-F238E27FC236}">
                <a16:creationId xmlns:a16="http://schemas.microsoft.com/office/drawing/2014/main" id="{52BB320A-88DF-4212-9748-1A81E55A6509}"/>
              </a:ext>
            </a:extLst>
          </p:cNvPr>
          <p:cNvSpPr>
            <a:spLocks xmlns:a="http://schemas.openxmlformats.org/drawingml/2006/main" noGrp="1"/>
          </p:cNvSpPr>
          <p:nvPr/>
        </p:nvSpPr>
        <p:spPr>
          <a:xfrm xmlns:a="http://schemas.openxmlformats.org/drawingml/2006/main">
            <a:off x="4762500" y="1657350"/>
            <a:ext cx="2667000" cy="1257300"/>
          </a:xfrm>
          <a:prstGeom xmlns:a="http://schemas.openxmlformats.org/drawingml/2006/main" prst="roundRect">
            <a:avLst>
              <a:gd name="adj" fmla="val 12121"/>
            </a:avLst>
          </a:prstGeom>
          <a:solidFill xmlns:a="http://schemas.openxmlformats.org/drawingml/2006/main">
            <a:srgbClr val="E9EEF8"/>
          </a:solidFill>
          <a:ln xmlns:a="http://schemas.openxmlformats.org/drawingml/2006/main" w="9525">
            <a:solidFill>
              <a:srgbClr val="E9EEF8"/>
            </a:solidFill>
            <a:prstDash val="solid"/>
          </a:ln>
        </p:spPr>
      </p:sp>
      <p:sp>
        <p:nvSpPr>
          <p:cNvPr id="11" name="">
            <a:extLst xmlns:a="http://schemas.openxmlformats.org/drawingml/2006/main">
              <a:ext uri="{FF2B5EF4-FFF2-40B4-BE49-F238E27FC236}">
                <a16:creationId xmlns:a16="http://schemas.microsoft.com/office/drawing/2014/main" id="{FD74F8E5-4D60-416B-B482-9CAE4E4D1E2F}"/>
              </a:ext>
            </a:extLst>
          </p:cNvPr>
          <p:cNvSpPr>
            <a:spLocks xmlns:a="http://schemas.openxmlformats.org/drawingml/2006/main" noGrp="1"/>
          </p:cNvSpPr>
          <p:nvPr/>
        </p:nvSpPr>
        <p:spPr>
          <a:xfrm xmlns:a="http://schemas.openxmlformats.org/drawingml/2006/main">
            <a:off x="4933950" y="1885950"/>
            <a:ext cx="2324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650" b="1">
                <a:solidFill>
                  <a:srgbClr val="233A70"/>
                </a:solidFill>
                <a:latin typeface="Arial"/>
                <a:ea typeface="Arial"/>
                <a:cs typeface="Arial"/>
              </a:defRPr>
            </a:pPr>
            <a:r>
              <a:rPr sz="1650" b="1">
                <a:solidFill>
                  <a:srgbClr val="233A70"/>
                </a:solidFill>
                <a:latin typeface="Arial"/>
                <a:ea typeface="Arial"/>
                <a:cs typeface="Arial"/>
              </a:rPr>
              <a:t>Output mapping</a:t>
            </a:r>
          </a:p>
        </p:txBody>
      </p:sp>
      <p:sp>
        <p:nvSpPr>
          <p:cNvPr id="12" name="">
            <a:extLst xmlns:a="http://schemas.openxmlformats.org/drawingml/2006/main">
              <a:ext uri="{FF2B5EF4-FFF2-40B4-BE49-F238E27FC236}">
                <a16:creationId xmlns:a16="http://schemas.microsoft.com/office/drawing/2014/main" id="{6EB043F8-9E47-4F79-A3FB-61719463254C}"/>
              </a:ext>
            </a:extLst>
          </p:cNvPr>
          <p:cNvSpPr>
            <a:spLocks xmlns:a="http://schemas.openxmlformats.org/drawingml/2006/main" noGrp="1"/>
          </p:cNvSpPr>
          <p:nvPr/>
        </p:nvSpPr>
        <p:spPr>
          <a:xfrm xmlns:a="http://schemas.openxmlformats.org/drawingml/2006/main">
            <a:off x="4933950" y="2343150"/>
            <a:ext cx="2324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50" b="0">
                <a:solidFill>
                  <a:srgbClr val="5B6577"/>
                </a:solidFill>
                <a:latin typeface="Arial"/>
                <a:ea typeface="Arial"/>
                <a:cs typeface="Arial"/>
              </a:defRPr>
            </a:pPr>
            <a:r>
              <a:rPr sz="1350" b="0">
                <a:solidFill>
                  <a:srgbClr val="5B6577"/>
                </a:solidFill>
                <a:latin typeface="Arial"/>
                <a:ea typeface="Arial"/>
                <a:cs typeface="Arial"/>
              </a:rPr>
              <a:t>version + configuration + export semantics</a:t>
            </a:r>
          </a:p>
        </p:txBody>
      </p:sp>
      <p:sp>
        <p:nvSpPr>
          <p:cNvPr id="13" name="">
            <a:extLst xmlns:a="http://schemas.openxmlformats.org/drawingml/2006/main">
              <a:ext uri="{FF2B5EF4-FFF2-40B4-BE49-F238E27FC236}">
                <a16:creationId xmlns:a16="http://schemas.microsoft.com/office/drawing/2014/main" id="{3BB1E76B-72A2-4DBC-842E-AEA144C0BA95}"/>
              </a:ext>
            </a:extLst>
          </p:cNvPr>
          <p:cNvSpPr>
            <a:spLocks xmlns:a="http://schemas.openxmlformats.org/drawingml/2006/main" noGrp="1"/>
          </p:cNvSpPr>
          <p:nvPr/>
        </p:nvSpPr>
        <p:spPr>
          <a:xfrm xmlns:a="http://schemas.openxmlformats.org/drawingml/2006/main">
            <a:off x="8839200" y="1657350"/>
            <a:ext cx="2667000" cy="1257300"/>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9525">
            <a:solidFill>
              <a:srgbClr val="D9DEE8"/>
            </a:solidFill>
            <a:prstDash val="solid"/>
          </a:ln>
        </p:spPr>
      </p:sp>
      <p:sp>
        <p:nvSpPr>
          <p:cNvPr id="14" name="">
            <a:extLst xmlns:a="http://schemas.openxmlformats.org/drawingml/2006/main">
              <a:ext uri="{FF2B5EF4-FFF2-40B4-BE49-F238E27FC236}">
                <a16:creationId xmlns:a16="http://schemas.microsoft.com/office/drawing/2014/main" id="{A556E7B6-FC90-493A-BF1D-397EFBDE7A22}"/>
              </a:ext>
            </a:extLst>
          </p:cNvPr>
          <p:cNvSpPr>
            <a:spLocks xmlns:a="http://schemas.openxmlformats.org/drawingml/2006/main" noGrp="1"/>
          </p:cNvSpPr>
          <p:nvPr/>
        </p:nvSpPr>
        <p:spPr>
          <a:xfrm xmlns:a="http://schemas.openxmlformats.org/drawingml/2006/main">
            <a:off x="9010650" y="1885950"/>
            <a:ext cx="2324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650" b="1">
                <a:solidFill>
                  <a:srgbClr val="233A70"/>
                </a:solidFill>
                <a:latin typeface="Arial"/>
                <a:ea typeface="Arial"/>
                <a:cs typeface="Arial"/>
              </a:defRPr>
            </a:pPr>
            <a:r>
              <a:rPr sz="1650" b="1">
                <a:solidFill>
                  <a:srgbClr val="233A70"/>
                </a:solidFill>
                <a:latin typeface="Arial"/>
                <a:ea typeface="Arial"/>
                <a:cs typeface="Arial"/>
              </a:rPr>
              <a:t>Operational states</a:t>
            </a:r>
          </a:p>
        </p:txBody>
      </p:sp>
      <p:sp>
        <p:nvSpPr>
          <p:cNvPr id="15" name="">
            <a:extLst xmlns:a="http://schemas.openxmlformats.org/drawingml/2006/main">
              <a:ext uri="{FF2B5EF4-FFF2-40B4-BE49-F238E27FC236}">
                <a16:creationId xmlns:a16="http://schemas.microsoft.com/office/drawing/2014/main" id="{7D3EA51E-91B9-4C0F-9EBE-F9DF968A206F}"/>
              </a:ext>
            </a:extLst>
          </p:cNvPr>
          <p:cNvSpPr>
            <a:spLocks xmlns:a="http://schemas.openxmlformats.org/drawingml/2006/main" noGrp="1"/>
          </p:cNvSpPr>
          <p:nvPr/>
        </p:nvSpPr>
        <p:spPr>
          <a:xfrm xmlns:a="http://schemas.openxmlformats.org/drawingml/2006/main">
            <a:off x="9010650" y="2343150"/>
            <a:ext cx="2324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50" b="0">
                <a:solidFill>
                  <a:srgbClr val="5B6577"/>
                </a:solidFill>
                <a:latin typeface="Arial"/>
                <a:ea typeface="Arial"/>
                <a:cs typeface="Arial"/>
              </a:defRPr>
            </a:pPr>
            <a:r>
              <a:rPr sz="1350" b="0">
                <a:solidFill>
                  <a:srgbClr val="5B6577"/>
                </a:solidFill>
                <a:latin typeface="Arial"/>
                <a:ea typeface="Arial"/>
                <a:cs typeface="Arial"/>
              </a:rPr>
              <a:t>weapon · non_weapon · unknown</a:t>
            </a:r>
          </a:p>
        </p:txBody>
      </p:sp>
      <p:sp>
        <p:nvSpPr>
          <p:cNvPr id="16" name="">
            <a:extLst xmlns:a="http://schemas.openxmlformats.org/drawingml/2006/main">
              <a:ext uri="{FF2B5EF4-FFF2-40B4-BE49-F238E27FC236}">
                <a16:creationId xmlns:a16="http://schemas.microsoft.com/office/drawing/2014/main" id="{4063CCF0-7B01-49ED-91C7-126039BFBC3F}"/>
              </a:ext>
            </a:extLst>
          </p:cNvPr>
          <p:cNvSpPr>
            <a:spLocks xmlns:a="http://schemas.openxmlformats.org/drawingml/2006/main" noGrp="1"/>
          </p:cNvSpPr>
          <p:nvPr/>
        </p:nvSpPr>
        <p:spPr>
          <a:xfrm xmlns:a="http://schemas.openxmlformats.org/drawingml/2006/main">
            <a:off x="3590925" y="1943100"/>
            <a:ext cx="8382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3450" b="1">
                <a:solidFill>
                  <a:srgbClr val="233A70"/>
                </a:solidFill>
                <a:latin typeface="Arial"/>
                <a:ea typeface="Arial"/>
                <a:cs typeface="Arial"/>
              </a:defRPr>
            </a:pPr>
            <a:r>
              <a:rPr sz="3450" b="1">
                <a:solidFill>
                  <a:srgbClr val="233A70"/>
                </a:solidFill>
                <a:latin typeface="Arial"/>
                <a:ea typeface="Arial"/>
                <a:cs typeface="Arial"/>
              </a:rPr>
              <a:t>→</a:t>
            </a:r>
          </a:p>
        </p:txBody>
      </p:sp>
      <p:sp>
        <p:nvSpPr>
          <p:cNvPr id="17" name="">
            <a:extLst xmlns:a="http://schemas.openxmlformats.org/drawingml/2006/main">
              <a:ext uri="{FF2B5EF4-FFF2-40B4-BE49-F238E27FC236}">
                <a16:creationId xmlns:a16="http://schemas.microsoft.com/office/drawing/2014/main" id="{2F1F406C-D78B-4AA1-80BA-9D9321429CEC}"/>
              </a:ext>
            </a:extLst>
          </p:cNvPr>
          <p:cNvSpPr>
            <a:spLocks xmlns:a="http://schemas.openxmlformats.org/drawingml/2006/main" noGrp="1"/>
          </p:cNvSpPr>
          <p:nvPr/>
        </p:nvSpPr>
        <p:spPr>
          <a:xfrm xmlns:a="http://schemas.openxmlformats.org/drawingml/2006/main">
            <a:off x="7667625" y="1943100"/>
            <a:ext cx="8382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3450" b="1">
                <a:solidFill>
                  <a:srgbClr val="233A70"/>
                </a:solidFill>
                <a:latin typeface="Arial"/>
                <a:ea typeface="Arial"/>
                <a:cs typeface="Arial"/>
              </a:defRPr>
            </a:pPr>
            <a:r>
              <a:rPr sz="3450" b="1">
                <a:solidFill>
                  <a:srgbClr val="233A70"/>
                </a:solidFill>
                <a:latin typeface="Arial"/>
                <a:ea typeface="Arial"/>
                <a:cs typeface="Arial"/>
              </a:rPr>
              <a:t>→</a:t>
            </a:r>
          </a:p>
        </p:txBody>
      </p:sp>
      <p:sp>
        <p:nvSpPr>
          <p:cNvPr id="18" name="">
            <a:extLst xmlns:a="http://schemas.openxmlformats.org/drawingml/2006/main">
              <a:ext uri="{FF2B5EF4-FFF2-40B4-BE49-F238E27FC236}">
                <a16:creationId xmlns:a16="http://schemas.microsoft.com/office/drawing/2014/main" id="{91253F60-E8B5-495D-AEBF-8CC9D8FD6960}"/>
              </a:ext>
            </a:extLst>
          </p:cNvPr>
          <p:cNvSpPr>
            <a:spLocks xmlns:a="http://schemas.openxmlformats.org/drawingml/2006/main" noGrp="1"/>
          </p:cNvSpPr>
          <p:nvPr/>
        </p:nvSpPr>
        <p:spPr>
          <a:xfrm xmlns:a="http://schemas.openxmlformats.org/drawingml/2006/main">
            <a:off x="1066800" y="3429000"/>
            <a:ext cx="409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425" b="1">
                <a:solidFill>
                  <a:srgbClr val="BE3C37"/>
                </a:solidFill>
                <a:latin typeface="Arial"/>
                <a:ea typeface="Arial"/>
                <a:cs typeface="Arial"/>
              </a:defRPr>
            </a:pPr>
            <a:r>
              <a:rPr sz="1425" b="1">
                <a:solidFill>
                  <a:srgbClr val="BE3C37"/>
                </a:solidFill>
                <a:latin typeface="Arial"/>
                <a:ea typeface="Arial"/>
                <a:cs typeface="Arial"/>
              </a:rPr>
              <a:t>MISSED-TARGET RISK</a:t>
            </a:r>
          </a:p>
        </p:txBody>
      </p:sp>
      <p:sp>
        <p:nvSpPr>
          <p:cNvPr id="19" name="">
            <a:extLst xmlns:a="http://schemas.openxmlformats.org/drawingml/2006/main">
              <a:ext uri="{FF2B5EF4-FFF2-40B4-BE49-F238E27FC236}">
                <a16:creationId xmlns:a16="http://schemas.microsoft.com/office/drawing/2014/main" id="{BC8311FB-C066-4072-B667-B34AD4D0E420}"/>
              </a:ext>
            </a:extLst>
          </p:cNvPr>
          <p:cNvSpPr>
            <a:spLocks xmlns:a="http://schemas.openxmlformats.org/drawingml/2006/main" noGrp="1"/>
          </p:cNvSpPr>
          <p:nvPr/>
        </p:nvSpPr>
        <p:spPr>
          <a:xfrm xmlns:a="http://schemas.openxmlformats.org/drawingml/2006/main">
            <a:off x="1066800" y="3829050"/>
            <a:ext cx="4095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4050" b="1">
                <a:solidFill>
                  <a:srgbClr val="BE3C37"/>
                </a:solidFill>
                <a:latin typeface="Arial"/>
                <a:ea typeface="Arial"/>
                <a:cs typeface="Arial"/>
              </a:defRPr>
            </a:pPr>
            <a:r>
              <a:rPr sz="4050" b="1">
                <a:solidFill>
                  <a:srgbClr val="BE3C37"/>
                </a:solidFill>
                <a:latin typeface="Arial"/>
                <a:ea typeface="Arial"/>
                <a:cs typeface="Arial"/>
              </a:rPr>
              <a:t>FNR</a:t>
            </a:r>
          </a:p>
        </p:txBody>
      </p:sp>
      <p:sp>
        <p:nvSpPr>
          <p:cNvPr id="20" name="">
            <a:extLst xmlns:a="http://schemas.openxmlformats.org/drawingml/2006/main">
              <a:ext uri="{FF2B5EF4-FFF2-40B4-BE49-F238E27FC236}">
                <a16:creationId xmlns:a16="http://schemas.microsoft.com/office/drawing/2014/main" id="{97D0AD05-5F40-433E-89C0-32EEE5F2F868}"/>
              </a:ext>
            </a:extLst>
          </p:cNvPr>
          <p:cNvSpPr>
            <a:spLocks xmlns:a="http://schemas.openxmlformats.org/drawingml/2006/main" noGrp="1"/>
          </p:cNvSpPr>
          <p:nvPr/>
        </p:nvSpPr>
        <p:spPr>
          <a:xfrm xmlns:a="http://schemas.openxmlformats.org/drawingml/2006/main">
            <a:off x="1066800" y="451485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b="1">
                <a:solidFill>
                  <a:srgbClr val="172033"/>
                </a:solidFill>
                <a:latin typeface="Arial"/>
                <a:ea typeface="Arial"/>
                <a:cs typeface="Arial"/>
              </a:defRPr>
            </a:pPr>
            <a:r>
              <a:rPr sz="1800" b="1">
                <a:solidFill>
                  <a:srgbClr val="172033"/>
                </a:solidFill>
                <a:latin typeface="Arial"/>
                <a:ea typeface="Arial"/>
                <a:cs typeface="Arial"/>
              </a:rPr>
              <a:t>weapon → non_weapon</a:t>
            </a:r>
          </a:p>
        </p:txBody>
      </p:sp>
      <p:sp>
        <p:nvSpPr>
          <p:cNvPr id="21" name="">
            <a:extLst xmlns:a="http://schemas.openxmlformats.org/drawingml/2006/main">
              <a:ext uri="{FF2B5EF4-FFF2-40B4-BE49-F238E27FC236}">
                <a16:creationId xmlns:a16="http://schemas.microsoft.com/office/drawing/2014/main" id="{5E474FE5-9B28-42E6-B688-9EA5D69086EE}"/>
              </a:ext>
            </a:extLst>
          </p:cNvPr>
          <p:cNvSpPr>
            <a:spLocks xmlns:a="http://schemas.openxmlformats.org/drawingml/2006/main" noGrp="1"/>
          </p:cNvSpPr>
          <p:nvPr/>
        </p:nvSpPr>
        <p:spPr>
          <a:xfrm xmlns:a="http://schemas.openxmlformats.org/drawingml/2006/main">
            <a:off x="6076950" y="3390900"/>
            <a:ext cx="28575" cy="1809750"/>
          </a:xfrm>
          <a:prstGeom xmlns:a="http://schemas.openxmlformats.org/drawingml/2006/main" prst="rect">
            <a:avLst/>
          </a:prstGeom>
          <a:solidFill xmlns:a="http://schemas.openxmlformats.org/drawingml/2006/main">
            <a:srgbClr val="D9DEE8"/>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A074807C-4784-4903-B750-5BECA1BD3546}"/>
              </a:ext>
            </a:extLst>
          </p:cNvPr>
          <p:cNvSpPr>
            <a:spLocks xmlns:a="http://schemas.openxmlformats.org/drawingml/2006/main" noGrp="1"/>
          </p:cNvSpPr>
          <p:nvPr/>
        </p:nvSpPr>
        <p:spPr>
          <a:xfrm xmlns:a="http://schemas.openxmlformats.org/drawingml/2006/main">
            <a:off x="7029450" y="3429000"/>
            <a:ext cx="409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425" b="1">
                <a:solidFill>
                  <a:srgbClr val="C89B14"/>
                </a:solidFill>
                <a:latin typeface="Arial"/>
                <a:ea typeface="Arial"/>
                <a:cs typeface="Arial"/>
              </a:defRPr>
            </a:pPr>
            <a:r>
              <a:rPr sz="1425" b="1">
                <a:solidFill>
                  <a:srgbClr val="C89B14"/>
                </a:solidFill>
                <a:latin typeface="Arial"/>
                <a:ea typeface="Arial"/>
                <a:cs typeface="Arial"/>
              </a:rPr>
              <a:t>REVIEW-WORKLOAD RISK</a:t>
            </a:r>
          </a:p>
        </p:txBody>
      </p:sp>
      <p:sp>
        <p:nvSpPr>
          <p:cNvPr id="23" name="">
            <a:extLst xmlns:a="http://schemas.openxmlformats.org/drawingml/2006/main">
              <a:ext uri="{FF2B5EF4-FFF2-40B4-BE49-F238E27FC236}">
                <a16:creationId xmlns:a16="http://schemas.microsoft.com/office/drawing/2014/main" id="{5FC9D189-EFC1-4DC8-81D2-005B26D5BFA5}"/>
              </a:ext>
            </a:extLst>
          </p:cNvPr>
          <p:cNvSpPr>
            <a:spLocks xmlns:a="http://schemas.openxmlformats.org/drawingml/2006/main" noGrp="1"/>
          </p:cNvSpPr>
          <p:nvPr/>
        </p:nvSpPr>
        <p:spPr>
          <a:xfrm xmlns:a="http://schemas.openxmlformats.org/drawingml/2006/main">
            <a:off x="7029450" y="3829050"/>
            <a:ext cx="4095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4050" b="1">
                <a:solidFill>
                  <a:srgbClr val="C89B14"/>
                </a:solidFill>
                <a:latin typeface="Arial"/>
                <a:ea typeface="Arial"/>
                <a:cs typeface="Arial"/>
              </a:defRPr>
            </a:pPr>
            <a:r>
              <a:rPr sz="4050" b="1">
                <a:solidFill>
                  <a:srgbClr val="C89B14"/>
                </a:solidFill>
                <a:latin typeface="Arial"/>
                <a:ea typeface="Arial"/>
                <a:cs typeface="Arial"/>
              </a:rPr>
              <a:t>FPR</a:t>
            </a:r>
          </a:p>
        </p:txBody>
      </p:sp>
      <p:sp>
        <p:nvSpPr>
          <p:cNvPr id="24" name="">
            <a:extLst xmlns:a="http://schemas.openxmlformats.org/drawingml/2006/main">
              <a:ext uri="{FF2B5EF4-FFF2-40B4-BE49-F238E27FC236}">
                <a16:creationId xmlns:a16="http://schemas.microsoft.com/office/drawing/2014/main" id="{C1CE03FA-0D68-42C1-89E8-C743E7BB7F52}"/>
              </a:ext>
            </a:extLst>
          </p:cNvPr>
          <p:cNvSpPr>
            <a:spLocks xmlns:a="http://schemas.openxmlformats.org/drawingml/2006/main" noGrp="1"/>
          </p:cNvSpPr>
          <p:nvPr/>
        </p:nvSpPr>
        <p:spPr>
          <a:xfrm xmlns:a="http://schemas.openxmlformats.org/drawingml/2006/main">
            <a:off x="7029450" y="451485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b="1">
                <a:solidFill>
                  <a:srgbClr val="172033"/>
                </a:solidFill>
                <a:latin typeface="Arial"/>
                <a:ea typeface="Arial"/>
                <a:cs typeface="Arial"/>
              </a:defRPr>
            </a:pPr>
            <a:r>
              <a:rPr sz="1800" b="1">
                <a:solidFill>
                  <a:srgbClr val="172033"/>
                </a:solidFill>
                <a:latin typeface="Arial"/>
                <a:ea typeface="Arial"/>
                <a:cs typeface="Arial"/>
              </a:rPr>
              <a:t>non_weapon → weapon</a:t>
            </a:r>
          </a:p>
        </p:txBody>
      </p:sp>
      <p:sp>
        <p:nvSpPr>
          <p:cNvPr id="25" name="">
            <a:extLst xmlns:a="http://schemas.openxmlformats.org/drawingml/2006/main">
              <a:ext uri="{FF2B5EF4-FFF2-40B4-BE49-F238E27FC236}">
                <a16:creationId xmlns:a16="http://schemas.microsoft.com/office/drawing/2014/main" id="{679C6CA1-E422-4B3D-A1C4-68A1B04782DB}"/>
              </a:ext>
            </a:extLst>
          </p:cNvPr>
          <p:cNvSpPr>
            <a:spLocks xmlns:a="http://schemas.openxmlformats.org/drawingml/2006/main" noGrp="1"/>
          </p:cNvSpPr>
          <p:nvPr/>
        </p:nvSpPr>
        <p:spPr>
          <a:xfrm xmlns:a="http://schemas.openxmlformats.org/drawingml/2006/main">
            <a:off x="1790700" y="5429250"/>
            <a:ext cx="8610600" cy="552450"/>
          </a:xfrm>
          <a:prstGeom xmlns:a="http://schemas.openxmlformats.org/drawingml/2006/main" prst="roundRect">
            <a:avLst>
              <a:gd name="adj" fmla="val 24138"/>
            </a:avLst>
          </a:prstGeom>
          <a:solidFill xmlns:a="http://schemas.openxmlformats.org/drawingml/2006/main">
            <a:srgbClr val="E7F8F0"/>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9AC02F13-9E37-4088-8708-E1F14BE825A7}"/>
              </a:ext>
            </a:extLst>
          </p:cNvPr>
          <p:cNvSpPr>
            <a:spLocks xmlns:a="http://schemas.openxmlformats.org/drawingml/2006/main" noGrp="1"/>
          </p:cNvSpPr>
          <p:nvPr/>
        </p:nvSpPr>
        <p:spPr>
          <a:xfrm xmlns:a="http://schemas.openxmlformats.org/drawingml/2006/main">
            <a:off x="2038350" y="5581650"/>
            <a:ext cx="8115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350" b="1">
                <a:solidFill>
                  <a:srgbClr val="087A50"/>
                </a:solidFill>
                <a:latin typeface="Arial"/>
                <a:ea typeface="Arial"/>
                <a:cs typeface="Arial"/>
              </a:defRPr>
            </a:pPr>
            <a:r>
              <a:rPr sz="1350" b="1">
                <a:solidFill>
                  <a:srgbClr val="087A50"/>
                </a:solidFill>
                <a:latin typeface="Arial"/>
                <a:ea typeface="Arial"/>
                <a:cs typeface="Arial"/>
              </a:rPr>
              <a:t>OOD weapon-assignment rate is reported separately; no unknown state occurred in 69,000 normalized decisions.</a:t>
            </a:r>
          </a:p>
        </p:txBody>
      </p:sp>
    </p:spTree>
    <p:extLst>
      <p:ext uri="{BB962C8B-B14F-4D97-AF65-F5344CB8AC3E}">
        <p14:creationId xmlns:p14="http://schemas.microsoft.com/office/powerpoint/2010/main" val="2021984151"/>
      </p:ext>
    </p:extLst>
  </p:cSld>
</p:sld>
</file>

<file path=ppt/slides/slide7.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B682DB6E-8EFB-4DA0-800D-68D826B18319}"/>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233A70"/>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C2FB14A-91A6-468C-9FBC-56EB8791369E}"/>
              </a:ext>
            </a:extLst>
          </p:cNvPr>
          <p:cNvSpPr>
            <a:spLocks xmlns:a="http://schemas.openxmlformats.org/drawingml/2006/main" noGrp="1"/>
          </p:cNvSpPr>
          <p:nvPr/>
        </p:nvSpPr>
        <p:spPr>
          <a:xfrm xmlns:a="http://schemas.openxmlformats.org/drawingml/2006/main">
            <a:off x="685800" y="43815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600" b="1">
                <a:solidFill>
                  <a:srgbClr val="233A70"/>
                </a:solidFill>
                <a:latin typeface="Arial"/>
                <a:ea typeface="Arial"/>
                <a:cs typeface="Arial"/>
              </a:defRPr>
            </a:pPr>
            <a:r>
              <a:rPr sz="3600" b="1">
                <a:solidFill>
                  <a:srgbClr val="233A70"/>
                </a:solidFill>
                <a:latin typeface="Arial"/>
                <a:ea typeface="Arial"/>
                <a:cs typeface="Arial"/>
              </a:rPr>
              <a:t>Direct-target collapse did not transfer uniformly</a:t>
            </a:r>
          </a:p>
        </p:txBody>
      </p:sp>
      <p:sp>
        <p:nvSpPr>
          <p:cNvPr id="3" name="">
            <a:extLst xmlns:a="http://schemas.openxmlformats.org/drawingml/2006/main">
              <a:ext uri="{FF2B5EF4-FFF2-40B4-BE49-F238E27FC236}">
                <a16:creationId xmlns:a16="http://schemas.microsoft.com/office/drawing/2014/main" id="{C191ECC7-CDAF-4D9F-AF0A-FC4F6D1F8648}"/>
              </a:ext>
            </a:extLst>
          </p:cNvPr>
          <p:cNvSpPr>
            <a:spLocks xmlns:a="http://schemas.openxmlformats.org/drawingml/2006/main" noGrp="1"/>
          </p:cNvSpPr>
          <p:nvPr/>
        </p:nvSpPr>
        <p:spPr>
          <a:xfrm xmlns:a="http://schemas.openxmlformats.org/drawingml/2006/main">
            <a:off x="685800" y="1104900"/>
            <a:ext cx="10820400" cy="19050"/>
          </a:xfrm>
          <a:prstGeom xmlns:a="http://schemas.openxmlformats.org/drawingml/2006/main" prst="rect">
            <a:avLst/>
          </a:prstGeom>
          <a:solidFill xmlns:a="http://schemas.openxmlformats.org/drawingml/2006/main">
            <a:srgbClr val="D9DEE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44E86AFB-EC30-4BB1-A97A-884CD498C0D2}"/>
              </a:ext>
            </a:extLst>
          </p:cNvPr>
          <p:cNvSpPr>
            <a:spLocks xmlns:a="http://schemas.openxmlformats.org/drawingml/2006/main" noGrp="1"/>
          </p:cNvSpPr>
          <p:nvPr/>
        </p:nvSpPr>
        <p:spPr>
          <a:xfrm xmlns:a="http://schemas.openxmlformats.org/drawingml/2006/main">
            <a:off x="685800" y="6524625"/>
            <a:ext cx="438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050" b="0">
                <a:solidFill>
                  <a:srgbClr val="5B6577"/>
                </a:solidFill>
                <a:latin typeface="Arial"/>
                <a:ea typeface="Arial"/>
                <a:cs typeface="Arial"/>
              </a:defRPr>
            </a:pPr>
            <a:r>
              <a:rPr sz="1050" b="0">
                <a:solidFill>
                  <a:srgbClr val="5B6577"/>
                </a:solidFill>
                <a:latin typeface="Arial"/>
                <a:ea typeface="Arial"/>
                <a:cs typeface="Arial"/>
              </a:rPr>
              <a:t>Lello Molinario  |  MSc Thesis Defense</a:t>
            </a:r>
          </a:p>
        </p:txBody>
      </p:sp>
      <p:sp>
        <p:nvSpPr>
          <p:cNvPr id="5" name="">
            <a:extLst xmlns:a="http://schemas.openxmlformats.org/drawingml/2006/main">
              <a:ext uri="{FF2B5EF4-FFF2-40B4-BE49-F238E27FC236}">
                <a16:creationId xmlns:a16="http://schemas.microsoft.com/office/drawing/2014/main" id="{B1BC9993-142B-4F39-8B3D-F8FBFA603617}"/>
              </a:ext>
            </a:extLst>
          </p:cNvPr>
          <p:cNvSpPr>
            <a:spLocks xmlns:a="http://schemas.openxmlformats.org/drawingml/2006/main" noGrp="1"/>
          </p:cNvSpPr>
          <p:nvPr/>
        </p:nvSpPr>
        <p:spPr>
          <a:xfrm xmlns:a="http://schemas.openxmlformats.org/drawingml/2006/main">
            <a:off x="11049000" y="652462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050" b="0">
                <a:solidFill>
                  <a:srgbClr val="5B6577"/>
                </a:solidFill>
                <a:latin typeface="Arial"/>
                <a:ea typeface="Arial"/>
                <a:cs typeface="Arial"/>
              </a:defRPr>
            </a:pPr>
            <a:r>
              <a:rPr sz="1050" b="0">
                <a:solidFill>
                  <a:srgbClr val="5B6577"/>
                </a:solidFill>
                <a:latin typeface="Arial"/>
                <a:ea typeface="Arial"/>
                <a:cs typeface="Arial"/>
              </a:rPr>
              <a:t>07</a:t>
            </a:r>
          </a:p>
        </p:txBody>
      </p:sp>
      <p:sp>
        <p:nvSpPr>
          <p:cNvPr id="6" name="">
            <a:extLst xmlns:a="http://schemas.openxmlformats.org/drawingml/2006/main">
              <a:ext uri="{FF2B5EF4-FFF2-40B4-BE49-F238E27FC236}">
                <a16:creationId xmlns:a16="http://schemas.microsoft.com/office/drawing/2014/main" id="{16658F52-9BE9-415C-BF14-A5CB15AB43AB}"/>
              </a:ext>
            </a:extLst>
          </p:cNvPr>
          <p:cNvSpPr>
            <a:spLocks xmlns:a="http://schemas.openxmlformats.org/drawingml/2006/main" noGrp="1"/>
          </p:cNvSpPr>
          <p:nvPr/>
        </p:nvSpPr>
        <p:spPr>
          <a:xfrm xmlns:a="http://schemas.openxmlformats.org/drawingml/2006/main">
            <a:off x="685800" y="1257300"/>
            <a:ext cx="10820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350" b="0">
                <a:solidFill>
                  <a:srgbClr val="5B6577"/>
                </a:solidFill>
                <a:latin typeface="Arial"/>
                <a:ea typeface="Arial"/>
                <a:cs typeface="Arial"/>
              </a:defRPr>
            </a:pPr>
            <a:r>
              <a:rPr sz="1350" b="0">
                <a:solidFill>
                  <a:srgbClr val="5B6577"/>
                </a:solidFill>
                <a:latin typeface="Arial"/>
                <a:ea typeface="Arial"/>
                <a:cs typeface="Arial"/>
              </a:rPr>
              <a:t>Worst observed adversarial condition per proxy; attacks were optimized only for EfficientNet-B0</a:t>
            </a:r>
          </a:p>
        </p:txBody>
      </p:sp>
      <p:sp>
        <p:nvSpPr>
          <p:cNvPr id="7" name="">
            <a:extLst xmlns:a="http://schemas.openxmlformats.org/drawingml/2006/main">
              <a:ext uri="{FF2B5EF4-FFF2-40B4-BE49-F238E27FC236}">
                <a16:creationId xmlns:a16="http://schemas.microsoft.com/office/drawing/2014/main" id="{56AE85E9-0E8F-4E95-8EC0-7B131EEDAC00}"/>
              </a:ext>
            </a:extLst>
          </p:cNvPr>
          <p:cNvSpPr>
            <a:spLocks xmlns:a="http://schemas.openxmlformats.org/drawingml/2006/main" noGrp="1"/>
          </p:cNvSpPr>
          <p:nvPr/>
        </p:nvSpPr>
        <p:spPr>
          <a:xfrm xmlns:a="http://schemas.openxmlformats.org/drawingml/2006/main">
            <a:off x="685800" y="1676400"/>
            <a:ext cx="3333750" cy="3695700"/>
          </a:xfrm>
          <a:prstGeom xmlns:a="http://schemas.openxmlformats.org/drawingml/2006/main" prst="roundRect">
            <a:avLst>
              <a:gd name="adj" fmla="val 5143"/>
            </a:avLst>
          </a:prstGeom>
          <a:solidFill xmlns:a="http://schemas.openxmlformats.org/drawingml/2006/main">
            <a:srgbClr val="FFFFFF"/>
          </a:solidFill>
          <a:ln xmlns:a="http://schemas.openxmlformats.org/drawingml/2006/main" w="9525">
            <a:solidFill>
              <a:srgbClr val="D9DEE8"/>
            </a:solidFill>
            <a:prstDash val="solid"/>
          </a:ln>
        </p:spPr>
      </p:sp>
      <p:sp>
        <p:nvSpPr>
          <p:cNvPr id="8" name="">
            <a:extLst xmlns:a="http://schemas.openxmlformats.org/drawingml/2006/main">
              <a:ext uri="{FF2B5EF4-FFF2-40B4-BE49-F238E27FC236}">
                <a16:creationId xmlns:a16="http://schemas.microsoft.com/office/drawing/2014/main" id="{9577C2D9-78D1-4F27-ABC7-FD9633E30F4D}"/>
              </a:ext>
            </a:extLst>
          </p:cNvPr>
          <p:cNvSpPr>
            <a:spLocks xmlns:a="http://schemas.openxmlformats.org/drawingml/2006/main" noGrp="1"/>
          </p:cNvSpPr>
          <p:nvPr/>
        </p:nvSpPr>
        <p:spPr>
          <a:xfrm xmlns:a="http://schemas.openxmlformats.org/drawingml/2006/main">
            <a:off x="876300" y="190500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725" b="1">
                <a:solidFill>
                  <a:srgbClr val="233A70"/>
                </a:solidFill>
                <a:latin typeface="Arial"/>
                <a:ea typeface="Arial"/>
                <a:cs typeface="Arial"/>
              </a:defRPr>
            </a:pPr>
            <a:r>
              <a:rPr sz="1725" b="1">
                <a:solidFill>
                  <a:srgbClr val="233A70"/>
                </a:solidFill>
                <a:latin typeface="Arial"/>
                <a:ea typeface="Arial"/>
                <a:cs typeface="Arial"/>
              </a:rPr>
              <a:t>EfficientNet-B0</a:t>
            </a:r>
          </a:p>
        </p:txBody>
      </p:sp>
      <p:sp>
        <p:nvSpPr>
          <p:cNvPr id="9" name="">
            <a:extLst xmlns:a="http://schemas.openxmlformats.org/drawingml/2006/main">
              <a:ext uri="{FF2B5EF4-FFF2-40B4-BE49-F238E27FC236}">
                <a16:creationId xmlns:a16="http://schemas.microsoft.com/office/drawing/2014/main" id="{2E82C4FA-E336-46EA-9A84-371A09CA3AEA}"/>
              </a:ext>
            </a:extLst>
          </p:cNvPr>
          <p:cNvSpPr>
            <a:spLocks xmlns:a="http://schemas.openxmlformats.org/drawingml/2006/main" noGrp="1"/>
          </p:cNvSpPr>
          <p:nvPr/>
        </p:nvSpPr>
        <p:spPr>
          <a:xfrm xmlns:a="http://schemas.openxmlformats.org/drawingml/2006/main">
            <a:off x="876300" y="2438400"/>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200" b="1">
                <a:solidFill>
                  <a:srgbClr val="5B6577"/>
                </a:solidFill>
                <a:latin typeface="Arial"/>
                <a:ea typeface="Arial"/>
                <a:cs typeface="Arial"/>
              </a:defRPr>
            </a:pPr>
            <a:r>
              <a:rPr sz="1200" b="1">
                <a:solidFill>
                  <a:srgbClr val="5B6577"/>
                </a:solidFill>
                <a:latin typeface="Arial"/>
                <a:ea typeface="Arial"/>
                <a:cs typeface="Arial"/>
              </a:rPr>
              <a:t>CLEAN</a:t>
            </a:r>
          </a:p>
        </p:txBody>
      </p:sp>
      <p:sp>
        <p:nvSpPr>
          <p:cNvPr id="10" name="">
            <a:extLst xmlns:a="http://schemas.openxmlformats.org/drawingml/2006/main">
              <a:ext uri="{FF2B5EF4-FFF2-40B4-BE49-F238E27FC236}">
                <a16:creationId xmlns:a16="http://schemas.microsoft.com/office/drawing/2014/main" id="{70F2D2A0-02D8-4A6B-9903-BE856DE2D296}"/>
              </a:ext>
            </a:extLst>
          </p:cNvPr>
          <p:cNvSpPr>
            <a:spLocks xmlns:a="http://schemas.openxmlformats.org/drawingml/2006/main" noGrp="1"/>
          </p:cNvSpPr>
          <p:nvPr/>
        </p:nvSpPr>
        <p:spPr>
          <a:xfrm xmlns:a="http://schemas.openxmlformats.org/drawingml/2006/main">
            <a:off x="876300" y="2724150"/>
            <a:ext cx="295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3150" b="1">
                <a:solidFill>
                  <a:srgbClr val="233A70"/>
                </a:solidFill>
                <a:latin typeface="Arial"/>
                <a:ea typeface="Arial"/>
                <a:cs typeface="Arial"/>
              </a:defRPr>
            </a:pPr>
            <a:r>
              <a:rPr sz="3150" b="1">
                <a:solidFill>
                  <a:srgbClr val="233A70"/>
                </a:solidFill>
                <a:latin typeface="Arial"/>
                <a:ea typeface="Arial"/>
                <a:cs typeface="Arial"/>
              </a:rPr>
              <a:t>97.8%</a:t>
            </a:r>
          </a:p>
        </p:txBody>
      </p:sp>
      <p:sp>
        <p:nvSpPr>
          <p:cNvPr id="11" name="">
            <a:extLst xmlns:a="http://schemas.openxmlformats.org/drawingml/2006/main">
              <a:ext uri="{FF2B5EF4-FFF2-40B4-BE49-F238E27FC236}">
                <a16:creationId xmlns:a16="http://schemas.microsoft.com/office/drawing/2014/main" id="{49D9FAB2-354F-4D6E-AEB6-D07E9821938A}"/>
              </a:ext>
            </a:extLst>
          </p:cNvPr>
          <p:cNvSpPr>
            <a:spLocks xmlns:a="http://schemas.openxmlformats.org/drawingml/2006/main" noGrp="1"/>
          </p:cNvSpPr>
          <p:nvPr/>
        </p:nvSpPr>
        <p:spPr>
          <a:xfrm xmlns:a="http://schemas.openxmlformats.org/drawingml/2006/main">
            <a:off x="1905000" y="3257550"/>
            <a:ext cx="8953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850" b="1">
                <a:solidFill>
                  <a:srgbClr val="BE3C37"/>
                </a:solidFill>
                <a:latin typeface="Arial"/>
                <a:ea typeface="Arial"/>
                <a:cs typeface="Arial"/>
              </a:defRPr>
            </a:pPr>
            <a:r>
              <a:rPr sz="2850" b="1">
                <a:solidFill>
                  <a:srgbClr val="BE3C37"/>
                </a:solidFill>
                <a:latin typeface="Arial"/>
                <a:ea typeface="Arial"/>
                <a:cs typeface="Arial"/>
              </a:rPr>
              <a:t>↓</a:t>
            </a:r>
          </a:p>
        </p:txBody>
      </p:sp>
      <p:sp>
        <p:nvSpPr>
          <p:cNvPr id="12" name="">
            <a:extLst xmlns:a="http://schemas.openxmlformats.org/drawingml/2006/main">
              <a:ext uri="{FF2B5EF4-FFF2-40B4-BE49-F238E27FC236}">
                <a16:creationId xmlns:a16="http://schemas.microsoft.com/office/drawing/2014/main" id="{F996CD3D-5C3A-40B2-A13D-7A62926E9BE4}"/>
              </a:ext>
            </a:extLst>
          </p:cNvPr>
          <p:cNvSpPr>
            <a:spLocks xmlns:a="http://schemas.openxmlformats.org/drawingml/2006/main" noGrp="1"/>
          </p:cNvSpPr>
          <p:nvPr/>
        </p:nvSpPr>
        <p:spPr>
          <a:xfrm xmlns:a="http://schemas.openxmlformats.org/drawingml/2006/main">
            <a:off x="2762250" y="3333750"/>
            <a:ext cx="1066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275" b="1">
                <a:solidFill>
                  <a:srgbClr val="BE3C37"/>
                </a:solidFill>
                <a:latin typeface="Arial"/>
                <a:ea typeface="Arial"/>
                <a:cs typeface="Arial"/>
              </a:defRPr>
            </a:pPr>
            <a:r>
              <a:rPr sz="1275" b="1">
                <a:solidFill>
                  <a:srgbClr val="BE3C37"/>
                </a:solidFill>
                <a:latin typeface="Arial"/>
                <a:ea typeface="Arial"/>
                <a:cs typeface="Arial"/>
              </a:rPr>
              <a:t>−96.3 pp</a:t>
            </a:r>
          </a:p>
        </p:txBody>
      </p:sp>
      <p:sp>
        <p:nvSpPr>
          <p:cNvPr id="13" name="">
            <a:extLst xmlns:a="http://schemas.openxmlformats.org/drawingml/2006/main">
              <a:ext uri="{FF2B5EF4-FFF2-40B4-BE49-F238E27FC236}">
                <a16:creationId xmlns:a16="http://schemas.microsoft.com/office/drawing/2014/main" id="{A0E55963-0CB1-4969-8E2A-F4EB81ADF8D4}"/>
              </a:ext>
            </a:extLst>
          </p:cNvPr>
          <p:cNvSpPr>
            <a:spLocks xmlns:a="http://schemas.openxmlformats.org/drawingml/2006/main" noGrp="1"/>
          </p:cNvSpPr>
          <p:nvPr/>
        </p:nvSpPr>
        <p:spPr>
          <a:xfrm xmlns:a="http://schemas.openxmlformats.org/drawingml/2006/main">
            <a:off x="876300" y="3752850"/>
            <a:ext cx="2952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3225" b="1">
                <a:solidFill>
                  <a:srgbClr val="BE3C37"/>
                </a:solidFill>
                <a:latin typeface="Arial"/>
                <a:ea typeface="Arial"/>
                <a:cs typeface="Arial"/>
              </a:defRPr>
            </a:pPr>
            <a:r>
              <a:rPr sz="3225" b="1">
                <a:solidFill>
                  <a:srgbClr val="BE3C37"/>
                </a:solidFill>
                <a:latin typeface="Arial"/>
                <a:ea typeface="Arial"/>
                <a:cs typeface="Arial"/>
              </a:rPr>
              <a:t>1.5%</a:t>
            </a:r>
          </a:p>
        </p:txBody>
      </p:sp>
      <p:sp>
        <p:nvSpPr>
          <p:cNvPr id="14" name="">
            <a:extLst xmlns:a="http://schemas.openxmlformats.org/drawingml/2006/main">
              <a:ext uri="{FF2B5EF4-FFF2-40B4-BE49-F238E27FC236}">
                <a16:creationId xmlns:a16="http://schemas.microsoft.com/office/drawing/2014/main" id="{BF5BB6F7-3575-4024-AC7F-C44206587777}"/>
              </a:ext>
            </a:extLst>
          </p:cNvPr>
          <p:cNvSpPr>
            <a:spLocks xmlns:a="http://schemas.openxmlformats.org/drawingml/2006/main" noGrp="1"/>
          </p:cNvSpPr>
          <p:nvPr/>
        </p:nvSpPr>
        <p:spPr>
          <a:xfrm xmlns:a="http://schemas.openxmlformats.org/drawingml/2006/main">
            <a:off x="1019175" y="4514850"/>
            <a:ext cx="2667000" cy="552450"/>
          </a:xfrm>
          <a:prstGeom xmlns:a="http://schemas.openxmlformats.org/drawingml/2006/main" prst="roundRect">
            <a:avLst>
              <a:gd name="adj" fmla="val 20690"/>
            </a:avLst>
          </a:prstGeom>
          <a:solidFill xmlns:a="http://schemas.openxmlformats.org/drawingml/2006/main">
            <a:srgbClr val="FBEAEA"/>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AE6018B9-C8AD-41A8-89CA-38D39F49C678}"/>
              </a:ext>
            </a:extLst>
          </p:cNvPr>
          <p:cNvSpPr>
            <a:spLocks xmlns:a="http://schemas.openxmlformats.org/drawingml/2006/main" noGrp="1"/>
          </p:cNvSpPr>
          <p:nvPr/>
        </p:nvSpPr>
        <p:spPr>
          <a:xfrm xmlns:a="http://schemas.openxmlformats.org/drawingml/2006/main">
            <a:off x="1190625" y="4667250"/>
            <a:ext cx="2324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350" b="1">
                <a:solidFill>
                  <a:srgbClr val="BE3C37"/>
                </a:solidFill>
                <a:latin typeface="Arial"/>
                <a:ea typeface="Arial"/>
                <a:cs typeface="Arial"/>
              </a:defRPr>
            </a:pPr>
            <a:r>
              <a:rPr sz="1350" b="1">
                <a:solidFill>
                  <a:srgbClr val="BE3C37"/>
                </a:solidFill>
                <a:latin typeface="Arial"/>
                <a:ea typeface="Arial"/>
                <a:cs typeface="Arial"/>
              </a:rPr>
              <a:t>Sigma Zero · direct</a:t>
            </a:r>
          </a:p>
        </p:txBody>
      </p:sp>
      <p:sp>
        <p:nvSpPr>
          <p:cNvPr id="16" name="">
            <a:extLst xmlns:a="http://schemas.openxmlformats.org/drawingml/2006/main">
              <a:ext uri="{FF2B5EF4-FFF2-40B4-BE49-F238E27FC236}">
                <a16:creationId xmlns:a16="http://schemas.microsoft.com/office/drawing/2014/main" id="{9E2BCEBA-C7B6-438A-99BD-F49CB0486D2F}"/>
              </a:ext>
            </a:extLst>
          </p:cNvPr>
          <p:cNvSpPr>
            <a:spLocks xmlns:a="http://schemas.openxmlformats.org/drawingml/2006/main" noGrp="1"/>
          </p:cNvSpPr>
          <p:nvPr/>
        </p:nvSpPr>
        <p:spPr>
          <a:xfrm xmlns:a="http://schemas.openxmlformats.org/drawingml/2006/main">
            <a:off x="4429125" y="1676400"/>
            <a:ext cx="3333750" cy="3695700"/>
          </a:xfrm>
          <a:prstGeom xmlns:a="http://schemas.openxmlformats.org/drawingml/2006/main" prst="roundRect">
            <a:avLst>
              <a:gd name="adj" fmla="val 5143"/>
            </a:avLst>
          </a:prstGeom>
          <a:solidFill xmlns:a="http://schemas.openxmlformats.org/drawingml/2006/main">
            <a:srgbClr val="FFFFFF"/>
          </a:solidFill>
          <a:ln xmlns:a="http://schemas.openxmlformats.org/drawingml/2006/main" w="9525">
            <a:solidFill>
              <a:srgbClr val="D9DEE8"/>
            </a:solidFill>
            <a:prstDash val="solid"/>
          </a:ln>
        </p:spPr>
      </p:sp>
      <p:sp>
        <p:nvSpPr>
          <p:cNvPr id="17" name="">
            <a:extLst xmlns:a="http://schemas.openxmlformats.org/drawingml/2006/main">
              <a:ext uri="{FF2B5EF4-FFF2-40B4-BE49-F238E27FC236}">
                <a16:creationId xmlns:a16="http://schemas.microsoft.com/office/drawing/2014/main" id="{394FB914-142B-4176-B281-5AF8EAC4DD42}"/>
              </a:ext>
            </a:extLst>
          </p:cNvPr>
          <p:cNvSpPr>
            <a:spLocks xmlns:a="http://schemas.openxmlformats.org/drawingml/2006/main" noGrp="1"/>
          </p:cNvSpPr>
          <p:nvPr/>
        </p:nvSpPr>
        <p:spPr>
          <a:xfrm xmlns:a="http://schemas.openxmlformats.org/drawingml/2006/main">
            <a:off x="4619625" y="190500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725" b="1">
                <a:solidFill>
                  <a:srgbClr val="233A70"/>
                </a:solidFill>
                <a:latin typeface="Arial"/>
                <a:ea typeface="Arial"/>
                <a:cs typeface="Arial"/>
              </a:defRPr>
            </a:pPr>
            <a:r>
              <a:rPr sz="1725" b="1">
                <a:solidFill>
                  <a:srgbClr val="233A70"/>
                </a:solidFill>
                <a:latin typeface="Arial"/>
                <a:ea typeface="Arial"/>
                <a:cs typeface="Arial"/>
              </a:rPr>
              <a:t>ResNet18</a:t>
            </a:r>
          </a:p>
        </p:txBody>
      </p:sp>
      <p:sp>
        <p:nvSpPr>
          <p:cNvPr id="18" name="">
            <a:extLst xmlns:a="http://schemas.openxmlformats.org/drawingml/2006/main">
              <a:ext uri="{FF2B5EF4-FFF2-40B4-BE49-F238E27FC236}">
                <a16:creationId xmlns:a16="http://schemas.microsoft.com/office/drawing/2014/main" id="{90C27F24-DDCD-4476-BEE6-9730E13D6F09}"/>
              </a:ext>
            </a:extLst>
          </p:cNvPr>
          <p:cNvSpPr>
            <a:spLocks xmlns:a="http://schemas.openxmlformats.org/drawingml/2006/main" noGrp="1"/>
          </p:cNvSpPr>
          <p:nvPr/>
        </p:nvSpPr>
        <p:spPr>
          <a:xfrm xmlns:a="http://schemas.openxmlformats.org/drawingml/2006/main">
            <a:off x="4619625" y="2438400"/>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200" b="1">
                <a:solidFill>
                  <a:srgbClr val="5B6577"/>
                </a:solidFill>
                <a:latin typeface="Arial"/>
                <a:ea typeface="Arial"/>
                <a:cs typeface="Arial"/>
              </a:defRPr>
            </a:pPr>
            <a:r>
              <a:rPr sz="1200" b="1">
                <a:solidFill>
                  <a:srgbClr val="5B6577"/>
                </a:solidFill>
                <a:latin typeface="Arial"/>
                <a:ea typeface="Arial"/>
                <a:cs typeface="Arial"/>
              </a:rPr>
              <a:t>CLEAN</a:t>
            </a:r>
          </a:p>
        </p:txBody>
      </p:sp>
      <p:sp>
        <p:nvSpPr>
          <p:cNvPr id="19" name="">
            <a:extLst xmlns:a="http://schemas.openxmlformats.org/drawingml/2006/main">
              <a:ext uri="{FF2B5EF4-FFF2-40B4-BE49-F238E27FC236}">
                <a16:creationId xmlns:a16="http://schemas.microsoft.com/office/drawing/2014/main" id="{D2EDF698-9BB1-43E3-85CA-2599EF772F95}"/>
              </a:ext>
            </a:extLst>
          </p:cNvPr>
          <p:cNvSpPr>
            <a:spLocks xmlns:a="http://schemas.openxmlformats.org/drawingml/2006/main" noGrp="1"/>
          </p:cNvSpPr>
          <p:nvPr/>
        </p:nvSpPr>
        <p:spPr>
          <a:xfrm xmlns:a="http://schemas.openxmlformats.org/drawingml/2006/main">
            <a:off x="4619625" y="2724150"/>
            <a:ext cx="295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3150" b="1">
                <a:solidFill>
                  <a:srgbClr val="233A70"/>
                </a:solidFill>
                <a:latin typeface="Arial"/>
                <a:ea typeface="Arial"/>
                <a:cs typeface="Arial"/>
              </a:defRPr>
            </a:pPr>
            <a:r>
              <a:rPr sz="3150" b="1">
                <a:solidFill>
                  <a:srgbClr val="233A70"/>
                </a:solidFill>
                <a:latin typeface="Arial"/>
                <a:ea typeface="Arial"/>
                <a:cs typeface="Arial"/>
              </a:rPr>
              <a:t>96.4%</a:t>
            </a:r>
          </a:p>
        </p:txBody>
      </p:sp>
      <p:sp>
        <p:nvSpPr>
          <p:cNvPr id="20" name="">
            <a:extLst xmlns:a="http://schemas.openxmlformats.org/drawingml/2006/main">
              <a:ext uri="{FF2B5EF4-FFF2-40B4-BE49-F238E27FC236}">
                <a16:creationId xmlns:a16="http://schemas.microsoft.com/office/drawing/2014/main" id="{D1C64AAB-74DE-49AE-9C87-6178540E0BD2}"/>
              </a:ext>
            </a:extLst>
          </p:cNvPr>
          <p:cNvSpPr>
            <a:spLocks xmlns:a="http://schemas.openxmlformats.org/drawingml/2006/main" noGrp="1"/>
          </p:cNvSpPr>
          <p:nvPr/>
        </p:nvSpPr>
        <p:spPr>
          <a:xfrm xmlns:a="http://schemas.openxmlformats.org/drawingml/2006/main">
            <a:off x="5648325" y="3257550"/>
            <a:ext cx="8953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850" b="1">
                <a:solidFill>
                  <a:srgbClr val="C89B14"/>
                </a:solidFill>
                <a:latin typeface="Arial"/>
                <a:ea typeface="Arial"/>
                <a:cs typeface="Arial"/>
              </a:defRPr>
            </a:pPr>
            <a:r>
              <a:rPr sz="2850" b="1">
                <a:solidFill>
                  <a:srgbClr val="C89B14"/>
                </a:solidFill>
                <a:latin typeface="Arial"/>
                <a:ea typeface="Arial"/>
                <a:cs typeface="Arial"/>
              </a:rPr>
              <a:t>↓</a:t>
            </a:r>
          </a:p>
        </p:txBody>
      </p:sp>
      <p:sp>
        <p:nvSpPr>
          <p:cNvPr id="21" name="">
            <a:extLst xmlns:a="http://schemas.openxmlformats.org/drawingml/2006/main">
              <a:ext uri="{FF2B5EF4-FFF2-40B4-BE49-F238E27FC236}">
                <a16:creationId xmlns:a16="http://schemas.microsoft.com/office/drawing/2014/main" id="{2DF9C9FD-68A9-4B40-AB58-34AD20B34583}"/>
              </a:ext>
            </a:extLst>
          </p:cNvPr>
          <p:cNvSpPr>
            <a:spLocks xmlns:a="http://schemas.openxmlformats.org/drawingml/2006/main" noGrp="1"/>
          </p:cNvSpPr>
          <p:nvPr/>
        </p:nvSpPr>
        <p:spPr>
          <a:xfrm xmlns:a="http://schemas.openxmlformats.org/drawingml/2006/main">
            <a:off x="6505575" y="3333750"/>
            <a:ext cx="1066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275" b="1">
                <a:solidFill>
                  <a:srgbClr val="C89B14"/>
                </a:solidFill>
                <a:latin typeface="Arial"/>
                <a:ea typeface="Arial"/>
                <a:cs typeface="Arial"/>
              </a:defRPr>
            </a:pPr>
            <a:r>
              <a:rPr sz="1275" b="1">
                <a:solidFill>
                  <a:srgbClr val="C89B14"/>
                </a:solidFill>
                <a:latin typeface="Arial"/>
                <a:ea typeface="Arial"/>
                <a:cs typeface="Arial"/>
              </a:rPr>
              <a:t>−4.6 pp</a:t>
            </a:r>
          </a:p>
        </p:txBody>
      </p:sp>
      <p:sp>
        <p:nvSpPr>
          <p:cNvPr id="22" name="">
            <a:extLst xmlns:a="http://schemas.openxmlformats.org/drawingml/2006/main">
              <a:ext uri="{FF2B5EF4-FFF2-40B4-BE49-F238E27FC236}">
                <a16:creationId xmlns:a16="http://schemas.microsoft.com/office/drawing/2014/main" id="{492EA1CA-E94D-4529-9473-680D6960283D}"/>
              </a:ext>
            </a:extLst>
          </p:cNvPr>
          <p:cNvSpPr>
            <a:spLocks xmlns:a="http://schemas.openxmlformats.org/drawingml/2006/main" noGrp="1"/>
          </p:cNvSpPr>
          <p:nvPr/>
        </p:nvSpPr>
        <p:spPr>
          <a:xfrm xmlns:a="http://schemas.openxmlformats.org/drawingml/2006/main">
            <a:off x="4619625" y="3752850"/>
            <a:ext cx="2952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3225" b="1">
                <a:solidFill>
                  <a:srgbClr val="C89B14"/>
                </a:solidFill>
                <a:latin typeface="Arial"/>
                <a:ea typeface="Arial"/>
                <a:cs typeface="Arial"/>
              </a:defRPr>
            </a:pPr>
            <a:r>
              <a:rPr sz="3225" b="1">
                <a:solidFill>
                  <a:srgbClr val="C89B14"/>
                </a:solidFill>
                <a:latin typeface="Arial"/>
                <a:ea typeface="Arial"/>
                <a:cs typeface="Arial"/>
              </a:rPr>
              <a:t>91.8%</a:t>
            </a:r>
          </a:p>
        </p:txBody>
      </p:sp>
      <p:sp>
        <p:nvSpPr>
          <p:cNvPr id="23" name="">
            <a:extLst xmlns:a="http://schemas.openxmlformats.org/drawingml/2006/main">
              <a:ext uri="{FF2B5EF4-FFF2-40B4-BE49-F238E27FC236}">
                <a16:creationId xmlns:a16="http://schemas.microsoft.com/office/drawing/2014/main" id="{96FF0273-DED0-4DE2-8AA8-75586A24899D}"/>
              </a:ext>
            </a:extLst>
          </p:cNvPr>
          <p:cNvSpPr>
            <a:spLocks xmlns:a="http://schemas.openxmlformats.org/drawingml/2006/main" noGrp="1"/>
          </p:cNvSpPr>
          <p:nvPr/>
        </p:nvSpPr>
        <p:spPr>
          <a:xfrm xmlns:a="http://schemas.openxmlformats.org/drawingml/2006/main">
            <a:off x="4762500" y="4514850"/>
            <a:ext cx="2667000" cy="552450"/>
          </a:xfrm>
          <a:prstGeom xmlns:a="http://schemas.openxmlformats.org/drawingml/2006/main" prst="roundRect">
            <a:avLst>
              <a:gd name="adj" fmla="val 20690"/>
            </a:avLst>
          </a:prstGeom>
          <a:solidFill xmlns:a="http://schemas.openxmlformats.org/drawingml/2006/main">
            <a:srgbClr val="FFF4CD"/>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7F13BBE7-F396-45EB-8CD4-E163172E1B3A}"/>
              </a:ext>
            </a:extLst>
          </p:cNvPr>
          <p:cNvSpPr>
            <a:spLocks xmlns:a="http://schemas.openxmlformats.org/drawingml/2006/main" noGrp="1"/>
          </p:cNvSpPr>
          <p:nvPr/>
        </p:nvSpPr>
        <p:spPr>
          <a:xfrm xmlns:a="http://schemas.openxmlformats.org/drawingml/2006/main">
            <a:off x="4933950" y="4667250"/>
            <a:ext cx="2324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350" b="1">
                <a:solidFill>
                  <a:srgbClr val="C89B14"/>
                </a:solidFill>
                <a:latin typeface="Arial"/>
                <a:ea typeface="Arial"/>
                <a:cs typeface="Arial"/>
              </a:defRPr>
            </a:pPr>
            <a:r>
              <a:rPr sz="1350" b="1">
                <a:solidFill>
                  <a:srgbClr val="C89B14"/>
                </a:solidFill>
                <a:latin typeface="Arial"/>
                <a:ea typeface="Arial"/>
                <a:cs typeface="Arial"/>
              </a:rPr>
              <a:t>FGSM · transfer</a:t>
            </a:r>
          </a:p>
        </p:txBody>
      </p:sp>
      <p:sp>
        <p:nvSpPr>
          <p:cNvPr id="25" name="">
            <a:extLst xmlns:a="http://schemas.openxmlformats.org/drawingml/2006/main">
              <a:ext uri="{FF2B5EF4-FFF2-40B4-BE49-F238E27FC236}">
                <a16:creationId xmlns:a16="http://schemas.microsoft.com/office/drawing/2014/main" id="{C70A0BA2-8F3B-41DC-9592-4F623D651E86}"/>
              </a:ext>
            </a:extLst>
          </p:cNvPr>
          <p:cNvSpPr>
            <a:spLocks xmlns:a="http://schemas.openxmlformats.org/drawingml/2006/main" noGrp="1"/>
          </p:cNvSpPr>
          <p:nvPr/>
        </p:nvSpPr>
        <p:spPr>
          <a:xfrm xmlns:a="http://schemas.openxmlformats.org/drawingml/2006/main">
            <a:off x="8172450" y="1676400"/>
            <a:ext cx="3333750" cy="3695700"/>
          </a:xfrm>
          <a:prstGeom xmlns:a="http://schemas.openxmlformats.org/drawingml/2006/main" prst="roundRect">
            <a:avLst>
              <a:gd name="adj" fmla="val 5143"/>
            </a:avLst>
          </a:prstGeom>
          <a:solidFill xmlns:a="http://schemas.openxmlformats.org/drawingml/2006/main">
            <a:srgbClr val="FFFFFF"/>
          </a:solidFill>
          <a:ln xmlns:a="http://schemas.openxmlformats.org/drawingml/2006/main" w="9525">
            <a:solidFill>
              <a:srgbClr val="D9DEE8"/>
            </a:solidFill>
            <a:prstDash val="solid"/>
          </a:ln>
        </p:spPr>
      </p:sp>
      <p:sp>
        <p:nvSpPr>
          <p:cNvPr id="26" name="">
            <a:extLst xmlns:a="http://schemas.openxmlformats.org/drawingml/2006/main">
              <a:ext uri="{FF2B5EF4-FFF2-40B4-BE49-F238E27FC236}">
                <a16:creationId xmlns:a16="http://schemas.microsoft.com/office/drawing/2014/main" id="{A98C1D30-9BE6-4F8C-9D4A-F416452798D5}"/>
              </a:ext>
            </a:extLst>
          </p:cNvPr>
          <p:cNvSpPr>
            <a:spLocks xmlns:a="http://schemas.openxmlformats.org/drawingml/2006/main" noGrp="1"/>
          </p:cNvSpPr>
          <p:nvPr/>
        </p:nvSpPr>
        <p:spPr>
          <a:xfrm xmlns:a="http://schemas.openxmlformats.org/drawingml/2006/main">
            <a:off x="8362950" y="190500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725" b="1">
                <a:solidFill>
                  <a:srgbClr val="233A70"/>
                </a:solidFill>
                <a:latin typeface="Arial"/>
                <a:ea typeface="Arial"/>
                <a:cs typeface="Arial"/>
              </a:defRPr>
            </a:pPr>
            <a:r>
              <a:rPr sz="1725" b="1">
                <a:solidFill>
                  <a:srgbClr val="233A70"/>
                </a:solidFill>
                <a:latin typeface="Arial"/>
                <a:ea typeface="Arial"/>
                <a:cs typeface="Arial"/>
              </a:rPr>
              <a:t>CLIP proxy</a:t>
            </a:r>
          </a:p>
        </p:txBody>
      </p:sp>
      <p:sp>
        <p:nvSpPr>
          <p:cNvPr id="27" name="">
            <a:extLst xmlns:a="http://schemas.openxmlformats.org/drawingml/2006/main">
              <a:ext uri="{FF2B5EF4-FFF2-40B4-BE49-F238E27FC236}">
                <a16:creationId xmlns:a16="http://schemas.microsoft.com/office/drawing/2014/main" id="{FA9C149E-EE01-4E65-8446-3CDAC9015D72}"/>
              </a:ext>
            </a:extLst>
          </p:cNvPr>
          <p:cNvSpPr>
            <a:spLocks xmlns:a="http://schemas.openxmlformats.org/drawingml/2006/main" noGrp="1"/>
          </p:cNvSpPr>
          <p:nvPr/>
        </p:nvSpPr>
        <p:spPr>
          <a:xfrm xmlns:a="http://schemas.openxmlformats.org/drawingml/2006/main">
            <a:off x="8362950" y="2438400"/>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200" b="1">
                <a:solidFill>
                  <a:srgbClr val="5B6577"/>
                </a:solidFill>
                <a:latin typeface="Arial"/>
                <a:ea typeface="Arial"/>
                <a:cs typeface="Arial"/>
              </a:defRPr>
            </a:pPr>
            <a:r>
              <a:rPr sz="1200" b="1">
                <a:solidFill>
                  <a:srgbClr val="5B6577"/>
                </a:solidFill>
                <a:latin typeface="Arial"/>
                <a:ea typeface="Arial"/>
                <a:cs typeface="Arial"/>
              </a:rPr>
              <a:t>CLEAN</a:t>
            </a:r>
          </a:p>
        </p:txBody>
      </p:sp>
      <p:sp>
        <p:nvSpPr>
          <p:cNvPr id="28" name="">
            <a:extLst xmlns:a="http://schemas.openxmlformats.org/drawingml/2006/main">
              <a:ext uri="{FF2B5EF4-FFF2-40B4-BE49-F238E27FC236}">
                <a16:creationId xmlns:a16="http://schemas.microsoft.com/office/drawing/2014/main" id="{980272C0-9E9C-4040-9C6C-D012524091C6}"/>
              </a:ext>
            </a:extLst>
          </p:cNvPr>
          <p:cNvSpPr>
            <a:spLocks xmlns:a="http://schemas.openxmlformats.org/drawingml/2006/main" noGrp="1"/>
          </p:cNvSpPr>
          <p:nvPr/>
        </p:nvSpPr>
        <p:spPr>
          <a:xfrm xmlns:a="http://schemas.openxmlformats.org/drawingml/2006/main">
            <a:off x="8362950" y="2724150"/>
            <a:ext cx="295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3150" b="1">
                <a:solidFill>
                  <a:srgbClr val="233A70"/>
                </a:solidFill>
                <a:latin typeface="Arial"/>
                <a:ea typeface="Arial"/>
                <a:cs typeface="Arial"/>
              </a:defRPr>
            </a:pPr>
            <a:r>
              <a:rPr sz="3150" b="1">
                <a:solidFill>
                  <a:srgbClr val="233A70"/>
                </a:solidFill>
                <a:latin typeface="Arial"/>
                <a:ea typeface="Arial"/>
                <a:cs typeface="Arial"/>
              </a:rPr>
              <a:t>92.7%</a:t>
            </a:r>
          </a:p>
        </p:txBody>
      </p:sp>
      <p:sp>
        <p:nvSpPr>
          <p:cNvPr id="29" name="">
            <a:extLst xmlns:a="http://schemas.openxmlformats.org/drawingml/2006/main">
              <a:ext uri="{FF2B5EF4-FFF2-40B4-BE49-F238E27FC236}">
                <a16:creationId xmlns:a16="http://schemas.microsoft.com/office/drawing/2014/main" id="{B0237A4F-5EE2-4F91-A719-5C9D999C0C17}"/>
              </a:ext>
            </a:extLst>
          </p:cNvPr>
          <p:cNvSpPr>
            <a:spLocks xmlns:a="http://schemas.openxmlformats.org/drawingml/2006/main" noGrp="1"/>
          </p:cNvSpPr>
          <p:nvPr/>
        </p:nvSpPr>
        <p:spPr>
          <a:xfrm xmlns:a="http://schemas.openxmlformats.org/drawingml/2006/main">
            <a:off x="9391650" y="3257550"/>
            <a:ext cx="8953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850" b="1">
                <a:solidFill>
                  <a:srgbClr val="C89B14"/>
                </a:solidFill>
                <a:latin typeface="Arial"/>
                <a:ea typeface="Arial"/>
                <a:cs typeface="Arial"/>
              </a:defRPr>
            </a:pPr>
            <a:r>
              <a:rPr sz="2850" b="1">
                <a:solidFill>
                  <a:srgbClr val="C89B14"/>
                </a:solidFill>
                <a:latin typeface="Arial"/>
                <a:ea typeface="Arial"/>
                <a:cs typeface="Arial"/>
              </a:rPr>
              <a:t>↓</a:t>
            </a:r>
          </a:p>
        </p:txBody>
      </p:sp>
      <p:sp>
        <p:nvSpPr>
          <p:cNvPr id="30" name="">
            <a:extLst xmlns:a="http://schemas.openxmlformats.org/drawingml/2006/main">
              <a:ext uri="{FF2B5EF4-FFF2-40B4-BE49-F238E27FC236}">
                <a16:creationId xmlns:a16="http://schemas.microsoft.com/office/drawing/2014/main" id="{E068C5AC-6F4C-4F36-A557-12E2AE1E13C0}"/>
              </a:ext>
            </a:extLst>
          </p:cNvPr>
          <p:cNvSpPr>
            <a:spLocks xmlns:a="http://schemas.openxmlformats.org/drawingml/2006/main" noGrp="1"/>
          </p:cNvSpPr>
          <p:nvPr/>
        </p:nvSpPr>
        <p:spPr>
          <a:xfrm xmlns:a="http://schemas.openxmlformats.org/drawingml/2006/main">
            <a:off x="10248900" y="3333750"/>
            <a:ext cx="1066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275" b="1">
                <a:solidFill>
                  <a:srgbClr val="C89B14"/>
                </a:solidFill>
                <a:latin typeface="Arial"/>
                <a:ea typeface="Arial"/>
                <a:cs typeface="Arial"/>
              </a:defRPr>
            </a:pPr>
            <a:r>
              <a:rPr sz="1275" b="1">
                <a:solidFill>
                  <a:srgbClr val="C89B14"/>
                </a:solidFill>
                <a:latin typeface="Arial"/>
                <a:ea typeface="Arial"/>
                <a:cs typeface="Arial"/>
              </a:rPr>
              <a:t>−1.3 pp</a:t>
            </a:r>
          </a:p>
        </p:txBody>
      </p:sp>
      <p:sp>
        <p:nvSpPr>
          <p:cNvPr id="31" name="">
            <a:extLst xmlns:a="http://schemas.openxmlformats.org/drawingml/2006/main">
              <a:ext uri="{FF2B5EF4-FFF2-40B4-BE49-F238E27FC236}">
                <a16:creationId xmlns:a16="http://schemas.microsoft.com/office/drawing/2014/main" id="{B7F6DC36-2570-45E5-AFD1-8D49B963DBCB}"/>
              </a:ext>
            </a:extLst>
          </p:cNvPr>
          <p:cNvSpPr>
            <a:spLocks xmlns:a="http://schemas.openxmlformats.org/drawingml/2006/main" noGrp="1"/>
          </p:cNvSpPr>
          <p:nvPr/>
        </p:nvSpPr>
        <p:spPr>
          <a:xfrm xmlns:a="http://schemas.openxmlformats.org/drawingml/2006/main">
            <a:off x="8362950" y="3752850"/>
            <a:ext cx="2952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3225" b="1">
                <a:solidFill>
                  <a:srgbClr val="C89B14"/>
                </a:solidFill>
                <a:latin typeface="Arial"/>
                <a:ea typeface="Arial"/>
                <a:cs typeface="Arial"/>
              </a:defRPr>
            </a:pPr>
            <a:r>
              <a:rPr sz="3225" b="1">
                <a:solidFill>
                  <a:srgbClr val="C89B14"/>
                </a:solidFill>
                <a:latin typeface="Arial"/>
                <a:ea typeface="Arial"/>
                <a:cs typeface="Arial"/>
              </a:rPr>
              <a:t>91.4%</a:t>
            </a:r>
          </a:p>
        </p:txBody>
      </p:sp>
      <p:sp>
        <p:nvSpPr>
          <p:cNvPr id="32" name="">
            <a:extLst xmlns:a="http://schemas.openxmlformats.org/drawingml/2006/main">
              <a:ext uri="{FF2B5EF4-FFF2-40B4-BE49-F238E27FC236}">
                <a16:creationId xmlns:a16="http://schemas.microsoft.com/office/drawing/2014/main" id="{E0EF1A65-1CB2-42B0-B44F-2F0165D59CB8}"/>
              </a:ext>
            </a:extLst>
          </p:cNvPr>
          <p:cNvSpPr>
            <a:spLocks xmlns:a="http://schemas.openxmlformats.org/drawingml/2006/main" noGrp="1"/>
          </p:cNvSpPr>
          <p:nvPr/>
        </p:nvSpPr>
        <p:spPr>
          <a:xfrm xmlns:a="http://schemas.openxmlformats.org/drawingml/2006/main">
            <a:off x="8505825" y="4514850"/>
            <a:ext cx="2667000" cy="552450"/>
          </a:xfrm>
          <a:prstGeom xmlns:a="http://schemas.openxmlformats.org/drawingml/2006/main" prst="roundRect">
            <a:avLst>
              <a:gd name="adj" fmla="val 20690"/>
            </a:avLst>
          </a:prstGeom>
          <a:solidFill xmlns:a="http://schemas.openxmlformats.org/drawingml/2006/main">
            <a:srgbClr val="FFF4CD"/>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C72A86F9-3076-4133-A78E-82EB41F3A1D6}"/>
              </a:ext>
            </a:extLst>
          </p:cNvPr>
          <p:cNvSpPr>
            <a:spLocks xmlns:a="http://schemas.openxmlformats.org/drawingml/2006/main" noGrp="1"/>
          </p:cNvSpPr>
          <p:nvPr/>
        </p:nvSpPr>
        <p:spPr>
          <a:xfrm xmlns:a="http://schemas.openxmlformats.org/drawingml/2006/main">
            <a:off x="8677275" y="4667250"/>
            <a:ext cx="2324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350" b="1">
                <a:solidFill>
                  <a:srgbClr val="C89B14"/>
                </a:solidFill>
                <a:latin typeface="Arial"/>
                <a:ea typeface="Arial"/>
                <a:cs typeface="Arial"/>
              </a:defRPr>
            </a:pPr>
            <a:r>
              <a:rPr sz="1350" b="1">
                <a:solidFill>
                  <a:srgbClr val="C89B14"/>
                </a:solidFill>
                <a:latin typeface="Arial"/>
                <a:ea typeface="Arial"/>
                <a:cs typeface="Arial"/>
              </a:rPr>
              <a:t>FGSM · transfer</a:t>
            </a:r>
          </a:p>
        </p:txBody>
      </p:sp>
      <p:sp>
        <p:nvSpPr>
          <p:cNvPr id="34" name="">
            <a:extLst xmlns:a="http://schemas.openxmlformats.org/drawingml/2006/main">
              <a:ext uri="{FF2B5EF4-FFF2-40B4-BE49-F238E27FC236}">
                <a16:creationId xmlns:a16="http://schemas.microsoft.com/office/drawing/2014/main" id="{83A62D01-9A99-4444-A378-62E9EAECF82E}"/>
              </a:ext>
            </a:extLst>
          </p:cNvPr>
          <p:cNvSpPr>
            <a:spLocks xmlns:a="http://schemas.openxmlformats.org/drawingml/2006/main" noGrp="1"/>
          </p:cNvSpPr>
          <p:nvPr/>
        </p:nvSpPr>
        <p:spPr>
          <a:xfrm xmlns:a="http://schemas.openxmlformats.org/drawingml/2006/main">
            <a:off x="1428750" y="57531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1">
                <a:solidFill>
                  <a:srgbClr val="233A70"/>
                </a:solidFill>
                <a:latin typeface="Arial"/>
                <a:ea typeface="Arial"/>
                <a:cs typeface="Arial"/>
              </a:defRPr>
            </a:pPr>
            <a:r>
              <a:rPr sz="1500" b="1">
                <a:solidFill>
                  <a:srgbClr val="233A70"/>
                </a:solidFill>
                <a:latin typeface="Arial"/>
                <a:ea typeface="Arial"/>
                <a:cs typeface="Arial"/>
              </a:rPr>
              <a:t>Largest anti-forensic proxy drop: 3.0 pp · ResNet18, histogram modification</a:t>
            </a:r>
          </a:p>
        </p:txBody>
      </p:sp>
    </p:spTree>
    <p:extLst>
      <p:ext uri="{BB962C8B-B14F-4D97-AF65-F5344CB8AC3E}">
        <p14:creationId xmlns:p14="http://schemas.microsoft.com/office/powerpoint/2010/main" val="44889745"/>
      </p:ext>
    </p:extLst>
  </p:cSld>
</p:sld>
</file>

<file path=ppt/slides/slide8.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CBFBE0B0-4196-49D2-816F-6775E02BA4B6}"/>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233A70"/>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1AF1709-E0A2-40EF-88E7-6DDA26F6CFFD}"/>
              </a:ext>
            </a:extLst>
          </p:cNvPr>
          <p:cNvSpPr>
            <a:spLocks xmlns:a="http://schemas.openxmlformats.org/drawingml/2006/main" noGrp="1"/>
          </p:cNvSpPr>
          <p:nvPr/>
        </p:nvSpPr>
        <p:spPr>
          <a:xfrm xmlns:a="http://schemas.openxmlformats.org/drawingml/2006/main">
            <a:off x="685800" y="43815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600" b="1">
                <a:solidFill>
                  <a:srgbClr val="233A70"/>
                </a:solidFill>
                <a:latin typeface="Arial"/>
                <a:ea typeface="Arial"/>
                <a:cs typeface="Arial"/>
              </a:defRPr>
            </a:pPr>
            <a:r>
              <a:rPr sz="3600" b="1">
                <a:solidFill>
                  <a:srgbClr val="233A70"/>
                </a:solidFill>
                <a:latin typeface="Arial"/>
                <a:ea typeface="Arial"/>
                <a:cs typeface="Arial"/>
              </a:rPr>
              <a:t>Black-box transfer was configuration-dependent</a:t>
            </a:r>
          </a:p>
        </p:txBody>
      </p:sp>
      <p:sp>
        <p:nvSpPr>
          <p:cNvPr id="3" name="">
            <a:extLst xmlns:a="http://schemas.openxmlformats.org/drawingml/2006/main">
              <a:ext uri="{FF2B5EF4-FFF2-40B4-BE49-F238E27FC236}">
                <a16:creationId xmlns:a16="http://schemas.microsoft.com/office/drawing/2014/main" id="{3291F0CF-6083-4E3B-9AC2-0305E98F368E}"/>
              </a:ext>
            </a:extLst>
          </p:cNvPr>
          <p:cNvSpPr>
            <a:spLocks xmlns:a="http://schemas.openxmlformats.org/drawingml/2006/main" noGrp="1"/>
          </p:cNvSpPr>
          <p:nvPr/>
        </p:nvSpPr>
        <p:spPr>
          <a:xfrm xmlns:a="http://schemas.openxmlformats.org/drawingml/2006/main">
            <a:off x="685800" y="1104900"/>
            <a:ext cx="10820400" cy="19050"/>
          </a:xfrm>
          <a:prstGeom xmlns:a="http://schemas.openxmlformats.org/drawingml/2006/main" prst="rect">
            <a:avLst/>
          </a:prstGeom>
          <a:solidFill xmlns:a="http://schemas.openxmlformats.org/drawingml/2006/main">
            <a:srgbClr val="D9DEE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565A18C7-FE67-4009-89BB-E8C6FE7C319D}"/>
              </a:ext>
            </a:extLst>
          </p:cNvPr>
          <p:cNvSpPr>
            <a:spLocks xmlns:a="http://schemas.openxmlformats.org/drawingml/2006/main" noGrp="1"/>
          </p:cNvSpPr>
          <p:nvPr/>
        </p:nvSpPr>
        <p:spPr>
          <a:xfrm xmlns:a="http://schemas.openxmlformats.org/drawingml/2006/main">
            <a:off x="685800" y="6524625"/>
            <a:ext cx="438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050" b="0">
                <a:solidFill>
                  <a:srgbClr val="5B6577"/>
                </a:solidFill>
                <a:latin typeface="Arial"/>
                <a:ea typeface="Arial"/>
                <a:cs typeface="Arial"/>
              </a:defRPr>
            </a:pPr>
            <a:r>
              <a:rPr sz="1050" b="0">
                <a:solidFill>
                  <a:srgbClr val="5B6577"/>
                </a:solidFill>
                <a:latin typeface="Arial"/>
                <a:ea typeface="Arial"/>
                <a:cs typeface="Arial"/>
              </a:rPr>
              <a:t>Lello Molinario  |  MSc Thesis Defense</a:t>
            </a:r>
          </a:p>
        </p:txBody>
      </p:sp>
      <p:sp>
        <p:nvSpPr>
          <p:cNvPr id="5" name="">
            <a:extLst xmlns:a="http://schemas.openxmlformats.org/drawingml/2006/main">
              <a:ext uri="{FF2B5EF4-FFF2-40B4-BE49-F238E27FC236}">
                <a16:creationId xmlns:a16="http://schemas.microsoft.com/office/drawing/2014/main" id="{BC8DA42D-E2E5-4441-9FF6-841AA3906BA7}"/>
              </a:ext>
            </a:extLst>
          </p:cNvPr>
          <p:cNvSpPr>
            <a:spLocks xmlns:a="http://schemas.openxmlformats.org/drawingml/2006/main" noGrp="1"/>
          </p:cNvSpPr>
          <p:nvPr/>
        </p:nvSpPr>
        <p:spPr>
          <a:xfrm xmlns:a="http://schemas.openxmlformats.org/drawingml/2006/main">
            <a:off x="11049000" y="652462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050" b="0">
                <a:solidFill>
                  <a:srgbClr val="5B6577"/>
                </a:solidFill>
                <a:latin typeface="Arial"/>
                <a:ea typeface="Arial"/>
                <a:cs typeface="Arial"/>
              </a:defRPr>
            </a:pPr>
            <a:r>
              <a:rPr sz="1050" b="0">
                <a:solidFill>
                  <a:srgbClr val="5B6577"/>
                </a:solidFill>
                <a:latin typeface="Arial"/>
                <a:ea typeface="Arial"/>
                <a:cs typeface="Arial"/>
              </a:rPr>
              <a:t>08</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9950a1e10b574ee8"/>
          <a:stretch xmlns:a="http://schemas.openxmlformats.org/drawingml/2006/main"/>
        </p:blipFill>
        <p:spPr>
          <a:xfrm xmlns:a="http://schemas.openxmlformats.org/drawingml/2006/main">
            <a:off x="944113" y="1257300"/>
            <a:ext cx="10303774" cy="40957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AF37DDE1-913C-46CF-A2F3-12C536DDA446}"/>
              </a:ext>
            </a:extLst>
          </p:cNvPr>
          <p:cNvSpPr>
            <a:spLocks xmlns:a="http://schemas.openxmlformats.org/drawingml/2006/main" noGrp="1"/>
          </p:cNvSpPr>
          <p:nvPr/>
        </p:nvSpPr>
        <p:spPr>
          <a:xfrm xmlns:a="http://schemas.openxmlformats.org/drawingml/2006/main">
            <a:off x="1123950" y="5467350"/>
            <a:ext cx="9944100" cy="590550"/>
          </a:xfrm>
          <a:prstGeom xmlns:a="http://schemas.openxmlformats.org/drawingml/2006/main" prst="roundRect">
            <a:avLst>
              <a:gd name="adj" fmla="val 22581"/>
            </a:avLst>
          </a:prstGeom>
          <a:solidFill xmlns:a="http://schemas.openxmlformats.org/drawingml/2006/main">
            <a:srgbClr val="FBEAEA"/>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30C38F54-5C1E-4ADD-809B-B0B819F1C798}"/>
              </a:ext>
            </a:extLst>
          </p:cNvPr>
          <p:cNvSpPr>
            <a:spLocks xmlns:a="http://schemas.openxmlformats.org/drawingml/2006/main" noGrp="1"/>
          </p:cNvSpPr>
          <p:nvPr/>
        </p:nvSpPr>
        <p:spPr>
          <a:xfrm xmlns:a="http://schemas.openxmlformats.org/drawingml/2006/main">
            <a:off x="1409700" y="5619750"/>
            <a:ext cx="9372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75" b="1">
                <a:solidFill>
                  <a:srgbClr val="BE3C37"/>
                </a:solidFill>
                <a:latin typeface="Arial"/>
                <a:ea typeface="Arial"/>
                <a:cs typeface="Arial"/>
              </a:defRPr>
            </a:pPr>
            <a:r>
              <a:rPr sz="1575" b="1">
                <a:solidFill>
                  <a:srgbClr val="BE3C37"/>
                </a:solidFill>
                <a:latin typeface="Arial"/>
                <a:ea typeface="Arial"/>
                <a:cs typeface="Arial"/>
              </a:rPr>
              <a:t>Largest transfer effects: Sigma Zero · Excire D50 −20.2 pp · D80 −25.8 pp</a:t>
            </a:r>
          </a:p>
        </p:txBody>
      </p:sp>
      <p:sp>
        <p:nvSpPr>
          <p:cNvPr id="9" name="">
            <a:extLst xmlns:a="http://schemas.openxmlformats.org/drawingml/2006/main">
              <a:ext uri="{FF2B5EF4-FFF2-40B4-BE49-F238E27FC236}">
                <a16:creationId xmlns:a16="http://schemas.microsoft.com/office/drawing/2014/main" id="{25396EEC-0BD8-400F-A539-2C244EEA8DC5}"/>
              </a:ext>
            </a:extLst>
          </p:cNvPr>
          <p:cNvSpPr>
            <a:spLocks xmlns:a="http://schemas.openxmlformats.org/drawingml/2006/main" noGrp="1"/>
          </p:cNvSpPr>
          <p:nvPr/>
        </p:nvSpPr>
        <p:spPr>
          <a:xfrm xmlns:a="http://schemas.openxmlformats.org/drawingml/2006/main">
            <a:off x="1524000" y="6115050"/>
            <a:ext cx="914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275" b="1">
                <a:solidFill>
                  <a:srgbClr val="233A70"/>
                </a:solidFill>
                <a:latin typeface="Arial"/>
                <a:ea typeface="Arial"/>
                <a:cs typeface="Arial"/>
              </a:defRPr>
            </a:pPr>
            <a:r>
              <a:rPr sz="1275" b="1">
                <a:solidFill>
                  <a:srgbClr val="233A70"/>
                </a:solidFill>
                <a:latin typeface="Arial"/>
                <a:ea typeface="Arial"/>
                <a:cs typeface="Arial"/>
              </a:rPr>
              <a:t>Empirical transfer from EfficientNet-B0 artifacts—not direct attacks on proprietary models.</a:t>
            </a:r>
          </a:p>
        </p:txBody>
      </p:sp>
    </p:spTree>
    <p:extLst>
      <p:ext uri="{BB962C8B-B14F-4D97-AF65-F5344CB8AC3E}">
        <p14:creationId xmlns:p14="http://schemas.microsoft.com/office/powerpoint/2010/main" val="911049880"/>
      </p:ext>
    </p:extLst>
  </p:cSld>
</p:sld>
</file>

<file path=ppt/slides/slide9.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99C5F556-E43B-4D5C-87AA-60CC7C8B7901}"/>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233A70"/>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2E59AA1-F424-40FD-9085-E34E23AA9D98}"/>
              </a:ext>
            </a:extLst>
          </p:cNvPr>
          <p:cNvSpPr>
            <a:spLocks xmlns:a="http://schemas.openxmlformats.org/drawingml/2006/main" noGrp="1"/>
          </p:cNvSpPr>
          <p:nvPr/>
        </p:nvSpPr>
        <p:spPr>
          <a:xfrm xmlns:a="http://schemas.openxmlformats.org/drawingml/2006/main">
            <a:off x="685800" y="43815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600" b="1">
                <a:solidFill>
                  <a:srgbClr val="233A70"/>
                </a:solidFill>
                <a:latin typeface="Arial"/>
                <a:ea typeface="Arial"/>
                <a:cs typeface="Arial"/>
              </a:defRPr>
            </a:pPr>
            <a:r>
              <a:rPr sz="3600" b="1">
                <a:solidFill>
                  <a:srgbClr val="233A70"/>
                </a:solidFill>
                <a:latin typeface="Arial"/>
                <a:ea typeface="Arial"/>
                <a:cs typeface="Arial"/>
              </a:rPr>
              <a:t>A lower miss rate can create a larger review burden</a:t>
            </a:r>
          </a:p>
        </p:txBody>
      </p:sp>
      <p:sp>
        <p:nvSpPr>
          <p:cNvPr id="3" name="">
            <a:extLst xmlns:a="http://schemas.openxmlformats.org/drawingml/2006/main">
              <a:ext uri="{FF2B5EF4-FFF2-40B4-BE49-F238E27FC236}">
                <a16:creationId xmlns:a16="http://schemas.microsoft.com/office/drawing/2014/main" id="{36849F68-D7D6-4111-82DC-6F4B34B72431}"/>
              </a:ext>
            </a:extLst>
          </p:cNvPr>
          <p:cNvSpPr>
            <a:spLocks xmlns:a="http://schemas.openxmlformats.org/drawingml/2006/main" noGrp="1"/>
          </p:cNvSpPr>
          <p:nvPr/>
        </p:nvSpPr>
        <p:spPr>
          <a:xfrm xmlns:a="http://schemas.openxmlformats.org/drawingml/2006/main">
            <a:off x="685800" y="1104900"/>
            <a:ext cx="10820400" cy="19050"/>
          </a:xfrm>
          <a:prstGeom xmlns:a="http://schemas.openxmlformats.org/drawingml/2006/main" prst="rect">
            <a:avLst/>
          </a:prstGeom>
          <a:solidFill xmlns:a="http://schemas.openxmlformats.org/drawingml/2006/main">
            <a:srgbClr val="D9DEE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336AF14B-E51D-40CF-BE63-CFC5A20414BF}"/>
              </a:ext>
            </a:extLst>
          </p:cNvPr>
          <p:cNvSpPr>
            <a:spLocks xmlns:a="http://schemas.openxmlformats.org/drawingml/2006/main" noGrp="1"/>
          </p:cNvSpPr>
          <p:nvPr/>
        </p:nvSpPr>
        <p:spPr>
          <a:xfrm xmlns:a="http://schemas.openxmlformats.org/drawingml/2006/main">
            <a:off x="685800" y="6524625"/>
            <a:ext cx="438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050" b="0">
                <a:solidFill>
                  <a:srgbClr val="5B6577"/>
                </a:solidFill>
                <a:latin typeface="Arial"/>
                <a:ea typeface="Arial"/>
                <a:cs typeface="Arial"/>
              </a:defRPr>
            </a:pPr>
            <a:r>
              <a:rPr sz="1050" b="0">
                <a:solidFill>
                  <a:srgbClr val="5B6577"/>
                </a:solidFill>
                <a:latin typeface="Arial"/>
                <a:ea typeface="Arial"/>
                <a:cs typeface="Arial"/>
              </a:rPr>
              <a:t>Lello Molinario  |  MSc Thesis Defense</a:t>
            </a:r>
          </a:p>
        </p:txBody>
      </p:sp>
      <p:sp>
        <p:nvSpPr>
          <p:cNvPr id="5" name="">
            <a:extLst xmlns:a="http://schemas.openxmlformats.org/drawingml/2006/main">
              <a:ext uri="{FF2B5EF4-FFF2-40B4-BE49-F238E27FC236}">
                <a16:creationId xmlns:a16="http://schemas.microsoft.com/office/drawing/2014/main" id="{1BEF75CF-FB0D-4A83-BC3D-ED743ECD5377}"/>
              </a:ext>
            </a:extLst>
          </p:cNvPr>
          <p:cNvSpPr>
            <a:spLocks xmlns:a="http://schemas.openxmlformats.org/drawingml/2006/main" noGrp="1"/>
          </p:cNvSpPr>
          <p:nvPr/>
        </p:nvSpPr>
        <p:spPr>
          <a:xfrm xmlns:a="http://schemas.openxmlformats.org/drawingml/2006/main">
            <a:off x="11049000" y="652462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050" b="0">
                <a:solidFill>
                  <a:srgbClr val="5B6577"/>
                </a:solidFill>
                <a:latin typeface="Arial"/>
                <a:ea typeface="Arial"/>
                <a:cs typeface="Arial"/>
              </a:defRPr>
            </a:pPr>
            <a:r>
              <a:rPr sz="1050" b="0">
                <a:solidFill>
                  <a:srgbClr val="5B6577"/>
                </a:solidFill>
                <a:latin typeface="Arial"/>
                <a:ea typeface="Arial"/>
                <a:cs typeface="Arial"/>
              </a:rPr>
              <a:t>09</a:t>
            </a:r>
          </a:p>
        </p:txBody>
      </p:sp>
      <p:sp>
        <p:nvSpPr>
          <p:cNvPr id="6" name="">
            <a:extLst xmlns:a="http://schemas.openxmlformats.org/drawingml/2006/main">
              <a:ext uri="{FF2B5EF4-FFF2-40B4-BE49-F238E27FC236}">
                <a16:creationId xmlns:a16="http://schemas.microsoft.com/office/drawing/2014/main" id="{F4EDF8AC-4E92-461B-895C-53D1DB7355BF}"/>
              </a:ext>
            </a:extLst>
          </p:cNvPr>
          <p:cNvSpPr>
            <a:spLocks xmlns:a="http://schemas.openxmlformats.org/drawingml/2006/main" noGrp="1"/>
          </p:cNvSpPr>
          <p:nvPr/>
        </p:nvSpPr>
        <p:spPr>
          <a:xfrm xmlns:a="http://schemas.openxmlformats.org/drawingml/2006/main">
            <a:off x="685800" y="1257300"/>
            <a:ext cx="7524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350" b="0">
                <a:solidFill>
                  <a:srgbClr val="5B6577"/>
                </a:solidFill>
                <a:latin typeface="Arial"/>
                <a:ea typeface="Arial"/>
                <a:cs typeface="Arial"/>
              </a:defRPr>
            </a:pPr>
            <a:r>
              <a:rPr sz="1350" b="0">
                <a:solidFill>
                  <a:srgbClr val="5B6577"/>
                </a:solidFill>
                <a:latin typeface="Arial"/>
                <a:ea typeface="Arial"/>
                <a:cs typeface="Arial"/>
              </a:rPr>
              <a:t>Clean-condition directional error rates</a:t>
            </a:r>
          </a:p>
        </p:txBody>
      </p:sp>
      <p:graphicFrame>
        <p:nvGraphicFramePr>
          <p:cNvPr id="25" name="Chart"/>
          <p:cNvGraphicFramePr/>
          <p:nvPr/>
        </p:nvGraphicFramePr>
        <p:xfrm>
          <a:off xmlns:a="http://schemas.openxmlformats.org/drawingml/2006/main" x="533400" y="1504950"/>
          <a:ext xmlns:a="http://schemas.openxmlformats.org/drawingml/2006/main" cx="7810500" cy="4400550"/>
        </p:xfrm>
        <a:graphic xmlns:a="http://schemas.openxmlformats.org/drawingml/2006/main">
          <a:graphicData uri="http://schemas.openxmlformats.org/drawingml/2006/chart">
            <c:chart xmlns:r="http://schemas.openxmlformats.org/officeDocument/2006/relationships" xmlns:c="http://schemas.openxmlformats.org/drawingml/2006/chart" r:id="Rd6bbba2ba671460a"/>
          </a:graphicData>
        </a:graphic>
      </p:graphicFrame>
      <p:sp>
        <p:nvSpPr>
          <p:cNvPr id="8" name="">
            <a:extLst xmlns:a="http://schemas.openxmlformats.org/drawingml/2006/main">
              <a:ext uri="{FF2B5EF4-FFF2-40B4-BE49-F238E27FC236}">
                <a16:creationId xmlns:a16="http://schemas.microsoft.com/office/drawing/2014/main" id="{B32211CA-359B-48C3-B5B4-E09B47E32F88}"/>
              </a:ext>
            </a:extLst>
          </p:cNvPr>
          <p:cNvSpPr>
            <a:spLocks xmlns:a="http://schemas.openxmlformats.org/drawingml/2006/main" noGrp="1"/>
          </p:cNvSpPr>
          <p:nvPr/>
        </p:nvSpPr>
        <p:spPr>
          <a:xfrm xmlns:a="http://schemas.openxmlformats.org/drawingml/2006/main">
            <a:off x="8648700" y="1524000"/>
            <a:ext cx="2857500" cy="3829050"/>
          </a:xfrm>
          <a:prstGeom xmlns:a="http://schemas.openxmlformats.org/drawingml/2006/main" prst="roundRect">
            <a:avLst>
              <a:gd name="adj" fmla="val 6000"/>
            </a:avLst>
          </a:prstGeom>
          <a:solidFill xmlns:a="http://schemas.openxmlformats.org/drawingml/2006/main">
            <a:srgbClr val="233A70"/>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AA5CA415-7615-47D2-9D36-55A55C537A04}"/>
              </a:ext>
            </a:extLst>
          </p:cNvPr>
          <p:cNvSpPr>
            <a:spLocks xmlns:a="http://schemas.openxmlformats.org/drawingml/2006/main" noGrp="1"/>
          </p:cNvSpPr>
          <p:nvPr/>
        </p:nvSpPr>
        <p:spPr>
          <a:xfrm xmlns:a="http://schemas.openxmlformats.org/drawingml/2006/main">
            <a:off x="8877300" y="18097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350" b="1">
                <a:solidFill>
                  <a:srgbClr val="14B978"/>
                </a:solidFill>
                <a:latin typeface="Arial"/>
                <a:ea typeface="Arial"/>
                <a:cs typeface="Arial"/>
              </a:defRPr>
            </a:pPr>
            <a:r>
              <a:rPr sz="1350" b="1">
                <a:solidFill>
                  <a:srgbClr val="14B978"/>
                </a:solidFill>
                <a:latin typeface="Arial"/>
                <a:ea typeface="Arial"/>
                <a:cs typeface="Arial"/>
              </a:rPr>
              <a:t>EXCIRE D20 → D80</a:t>
            </a:r>
          </a:p>
        </p:txBody>
      </p:sp>
      <p:sp>
        <p:nvSpPr>
          <p:cNvPr id="10" name="">
            <a:extLst xmlns:a="http://schemas.openxmlformats.org/drawingml/2006/main">
              <a:ext uri="{FF2B5EF4-FFF2-40B4-BE49-F238E27FC236}">
                <a16:creationId xmlns:a16="http://schemas.microsoft.com/office/drawing/2014/main" id="{650148F9-8ED3-4F66-9B1A-1A6CE4A7D735}"/>
              </a:ext>
            </a:extLst>
          </p:cNvPr>
          <p:cNvSpPr>
            <a:spLocks xmlns:a="http://schemas.openxmlformats.org/drawingml/2006/main" noGrp="1"/>
          </p:cNvSpPr>
          <p:nvPr/>
        </p:nvSpPr>
        <p:spPr>
          <a:xfrm xmlns:a="http://schemas.openxmlformats.org/drawingml/2006/main">
            <a:off x="8877300" y="2362200"/>
            <a:ext cx="24003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175" b="1">
                <a:solidFill>
                  <a:srgbClr val="FFFFFF"/>
                </a:solidFill>
                <a:latin typeface="Arial"/>
                <a:ea typeface="Arial"/>
                <a:cs typeface="Arial"/>
              </a:defRPr>
            </a:pPr>
            <a:r>
              <a:rPr sz="2175" b="1">
                <a:solidFill>
                  <a:srgbClr val="FFFFFF"/>
                </a:solidFill>
                <a:latin typeface="Arial"/>
                <a:ea typeface="Arial"/>
                <a:cs typeface="Arial"/>
              </a:rPr>
              <a:t>12.0%  →  1.4%</a:t>
            </a:r>
          </a:p>
        </p:txBody>
      </p:sp>
      <p:sp>
        <p:nvSpPr>
          <p:cNvPr id="11" name="">
            <a:extLst xmlns:a="http://schemas.openxmlformats.org/drawingml/2006/main">
              <a:ext uri="{FF2B5EF4-FFF2-40B4-BE49-F238E27FC236}">
                <a16:creationId xmlns:a16="http://schemas.microsoft.com/office/drawing/2014/main" id="{8A701E2C-D64D-4975-A8E0-8B4746B56A04}"/>
              </a:ext>
            </a:extLst>
          </p:cNvPr>
          <p:cNvSpPr>
            <a:spLocks xmlns:a="http://schemas.openxmlformats.org/drawingml/2006/main" noGrp="1"/>
          </p:cNvSpPr>
          <p:nvPr/>
        </p:nvSpPr>
        <p:spPr>
          <a:xfrm xmlns:a="http://schemas.openxmlformats.org/drawingml/2006/main">
            <a:off x="8877300" y="2781300"/>
            <a:ext cx="2400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275" b="0">
                <a:solidFill>
                  <a:srgbClr val="DCE4F3"/>
                </a:solidFill>
                <a:latin typeface="Arial"/>
                <a:ea typeface="Arial"/>
                <a:cs typeface="Arial"/>
              </a:defRPr>
            </a:pPr>
            <a:r>
              <a:rPr sz="1275" b="0">
                <a:solidFill>
                  <a:srgbClr val="DCE4F3"/>
                </a:solidFill>
                <a:latin typeface="Arial"/>
                <a:ea typeface="Arial"/>
                <a:cs typeface="Arial"/>
              </a:rPr>
              <a:t>missed-target rate</a:t>
            </a:r>
          </a:p>
        </p:txBody>
      </p:sp>
      <p:sp>
        <p:nvSpPr>
          <p:cNvPr id="12" name="">
            <a:extLst xmlns:a="http://schemas.openxmlformats.org/drawingml/2006/main">
              <a:ext uri="{FF2B5EF4-FFF2-40B4-BE49-F238E27FC236}">
                <a16:creationId xmlns:a16="http://schemas.microsoft.com/office/drawing/2014/main" id="{005DAFCB-DAF8-45AC-A897-4BF08C50F272}"/>
              </a:ext>
            </a:extLst>
          </p:cNvPr>
          <p:cNvSpPr>
            <a:spLocks xmlns:a="http://schemas.openxmlformats.org/drawingml/2006/main" noGrp="1"/>
          </p:cNvSpPr>
          <p:nvPr/>
        </p:nvSpPr>
        <p:spPr>
          <a:xfrm xmlns:a="http://schemas.openxmlformats.org/drawingml/2006/main">
            <a:off x="9163050" y="3219450"/>
            <a:ext cx="1828800" cy="19050"/>
          </a:xfrm>
          <a:prstGeom xmlns:a="http://schemas.openxmlformats.org/drawingml/2006/main" prst="rect">
            <a:avLst/>
          </a:prstGeom>
          <a:solidFill xmlns:a="http://schemas.openxmlformats.org/drawingml/2006/main">
            <a:srgbClr val="536A9B"/>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16BAF519-5148-4A1A-B484-7B42D432C6F0}"/>
              </a:ext>
            </a:extLst>
          </p:cNvPr>
          <p:cNvSpPr>
            <a:spLocks xmlns:a="http://schemas.openxmlformats.org/drawingml/2006/main" noGrp="1"/>
          </p:cNvSpPr>
          <p:nvPr/>
        </p:nvSpPr>
        <p:spPr>
          <a:xfrm xmlns:a="http://schemas.openxmlformats.org/drawingml/2006/main">
            <a:off x="8877300" y="3448050"/>
            <a:ext cx="24003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175" b="1">
                <a:solidFill>
                  <a:srgbClr val="FFFFFF"/>
                </a:solidFill>
                <a:latin typeface="Arial"/>
                <a:ea typeface="Arial"/>
                <a:cs typeface="Arial"/>
              </a:defRPr>
            </a:pPr>
            <a:r>
              <a:rPr sz="2175" b="1">
                <a:solidFill>
                  <a:srgbClr val="FFFFFF"/>
                </a:solidFill>
                <a:latin typeface="Arial"/>
                <a:ea typeface="Arial"/>
                <a:cs typeface="Arial"/>
              </a:rPr>
              <a:t>2.6%  →  15.6%</a:t>
            </a:r>
          </a:p>
        </p:txBody>
      </p:sp>
      <p:sp>
        <p:nvSpPr>
          <p:cNvPr id="14" name="">
            <a:extLst xmlns:a="http://schemas.openxmlformats.org/drawingml/2006/main">
              <a:ext uri="{FF2B5EF4-FFF2-40B4-BE49-F238E27FC236}">
                <a16:creationId xmlns:a16="http://schemas.microsoft.com/office/drawing/2014/main" id="{F911A9A3-7270-4526-9632-3EC112625EF3}"/>
              </a:ext>
            </a:extLst>
          </p:cNvPr>
          <p:cNvSpPr>
            <a:spLocks xmlns:a="http://schemas.openxmlformats.org/drawingml/2006/main" noGrp="1"/>
          </p:cNvSpPr>
          <p:nvPr/>
        </p:nvSpPr>
        <p:spPr>
          <a:xfrm xmlns:a="http://schemas.openxmlformats.org/drawingml/2006/main">
            <a:off x="8877300" y="3867150"/>
            <a:ext cx="2400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275" b="0">
                <a:solidFill>
                  <a:srgbClr val="DCE4F3"/>
                </a:solidFill>
                <a:latin typeface="Arial"/>
                <a:ea typeface="Arial"/>
                <a:cs typeface="Arial"/>
              </a:defRPr>
            </a:pPr>
            <a:r>
              <a:rPr sz="1275" b="0">
                <a:solidFill>
                  <a:srgbClr val="DCE4F3"/>
                </a:solidFill>
                <a:latin typeface="Arial"/>
                <a:ea typeface="Arial"/>
                <a:cs typeface="Arial"/>
              </a:rPr>
              <a:t>false-positive rate</a:t>
            </a:r>
          </a:p>
        </p:txBody>
      </p:sp>
      <p:sp>
        <p:nvSpPr>
          <p:cNvPr id="15" name="">
            <a:extLst xmlns:a="http://schemas.openxmlformats.org/drawingml/2006/main">
              <a:ext uri="{FF2B5EF4-FFF2-40B4-BE49-F238E27FC236}">
                <a16:creationId xmlns:a16="http://schemas.microsoft.com/office/drawing/2014/main" id="{39F04AF7-B86E-4DE5-B20C-93E90631CB11}"/>
              </a:ext>
            </a:extLst>
          </p:cNvPr>
          <p:cNvSpPr>
            <a:spLocks xmlns:a="http://schemas.openxmlformats.org/drawingml/2006/main" noGrp="1"/>
          </p:cNvSpPr>
          <p:nvPr/>
        </p:nvSpPr>
        <p:spPr>
          <a:xfrm xmlns:a="http://schemas.openxmlformats.org/drawingml/2006/main">
            <a:off x="9163050" y="4305300"/>
            <a:ext cx="1828800" cy="19050"/>
          </a:xfrm>
          <a:prstGeom xmlns:a="http://schemas.openxmlformats.org/drawingml/2006/main" prst="rect">
            <a:avLst/>
          </a:prstGeom>
          <a:solidFill xmlns:a="http://schemas.openxmlformats.org/drawingml/2006/main">
            <a:srgbClr val="536A9B"/>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EAAD1828-F238-4BA2-BD2C-60615842DC5B}"/>
              </a:ext>
            </a:extLst>
          </p:cNvPr>
          <p:cNvSpPr>
            <a:spLocks xmlns:a="http://schemas.openxmlformats.org/drawingml/2006/main" noGrp="1"/>
          </p:cNvSpPr>
          <p:nvPr/>
        </p:nvSpPr>
        <p:spPr>
          <a:xfrm xmlns:a="http://schemas.openxmlformats.org/drawingml/2006/main">
            <a:off x="8877300" y="4533900"/>
            <a:ext cx="24003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175" b="1">
                <a:solidFill>
                  <a:srgbClr val="FFFFFF"/>
                </a:solidFill>
                <a:latin typeface="Arial"/>
                <a:ea typeface="Arial"/>
                <a:cs typeface="Arial"/>
              </a:defRPr>
            </a:pPr>
            <a:r>
              <a:rPr sz="2175" b="1">
                <a:solidFill>
                  <a:srgbClr val="FFFFFF"/>
                </a:solidFill>
                <a:latin typeface="Arial"/>
                <a:ea typeface="Arial"/>
                <a:cs typeface="Arial"/>
              </a:rPr>
              <a:t>23.8%  →  52.2%</a:t>
            </a:r>
          </a:p>
        </p:txBody>
      </p:sp>
      <p:sp>
        <p:nvSpPr>
          <p:cNvPr id="17" name="">
            <a:extLst xmlns:a="http://schemas.openxmlformats.org/drawingml/2006/main">
              <a:ext uri="{FF2B5EF4-FFF2-40B4-BE49-F238E27FC236}">
                <a16:creationId xmlns:a16="http://schemas.microsoft.com/office/drawing/2014/main" id="{ABC4CE77-AF49-48BF-981A-8A6598910C9D}"/>
              </a:ext>
            </a:extLst>
          </p:cNvPr>
          <p:cNvSpPr>
            <a:spLocks xmlns:a="http://schemas.openxmlformats.org/drawingml/2006/main" noGrp="1"/>
          </p:cNvSpPr>
          <p:nvPr/>
        </p:nvSpPr>
        <p:spPr>
          <a:xfrm xmlns:a="http://schemas.openxmlformats.org/drawingml/2006/main">
            <a:off x="8877300" y="4953000"/>
            <a:ext cx="2400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275" b="0">
                <a:solidFill>
                  <a:srgbClr val="DCE4F3"/>
                </a:solidFill>
                <a:latin typeface="Arial"/>
                <a:ea typeface="Arial"/>
                <a:cs typeface="Arial"/>
              </a:defRPr>
            </a:pPr>
            <a:r>
              <a:rPr sz="1275" b="0">
                <a:solidFill>
                  <a:srgbClr val="DCE4F3"/>
                </a:solidFill>
                <a:latin typeface="Arial"/>
                <a:ea typeface="Arial"/>
                <a:cs typeface="Arial"/>
              </a:rPr>
              <a:t>OOD weapon assignment</a:t>
            </a:r>
          </a:p>
        </p:txBody>
      </p:sp>
      <p:sp>
        <p:nvSpPr>
          <p:cNvPr id="18" name="">
            <a:extLst xmlns:a="http://schemas.openxmlformats.org/drawingml/2006/main">
              <a:ext uri="{FF2B5EF4-FFF2-40B4-BE49-F238E27FC236}">
                <a16:creationId xmlns:a16="http://schemas.microsoft.com/office/drawing/2014/main" id="{AA7ACF6B-58A7-4567-977D-A10198E44E94}"/>
              </a:ext>
            </a:extLst>
          </p:cNvPr>
          <p:cNvSpPr>
            <a:spLocks xmlns:a="http://schemas.openxmlformats.org/drawingml/2006/main" noGrp="1"/>
          </p:cNvSpPr>
          <p:nvPr/>
        </p:nvSpPr>
        <p:spPr>
          <a:xfrm xmlns:a="http://schemas.openxmlformats.org/drawingml/2006/main">
            <a:off x="1333500" y="6076950"/>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1">
                <a:solidFill>
                  <a:srgbClr val="233A70"/>
                </a:solidFill>
                <a:latin typeface="Arial"/>
                <a:ea typeface="Arial"/>
                <a:cs typeface="Arial"/>
              </a:defRPr>
            </a:pPr>
            <a:r>
              <a:rPr sz="1500" b="1">
                <a:solidFill>
                  <a:srgbClr val="233A70"/>
                </a:solidFill>
                <a:latin typeface="Arial"/>
                <a:ea typeface="Arial"/>
                <a:cs typeface="Arial"/>
              </a:rPr>
              <a:t>No configuration minimizes missed targets, review workload and OOD assignments simultaneously.</a:t>
            </a:r>
          </a:p>
        </p:txBody>
      </p:sp>
    </p:spTree>
    <p:extLst>
      <p:ext uri="{BB962C8B-B14F-4D97-AF65-F5344CB8AC3E}">
        <p14:creationId xmlns:p14="http://schemas.microsoft.com/office/powerpoint/2010/main" val="466797150"/>
      </p:ext>
    </p:extLst>
  </p:cSld>
</p:sld>
</file>

<file path=ppt/slides/slide10.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DED6D724-FE30-49AE-997C-C1887C784179}"/>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233A70"/>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EA681E0-927A-45B2-8337-239E5FF9E121}"/>
              </a:ext>
            </a:extLst>
          </p:cNvPr>
          <p:cNvSpPr>
            <a:spLocks xmlns:a="http://schemas.openxmlformats.org/drawingml/2006/main" noGrp="1"/>
          </p:cNvSpPr>
          <p:nvPr/>
        </p:nvSpPr>
        <p:spPr>
          <a:xfrm xmlns:a="http://schemas.openxmlformats.org/drawingml/2006/main">
            <a:off x="685800" y="43815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600" b="1">
                <a:solidFill>
                  <a:srgbClr val="233A70"/>
                </a:solidFill>
                <a:latin typeface="Arial"/>
                <a:ea typeface="Arial"/>
                <a:cs typeface="Arial"/>
              </a:defRPr>
            </a:pPr>
            <a:r>
              <a:rPr sz="3600" b="1">
                <a:solidFill>
                  <a:srgbClr val="233A70"/>
                </a:solidFill>
                <a:latin typeface="Arial"/>
                <a:ea typeface="Arial"/>
                <a:cs typeface="Arial"/>
              </a:rPr>
              <a:t>OOD images were still routed to weapon</a:t>
            </a:r>
          </a:p>
        </p:txBody>
      </p:sp>
      <p:sp>
        <p:nvSpPr>
          <p:cNvPr id="3" name="">
            <a:extLst xmlns:a="http://schemas.openxmlformats.org/drawingml/2006/main">
              <a:ext uri="{FF2B5EF4-FFF2-40B4-BE49-F238E27FC236}">
                <a16:creationId xmlns:a16="http://schemas.microsoft.com/office/drawing/2014/main" id="{02E27C31-8D1E-4BD3-8929-482DDDC7B9EB}"/>
              </a:ext>
            </a:extLst>
          </p:cNvPr>
          <p:cNvSpPr>
            <a:spLocks xmlns:a="http://schemas.openxmlformats.org/drawingml/2006/main" noGrp="1"/>
          </p:cNvSpPr>
          <p:nvPr/>
        </p:nvSpPr>
        <p:spPr>
          <a:xfrm xmlns:a="http://schemas.openxmlformats.org/drawingml/2006/main">
            <a:off x="685800" y="1104900"/>
            <a:ext cx="10820400" cy="19050"/>
          </a:xfrm>
          <a:prstGeom xmlns:a="http://schemas.openxmlformats.org/drawingml/2006/main" prst="rect">
            <a:avLst/>
          </a:prstGeom>
          <a:solidFill xmlns:a="http://schemas.openxmlformats.org/drawingml/2006/main">
            <a:srgbClr val="D9DEE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23CCABE-2638-4044-8CC3-F8BDA96C8E52}"/>
              </a:ext>
            </a:extLst>
          </p:cNvPr>
          <p:cNvSpPr>
            <a:spLocks xmlns:a="http://schemas.openxmlformats.org/drawingml/2006/main" noGrp="1"/>
          </p:cNvSpPr>
          <p:nvPr/>
        </p:nvSpPr>
        <p:spPr>
          <a:xfrm xmlns:a="http://schemas.openxmlformats.org/drawingml/2006/main">
            <a:off x="685800" y="6524625"/>
            <a:ext cx="438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050" b="0">
                <a:solidFill>
                  <a:srgbClr val="5B6577"/>
                </a:solidFill>
                <a:latin typeface="Arial"/>
                <a:ea typeface="Arial"/>
                <a:cs typeface="Arial"/>
              </a:defRPr>
            </a:pPr>
            <a:r>
              <a:rPr sz="1050" b="0">
                <a:solidFill>
                  <a:srgbClr val="5B6577"/>
                </a:solidFill>
                <a:latin typeface="Arial"/>
                <a:ea typeface="Arial"/>
                <a:cs typeface="Arial"/>
              </a:rPr>
              <a:t>Lello Molinario  |  MSc Thesis Defense</a:t>
            </a:r>
          </a:p>
        </p:txBody>
      </p:sp>
      <p:sp>
        <p:nvSpPr>
          <p:cNvPr id="5" name="">
            <a:extLst xmlns:a="http://schemas.openxmlformats.org/drawingml/2006/main">
              <a:ext uri="{FF2B5EF4-FFF2-40B4-BE49-F238E27FC236}">
                <a16:creationId xmlns:a16="http://schemas.microsoft.com/office/drawing/2014/main" id="{32AC8A4D-2588-4B15-8350-592248936756}"/>
              </a:ext>
            </a:extLst>
          </p:cNvPr>
          <p:cNvSpPr>
            <a:spLocks xmlns:a="http://schemas.openxmlformats.org/drawingml/2006/main" noGrp="1"/>
          </p:cNvSpPr>
          <p:nvPr/>
        </p:nvSpPr>
        <p:spPr>
          <a:xfrm xmlns:a="http://schemas.openxmlformats.org/drawingml/2006/main">
            <a:off x="11049000" y="652462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050" b="0">
                <a:solidFill>
                  <a:srgbClr val="5B6577"/>
                </a:solidFill>
                <a:latin typeface="Arial"/>
                <a:ea typeface="Arial"/>
                <a:cs typeface="Arial"/>
              </a:defRPr>
            </a:pPr>
            <a:r>
              <a:rPr sz="1050" b="0">
                <a:solidFill>
                  <a:srgbClr val="5B6577"/>
                </a:solidFill>
                <a:latin typeface="Arial"/>
                <a:ea typeface="Arial"/>
                <a:cs typeface="Arial"/>
              </a:rPr>
              <a:t>10</a:t>
            </a:r>
          </a:p>
        </p:txBody>
      </p:sp>
      <p:sp>
        <p:nvSpPr>
          <p:cNvPr id="6" name="">
            <a:extLst xmlns:a="http://schemas.openxmlformats.org/drawingml/2006/main">
              <a:ext uri="{FF2B5EF4-FFF2-40B4-BE49-F238E27FC236}">
                <a16:creationId xmlns:a16="http://schemas.microsoft.com/office/drawing/2014/main" id="{C8C57C77-6DBD-44DA-9192-A78EE4E2B07D}"/>
              </a:ext>
            </a:extLst>
          </p:cNvPr>
          <p:cNvSpPr>
            <a:spLocks xmlns:a="http://schemas.openxmlformats.org/drawingml/2006/main" noGrp="1"/>
          </p:cNvSpPr>
          <p:nvPr/>
        </p:nvSpPr>
        <p:spPr>
          <a:xfrm xmlns:a="http://schemas.openxmlformats.org/drawingml/2006/main">
            <a:off x="685800" y="1257300"/>
            <a:ext cx="781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350" b="0">
                <a:solidFill>
                  <a:srgbClr val="5B6577"/>
                </a:solidFill>
                <a:latin typeface="Arial"/>
                <a:ea typeface="Arial"/>
                <a:cs typeface="Arial"/>
              </a:defRPr>
            </a:pPr>
            <a:r>
              <a:rPr sz="1350" b="0">
                <a:solidFill>
                  <a:srgbClr val="5B6577"/>
                </a:solidFill>
                <a:latin typeface="Arial"/>
                <a:ea typeface="Arial"/>
                <a:cs typeface="Arial"/>
              </a:rPr>
              <a:t>Weapon-assignment rate on the separate 500-image OOD branch</a:t>
            </a:r>
          </a:p>
        </p:txBody>
      </p:sp>
      <p:graphicFrame>
        <p:nvGraphicFramePr>
          <p:cNvPr id="21" name="Chart"/>
          <p:cNvGraphicFramePr/>
          <p:nvPr/>
        </p:nvGraphicFramePr>
        <p:xfrm>
          <a:off xmlns:a="http://schemas.openxmlformats.org/drawingml/2006/main" x="533400" y="1466850"/>
          <a:ext xmlns:a="http://schemas.openxmlformats.org/drawingml/2006/main" cx="8001000" cy="4648200"/>
        </p:xfrm>
        <a:graphic xmlns:a="http://schemas.openxmlformats.org/drawingml/2006/main">
          <a:graphicData uri="http://schemas.openxmlformats.org/drawingml/2006/chart">
            <c:chart xmlns:r="http://schemas.openxmlformats.org/officeDocument/2006/relationships" xmlns:c="http://schemas.openxmlformats.org/drawingml/2006/chart" r:id="Re6109dba7e294cae"/>
          </a:graphicData>
        </a:graphic>
      </p:graphicFrame>
      <p:sp>
        <p:nvSpPr>
          <p:cNvPr id="8" name="">
            <a:extLst xmlns:a="http://schemas.openxmlformats.org/drawingml/2006/main">
              <a:ext uri="{FF2B5EF4-FFF2-40B4-BE49-F238E27FC236}">
                <a16:creationId xmlns:a16="http://schemas.microsoft.com/office/drawing/2014/main" id="{162DD1E9-B02D-4444-9572-E8249CCCA93D}"/>
              </a:ext>
            </a:extLst>
          </p:cNvPr>
          <p:cNvSpPr>
            <a:spLocks xmlns:a="http://schemas.openxmlformats.org/drawingml/2006/main" noGrp="1"/>
          </p:cNvSpPr>
          <p:nvPr/>
        </p:nvSpPr>
        <p:spPr>
          <a:xfrm xmlns:a="http://schemas.openxmlformats.org/drawingml/2006/main">
            <a:off x="8858250" y="1619250"/>
            <a:ext cx="2647950" cy="1428750"/>
          </a:xfrm>
          <a:prstGeom xmlns:a="http://schemas.openxmlformats.org/drawingml/2006/main" prst="roundRect">
            <a:avLst>
              <a:gd name="adj" fmla="val 12000"/>
            </a:avLst>
          </a:prstGeom>
          <a:solidFill xmlns:a="http://schemas.openxmlformats.org/drawingml/2006/main">
            <a:srgbClr val="FBEAEA"/>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C66F82BF-F8CF-4914-8747-DF7B49329C5C}"/>
              </a:ext>
            </a:extLst>
          </p:cNvPr>
          <p:cNvSpPr>
            <a:spLocks xmlns:a="http://schemas.openxmlformats.org/drawingml/2006/main" noGrp="1"/>
          </p:cNvSpPr>
          <p:nvPr/>
        </p:nvSpPr>
        <p:spPr>
          <a:xfrm xmlns:a="http://schemas.openxmlformats.org/drawingml/2006/main">
            <a:off x="9048750" y="1943100"/>
            <a:ext cx="2266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3675" b="1">
                <a:solidFill>
                  <a:srgbClr val="BE3C37"/>
                </a:solidFill>
                <a:latin typeface="Arial"/>
                <a:ea typeface="Arial"/>
                <a:cs typeface="Arial"/>
              </a:defRPr>
            </a:pPr>
            <a:r>
              <a:rPr sz="3675" b="1">
                <a:solidFill>
                  <a:srgbClr val="BE3C37"/>
                </a:solidFill>
                <a:latin typeface="Arial"/>
                <a:ea typeface="Arial"/>
                <a:cs typeface="Arial"/>
              </a:rPr>
              <a:t>83.6%</a:t>
            </a:r>
          </a:p>
        </p:txBody>
      </p:sp>
      <p:sp>
        <p:nvSpPr>
          <p:cNvPr id="10" name="">
            <a:extLst xmlns:a="http://schemas.openxmlformats.org/drawingml/2006/main">
              <a:ext uri="{FF2B5EF4-FFF2-40B4-BE49-F238E27FC236}">
                <a16:creationId xmlns:a16="http://schemas.microsoft.com/office/drawing/2014/main" id="{FB8121E6-B232-4F7B-975D-38945AFE3309}"/>
              </a:ext>
            </a:extLst>
          </p:cNvPr>
          <p:cNvSpPr>
            <a:spLocks xmlns:a="http://schemas.openxmlformats.org/drawingml/2006/main" noGrp="1"/>
          </p:cNvSpPr>
          <p:nvPr/>
        </p:nvSpPr>
        <p:spPr>
          <a:xfrm xmlns:a="http://schemas.openxmlformats.org/drawingml/2006/main">
            <a:off x="9048750" y="2590800"/>
            <a:ext cx="2266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1">
                <a:solidFill>
                  <a:srgbClr val="172033"/>
                </a:solidFill>
                <a:latin typeface="Arial"/>
                <a:ea typeface="Arial"/>
                <a:cs typeface="Arial"/>
              </a:defRPr>
            </a:pPr>
            <a:r>
              <a:rPr sz="1500" b="1">
                <a:solidFill>
                  <a:srgbClr val="172033"/>
                </a:solidFill>
                <a:latin typeface="Arial"/>
                <a:ea typeface="Arial"/>
                <a:cs typeface="Arial"/>
              </a:rPr>
              <a:t>CLIP proxy</a:t>
            </a:r>
          </a:p>
        </p:txBody>
      </p:sp>
      <p:sp>
        <p:nvSpPr>
          <p:cNvPr id="11" name="">
            <a:extLst xmlns:a="http://schemas.openxmlformats.org/drawingml/2006/main">
              <a:ext uri="{FF2B5EF4-FFF2-40B4-BE49-F238E27FC236}">
                <a16:creationId xmlns:a16="http://schemas.microsoft.com/office/drawing/2014/main" id="{C227376D-1F4B-4368-B470-3C3C554720A1}"/>
              </a:ext>
            </a:extLst>
          </p:cNvPr>
          <p:cNvSpPr>
            <a:spLocks xmlns:a="http://schemas.openxmlformats.org/drawingml/2006/main" noGrp="1"/>
          </p:cNvSpPr>
          <p:nvPr/>
        </p:nvSpPr>
        <p:spPr>
          <a:xfrm xmlns:a="http://schemas.openxmlformats.org/drawingml/2006/main">
            <a:off x="8858250" y="3314700"/>
            <a:ext cx="2647950" cy="1428750"/>
          </a:xfrm>
          <a:prstGeom xmlns:a="http://schemas.openxmlformats.org/drawingml/2006/main" prst="roundRect">
            <a:avLst>
              <a:gd name="adj" fmla="val 12000"/>
            </a:avLst>
          </a:prstGeom>
          <a:solidFill xmlns:a="http://schemas.openxmlformats.org/drawingml/2006/main">
            <a:srgbClr val="FFF4CD"/>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F2B5D134-0109-4C0B-83F0-6B3FC048A3AC}"/>
              </a:ext>
            </a:extLst>
          </p:cNvPr>
          <p:cNvSpPr>
            <a:spLocks xmlns:a="http://schemas.openxmlformats.org/drawingml/2006/main" noGrp="1"/>
          </p:cNvSpPr>
          <p:nvPr/>
        </p:nvSpPr>
        <p:spPr>
          <a:xfrm xmlns:a="http://schemas.openxmlformats.org/drawingml/2006/main">
            <a:off x="9048750" y="3638550"/>
            <a:ext cx="2266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700" b="1">
                <a:solidFill>
                  <a:srgbClr val="C89B14"/>
                </a:solidFill>
                <a:latin typeface="Arial"/>
                <a:ea typeface="Arial"/>
                <a:cs typeface="Arial"/>
              </a:defRPr>
            </a:pPr>
            <a:r>
              <a:rPr sz="2700" b="1">
                <a:solidFill>
                  <a:srgbClr val="C89B14"/>
                </a:solidFill>
                <a:latin typeface="Arial"/>
                <a:ea typeface="Arial"/>
                <a:cs typeface="Arial"/>
              </a:rPr>
              <a:t>23.8–52.2%</a:t>
            </a:r>
          </a:p>
        </p:txBody>
      </p:sp>
      <p:sp>
        <p:nvSpPr>
          <p:cNvPr id="13" name="">
            <a:extLst xmlns:a="http://schemas.openxmlformats.org/drawingml/2006/main">
              <a:ext uri="{FF2B5EF4-FFF2-40B4-BE49-F238E27FC236}">
                <a16:creationId xmlns:a16="http://schemas.microsoft.com/office/drawing/2014/main" id="{6C367E04-4539-48B7-95FD-25BE3AFE42D3}"/>
              </a:ext>
            </a:extLst>
          </p:cNvPr>
          <p:cNvSpPr>
            <a:spLocks xmlns:a="http://schemas.openxmlformats.org/drawingml/2006/main" noGrp="1"/>
          </p:cNvSpPr>
          <p:nvPr/>
        </p:nvSpPr>
        <p:spPr>
          <a:xfrm xmlns:a="http://schemas.openxmlformats.org/drawingml/2006/main">
            <a:off x="9048750" y="4286250"/>
            <a:ext cx="2266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1">
                <a:solidFill>
                  <a:srgbClr val="172033"/>
                </a:solidFill>
                <a:latin typeface="Arial"/>
                <a:ea typeface="Arial"/>
                <a:cs typeface="Arial"/>
              </a:defRPr>
            </a:pPr>
            <a:r>
              <a:rPr sz="1500" b="1">
                <a:solidFill>
                  <a:srgbClr val="172033"/>
                </a:solidFill>
                <a:latin typeface="Arial"/>
                <a:ea typeface="Arial"/>
                <a:cs typeface="Arial"/>
              </a:rPr>
              <a:t>black-box range</a:t>
            </a:r>
          </a:p>
        </p:txBody>
      </p:sp>
      <p:sp>
        <p:nvSpPr>
          <p:cNvPr id="14" name="">
            <a:extLst xmlns:a="http://schemas.openxmlformats.org/drawingml/2006/main">
              <a:ext uri="{FF2B5EF4-FFF2-40B4-BE49-F238E27FC236}">
                <a16:creationId xmlns:a16="http://schemas.microsoft.com/office/drawing/2014/main" id="{ED55BAD6-5F50-4762-AA30-51DEBFC8C1C5}"/>
              </a:ext>
            </a:extLst>
          </p:cNvPr>
          <p:cNvSpPr>
            <a:spLocks xmlns:a="http://schemas.openxmlformats.org/drawingml/2006/main" noGrp="1"/>
          </p:cNvSpPr>
          <p:nvPr/>
        </p:nvSpPr>
        <p:spPr>
          <a:xfrm xmlns:a="http://schemas.openxmlformats.org/drawingml/2006/main">
            <a:off x="8820150" y="5143500"/>
            <a:ext cx="27241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00" b="1">
                <a:solidFill>
                  <a:srgbClr val="233A70"/>
                </a:solidFill>
                <a:latin typeface="Arial"/>
                <a:ea typeface="Arial"/>
                <a:cs typeface="Arial"/>
              </a:defRPr>
            </a:pPr>
            <a:r>
              <a:rPr sz="1500" b="1">
                <a:solidFill>
                  <a:srgbClr val="233A70"/>
                </a:solidFill>
                <a:latin typeface="Arial"/>
                <a:ea typeface="Arial"/>
                <a:cs typeface="Arial"/>
              </a:rPr>
              <a:t>These are closed-set operating behaviors—not supervised false positives.</a:t>
            </a:r>
          </a:p>
        </p:txBody>
      </p:sp>
    </p:spTree>
    <p:extLst>
      <p:ext uri="{BB962C8B-B14F-4D97-AF65-F5344CB8AC3E}">
        <p14:creationId xmlns:p14="http://schemas.microsoft.com/office/powerpoint/2010/main" val="645744919"/>
      </p:ext>
    </p:extLst>
  </p:cSld>
</p:sld>
</file>

<file path=ppt/slides/slide11.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5645DA4D-5BF9-4953-8433-9A7E419FF066}"/>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233A70"/>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4F3758C-2532-486E-A04E-E3D13E2CDF8A}"/>
              </a:ext>
            </a:extLst>
          </p:cNvPr>
          <p:cNvSpPr>
            <a:spLocks xmlns:a="http://schemas.openxmlformats.org/drawingml/2006/main" noGrp="1"/>
          </p:cNvSpPr>
          <p:nvPr/>
        </p:nvSpPr>
        <p:spPr>
          <a:xfrm xmlns:a="http://schemas.openxmlformats.org/drawingml/2006/main">
            <a:off x="685800" y="43815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600" b="1">
                <a:solidFill>
                  <a:srgbClr val="233A70"/>
                </a:solidFill>
                <a:latin typeface="Arial"/>
                <a:ea typeface="Arial"/>
                <a:cs typeface="Arial"/>
              </a:defRPr>
            </a:pPr>
            <a:r>
              <a:rPr sz="3600" b="1">
                <a:solidFill>
                  <a:srgbClr val="233A70"/>
                </a:solidFill>
                <a:latin typeface="Arial"/>
                <a:ea typeface="Arial"/>
                <a:cs typeface="Arial"/>
              </a:rPr>
              <a:t>A maximally concentrated output can still be wrong</a:t>
            </a:r>
          </a:p>
        </p:txBody>
      </p:sp>
      <p:sp>
        <p:nvSpPr>
          <p:cNvPr id="3" name="">
            <a:extLst xmlns:a="http://schemas.openxmlformats.org/drawingml/2006/main">
              <a:ext uri="{FF2B5EF4-FFF2-40B4-BE49-F238E27FC236}">
                <a16:creationId xmlns:a16="http://schemas.microsoft.com/office/drawing/2014/main" id="{CA526874-FE39-4860-AE76-8FB19350DF74}"/>
              </a:ext>
            </a:extLst>
          </p:cNvPr>
          <p:cNvSpPr>
            <a:spLocks xmlns:a="http://schemas.openxmlformats.org/drawingml/2006/main" noGrp="1"/>
          </p:cNvSpPr>
          <p:nvPr/>
        </p:nvSpPr>
        <p:spPr>
          <a:xfrm xmlns:a="http://schemas.openxmlformats.org/drawingml/2006/main">
            <a:off x="685800" y="1104900"/>
            <a:ext cx="10820400" cy="19050"/>
          </a:xfrm>
          <a:prstGeom xmlns:a="http://schemas.openxmlformats.org/drawingml/2006/main" prst="rect">
            <a:avLst/>
          </a:prstGeom>
          <a:solidFill xmlns:a="http://schemas.openxmlformats.org/drawingml/2006/main">
            <a:srgbClr val="D9DEE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0A090AA1-0FBA-403D-B515-3D72E084FF70}"/>
              </a:ext>
            </a:extLst>
          </p:cNvPr>
          <p:cNvSpPr>
            <a:spLocks xmlns:a="http://schemas.openxmlformats.org/drawingml/2006/main" noGrp="1"/>
          </p:cNvSpPr>
          <p:nvPr/>
        </p:nvSpPr>
        <p:spPr>
          <a:xfrm xmlns:a="http://schemas.openxmlformats.org/drawingml/2006/main">
            <a:off x="685800" y="6524625"/>
            <a:ext cx="438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050" b="0">
                <a:solidFill>
                  <a:srgbClr val="5B6577"/>
                </a:solidFill>
                <a:latin typeface="Arial"/>
                <a:ea typeface="Arial"/>
                <a:cs typeface="Arial"/>
              </a:defRPr>
            </a:pPr>
            <a:r>
              <a:rPr sz="1050" b="0">
                <a:solidFill>
                  <a:srgbClr val="5B6577"/>
                </a:solidFill>
                <a:latin typeface="Arial"/>
                <a:ea typeface="Arial"/>
                <a:cs typeface="Arial"/>
              </a:rPr>
              <a:t>Lello Molinario  |  MSc Thesis Defense</a:t>
            </a:r>
          </a:p>
        </p:txBody>
      </p:sp>
      <p:sp>
        <p:nvSpPr>
          <p:cNvPr id="5" name="">
            <a:extLst xmlns:a="http://schemas.openxmlformats.org/drawingml/2006/main">
              <a:ext uri="{FF2B5EF4-FFF2-40B4-BE49-F238E27FC236}">
                <a16:creationId xmlns:a16="http://schemas.microsoft.com/office/drawing/2014/main" id="{E694E014-2838-430B-BED6-5AAAE1012DAB}"/>
              </a:ext>
            </a:extLst>
          </p:cNvPr>
          <p:cNvSpPr>
            <a:spLocks xmlns:a="http://schemas.openxmlformats.org/drawingml/2006/main" noGrp="1"/>
          </p:cNvSpPr>
          <p:nvPr/>
        </p:nvSpPr>
        <p:spPr>
          <a:xfrm xmlns:a="http://schemas.openxmlformats.org/drawingml/2006/main">
            <a:off x="11049000" y="652462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050" b="0">
                <a:solidFill>
                  <a:srgbClr val="5B6577"/>
                </a:solidFill>
                <a:latin typeface="Arial"/>
                <a:ea typeface="Arial"/>
                <a:cs typeface="Arial"/>
              </a:defRPr>
            </a:pPr>
            <a:r>
              <a:rPr sz="1050" b="0">
                <a:solidFill>
                  <a:srgbClr val="5B6577"/>
                </a:solidFill>
                <a:latin typeface="Arial"/>
                <a:ea typeface="Arial"/>
                <a:cs typeface="Arial"/>
              </a:rPr>
              <a:t>11</a:t>
            </a:r>
          </a:p>
        </p:txBody>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42c17bdfdff5403c"/>
          <a:srcRect xmlns:a="http://schemas.openxmlformats.org/drawingml/2006/main" l="0" t="0" r="0" b="0"/>
          <a:stretch xmlns:a="http://schemas.openxmlformats.org/drawingml/2006/main">
            <a:fillRect l="0" t="0" r="0" b="0"/>
          </a:stretch>
        </p:blipFill>
        <p:spPr>
          <a:xfrm xmlns:a="http://schemas.openxmlformats.org/drawingml/2006/main">
            <a:off x="685800" y="1638300"/>
            <a:ext cx="2000250" cy="2000250"/>
          </a:xfrm>
          <a:prstGeom xmlns:a="http://schemas.openxmlformats.org/drawingml/2006/main" prst="roundRect">
            <a:avLst>
              <a:gd name="adj" fmla="val 5714"/>
            </a:avLst>
          </a:prstGeom>
        </p:spPr>
      </p:pic>
      <p:sp>
        <p:nvSpPr>
          <p:cNvPr id="7" name="">
            <a:extLst xmlns:a="http://schemas.openxmlformats.org/drawingml/2006/main">
              <a:ext uri="{FF2B5EF4-FFF2-40B4-BE49-F238E27FC236}">
                <a16:creationId xmlns:a16="http://schemas.microsoft.com/office/drawing/2014/main" id="{F435B978-2CD2-4500-A3CA-AAC78EA22718}"/>
              </a:ext>
            </a:extLst>
          </p:cNvPr>
          <p:cNvSpPr>
            <a:spLocks xmlns:a="http://schemas.openxmlformats.org/drawingml/2006/main" noGrp="1"/>
          </p:cNvSpPr>
          <p:nvPr/>
        </p:nvSpPr>
        <p:spPr>
          <a:xfrm xmlns:a="http://schemas.openxmlformats.org/drawingml/2006/main">
            <a:off x="685800" y="37719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425" b="1">
                <a:solidFill>
                  <a:srgbClr val="172033"/>
                </a:solidFill>
                <a:latin typeface="Arial"/>
                <a:ea typeface="Arial"/>
                <a:cs typeface="Arial"/>
              </a:defRPr>
            </a:pPr>
            <a:r>
              <a:rPr sz="1425" b="1">
                <a:solidFill>
                  <a:srgbClr val="172033"/>
                </a:solidFill>
                <a:latin typeface="Arial"/>
                <a:ea typeface="Arial"/>
                <a:cs typeface="Arial"/>
              </a:rPr>
              <a:t>Perturbed input</a:t>
            </a:r>
          </a:p>
        </p:txBody>
      </p:sp>
      <p:sp>
        <p:nvSpPr>
          <p:cNvPr id="8" name="">
            <a:extLst xmlns:a="http://schemas.openxmlformats.org/drawingml/2006/main">
              <a:ext uri="{FF2B5EF4-FFF2-40B4-BE49-F238E27FC236}">
                <a16:creationId xmlns:a16="http://schemas.microsoft.com/office/drawing/2014/main" id="{B1989978-C8F3-45F2-99A5-CA65821A908A}"/>
              </a:ext>
            </a:extLst>
          </p:cNvPr>
          <p:cNvSpPr>
            <a:spLocks xmlns:a="http://schemas.openxmlformats.org/drawingml/2006/main" noGrp="1"/>
          </p:cNvSpPr>
          <p:nvPr/>
        </p:nvSpPr>
        <p:spPr>
          <a:xfrm xmlns:a="http://schemas.openxmlformats.org/drawingml/2006/main">
            <a:off x="685800" y="405765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200" b="0">
                <a:solidFill>
                  <a:srgbClr val="5B6577"/>
                </a:solidFill>
                <a:latin typeface="Arial"/>
                <a:ea typeface="Arial"/>
                <a:cs typeface="Arial"/>
              </a:defRPr>
            </a:pPr>
            <a:r>
              <a:rPr sz="1200" b="0">
                <a:solidFill>
                  <a:srgbClr val="5B6577"/>
                </a:solidFill>
                <a:latin typeface="Arial"/>
                <a:ea typeface="Arial"/>
                <a:cs typeface="Arial"/>
              </a:rPr>
              <a:t>Sigma Zero</a:t>
            </a:r>
          </a:p>
        </p:txBody>
      </p:sp>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d79b65fa49e74fb5"/>
          <a:srcRect xmlns:a="http://schemas.openxmlformats.org/drawingml/2006/main" l="0" t="0" r="0" b="0"/>
          <a:stretch xmlns:a="http://schemas.openxmlformats.org/drawingml/2006/main">
            <a:fillRect l="0" t="0" r="0" b="0"/>
          </a:stretch>
        </p:blipFill>
        <p:spPr>
          <a:xfrm xmlns:a="http://schemas.openxmlformats.org/drawingml/2006/main">
            <a:off x="2990850" y="1638300"/>
            <a:ext cx="2000250" cy="2000250"/>
          </a:xfrm>
          <a:prstGeom xmlns:a="http://schemas.openxmlformats.org/drawingml/2006/main" prst="roundRect">
            <a:avLst>
              <a:gd name="adj" fmla="val 5714"/>
            </a:avLst>
          </a:prstGeom>
        </p:spPr>
      </p:pic>
      <p:sp>
        <p:nvSpPr>
          <p:cNvPr id="10" name="">
            <a:extLst xmlns:a="http://schemas.openxmlformats.org/drawingml/2006/main">
              <a:ext uri="{FF2B5EF4-FFF2-40B4-BE49-F238E27FC236}">
                <a16:creationId xmlns:a16="http://schemas.microsoft.com/office/drawing/2014/main" id="{E91D850F-EA38-4FEE-BE99-2BC2EB72ECB5}"/>
              </a:ext>
            </a:extLst>
          </p:cNvPr>
          <p:cNvSpPr>
            <a:spLocks xmlns:a="http://schemas.openxmlformats.org/drawingml/2006/main" noGrp="1"/>
          </p:cNvSpPr>
          <p:nvPr/>
        </p:nvSpPr>
        <p:spPr>
          <a:xfrm xmlns:a="http://schemas.openxmlformats.org/drawingml/2006/main">
            <a:off x="2990850" y="37719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425" b="1">
                <a:solidFill>
                  <a:srgbClr val="172033"/>
                </a:solidFill>
                <a:latin typeface="Arial"/>
                <a:ea typeface="Arial"/>
                <a:cs typeface="Arial"/>
              </a:defRPr>
            </a:pPr>
            <a:r>
              <a:rPr sz="1425" b="1">
                <a:solidFill>
                  <a:srgbClr val="172033"/>
                </a:solidFill>
                <a:latin typeface="Arial"/>
                <a:ea typeface="Arial"/>
                <a:cs typeface="Arial"/>
              </a:rPr>
              <a:t>IG magnitude</a:t>
            </a:r>
          </a:p>
        </p:txBody>
      </p:sp>
      <p:sp>
        <p:nvSpPr>
          <p:cNvPr id="11" name="">
            <a:extLst xmlns:a="http://schemas.openxmlformats.org/drawingml/2006/main">
              <a:ext uri="{FF2B5EF4-FFF2-40B4-BE49-F238E27FC236}">
                <a16:creationId xmlns:a16="http://schemas.microsoft.com/office/drawing/2014/main" id="{8491799F-BA10-4AA0-9BE0-C7F292FCB7FE}"/>
              </a:ext>
            </a:extLst>
          </p:cNvPr>
          <p:cNvSpPr>
            <a:spLocks xmlns:a="http://schemas.openxmlformats.org/drawingml/2006/main" noGrp="1"/>
          </p:cNvSpPr>
          <p:nvPr/>
        </p:nvSpPr>
        <p:spPr>
          <a:xfrm xmlns:a="http://schemas.openxmlformats.org/drawingml/2006/main">
            <a:off x="2990850" y="405765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200" b="0">
                <a:solidFill>
                  <a:srgbClr val="5B6577"/>
                </a:solidFill>
                <a:latin typeface="Arial"/>
                <a:ea typeface="Arial"/>
                <a:cs typeface="Arial"/>
              </a:defRPr>
            </a:pPr>
            <a:r>
              <a:rPr sz="1200" b="0">
                <a:solidFill>
                  <a:srgbClr val="5B6577"/>
                </a:solidFill>
                <a:latin typeface="Arial"/>
                <a:ea typeface="Arial"/>
                <a:cs typeface="Arial"/>
              </a:rPr>
              <a:t>predicted class</a:t>
            </a:r>
          </a:p>
        </p:txBody>
      </p:sp>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7eec9a3aa82b4a32"/>
          <a:srcRect xmlns:a="http://schemas.openxmlformats.org/drawingml/2006/main" l="0" t="0" r="0" b="0"/>
          <a:stretch xmlns:a="http://schemas.openxmlformats.org/drawingml/2006/main">
            <a:fillRect l="0" t="0" r="0" b="0"/>
          </a:stretch>
        </p:blipFill>
        <p:spPr>
          <a:xfrm xmlns:a="http://schemas.openxmlformats.org/drawingml/2006/main">
            <a:off x="5295900" y="1638300"/>
            <a:ext cx="2000250" cy="2000250"/>
          </a:xfrm>
          <a:prstGeom xmlns:a="http://schemas.openxmlformats.org/drawingml/2006/main" prst="roundRect">
            <a:avLst>
              <a:gd name="adj" fmla="val 5714"/>
            </a:avLst>
          </a:prstGeom>
        </p:spPr>
      </p:pic>
      <p:sp>
        <p:nvSpPr>
          <p:cNvPr id="13" name="">
            <a:extLst xmlns:a="http://schemas.openxmlformats.org/drawingml/2006/main">
              <a:ext uri="{FF2B5EF4-FFF2-40B4-BE49-F238E27FC236}">
                <a16:creationId xmlns:a16="http://schemas.microsoft.com/office/drawing/2014/main" id="{BD18B2E2-966E-4B84-B33C-A64D6FBBD8E2}"/>
              </a:ext>
            </a:extLst>
          </p:cNvPr>
          <p:cNvSpPr>
            <a:spLocks xmlns:a="http://schemas.openxmlformats.org/drawingml/2006/main" noGrp="1"/>
          </p:cNvSpPr>
          <p:nvPr/>
        </p:nvSpPr>
        <p:spPr>
          <a:xfrm xmlns:a="http://schemas.openxmlformats.org/drawingml/2006/main">
            <a:off x="5295900" y="37719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425" b="1">
                <a:solidFill>
                  <a:srgbClr val="172033"/>
                </a:solidFill>
                <a:latin typeface="Arial"/>
                <a:ea typeface="Arial"/>
                <a:cs typeface="Arial"/>
              </a:defRPr>
            </a:pPr>
            <a:r>
              <a:rPr sz="1425" b="1">
                <a:solidFill>
                  <a:srgbClr val="172033"/>
                </a:solidFill>
                <a:latin typeface="Arial"/>
                <a:ea typeface="Arial"/>
                <a:cs typeface="Arial"/>
              </a:rPr>
              <a:t>Attribution overlay</a:t>
            </a:r>
          </a:p>
        </p:txBody>
      </p:sp>
      <p:sp>
        <p:nvSpPr>
          <p:cNvPr id="14" name="">
            <a:extLst xmlns:a="http://schemas.openxmlformats.org/drawingml/2006/main">
              <a:ext uri="{FF2B5EF4-FFF2-40B4-BE49-F238E27FC236}">
                <a16:creationId xmlns:a16="http://schemas.microsoft.com/office/drawing/2014/main" id="{F42CFE87-0CE4-4FBF-BED1-B5868165BBDA}"/>
              </a:ext>
            </a:extLst>
          </p:cNvPr>
          <p:cNvSpPr>
            <a:spLocks xmlns:a="http://schemas.openxmlformats.org/drawingml/2006/main" noGrp="1"/>
          </p:cNvSpPr>
          <p:nvPr/>
        </p:nvSpPr>
        <p:spPr>
          <a:xfrm xmlns:a="http://schemas.openxmlformats.org/drawingml/2006/main">
            <a:off x="5295900" y="405765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200" b="0">
                <a:solidFill>
                  <a:srgbClr val="5B6577"/>
                </a:solidFill>
                <a:latin typeface="Arial"/>
                <a:ea typeface="Arial"/>
                <a:cs typeface="Arial"/>
              </a:defRPr>
            </a:pPr>
            <a:r>
              <a:rPr sz="1200" b="0">
                <a:solidFill>
                  <a:srgbClr val="5B6577"/>
                </a:solidFill>
                <a:latin typeface="Arial"/>
                <a:ea typeface="Arial"/>
                <a:cs typeface="Arial"/>
              </a:rPr>
              <a:t>qualitative only</a:t>
            </a:r>
          </a:p>
        </p:txBody>
      </p:sp>
      <p:sp>
        <p:nvSpPr>
          <p:cNvPr id="15" name="">
            <a:extLst xmlns:a="http://schemas.openxmlformats.org/drawingml/2006/main">
              <a:ext uri="{FF2B5EF4-FFF2-40B4-BE49-F238E27FC236}">
                <a16:creationId xmlns:a16="http://schemas.microsoft.com/office/drawing/2014/main" id="{FA069229-F17B-4C8B-BB46-930BCC99CC7F}"/>
              </a:ext>
            </a:extLst>
          </p:cNvPr>
          <p:cNvSpPr>
            <a:spLocks xmlns:a="http://schemas.openxmlformats.org/drawingml/2006/main" noGrp="1"/>
          </p:cNvSpPr>
          <p:nvPr/>
        </p:nvSpPr>
        <p:spPr>
          <a:xfrm xmlns:a="http://schemas.openxmlformats.org/drawingml/2006/main">
            <a:off x="7810500" y="1562100"/>
            <a:ext cx="3695700" cy="2857500"/>
          </a:xfrm>
          <a:prstGeom xmlns:a="http://schemas.openxmlformats.org/drawingml/2006/main" prst="roundRect">
            <a:avLst>
              <a:gd name="adj" fmla="val 6667"/>
            </a:avLst>
          </a:prstGeom>
          <a:solidFill xmlns:a="http://schemas.openxmlformats.org/drawingml/2006/main">
            <a:srgbClr val="233A70"/>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7D25BA6B-1106-4A33-832D-36A979EC83DB}"/>
              </a:ext>
            </a:extLst>
          </p:cNvPr>
          <p:cNvSpPr>
            <a:spLocks xmlns:a="http://schemas.openxmlformats.org/drawingml/2006/main" noGrp="1"/>
          </p:cNvSpPr>
          <p:nvPr/>
        </p:nvSpPr>
        <p:spPr>
          <a:xfrm xmlns:a="http://schemas.openxmlformats.org/drawingml/2006/main">
            <a:off x="8096250" y="1828800"/>
            <a:ext cx="3124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275" b="1">
                <a:solidFill>
                  <a:srgbClr val="14B978"/>
                </a:solidFill>
                <a:latin typeface="Arial"/>
                <a:ea typeface="Arial"/>
                <a:cs typeface="Arial"/>
              </a:defRPr>
            </a:pPr>
            <a:r>
              <a:rPr sz="1275" b="1">
                <a:solidFill>
                  <a:srgbClr val="14B978"/>
                </a:solidFill>
                <a:latin typeface="Arial"/>
                <a:ea typeface="Arial"/>
                <a:cs typeface="Arial"/>
              </a:rPr>
              <a:t>xai_case_0015</a:t>
            </a:r>
          </a:p>
        </p:txBody>
      </p:sp>
      <p:sp>
        <p:nvSpPr>
          <p:cNvPr id="17" name="">
            <a:extLst xmlns:a="http://schemas.openxmlformats.org/drawingml/2006/main">
              <a:ext uri="{FF2B5EF4-FFF2-40B4-BE49-F238E27FC236}">
                <a16:creationId xmlns:a16="http://schemas.microsoft.com/office/drawing/2014/main" id="{3EAB3D39-A4EA-43CB-9D21-A6855C38A875}"/>
              </a:ext>
            </a:extLst>
          </p:cNvPr>
          <p:cNvSpPr>
            <a:spLocks xmlns:a="http://schemas.openxmlformats.org/drawingml/2006/main" noGrp="1"/>
          </p:cNvSpPr>
          <p:nvPr/>
        </p:nvSpPr>
        <p:spPr>
          <a:xfrm xmlns:a="http://schemas.openxmlformats.org/drawingml/2006/main">
            <a:off x="8096250" y="2305050"/>
            <a:ext cx="133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200" b="1">
                <a:solidFill>
                  <a:srgbClr val="DCE4F3"/>
                </a:solidFill>
                <a:latin typeface="Arial"/>
                <a:ea typeface="Arial"/>
                <a:cs typeface="Arial"/>
              </a:defRPr>
            </a:pPr>
            <a:r>
              <a:rPr sz="1200" b="1">
                <a:solidFill>
                  <a:srgbClr val="DCE4F3"/>
                </a:solidFill>
                <a:latin typeface="Arial"/>
                <a:ea typeface="Arial"/>
                <a:cs typeface="Arial"/>
              </a:rPr>
              <a:t>REFERENCE</a:t>
            </a:r>
          </a:p>
        </p:txBody>
      </p:sp>
      <p:sp>
        <p:nvSpPr>
          <p:cNvPr id="18" name="">
            <a:extLst xmlns:a="http://schemas.openxmlformats.org/drawingml/2006/main">
              <a:ext uri="{FF2B5EF4-FFF2-40B4-BE49-F238E27FC236}">
                <a16:creationId xmlns:a16="http://schemas.microsoft.com/office/drawing/2014/main" id="{C1C5FAD1-3F30-4059-A516-5B8394AAE46E}"/>
              </a:ext>
            </a:extLst>
          </p:cNvPr>
          <p:cNvSpPr>
            <a:spLocks xmlns:a="http://schemas.openxmlformats.org/drawingml/2006/main" noGrp="1"/>
          </p:cNvSpPr>
          <p:nvPr/>
        </p:nvSpPr>
        <p:spPr>
          <a:xfrm xmlns:a="http://schemas.openxmlformats.org/drawingml/2006/main">
            <a:off x="8096250" y="2590800"/>
            <a:ext cx="1333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non_weapon</a:t>
            </a:r>
          </a:p>
        </p:txBody>
      </p:sp>
      <p:sp>
        <p:nvSpPr>
          <p:cNvPr id="19" name="">
            <a:extLst xmlns:a="http://schemas.openxmlformats.org/drawingml/2006/main">
              <a:ext uri="{FF2B5EF4-FFF2-40B4-BE49-F238E27FC236}">
                <a16:creationId xmlns:a16="http://schemas.microsoft.com/office/drawing/2014/main" id="{535795A5-21C9-4CC4-AF05-3AA3207A1EC2}"/>
              </a:ext>
            </a:extLst>
          </p:cNvPr>
          <p:cNvSpPr>
            <a:spLocks xmlns:a="http://schemas.openxmlformats.org/drawingml/2006/main" noGrp="1"/>
          </p:cNvSpPr>
          <p:nvPr/>
        </p:nvSpPr>
        <p:spPr>
          <a:xfrm xmlns:a="http://schemas.openxmlformats.org/drawingml/2006/main">
            <a:off x="9886950" y="2305050"/>
            <a:ext cx="133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200" b="1">
                <a:solidFill>
                  <a:srgbClr val="DCE4F3"/>
                </a:solidFill>
                <a:latin typeface="Arial"/>
                <a:ea typeface="Arial"/>
                <a:cs typeface="Arial"/>
              </a:defRPr>
            </a:pPr>
            <a:r>
              <a:rPr sz="1200" b="1">
                <a:solidFill>
                  <a:srgbClr val="DCE4F3"/>
                </a:solidFill>
                <a:latin typeface="Arial"/>
                <a:ea typeface="Arial"/>
                <a:cs typeface="Arial"/>
              </a:rPr>
              <a:t>PREDICTION</a:t>
            </a:r>
          </a:p>
        </p:txBody>
      </p:sp>
      <p:sp>
        <p:nvSpPr>
          <p:cNvPr id="20" name="">
            <a:extLst xmlns:a="http://schemas.openxmlformats.org/drawingml/2006/main">
              <a:ext uri="{FF2B5EF4-FFF2-40B4-BE49-F238E27FC236}">
                <a16:creationId xmlns:a16="http://schemas.microsoft.com/office/drawing/2014/main" id="{9864EAE4-9F0E-4EF8-8279-3D124BC4010B}"/>
              </a:ext>
            </a:extLst>
          </p:cNvPr>
          <p:cNvSpPr>
            <a:spLocks xmlns:a="http://schemas.openxmlformats.org/drawingml/2006/main" noGrp="1"/>
          </p:cNvSpPr>
          <p:nvPr/>
        </p:nvSpPr>
        <p:spPr>
          <a:xfrm xmlns:a="http://schemas.openxmlformats.org/drawingml/2006/main">
            <a:off x="9886950" y="2590800"/>
            <a:ext cx="1333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weapon</a:t>
            </a:r>
          </a:p>
        </p:txBody>
      </p:sp>
      <p:sp>
        <p:nvSpPr>
          <p:cNvPr id="21" name="">
            <a:extLst xmlns:a="http://schemas.openxmlformats.org/drawingml/2006/main">
              <a:ext uri="{FF2B5EF4-FFF2-40B4-BE49-F238E27FC236}">
                <a16:creationId xmlns:a16="http://schemas.microsoft.com/office/drawing/2014/main" id="{471C4D3D-721D-4498-8EFA-1BF90F405B30}"/>
              </a:ext>
            </a:extLst>
          </p:cNvPr>
          <p:cNvSpPr>
            <a:spLocks xmlns:a="http://schemas.openxmlformats.org/drawingml/2006/main" noGrp="1"/>
          </p:cNvSpPr>
          <p:nvPr/>
        </p:nvSpPr>
        <p:spPr>
          <a:xfrm xmlns:a="http://schemas.openxmlformats.org/drawingml/2006/main">
            <a:off x="8172450" y="3124200"/>
            <a:ext cx="2971800" cy="19050"/>
          </a:xfrm>
          <a:prstGeom xmlns:a="http://schemas.openxmlformats.org/drawingml/2006/main" prst="rect">
            <a:avLst/>
          </a:prstGeom>
          <a:solidFill xmlns:a="http://schemas.openxmlformats.org/drawingml/2006/main">
            <a:srgbClr val="536A9B"/>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A2E0B2CD-9A4A-41BF-8D83-9380D61CA4D4}"/>
              </a:ext>
            </a:extLst>
          </p:cNvPr>
          <p:cNvSpPr>
            <a:spLocks xmlns:a="http://schemas.openxmlformats.org/drawingml/2006/main" noGrp="1"/>
          </p:cNvSpPr>
          <p:nvPr/>
        </p:nvSpPr>
        <p:spPr>
          <a:xfrm xmlns:a="http://schemas.openxmlformats.org/drawingml/2006/main">
            <a:off x="8096250" y="3371850"/>
            <a:ext cx="3124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200" b="1">
                <a:solidFill>
                  <a:srgbClr val="14B978"/>
                </a:solidFill>
                <a:latin typeface="Arial"/>
                <a:ea typeface="Arial"/>
                <a:cs typeface="Arial"/>
              </a:defRPr>
            </a:pPr>
            <a:r>
              <a:rPr sz="1200" b="1">
                <a:solidFill>
                  <a:srgbClr val="14B978"/>
                </a:solidFill>
                <a:latin typeface="Arial"/>
                <a:ea typeface="Arial"/>
                <a:cs typeface="Arial"/>
              </a:rPr>
              <a:t>MAX-P</a:t>
            </a:r>
          </a:p>
        </p:txBody>
      </p:sp>
      <p:sp>
        <p:nvSpPr>
          <p:cNvPr id="23" name="">
            <a:extLst xmlns:a="http://schemas.openxmlformats.org/drawingml/2006/main">
              <a:ext uri="{FF2B5EF4-FFF2-40B4-BE49-F238E27FC236}">
                <a16:creationId xmlns:a16="http://schemas.microsoft.com/office/drawing/2014/main" id="{09EB84B4-E40A-4FB5-A6A0-847175A7A7AD}"/>
              </a:ext>
            </a:extLst>
          </p:cNvPr>
          <p:cNvSpPr>
            <a:spLocks xmlns:a="http://schemas.openxmlformats.org/drawingml/2006/main" noGrp="1"/>
          </p:cNvSpPr>
          <p:nvPr/>
        </p:nvSpPr>
        <p:spPr>
          <a:xfrm xmlns:a="http://schemas.openxmlformats.org/drawingml/2006/main">
            <a:off x="8096250" y="3638550"/>
            <a:ext cx="3124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3375" b="1">
                <a:solidFill>
                  <a:srgbClr val="FFFFFF"/>
                </a:solidFill>
                <a:latin typeface="Arial"/>
                <a:ea typeface="Arial"/>
                <a:cs typeface="Arial"/>
              </a:defRPr>
            </a:pPr>
            <a:r>
              <a:rPr sz="3375" b="1">
                <a:solidFill>
                  <a:srgbClr val="FFFFFF"/>
                </a:solidFill>
                <a:latin typeface="Arial"/>
                <a:ea typeface="Arial"/>
                <a:cs typeface="Arial"/>
              </a:rPr>
              <a:t>1.000</a:t>
            </a:r>
          </a:p>
        </p:txBody>
      </p:sp>
      <p:sp>
        <p:nvSpPr>
          <p:cNvPr id="24" name="">
            <a:extLst xmlns:a="http://schemas.openxmlformats.org/drawingml/2006/main">
              <a:ext uri="{FF2B5EF4-FFF2-40B4-BE49-F238E27FC236}">
                <a16:creationId xmlns:a16="http://schemas.microsoft.com/office/drawing/2014/main" id="{18A2F9C9-4D34-4737-8B90-8118C124B94E}"/>
              </a:ext>
            </a:extLst>
          </p:cNvPr>
          <p:cNvSpPr>
            <a:spLocks xmlns:a="http://schemas.openxmlformats.org/drawingml/2006/main" noGrp="1"/>
          </p:cNvSpPr>
          <p:nvPr/>
        </p:nvSpPr>
        <p:spPr>
          <a:xfrm xmlns:a="http://schemas.openxmlformats.org/drawingml/2006/main">
            <a:off x="1123950" y="4762500"/>
            <a:ext cx="9944100" cy="1104900"/>
          </a:xfrm>
          <a:prstGeom xmlns:a="http://schemas.openxmlformats.org/drawingml/2006/main" prst="roundRect">
            <a:avLst>
              <a:gd name="adj" fmla="val 15517"/>
            </a:avLst>
          </a:prstGeom>
          <a:solidFill xmlns:a="http://schemas.openxmlformats.org/drawingml/2006/main">
            <a:srgbClr val="E7F8F0"/>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F063FFD0-1294-4279-B46B-EF1D1D3EB627}"/>
              </a:ext>
            </a:extLst>
          </p:cNvPr>
          <p:cNvSpPr>
            <a:spLocks xmlns:a="http://schemas.openxmlformats.org/drawingml/2006/main" noGrp="1"/>
          </p:cNvSpPr>
          <p:nvPr/>
        </p:nvSpPr>
        <p:spPr>
          <a:xfrm xmlns:a="http://schemas.openxmlformats.org/drawingml/2006/main">
            <a:off x="1466850" y="5010150"/>
            <a:ext cx="92583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650" b="1">
                <a:solidFill>
                  <a:srgbClr val="087A50"/>
                </a:solidFill>
                <a:latin typeface="Arial"/>
                <a:ea typeface="Arial"/>
                <a:cs typeface="Arial"/>
              </a:defRPr>
            </a:pPr>
            <a:r>
              <a:rPr sz="1650" b="1">
                <a:solidFill>
                  <a:srgbClr val="087A50"/>
                </a:solidFill>
                <a:latin typeface="Arial"/>
                <a:ea typeface="Arial"/>
                <a:cs typeface="Arial"/>
              </a:rPr>
              <a:t>Integrated Gradients supports diagnosis of selected proxy outputs.</a:t>
            </a:r>
          </a:p>
          <a:p xmlns:a="http://schemas.openxmlformats.org/drawingml/2006/main">
            <a:pPr algn="ctr">
              <a:defRPr sz="1650" b="1">
                <a:solidFill>
                  <a:srgbClr val="087A50"/>
                </a:solidFill>
                <a:latin typeface="Arial"/>
                <a:ea typeface="Arial"/>
                <a:cs typeface="Arial"/>
              </a:defRPr>
            </a:pPr>
            <a:r>
              <a:rPr sz="1650" b="1">
                <a:solidFill>
                  <a:srgbClr val="087A50"/>
                </a:solidFill>
                <a:latin typeface="Arial"/>
                <a:ea typeface="Arial"/>
                <a:cs typeface="Arial"/>
              </a:rPr>
              <a:t>It does not certify correctness, calibrate confidence, or explain proprietary black-box systems.</a:t>
            </a:r>
          </a:p>
        </p:txBody>
      </p:sp>
    </p:spTree>
    <p:extLst>
      <p:ext uri="{BB962C8B-B14F-4D97-AF65-F5344CB8AC3E}">
        <p14:creationId xmlns:p14="http://schemas.microsoft.com/office/powerpoint/2010/main" val="11356794"/>
      </p:ext>
    </p:extLst>
  </p:cSld>
</p:sld>
</file>

<file path=ppt/slides/slide12.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AFCF59B5-683B-474F-989A-FBD69F453300}"/>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233A70"/>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84007D6-2081-4930-A389-03D64A1A2382}"/>
              </a:ext>
            </a:extLst>
          </p:cNvPr>
          <p:cNvSpPr>
            <a:spLocks xmlns:a="http://schemas.openxmlformats.org/drawingml/2006/main" noGrp="1"/>
          </p:cNvSpPr>
          <p:nvPr/>
        </p:nvSpPr>
        <p:spPr>
          <a:xfrm xmlns:a="http://schemas.openxmlformats.org/drawingml/2006/main">
            <a:off x="685800" y="43815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600" b="1">
                <a:solidFill>
                  <a:srgbClr val="233A70"/>
                </a:solidFill>
                <a:latin typeface="Arial"/>
                <a:ea typeface="Arial"/>
                <a:cs typeface="Arial"/>
              </a:defRPr>
            </a:pPr>
            <a:r>
              <a:rPr sz="3600" b="1">
                <a:solidFill>
                  <a:srgbClr val="233A70"/>
                </a:solidFill>
                <a:latin typeface="Arial"/>
                <a:ea typeface="Arial"/>
                <a:cs typeface="Arial"/>
              </a:rPr>
              <a:t>AI should prioritize evidence—not exclude it</a:t>
            </a:r>
          </a:p>
        </p:txBody>
      </p:sp>
      <p:sp>
        <p:nvSpPr>
          <p:cNvPr id="3" name="">
            <a:extLst xmlns:a="http://schemas.openxmlformats.org/drawingml/2006/main">
              <a:ext uri="{FF2B5EF4-FFF2-40B4-BE49-F238E27FC236}">
                <a16:creationId xmlns:a16="http://schemas.microsoft.com/office/drawing/2014/main" id="{68493C46-8133-4462-86DB-466B3708A87B}"/>
              </a:ext>
            </a:extLst>
          </p:cNvPr>
          <p:cNvSpPr>
            <a:spLocks xmlns:a="http://schemas.openxmlformats.org/drawingml/2006/main" noGrp="1"/>
          </p:cNvSpPr>
          <p:nvPr/>
        </p:nvSpPr>
        <p:spPr>
          <a:xfrm xmlns:a="http://schemas.openxmlformats.org/drawingml/2006/main">
            <a:off x="685800" y="1104900"/>
            <a:ext cx="10820400" cy="19050"/>
          </a:xfrm>
          <a:prstGeom xmlns:a="http://schemas.openxmlformats.org/drawingml/2006/main" prst="rect">
            <a:avLst/>
          </a:prstGeom>
          <a:solidFill xmlns:a="http://schemas.openxmlformats.org/drawingml/2006/main">
            <a:srgbClr val="D9DEE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20FCC7E3-0B4D-4701-98B4-D33EB2D8663F}"/>
              </a:ext>
            </a:extLst>
          </p:cNvPr>
          <p:cNvSpPr>
            <a:spLocks xmlns:a="http://schemas.openxmlformats.org/drawingml/2006/main" noGrp="1"/>
          </p:cNvSpPr>
          <p:nvPr/>
        </p:nvSpPr>
        <p:spPr>
          <a:xfrm xmlns:a="http://schemas.openxmlformats.org/drawingml/2006/main">
            <a:off x="685800" y="6524625"/>
            <a:ext cx="438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050" b="0">
                <a:solidFill>
                  <a:srgbClr val="5B6577"/>
                </a:solidFill>
                <a:latin typeface="Arial"/>
                <a:ea typeface="Arial"/>
                <a:cs typeface="Arial"/>
              </a:defRPr>
            </a:pPr>
            <a:r>
              <a:rPr sz="1050" b="0">
                <a:solidFill>
                  <a:srgbClr val="5B6577"/>
                </a:solidFill>
                <a:latin typeface="Arial"/>
                <a:ea typeface="Arial"/>
                <a:cs typeface="Arial"/>
              </a:rPr>
              <a:t>Lello Molinario  |  MSc Thesis Defense</a:t>
            </a:r>
          </a:p>
        </p:txBody>
      </p:sp>
      <p:sp>
        <p:nvSpPr>
          <p:cNvPr id="5" name="">
            <a:extLst xmlns:a="http://schemas.openxmlformats.org/drawingml/2006/main">
              <a:ext uri="{FF2B5EF4-FFF2-40B4-BE49-F238E27FC236}">
                <a16:creationId xmlns:a16="http://schemas.microsoft.com/office/drawing/2014/main" id="{FCFAFCCB-405C-47A7-B90B-CEB46F98CC33}"/>
              </a:ext>
            </a:extLst>
          </p:cNvPr>
          <p:cNvSpPr>
            <a:spLocks xmlns:a="http://schemas.openxmlformats.org/drawingml/2006/main" noGrp="1"/>
          </p:cNvSpPr>
          <p:nvPr/>
        </p:nvSpPr>
        <p:spPr>
          <a:xfrm xmlns:a="http://schemas.openxmlformats.org/drawingml/2006/main">
            <a:off x="11049000" y="652462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050" b="0">
                <a:solidFill>
                  <a:srgbClr val="5B6577"/>
                </a:solidFill>
                <a:latin typeface="Arial"/>
                <a:ea typeface="Arial"/>
                <a:cs typeface="Arial"/>
              </a:defRPr>
            </a:pPr>
            <a:r>
              <a:rPr sz="1050" b="0">
                <a:solidFill>
                  <a:srgbClr val="5B6577"/>
                </a:solidFill>
                <a:latin typeface="Arial"/>
                <a:ea typeface="Arial"/>
                <a:cs typeface="Arial"/>
              </a:rPr>
              <a:t>12</a:t>
            </a:r>
          </a:p>
        </p:txBody>
      </p:sp>
      <p:sp>
        <p:nvSpPr>
          <p:cNvPr id="6" name="">
            <a:extLst xmlns:a="http://schemas.openxmlformats.org/drawingml/2006/main">
              <a:ext uri="{FF2B5EF4-FFF2-40B4-BE49-F238E27FC236}">
                <a16:creationId xmlns:a16="http://schemas.microsoft.com/office/drawing/2014/main" id="{6E42C77A-5BF7-4B4F-ACB6-2B4A6D08B6F7}"/>
              </a:ext>
            </a:extLst>
          </p:cNvPr>
          <p:cNvSpPr>
            <a:spLocks xmlns:a="http://schemas.openxmlformats.org/drawingml/2006/main" noGrp="1"/>
          </p:cNvSpPr>
          <p:nvPr/>
        </p:nvSpPr>
        <p:spPr>
          <a:xfrm xmlns:a="http://schemas.openxmlformats.org/drawingml/2006/main">
            <a:off x="1695450" y="2800350"/>
            <a:ext cx="8801100" cy="76200"/>
          </a:xfrm>
          <a:prstGeom xmlns:a="http://schemas.openxmlformats.org/drawingml/2006/main" prst="rect">
            <a:avLst/>
          </a:prstGeom>
          <a:solidFill xmlns:a="http://schemas.openxmlformats.org/drawingml/2006/main">
            <a:srgbClr val="D9DEE8"/>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CC497960-5D6A-401D-938B-E77E37B954DF}"/>
              </a:ext>
            </a:extLst>
          </p:cNvPr>
          <p:cNvSpPr>
            <a:spLocks xmlns:a="http://schemas.openxmlformats.org/drawingml/2006/main" noGrp="1"/>
          </p:cNvSpPr>
          <p:nvPr/>
        </p:nvSpPr>
        <p:spPr>
          <a:xfrm xmlns:a="http://schemas.openxmlformats.org/drawingml/2006/main">
            <a:off x="685800" y="167640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350" b="1">
                <a:solidFill>
                  <a:srgbClr val="233A70"/>
                </a:solidFill>
                <a:latin typeface="Arial"/>
                <a:ea typeface="Arial"/>
                <a:cs typeface="Arial"/>
              </a:defRPr>
            </a:pPr>
            <a:r>
              <a:rPr sz="1350" b="1">
                <a:solidFill>
                  <a:srgbClr val="233A70"/>
                </a:solidFill>
                <a:latin typeface="Arial"/>
                <a:ea typeface="Arial"/>
                <a:cs typeface="Arial"/>
              </a:rPr>
              <a:t>01</a:t>
            </a:r>
          </a:p>
        </p:txBody>
      </p:sp>
      <p:sp>
        <p:nvSpPr>
          <p:cNvPr id="8" name="">
            <a:extLst xmlns:a="http://schemas.openxmlformats.org/drawingml/2006/main">
              <a:ext uri="{FF2B5EF4-FFF2-40B4-BE49-F238E27FC236}">
                <a16:creationId xmlns:a16="http://schemas.microsoft.com/office/drawing/2014/main" id="{9D4C1FD3-F2E8-481B-B8A3-6FDAC352E8B5}"/>
              </a:ext>
            </a:extLst>
          </p:cNvPr>
          <p:cNvSpPr>
            <a:spLocks xmlns:a="http://schemas.openxmlformats.org/drawingml/2006/main" noGrp="1"/>
          </p:cNvSpPr>
          <p:nvPr/>
        </p:nvSpPr>
        <p:spPr>
          <a:xfrm xmlns:a="http://schemas.openxmlformats.org/drawingml/2006/main">
            <a:off x="685800" y="2076450"/>
            <a:ext cx="2190750" cy="1466850"/>
          </a:xfrm>
          <a:prstGeom xmlns:a="http://schemas.openxmlformats.org/drawingml/2006/main" prst="roundRect">
            <a:avLst>
              <a:gd name="adj" fmla="val 11688"/>
            </a:avLst>
          </a:prstGeom>
          <a:solidFill xmlns:a="http://schemas.openxmlformats.org/drawingml/2006/main">
            <a:srgbClr val="FFFFFF"/>
          </a:solidFill>
          <a:ln xmlns:a="http://schemas.openxmlformats.org/drawingml/2006/main" w="9525">
            <a:solidFill>
              <a:srgbClr val="D9DEE8"/>
            </a:solidFill>
            <a:prstDash val="solid"/>
          </a:ln>
        </p:spPr>
      </p:sp>
      <p:sp>
        <p:nvSpPr>
          <p:cNvPr id="9" name="">
            <a:extLst xmlns:a="http://schemas.openxmlformats.org/drawingml/2006/main">
              <a:ext uri="{FF2B5EF4-FFF2-40B4-BE49-F238E27FC236}">
                <a16:creationId xmlns:a16="http://schemas.microsoft.com/office/drawing/2014/main" id="{A4596393-8F9B-4AB8-B9FA-12DDC5FEB621}"/>
              </a:ext>
            </a:extLst>
          </p:cNvPr>
          <p:cNvSpPr>
            <a:spLocks xmlns:a="http://schemas.openxmlformats.org/drawingml/2006/main" noGrp="1"/>
          </p:cNvSpPr>
          <p:nvPr/>
        </p:nvSpPr>
        <p:spPr>
          <a:xfrm xmlns:a="http://schemas.openxmlformats.org/drawingml/2006/main">
            <a:off x="857250" y="2324100"/>
            <a:ext cx="1847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b="1">
                <a:solidFill>
                  <a:srgbClr val="233A70"/>
                </a:solidFill>
                <a:latin typeface="Arial"/>
                <a:ea typeface="Arial"/>
                <a:cs typeface="Arial"/>
              </a:defRPr>
            </a:pPr>
            <a:r>
              <a:rPr sz="1800" b="1">
                <a:solidFill>
                  <a:srgbClr val="233A70"/>
                </a:solidFill>
                <a:latin typeface="Arial"/>
                <a:ea typeface="Arial"/>
                <a:cs typeface="Arial"/>
              </a:rPr>
              <a:t>AI outputs</a:t>
            </a:r>
          </a:p>
        </p:txBody>
      </p:sp>
      <p:sp>
        <p:nvSpPr>
          <p:cNvPr id="10" name="">
            <a:extLst xmlns:a="http://schemas.openxmlformats.org/drawingml/2006/main">
              <a:ext uri="{FF2B5EF4-FFF2-40B4-BE49-F238E27FC236}">
                <a16:creationId xmlns:a16="http://schemas.microsoft.com/office/drawing/2014/main" id="{7AA4D259-8252-49D2-AC66-8CEBF46905A6}"/>
              </a:ext>
            </a:extLst>
          </p:cNvPr>
          <p:cNvSpPr>
            <a:spLocks xmlns:a="http://schemas.openxmlformats.org/drawingml/2006/main" noGrp="1"/>
          </p:cNvSpPr>
          <p:nvPr/>
        </p:nvSpPr>
        <p:spPr>
          <a:xfrm xmlns:a="http://schemas.openxmlformats.org/drawingml/2006/main">
            <a:off x="857250" y="2819400"/>
            <a:ext cx="18478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425" b="0">
                <a:solidFill>
                  <a:srgbClr val="5B6577"/>
                </a:solidFill>
                <a:latin typeface="Arial"/>
                <a:ea typeface="Arial"/>
                <a:cs typeface="Arial"/>
              </a:defRPr>
            </a:pPr>
            <a:r>
              <a:rPr sz="1425" b="0">
                <a:solidFill>
                  <a:srgbClr val="5B6577"/>
                </a:solidFill>
                <a:latin typeface="Arial"/>
                <a:ea typeface="Arial"/>
                <a:cs typeface="Arial"/>
              </a:rPr>
              <a:t>tags · labels</a:t>
            </a:r>
          </a:p>
          <a:p xmlns:a="http://schemas.openxmlformats.org/drawingml/2006/main">
            <a:pPr algn="ctr">
              <a:defRPr sz="1425" b="0">
                <a:solidFill>
                  <a:srgbClr val="5B6577"/>
                </a:solidFill>
                <a:latin typeface="Arial"/>
                <a:ea typeface="Arial"/>
                <a:cs typeface="Arial"/>
              </a:defRPr>
            </a:pPr>
            <a:r>
              <a:rPr sz="1425" b="0">
                <a:solidFill>
                  <a:srgbClr val="5B6577"/>
                </a:solidFill>
                <a:latin typeface="Arial"/>
                <a:ea typeface="Arial"/>
                <a:cs typeface="Arial"/>
              </a:rPr>
              <a:t>semantic matches</a:t>
            </a:r>
          </a:p>
        </p:txBody>
      </p:sp>
      <p:sp>
        <p:nvSpPr>
          <p:cNvPr id="11" name="">
            <a:extLst xmlns:a="http://schemas.openxmlformats.org/drawingml/2006/main">
              <a:ext uri="{FF2B5EF4-FFF2-40B4-BE49-F238E27FC236}">
                <a16:creationId xmlns:a16="http://schemas.microsoft.com/office/drawing/2014/main" id="{B875C228-D2D2-4ED0-AE89-A0F4D270CE44}"/>
              </a:ext>
            </a:extLst>
          </p:cNvPr>
          <p:cNvSpPr>
            <a:spLocks xmlns:a="http://schemas.openxmlformats.org/drawingml/2006/main" noGrp="1"/>
          </p:cNvSpPr>
          <p:nvPr/>
        </p:nvSpPr>
        <p:spPr>
          <a:xfrm xmlns:a="http://schemas.openxmlformats.org/drawingml/2006/main">
            <a:off x="3467100" y="167640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350" b="1">
                <a:solidFill>
                  <a:srgbClr val="233A70"/>
                </a:solidFill>
                <a:latin typeface="Arial"/>
                <a:ea typeface="Arial"/>
                <a:cs typeface="Arial"/>
              </a:defRPr>
            </a:pPr>
            <a:r>
              <a:rPr sz="1350" b="1">
                <a:solidFill>
                  <a:srgbClr val="233A70"/>
                </a:solidFill>
                <a:latin typeface="Arial"/>
                <a:ea typeface="Arial"/>
                <a:cs typeface="Arial"/>
              </a:rPr>
              <a:t>02</a:t>
            </a:r>
          </a:p>
        </p:txBody>
      </p:sp>
      <p:sp>
        <p:nvSpPr>
          <p:cNvPr id="12" name="">
            <a:extLst xmlns:a="http://schemas.openxmlformats.org/drawingml/2006/main">
              <a:ext uri="{FF2B5EF4-FFF2-40B4-BE49-F238E27FC236}">
                <a16:creationId xmlns:a16="http://schemas.microsoft.com/office/drawing/2014/main" id="{F27AA906-E5AF-40DB-9F2E-5E5C26E8C25A}"/>
              </a:ext>
            </a:extLst>
          </p:cNvPr>
          <p:cNvSpPr>
            <a:spLocks xmlns:a="http://schemas.openxmlformats.org/drawingml/2006/main" noGrp="1"/>
          </p:cNvSpPr>
          <p:nvPr/>
        </p:nvSpPr>
        <p:spPr>
          <a:xfrm xmlns:a="http://schemas.openxmlformats.org/drawingml/2006/main">
            <a:off x="3467100" y="2076450"/>
            <a:ext cx="2190750" cy="1466850"/>
          </a:xfrm>
          <a:prstGeom xmlns:a="http://schemas.openxmlformats.org/drawingml/2006/main" prst="roundRect">
            <a:avLst>
              <a:gd name="adj" fmla="val 11688"/>
            </a:avLst>
          </a:prstGeom>
          <a:solidFill xmlns:a="http://schemas.openxmlformats.org/drawingml/2006/main">
            <a:srgbClr val="E9EEF8"/>
          </a:solidFill>
          <a:ln xmlns:a="http://schemas.openxmlformats.org/drawingml/2006/main" w="9525">
            <a:solidFill>
              <a:srgbClr val="E9EEF8"/>
            </a:solidFill>
            <a:prstDash val="solid"/>
          </a:ln>
        </p:spPr>
      </p:sp>
      <p:sp>
        <p:nvSpPr>
          <p:cNvPr id="13" name="">
            <a:extLst xmlns:a="http://schemas.openxmlformats.org/drawingml/2006/main">
              <a:ext uri="{FF2B5EF4-FFF2-40B4-BE49-F238E27FC236}">
                <a16:creationId xmlns:a16="http://schemas.microsoft.com/office/drawing/2014/main" id="{10A088F2-59B9-41DB-B22F-C8A142756290}"/>
              </a:ext>
            </a:extLst>
          </p:cNvPr>
          <p:cNvSpPr>
            <a:spLocks xmlns:a="http://schemas.openxmlformats.org/drawingml/2006/main" noGrp="1"/>
          </p:cNvSpPr>
          <p:nvPr/>
        </p:nvSpPr>
        <p:spPr>
          <a:xfrm xmlns:a="http://schemas.openxmlformats.org/drawingml/2006/main">
            <a:off x="3638550" y="2324100"/>
            <a:ext cx="1847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b="1">
                <a:solidFill>
                  <a:srgbClr val="233A70"/>
                </a:solidFill>
                <a:latin typeface="Arial"/>
                <a:ea typeface="Arial"/>
                <a:cs typeface="Arial"/>
              </a:defRPr>
            </a:pPr>
            <a:r>
              <a:rPr sz="1800" b="1">
                <a:solidFill>
                  <a:srgbClr val="233A70"/>
                </a:solidFill>
                <a:latin typeface="Arial"/>
                <a:ea typeface="Arial"/>
                <a:cs typeface="Arial"/>
              </a:rPr>
              <a:t>Prioritized queue</a:t>
            </a:r>
          </a:p>
        </p:txBody>
      </p:sp>
      <p:sp>
        <p:nvSpPr>
          <p:cNvPr id="14" name="">
            <a:extLst xmlns:a="http://schemas.openxmlformats.org/drawingml/2006/main">
              <a:ext uri="{FF2B5EF4-FFF2-40B4-BE49-F238E27FC236}">
                <a16:creationId xmlns:a16="http://schemas.microsoft.com/office/drawing/2014/main" id="{27D139E3-0991-49D9-9C28-1A63AF4F9EAD}"/>
              </a:ext>
            </a:extLst>
          </p:cNvPr>
          <p:cNvSpPr>
            <a:spLocks xmlns:a="http://schemas.openxmlformats.org/drawingml/2006/main" noGrp="1"/>
          </p:cNvSpPr>
          <p:nvPr/>
        </p:nvSpPr>
        <p:spPr>
          <a:xfrm xmlns:a="http://schemas.openxmlformats.org/drawingml/2006/main">
            <a:off x="3638550" y="2819400"/>
            <a:ext cx="18478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425" b="0">
                <a:solidFill>
                  <a:srgbClr val="5B6577"/>
                </a:solidFill>
                <a:latin typeface="Arial"/>
                <a:ea typeface="Arial"/>
                <a:cs typeface="Arial"/>
              </a:defRPr>
            </a:pPr>
            <a:r>
              <a:rPr sz="1425" b="0">
                <a:solidFill>
                  <a:srgbClr val="5B6577"/>
                </a:solidFill>
                <a:latin typeface="Arial"/>
                <a:ea typeface="Arial"/>
                <a:cs typeface="Arial"/>
              </a:rPr>
              <a:t>workload</a:t>
            </a:r>
          </a:p>
          <a:p xmlns:a="http://schemas.openxmlformats.org/drawingml/2006/main">
            <a:pPr algn="ctr">
              <a:defRPr sz="1425" b="0">
                <a:solidFill>
                  <a:srgbClr val="5B6577"/>
                </a:solidFill>
                <a:latin typeface="Arial"/>
                <a:ea typeface="Arial"/>
                <a:cs typeface="Arial"/>
              </a:defRPr>
            </a:pPr>
            <a:r>
              <a:rPr sz="1425" b="0">
                <a:solidFill>
                  <a:srgbClr val="5B6577"/>
                </a:solidFill>
                <a:latin typeface="Arial"/>
                <a:ea typeface="Arial"/>
                <a:cs typeface="Arial"/>
              </a:rPr>
              <a:t>reduction</a:t>
            </a:r>
          </a:p>
        </p:txBody>
      </p:sp>
      <p:sp>
        <p:nvSpPr>
          <p:cNvPr id="15" name="">
            <a:extLst xmlns:a="http://schemas.openxmlformats.org/drawingml/2006/main">
              <a:ext uri="{FF2B5EF4-FFF2-40B4-BE49-F238E27FC236}">
                <a16:creationId xmlns:a16="http://schemas.microsoft.com/office/drawing/2014/main" id="{7F193325-1128-438B-B217-138A67DDF676}"/>
              </a:ext>
            </a:extLst>
          </p:cNvPr>
          <p:cNvSpPr>
            <a:spLocks xmlns:a="http://schemas.openxmlformats.org/drawingml/2006/main" noGrp="1"/>
          </p:cNvSpPr>
          <p:nvPr/>
        </p:nvSpPr>
        <p:spPr>
          <a:xfrm xmlns:a="http://schemas.openxmlformats.org/drawingml/2006/main">
            <a:off x="6248400" y="167640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350" b="1">
                <a:solidFill>
                  <a:srgbClr val="087A50"/>
                </a:solidFill>
                <a:latin typeface="Arial"/>
                <a:ea typeface="Arial"/>
                <a:cs typeface="Arial"/>
              </a:defRPr>
            </a:pPr>
            <a:r>
              <a:rPr sz="1350" b="1">
                <a:solidFill>
                  <a:srgbClr val="087A50"/>
                </a:solidFill>
                <a:latin typeface="Arial"/>
                <a:ea typeface="Arial"/>
                <a:cs typeface="Arial"/>
              </a:rPr>
              <a:t>03</a:t>
            </a:r>
          </a:p>
        </p:txBody>
      </p:sp>
      <p:sp>
        <p:nvSpPr>
          <p:cNvPr id="16" name="">
            <a:extLst xmlns:a="http://schemas.openxmlformats.org/drawingml/2006/main">
              <a:ext uri="{FF2B5EF4-FFF2-40B4-BE49-F238E27FC236}">
                <a16:creationId xmlns:a16="http://schemas.microsoft.com/office/drawing/2014/main" id="{E8C8212D-5123-48C7-8465-CE6674A3EAFA}"/>
              </a:ext>
            </a:extLst>
          </p:cNvPr>
          <p:cNvSpPr>
            <a:spLocks xmlns:a="http://schemas.openxmlformats.org/drawingml/2006/main" noGrp="1"/>
          </p:cNvSpPr>
          <p:nvPr/>
        </p:nvSpPr>
        <p:spPr>
          <a:xfrm xmlns:a="http://schemas.openxmlformats.org/drawingml/2006/main">
            <a:off x="6248400" y="2076450"/>
            <a:ext cx="2190750" cy="1466850"/>
          </a:xfrm>
          <a:prstGeom xmlns:a="http://schemas.openxmlformats.org/drawingml/2006/main" prst="roundRect">
            <a:avLst>
              <a:gd name="adj" fmla="val 11688"/>
            </a:avLst>
          </a:prstGeom>
          <a:solidFill xmlns:a="http://schemas.openxmlformats.org/drawingml/2006/main">
            <a:srgbClr val="E7F8F0"/>
          </a:solidFill>
          <a:ln xmlns:a="http://schemas.openxmlformats.org/drawingml/2006/main" w="9525">
            <a:solidFill>
              <a:srgbClr val="E7F8F0"/>
            </a:solidFill>
            <a:prstDash val="solid"/>
          </a:ln>
        </p:spPr>
      </p:sp>
      <p:sp>
        <p:nvSpPr>
          <p:cNvPr id="17" name="">
            <a:extLst xmlns:a="http://schemas.openxmlformats.org/drawingml/2006/main">
              <a:ext uri="{FF2B5EF4-FFF2-40B4-BE49-F238E27FC236}">
                <a16:creationId xmlns:a16="http://schemas.microsoft.com/office/drawing/2014/main" id="{688DB260-266F-461B-B69D-7D7802AF0D5C}"/>
              </a:ext>
            </a:extLst>
          </p:cNvPr>
          <p:cNvSpPr>
            <a:spLocks xmlns:a="http://schemas.openxmlformats.org/drawingml/2006/main" noGrp="1"/>
          </p:cNvSpPr>
          <p:nvPr/>
        </p:nvSpPr>
        <p:spPr>
          <a:xfrm xmlns:a="http://schemas.openxmlformats.org/drawingml/2006/main">
            <a:off x="6419850" y="2324100"/>
            <a:ext cx="1847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b="1">
                <a:solidFill>
                  <a:srgbClr val="087A50"/>
                </a:solidFill>
                <a:latin typeface="Arial"/>
                <a:ea typeface="Arial"/>
                <a:cs typeface="Arial"/>
              </a:defRPr>
            </a:pPr>
            <a:r>
              <a:rPr sz="1800" b="1">
                <a:solidFill>
                  <a:srgbClr val="087A50"/>
                </a:solidFill>
                <a:latin typeface="Arial"/>
                <a:ea typeface="Arial"/>
                <a:cs typeface="Arial"/>
              </a:rPr>
              <a:t>Human review</a:t>
            </a:r>
          </a:p>
        </p:txBody>
      </p:sp>
      <p:sp>
        <p:nvSpPr>
          <p:cNvPr id="18" name="">
            <a:extLst xmlns:a="http://schemas.openxmlformats.org/drawingml/2006/main">
              <a:ext uri="{FF2B5EF4-FFF2-40B4-BE49-F238E27FC236}">
                <a16:creationId xmlns:a16="http://schemas.microsoft.com/office/drawing/2014/main" id="{0D32C62D-AD61-47FC-9DF3-3D1D755CC850}"/>
              </a:ext>
            </a:extLst>
          </p:cNvPr>
          <p:cNvSpPr>
            <a:spLocks xmlns:a="http://schemas.openxmlformats.org/drawingml/2006/main" noGrp="1"/>
          </p:cNvSpPr>
          <p:nvPr/>
        </p:nvSpPr>
        <p:spPr>
          <a:xfrm xmlns:a="http://schemas.openxmlformats.org/drawingml/2006/main">
            <a:off x="6419850" y="2819400"/>
            <a:ext cx="18478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425" b="0">
                <a:solidFill>
                  <a:srgbClr val="5B6577"/>
                </a:solidFill>
                <a:latin typeface="Arial"/>
                <a:ea typeface="Arial"/>
                <a:cs typeface="Arial"/>
              </a:defRPr>
            </a:pPr>
            <a:r>
              <a:rPr sz="1425" b="0">
                <a:solidFill>
                  <a:srgbClr val="5B6577"/>
                </a:solidFill>
                <a:latin typeface="Arial"/>
                <a:ea typeface="Arial"/>
                <a:cs typeface="Arial"/>
              </a:rPr>
              <a:t>contextual</a:t>
            </a:r>
          </a:p>
          <a:p xmlns:a="http://schemas.openxmlformats.org/drawingml/2006/main">
            <a:pPr algn="ctr">
              <a:defRPr sz="1425" b="0">
                <a:solidFill>
                  <a:srgbClr val="5B6577"/>
                </a:solidFill>
                <a:latin typeface="Arial"/>
                <a:ea typeface="Arial"/>
                <a:cs typeface="Arial"/>
              </a:defRPr>
            </a:pPr>
            <a:r>
              <a:rPr sz="1425" b="0">
                <a:solidFill>
                  <a:srgbClr val="5B6577"/>
                </a:solidFill>
                <a:latin typeface="Arial"/>
                <a:ea typeface="Arial"/>
                <a:cs typeface="Arial"/>
              </a:rPr>
              <a:t>validation</a:t>
            </a:r>
          </a:p>
        </p:txBody>
      </p:sp>
      <p:sp>
        <p:nvSpPr>
          <p:cNvPr id="19" name="">
            <a:extLst xmlns:a="http://schemas.openxmlformats.org/drawingml/2006/main">
              <a:ext uri="{FF2B5EF4-FFF2-40B4-BE49-F238E27FC236}">
                <a16:creationId xmlns:a16="http://schemas.microsoft.com/office/drawing/2014/main" id="{9D03034B-8F88-418E-9635-E3411B5DDEBC}"/>
              </a:ext>
            </a:extLst>
          </p:cNvPr>
          <p:cNvSpPr>
            <a:spLocks xmlns:a="http://schemas.openxmlformats.org/drawingml/2006/main" noGrp="1"/>
          </p:cNvSpPr>
          <p:nvPr/>
        </p:nvSpPr>
        <p:spPr>
          <a:xfrm xmlns:a="http://schemas.openxmlformats.org/drawingml/2006/main">
            <a:off x="9029700" y="167640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350" b="1">
                <a:solidFill>
                  <a:srgbClr val="233A70"/>
                </a:solidFill>
                <a:latin typeface="Arial"/>
                <a:ea typeface="Arial"/>
                <a:cs typeface="Arial"/>
              </a:defRPr>
            </a:pPr>
            <a:r>
              <a:rPr sz="1350" b="1">
                <a:solidFill>
                  <a:srgbClr val="233A70"/>
                </a:solidFill>
                <a:latin typeface="Arial"/>
                <a:ea typeface="Arial"/>
                <a:cs typeface="Arial"/>
              </a:rPr>
              <a:t>04</a:t>
            </a:r>
          </a:p>
        </p:txBody>
      </p:sp>
      <p:sp>
        <p:nvSpPr>
          <p:cNvPr id="20" name="">
            <a:extLst xmlns:a="http://schemas.openxmlformats.org/drawingml/2006/main">
              <a:ext uri="{FF2B5EF4-FFF2-40B4-BE49-F238E27FC236}">
                <a16:creationId xmlns:a16="http://schemas.microsoft.com/office/drawing/2014/main" id="{0A7F9A2F-8B4C-4A62-8D51-C8AC9213FEC9}"/>
              </a:ext>
            </a:extLst>
          </p:cNvPr>
          <p:cNvSpPr>
            <a:spLocks xmlns:a="http://schemas.openxmlformats.org/drawingml/2006/main" noGrp="1"/>
          </p:cNvSpPr>
          <p:nvPr/>
        </p:nvSpPr>
        <p:spPr>
          <a:xfrm xmlns:a="http://schemas.openxmlformats.org/drawingml/2006/main">
            <a:off x="9029700" y="2076450"/>
            <a:ext cx="2190750" cy="1466850"/>
          </a:xfrm>
          <a:prstGeom xmlns:a="http://schemas.openxmlformats.org/drawingml/2006/main" prst="roundRect">
            <a:avLst>
              <a:gd name="adj" fmla="val 11688"/>
            </a:avLst>
          </a:prstGeom>
          <a:solidFill xmlns:a="http://schemas.openxmlformats.org/drawingml/2006/main">
            <a:srgbClr val="FFFFFF"/>
          </a:solidFill>
          <a:ln xmlns:a="http://schemas.openxmlformats.org/drawingml/2006/main" w="9525">
            <a:solidFill>
              <a:srgbClr val="D9DEE8"/>
            </a:solidFill>
            <a:prstDash val="solid"/>
          </a:ln>
        </p:spPr>
      </p:sp>
      <p:sp>
        <p:nvSpPr>
          <p:cNvPr id="21" name="">
            <a:extLst xmlns:a="http://schemas.openxmlformats.org/drawingml/2006/main">
              <a:ext uri="{FF2B5EF4-FFF2-40B4-BE49-F238E27FC236}">
                <a16:creationId xmlns:a16="http://schemas.microsoft.com/office/drawing/2014/main" id="{DC68B587-3821-4278-A721-BE8076578B8C}"/>
              </a:ext>
            </a:extLst>
          </p:cNvPr>
          <p:cNvSpPr>
            <a:spLocks xmlns:a="http://schemas.openxmlformats.org/drawingml/2006/main" noGrp="1"/>
          </p:cNvSpPr>
          <p:nvPr/>
        </p:nvSpPr>
        <p:spPr>
          <a:xfrm xmlns:a="http://schemas.openxmlformats.org/drawingml/2006/main">
            <a:off x="9201150" y="2324100"/>
            <a:ext cx="1847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b="1">
                <a:solidFill>
                  <a:srgbClr val="233A70"/>
                </a:solidFill>
                <a:latin typeface="Arial"/>
                <a:ea typeface="Arial"/>
                <a:cs typeface="Arial"/>
              </a:defRPr>
            </a:pPr>
            <a:r>
              <a:rPr sz="1800" b="1">
                <a:solidFill>
                  <a:srgbClr val="233A70"/>
                </a:solidFill>
                <a:latin typeface="Arial"/>
                <a:ea typeface="Arial"/>
                <a:cs typeface="Arial"/>
              </a:rPr>
              <a:t>Documented action</a:t>
            </a:r>
          </a:p>
        </p:txBody>
      </p:sp>
      <p:sp>
        <p:nvSpPr>
          <p:cNvPr id="22" name="">
            <a:extLst xmlns:a="http://schemas.openxmlformats.org/drawingml/2006/main">
              <a:ext uri="{FF2B5EF4-FFF2-40B4-BE49-F238E27FC236}">
                <a16:creationId xmlns:a16="http://schemas.microsoft.com/office/drawing/2014/main" id="{F2ED8D5E-2422-4B92-867E-DD3CA4ACD7CB}"/>
              </a:ext>
            </a:extLst>
          </p:cNvPr>
          <p:cNvSpPr>
            <a:spLocks xmlns:a="http://schemas.openxmlformats.org/drawingml/2006/main" noGrp="1"/>
          </p:cNvSpPr>
          <p:nvPr/>
        </p:nvSpPr>
        <p:spPr>
          <a:xfrm xmlns:a="http://schemas.openxmlformats.org/drawingml/2006/main">
            <a:off x="9201150" y="2819400"/>
            <a:ext cx="18478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425" b="0">
                <a:solidFill>
                  <a:srgbClr val="5B6577"/>
                </a:solidFill>
                <a:latin typeface="Arial"/>
                <a:ea typeface="Arial"/>
                <a:cs typeface="Arial"/>
              </a:defRPr>
            </a:pPr>
            <a:r>
              <a:rPr sz="1425" b="0">
                <a:solidFill>
                  <a:srgbClr val="5B6577"/>
                </a:solidFill>
                <a:latin typeface="Arial"/>
                <a:ea typeface="Arial"/>
                <a:cs typeface="Arial"/>
              </a:rPr>
              <a:t>defensible</a:t>
            </a:r>
          </a:p>
          <a:p xmlns:a="http://schemas.openxmlformats.org/drawingml/2006/main">
            <a:pPr algn="ctr">
              <a:defRPr sz="1425" b="0">
                <a:solidFill>
                  <a:srgbClr val="5B6577"/>
                </a:solidFill>
                <a:latin typeface="Arial"/>
                <a:ea typeface="Arial"/>
                <a:cs typeface="Arial"/>
              </a:defRPr>
            </a:pPr>
            <a:r>
              <a:rPr sz="1425" b="0">
                <a:solidFill>
                  <a:srgbClr val="5B6577"/>
                </a:solidFill>
                <a:latin typeface="Arial"/>
                <a:ea typeface="Arial"/>
                <a:cs typeface="Arial"/>
              </a:rPr>
              <a:t>forensic workflow</a:t>
            </a:r>
          </a:p>
        </p:txBody>
      </p:sp>
      <p:sp>
        <p:nvSpPr>
          <p:cNvPr id="23" name="">
            <a:extLst xmlns:a="http://schemas.openxmlformats.org/drawingml/2006/main">
              <a:ext uri="{FF2B5EF4-FFF2-40B4-BE49-F238E27FC236}">
                <a16:creationId xmlns:a16="http://schemas.microsoft.com/office/drawing/2014/main" id="{04339118-F714-4CF4-9531-D2EFDA073425}"/>
              </a:ext>
            </a:extLst>
          </p:cNvPr>
          <p:cNvSpPr>
            <a:spLocks xmlns:a="http://schemas.openxmlformats.org/drawingml/2006/main" noGrp="1"/>
          </p:cNvSpPr>
          <p:nvPr/>
        </p:nvSpPr>
        <p:spPr>
          <a:xfrm xmlns:a="http://schemas.openxmlformats.org/drawingml/2006/main">
            <a:off x="685800" y="4095750"/>
            <a:ext cx="10820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350" b="1">
                <a:solidFill>
                  <a:srgbClr val="233A70"/>
                </a:solidFill>
                <a:latin typeface="Arial"/>
                <a:ea typeface="Arial"/>
                <a:cs typeface="Arial"/>
              </a:defRPr>
            </a:pPr>
            <a:r>
              <a:rPr sz="1350" b="1">
                <a:solidFill>
                  <a:srgbClr val="233A70"/>
                </a:solidFill>
                <a:latin typeface="Arial"/>
                <a:ea typeface="Arial"/>
                <a:cs typeface="Arial"/>
              </a:rPr>
              <a:t>TRACE EVERY DECISION</a:t>
            </a:r>
          </a:p>
        </p:txBody>
      </p:sp>
      <p:sp>
        <p:nvSpPr>
          <p:cNvPr id="24" name="">
            <a:extLst xmlns:a="http://schemas.openxmlformats.org/drawingml/2006/main">
              <a:ext uri="{FF2B5EF4-FFF2-40B4-BE49-F238E27FC236}">
                <a16:creationId xmlns:a16="http://schemas.microsoft.com/office/drawing/2014/main" id="{6DE606BC-E4EE-43D8-A10A-D6AF9A28A5DE}"/>
              </a:ext>
            </a:extLst>
          </p:cNvPr>
          <p:cNvSpPr>
            <a:spLocks xmlns:a="http://schemas.openxmlformats.org/drawingml/2006/main" noGrp="1"/>
          </p:cNvSpPr>
          <p:nvPr/>
        </p:nvSpPr>
        <p:spPr>
          <a:xfrm xmlns:a="http://schemas.openxmlformats.org/drawingml/2006/main">
            <a:off x="838200" y="4533900"/>
            <a:ext cx="2400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75" b="1">
                <a:solidFill>
                  <a:srgbClr val="172033"/>
                </a:solidFill>
                <a:latin typeface="Arial"/>
                <a:ea typeface="Arial"/>
                <a:cs typeface="Arial"/>
              </a:defRPr>
            </a:pPr>
            <a:r>
              <a:rPr sz="1575" b="1">
                <a:solidFill>
                  <a:srgbClr val="172033"/>
                </a:solidFill>
                <a:latin typeface="Arial"/>
                <a:ea typeface="Arial"/>
                <a:cs typeface="Arial"/>
              </a:rPr>
              <a:t>tool version</a:t>
            </a:r>
          </a:p>
        </p:txBody>
      </p:sp>
      <p:sp>
        <p:nvSpPr>
          <p:cNvPr id="25" name="">
            <a:extLst xmlns:a="http://schemas.openxmlformats.org/drawingml/2006/main">
              <a:ext uri="{FF2B5EF4-FFF2-40B4-BE49-F238E27FC236}">
                <a16:creationId xmlns:a16="http://schemas.microsoft.com/office/drawing/2014/main" id="{E60E196D-BF02-4A60-AA11-C25A1BD1FBCA}"/>
              </a:ext>
            </a:extLst>
          </p:cNvPr>
          <p:cNvSpPr>
            <a:spLocks xmlns:a="http://schemas.openxmlformats.org/drawingml/2006/main" noGrp="1"/>
          </p:cNvSpPr>
          <p:nvPr/>
        </p:nvSpPr>
        <p:spPr>
          <a:xfrm xmlns:a="http://schemas.openxmlformats.org/drawingml/2006/main">
            <a:off x="3333750" y="4533900"/>
            <a:ext cx="19050" cy="400050"/>
          </a:xfrm>
          <a:prstGeom xmlns:a="http://schemas.openxmlformats.org/drawingml/2006/main" prst="rect">
            <a:avLst/>
          </a:prstGeom>
          <a:solidFill xmlns:a="http://schemas.openxmlformats.org/drawingml/2006/main">
            <a:srgbClr val="D9DEE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03F90BFD-8FC5-496D-B2BD-090EFE986347}"/>
              </a:ext>
            </a:extLst>
          </p:cNvPr>
          <p:cNvSpPr>
            <a:spLocks xmlns:a="http://schemas.openxmlformats.org/drawingml/2006/main" noGrp="1"/>
          </p:cNvSpPr>
          <p:nvPr/>
        </p:nvSpPr>
        <p:spPr>
          <a:xfrm xmlns:a="http://schemas.openxmlformats.org/drawingml/2006/main">
            <a:off x="3543300" y="4533900"/>
            <a:ext cx="2400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75" b="1">
                <a:solidFill>
                  <a:srgbClr val="172033"/>
                </a:solidFill>
                <a:latin typeface="Arial"/>
                <a:ea typeface="Arial"/>
                <a:cs typeface="Arial"/>
              </a:defRPr>
            </a:pPr>
            <a:r>
              <a:rPr sz="1575" b="1">
                <a:solidFill>
                  <a:srgbClr val="172033"/>
                </a:solidFill>
                <a:latin typeface="Arial"/>
                <a:ea typeface="Arial"/>
                <a:cs typeface="Arial"/>
              </a:rPr>
              <a:t>configuration</a:t>
            </a:r>
          </a:p>
        </p:txBody>
      </p:sp>
      <p:sp>
        <p:nvSpPr>
          <p:cNvPr id="27" name="">
            <a:extLst xmlns:a="http://schemas.openxmlformats.org/drawingml/2006/main">
              <a:ext uri="{FF2B5EF4-FFF2-40B4-BE49-F238E27FC236}">
                <a16:creationId xmlns:a16="http://schemas.microsoft.com/office/drawing/2014/main" id="{B2B38D1D-5BC1-489F-8CEC-BF5FD0E6DF1A}"/>
              </a:ext>
            </a:extLst>
          </p:cNvPr>
          <p:cNvSpPr>
            <a:spLocks xmlns:a="http://schemas.openxmlformats.org/drawingml/2006/main" noGrp="1"/>
          </p:cNvSpPr>
          <p:nvPr/>
        </p:nvSpPr>
        <p:spPr>
          <a:xfrm xmlns:a="http://schemas.openxmlformats.org/drawingml/2006/main">
            <a:off x="6038850" y="4533900"/>
            <a:ext cx="19050" cy="400050"/>
          </a:xfrm>
          <a:prstGeom xmlns:a="http://schemas.openxmlformats.org/drawingml/2006/main" prst="rect">
            <a:avLst/>
          </a:prstGeom>
          <a:solidFill xmlns:a="http://schemas.openxmlformats.org/drawingml/2006/main">
            <a:srgbClr val="D9DEE8"/>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8CBE62AC-4860-455E-BD3B-688579D32233}"/>
              </a:ext>
            </a:extLst>
          </p:cNvPr>
          <p:cNvSpPr>
            <a:spLocks xmlns:a="http://schemas.openxmlformats.org/drawingml/2006/main" noGrp="1"/>
          </p:cNvSpPr>
          <p:nvPr/>
        </p:nvSpPr>
        <p:spPr>
          <a:xfrm xmlns:a="http://schemas.openxmlformats.org/drawingml/2006/main">
            <a:off x="6248400" y="4533900"/>
            <a:ext cx="2400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75" b="1">
                <a:solidFill>
                  <a:srgbClr val="172033"/>
                </a:solidFill>
                <a:latin typeface="Arial"/>
                <a:ea typeface="Arial"/>
                <a:cs typeface="Arial"/>
              </a:defRPr>
            </a:pPr>
            <a:r>
              <a:rPr sz="1575" b="1">
                <a:solidFill>
                  <a:srgbClr val="172033"/>
                </a:solidFill>
                <a:latin typeface="Arial"/>
                <a:ea typeface="Arial"/>
                <a:cs typeface="Arial"/>
              </a:rPr>
              <a:t>output mapping</a:t>
            </a:r>
          </a:p>
        </p:txBody>
      </p:sp>
      <p:sp>
        <p:nvSpPr>
          <p:cNvPr id="29" name="">
            <a:extLst xmlns:a="http://schemas.openxmlformats.org/drawingml/2006/main">
              <a:ext uri="{FF2B5EF4-FFF2-40B4-BE49-F238E27FC236}">
                <a16:creationId xmlns:a16="http://schemas.microsoft.com/office/drawing/2014/main" id="{DAD0FA6E-44BA-4057-A6E5-205E1EA40B06}"/>
              </a:ext>
            </a:extLst>
          </p:cNvPr>
          <p:cNvSpPr>
            <a:spLocks xmlns:a="http://schemas.openxmlformats.org/drawingml/2006/main" noGrp="1"/>
          </p:cNvSpPr>
          <p:nvPr/>
        </p:nvSpPr>
        <p:spPr>
          <a:xfrm xmlns:a="http://schemas.openxmlformats.org/drawingml/2006/main">
            <a:off x="8743950" y="4533900"/>
            <a:ext cx="19050" cy="400050"/>
          </a:xfrm>
          <a:prstGeom xmlns:a="http://schemas.openxmlformats.org/drawingml/2006/main" prst="rect">
            <a:avLst/>
          </a:prstGeom>
          <a:solidFill xmlns:a="http://schemas.openxmlformats.org/drawingml/2006/main">
            <a:srgbClr val="D9DEE8"/>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EB7B099E-18FB-4F61-A001-312CD23DFDB3}"/>
              </a:ext>
            </a:extLst>
          </p:cNvPr>
          <p:cNvSpPr>
            <a:spLocks xmlns:a="http://schemas.openxmlformats.org/drawingml/2006/main" noGrp="1"/>
          </p:cNvSpPr>
          <p:nvPr/>
        </p:nvSpPr>
        <p:spPr>
          <a:xfrm xmlns:a="http://schemas.openxmlformats.org/drawingml/2006/main">
            <a:off x="8953500" y="4533900"/>
            <a:ext cx="2400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75" b="1">
                <a:solidFill>
                  <a:srgbClr val="172033"/>
                </a:solidFill>
                <a:latin typeface="Arial"/>
                <a:ea typeface="Arial"/>
                <a:cs typeface="Arial"/>
              </a:defRPr>
            </a:pPr>
            <a:r>
              <a:rPr sz="1575" b="1">
                <a:solidFill>
                  <a:srgbClr val="172033"/>
                </a:solidFill>
                <a:latin typeface="Arial"/>
                <a:ea typeface="Arial"/>
                <a:cs typeface="Arial"/>
              </a:rPr>
              <a:t>validation context</a:t>
            </a:r>
          </a:p>
        </p:txBody>
      </p:sp>
      <p:sp>
        <p:nvSpPr>
          <p:cNvPr id="31" name="">
            <a:extLst xmlns:a="http://schemas.openxmlformats.org/drawingml/2006/main">
              <a:ext uri="{FF2B5EF4-FFF2-40B4-BE49-F238E27FC236}">
                <a16:creationId xmlns:a16="http://schemas.microsoft.com/office/drawing/2014/main" id="{61341085-EF38-4412-9246-C812DAAA179E}"/>
              </a:ext>
            </a:extLst>
          </p:cNvPr>
          <p:cNvSpPr>
            <a:spLocks xmlns:a="http://schemas.openxmlformats.org/drawingml/2006/main" noGrp="1"/>
          </p:cNvSpPr>
          <p:nvPr/>
        </p:nvSpPr>
        <p:spPr>
          <a:xfrm xmlns:a="http://schemas.openxmlformats.org/drawingml/2006/main">
            <a:off x="1123950" y="5391150"/>
            <a:ext cx="9944100" cy="723900"/>
          </a:xfrm>
          <a:prstGeom xmlns:a="http://schemas.openxmlformats.org/drawingml/2006/main" prst="roundRect">
            <a:avLst>
              <a:gd name="adj" fmla="val 21053"/>
            </a:avLst>
          </a:prstGeom>
          <a:solidFill xmlns:a="http://schemas.openxmlformats.org/drawingml/2006/main">
            <a:srgbClr val="233A70"/>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C6444606-31CF-4954-A94E-256FA6870834}"/>
              </a:ext>
            </a:extLst>
          </p:cNvPr>
          <p:cNvSpPr>
            <a:spLocks xmlns:a="http://schemas.openxmlformats.org/drawingml/2006/main" noGrp="1"/>
          </p:cNvSpPr>
          <p:nvPr/>
        </p:nvSpPr>
        <p:spPr>
          <a:xfrm xmlns:a="http://schemas.openxmlformats.org/drawingml/2006/main">
            <a:off x="1466850" y="5581650"/>
            <a:ext cx="9258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Use AI to prioritize evidence review—never to silently exclude it.</a:t>
            </a:r>
          </a:p>
        </p:txBody>
      </p:sp>
    </p:spTree>
    <p:extLst>
      <p:ext uri="{BB962C8B-B14F-4D97-AF65-F5344CB8AC3E}">
        <p14:creationId xmlns:p14="http://schemas.microsoft.com/office/powerpoint/2010/main" val="1161338567"/>
      </p:ext>
    </p:extLst>
  </p:cSld>
</p:sld>
</file>

<file path=ppt/slides/slide13.xml><?xml version="1.0" encoding="utf-8"?>
<p:sld xmlns:p="http://schemas.openxmlformats.org/presentationml/2006/main">
  <p:cSld>
    <p:bg>
      <p:bgPr>
        <a:solidFill xmlns:a="http://schemas.openxmlformats.org/drawingml/2006/main">
          <a:srgbClr val="233A70"/>
        </a:solidFill>
      </p:bgPr>
    </p:bg>
    <p:spTree>
      <p:nvGrpSpPr>
        <p:cNvPr id="1" name=""/>
        <p:cNvGrpSpPr/>
        <p:nvPr/>
      </p:nvGrpSpPr>
      <p:grpSpPr>
        <a:xfrm xmlns:a="http://schemas.openxmlformats.org/drawingml/2006/main"/>
      </p:grpSpPr>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c5e4701042fc43ce"/>
          <a:stretch xmlns:a="http://schemas.openxmlformats.org/drawingml/2006/main"/>
        </p:blipFill>
        <p:spPr>
          <a:xfrm xmlns:a="http://schemas.openxmlformats.org/drawingml/2006/main">
            <a:off x="9812751" y="400050"/>
            <a:ext cx="1424748" cy="16954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6233C98-1682-4713-96AF-301D7793CFAD}"/>
              </a:ext>
            </a:extLst>
          </p:cNvPr>
          <p:cNvSpPr>
            <a:spLocks xmlns:a="http://schemas.openxmlformats.org/drawingml/2006/main" noGrp="1"/>
          </p:cNvSpPr>
          <p:nvPr/>
        </p:nvSpPr>
        <p:spPr>
          <a:xfrm xmlns:a="http://schemas.openxmlformats.org/drawingml/2006/main">
            <a:off x="685800" y="685800"/>
            <a:ext cx="87630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4200" b="1">
                <a:solidFill>
                  <a:srgbClr val="FFFFFF"/>
                </a:solidFill>
                <a:latin typeface="Arial"/>
                <a:ea typeface="Arial"/>
                <a:cs typeface="Arial"/>
              </a:defRPr>
            </a:pPr>
            <a:r>
              <a:rPr sz="4200" b="1">
                <a:solidFill>
                  <a:srgbClr val="FFFFFF"/>
                </a:solidFill>
                <a:latin typeface="Arial"/>
                <a:ea typeface="Arial"/>
                <a:cs typeface="Arial"/>
              </a:rPr>
              <a:t>AI can prioritize evidence;</a:t>
            </a:r>
          </a:p>
          <a:p xmlns:a="http://schemas.openxmlformats.org/drawingml/2006/main">
            <a:pPr algn="l">
              <a:defRPr sz="4200" b="1">
                <a:solidFill>
                  <a:srgbClr val="FFFFFF"/>
                </a:solidFill>
                <a:latin typeface="Arial"/>
                <a:ea typeface="Arial"/>
                <a:cs typeface="Arial"/>
              </a:defRPr>
            </a:pPr>
            <a:r>
              <a:rPr sz="4200" b="1">
                <a:solidFill>
                  <a:srgbClr val="FFFFFF"/>
                </a:solidFill>
                <a:latin typeface="Arial"/>
                <a:ea typeface="Arial"/>
                <a:cs typeface="Arial"/>
              </a:rPr>
              <a:t>it must not silently exclude it.</a:t>
            </a:r>
          </a:p>
        </p:txBody>
      </p:sp>
      <p:sp>
        <p:nvSpPr>
          <p:cNvPr id="3" name="">
            <a:extLst xmlns:a="http://schemas.openxmlformats.org/drawingml/2006/main">
              <a:ext uri="{FF2B5EF4-FFF2-40B4-BE49-F238E27FC236}">
                <a16:creationId xmlns:a16="http://schemas.microsoft.com/office/drawing/2014/main" id="{406CEE45-9954-4129-B4CC-8763B90B9FE7}"/>
              </a:ext>
            </a:extLst>
          </p:cNvPr>
          <p:cNvSpPr>
            <a:spLocks xmlns:a="http://schemas.openxmlformats.org/drawingml/2006/main" noGrp="1"/>
          </p:cNvSpPr>
          <p:nvPr/>
        </p:nvSpPr>
        <p:spPr>
          <a:xfrm xmlns:a="http://schemas.openxmlformats.org/drawingml/2006/main">
            <a:off x="685800" y="2381250"/>
            <a:ext cx="2000250" cy="66675"/>
          </a:xfrm>
          <a:prstGeom xmlns:a="http://schemas.openxmlformats.org/drawingml/2006/main" prst="rect">
            <a:avLst/>
          </a:prstGeom>
          <a:solidFill xmlns:a="http://schemas.openxmlformats.org/drawingml/2006/main">
            <a:srgbClr val="14B97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87ACFBC-5913-4A14-A572-7C43C4E614CE}"/>
              </a:ext>
            </a:extLst>
          </p:cNvPr>
          <p:cNvSpPr>
            <a:spLocks xmlns:a="http://schemas.openxmlformats.org/drawingml/2006/main" noGrp="1"/>
          </p:cNvSpPr>
          <p:nvPr/>
        </p:nvSpPr>
        <p:spPr>
          <a:xfrm xmlns:a="http://schemas.openxmlformats.org/drawingml/2006/main">
            <a:off x="685800" y="2857500"/>
            <a:ext cx="57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1">
                <a:solidFill>
                  <a:srgbClr val="14B978"/>
                </a:solidFill>
                <a:latin typeface="Arial"/>
                <a:ea typeface="Arial"/>
                <a:cs typeface="Arial"/>
              </a:defRPr>
            </a:pPr>
            <a:r>
              <a:rPr sz="1575" b="1">
                <a:solidFill>
                  <a:srgbClr val="14B978"/>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A7447639-7A70-4861-8213-2179225B1DA5}"/>
              </a:ext>
            </a:extLst>
          </p:cNvPr>
          <p:cNvSpPr>
            <a:spLocks xmlns:a="http://schemas.openxmlformats.org/drawingml/2006/main" noGrp="1"/>
          </p:cNvSpPr>
          <p:nvPr/>
        </p:nvSpPr>
        <p:spPr>
          <a:xfrm xmlns:a="http://schemas.openxmlformats.org/drawingml/2006/main">
            <a:off x="1428750" y="2838450"/>
            <a:ext cx="9334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1">
                <a:solidFill>
                  <a:srgbClr val="FFFFFF"/>
                </a:solidFill>
                <a:latin typeface="Arial"/>
                <a:ea typeface="Arial"/>
                <a:cs typeface="Arial"/>
              </a:defRPr>
            </a:pPr>
            <a:r>
              <a:rPr sz="1875" b="1">
                <a:solidFill>
                  <a:srgbClr val="FFFFFF"/>
                </a:solidFill>
                <a:latin typeface="Arial"/>
                <a:ea typeface="Arial"/>
                <a:cs typeface="Arial"/>
              </a:rPr>
              <a:t>Clean performance is only the baseline; robustness is condition-dependent.</a:t>
            </a:r>
          </a:p>
        </p:txBody>
      </p:sp>
      <p:sp>
        <p:nvSpPr>
          <p:cNvPr id="6" name="">
            <a:extLst xmlns:a="http://schemas.openxmlformats.org/drawingml/2006/main">
              <a:ext uri="{FF2B5EF4-FFF2-40B4-BE49-F238E27FC236}">
                <a16:creationId xmlns:a16="http://schemas.microsoft.com/office/drawing/2014/main" id="{1450CA5E-FC35-430A-9031-A11896E280CD}"/>
              </a:ext>
            </a:extLst>
          </p:cNvPr>
          <p:cNvSpPr>
            <a:spLocks xmlns:a="http://schemas.openxmlformats.org/drawingml/2006/main" noGrp="1"/>
          </p:cNvSpPr>
          <p:nvPr/>
        </p:nvSpPr>
        <p:spPr>
          <a:xfrm xmlns:a="http://schemas.openxmlformats.org/drawingml/2006/main">
            <a:off x="1428750" y="3524250"/>
            <a:ext cx="8858250" cy="9525"/>
          </a:xfrm>
          <a:prstGeom xmlns:a="http://schemas.openxmlformats.org/drawingml/2006/main" prst="rect">
            <a:avLst/>
          </a:prstGeom>
          <a:solidFill xmlns:a="http://schemas.openxmlformats.org/drawingml/2006/main">
            <a:srgbClr val="536A9B"/>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84B48416-48C8-47F4-8298-4F17F973B71A}"/>
              </a:ext>
            </a:extLst>
          </p:cNvPr>
          <p:cNvSpPr>
            <a:spLocks xmlns:a="http://schemas.openxmlformats.org/drawingml/2006/main" noGrp="1"/>
          </p:cNvSpPr>
          <p:nvPr/>
        </p:nvSpPr>
        <p:spPr>
          <a:xfrm xmlns:a="http://schemas.openxmlformats.org/drawingml/2006/main">
            <a:off x="685800" y="3752850"/>
            <a:ext cx="57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1">
                <a:solidFill>
                  <a:srgbClr val="14B978"/>
                </a:solidFill>
                <a:latin typeface="Arial"/>
                <a:ea typeface="Arial"/>
                <a:cs typeface="Arial"/>
              </a:defRPr>
            </a:pPr>
            <a:r>
              <a:rPr sz="1575" b="1">
                <a:solidFill>
                  <a:srgbClr val="14B978"/>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988D7614-8FE3-475C-B612-F8C4E0C42486}"/>
              </a:ext>
            </a:extLst>
          </p:cNvPr>
          <p:cNvSpPr>
            <a:spLocks xmlns:a="http://schemas.openxmlformats.org/drawingml/2006/main" noGrp="1"/>
          </p:cNvSpPr>
          <p:nvPr/>
        </p:nvSpPr>
        <p:spPr>
          <a:xfrm xmlns:a="http://schemas.openxmlformats.org/drawingml/2006/main">
            <a:off x="1428750" y="3733800"/>
            <a:ext cx="9334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1">
                <a:solidFill>
                  <a:srgbClr val="FFFFFF"/>
                </a:solidFill>
                <a:latin typeface="Arial"/>
                <a:ea typeface="Arial"/>
                <a:cs typeface="Arial"/>
              </a:defRPr>
            </a:pPr>
            <a:r>
              <a:rPr sz="1875" b="1">
                <a:solidFill>
                  <a:srgbClr val="FFFFFF"/>
                </a:solidFill>
                <a:latin typeface="Arial"/>
                <a:ea typeface="Arial"/>
                <a:cs typeface="Arial"/>
              </a:rPr>
              <a:t>Direct attacks, transfer and OOD behavior are distinct from configuration trade-offs.</a:t>
            </a:r>
          </a:p>
        </p:txBody>
      </p:sp>
      <p:sp>
        <p:nvSpPr>
          <p:cNvPr id="9" name="">
            <a:extLst xmlns:a="http://schemas.openxmlformats.org/drawingml/2006/main">
              <a:ext uri="{FF2B5EF4-FFF2-40B4-BE49-F238E27FC236}">
                <a16:creationId xmlns:a16="http://schemas.microsoft.com/office/drawing/2014/main" id="{9FD6AFD3-88FF-4DC9-A60E-DD29C11BBE0F}"/>
              </a:ext>
            </a:extLst>
          </p:cNvPr>
          <p:cNvSpPr>
            <a:spLocks xmlns:a="http://schemas.openxmlformats.org/drawingml/2006/main" noGrp="1"/>
          </p:cNvSpPr>
          <p:nvPr/>
        </p:nvSpPr>
        <p:spPr>
          <a:xfrm xmlns:a="http://schemas.openxmlformats.org/drawingml/2006/main">
            <a:off x="1428750" y="4419600"/>
            <a:ext cx="8858250" cy="9525"/>
          </a:xfrm>
          <a:prstGeom xmlns:a="http://schemas.openxmlformats.org/drawingml/2006/main" prst="rect">
            <a:avLst/>
          </a:prstGeom>
          <a:solidFill xmlns:a="http://schemas.openxmlformats.org/drawingml/2006/main">
            <a:srgbClr val="536A9B"/>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82DD1464-6B69-4824-9D72-F6913E53C22E}"/>
              </a:ext>
            </a:extLst>
          </p:cNvPr>
          <p:cNvSpPr>
            <a:spLocks xmlns:a="http://schemas.openxmlformats.org/drawingml/2006/main" noGrp="1"/>
          </p:cNvSpPr>
          <p:nvPr/>
        </p:nvSpPr>
        <p:spPr>
          <a:xfrm xmlns:a="http://schemas.openxmlformats.org/drawingml/2006/main">
            <a:off x="685800" y="4648200"/>
            <a:ext cx="57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1">
                <a:solidFill>
                  <a:srgbClr val="14B978"/>
                </a:solidFill>
                <a:latin typeface="Arial"/>
                <a:ea typeface="Arial"/>
                <a:cs typeface="Arial"/>
              </a:defRPr>
            </a:pPr>
            <a:r>
              <a:rPr sz="1575" b="1">
                <a:solidFill>
                  <a:srgbClr val="14B978"/>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CE069915-8C7F-4D66-A75C-DE9F676A9B58}"/>
              </a:ext>
            </a:extLst>
          </p:cNvPr>
          <p:cNvSpPr>
            <a:spLocks xmlns:a="http://schemas.openxmlformats.org/drawingml/2006/main" noGrp="1"/>
          </p:cNvSpPr>
          <p:nvPr/>
        </p:nvSpPr>
        <p:spPr>
          <a:xfrm xmlns:a="http://schemas.openxmlformats.org/drawingml/2006/main">
            <a:off x="1428750" y="4629150"/>
            <a:ext cx="9334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1">
                <a:solidFill>
                  <a:srgbClr val="FFFFFF"/>
                </a:solidFill>
                <a:latin typeface="Arial"/>
                <a:ea typeface="Arial"/>
                <a:cs typeface="Arial"/>
              </a:defRPr>
            </a:pPr>
            <a:r>
              <a:rPr sz="1875" b="1">
                <a:solidFill>
                  <a:srgbClr val="FFFFFF"/>
                </a:solidFill>
                <a:latin typeface="Arial"/>
                <a:ea typeface="Arial"/>
                <a:cs typeface="Arial"/>
              </a:rPr>
              <a:t>FAIRLab makes those dimensions traceable, auditable and reviewable by a forensic expert.</a:t>
            </a:r>
          </a:p>
        </p:txBody>
      </p:sp>
      <p:sp>
        <p:nvSpPr>
          <p:cNvPr id="12" name="">
            <a:extLst xmlns:a="http://schemas.openxmlformats.org/drawingml/2006/main">
              <a:ext uri="{FF2B5EF4-FFF2-40B4-BE49-F238E27FC236}">
                <a16:creationId xmlns:a16="http://schemas.microsoft.com/office/drawing/2014/main" id="{C5DB9022-7C6B-4FD6-BD9F-B0933F2FF931}"/>
              </a:ext>
            </a:extLst>
          </p:cNvPr>
          <p:cNvSpPr>
            <a:spLocks xmlns:a="http://schemas.openxmlformats.org/drawingml/2006/main" noGrp="1"/>
          </p:cNvSpPr>
          <p:nvPr/>
        </p:nvSpPr>
        <p:spPr>
          <a:xfrm xmlns:a="http://schemas.openxmlformats.org/drawingml/2006/main">
            <a:off x="685800" y="5962650"/>
            <a:ext cx="2476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DCE4F3"/>
                </a:solidFill>
                <a:latin typeface="Arial"/>
                <a:ea typeface="Arial"/>
                <a:cs typeface="Arial"/>
              </a:defRPr>
            </a:pPr>
            <a:r>
              <a:rPr sz="2025" b="1">
                <a:solidFill>
                  <a:srgbClr val="DCE4F3"/>
                </a:solidFill>
                <a:latin typeface="Arial"/>
                <a:ea typeface="Arial"/>
                <a:cs typeface="Arial"/>
              </a:rPr>
              <a:t>Questions</a:t>
            </a:r>
          </a:p>
        </p:txBody>
      </p:sp>
      <p:sp>
        <p:nvSpPr>
          <p:cNvPr id="13" name="">
            <a:extLst xmlns:a="http://schemas.openxmlformats.org/drawingml/2006/main">
              <a:ext uri="{FF2B5EF4-FFF2-40B4-BE49-F238E27FC236}">
                <a16:creationId xmlns:a16="http://schemas.microsoft.com/office/drawing/2014/main" id="{E270C321-849E-4038-B40F-9F6AE5428309}"/>
              </a:ext>
            </a:extLst>
          </p:cNvPr>
          <p:cNvSpPr>
            <a:spLocks xmlns:a="http://schemas.openxmlformats.org/drawingml/2006/main" noGrp="1"/>
          </p:cNvSpPr>
          <p:nvPr/>
        </p:nvSpPr>
        <p:spPr>
          <a:xfrm xmlns:a="http://schemas.openxmlformats.org/drawingml/2006/main">
            <a:off x="8972550" y="6038850"/>
            <a:ext cx="2266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9FB0D3"/>
                </a:solidFill>
                <a:latin typeface="Arial"/>
                <a:ea typeface="Arial"/>
                <a:cs typeface="Arial"/>
              </a:defRPr>
            </a:pPr>
            <a:r>
              <a:rPr sz="1200" b="0">
                <a:solidFill>
                  <a:srgbClr val="9FB0D3"/>
                </a:solidFill>
                <a:latin typeface="Arial"/>
                <a:ea typeface="Arial"/>
                <a:cs typeface="Arial"/>
              </a:rPr>
              <a:t>Backup slides follow</a:t>
            </a:r>
          </a:p>
        </p:txBody>
      </p:sp>
    </p:spTree>
    <p:extLst>
      <p:ext uri="{BB962C8B-B14F-4D97-AF65-F5344CB8AC3E}">
        <p14:creationId xmlns:p14="http://schemas.microsoft.com/office/powerpoint/2010/main" val="1091480840"/>
      </p:ext>
    </p:extLst>
  </p:cSld>
</p:sld>
</file>

<file path=ppt/slides/slide14.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84FC9E0B-46E5-4605-AE89-120F1A809740}"/>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233A70"/>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E9CEC47-2C9E-4DEB-B3A5-380688C3D463}"/>
              </a:ext>
            </a:extLst>
          </p:cNvPr>
          <p:cNvSpPr>
            <a:spLocks xmlns:a="http://schemas.openxmlformats.org/drawingml/2006/main" noGrp="1"/>
          </p:cNvSpPr>
          <p:nvPr/>
        </p:nvSpPr>
        <p:spPr>
          <a:xfrm xmlns:a="http://schemas.openxmlformats.org/drawingml/2006/main">
            <a:off x="685800" y="704850"/>
            <a:ext cx="10572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600" b="1">
                <a:solidFill>
                  <a:srgbClr val="233A70"/>
                </a:solidFill>
                <a:latin typeface="Arial"/>
                <a:ea typeface="Arial"/>
                <a:cs typeface="Arial"/>
              </a:defRPr>
            </a:pPr>
            <a:r>
              <a:rPr sz="3600" b="1">
                <a:solidFill>
                  <a:srgbClr val="233A70"/>
                </a:solidFill>
                <a:latin typeface="Arial"/>
                <a:ea typeface="Arial"/>
                <a:cs typeface="Arial"/>
              </a:rPr>
              <a:t>Research questions and claim scope</a:t>
            </a:r>
          </a:p>
        </p:txBody>
      </p:sp>
      <p:sp>
        <p:nvSpPr>
          <p:cNvPr id="3" name="">
            <a:extLst xmlns:a="http://schemas.openxmlformats.org/drawingml/2006/main">
              <a:ext uri="{FF2B5EF4-FFF2-40B4-BE49-F238E27FC236}">
                <a16:creationId xmlns:a16="http://schemas.microsoft.com/office/drawing/2014/main" id="{3671D975-C3C7-4CFA-BB40-CDE2E47A6DBB}"/>
              </a:ext>
            </a:extLst>
          </p:cNvPr>
          <p:cNvSpPr>
            <a:spLocks xmlns:a="http://schemas.openxmlformats.org/drawingml/2006/main" noGrp="1"/>
          </p:cNvSpPr>
          <p:nvPr/>
        </p:nvSpPr>
        <p:spPr>
          <a:xfrm xmlns:a="http://schemas.openxmlformats.org/drawingml/2006/main">
            <a:off x="685800" y="1352550"/>
            <a:ext cx="10820400" cy="19050"/>
          </a:xfrm>
          <a:prstGeom xmlns:a="http://schemas.openxmlformats.org/drawingml/2006/main" prst="rect">
            <a:avLst/>
          </a:prstGeom>
          <a:solidFill xmlns:a="http://schemas.openxmlformats.org/drawingml/2006/main">
            <a:srgbClr val="D9DEE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0E5654D2-637C-43AD-B298-14213A7CA3D8}"/>
              </a:ext>
            </a:extLst>
          </p:cNvPr>
          <p:cNvSpPr>
            <a:spLocks xmlns:a="http://schemas.openxmlformats.org/drawingml/2006/main" noGrp="1"/>
          </p:cNvSpPr>
          <p:nvPr/>
        </p:nvSpPr>
        <p:spPr>
          <a:xfrm xmlns:a="http://schemas.openxmlformats.org/drawingml/2006/main">
            <a:off x="685800" y="6524625"/>
            <a:ext cx="438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050" b="0">
                <a:solidFill>
                  <a:srgbClr val="5B6577"/>
                </a:solidFill>
                <a:latin typeface="Arial"/>
                <a:ea typeface="Arial"/>
                <a:cs typeface="Arial"/>
              </a:defRPr>
            </a:pPr>
            <a:r>
              <a:rPr sz="1050" b="0">
                <a:solidFill>
                  <a:srgbClr val="5B6577"/>
                </a:solidFill>
                <a:latin typeface="Arial"/>
                <a:ea typeface="Arial"/>
                <a:cs typeface="Arial"/>
              </a:rPr>
              <a:t>Lello Molinario  |  MSc Thesis Defense</a:t>
            </a:r>
          </a:p>
        </p:txBody>
      </p:sp>
      <p:sp>
        <p:nvSpPr>
          <p:cNvPr id="5" name="">
            <a:extLst xmlns:a="http://schemas.openxmlformats.org/drawingml/2006/main">
              <a:ext uri="{FF2B5EF4-FFF2-40B4-BE49-F238E27FC236}">
                <a16:creationId xmlns:a16="http://schemas.microsoft.com/office/drawing/2014/main" id="{8439A926-BBAF-40CB-B5E7-23C236A118D8}"/>
              </a:ext>
            </a:extLst>
          </p:cNvPr>
          <p:cNvSpPr>
            <a:spLocks xmlns:a="http://schemas.openxmlformats.org/drawingml/2006/main" noGrp="1"/>
          </p:cNvSpPr>
          <p:nvPr/>
        </p:nvSpPr>
        <p:spPr>
          <a:xfrm xmlns:a="http://schemas.openxmlformats.org/drawingml/2006/main">
            <a:off x="11049000" y="652462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050" b="0">
                <a:solidFill>
                  <a:srgbClr val="5B6577"/>
                </a:solidFill>
                <a:latin typeface="Arial"/>
                <a:ea typeface="Arial"/>
                <a:cs typeface="Arial"/>
              </a:defRPr>
            </a:pPr>
            <a:r>
              <a:rPr sz="1050" b="0">
                <a:solidFill>
                  <a:srgbClr val="5B6577"/>
                </a:solidFill>
                <a:latin typeface="Arial"/>
                <a:ea typeface="Arial"/>
                <a:cs typeface="Arial"/>
              </a:rPr>
              <a:t>14</a:t>
            </a:r>
          </a:p>
        </p:txBody>
      </p:sp>
      <p:sp>
        <p:nvSpPr>
          <p:cNvPr id="6" name="">
            <a:extLst xmlns:a="http://schemas.openxmlformats.org/drawingml/2006/main">
              <a:ext uri="{FF2B5EF4-FFF2-40B4-BE49-F238E27FC236}">
                <a16:creationId xmlns:a16="http://schemas.microsoft.com/office/drawing/2014/main" id="{C0C9D87E-20DC-47FA-8CCE-629AA967F5EB}"/>
              </a:ext>
            </a:extLst>
          </p:cNvPr>
          <p:cNvSpPr>
            <a:spLocks xmlns:a="http://schemas.openxmlformats.org/drawingml/2006/main" noGrp="1"/>
          </p:cNvSpPr>
          <p:nvPr/>
        </p:nvSpPr>
        <p:spPr>
          <a:xfrm xmlns:a="http://schemas.openxmlformats.org/drawingml/2006/main">
            <a:off x="685800" y="1466850"/>
            <a:ext cx="1047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100" b="1">
                <a:solidFill>
                  <a:srgbClr val="233A70"/>
                </a:solidFill>
                <a:latin typeface="Arial"/>
                <a:ea typeface="Arial"/>
                <a:cs typeface="Arial"/>
              </a:defRPr>
            </a:pPr>
            <a:r>
              <a:rPr sz="2100" b="1">
                <a:solidFill>
                  <a:srgbClr val="233A70"/>
                </a:solidFill>
                <a:latin typeface="Arial"/>
                <a:ea typeface="Arial"/>
                <a:cs typeface="Arial"/>
              </a:rPr>
              <a:t>RQ1</a:t>
            </a:r>
          </a:p>
        </p:txBody>
      </p:sp>
      <p:sp>
        <p:nvSpPr>
          <p:cNvPr id="7" name="">
            <a:extLst xmlns:a="http://schemas.openxmlformats.org/drawingml/2006/main">
              <a:ext uri="{FF2B5EF4-FFF2-40B4-BE49-F238E27FC236}">
                <a16:creationId xmlns:a16="http://schemas.microsoft.com/office/drawing/2014/main" id="{2CE69233-BFB9-41EB-979C-EA89A8DFDF59}"/>
              </a:ext>
            </a:extLst>
          </p:cNvPr>
          <p:cNvSpPr>
            <a:spLocks xmlns:a="http://schemas.openxmlformats.org/drawingml/2006/main" noGrp="1"/>
          </p:cNvSpPr>
          <p:nvPr/>
        </p:nvSpPr>
        <p:spPr>
          <a:xfrm xmlns:a="http://schemas.openxmlformats.org/drawingml/2006/main">
            <a:off x="2000250" y="1466850"/>
            <a:ext cx="9505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0">
                <a:solidFill>
                  <a:srgbClr val="172033"/>
                </a:solidFill>
                <a:latin typeface="Arial"/>
                <a:ea typeface="Arial"/>
                <a:cs typeface="Arial"/>
              </a:defRPr>
            </a:pPr>
            <a:r>
              <a:rPr sz="1650" b="0">
                <a:solidFill>
                  <a:srgbClr val="172033"/>
                </a:solidFill>
                <a:latin typeface="Arial"/>
                <a:ea typeface="Arial"/>
                <a:cs typeface="Arial"/>
              </a:rPr>
              <a:t>To what extent do the proxy models retain clean-baseline performance across separate OOD, adversarial and anti-forensic conditions?</a:t>
            </a:r>
          </a:p>
        </p:txBody>
      </p:sp>
      <p:sp>
        <p:nvSpPr>
          <p:cNvPr id="8" name="">
            <a:extLst xmlns:a="http://schemas.openxmlformats.org/drawingml/2006/main">
              <a:ext uri="{FF2B5EF4-FFF2-40B4-BE49-F238E27FC236}">
                <a16:creationId xmlns:a16="http://schemas.microsoft.com/office/drawing/2014/main" id="{21C60FC9-62A2-4C61-8FF4-834622D26C25}"/>
              </a:ext>
            </a:extLst>
          </p:cNvPr>
          <p:cNvSpPr>
            <a:spLocks xmlns:a="http://schemas.openxmlformats.org/drawingml/2006/main" noGrp="1"/>
          </p:cNvSpPr>
          <p:nvPr/>
        </p:nvSpPr>
        <p:spPr>
          <a:xfrm xmlns:a="http://schemas.openxmlformats.org/drawingml/2006/main">
            <a:off x="2000250" y="2247900"/>
            <a:ext cx="9505950" cy="9525"/>
          </a:xfrm>
          <a:prstGeom xmlns:a="http://schemas.openxmlformats.org/drawingml/2006/main" prst="rect">
            <a:avLst/>
          </a:prstGeom>
          <a:solidFill xmlns:a="http://schemas.openxmlformats.org/drawingml/2006/main">
            <a:srgbClr val="D9DEE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5E6437C9-09C1-42B9-9D92-FAEBBDA67E6F}"/>
              </a:ext>
            </a:extLst>
          </p:cNvPr>
          <p:cNvSpPr>
            <a:spLocks xmlns:a="http://schemas.openxmlformats.org/drawingml/2006/main" noGrp="1"/>
          </p:cNvSpPr>
          <p:nvPr/>
        </p:nvSpPr>
        <p:spPr>
          <a:xfrm xmlns:a="http://schemas.openxmlformats.org/drawingml/2006/main">
            <a:off x="685800" y="2466975"/>
            <a:ext cx="1047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100" b="1">
                <a:solidFill>
                  <a:srgbClr val="233A70"/>
                </a:solidFill>
                <a:latin typeface="Arial"/>
                <a:ea typeface="Arial"/>
                <a:cs typeface="Arial"/>
              </a:defRPr>
            </a:pPr>
            <a:r>
              <a:rPr sz="2100" b="1">
                <a:solidFill>
                  <a:srgbClr val="233A70"/>
                </a:solidFill>
                <a:latin typeface="Arial"/>
                <a:ea typeface="Arial"/>
                <a:cs typeface="Arial"/>
              </a:rPr>
              <a:t>RQ2</a:t>
            </a:r>
          </a:p>
        </p:txBody>
      </p:sp>
      <p:sp>
        <p:nvSpPr>
          <p:cNvPr id="10" name="">
            <a:extLst xmlns:a="http://schemas.openxmlformats.org/drawingml/2006/main">
              <a:ext uri="{FF2B5EF4-FFF2-40B4-BE49-F238E27FC236}">
                <a16:creationId xmlns:a16="http://schemas.microsoft.com/office/drawing/2014/main" id="{D47212FC-48F3-41EC-9CC7-4DD7E3283F95}"/>
              </a:ext>
            </a:extLst>
          </p:cNvPr>
          <p:cNvSpPr>
            <a:spLocks xmlns:a="http://schemas.openxmlformats.org/drawingml/2006/main" noGrp="1"/>
          </p:cNvSpPr>
          <p:nvPr/>
        </p:nvSpPr>
        <p:spPr>
          <a:xfrm xmlns:a="http://schemas.openxmlformats.org/drawingml/2006/main">
            <a:off x="2000250" y="2466975"/>
            <a:ext cx="9505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0">
                <a:solidFill>
                  <a:srgbClr val="172033"/>
                </a:solidFill>
                <a:latin typeface="Arial"/>
                <a:ea typeface="Arial"/>
                <a:cs typeface="Arial"/>
              </a:defRPr>
            </a:pPr>
            <a:r>
              <a:rPr sz="1650" b="0">
                <a:solidFill>
                  <a:srgbClr val="172033"/>
                </a:solidFill>
                <a:latin typeface="Arial"/>
                <a:ea typeface="Arial"/>
                <a:cs typeface="Arial"/>
              </a:rPr>
              <a:t>How do direct source-model attacks, cross-architecture transfer and model-agnostic Color Shift differ?</a:t>
            </a:r>
          </a:p>
        </p:txBody>
      </p:sp>
      <p:sp>
        <p:nvSpPr>
          <p:cNvPr id="11" name="">
            <a:extLst xmlns:a="http://schemas.openxmlformats.org/drawingml/2006/main">
              <a:ext uri="{FF2B5EF4-FFF2-40B4-BE49-F238E27FC236}">
                <a16:creationId xmlns:a16="http://schemas.microsoft.com/office/drawing/2014/main" id="{4C1C58C5-07A3-4CA4-BB48-B55541E160B0}"/>
              </a:ext>
            </a:extLst>
          </p:cNvPr>
          <p:cNvSpPr>
            <a:spLocks xmlns:a="http://schemas.openxmlformats.org/drawingml/2006/main" noGrp="1"/>
          </p:cNvSpPr>
          <p:nvPr/>
        </p:nvSpPr>
        <p:spPr>
          <a:xfrm xmlns:a="http://schemas.openxmlformats.org/drawingml/2006/main">
            <a:off x="2000250" y="3248025"/>
            <a:ext cx="9505950" cy="9525"/>
          </a:xfrm>
          <a:prstGeom xmlns:a="http://schemas.openxmlformats.org/drawingml/2006/main" prst="rect">
            <a:avLst/>
          </a:prstGeom>
          <a:solidFill xmlns:a="http://schemas.openxmlformats.org/drawingml/2006/main">
            <a:srgbClr val="D9DEE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16756826-4AF4-44E9-AEA3-B34F4931B102}"/>
              </a:ext>
            </a:extLst>
          </p:cNvPr>
          <p:cNvSpPr>
            <a:spLocks xmlns:a="http://schemas.openxmlformats.org/drawingml/2006/main" noGrp="1"/>
          </p:cNvSpPr>
          <p:nvPr/>
        </p:nvSpPr>
        <p:spPr>
          <a:xfrm xmlns:a="http://schemas.openxmlformats.org/drawingml/2006/main">
            <a:off x="685800" y="3467100"/>
            <a:ext cx="1047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100" b="1">
                <a:solidFill>
                  <a:srgbClr val="233A70"/>
                </a:solidFill>
                <a:latin typeface="Arial"/>
                <a:ea typeface="Arial"/>
                <a:cs typeface="Arial"/>
              </a:defRPr>
            </a:pPr>
            <a:r>
              <a:rPr sz="2100" b="1">
                <a:solidFill>
                  <a:srgbClr val="233A70"/>
                </a:solidFill>
                <a:latin typeface="Arial"/>
                <a:ea typeface="Arial"/>
                <a:cs typeface="Arial"/>
              </a:rPr>
              <a:t>RQ3</a:t>
            </a:r>
          </a:p>
        </p:txBody>
      </p:sp>
      <p:sp>
        <p:nvSpPr>
          <p:cNvPr id="13" name="">
            <a:extLst xmlns:a="http://schemas.openxmlformats.org/drawingml/2006/main">
              <a:ext uri="{FF2B5EF4-FFF2-40B4-BE49-F238E27FC236}">
                <a16:creationId xmlns:a16="http://schemas.microsoft.com/office/drawing/2014/main" id="{346DA074-5DB2-4080-A017-58881045F2EB}"/>
              </a:ext>
            </a:extLst>
          </p:cNvPr>
          <p:cNvSpPr>
            <a:spLocks xmlns:a="http://schemas.openxmlformats.org/drawingml/2006/main" noGrp="1"/>
          </p:cNvSpPr>
          <p:nvPr/>
        </p:nvSpPr>
        <p:spPr>
          <a:xfrm xmlns:a="http://schemas.openxmlformats.org/drawingml/2006/main">
            <a:off x="2000250" y="3467100"/>
            <a:ext cx="9505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0">
                <a:solidFill>
                  <a:srgbClr val="172033"/>
                </a:solidFill>
                <a:latin typeface="Arial"/>
                <a:ea typeface="Arial"/>
                <a:cs typeface="Arial"/>
              </a:defRPr>
            </a:pPr>
            <a:r>
              <a:rPr sz="1650" b="0">
                <a:solidFill>
                  <a:srgbClr val="172033"/>
                </a:solidFill>
                <a:latin typeface="Arial"/>
                <a:ea typeface="Arial"/>
                <a:cs typeface="Arial"/>
              </a:rPr>
              <a:t>How do black-box outputs and configuration choices shape the observed operational profiles?</a:t>
            </a:r>
          </a:p>
        </p:txBody>
      </p:sp>
      <p:sp>
        <p:nvSpPr>
          <p:cNvPr id="14" name="">
            <a:extLst xmlns:a="http://schemas.openxmlformats.org/drawingml/2006/main">
              <a:ext uri="{FF2B5EF4-FFF2-40B4-BE49-F238E27FC236}">
                <a16:creationId xmlns:a16="http://schemas.microsoft.com/office/drawing/2014/main" id="{889BFF6A-0AC6-41F8-ACE2-0A4C4610C426}"/>
              </a:ext>
            </a:extLst>
          </p:cNvPr>
          <p:cNvSpPr>
            <a:spLocks xmlns:a="http://schemas.openxmlformats.org/drawingml/2006/main" noGrp="1"/>
          </p:cNvSpPr>
          <p:nvPr/>
        </p:nvSpPr>
        <p:spPr>
          <a:xfrm xmlns:a="http://schemas.openxmlformats.org/drawingml/2006/main">
            <a:off x="2000250" y="4248150"/>
            <a:ext cx="9505950" cy="9525"/>
          </a:xfrm>
          <a:prstGeom xmlns:a="http://schemas.openxmlformats.org/drawingml/2006/main" prst="rect">
            <a:avLst/>
          </a:prstGeom>
          <a:solidFill xmlns:a="http://schemas.openxmlformats.org/drawingml/2006/main">
            <a:srgbClr val="D9DEE8"/>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66853AED-6463-4B5B-A2DD-E44819CAF7D8}"/>
              </a:ext>
            </a:extLst>
          </p:cNvPr>
          <p:cNvSpPr>
            <a:spLocks xmlns:a="http://schemas.openxmlformats.org/drawingml/2006/main" noGrp="1"/>
          </p:cNvSpPr>
          <p:nvPr/>
        </p:nvSpPr>
        <p:spPr>
          <a:xfrm xmlns:a="http://schemas.openxmlformats.org/drawingml/2006/main">
            <a:off x="685800" y="4467225"/>
            <a:ext cx="1047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100" b="1">
                <a:solidFill>
                  <a:srgbClr val="233A70"/>
                </a:solidFill>
                <a:latin typeface="Arial"/>
                <a:ea typeface="Arial"/>
                <a:cs typeface="Arial"/>
              </a:defRPr>
            </a:pPr>
            <a:r>
              <a:rPr sz="2100" b="1">
                <a:solidFill>
                  <a:srgbClr val="233A70"/>
                </a:solidFill>
                <a:latin typeface="Arial"/>
                <a:ea typeface="Arial"/>
                <a:cs typeface="Arial"/>
              </a:rPr>
              <a:t>RQ4</a:t>
            </a:r>
          </a:p>
        </p:txBody>
      </p:sp>
      <p:sp>
        <p:nvSpPr>
          <p:cNvPr id="16" name="">
            <a:extLst xmlns:a="http://schemas.openxmlformats.org/drawingml/2006/main">
              <a:ext uri="{FF2B5EF4-FFF2-40B4-BE49-F238E27FC236}">
                <a16:creationId xmlns:a16="http://schemas.microsoft.com/office/drawing/2014/main" id="{6524EA49-2AAE-4745-B332-0434260C06F8}"/>
              </a:ext>
            </a:extLst>
          </p:cNvPr>
          <p:cNvSpPr>
            <a:spLocks xmlns:a="http://schemas.openxmlformats.org/drawingml/2006/main" noGrp="1"/>
          </p:cNvSpPr>
          <p:nvPr/>
        </p:nvSpPr>
        <p:spPr>
          <a:xfrm xmlns:a="http://schemas.openxmlformats.org/drawingml/2006/main">
            <a:off x="2000250" y="4467225"/>
            <a:ext cx="9505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0">
                <a:solidFill>
                  <a:srgbClr val="172033"/>
                </a:solidFill>
                <a:latin typeface="Arial"/>
                <a:ea typeface="Arial"/>
                <a:cs typeface="Arial"/>
              </a:defRPr>
            </a:pPr>
            <a:r>
              <a:rPr sz="1650" b="0">
                <a:solidFill>
                  <a:srgbClr val="172033"/>
                </a:solidFill>
                <a:latin typeface="Arial"/>
                <a:ea typeface="Arial"/>
                <a:cs typeface="Arial"/>
              </a:rPr>
              <a:t>Which directional errors, degradations, OOD assignments and unknown states matter for continued human review?</a:t>
            </a:r>
          </a:p>
        </p:txBody>
      </p:sp>
      <p:sp>
        <p:nvSpPr>
          <p:cNvPr id="17" name="">
            <a:extLst xmlns:a="http://schemas.openxmlformats.org/drawingml/2006/main">
              <a:ext uri="{FF2B5EF4-FFF2-40B4-BE49-F238E27FC236}">
                <a16:creationId xmlns:a16="http://schemas.microsoft.com/office/drawing/2014/main" id="{A2A1A18D-89F3-4B35-9E6B-FF22B6E99FEB}"/>
              </a:ext>
            </a:extLst>
          </p:cNvPr>
          <p:cNvSpPr>
            <a:spLocks xmlns:a="http://schemas.openxmlformats.org/drawingml/2006/main" noGrp="1"/>
          </p:cNvSpPr>
          <p:nvPr/>
        </p:nvSpPr>
        <p:spPr>
          <a:xfrm xmlns:a="http://schemas.openxmlformats.org/drawingml/2006/main">
            <a:off x="1695450" y="5657850"/>
            <a:ext cx="8801100" cy="552450"/>
          </a:xfrm>
          <a:prstGeom xmlns:a="http://schemas.openxmlformats.org/drawingml/2006/main" prst="roundRect">
            <a:avLst>
              <a:gd name="adj" fmla="val 24138"/>
            </a:avLst>
          </a:prstGeom>
          <a:solidFill xmlns:a="http://schemas.openxmlformats.org/drawingml/2006/main">
            <a:srgbClr val="E9EEF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073F03E5-3A3D-4C28-AB4A-460511D330F5}"/>
              </a:ext>
            </a:extLst>
          </p:cNvPr>
          <p:cNvSpPr>
            <a:spLocks xmlns:a="http://schemas.openxmlformats.org/drawingml/2006/main" noGrp="1"/>
          </p:cNvSpPr>
          <p:nvPr/>
        </p:nvSpPr>
        <p:spPr>
          <a:xfrm xmlns:a="http://schemas.openxmlformats.org/drawingml/2006/main">
            <a:off x="1943100" y="5810250"/>
            <a:ext cx="8305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350" b="1">
                <a:solidFill>
                  <a:srgbClr val="233A70"/>
                </a:solidFill>
                <a:latin typeface="Arial"/>
                <a:ea typeface="Arial"/>
                <a:cs typeface="Arial"/>
              </a:defRPr>
            </a:pPr>
            <a:r>
              <a:rPr sz="1350" b="1">
                <a:solidFill>
                  <a:srgbClr val="233A70"/>
                </a:solidFill>
                <a:latin typeface="Arial"/>
                <a:ea typeface="Arial"/>
                <a:cs typeface="Arial"/>
              </a:rPr>
              <a:t>Scope: operational robustness under the frozen protocol—not certification, legal admissibility or universal ranking.</a:t>
            </a:r>
          </a:p>
        </p:txBody>
      </p:sp>
    </p:spTree>
    <p:extLst>
      <p:ext uri="{BB962C8B-B14F-4D97-AF65-F5344CB8AC3E}">
        <p14:creationId xmlns:p14="http://schemas.microsoft.com/office/powerpoint/2010/main" val="1465188518"/>
      </p:ext>
    </p:extLst>
  </p:cSld>
</p:sld>
</file>

<file path=ppt/slides/slide15.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CA8BCD57-59D3-4186-B677-2B942AA426CE}"/>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233A70"/>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664D4C8-DB63-4397-A1DC-38A731E7A802}"/>
              </a:ext>
            </a:extLst>
          </p:cNvPr>
          <p:cNvSpPr>
            <a:spLocks xmlns:a="http://schemas.openxmlformats.org/drawingml/2006/main" noGrp="1"/>
          </p:cNvSpPr>
          <p:nvPr/>
        </p:nvSpPr>
        <p:spPr>
          <a:xfrm xmlns:a="http://schemas.openxmlformats.org/drawingml/2006/main">
            <a:off x="685800" y="704850"/>
            <a:ext cx="10572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600" b="1">
                <a:solidFill>
                  <a:srgbClr val="233A70"/>
                </a:solidFill>
                <a:latin typeface="Arial"/>
                <a:ea typeface="Arial"/>
                <a:cs typeface="Arial"/>
              </a:defRPr>
            </a:pPr>
            <a:r>
              <a:rPr sz="3600" b="1">
                <a:solidFill>
                  <a:srgbClr val="233A70"/>
                </a:solidFill>
                <a:latin typeface="Arial"/>
                <a:ea typeface="Arial"/>
                <a:cs typeface="Arial"/>
              </a:rPr>
              <a:t>Perturbation suite and evaluation paths</a:t>
            </a:r>
          </a:p>
        </p:txBody>
      </p:sp>
      <p:sp>
        <p:nvSpPr>
          <p:cNvPr id="3" name="">
            <a:extLst xmlns:a="http://schemas.openxmlformats.org/drawingml/2006/main">
              <a:ext uri="{FF2B5EF4-FFF2-40B4-BE49-F238E27FC236}">
                <a16:creationId xmlns:a16="http://schemas.microsoft.com/office/drawing/2014/main" id="{050033A1-00F7-455E-B3DC-9BB2071622D8}"/>
              </a:ext>
            </a:extLst>
          </p:cNvPr>
          <p:cNvSpPr>
            <a:spLocks xmlns:a="http://schemas.openxmlformats.org/drawingml/2006/main" noGrp="1"/>
          </p:cNvSpPr>
          <p:nvPr/>
        </p:nvSpPr>
        <p:spPr>
          <a:xfrm xmlns:a="http://schemas.openxmlformats.org/drawingml/2006/main">
            <a:off x="685800" y="1352550"/>
            <a:ext cx="10820400" cy="19050"/>
          </a:xfrm>
          <a:prstGeom xmlns:a="http://schemas.openxmlformats.org/drawingml/2006/main" prst="rect">
            <a:avLst/>
          </a:prstGeom>
          <a:solidFill xmlns:a="http://schemas.openxmlformats.org/drawingml/2006/main">
            <a:srgbClr val="D9DEE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FF74B47-9C30-488E-854C-6081B30E2431}"/>
              </a:ext>
            </a:extLst>
          </p:cNvPr>
          <p:cNvSpPr>
            <a:spLocks xmlns:a="http://schemas.openxmlformats.org/drawingml/2006/main" noGrp="1"/>
          </p:cNvSpPr>
          <p:nvPr/>
        </p:nvSpPr>
        <p:spPr>
          <a:xfrm xmlns:a="http://schemas.openxmlformats.org/drawingml/2006/main">
            <a:off x="685800" y="6524625"/>
            <a:ext cx="438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050" b="0">
                <a:solidFill>
                  <a:srgbClr val="5B6577"/>
                </a:solidFill>
                <a:latin typeface="Arial"/>
                <a:ea typeface="Arial"/>
                <a:cs typeface="Arial"/>
              </a:defRPr>
            </a:pPr>
            <a:r>
              <a:rPr sz="1050" b="0">
                <a:solidFill>
                  <a:srgbClr val="5B6577"/>
                </a:solidFill>
                <a:latin typeface="Arial"/>
                <a:ea typeface="Arial"/>
                <a:cs typeface="Arial"/>
              </a:rPr>
              <a:t>Lello Molinario  |  MSc Thesis Defense</a:t>
            </a:r>
          </a:p>
        </p:txBody>
      </p:sp>
      <p:sp>
        <p:nvSpPr>
          <p:cNvPr id="5" name="">
            <a:extLst xmlns:a="http://schemas.openxmlformats.org/drawingml/2006/main">
              <a:ext uri="{FF2B5EF4-FFF2-40B4-BE49-F238E27FC236}">
                <a16:creationId xmlns:a16="http://schemas.microsoft.com/office/drawing/2014/main" id="{0F11E95E-70A3-42C7-A98E-2E58DEE52D6D}"/>
              </a:ext>
            </a:extLst>
          </p:cNvPr>
          <p:cNvSpPr>
            <a:spLocks xmlns:a="http://schemas.openxmlformats.org/drawingml/2006/main" noGrp="1"/>
          </p:cNvSpPr>
          <p:nvPr/>
        </p:nvSpPr>
        <p:spPr>
          <a:xfrm xmlns:a="http://schemas.openxmlformats.org/drawingml/2006/main">
            <a:off x="11049000" y="652462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050" b="0">
                <a:solidFill>
                  <a:srgbClr val="5B6577"/>
                </a:solidFill>
                <a:latin typeface="Arial"/>
                <a:ea typeface="Arial"/>
                <a:cs typeface="Arial"/>
              </a:defRPr>
            </a:pPr>
            <a:r>
              <a:rPr sz="1050" b="0">
                <a:solidFill>
                  <a:srgbClr val="5B6577"/>
                </a:solidFill>
                <a:latin typeface="Arial"/>
                <a:ea typeface="Arial"/>
                <a:cs typeface="Arial"/>
              </a:rPr>
              <a:t>15</a:t>
            </a:r>
          </a:p>
        </p:txBody>
      </p:sp>
      <p:sp>
        <p:nvSpPr>
          <p:cNvPr id="6" name="">
            <a:extLst xmlns:a="http://schemas.openxmlformats.org/drawingml/2006/main">
              <a:ext uri="{FF2B5EF4-FFF2-40B4-BE49-F238E27FC236}">
                <a16:creationId xmlns:a16="http://schemas.microsoft.com/office/drawing/2014/main" id="{A0B79341-B31C-49EA-9E0A-6023304E20C5}"/>
              </a:ext>
            </a:extLst>
          </p:cNvPr>
          <p:cNvSpPr>
            <a:spLocks xmlns:a="http://schemas.openxmlformats.org/drawingml/2006/main" noGrp="1"/>
          </p:cNvSpPr>
          <p:nvPr/>
        </p:nvSpPr>
        <p:spPr>
          <a:xfrm xmlns:a="http://schemas.openxmlformats.org/drawingml/2006/main">
            <a:off x="685800" y="1409700"/>
            <a:ext cx="5143500" cy="3257550"/>
          </a:xfrm>
          <a:prstGeom xmlns:a="http://schemas.openxmlformats.org/drawingml/2006/main" prst="roundRect">
            <a:avLst>
              <a:gd name="adj" fmla="val 5263"/>
            </a:avLst>
          </a:prstGeom>
          <a:solidFill xmlns:a="http://schemas.openxmlformats.org/drawingml/2006/main">
            <a:srgbClr val="FBEAEA"/>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876C10F7-B22F-4E20-B37B-5B6B6D900D7F}"/>
              </a:ext>
            </a:extLst>
          </p:cNvPr>
          <p:cNvSpPr>
            <a:spLocks xmlns:a="http://schemas.openxmlformats.org/drawingml/2006/main" noGrp="1"/>
          </p:cNvSpPr>
          <p:nvPr/>
        </p:nvSpPr>
        <p:spPr>
          <a:xfrm xmlns:a="http://schemas.openxmlformats.org/drawingml/2006/main">
            <a:off x="990600" y="1695450"/>
            <a:ext cx="4533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425" b="1">
                <a:solidFill>
                  <a:srgbClr val="BE3C37"/>
                </a:solidFill>
                <a:latin typeface="Arial"/>
                <a:ea typeface="Arial"/>
                <a:cs typeface="Arial"/>
              </a:defRPr>
            </a:pPr>
            <a:r>
              <a:rPr sz="1425" b="1">
                <a:solidFill>
                  <a:srgbClr val="BE3C37"/>
                </a:solidFill>
                <a:latin typeface="Arial"/>
                <a:ea typeface="Arial"/>
                <a:cs typeface="Arial"/>
              </a:rPr>
              <a:t>ADVERSARIAL / ADVERSARIAL-STYLE</a:t>
            </a:r>
          </a:p>
        </p:txBody>
      </p:sp>
      <p:sp>
        <p:nvSpPr>
          <p:cNvPr id="8" name="">
            <a:extLst xmlns:a="http://schemas.openxmlformats.org/drawingml/2006/main">
              <a:ext uri="{FF2B5EF4-FFF2-40B4-BE49-F238E27FC236}">
                <a16:creationId xmlns:a16="http://schemas.microsoft.com/office/drawing/2014/main" id="{447AD97F-196E-4136-B002-B51E79441679}"/>
              </a:ext>
            </a:extLst>
          </p:cNvPr>
          <p:cNvSpPr>
            <a:spLocks xmlns:a="http://schemas.openxmlformats.org/drawingml/2006/main" noGrp="1"/>
          </p:cNvSpPr>
          <p:nvPr/>
        </p:nvSpPr>
        <p:spPr>
          <a:xfrm xmlns:a="http://schemas.openxmlformats.org/drawingml/2006/main">
            <a:off x="1181100" y="2209800"/>
            <a:ext cx="4095750" cy="2038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marL="24" indent="-14">
              <a:spcAft>
                <a:spcPts val="12"/>
              </a:spcAft>
              <a:buChar char="•"/>
              <a:defRPr sz="1800">
                <a:solidFill>
                  <a:srgbClr val="172033"/>
                </a:solidFill>
                <a:latin typeface="Arial"/>
                <a:ea typeface="Arial"/>
                <a:cs typeface="Arial"/>
              </a:defRPr>
            </a:pPr>
            <a:r>
              <a:rPr sz="1800">
                <a:solidFill>
                  <a:srgbClr val="172033"/>
                </a:solidFill>
                <a:latin typeface="Arial"/>
                <a:ea typeface="Arial"/>
                <a:cs typeface="Arial"/>
              </a:rPr>
              <a:t>FGSM</a:t>
            </a:r>
          </a:p>
          <a:p xmlns:a="http://schemas.openxmlformats.org/drawingml/2006/main">
            <a:pPr marL="24" indent="-14">
              <a:spcAft>
                <a:spcPts val="12"/>
              </a:spcAft>
              <a:buChar char="•"/>
              <a:defRPr sz="1800">
                <a:solidFill>
                  <a:srgbClr val="172033"/>
                </a:solidFill>
                <a:latin typeface="Arial"/>
                <a:ea typeface="Arial"/>
                <a:cs typeface="Arial"/>
              </a:defRPr>
            </a:pPr>
            <a:r>
              <a:rPr sz="1800">
                <a:solidFill>
                  <a:srgbClr val="172033"/>
                </a:solidFill>
                <a:latin typeface="Arial"/>
                <a:ea typeface="Arial"/>
                <a:cs typeface="Arial"/>
              </a:rPr>
              <a:t>One Pixel</a:t>
            </a:r>
          </a:p>
          <a:p xmlns:a="http://schemas.openxmlformats.org/drawingml/2006/main">
            <a:pPr marL="24" indent="-14">
              <a:spcAft>
                <a:spcPts val="12"/>
              </a:spcAft>
              <a:buChar char="•"/>
              <a:defRPr sz="1800">
                <a:solidFill>
                  <a:srgbClr val="172033"/>
                </a:solidFill>
                <a:latin typeface="Arial"/>
                <a:ea typeface="Arial"/>
                <a:cs typeface="Arial"/>
              </a:defRPr>
            </a:pPr>
            <a:r>
              <a:rPr sz="1800">
                <a:solidFill>
                  <a:srgbClr val="172033"/>
                </a:solidFill>
                <a:latin typeface="Arial"/>
                <a:ea typeface="Arial"/>
                <a:cs typeface="Arial"/>
              </a:rPr>
              <a:t>Sigma Zero</a:t>
            </a:r>
          </a:p>
          <a:p xmlns:a="http://schemas.openxmlformats.org/drawingml/2006/main">
            <a:pPr marL="24" indent="-14">
              <a:spcAft>
                <a:spcPts val="12"/>
              </a:spcAft>
              <a:buChar char="•"/>
              <a:defRPr sz="1800">
                <a:solidFill>
                  <a:srgbClr val="172033"/>
                </a:solidFill>
                <a:latin typeface="Arial"/>
                <a:ea typeface="Arial"/>
                <a:cs typeface="Arial"/>
              </a:defRPr>
            </a:pPr>
            <a:r>
              <a:rPr sz="1800">
                <a:solidFill>
                  <a:srgbClr val="172033"/>
                </a:solidFill>
                <a:latin typeface="Arial"/>
                <a:ea typeface="Arial"/>
                <a:cs typeface="Arial"/>
              </a:rPr>
              <a:t>SuperDeepFool</a:t>
            </a:r>
          </a:p>
          <a:p xmlns:a="http://schemas.openxmlformats.org/drawingml/2006/main">
            <a:pPr marL="24" indent="-14">
              <a:spcAft>
                <a:spcPts val="12"/>
              </a:spcAft>
              <a:buChar char="•"/>
              <a:defRPr sz="1800">
                <a:solidFill>
                  <a:srgbClr val="172033"/>
                </a:solidFill>
                <a:latin typeface="Arial"/>
                <a:ea typeface="Arial"/>
                <a:cs typeface="Arial"/>
              </a:defRPr>
            </a:pPr>
            <a:r>
              <a:rPr sz="1800">
                <a:solidFill>
                  <a:srgbClr val="172033"/>
                </a:solidFill>
                <a:latin typeface="Arial"/>
                <a:ea typeface="Arial"/>
                <a:cs typeface="Arial"/>
              </a:rPr>
              <a:t>Color Shift · deterministic, model-agnostic</a:t>
            </a:r>
          </a:p>
        </p:txBody>
      </p:sp>
      <p:sp>
        <p:nvSpPr>
          <p:cNvPr id="9" name="">
            <a:extLst xmlns:a="http://schemas.openxmlformats.org/drawingml/2006/main">
              <a:ext uri="{FF2B5EF4-FFF2-40B4-BE49-F238E27FC236}">
                <a16:creationId xmlns:a16="http://schemas.microsoft.com/office/drawing/2014/main" id="{0CD6EE3C-FCAC-4DB0-A388-5E60E7E7628B}"/>
              </a:ext>
            </a:extLst>
          </p:cNvPr>
          <p:cNvSpPr>
            <a:spLocks xmlns:a="http://schemas.openxmlformats.org/drawingml/2006/main" noGrp="1"/>
          </p:cNvSpPr>
          <p:nvPr/>
        </p:nvSpPr>
        <p:spPr>
          <a:xfrm xmlns:a="http://schemas.openxmlformats.org/drawingml/2006/main">
            <a:off x="6362700" y="1409700"/>
            <a:ext cx="5143500" cy="3257550"/>
          </a:xfrm>
          <a:prstGeom xmlns:a="http://schemas.openxmlformats.org/drawingml/2006/main" prst="roundRect">
            <a:avLst>
              <a:gd name="adj" fmla="val 5263"/>
            </a:avLst>
          </a:prstGeom>
          <a:solidFill xmlns:a="http://schemas.openxmlformats.org/drawingml/2006/main">
            <a:srgbClr val="E7F8F0"/>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5A293CCE-1472-41B6-8448-5C544B376364}"/>
              </a:ext>
            </a:extLst>
          </p:cNvPr>
          <p:cNvSpPr>
            <a:spLocks xmlns:a="http://schemas.openxmlformats.org/drawingml/2006/main" noGrp="1"/>
          </p:cNvSpPr>
          <p:nvPr/>
        </p:nvSpPr>
        <p:spPr>
          <a:xfrm xmlns:a="http://schemas.openxmlformats.org/drawingml/2006/main">
            <a:off x="6667500" y="1695450"/>
            <a:ext cx="4533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425" b="1">
                <a:solidFill>
                  <a:srgbClr val="087A50"/>
                </a:solidFill>
                <a:latin typeface="Arial"/>
                <a:ea typeface="Arial"/>
                <a:cs typeface="Arial"/>
              </a:defRPr>
            </a:pPr>
            <a:r>
              <a:rPr sz="1425" b="1">
                <a:solidFill>
                  <a:srgbClr val="087A50"/>
                </a:solidFill>
                <a:latin typeface="Arial"/>
                <a:ea typeface="Arial"/>
                <a:cs typeface="Arial"/>
              </a:rPr>
              <a:t>ANTI-FORENSIC TRANSFORMATIONS</a:t>
            </a:r>
          </a:p>
        </p:txBody>
      </p:sp>
      <p:sp>
        <p:nvSpPr>
          <p:cNvPr id="11" name="">
            <a:extLst xmlns:a="http://schemas.openxmlformats.org/drawingml/2006/main">
              <a:ext uri="{FF2B5EF4-FFF2-40B4-BE49-F238E27FC236}">
                <a16:creationId xmlns:a16="http://schemas.microsoft.com/office/drawing/2014/main" id="{B8E10F48-906E-437E-B425-B1CDC1DAE933}"/>
              </a:ext>
            </a:extLst>
          </p:cNvPr>
          <p:cNvSpPr>
            <a:spLocks xmlns:a="http://schemas.openxmlformats.org/drawingml/2006/main" noGrp="1"/>
          </p:cNvSpPr>
          <p:nvPr/>
        </p:nvSpPr>
        <p:spPr>
          <a:xfrm xmlns:a="http://schemas.openxmlformats.org/drawingml/2006/main">
            <a:off x="6858000" y="2209800"/>
            <a:ext cx="4095750" cy="2038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marL="24" indent="-14">
              <a:spcAft>
                <a:spcPts val="12"/>
              </a:spcAft>
              <a:buChar char="•"/>
              <a:defRPr sz="1800">
                <a:solidFill>
                  <a:srgbClr val="172033"/>
                </a:solidFill>
                <a:latin typeface="Arial"/>
                <a:ea typeface="Arial"/>
                <a:cs typeface="Arial"/>
              </a:defRPr>
            </a:pPr>
            <a:r>
              <a:rPr sz="1800">
                <a:solidFill>
                  <a:srgbClr val="172033"/>
                </a:solidFill>
                <a:latin typeface="Arial"/>
                <a:ea typeface="Arial"/>
                <a:cs typeface="Arial"/>
              </a:rPr>
              <a:t>JPEG recompression</a:t>
            </a:r>
          </a:p>
          <a:p xmlns:a="http://schemas.openxmlformats.org/drawingml/2006/main">
            <a:pPr marL="24" indent="-14">
              <a:spcAft>
                <a:spcPts val="12"/>
              </a:spcAft>
              <a:buChar char="•"/>
              <a:defRPr sz="1800">
                <a:solidFill>
                  <a:srgbClr val="172033"/>
                </a:solidFill>
                <a:latin typeface="Arial"/>
                <a:ea typeface="Arial"/>
                <a:cs typeface="Arial"/>
              </a:defRPr>
            </a:pPr>
            <a:r>
              <a:rPr sz="1800">
                <a:solidFill>
                  <a:srgbClr val="172033"/>
                </a:solidFill>
                <a:latin typeface="Arial"/>
                <a:ea typeface="Arial"/>
                <a:cs typeface="Arial"/>
              </a:rPr>
              <a:t>Resample / resize</a:t>
            </a:r>
          </a:p>
          <a:p xmlns:a="http://schemas.openxmlformats.org/drawingml/2006/main">
            <a:pPr marL="24" indent="-14">
              <a:spcAft>
                <a:spcPts val="12"/>
              </a:spcAft>
              <a:buChar char="•"/>
              <a:defRPr sz="1800">
                <a:solidFill>
                  <a:srgbClr val="172033"/>
                </a:solidFill>
                <a:latin typeface="Arial"/>
                <a:ea typeface="Arial"/>
                <a:cs typeface="Arial"/>
              </a:defRPr>
            </a:pPr>
            <a:r>
              <a:rPr sz="1800">
                <a:solidFill>
                  <a:srgbClr val="172033"/>
                </a:solidFill>
                <a:latin typeface="Arial"/>
                <a:ea typeface="Arial"/>
                <a:cs typeface="Arial"/>
              </a:rPr>
              <a:t>Gaussian blur</a:t>
            </a:r>
          </a:p>
          <a:p xmlns:a="http://schemas.openxmlformats.org/drawingml/2006/main">
            <a:pPr marL="24" indent="-14">
              <a:spcAft>
                <a:spcPts val="12"/>
              </a:spcAft>
              <a:buChar char="•"/>
              <a:defRPr sz="1800">
                <a:solidFill>
                  <a:srgbClr val="172033"/>
                </a:solidFill>
                <a:latin typeface="Arial"/>
                <a:ea typeface="Arial"/>
                <a:cs typeface="Arial"/>
              </a:defRPr>
            </a:pPr>
            <a:r>
              <a:rPr sz="1800">
                <a:solidFill>
                  <a:srgbClr val="172033"/>
                </a:solidFill>
                <a:latin typeface="Arial"/>
                <a:ea typeface="Arial"/>
                <a:cs typeface="Arial"/>
              </a:rPr>
              <a:t>Histogram modification</a:t>
            </a:r>
          </a:p>
          <a:p xmlns:a="http://schemas.openxmlformats.org/drawingml/2006/main">
            <a:pPr marL="24" indent="-14">
              <a:spcAft>
                <a:spcPts val="12"/>
              </a:spcAft>
              <a:buChar char="•"/>
              <a:defRPr sz="1800">
                <a:solidFill>
                  <a:srgbClr val="172033"/>
                </a:solidFill>
                <a:latin typeface="Arial"/>
                <a:ea typeface="Arial"/>
                <a:cs typeface="Arial"/>
              </a:defRPr>
            </a:pPr>
            <a:r>
              <a:rPr sz="1800">
                <a:solidFill>
                  <a:srgbClr val="172033"/>
                </a:solidFill>
                <a:latin typeface="Arial"/>
                <a:ea typeface="Arial"/>
                <a:cs typeface="Arial"/>
              </a:rPr>
              <a:t>Contrast stretching</a:t>
            </a:r>
          </a:p>
        </p:txBody>
      </p:sp>
      <p:sp>
        <p:nvSpPr>
          <p:cNvPr id="12" name="">
            <a:extLst xmlns:a="http://schemas.openxmlformats.org/drawingml/2006/main">
              <a:ext uri="{FF2B5EF4-FFF2-40B4-BE49-F238E27FC236}">
                <a16:creationId xmlns:a16="http://schemas.microsoft.com/office/drawing/2014/main" id="{CE895620-102C-4121-BF90-C416D624A75E}"/>
              </a:ext>
            </a:extLst>
          </p:cNvPr>
          <p:cNvSpPr>
            <a:spLocks xmlns:a="http://schemas.openxmlformats.org/drawingml/2006/main" noGrp="1"/>
          </p:cNvSpPr>
          <p:nvPr/>
        </p:nvSpPr>
        <p:spPr>
          <a:xfrm xmlns:a="http://schemas.openxmlformats.org/drawingml/2006/main">
            <a:off x="1123950" y="5067300"/>
            <a:ext cx="9944100" cy="914400"/>
          </a:xfrm>
          <a:prstGeom xmlns:a="http://schemas.openxmlformats.org/drawingml/2006/main" prst="roundRect">
            <a:avLst>
              <a:gd name="adj" fmla="val 16667"/>
            </a:avLst>
          </a:prstGeom>
          <a:solidFill xmlns:a="http://schemas.openxmlformats.org/drawingml/2006/main">
            <a:srgbClr val="233A70"/>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C9987658-DB36-4069-BD7C-3C01444A007E}"/>
              </a:ext>
            </a:extLst>
          </p:cNvPr>
          <p:cNvSpPr>
            <a:spLocks xmlns:a="http://schemas.openxmlformats.org/drawingml/2006/main" noGrp="1"/>
          </p:cNvSpPr>
          <p:nvPr/>
        </p:nvSpPr>
        <p:spPr>
          <a:xfrm xmlns:a="http://schemas.openxmlformats.org/drawingml/2006/main">
            <a:off x="1428750" y="5276850"/>
            <a:ext cx="9334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1">
                <a:solidFill>
                  <a:srgbClr val="FFFFFF"/>
                </a:solidFill>
                <a:latin typeface="Arial"/>
                <a:ea typeface="Arial"/>
                <a:cs typeface="Arial"/>
              </a:defRPr>
            </a:pPr>
            <a:r>
              <a:rPr sz="1575" b="1">
                <a:solidFill>
                  <a:srgbClr val="FFFFFF"/>
                </a:solidFill>
                <a:latin typeface="Arial"/>
                <a:ea typeface="Arial"/>
                <a:cs typeface="Arial"/>
              </a:rPr>
              <a:t>Model-dependent attacks: direct on EfficientNet-B0  |  empirical transfer elsewhere</a:t>
            </a:r>
          </a:p>
          <a:p xmlns:a="http://schemas.openxmlformats.org/drawingml/2006/main">
            <a:pPr algn="ctr">
              <a:defRPr sz="1575" b="1">
                <a:solidFill>
                  <a:srgbClr val="FFFFFF"/>
                </a:solidFill>
                <a:latin typeface="Arial"/>
                <a:ea typeface="Arial"/>
                <a:cs typeface="Arial"/>
              </a:defRPr>
            </a:pPr>
            <a:r>
              <a:rPr sz="1575" b="1">
                <a:solidFill>
                  <a:srgbClr val="FFFFFF"/>
                </a:solidFill>
                <a:latin typeface="Arial"/>
                <a:ea typeface="Arial"/>
                <a:cs typeface="Arial"/>
              </a:rPr>
              <a:t>Color Shift and anti-forensic transformations: model-agnostic conditions</a:t>
            </a:r>
          </a:p>
        </p:txBody>
      </p:sp>
    </p:spTree>
    <p:extLst>
      <p:ext uri="{BB962C8B-B14F-4D97-AF65-F5344CB8AC3E}">
        <p14:creationId xmlns:p14="http://schemas.microsoft.com/office/powerpoint/2010/main" val="788629874"/>
      </p:ext>
    </p:extLst>
  </p:cSld>
</p:sld>
</file>

<file path=ppt/slides/slide16.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CFD6A99-8731-4DCC-8B9C-3FAB62ADD79F}"/>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233A70"/>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FE25CF9-76BA-4D25-BF65-031D10FFFE1E}"/>
              </a:ext>
            </a:extLst>
          </p:cNvPr>
          <p:cNvSpPr>
            <a:spLocks xmlns:a="http://schemas.openxmlformats.org/drawingml/2006/main" noGrp="1"/>
          </p:cNvSpPr>
          <p:nvPr/>
        </p:nvSpPr>
        <p:spPr>
          <a:xfrm xmlns:a="http://schemas.openxmlformats.org/drawingml/2006/main">
            <a:off x="685800" y="704850"/>
            <a:ext cx="10572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600" b="1">
                <a:solidFill>
                  <a:srgbClr val="233A70"/>
                </a:solidFill>
                <a:latin typeface="Arial"/>
                <a:ea typeface="Arial"/>
                <a:cs typeface="Arial"/>
              </a:defRPr>
            </a:pPr>
            <a:r>
              <a:rPr sz="3600" b="1">
                <a:solidFill>
                  <a:srgbClr val="233A70"/>
                </a:solidFill>
                <a:latin typeface="Arial"/>
                <a:ea typeface="Arial"/>
                <a:cs typeface="Arial"/>
              </a:rPr>
              <a:t>Commercial clean metrics and OOD behavior</a:t>
            </a:r>
          </a:p>
        </p:txBody>
      </p:sp>
      <p:sp>
        <p:nvSpPr>
          <p:cNvPr id="3" name="">
            <a:extLst xmlns:a="http://schemas.openxmlformats.org/drawingml/2006/main">
              <a:ext uri="{FF2B5EF4-FFF2-40B4-BE49-F238E27FC236}">
                <a16:creationId xmlns:a16="http://schemas.microsoft.com/office/drawing/2014/main" id="{03D51E79-6B75-4622-885E-0AED5A111134}"/>
              </a:ext>
            </a:extLst>
          </p:cNvPr>
          <p:cNvSpPr>
            <a:spLocks xmlns:a="http://schemas.openxmlformats.org/drawingml/2006/main" noGrp="1"/>
          </p:cNvSpPr>
          <p:nvPr/>
        </p:nvSpPr>
        <p:spPr>
          <a:xfrm xmlns:a="http://schemas.openxmlformats.org/drawingml/2006/main">
            <a:off x="685800" y="1352550"/>
            <a:ext cx="10820400" cy="19050"/>
          </a:xfrm>
          <a:prstGeom xmlns:a="http://schemas.openxmlformats.org/drawingml/2006/main" prst="rect">
            <a:avLst/>
          </a:prstGeom>
          <a:solidFill xmlns:a="http://schemas.openxmlformats.org/drawingml/2006/main">
            <a:srgbClr val="D9DEE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EE5EC74C-F846-4BB6-8F06-9C6093748B65}"/>
              </a:ext>
            </a:extLst>
          </p:cNvPr>
          <p:cNvSpPr>
            <a:spLocks xmlns:a="http://schemas.openxmlformats.org/drawingml/2006/main" noGrp="1"/>
          </p:cNvSpPr>
          <p:nvPr/>
        </p:nvSpPr>
        <p:spPr>
          <a:xfrm xmlns:a="http://schemas.openxmlformats.org/drawingml/2006/main">
            <a:off x="685800" y="6524625"/>
            <a:ext cx="438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050" b="0">
                <a:solidFill>
                  <a:srgbClr val="5B6577"/>
                </a:solidFill>
                <a:latin typeface="Arial"/>
                <a:ea typeface="Arial"/>
                <a:cs typeface="Arial"/>
              </a:defRPr>
            </a:pPr>
            <a:r>
              <a:rPr sz="1050" b="0">
                <a:solidFill>
                  <a:srgbClr val="5B6577"/>
                </a:solidFill>
                <a:latin typeface="Arial"/>
                <a:ea typeface="Arial"/>
                <a:cs typeface="Arial"/>
              </a:rPr>
              <a:t>Lello Molinario  |  MSc Thesis Defense</a:t>
            </a:r>
          </a:p>
        </p:txBody>
      </p:sp>
      <p:sp>
        <p:nvSpPr>
          <p:cNvPr id="5" name="">
            <a:extLst xmlns:a="http://schemas.openxmlformats.org/drawingml/2006/main">
              <a:ext uri="{FF2B5EF4-FFF2-40B4-BE49-F238E27FC236}">
                <a16:creationId xmlns:a16="http://schemas.microsoft.com/office/drawing/2014/main" id="{949061C5-1369-434C-85B4-B0C4550B3089}"/>
              </a:ext>
            </a:extLst>
          </p:cNvPr>
          <p:cNvSpPr>
            <a:spLocks xmlns:a="http://schemas.openxmlformats.org/drawingml/2006/main" noGrp="1"/>
          </p:cNvSpPr>
          <p:nvPr/>
        </p:nvSpPr>
        <p:spPr>
          <a:xfrm xmlns:a="http://schemas.openxmlformats.org/drawingml/2006/main">
            <a:off x="11049000" y="652462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050" b="0">
                <a:solidFill>
                  <a:srgbClr val="5B6577"/>
                </a:solidFill>
                <a:latin typeface="Arial"/>
                <a:ea typeface="Arial"/>
                <a:cs typeface="Arial"/>
              </a:defRPr>
            </a:pPr>
            <a:r>
              <a:rPr sz="1050" b="0">
                <a:solidFill>
                  <a:srgbClr val="5B6577"/>
                </a:solidFill>
                <a:latin typeface="Arial"/>
                <a:ea typeface="Arial"/>
                <a:cs typeface="Arial"/>
              </a:rPr>
              <a:t>16</a:t>
            </a:r>
          </a:p>
        </p:txBody>
      </p:sp>
      <p:graphicFrame>
        <p:nvGraphicFramePr>
          <p:cNvPr id="14" name=""/>
          <p:cNvGraphicFramePr/>
          <p:nvPr/>
        </p:nvGraphicFramePr>
        <p:xfrm>
          <a:off xmlns:a="http://schemas.openxmlformats.org/drawingml/2006/main" x="685800" y="1485900"/>
          <a:ext xmlns:a="http://schemas.openxmlformats.org/drawingml/2006/main" cx="10820400" cy="3714750"/>
        </p:xfrm>
        <a:graphic xmlns:a="http://schemas.openxmlformats.org/drawingml/2006/main">
          <a:graphicData uri="http://schemas.openxmlformats.org/drawingml/2006/table">
            <a:tbl>
              <a:tblPr/>
              <a:tblGrid>
                <a:gridCol w="3216876"/>
                <a:gridCol w="1462216"/>
                <a:gridCol w="1462216"/>
                <a:gridCol w="1462216"/>
                <a:gridCol w="1462216"/>
                <a:gridCol w="1754659"/>
              </a:tblGrid>
              <a:tr h="514350">
                <a:tc>
                  <a:txBody>
                    <a:bodyPr/>
                    <a:lstStyle/>
                    <a:p>
                      <a:pPr algn="l"/>
                      <a:r>
                        <a:rPr sz="1425" b="1">
                          <a:solidFill>
                            <a:srgbClr val="FFFFFF"/>
                          </a:solidFill>
                        </a:rPr>
                        <a:t>Configuration</a:t>
                      </a:r>
                    </a:p>
                  </a:txBody>
                  <a:tcPr marL="91440" marR="91440" marT="45720" marB="45720" anchor="ctr">
                    <a:solidFill>
                      <a:srgbClr val="233A70"/>
                    </a:solidFill>
                  </a:tcPr>
                </a:tc>
                <a:tc>
                  <a:txBody>
                    <a:bodyPr/>
                    <a:lstStyle/>
                    <a:p>
                      <a:pPr algn="ctr"/>
                      <a:r>
                        <a:rPr sz="1425" b="1">
                          <a:solidFill>
                            <a:srgbClr val="FFFFFF"/>
                          </a:solidFill>
                        </a:rPr>
                        <a:t>Accuracy</a:t>
                      </a:r>
                    </a:p>
                  </a:txBody>
                  <a:tcPr marL="91440" marR="91440" marT="45720" marB="45720" anchor="ctr">
                    <a:solidFill>
                      <a:srgbClr val="233A70"/>
                    </a:solidFill>
                  </a:tcPr>
                </a:tc>
                <a:tc>
                  <a:txBody>
                    <a:bodyPr/>
                    <a:lstStyle/>
                    <a:p>
                      <a:pPr algn="ctr"/>
                      <a:r>
                        <a:rPr sz="1425" b="1">
                          <a:solidFill>
                            <a:srgbClr val="FFFFFF"/>
                          </a:solidFill>
                        </a:rPr>
                        <a:t>Recall</a:t>
                      </a:r>
                    </a:p>
                  </a:txBody>
                  <a:tcPr marL="91440" marR="91440" marT="45720" marB="45720" anchor="ctr">
                    <a:solidFill>
                      <a:srgbClr val="233A70"/>
                    </a:solidFill>
                  </a:tcPr>
                </a:tc>
                <a:tc>
                  <a:txBody>
                    <a:bodyPr/>
                    <a:lstStyle/>
                    <a:p>
                      <a:pPr algn="ctr"/>
                      <a:r>
                        <a:rPr sz="1425" b="1">
                          <a:solidFill>
                            <a:srgbClr val="FFFFFF"/>
                          </a:solidFill>
                        </a:rPr>
                        <a:t>FNR</a:t>
                      </a:r>
                    </a:p>
                  </a:txBody>
                  <a:tcPr marL="91440" marR="91440" marT="45720" marB="45720" anchor="ctr">
                    <a:solidFill>
                      <a:srgbClr val="233A70"/>
                    </a:solidFill>
                  </a:tcPr>
                </a:tc>
                <a:tc>
                  <a:txBody>
                    <a:bodyPr/>
                    <a:lstStyle/>
                    <a:p>
                      <a:pPr algn="ctr"/>
                      <a:r>
                        <a:rPr sz="1425" b="1">
                          <a:solidFill>
                            <a:srgbClr val="FFFFFF"/>
                          </a:solidFill>
                        </a:rPr>
                        <a:t>FPR</a:t>
                      </a:r>
                    </a:p>
                  </a:txBody>
                  <a:tcPr marL="91440" marR="91440" marT="45720" marB="45720" anchor="ctr">
                    <a:solidFill>
                      <a:srgbClr val="233A70"/>
                    </a:solidFill>
                  </a:tcPr>
                </a:tc>
                <a:tc>
                  <a:txBody>
                    <a:bodyPr/>
                    <a:lstStyle/>
                    <a:p>
                      <a:pPr algn="ctr"/>
                      <a:r>
                        <a:rPr sz="1425" b="1">
                          <a:solidFill>
                            <a:srgbClr val="FFFFFF"/>
                          </a:solidFill>
                        </a:rPr>
                        <a:t>OOD W-rate</a:t>
                      </a:r>
                    </a:p>
                  </a:txBody>
                  <a:tcPr marL="91440" marR="91440" marT="45720" marB="45720" anchor="ctr">
                    <a:solidFill>
                      <a:srgbClr val="233A70"/>
                    </a:solidFill>
                  </a:tcPr>
                </a:tc>
              </a:tr>
              <a:tr h="533400">
                <a:tc>
                  <a:txBody>
                    <a:bodyPr/>
                    <a:lstStyle/>
                    <a:p>
                      <a:pPr algn="l"/>
                      <a:r>
                        <a:rPr sz="1425" b="1">
                          <a:solidFill>
                            <a:srgbClr val="172033"/>
                          </a:solidFill>
                        </a:rPr>
                        <a:t>Magnet.AI</a:t>
                      </a:r>
                    </a:p>
                  </a:txBody>
                  <a:tcPr marL="91440" marR="91440" marT="45720" marB="45720" anchor="ctr">
                    <a:solidFill>
                      <a:srgbClr val="FFFFFF"/>
                    </a:solidFill>
                  </a:tcPr>
                </a:tc>
                <a:tc>
                  <a:txBody>
                    <a:bodyPr/>
                    <a:lstStyle/>
                    <a:p>
                      <a:pPr algn="ctr"/>
                      <a:r>
                        <a:rPr sz="1425" b="0">
                          <a:solidFill>
                            <a:srgbClr val="172033"/>
                          </a:solidFill>
                        </a:rPr>
                        <a:t>95.0%</a:t>
                      </a:r>
                    </a:p>
                  </a:txBody>
                  <a:tcPr marL="91440" marR="91440" marT="45720" marB="45720" anchor="ctr">
                    <a:solidFill>
                      <a:srgbClr val="FFFFFF"/>
                    </a:solidFill>
                  </a:tcPr>
                </a:tc>
                <a:tc>
                  <a:txBody>
                    <a:bodyPr/>
                    <a:lstStyle/>
                    <a:p>
                      <a:pPr algn="ctr"/>
                      <a:r>
                        <a:rPr sz="1425" b="0">
                          <a:solidFill>
                            <a:srgbClr val="172033"/>
                          </a:solidFill>
                        </a:rPr>
                        <a:t>93.0%</a:t>
                      </a:r>
                    </a:p>
                  </a:txBody>
                  <a:tcPr marL="91440" marR="91440" marT="45720" marB="45720" anchor="ctr">
                    <a:solidFill>
                      <a:srgbClr val="FFFFFF"/>
                    </a:solidFill>
                  </a:tcPr>
                </a:tc>
                <a:tc>
                  <a:txBody>
                    <a:bodyPr/>
                    <a:lstStyle/>
                    <a:p>
                      <a:pPr algn="ctr"/>
                      <a:r>
                        <a:rPr sz="1425" b="0">
                          <a:solidFill>
                            <a:srgbClr val="172033"/>
                          </a:solidFill>
                        </a:rPr>
                        <a:t>7.0%</a:t>
                      </a:r>
                    </a:p>
                  </a:txBody>
                  <a:tcPr marL="91440" marR="91440" marT="45720" marB="45720" anchor="ctr">
                    <a:solidFill>
                      <a:srgbClr val="FFFFFF"/>
                    </a:solidFill>
                  </a:tcPr>
                </a:tc>
                <a:tc>
                  <a:txBody>
                    <a:bodyPr/>
                    <a:lstStyle/>
                    <a:p>
                      <a:pPr algn="ctr"/>
                      <a:r>
                        <a:rPr sz="1425" b="0">
                          <a:solidFill>
                            <a:srgbClr val="172033"/>
                          </a:solidFill>
                        </a:rPr>
                        <a:t>3.0%</a:t>
                      </a:r>
                    </a:p>
                  </a:txBody>
                  <a:tcPr marL="91440" marR="91440" marT="45720" marB="45720" anchor="ctr">
                    <a:solidFill>
                      <a:srgbClr val="FFFFFF"/>
                    </a:solidFill>
                  </a:tcPr>
                </a:tc>
                <a:tc>
                  <a:txBody>
                    <a:bodyPr/>
                    <a:lstStyle/>
                    <a:p>
                      <a:pPr algn="ctr"/>
                      <a:r>
                        <a:rPr sz="1425" b="0">
                          <a:solidFill>
                            <a:srgbClr val="172033"/>
                          </a:solidFill>
                        </a:rPr>
                        <a:t>36.0%</a:t>
                      </a:r>
                    </a:p>
                  </a:txBody>
                  <a:tcPr marL="91440" marR="91440" marT="45720" marB="45720" anchor="ctr">
                    <a:solidFill>
                      <a:srgbClr val="FFFFFF"/>
                    </a:solidFill>
                  </a:tcPr>
                </a:tc>
              </a:tr>
              <a:tr h="533400">
                <a:tc>
                  <a:txBody>
                    <a:bodyPr/>
                    <a:lstStyle/>
                    <a:p>
                      <a:pPr algn="l"/>
                      <a:r>
                        <a:rPr sz="1425" b="1">
                          <a:solidFill>
                            <a:srgbClr val="172033"/>
                          </a:solidFill>
                        </a:rPr>
                        <a:t>Excire D20</a:t>
                      </a:r>
                    </a:p>
                  </a:txBody>
                  <a:tcPr marL="91440" marR="91440" marT="45720" marB="45720" anchor="ctr">
                    <a:solidFill>
                      <a:srgbClr val="E9EEF8"/>
                    </a:solidFill>
                  </a:tcPr>
                </a:tc>
                <a:tc>
                  <a:txBody>
                    <a:bodyPr/>
                    <a:lstStyle/>
                    <a:p>
                      <a:pPr algn="ctr"/>
                      <a:r>
                        <a:rPr sz="1425" b="0">
                          <a:solidFill>
                            <a:srgbClr val="172033"/>
                          </a:solidFill>
                        </a:rPr>
                        <a:t>92.7%</a:t>
                      </a:r>
                    </a:p>
                  </a:txBody>
                  <a:tcPr marL="91440" marR="91440" marT="45720" marB="45720" anchor="ctr">
                    <a:solidFill>
                      <a:srgbClr val="E9EEF8"/>
                    </a:solidFill>
                  </a:tcPr>
                </a:tc>
                <a:tc>
                  <a:txBody>
                    <a:bodyPr/>
                    <a:lstStyle/>
                    <a:p>
                      <a:pPr algn="ctr"/>
                      <a:r>
                        <a:rPr sz="1425" b="0">
                          <a:solidFill>
                            <a:srgbClr val="172033"/>
                          </a:solidFill>
                        </a:rPr>
                        <a:t>88.0%</a:t>
                      </a:r>
                    </a:p>
                  </a:txBody>
                  <a:tcPr marL="91440" marR="91440" marT="45720" marB="45720" anchor="ctr">
                    <a:solidFill>
                      <a:srgbClr val="E9EEF8"/>
                    </a:solidFill>
                  </a:tcPr>
                </a:tc>
                <a:tc>
                  <a:txBody>
                    <a:bodyPr/>
                    <a:lstStyle/>
                    <a:p>
                      <a:pPr algn="ctr"/>
                      <a:r>
                        <a:rPr sz="1425" b="0">
                          <a:solidFill>
                            <a:srgbClr val="172033"/>
                          </a:solidFill>
                        </a:rPr>
                        <a:t>12.0%</a:t>
                      </a:r>
                    </a:p>
                  </a:txBody>
                  <a:tcPr marL="91440" marR="91440" marT="45720" marB="45720" anchor="ctr">
                    <a:solidFill>
                      <a:srgbClr val="E9EEF8"/>
                    </a:solidFill>
                  </a:tcPr>
                </a:tc>
                <a:tc>
                  <a:txBody>
                    <a:bodyPr/>
                    <a:lstStyle/>
                    <a:p>
                      <a:pPr algn="ctr"/>
                      <a:r>
                        <a:rPr sz="1425" b="0">
                          <a:solidFill>
                            <a:srgbClr val="172033"/>
                          </a:solidFill>
                        </a:rPr>
                        <a:t>2.6%</a:t>
                      </a:r>
                    </a:p>
                  </a:txBody>
                  <a:tcPr marL="91440" marR="91440" marT="45720" marB="45720" anchor="ctr">
                    <a:solidFill>
                      <a:srgbClr val="E9EEF8"/>
                    </a:solidFill>
                  </a:tcPr>
                </a:tc>
                <a:tc>
                  <a:txBody>
                    <a:bodyPr/>
                    <a:lstStyle/>
                    <a:p>
                      <a:pPr algn="ctr"/>
                      <a:r>
                        <a:rPr sz="1425" b="0">
                          <a:solidFill>
                            <a:srgbClr val="172033"/>
                          </a:solidFill>
                        </a:rPr>
                        <a:t>23.8%</a:t>
                      </a:r>
                    </a:p>
                  </a:txBody>
                  <a:tcPr marL="91440" marR="91440" marT="45720" marB="45720" anchor="ctr">
                    <a:solidFill>
                      <a:srgbClr val="E9EEF8"/>
                    </a:solidFill>
                  </a:tcPr>
                </a:tc>
              </a:tr>
              <a:tr h="533400">
                <a:tc>
                  <a:txBody>
                    <a:bodyPr/>
                    <a:lstStyle/>
                    <a:p>
                      <a:pPr algn="l"/>
                      <a:r>
                        <a:rPr sz="1425" b="1">
                          <a:solidFill>
                            <a:srgbClr val="172033"/>
                          </a:solidFill>
                        </a:rPr>
                        <a:t>Excire D50</a:t>
                      </a:r>
                    </a:p>
                  </a:txBody>
                  <a:tcPr marL="91440" marR="91440" marT="45720" marB="45720" anchor="ctr">
                    <a:solidFill>
                      <a:srgbClr val="FFFFFF"/>
                    </a:solidFill>
                  </a:tcPr>
                </a:tc>
                <a:tc>
                  <a:txBody>
                    <a:bodyPr/>
                    <a:lstStyle/>
                    <a:p>
                      <a:pPr algn="ctr"/>
                      <a:r>
                        <a:rPr sz="1425" b="0">
                          <a:solidFill>
                            <a:srgbClr val="172033"/>
                          </a:solidFill>
                        </a:rPr>
                        <a:t>94.4%</a:t>
                      </a:r>
                    </a:p>
                  </a:txBody>
                  <a:tcPr marL="91440" marR="91440" marT="45720" marB="45720" anchor="ctr">
                    <a:solidFill>
                      <a:srgbClr val="FFFFFF"/>
                    </a:solidFill>
                  </a:tcPr>
                </a:tc>
                <a:tc>
                  <a:txBody>
                    <a:bodyPr/>
                    <a:lstStyle/>
                    <a:p>
                      <a:pPr algn="ctr"/>
                      <a:r>
                        <a:rPr sz="1425" b="0">
                          <a:solidFill>
                            <a:srgbClr val="172033"/>
                          </a:solidFill>
                        </a:rPr>
                        <a:t>95.8%</a:t>
                      </a:r>
                    </a:p>
                  </a:txBody>
                  <a:tcPr marL="91440" marR="91440" marT="45720" marB="45720" anchor="ctr">
                    <a:solidFill>
                      <a:srgbClr val="FFFFFF"/>
                    </a:solidFill>
                  </a:tcPr>
                </a:tc>
                <a:tc>
                  <a:txBody>
                    <a:bodyPr/>
                    <a:lstStyle/>
                    <a:p>
                      <a:pPr algn="ctr"/>
                      <a:r>
                        <a:rPr sz="1425" b="0">
                          <a:solidFill>
                            <a:srgbClr val="172033"/>
                          </a:solidFill>
                        </a:rPr>
                        <a:t>4.2%</a:t>
                      </a:r>
                    </a:p>
                  </a:txBody>
                  <a:tcPr marL="91440" marR="91440" marT="45720" marB="45720" anchor="ctr">
                    <a:solidFill>
                      <a:srgbClr val="FFFFFF"/>
                    </a:solidFill>
                  </a:tcPr>
                </a:tc>
                <a:tc>
                  <a:txBody>
                    <a:bodyPr/>
                    <a:lstStyle/>
                    <a:p>
                      <a:pPr algn="ctr"/>
                      <a:r>
                        <a:rPr sz="1425" b="0">
                          <a:solidFill>
                            <a:srgbClr val="172033"/>
                          </a:solidFill>
                        </a:rPr>
                        <a:t>7.0%</a:t>
                      </a:r>
                    </a:p>
                  </a:txBody>
                  <a:tcPr marL="91440" marR="91440" marT="45720" marB="45720" anchor="ctr">
                    <a:solidFill>
                      <a:srgbClr val="FFFFFF"/>
                    </a:solidFill>
                  </a:tcPr>
                </a:tc>
                <a:tc>
                  <a:txBody>
                    <a:bodyPr/>
                    <a:lstStyle/>
                    <a:p>
                      <a:pPr algn="ctr"/>
                      <a:r>
                        <a:rPr sz="1425" b="0">
                          <a:solidFill>
                            <a:srgbClr val="172033"/>
                          </a:solidFill>
                        </a:rPr>
                        <a:t>34.0%</a:t>
                      </a:r>
                    </a:p>
                  </a:txBody>
                  <a:tcPr marL="91440" marR="91440" marT="45720" marB="45720" anchor="ctr">
                    <a:solidFill>
                      <a:srgbClr val="FFFFFF"/>
                    </a:solidFill>
                  </a:tcPr>
                </a:tc>
              </a:tr>
              <a:tr h="533400">
                <a:tc>
                  <a:txBody>
                    <a:bodyPr/>
                    <a:lstStyle/>
                    <a:p>
                      <a:pPr algn="l"/>
                      <a:r>
                        <a:rPr sz="1425" b="1">
                          <a:solidFill>
                            <a:srgbClr val="172033"/>
                          </a:solidFill>
                        </a:rPr>
                        <a:t>Excire D80</a:t>
                      </a:r>
                    </a:p>
                  </a:txBody>
                  <a:tcPr marL="91440" marR="91440" marT="45720" marB="45720" anchor="ctr">
                    <a:solidFill>
                      <a:srgbClr val="E9EEF8"/>
                    </a:solidFill>
                  </a:tcPr>
                </a:tc>
                <a:tc>
                  <a:txBody>
                    <a:bodyPr/>
                    <a:lstStyle/>
                    <a:p>
                      <a:pPr algn="ctr"/>
                      <a:r>
                        <a:rPr sz="1425" b="0">
                          <a:solidFill>
                            <a:srgbClr val="172033"/>
                          </a:solidFill>
                        </a:rPr>
                        <a:t>91.5%</a:t>
                      </a:r>
                    </a:p>
                  </a:txBody>
                  <a:tcPr marL="91440" marR="91440" marT="45720" marB="45720" anchor="ctr">
                    <a:solidFill>
                      <a:srgbClr val="E9EEF8"/>
                    </a:solidFill>
                  </a:tcPr>
                </a:tc>
                <a:tc>
                  <a:txBody>
                    <a:bodyPr/>
                    <a:lstStyle/>
                    <a:p>
                      <a:pPr algn="ctr"/>
                      <a:r>
                        <a:rPr sz="1425" b="0">
                          <a:solidFill>
                            <a:srgbClr val="172033"/>
                          </a:solidFill>
                        </a:rPr>
                        <a:t>98.6%</a:t>
                      </a:r>
                    </a:p>
                  </a:txBody>
                  <a:tcPr marL="91440" marR="91440" marT="45720" marB="45720" anchor="ctr">
                    <a:solidFill>
                      <a:srgbClr val="E9EEF8"/>
                    </a:solidFill>
                  </a:tcPr>
                </a:tc>
                <a:tc>
                  <a:txBody>
                    <a:bodyPr/>
                    <a:lstStyle/>
                    <a:p>
                      <a:pPr algn="ctr"/>
                      <a:r>
                        <a:rPr sz="1425" b="0">
                          <a:solidFill>
                            <a:srgbClr val="172033"/>
                          </a:solidFill>
                        </a:rPr>
                        <a:t>1.4%</a:t>
                      </a:r>
                    </a:p>
                  </a:txBody>
                  <a:tcPr marL="91440" marR="91440" marT="45720" marB="45720" anchor="ctr">
                    <a:solidFill>
                      <a:srgbClr val="E9EEF8"/>
                    </a:solidFill>
                  </a:tcPr>
                </a:tc>
                <a:tc>
                  <a:txBody>
                    <a:bodyPr/>
                    <a:lstStyle/>
                    <a:p>
                      <a:pPr algn="ctr"/>
                      <a:r>
                        <a:rPr sz="1425" b="0">
                          <a:solidFill>
                            <a:srgbClr val="172033"/>
                          </a:solidFill>
                        </a:rPr>
                        <a:t>15.6%</a:t>
                      </a:r>
                    </a:p>
                  </a:txBody>
                  <a:tcPr marL="91440" marR="91440" marT="45720" marB="45720" anchor="ctr">
                    <a:solidFill>
                      <a:srgbClr val="E9EEF8"/>
                    </a:solidFill>
                  </a:tcPr>
                </a:tc>
                <a:tc>
                  <a:txBody>
                    <a:bodyPr/>
                    <a:lstStyle/>
                    <a:p>
                      <a:pPr algn="ctr"/>
                      <a:r>
                        <a:rPr sz="1425" b="0">
                          <a:solidFill>
                            <a:srgbClr val="172033"/>
                          </a:solidFill>
                        </a:rPr>
                        <a:t>52.2%</a:t>
                      </a:r>
                    </a:p>
                  </a:txBody>
                  <a:tcPr marL="91440" marR="91440" marT="45720" marB="45720" anchor="ctr">
                    <a:solidFill>
                      <a:srgbClr val="E9EEF8"/>
                    </a:solidFill>
                  </a:tcPr>
                </a:tc>
              </a:tr>
              <a:tr h="533400">
                <a:tc>
                  <a:txBody>
                    <a:bodyPr/>
                    <a:lstStyle/>
                    <a:p>
                      <a:pPr algn="l"/>
                      <a:r>
                        <a:rPr sz="1425" b="1">
                          <a:solidFill>
                            <a:srgbClr val="172033"/>
                          </a:solidFill>
                        </a:rPr>
                        <a:t>Cellebrite Inseyets</a:t>
                      </a:r>
                    </a:p>
                  </a:txBody>
                  <a:tcPr marL="91440" marR="91440" marT="45720" marB="45720" anchor="ctr">
                    <a:solidFill>
                      <a:srgbClr val="FFFFFF"/>
                    </a:solidFill>
                  </a:tcPr>
                </a:tc>
                <a:tc>
                  <a:txBody>
                    <a:bodyPr/>
                    <a:lstStyle/>
                    <a:p>
                      <a:pPr algn="ctr"/>
                      <a:r>
                        <a:rPr sz="1425" b="0">
                          <a:solidFill>
                            <a:srgbClr val="172033"/>
                          </a:solidFill>
                        </a:rPr>
                        <a:t>96.4%</a:t>
                      </a:r>
                    </a:p>
                  </a:txBody>
                  <a:tcPr marL="91440" marR="91440" marT="45720" marB="45720" anchor="ctr">
                    <a:solidFill>
                      <a:srgbClr val="FFFFFF"/>
                    </a:solidFill>
                  </a:tcPr>
                </a:tc>
                <a:tc>
                  <a:txBody>
                    <a:bodyPr/>
                    <a:lstStyle/>
                    <a:p>
                      <a:pPr algn="ctr"/>
                      <a:r>
                        <a:rPr sz="1425" b="0">
                          <a:solidFill>
                            <a:srgbClr val="172033"/>
                          </a:solidFill>
                        </a:rPr>
                        <a:t>96.8%</a:t>
                      </a:r>
                    </a:p>
                  </a:txBody>
                  <a:tcPr marL="91440" marR="91440" marT="45720" marB="45720" anchor="ctr">
                    <a:solidFill>
                      <a:srgbClr val="FFFFFF"/>
                    </a:solidFill>
                  </a:tcPr>
                </a:tc>
                <a:tc>
                  <a:txBody>
                    <a:bodyPr/>
                    <a:lstStyle/>
                    <a:p>
                      <a:pPr algn="ctr"/>
                      <a:r>
                        <a:rPr sz="1425" b="0">
                          <a:solidFill>
                            <a:srgbClr val="172033"/>
                          </a:solidFill>
                        </a:rPr>
                        <a:t>3.2%</a:t>
                      </a:r>
                    </a:p>
                  </a:txBody>
                  <a:tcPr marL="91440" marR="91440" marT="45720" marB="45720" anchor="ctr">
                    <a:solidFill>
                      <a:srgbClr val="FFFFFF"/>
                    </a:solidFill>
                  </a:tcPr>
                </a:tc>
                <a:tc>
                  <a:txBody>
                    <a:bodyPr/>
                    <a:lstStyle/>
                    <a:p>
                      <a:pPr algn="ctr"/>
                      <a:r>
                        <a:rPr sz="1425" b="0">
                          <a:solidFill>
                            <a:srgbClr val="172033"/>
                          </a:solidFill>
                        </a:rPr>
                        <a:t>4.0%</a:t>
                      </a:r>
                    </a:p>
                  </a:txBody>
                  <a:tcPr marL="91440" marR="91440" marT="45720" marB="45720" anchor="ctr">
                    <a:solidFill>
                      <a:srgbClr val="FFFFFF"/>
                    </a:solidFill>
                  </a:tcPr>
                </a:tc>
                <a:tc>
                  <a:txBody>
                    <a:bodyPr/>
                    <a:lstStyle/>
                    <a:p>
                      <a:pPr algn="ctr"/>
                      <a:r>
                        <a:rPr sz="1425" b="0">
                          <a:solidFill>
                            <a:srgbClr val="172033"/>
                          </a:solidFill>
                        </a:rPr>
                        <a:t>29.2%</a:t>
                      </a:r>
                    </a:p>
                  </a:txBody>
                  <a:tcPr marL="91440" marR="91440" marT="45720" marB="45720" anchor="ctr">
                    <a:solidFill>
                      <a:srgbClr val="FFFFFF"/>
                    </a:solidFill>
                  </a:tcPr>
                </a:tc>
              </a:tr>
              <a:tr h="533400">
                <a:tc>
                  <a:txBody>
                    <a:bodyPr/>
                    <a:lstStyle/>
                    <a:p>
                      <a:pPr algn="l"/>
                      <a:r>
                        <a:rPr sz="1425" b="1">
                          <a:solidFill>
                            <a:srgbClr val="172033"/>
                          </a:solidFill>
                        </a:rPr>
                        <a:t>Griffeye / T3K</a:t>
                      </a:r>
                    </a:p>
                  </a:txBody>
                  <a:tcPr marL="91440" marR="91440" marT="45720" marB="45720" anchor="ctr">
                    <a:solidFill>
                      <a:srgbClr val="E9EEF8"/>
                    </a:solidFill>
                  </a:tcPr>
                </a:tc>
                <a:tc>
                  <a:txBody>
                    <a:bodyPr/>
                    <a:lstStyle/>
                    <a:p>
                      <a:pPr algn="ctr"/>
                      <a:r>
                        <a:rPr sz="1425" b="0">
                          <a:solidFill>
                            <a:srgbClr val="172033"/>
                          </a:solidFill>
                        </a:rPr>
                        <a:t>97.8%</a:t>
                      </a:r>
                    </a:p>
                  </a:txBody>
                  <a:tcPr marL="91440" marR="91440" marT="45720" marB="45720" anchor="ctr">
                    <a:solidFill>
                      <a:srgbClr val="E9EEF8"/>
                    </a:solidFill>
                  </a:tcPr>
                </a:tc>
                <a:tc>
                  <a:txBody>
                    <a:bodyPr/>
                    <a:lstStyle/>
                    <a:p>
                      <a:pPr algn="ctr"/>
                      <a:r>
                        <a:rPr sz="1425" b="0">
                          <a:solidFill>
                            <a:srgbClr val="172033"/>
                          </a:solidFill>
                        </a:rPr>
                        <a:t>96.4%</a:t>
                      </a:r>
                    </a:p>
                  </a:txBody>
                  <a:tcPr marL="91440" marR="91440" marT="45720" marB="45720" anchor="ctr">
                    <a:solidFill>
                      <a:srgbClr val="E9EEF8"/>
                    </a:solidFill>
                  </a:tcPr>
                </a:tc>
                <a:tc>
                  <a:txBody>
                    <a:bodyPr/>
                    <a:lstStyle/>
                    <a:p>
                      <a:pPr algn="ctr"/>
                      <a:r>
                        <a:rPr sz="1425" b="0">
                          <a:solidFill>
                            <a:srgbClr val="172033"/>
                          </a:solidFill>
                        </a:rPr>
                        <a:t>3.6%</a:t>
                      </a:r>
                    </a:p>
                  </a:txBody>
                  <a:tcPr marL="91440" marR="91440" marT="45720" marB="45720" anchor="ctr">
                    <a:solidFill>
                      <a:srgbClr val="E9EEF8"/>
                    </a:solidFill>
                  </a:tcPr>
                </a:tc>
                <a:tc>
                  <a:txBody>
                    <a:bodyPr/>
                    <a:lstStyle/>
                    <a:p>
                      <a:pPr algn="ctr"/>
                      <a:r>
                        <a:rPr sz="1425" b="0">
                          <a:solidFill>
                            <a:srgbClr val="172033"/>
                          </a:solidFill>
                        </a:rPr>
                        <a:t>0.8%</a:t>
                      </a:r>
                    </a:p>
                  </a:txBody>
                  <a:tcPr marL="91440" marR="91440" marT="45720" marB="45720" anchor="ctr">
                    <a:solidFill>
                      <a:srgbClr val="E9EEF8"/>
                    </a:solidFill>
                  </a:tcPr>
                </a:tc>
                <a:tc>
                  <a:txBody>
                    <a:bodyPr/>
                    <a:lstStyle/>
                    <a:p>
                      <a:pPr algn="ctr"/>
                      <a:r>
                        <a:rPr sz="1425" b="0">
                          <a:solidFill>
                            <a:srgbClr val="172033"/>
                          </a:solidFill>
                        </a:rPr>
                        <a:t>26.0%</a:t>
                      </a:r>
                    </a:p>
                  </a:txBody>
                  <a:tcPr marL="91440" marR="91440" marT="45720" marB="45720" anchor="ctr">
                    <a:solidFill>
                      <a:srgbClr val="E9EEF8"/>
                    </a:solidFill>
                  </a:tcPr>
                </a:tc>
              </a:tr>
            </a:tbl>
          </a:graphicData>
        </a:graphic>
      </p:graphicFrame>
      <p:sp>
        <p:nvSpPr>
          <p:cNvPr id="7" name="">
            <a:extLst xmlns:a="http://schemas.openxmlformats.org/drawingml/2006/main">
              <a:ext uri="{FF2B5EF4-FFF2-40B4-BE49-F238E27FC236}">
                <a16:creationId xmlns:a16="http://schemas.microsoft.com/office/drawing/2014/main" id="{D32727B6-06C1-49D9-947E-5CF838C2A296}"/>
              </a:ext>
            </a:extLst>
          </p:cNvPr>
          <p:cNvSpPr>
            <a:spLocks xmlns:a="http://schemas.openxmlformats.org/drawingml/2006/main" noGrp="1"/>
          </p:cNvSpPr>
          <p:nvPr/>
        </p:nvSpPr>
        <p:spPr>
          <a:xfrm xmlns:a="http://schemas.openxmlformats.org/drawingml/2006/main">
            <a:off x="1123950" y="5505450"/>
            <a:ext cx="9944100" cy="609600"/>
          </a:xfrm>
          <a:prstGeom xmlns:a="http://schemas.openxmlformats.org/drawingml/2006/main" prst="roundRect">
            <a:avLst>
              <a:gd name="adj" fmla="val 21875"/>
            </a:avLst>
          </a:prstGeom>
          <a:solidFill xmlns:a="http://schemas.openxmlformats.org/drawingml/2006/main">
            <a:srgbClr val="FFF4CD"/>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075FA7FD-80D1-4D89-BDEE-5525A60E4810}"/>
              </a:ext>
            </a:extLst>
          </p:cNvPr>
          <p:cNvSpPr>
            <a:spLocks xmlns:a="http://schemas.openxmlformats.org/drawingml/2006/main" noGrp="1"/>
          </p:cNvSpPr>
          <p:nvPr/>
        </p:nvSpPr>
        <p:spPr>
          <a:xfrm xmlns:a="http://schemas.openxmlformats.org/drawingml/2006/main">
            <a:off x="1428750" y="5676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425" b="1">
                <a:solidFill>
                  <a:srgbClr val="172033"/>
                </a:solidFill>
                <a:latin typeface="Arial"/>
                <a:ea typeface="Arial"/>
                <a:cs typeface="Arial"/>
              </a:defRPr>
            </a:pPr>
            <a:r>
              <a:rPr sz="1425" b="1">
                <a:solidFill>
                  <a:srgbClr val="172033"/>
                </a:solidFill>
                <a:latin typeface="Arial"/>
                <a:ea typeface="Arial"/>
                <a:cs typeface="Arial"/>
              </a:rPr>
              <a:t>Interpret the rows as frozen operating profiles; the metrics do not establish a universal product ranking.</a:t>
            </a:r>
          </a:p>
        </p:txBody>
      </p:sp>
    </p:spTree>
    <p:extLst>
      <p:ext uri="{BB962C8B-B14F-4D97-AF65-F5344CB8AC3E}">
        <p14:creationId xmlns:p14="http://schemas.microsoft.com/office/powerpoint/2010/main" val="2103592952"/>
      </p:ext>
    </p:extLst>
  </p:cSld>
</p:sld>
</file>

<file path=ppt/slides/slide17.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132C68E0-F7BB-4D84-B514-2E0F71B3B1BE}"/>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233A70"/>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D20E475-2A5D-459D-8AAB-9F303C543F6A}"/>
              </a:ext>
            </a:extLst>
          </p:cNvPr>
          <p:cNvSpPr>
            <a:spLocks xmlns:a="http://schemas.openxmlformats.org/drawingml/2006/main" noGrp="1"/>
          </p:cNvSpPr>
          <p:nvPr/>
        </p:nvSpPr>
        <p:spPr>
          <a:xfrm xmlns:a="http://schemas.openxmlformats.org/drawingml/2006/main">
            <a:off x="685800" y="704850"/>
            <a:ext cx="10572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600" b="1">
                <a:solidFill>
                  <a:srgbClr val="233A70"/>
                </a:solidFill>
                <a:latin typeface="Arial"/>
                <a:ea typeface="Arial"/>
                <a:cs typeface="Arial"/>
              </a:defRPr>
            </a:pPr>
            <a:r>
              <a:rPr sz="3600" b="1">
                <a:solidFill>
                  <a:srgbClr val="233A70"/>
                </a:solidFill>
                <a:latin typeface="Arial"/>
                <a:ea typeface="Arial"/>
                <a:cs typeface="Arial"/>
              </a:rPr>
              <a:t>Traceability links sources to reported figures</a:t>
            </a:r>
          </a:p>
        </p:txBody>
      </p:sp>
      <p:sp>
        <p:nvSpPr>
          <p:cNvPr id="3" name="">
            <a:extLst xmlns:a="http://schemas.openxmlformats.org/drawingml/2006/main">
              <a:ext uri="{FF2B5EF4-FFF2-40B4-BE49-F238E27FC236}">
                <a16:creationId xmlns:a16="http://schemas.microsoft.com/office/drawing/2014/main" id="{5B5396AA-6D1B-4946-9C6D-8D0F818A01C1}"/>
              </a:ext>
            </a:extLst>
          </p:cNvPr>
          <p:cNvSpPr>
            <a:spLocks xmlns:a="http://schemas.openxmlformats.org/drawingml/2006/main" noGrp="1"/>
          </p:cNvSpPr>
          <p:nvPr/>
        </p:nvSpPr>
        <p:spPr>
          <a:xfrm xmlns:a="http://schemas.openxmlformats.org/drawingml/2006/main">
            <a:off x="685800" y="1352550"/>
            <a:ext cx="10820400" cy="19050"/>
          </a:xfrm>
          <a:prstGeom xmlns:a="http://schemas.openxmlformats.org/drawingml/2006/main" prst="rect">
            <a:avLst/>
          </a:prstGeom>
          <a:solidFill xmlns:a="http://schemas.openxmlformats.org/drawingml/2006/main">
            <a:srgbClr val="D9DEE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A3F1E25-2383-4EC9-B6D0-9445F682B414}"/>
              </a:ext>
            </a:extLst>
          </p:cNvPr>
          <p:cNvSpPr>
            <a:spLocks xmlns:a="http://schemas.openxmlformats.org/drawingml/2006/main" noGrp="1"/>
          </p:cNvSpPr>
          <p:nvPr/>
        </p:nvSpPr>
        <p:spPr>
          <a:xfrm xmlns:a="http://schemas.openxmlformats.org/drawingml/2006/main">
            <a:off x="685800" y="6524625"/>
            <a:ext cx="438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050" b="0">
                <a:solidFill>
                  <a:srgbClr val="5B6577"/>
                </a:solidFill>
                <a:latin typeface="Arial"/>
                <a:ea typeface="Arial"/>
                <a:cs typeface="Arial"/>
              </a:defRPr>
            </a:pPr>
            <a:r>
              <a:rPr sz="1050" b="0">
                <a:solidFill>
                  <a:srgbClr val="5B6577"/>
                </a:solidFill>
                <a:latin typeface="Arial"/>
                <a:ea typeface="Arial"/>
                <a:cs typeface="Arial"/>
              </a:rPr>
              <a:t>Lello Molinario  |  MSc Thesis Defense</a:t>
            </a:r>
          </a:p>
        </p:txBody>
      </p:sp>
      <p:sp>
        <p:nvSpPr>
          <p:cNvPr id="5" name="">
            <a:extLst xmlns:a="http://schemas.openxmlformats.org/drawingml/2006/main">
              <a:ext uri="{FF2B5EF4-FFF2-40B4-BE49-F238E27FC236}">
                <a16:creationId xmlns:a16="http://schemas.microsoft.com/office/drawing/2014/main" id="{49F56C24-1E99-42B1-9770-88B2B95F402B}"/>
              </a:ext>
            </a:extLst>
          </p:cNvPr>
          <p:cNvSpPr>
            <a:spLocks xmlns:a="http://schemas.openxmlformats.org/drawingml/2006/main" noGrp="1"/>
          </p:cNvSpPr>
          <p:nvPr/>
        </p:nvSpPr>
        <p:spPr>
          <a:xfrm xmlns:a="http://schemas.openxmlformats.org/drawingml/2006/main">
            <a:off x="11049000" y="652462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050" b="0">
                <a:solidFill>
                  <a:srgbClr val="5B6577"/>
                </a:solidFill>
                <a:latin typeface="Arial"/>
                <a:ea typeface="Arial"/>
                <a:cs typeface="Arial"/>
              </a:defRPr>
            </a:pPr>
            <a:r>
              <a:rPr sz="1050" b="0">
                <a:solidFill>
                  <a:srgbClr val="5B6577"/>
                </a:solidFill>
                <a:latin typeface="Arial"/>
                <a:ea typeface="Arial"/>
                <a:cs typeface="Arial"/>
              </a:rPr>
              <a:t>17</a:t>
            </a:r>
          </a:p>
        </p:txBody>
      </p:sp>
      <p:sp>
        <p:nvSpPr>
          <p:cNvPr id="6" name="">
            <a:extLst xmlns:a="http://schemas.openxmlformats.org/drawingml/2006/main">
              <a:ext uri="{FF2B5EF4-FFF2-40B4-BE49-F238E27FC236}">
                <a16:creationId xmlns:a16="http://schemas.microsoft.com/office/drawing/2014/main" id="{7C39DB82-1F28-4EF9-B5A0-94D0168F6F0D}"/>
              </a:ext>
            </a:extLst>
          </p:cNvPr>
          <p:cNvSpPr>
            <a:spLocks xmlns:a="http://schemas.openxmlformats.org/drawingml/2006/main" noGrp="1"/>
          </p:cNvSpPr>
          <p:nvPr/>
        </p:nvSpPr>
        <p:spPr>
          <a:xfrm xmlns:a="http://schemas.openxmlformats.org/drawingml/2006/main">
            <a:off x="1657350" y="2609850"/>
            <a:ext cx="8877300" cy="66675"/>
          </a:xfrm>
          <a:prstGeom xmlns:a="http://schemas.openxmlformats.org/drawingml/2006/main" prst="rect">
            <a:avLst/>
          </a:prstGeom>
          <a:solidFill xmlns:a="http://schemas.openxmlformats.org/drawingml/2006/main">
            <a:srgbClr val="D9DEE8"/>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DD3F15EF-FC7C-4F92-836B-00742035B3B5}"/>
              </a:ext>
            </a:extLst>
          </p:cNvPr>
          <p:cNvSpPr>
            <a:spLocks xmlns:a="http://schemas.openxmlformats.org/drawingml/2006/main" noGrp="1"/>
          </p:cNvSpPr>
          <p:nvPr/>
        </p:nvSpPr>
        <p:spPr>
          <a:xfrm xmlns:a="http://schemas.openxmlformats.org/drawingml/2006/main">
            <a:off x="685800" y="1885950"/>
            <a:ext cx="1714500" cy="1428750"/>
          </a:xfrm>
          <a:prstGeom xmlns:a="http://schemas.openxmlformats.org/drawingml/2006/main" prst="roundRect">
            <a:avLst>
              <a:gd name="adj" fmla="val 10667"/>
            </a:avLst>
          </a:prstGeom>
          <a:solidFill xmlns:a="http://schemas.openxmlformats.org/drawingml/2006/main">
            <a:srgbClr val="FFFFFF"/>
          </a:solidFill>
          <a:ln xmlns:a="http://schemas.openxmlformats.org/drawingml/2006/main" w="9525">
            <a:solidFill>
              <a:srgbClr val="D9DEE8"/>
            </a:solidFill>
            <a:prstDash val="solid"/>
          </a:ln>
        </p:spPr>
      </p:sp>
      <p:sp>
        <p:nvSpPr>
          <p:cNvPr id="8" name="">
            <a:extLst xmlns:a="http://schemas.openxmlformats.org/drawingml/2006/main">
              <a:ext uri="{FF2B5EF4-FFF2-40B4-BE49-F238E27FC236}">
                <a16:creationId xmlns:a16="http://schemas.microsoft.com/office/drawing/2014/main" id="{31A8BB3B-F18E-4303-80A6-E7E762AD1EB3}"/>
              </a:ext>
            </a:extLst>
          </p:cNvPr>
          <p:cNvSpPr>
            <a:spLocks xmlns:a="http://schemas.openxmlformats.org/drawingml/2006/main" noGrp="1"/>
          </p:cNvSpPr>
          <p:nvPr/>
        </p:nvSpPr>
        <p:spPr>
          <a:xfrm xmlns:a="http://schemas.openxmlformats.org/drawingml/2006/main">
            <a:off x="800100" y="2114550"/>
            <a:ext cx="1485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275" b="1">
                <a:solidFill>
                  <a:srgbClr val="233A70"/>
                </a:solidFill>
                <a:latin typeface="Arial"/>
                <a:ea typeface="Arial"/>
                <a:cs typeface="Arial"/>
              </a:defRPr>
            </a:pPr>
            <a:r>
              <a:rPr sz="1275" b="1">
                <a:solidFill>
                  <a:srgbClr val="233A70"/>
                </a:solidFill>
                <a:latin typeface="Arial"/>
                <a:ea typeface="Arial"/>
                <a:cs typeface="Arial"/>
              </a:rPr>
              <a:t>SOURCE</a:t>
            </a:r>
          </a:p>
        </p:txBody>
      </p:sp>
      <p:sp>
        <p:nvSpPr>
          <p:cNvPr id="9" name="">
            <a:extLst xmlns:a="http://schemas.openxmlformats.org/drawingml/2006/main">
              <a:ext uri="{FF2B5EF4-FFF2-40B4-BE49-F238E27FC236}">
                <a16:creationId xmlns:a16="http://schemas.microsoft.com/office/drawing/2014/main" id="{9DD03EAC-F71C-40B3-80E5-2DA59F31F6F8}"/>
              </a:ext>
            </a:extLst>
          </p:cNvPr>
          <p:cNvSpPr>
            <a:spLocks xmlns:a="http://schemas.openxmlformats.org/drawingml/2006/main" noGrp="1"/>
          </p:cNvSpPr>
          <p:nvPr/>
        </p:nvSpPr>
        <p:spPr>
          <a:xfrm xmlns:a="http://schemas.openxmlformats.org/drawingml/2006/main">
            <a:off x="800100" y="2533650"/>
            <a:ext cx="14859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75" b="0">
                <a:solidFill>
                  <a:srgbClr val="5B6577"/>
                </a:solidFill>
                <a:latin typeface="Arial"/>
                <a:ea typeface="Arial"/>
                <a:cs typeface="Arial"/>
              </a:defRPr>
            </a:pPr>
            <a:r>
              <a:rPr sz="1275" b="0">
                <a:solidFill>
                  <a:srgbClr val="5B6577"/>
                </a:solidFill>
                <a:latin typeface="Arial"/>
                <a:ea typeface="Arial"/>
                <a:cs typeface="Arial"/>
              </a:rPr>
              <a:t>dataset manifests</a:t>
            </a:r>
          </a:p>
          <a:p xmlns:a="http://schemas.openxmlformats.org/drawingml/2006/main">
            <a:pPr algn="ctr">
              <a:defRPr sz="1275" b="0">
                <a:solidFill>
                  <a:srgbClr val="5B6577"/>
                </a:solidFill>
                <a:latin typeface="Arial"/>
                <a:ea typeface="Arial"/>
                <a:cs typeface="Arial"/>
              </a:defRPr>
            </a:pPr>
            <a:r>
              <a:rPr sz="1275" b="0">
                <a:solidFill>
                  <a:srgbClr val="5B6577"/>
                </a:solidFill>
                <a:latin typeface="Arial"/>
                <a:ea typeface="Arial"/>
                <a:cs typeface="Arial"/>
              </a:rPr>
              <a:t>manual review</a:t>
            </a:r>
          </a:p>
        </p:txBody>
      </p:sp>
      <p:sp>
        <p:nvSpPr>
          <p:cNvPr id="10" name="">
            <a:extLst xmlns:a="http://schemas.openxmlformats.org/drawingml/2006/main">
              <a:ext uri="{FF2B5EF4-FFF2-40B4-BE49-F238E27FC236}">
                <a16:creationId xmlns:a16="http://schemas.microsoft.com/office/drawing/2014/main" id="{2B26A88D-1776-4876-8181-037F2371B042}"/>
              </a:ext>
            </a:extLst>
          </p:cNvPr>
          <p:cNvSpPr>
            <a:spLocks xmlns:a="http://schemas.openxmlformats.org/drawingml/2006/main" noGrp="1"/>
          </p:cNvSpPr>
          <p:nvPr/>
        </p:nvSpPr>
        <p:spPr>
          <a:xfrm xmlns:a="http://schemas.openxmlformats.org/drawingml/2006/main">
            <a:off x="2876550" y="1885950"/>
            <a:ext cx="1714500" cy="1428750"/>
          </a:xfrm>
          <a:prstGeom xmlns:a="http://schemas.openxmlformats.org/drawingml/2006/main" prst="roundRect">
            <a:avLst>
              <a:gd name="adj" fmla="val 10667"/>
            </a:avLst>
          </a:prstGeom>
          <a:solidFill xmlns:a="http://schemas.openxmlformats.org/drawingml/2006/main">
            <a:srgbClr val="FFFFFF"/>
          </a:solidFill>
          <a:ln xmlns:a="http://schemas.openxmlformats.org/drawingml/2006/main" w="9525">
            <a:solidFill>
              <a:srgbClr val="D9DEE8"/>
            </a:solidFill>
            <a:prstDash val="solid"/>
          </a:ln>
        </p:spPr>
      </p:sp>
      <p:sp>
        <p:nvSpPr>
          <p:cNvPr id="11" name="">
            <a:extLst xmlns:a="http://schemas.openxmlformats.org/drawingml/2006/main">
              <a:ext uri="{FF2B5EF4-FFF2-40B4-BE49-F238E27FC236}">
                <a16:creationId xmlns:a16="http://schemas.microsoft.com/office/drawing/2014/main" id="{9D87A7A1-41E2-4A42-8309-D39020B20FA2}"/>
              </a:ext>
            </a:extLst>
          </p:cNvPr>
          <p:cNvSpPr>
            <a:spLocks xmlns:a="http://schemas.openxmlformats.org/drawingml/2006/main" noGrp="1"/>
          </p:cNvSpPr>
          <p:nvPr/>
        </p:nvSpPr>
        <p:spPr>
          <a:xfrm xmlns:a="http://schemas.openxmlformats.org/drawingml/2006/main">
            <a:off x="2990850" y="2114550"/>
            <a:ext cx="1485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275" b="1">
                <a:solidFill>
                  <a:srgbClr val="233A70"/>
                </a:solidFill>
                <a:latin typeface="Arial"/>
                <a:ea typeface="Arial"/>
                <a:cs typeface="Arial"/>
              </a:defRPr>
            </a:pPr>
            <a:r>
              <a:rPr sz="1275" b="1">
                <a:solidFill>
                  <a:srgbClr val="233A70"/>
                </a:solidFill>
                <a:latin typeface="Arial"/>
                <a:ea typeface="Arial"/>
                <a:cs typeface="Arial"/>
              </a:rPr>
              <a:t>DERIVATION</a:t>
            </a:r>
          </a:p>
        </p:txBody>
      </p:sp>
      <p:sp>
        <p:nvSpPr>
          <p:cNvPr id="12" name="">
            <a:extLst xmlns:a="http://schemas.openxmlformats.org/drawingml/2006/main">
              <a:ext uri="{FF2B5EF4-FFF2-40B4-BE49-F238E27FC236}">
                <a16:creationId xmlns:a16="http://schemas.microsoft.com/office/drawing/2014/main" id="{7C0978C2-178E-484C-97FD-18E4D03A80D0}"/>
              </a:ext>
            </a:extLst>
          </p:cNvPr>
          <p:cNvSpPr>
            <a:spLocks xmlns:a="http://schemas.openxmlformats.org/drawingml/2006/main" noGrp="1"/>
          </p:cNvSpPr>
          <p:nvPr/>
        </p:nvSpPr>
        <p:spPr>
          <a:xfrm xmlns:a="http://schemas.openxmlformats.org/drawingml/2006/main">
            <a:off x="2990850" y="2533650"/>
            <a:ext cx="14859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75" b="0">
                <a:solidFill>
                  <a:srgbClr val="5B6577"/>
                </a:solidFill>
                <a:latin typeface="Arial"/>
                <a:ea typeface="Arial"/>
                <a:cs typeface="Arial"/>
              </a:defRPr>
            </a:pPr>
            <a:r>
              <a:rPr sz="1275" b="0">
                <a:solidFill>
                  <a:srgbClr val="5B6577"/>
                </a:solidFill>
                <a:latin typeface="Arial"/>
                <a:ea typeface="Arial"/>
                <a:cs typeface="Arial"/>
              </a:rPr>
              <a:t>split + attack manifests</a:t>
            </a:r>
          </a:p>
          <a:p xmlns:a="http://schemas.openxmlformats.org/drawingml/2006/main">
            <a:pPr algn="ctr">
              <a:defRPr sz="1275" b="0">
                <a:solidFill>
                  <a:srgbClr val="5B6577"/>
                </a:solidFill>
                <a:latin typeface="Arial"/>
                <a:ea typeface="Arial"/>
                <a:cs typeface="Arial"/>
              </a:defRPr>
            </a:pPr>
            <a:r>
              <a:rPr sz="1275" b="0">
                <a:solidFill>
                  <a:srgbClr val="5B6577"/>
                </a:solidFill>
                <a:latin typeface="Arial"/>
                <a:ea typeface="Arial"/>
                <a:cs typeface="Arial"/>
              </a:rPr>
              <a:t>source–condition IDs</a:t>
            </a:r>
          </a:p>
        </p:txBody>
      </p:sp>
      <p:sp>
        <p:nvSpPr>
          <p:cNvPr id="13" name="">
            <a:extLst xmlns:a="http://schemas.openxmlformats.org/drawingml/2006/main">
              <a:ext uri="{FF2B5EF4-FFF2-40B4-BE49-F238E27FC236}">
                <a16:creationId xmlns:a16="http://schemas.microsoft.com/office/drawing/2014/main" id="{13E5A335-8E9A-4904-877C-CEBA763E0F88}"/>
              </a:ext>
            </a:extLst>
          </p:cNvPr>
          <p:cNvSpPr>
            <a:spLocks xmlns:a="http://schemas.openxmlformats.org/drawingml/2006/main" noGrp="1"/>
          </p:cNvSpPr>
          <p:nvPr/>
        </p:nvSpPr>
        <p:spPr>
          <a:xfrm xmlns:a="http://schemas.openxmlformats.org/drawingml/2006/main">
            <a:off x="5067300" y="1885950"/>
            <a:ext cx="1714500" cy="1428750"/>
          </a:xfrm>
          <a:prstGeom xmlns:a="http://schemas.openxmlformats.org/drawingml/2006/main" prst="roundRect">
            <a:avLst>
              <a:gd name="adj" fmla="val 10667"/>
            </a:avLst>
          </a:prstGeom>
          <a:solidFill xmlns:a="http://schemas.openxmlformats.org/drawingml/2006/main">
            <a:srgbClr val="E7F8F0"/>
          </a:solidFill>
          <a:ln xmlns:a="http://schemas.openxmlformats.org/drawingml/2006/main" w="9525">
            <a:solidFill>
              <a:srgbClr val="E7F8F0"/>
            </a:solidFill>
            <a:prstDash val="solid"/>
          </a:ln>
        </p:spPr>
      </p:sp>
      <p:sp>
        <p:nvSpPr>
          <p:cNvPr id="14" name="">
            <a:extLst xmlns:a="http://schemas.openxmlformats.org/drawingml/2006/main">
              <a:ext uri="{FF2B5EF4-FFF2-40B4-BE49-F238E27FC236}">
                <a16:creationId xmlns:a16="http://schemas.microsoft.com/office/drawing/2014/main" id="{6933333C-7762-40B6-A335-488B04D01FE9}"/>
              </a:ext>
            </a:extLst>
          </p:cNvPr>
          <p:cNvSpPr>
            <a:spLocks xmlns:a="http://schemas.openxmlformats.org/drawingml/2006/main" noGrp="1"/>
          </p:cNvSpPr>
          <p:nvPr/>
        </p:nvSpPr>
        <p:spPr>
          <a:xfrm xmlns:a="http://schemas.openxmlformats.org/drawingml/2006/main">
            <a:off x="5181600" y="2114550"/>
            <a:ext cx="1485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275" b="1">
                <a:solidFill>
                  <a:srgbClr val="087A50"/>
                </a:solidFill>
                <a:latin typeface="Arial"/>
                <a:ea typeface="Arial"/>
                <a:cs typeface="Arial"/>
              </a:defRPr>
            </a:pPr>
            <a:r>
              <a:rPr sz="1275" b="1">
                <a:solidFill>
                  <a:srgbClr val="087A50"/>
                </a:solidFill>
                <a:latin typeface="Arial"/>
                <a:ea typeface="Arial"/>
                <a:cs typeface="Arial"/>
              </a:rPr>
              <a:t>DECISION</a:t>
            </a:r>
          </a:p>
        </p:txBody>
      </p:sp>
      <p:sp>
        <p:nvSpPr>
          <p:cNvPr id="15" name="">
            <a:extLst xmlns:a="http://schemas.openxmlformats.org/drawingml/2006/main">
              <a:ext uri="{FF2B5EF4-FFF2-40B4-BE49-F238E27FC236}">
                <a16:creationId xmlns:a16="http://schemas.microsoft.com/office/drawing/2014/main" id="{D6C7E621-5366-4ADA-9F42-14FFFBD21670}"/>
              </a:ext>
            </a:extLst>
          </p:cNvPr>
          <p:cNvSpPr>
            <a:spLocks xmlns:a="http://schemas.openxmlformats.org/drawingml/2006/main" noGrp="1"/>
          </p:cNvSpPr>
          <p:nvPr/>
        </p:nvSpPr>
        <p:spPr>
          <a:xfrm xmlns:a="http://schemas.openxmlformats.org/drawingml/2006/main">
            <a:off x="5181600" y="2533650"/>
            <a:ext cx="14859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75" b="0">
                <a:solidFill>
                  <a:srgbClr val="5B6577"/>
                </a:solidFill>
                <a:latin typeface="Arial"/>
                <a:ea typeface="Arial"/>
                <a:cs typeface="Arial"/>
              </a:defRPr>
            </a:pPr>
            <a:r>
              <a:rPr sz="1275" b="0">
                <a:solidFill>
                  <a:srgbClr val="5B6577"/>
                </a:solidFill>
                <a:latin typeface="Arial"/>
                <a:ea typeface="Arial"/>
                <a:cs typeface="Arial"/>
              </a:rPr>
              <a:t>proxy predictions</a:t>
            </a:r>
          </a:p>
          <a:p xmlns:a="http://schemas.openxmlformats.org/drawingml/2006/main">
            <a:pPr algn="ctr">
              <a:defRPr sz="1275" b="0">
                <a:solidFill>
                  <a:srgbClr val="5B6577"/>
                </a:solidFill>
                <a:latin typeface="Arial"/>
                <a:ea typeface="Arial"/>
                <a:cs typeface="Arial"/>
              </a:defRPr>
            </a:pPr>
            <a:r>
              <a:rPr sz="1275" b="0">
                <a:solidFill>
                  <a:srgbClr val="5B6577"/>
                </a:solidFill>
                <a:latin typeface="Arial"/>
                <a:ea typeface="Arial"/>
                <a:cs typeface="Arial"/>
              </a:rPr>
              <a:t>normalized tool outputs</a:t>
            </a:r>
          </a:p>
        </p:txBody>
      </p:sp>
      <p:sp>
        <p:nvSpPr>
          <p:cNvPr id="16" name="">
            <a:extLst xmlns:a="http://schemas.openxmlformats.org/drawingml/2006/main">
              <a:ext uri="{FF2B5EF4-FFF2-40B4-BE49-F238E27FC236}">
                <a16:creationId xmlns:a16="http://schemas.microsoft.com/office/drawing/2014/main" id="{00315F4D-4D0F-46DA-8343-DC26FB1BF534}"/>
              </a:ext>
            </a:extLst>
          </p:cNvPr>
          <p:cNvSpPr>
            <a:spLocks xmlns:a="http://schemas.openxmlformats.org/drawingml/2006/main" noGrp="1"/>
          </p:cNvSpPr>
          <p:nvPr/>
        </p:nvSpPr>
        <p:spPr>
          <a:xfrm xmlns:a="http://schemas.openxmlformats.org/drawingml/2006/main">
            <a:off x="7258050" y="1885950"/>
            <a:ext cx="1714500" cy="1428750"/>
          </a:xfrm>
          <a:prstGeom xmlns:a="http://schemas.openxmlformats.org/drawingml/2006/main" prst="roundRect">
            <a:avLst>
              <a:gd name="adj" fmla="val 10667"/>
            </a:avLst>
          </a:prstGeom>
          <a:solidFill xmlns:a="http://schemas.openxmlformats.org/drawingml/2006/main">
            <a:srgbClr val="FFFFFF"/>
          </a:solidFill>
          <a:ln xmlns:a="http://schemas.openxmlformats.org/drawingml/2006/main" w="9525">
            <a:solidFill>
              <a:srgbClr val="D9DEE8"/>
            </a:solidFill>
            <a:prstDash val="solid"/>
          </a:ln>
        </p:spPr>
      </p:sp>
      <p:sp>
        <p:nvSpPr>
          <p:cNvPr id="17" name="">
            <a:extLst xmlns:a="http://schemas.openxmlformats.org/drawingml/2006/main">
              <a:ext uri="{FF2B5EF4-FFF2-40B4-BE49-F238E27FC236}">
                <a16:creationId xmlns:a16="http://schemas.microsoft.com/office/drawing/2014/main" id="{0EF42E65-D8F5-4F54-9D14-D8F427D0CFD4}"/>
              </a:ext>
            </a:extLst>
          </p:cNvPr>
          <p:cNvSpPr>
            <a:spLocks xmlns:a="http://schemas.openxmlformats.org/drawingml/2006/main" noGrp="1"/>
          </p:cNvSpPr>
          <p:nvPr/>
        </p:nvSpPr>
        <p:spPr>
          <a:xfrm xmlns:a="http://schemas.openxmlformats.org/drawingml/2006/main">
            <a:off x="7372350" y="2114550"/>
            <a:ext cx="1485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275" b="1">
                <a:solidFill>
                  <a:srgbClr val="233A70"/>
                </a:solidFill>
                <a:latin typeface="Arial"/>
                <a:ea typeface="Arial"/>
                <a:cs typeface="Arial"/>
              </a:defRPr>
            </a:pPr>
            <a:r>
              <a:rPr sz="1275" b="1">
                <a:solidFill>
                  <a:srgbClr val="233A70"/>
                </a:solidFill>
                <a:latin typeface="Arial"/>
                <a:ea typeface="Arial"/>
                <a:cs typeface="Arial"/>
              </a:rPr>
              <a:t>METRIC</a:t>
            </a:r>
          </a:p>
        </p:txBody>
      </p:sp>
      <p:sp>
        <p:nvSpPr>
          <p:cNvPr id="18" name="">
            <a:extLst xmlns:a="http://schemas.openxmlformats.org/drawingml/2006/main">
              <a:ext uri="{FF2B5EF4-FFF2-40B4-BE49-F238E27FC236}">
                <a16:creationId xmlns:a16="http://schemas.microsoft.com/office/drawing/2014/main" id="{8C403EC8-1210-44A7-826A-A435B28EDA3E}"/>
              </a:ext>
            </a:extLst>
          </p:cNvPr>
          <p:cNvSpPr>
            <a:spLocks xmlns:a="http://schemas.openxmlformats.org/drawingml/2006/main" noGrp="1"/>
          </p:cNvSpPr>
          <p:nvPr/>
        </p:nvSpPr>
        <p:spPr>
          <a:xfrm xmlns:a="http://schemas.openxmlformats.org/drawingml/2006/main">
            <a:off x="7372350" y="2533650"/>
            <a:ext cx="14859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75" b="0">
                <a:solidFill>
                  <a:srgbClr val="5B6577"/>
                </a:solidFill>
                <a:latin typeface="Arial"/>
                <a:ea typeface="Arial"/>
                <a:cs typeface="Arial"/>
              </a:defRPr>
            </a:pPr>
            <a:r>
              <a:rPr sz="1275" b="0">
                <a:solidFill>
                  <a:srgbClr val="5B6577"/>
                </a:solidFill>
                <a:latin typeface="Arial"/>
                <a:ea typeface="Arial"/>
                <a:cs typeface="Arial"/>
              </a:rPr>
              <a:t>condition tables</a:t>
            </a:r>
          </a:p>
          <a:p xmlns:a="http://schemas.openxmlformats.org/drawingml/2006/main">
            <a:pPr algn="ctr">
              <a:defRPr sz="1275" b="0">
                <a:solidFill>
                  <a:srgbClr val="5B6577"/>
                </a:solidFill>
                <a:latin typeface="Arial"/>
                <a:ea typeface="Arial"/>
                <a:cs typeface="Arial"/>
              </a:defRPr>
            </a:pPr>
            <a:r>
              <a:rPr sz="1275" b="0">
                <a:solidFill>
                  <a:srgbClr val="5B6577"/>
                </a:solidFill>
                <a:latin typeface="Arial"/>
                <a:ea typeface="Arial"/>
                <a:cs typeface="Arial"/>
              </a:rPr>
              <a:t>directional errors</a:t>
            </a:r>
          </a:p>
        </p:txBody>
      </p:sp>
      <p:sp>
        <p:nvSpPr>
          <p:cNvPr id="19" name="">
            <a:extLst xmlns:a="http://schemas.openxmlformats.org/drawingml/2006/main">
              <a:ext uri="{FF2B5EF4-FFF2-40B4-BE49-F238E27FC236}">
                <a16:creationId xmlns:a16="http://schemas.microsoft.com/office/drawing/2014/main" id="{44A407A9-0C70-42CE-96D8-4F4090679635}"/>
              </a:ext>
            </a:extLst>
          </p:cNvPr>
          <p:cNvSpPr>
            <a:spLocks xmlns:a="http://schemas.openxmlformats.org/drawingml/2006/main" noGrp="1"/>
          </p:cNvSpPr>
          <p:nvPr/>
        </p:nvSpPr>
        <p:spPr>
          <a:xfrm xmlns:a="http://schemas.openxmlformats.org/drawingml/2006/main">
            <a:off x="9448800" y="1885950"/>
            <a:ext cx="1714500" cy="1428750"/>
          </a:xfrm>
          <a:prstGeom xmlns:a="http://schemas.openxmlformats.org/drawingml/2006/main" prst="roundRect">
            <a:avLst>
              <a:gd name="adj" fmla="val 10667"/>
            </a:avLst>
          </a:prstGeom>
          <a:solidFill xmlns:a="http://schemas.openxmlformats.org/drawingml/2006/main">
            <a:srgbClr val="FFFFFF"/>
          </a:solidFill>
          <a:ln xmlns:a="http://schemas.openxmlformats.org/drawingml/2006/main" w="9525">
            <a:solidFill>
              <a:srgbClr val="D9DEE8"/>
            </a:solidFill>
            <a:prstDash val="solid"/>
          </a:ln>
        </p:spPr>
      </p:sp>
      <p:sp>
        <p:nvSpPr>
          <p:cNvPr id="20" name="">
            <a:extLst xmlns:a="http://schemas.openxmlformats.org/drawingml/2006/main">
              <a:ext uri="{FF2B5EF4-FFF2-40B4-BE49-F238E27FC236}">
                <a16:creationId xmlns:a16="http://schemas.microsoft.com/office/drawing/2014/main" id="{F11B0350-76FB-4DB6-9B42-178EBF016A42}"/>
              </a:ext>
            </a:extLst>
          </p:cNvPr>
          <p:cNvSpPr>
            <a:spLocks xmlns:a="http://schemas.openxmlformats.org/drawingml/2006/main" noGrp="1"/>
          </p:cNvSpPr>
          <p:nvPr/>
        </p:nvSpPr>
        <p:spPr>
          <a:xfrm xmlns:a="http://schemas.openxmlformats.org/drawingml/2006/main">
            <a:off x="9563100" y="2114550"/>
            <a:ext cx="1485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275" b="1">
                <a:solidFill>
                  <a:srgbClr val="233A70"/>
                </a:solidFill>
                <a:latin typeface="Arial"/>
                <a:ea typeface="Arial"/>
                <a:cs typeface="Arial"/>
              </a:defRPr>
            </a:pPr>
            <a:r>
              <a:rPr sz="1275" b="1">
                <a:solidFill>
                  <a:srgbClr val="233A70"/>
                </a:solidFill>
                <a:latin typeface="Arial"/>
                <a:ea typeface="Arial"/>
                <a:cs typeface="Arial"/>
              </a:rPr>
              <a:t>REPORT</a:t>
            </a:r>
          </a:p>
        </p:txBody>
      </p:sp>
      <p:sp>
        <p:nvSpPr>
          <p:cNvPr id="21" name="">
            <a:extLst xmlns:a="http://schemas.openxmlformats.org/drawingml/2006/main">
              <a:ext uri="{FF2B5EF4-FFF2-40B4-BE49-F238E27FC236}">
                <a16:creationId xmlns:a16="http://schemas.microsoft.com/office/drawing/2014/main" id="{208868E6-4BF0-404D-BA6B-3AACD3C9C49D}"/>
              </a:ext>
            </a:extLst>
          </p:cNvPr>
          <p:cNvSpPr>
            <a:spLocks xmlns:a="http://schemas.openxmlformats.org/drawingml/2006/main" noGrp="1"/>
          </p:cNvSpPr>
          <p:nvPr/>
        </p:nvSpPr>
        <p:spPr>
          <a:xfrm xmlns:a="http://schemas.openxmlformats.org/drawingml/2006/main">
            <a:off x="9563100" y="2533650"/>
            <a:ext cx="14859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75" b="0">
                <a:solidFill>
                  <a:srgbClr val="5B6577"/>
                </a:solidFill>
                <a:latin typeface="Arial"/>
                <a:ea typeface="Arial"/>
                <a:cs typeface="Arial"/>
              </a:defRPr>
            </a:pPr>
            <a:r>
              <a:rPr sz="1275" b="0">
                <a:solidFill>
                  <a:srgbClr val="5B6577"/>
                </a:solidFill>
                <a:latin typeface="Arial"/>
                <a:ea typeface="Arial"/>
                <a:cs typeface="Arial"/>
              </a:rPr>
              <a:t>thesis figures</a:t>
            </a:r>
          </a:p>
          <a:p xmlns:a="http://schemas.openxmlformats.org/drawingml/2006/main">
            <a:pPr algn="ctr">
              <a:defRPr sz="1275" b="0">
                <a:solidFill>
                  <a:srgbClr val="5B6577"/>
                </a:solidFill>
                <a:latin typeface="Arial"/>
                <a:ea typeface="Arial"/>
                <a:cs typeface="Arial"/>
              </a:defRPr>
            </a:pPr>
            <a:r>
              <a:rPr sz="1275" b="0">
                <a:solidFill>
                  <a:srgbClr val="5B6577"/>
                </a:solidFill>
                <a:latin typeface="Arial"/>
                <a:ea typeface="Arial"/>
                <a:cs typeface="Arial"/>
              </a:rPr>
              <a:t>conclusion tables</a:t>
            </a:r>
          </a:p>
        </p:txBody>
      </p:sp>
      <p:sp>
        <p:nvSpPr>
          <p:cNvPr id="22" name="">
            <a:extLst xmlns:a="http://schemas.openxmlformats.org/drawingml/2006/main">
              <a:ext uri="{FF2B5EF4-FFF2-40B4-BE49-F238E27FC236}">
                <a16:creationId xmlns:a16="http://schemas.microsoft.com/office/drawing/2014/main" id="{143CDE96-C95C-4603-8D8F-39D3E4C03054}"/>
              </a:ext>
            </a:extLst>
          </p:cNvPr>
          <p:cNvSpPr>
            <a:spLocks xmlns:a="http://schemas.openxmlformats.org/drawingml/2006/main" noGrp="1"/>
          </p:cNvSpPr>
          <p:nvPr/>
        </p:nvSpPr>
        <p:spPr>
          <a:xfrm xmlns:a="http://schemas.openxmlformats.org/drawingml/2006/main">
            <a:off x="685800" y="3905250"/>
            <a:ext cx="10820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650" b="1">
                <a:solidFill>
                  <a:srgbClr val="233A70"/>
                </a:solidFill>
                <a:latin typeface="Arial"/>
                <a:ea typeface="Arial"/>
                <a:cs typeface="Arial"/>
              </a:defRPr>
            </a:pPr>
            <a:r>
              <a:rPr sz="1650" b="1">
                <a:solidFill>
                  <a:srgbClr val="233A70"/>
                </a:solidFill>
                <a:latin typeface="Arial"/>
                <a:ea typeface="Arial"/>
                <a:cs typeface="Arial"/>
              </a:rPr>
              <a:t>Integrity and audit controls</a:t>
            </a:r>
          </a:p>
        </p:txBody>
      </p:sp>
      <p:sp>
        <p:nvSpPr>
          <p:cNvPr id="23" name="">
            <a:extLst xmlns:a="http://schemas.openxmlformats.org/drawingml/2006/main">
              <a:ext uri="{FF2B5EF4-FFF2-40B4-BE49-F238E27FC236}">
                <a16:creationId xmlns:a16="http://schemas.microsoft.com/office/drawing/2014/main" id="{11FB0154-B506-4357-9ADE-0DC5A01E2B7D}"/>
              </a:ext>
            </a:extLst>
          </p:cNvPr>
          <p:cNvSpPr>
            <a:spLocks xmlns:a="http://schemas.openxmlformats.org/drawingml/2006/main" noGrp="1"/>
          </p:cNvSpPr>
          <p:nvPr/>
        </p:nvSpPr>
        <p:spPr>
          <a:xfrm xmlns:a="http://schemas.openxmlformats.org/drawingml/2006/main">
            <a:off x="1714500" y="4438650"/>
            <a:ext cx="8763000" cy="1562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marL="24" indent="-14">
              <a:spcAft>
                <a:spcPts val="10"/>
              </a:spcAft>
              <a:buChar char="•"/>
              <a:defRPr sz="1575">
                <a:solidFill>
                  <a:srgbClr val="172033"/>
                </a:solidFill>
                <a:latin typeface="Arial"/>
                <a:ea typeface="Arial"/>
                <a:cs typeface="Arial"/>
              </a:defRPr>
            </a:pPr>
            <a:r>
              <a:rPr sz="1575">
                <a:solidFill>
                  <a:srgbClr val="172033"/>
                </a:solidFill>
                <a:latin typeface="Arial"/>
                <a:ea typeface="Arial"/>
                <a:cs typeface="Arial"/>
              </a:rPr>
              <a:t>SHA-256 digests for datasets, bundles, checkpoints and controlled artifacts</a:t>
            </a:r>
          </a:p>
          <a:p xmlns:a="http://schemas.openxmlformats.org/drawingml/2006/main">
            <a:pPr marL="24" indent="-14">
              <a:spcAft>
                <a:spcPts val="10"/>
              </a:spcAft>
              <a:buChar char="•"/>
              <a:defRPr sz="1575">
                <a:solidFill>
                  <a:srgbClr val="172033"/>
                </a:solidFill>
                <a:latin typeface="Arial"/>
                <a:ea typeface="Arial"/>
                <a:cs typeface="Arial"/>
              </a:defRPr>
            </a:pPr>
            <a:r>
              <a:rPr sz="1575">
                <a:solidFill>
                  <a:srgbClr val="172033"/>
                </a:solidFill>
                <a:latin typeface="Arial"/>
                <a:ea typeface="Arial"/>
                <a:cs typeface="Arial"/>
              </a:rPr>
              <a:t>Frozen model, tool-version and configuration registries</a:t>
            </a:r>
          </a:p>
          <a:p xmlns:a="http://schemas.openxmlformats.org/drawingml/2006/main">
            <a:pPr marL="24" indent="-14">
              <a:spcAft>
                <a:spcPts val="10"/>
              </a:spcAft>
              <a:buChar char="•"/>
              <a:defRPr sz="1575">
                <a:solidFill>
                  <a:srgbClr val="172033"/>
                </a:solidFill>
                <a:latin typeface="Arial"/>
                <a:ea typeface="Arial"/>
                <a:cs typeface="Arial"/>
              </a:defRPr>
            </a:pPr>
            <a:r>
              <a:rPr sz="1575">
                <a:solidFill>
                  <a:srgbClr val="172033"/>
                </a:solidFill>
                <a:latin typeface="Arial"/>
                <a:ea typeface="Arial"/>
                <a:cs typeface="Arial"/>
              </a:rPr>
              <a:t>Explicit output-normalization rules and unmatched/unknown handling</a:t>
            </a:r>
          </a:p>
          <a:p xmlns:a="http://schemas.openxmlformats.org/drawingml/2006/main">
            <a:pPr marL="24" indent="-14">
              <a:spcAft>
                <a:spcPts val="10"/>
              </a:spcAft>
              <a:buChar char="•"/>
              <a:defRPr sz="1575">
                <a:solidFill>
                  <a:srgbClr val="172033"/>
                </a:solidFill>
                <a:latin typeface="Arial"/>
                <a:ea typeface="Arial"/>
                <a:cs typeface="Arial"/>
              </a:defRPr>
            </a:pPr>
            <a:r>
              <a:rPr sz="1575">
                <a:solidFill>
                  <a:srgbClr val="172033"/>
                </a:solidFill>
                <a:latin typeface="Arial"/>
                <a:ea typeface="Arial"/>
                <a:cs typeface="Arial"/>
              </a:rPr>
              <a:t>Repository scripts regenerate metrics and thesis-ready reporting assets</a:t>
            </a:r>
          </a:p>
        </p:txBody>
      </p:sp>
    </p:spTree>
    <p:extLst>
      <p:ext uri="{BB962C8B-B14F-4D97-AF65-F5344CB8AC3E}">
        <p14:creationId xmlns:p14="http://schemas.microsoft.com/office/powerpoint/2010/main" val="1386833140"/>
      </p:ext>
    </p:extLst>
  </p:cSld>
</p:sld>
</file>

<file path=ppt/slides/slide18.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450EE9F5-CABF-434E-8232-BDF46C2B08C9}"/>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233A70"/>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EC59691-266B-4DB0-8057-0406222D320A}"/>
              </a:ext>
            </a:extLst>
          </p:cNvPr>
          <p:cNvSpPr>
            <a:spLocks xmlns:a="http://schemas.openxmlformats.org/drawingml/2006/main" noGrp="1"/>
          </p:cNvSpPr>
          <p:nvPr/>
        </p:nvSpPr>
        <p:spPr>
          <a:xfrm xmlns:a="http://schemas.openxmlformats.org/drawingml/2006/main">
            <a:off x="685800" y="704850"/>
            <a:ext cx="10572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600" b="1">
                <a:solidFill>
                  <a:srgbClr val="233A70"/>
                </a:solidFill>
                <a:latin typeface="Arial"/>
                <a:ea typeface="Arial"/>
                <a:cs typeface="Arial"/>
              </a:defRPr>
            </a:pPr>
            <a:r>
              <a:rPr sz="3600" b="1">
                <a:solidFill>
                  <a:srgbClr val="233A70"/>
                </a:solidFill>
                <a:latin typeface="Arial"/>
                <a:ea typeface="Arial"/>
                <a:cs typeface="Arial"/>
              </a:rPr>
              <a:t>Claim boundaries keep the result defensible</a:t>
            </a:r>
          </a:p>
        </p:txBody>
      </p:sp>
      <p:sp>
        <p:nvSpPr>
          <p:cNvPr id="3" name="">
            <a:extLst xmlns:a="http://schemas.openxmlformats.org/drawingml/2006/main">
              <a:ext uri="{FF2B5EF4-FFF2-40B4-BE49-F238E27FC236}">
                <a16:creationId xmlns:a16="http://schemas.microsoft.com/office/drawing/2014/main" id="{79089BD1-B305-48BE-BA26-09870B601124}"/>
              </a:ext>
            </a:extLst>
          </p:cNvPr>
          <p:cNvSpPr>
            <a:spLocks xmlns:a="http://schemas.openxmlformats.org/drawingml/2006/main" noGrp="1"/>
          </p:cNvSpPr>
          <p:nvPr/>
        </p:nvSpPr>
        <p:spPr>
          <a:xfrm xmlns:a="http://schemas.openxmlformats.org/drawingml/2006/main">
            <a:off x="685800" y="1352550"/>
            <a:ext cx="10820400" cy="19050"/>
          </a:xfrm>
          <a:prstGeom xmlns:a="http://schemas.openxmlformats.org/drawingml/2006/main" prst="rect">
            <a:avLst/>
          </a:prstGeom>
          <a:solidFill xmlns:a="http://schemas.openxmlformats.org/drawingml/2006/main">
            <a:srgbClr val="D9DEE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42C6706B-ACDF-4666-A54A-86FD9DBD5392}"/>
              </a:ext>
            </a:extLst>
          </p:cNvPr>
          <p:cNvSpPr>
            <a:spLocks xmlns:a="http://schemas.openxmlformats.org/drawingml/2006/main" noGrp="1"/>
          </p:cNvSpPr>
          <p:nvPr/>
        </p:nvSpPr>
        <p:spPr>
          <a:xfrm xmlns:a="http://schemas.openxmlformats.org/drawingml/2006/main">
            <a:off x="685800" y="6524625"/>
            <a:ext cx="438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050" b="0">
                <a:solidFill>
                  <a:srgbClr val="5B6577"/>
                </a:solidFill>
                <a:latin typeface="Arial"/>
                <a:ea typeface="Arial"/>
                <a:cs typeface="Arial"/>
              </a:defRPr>
            </a:pPr>
            <a:r>
              <a:rPr sz="1050" b="0">
                <a:solidFill>
                  <a:srgbClr val="5B6577"/>
                </a:solidFill>
                <a:latin typeface="Arial"/>
                <a:ea typeface="Arial"/>
                <a:cs typeface="Arial"/>
              </a:rPr>
              <a:t>Lello Molinario  |  MSc Thesis Defense</a:t>
            </a:r>
          </a:p>
        </p:txBody>
      </p:sp>
      <p:sp>
        <p:nvSpPr>
          <p:cNvPr id="5" name="">
            <a:extLst xmlns:a="http://schemas.openxmlformats.org/drawingml/2006/main">
              <a:ext uri="{FF2B5EF4-FFF2-40B4-BE49-F238E27FC236}">
                <a16:creationId xmlns:a16="http://schemas.microsoft.com/office/drawing/2014/main" id="{0D079A16-C2FC-4182-B67E-51370D40AE49}"/>
              </a:ext>
            </a:extLst>
          </p:cNvPr>
          <p:cNvSpPr>
            <a:spLocks xmlns:a="http://schemas.openxmlformats.org/drawingml/2006/main" noGrp="1"/>
          </p:cNvSpPr>
          <p:nvPr/>
        </p:nvSpPr>
        <p:spPr>
          <a:xfrm xmlns:a="http://schemas.openxmlformats.org/drawingml/2006/main">
            <a:off x="11049000" y="652462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050" b="0">
                <a:solidFill>
                  <a:srgbClr val="5B6577"/>
                </a:solidFill>
                <a:latin typeface="Arial"/>
                <a:ea typeface="Arial"/>
                <a:cs typeface="Arial"/>
              </a:defRPr>
            </a:pPr>
            <a:r>
              <a:rPr sz="1050" b="0">
                <a:solidFill>
                  <a:srgbClr val="5B6577"/>
                </a:solidFill>
                <a:latin typeface="Arial"/>
                <a:ea typeface="Arial"/>
                <a:cs typeface="Arial"/>
              </a:rPr>
              <a:t>18</a:t>
            </a:r>
          </a:p>
        </p:txBody>
      </p:sp>
      <p:sp>
        <p:nvSpPr>
          <p:cNvPr id="6" name="">
            <a:extLst xmlns:a="http://schemas.openxmlformats.org/drawingml/2006/main">
              <a:ext uri="{FF2B5EF4-FFF2-40B4-BE49-F238E27FC236}">
                <a16:creationId xmlns:a16="http://schemas.microsoft.com/office/drawing/2014/main" id="{A958CF67-914D-4A36-B2C0-CBFE18A07BAD}"/>
              </a:ext>
            </a:extLst>
          </p:cNvPr>
          <p:cNvSpPr>
            <a:spLocks xmlns:a="http://schemas.openxmlformats.org/drawingml/2006/main" noGrp="1"/>
          </p:cNvSpPr>
          <p:nvPr/>
        </p:nvSpPr>
        <p:spPr>
          <a:xfrm xmlns:a="http://schemas.openxmlformats.org/drawingml/2006/main">
            <a:off x="685800" y="1581150"/>
            <a:ext cx="4095750" cy="4171950"/>
          </a:xfrm>
          <a:prstGeom xmlns:a="http://schemas.openxmlformats.org/drawingml/2006/main" prst="roundRect">
            <a:avLst>
              <a:gd name="adj" fmla="val 4651"/>
            </a:avLst>
          </a:prstGeom>
          <a:solidFill xmlns:a="http://schemas.openxmlformats.org/drawingml/2006/main">
            <a:srgbClr val="233A7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E5DDE80D-F491-4EDB-A777-AC5174C65059}"/>
              </a:ext>
            </a:extLst>
          </p:cNvPr>
          <p:cNvSpPr>
            <a:spLocks xmlns:a="http://schemas.openxmlformats.org/drawingml/2006/main" noGrp="1"/>
          </p:cNvSpPr>
          <p:nvPr/>
        </p:nvSpPr>
        <p:spPr>
          <a:xfrm xmlns:a="http://schemas.openxmlformats.org/drawingml/2006/main">
            <a:off x="971550" y="1847850"/>
            <a:ext cx="3524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350" b="1">
                <a:solidFill>
                  <a:srgbClr val="14B978"/>
                </a:solidFill>
                <a:latin typeface="Arial"/>
                <a:ea typeface="Arial"/>
                <a:cs typeface="Arial"/>
              </a:defRPr>
            </a:pPr>
            <a:r>
              <a:rPr sz="1350" b="1">
                <a:solidFill>
                  <a:srgbClr val="14B978"/>
                </a:solidFill>
                <a:latin typeface="Arial"/>
                <a:ea typeface="Arial"/>
                <a:cs typeface="Arial"/>
              </a:rPr>
              <a:t>METADATA SENSITIVITY</a:t>
            </a:r>
          </a:p>
        </p:txBody>
      </p:sp>
      <p:sp>
        <p:nvSpPr>
          <p:cNvPr id="8" name="">
            <a:extLst xmlns:a="http://schemas.openxmlformats.org/drawingml/2006/main">
              <a:ext uri="{FF2B5EF4-FFF2-40B4-BE49-F238E27FC236}">
                <a16:creationId xmlns:a16="http://schemas.microsoft.com/office/drawing/2014/main" id="{9CE8CE40-2313-4751-AC3A-75251D60271B}"/>
              </a:ext>
            </a:extLst>
          </p:cNvPr>
          <p:cNvSpPr>
            <a:spLocks xmlns:a="http://schemas.openxmlformats.org/drawingml/2006/main" noGrp="1"/>
          </p:cNvSpPr>
          <p:nvPr/>
        </p:nvSpPr>
        <p:spPr>
          <a:xfrm xmlns:a="http://schemas.openxmlformats.org/drawingml/2006/main">
            <a:off x="971550" y="2286000"/>
            <a:ext cx="3524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4200" b="1">
                <a:solidFill>
                  <a:srgbClr val="FFFFFF"/>
                </a:solidFill>
                <a:latin typeface="Arial"/>
                <a:ea typeface="Arial"/>
                <a:cs typeface="Arial"/>
              </a:defRPr>
            </a:pPr>
            <a:r>
              <a:rPr sz="4200" b="1">
                <a:solidFill>
                  <a:srgbClr val="FFFFFF"/>
                </a:solidFill>
                <a:latin typeface="Arial"/>
                <a:ea typeface="Arial"/>
                <a:cs typeface="Arial"/>
              </a:rPr>
              <a:t>15</a:t>
            </a:r>
          </a:p>
        </p:txBody>
      </p:sp>
      <p:sp>
        <p:nvSpPr>
          <p:cNvPr id="9" name="">
            <a:extLst xmlns:a="http://schemas.openxmlformats.org/drawingml/2006/main">
              <a:ext uri="{FF2B5EF4-FFF2-40B4-BE49-F238E27FC236}">
                <a16:creationId xmlns:a16="http://schemas.microsoft.com/office/drawing/2014/main" id="{32443789-E78D-482B-9842-1CE14508CB7C}"/>
              </a:ext>
            </a:extLst>
          </p:cNvPr>
          <p:cNvSpPr>
            <a:spLocks xmlns:a="http://schemas.openxmlformats.org/drawingml/2006/main" noGrp="1"/>
          </p:cNvSpPr>
          <p:nvPr/>
        </p:nvSpPr>
        <p:spPr>
          <a:xfrm xmlns:a="http://schemas.openxmlformats.org/drawingml/2006/main">
            <a:off x="971550" y="2952750"/>
            <a:ext cx="3524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of 11,500 files</a:t>
            </a:r>
          </a:p>
        </p:txBody>
      </p:sp>
      <p:sp>
        <p:nvSpPr>
          <p:cNvPr id="10" name="">
            <a:extLst xmlns:a="http://schemas.openxmlformats.org/drawingml/2006/main">
              <a:ext uri="{FF2B5EF4-FFF2-40B4-BE49-F238E27FC236}">
                <a16:creationId xmlns:a16="http://schemas.microsoft.com/office/drawing/2014/main" id="{68FF4B46-61D2-46B2-A3F1-741BE38718F5}"/>
              </a:ext>
            </a:extLst>
          </p:cNvPr>
          <p:cNvSpPr>
            <a:spLocks xmlns:a="http://schemas.openxmlformats.org/drawingml/2006/main" noGrp="1"/>
          </p:cNvSpPr>
          <p:nvPr/>
        </p:nvSpPr>
        <p:spPr>
          <a:xfrm xmlns:a="http://schemas.openxmlformats.org/drawingml/2006/main">
            <a:off x="1066800" y="3390900"/>
            <a:ext cx="3333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425" b="0">
                <a:solidFill>
                  <a:srgbClr val="DCE4F3"/>
                </a:solidFill>
                <a:latin typeface="Arial"/>
                <a:ea typeface="Arial"/>
                <a:cs typeface="Arial"/>
              </a:defRPr>
            </a:pPr>
            <a:r>
              <a:rPr sz="1425" b="0">
                <a:solidFill>
                  <a:srgbClr val="DCE4F3"/>
                </a:solidFill>
                <a:latin typeface="Arial"/>
                <a:ea typeface="Arial"/>
                <a:cs typeface="Arial"/>
              </a:rPr>
              <a:t>matched a predefined sensitive metadata term</a:t>
            </a:r>
          </a:p>
        </p:txBody>
      </p:sp>
      <p:sp>
        <p:nvSpPr>
          <p:cNvPr id="11" name="">
            <a:extLst xmlns:a="http://schemas.openxmlformats.org/drawingml/2006/main">
              <a:ext uri="{FF2B5EF4-FFF2-40B4-BE49-F238E27FC236}">
                <a16:creationId xmlns:a16="http://schemas.microsoft.com/office/drawing/2014/main" id="{1C420481-7C8E-4DDB-BC91-67D78A171A6C}"/>
              </a:ext>
            </a:extLst>
          </p:cNvPr>
          <p:cNvSpPr>
            <a:spLocks xmlns:a="http://schemas.openxmlformats.org/drawingml/2006/main" noGrp="1"/>
          </p:cNvSpPr>
          <p:nvPr/>
        </p:nvSpPr>
        <p:spPr>
          <a:xfrm xmlns:a="http://schemas.openxmlformats.org/drawingml/2006/main">
            <a:off x="1257300" y="4133850"/>
            <a:ext cx="2952750" cy="19050"/>
          </a:xfrm>
          <a:prstGeom xmlns:a="http://schemas.openxmlformats.org/drawingml/2006/main" prst="rect">
            <a:avLst/>
          </a:prstGeom>
          <a:solidFill xmlns:a="http://schemas.openxmlformats.org/drawingml/2006/main">
            <a:srgbClr val="536A9B"/>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F3249D90-455B-4447-9E26-B2ADC594CFFC}"/>
              </a:ext>
            </a:extLst>
          </p:cNvPr>
          <p:cNvSpPr>
            <a:spLocks xmlns:a="http://schemas.openxmlformats.org/drawingml/2006/main" noGrp="1"/>
          </p:cNvSpPr>
          <p:nvPr/>
        </p:nvSpPr>
        <p:spPr>
          <a:xfrm xmlns:a="http://schemas.openxmlformats.org/drawingml/2006/main">
            <a:off x="1066800" y="4419600"/>
            <a:ext cx="3333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75" b="1">
                <a:solidFill>
                  <a:srgbClr val="FFFFFF"/>
                </a:solidFill>
                <a:latin typeface="Arial"/>
                <a:ea typeface="Arial"/>
                <a:cs typeface="Arial"/>
              </a:defRPr>
            </a:pPr>
            <a:r>
              <a:rPr sz="1575" b="1">
                <a:solidFill>
                  <a:srgbClr val="FFFFFF"/>
                </a:solidFill>
                <a:latin typeface="Arial"/>
                <a:ea typeface="Arial"/>
                <a:cs typeface="Arial"/>
              </a:rPr>
              <a:t>Leave-out differences were small</a:t>
            </a:r>
          </a:p>
        </p:txBody>
      </p:sp>
      <p:sp>
        <p:nvSpPr>
          <p:cNvPr id="13" name="">
            <a:extLst xmlns:a="http://schemas.openxmlformats.org/drawingml/2006/main">
              <a:ext uri="{FF2B5EF4-FFF2-40B4-BE49-F238E27FC236}">
                <a16:creationId xmlns:a16="http://schemas.microsoft.com/office/drawing/2014/main" id="{A91E40B1-43F4-44AE-B4D8-392C565EFA1E}"/>
              </a:ext>
            </a:extLst>
          </p:cNvPr>
          <p:cNvSpPr>
            <a:spLocks xmlns:a="http://schemas.openxmlformats.org/drawingml/2006/main" noGrp="1"/>
          </p:cNvSpPr>
          <p:nvPr/>
        </p:nvSpPr>
        <p:spPr>
          <a:xfrm xmlns:a="http://schemas.openxmlformats.org/drawingml/2006/main">
            <a:off x="1066800" y="4953000"/>
            <a:ext cx="3333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50" b="0">
                <a:solidFill>
                  <a:srgbClr val="FFF4CD"/>
                </a:solidFill>
                <a:latin typeface="Arial"/>
                <a:ea typeface="Arial"/>
                <a:cs typeface="Arial"/>
              </a:defRPr>
            </a:pPr>
            <a:r>
              <a:rPr sz="1350" b="0">
                <a:solidFill>
                  <a:srgbClr val="FFF4CD"/>
                </a:solidFill>
                <a:latin typeface="Arial"/>
                <a:ea typeface="Arial"/>
                <a:cs typeface="Arial"/>
              </a:rPr>
              <a:t>This does not prove causal irrelevance for every decision.</a:t>
            </a:r>
          </a:p>
        </p:txBody>
      </p:sp>
      <p:sp>
        <p:nvSpPr>
          <p:cNvPr id="14" name="">
            <a:extLst xmlns:a="http://schemas.openxmlformats.org/drawingml/2006/main">
              <a:ext uri="{FF2B5EF4-FFF2-40B4-BE49-F238E27FC236}">
                <a16:creationId xmlns:a16="http://schemas.microsoft.com/office/drawing/2014/main" id="{271950E5-9AE8-4624-8836-A98073AC06EB}"/>
              </a:ext>
            </a:extLst>
          </p:cNvPr>
          <p:cNvSpPr>
            <a:spLocks xmlns:a="http://schemas.openxmlformats.org/drawingml/2006/main" noGrp="1"/>
          </p:cNvSpPr>
          <p:nvPr/>
        </p:nvSpPr>
        <p:spPr>
          <a:xfrm xmlns:a="http://schemas.openxmlformats.org/drawingml/2006/main">
            <a:off x="5334000" y="1657350"/>
            <a:ext cx="6172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233A70"/>
                </a:solidFill>
                <a:latin typeface="Arial"/>
                <a:ea typeface="Arial"/>
                <a:cs typeface="Arial"/>
              </a:defRPr>
            </a:pPr>
            <a:r>
              <a:rPr sz="1425" b="1">
                <a:solidFill>
                  <a:srgbClr val="233A70"/>
                </a:solidFill>
                <a:latin typeface="Arial"/>
                <a:ea typeface="Arial"/>
                <a:cs typeface="Arial"/>
              </a:rPr>
              <a:t>CLAIM BOUNDARIES</a:t>
            </a:r>
          </a:p>
        </p:txBody>
      </p:sp>
      <p:sp>
        <p:nvSpPr>
          <p:cNvPr id="15" name="">
            <a:extLst xmlns:a="http://schemas.openxmlformats.org/drawingml/2006/main">
              <a:ext uri="{FF2B5EF4-FFF2-40B4-BE49-F238E27FC236}">
                <a16:creationId xmlns:a16="http://schemas.microsoft.com/office/drawing/2014/main" id="{9B35F04A-8C1A-4D02-A7D5-B5388F8EBAA1}"/>
              </a:ext>
            </a:extLst>
          </p:cNvPr>
          <p:cNvSpPr>
            <a:spLocks xmlns:a="http://schemas.openxmlformats.org/drawingml/2006/main" noGrp="1"/>
          </p:cNvSpPr>
          <p:nvPr/>
        </p:nvSpPr>
        <p:spPr>
          <a:xfrm xmlns:a="http://schemas.openxmlformats.org/drawingml/2006/main">
            <a:off x="5334000" y="21336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233A70"/>
                </a:solidFill>
                <a:latin typeface="Arial"/>
                <a:ea typeface="Arial"/>
                <a:cs typeface="Arial"/>
              </a:defRPr>
            </a:pPr>
            <a:r>
              <a:rPr sz="1500" b="1">
                <a:solidFill>
                  <a:srgbClr val="233A70"/>
                </a:solidFill>
                <a:latin typeface="Arial"/>
                <a:ea typeface="Arial"/>
                <a:cs typeface="Arial"/>
              </a:rPr>
              <a:t>Corpus</a:t>
            </a:r>
          </a:p>
        </p:txBody>
      </p:sp>
      <p:sp>
        <p:nvSpPr>
          <p:cNvPr id="16" name="">
            <a:extLst xmlns:a="http://schemas.openxmlformats.org/drawingml/2006/main">
              <a:ext uri="{FF2B5EF4-FFF2-40B4-BE49-F238E27FC236}">
                <a16:creationId xmlns:a16="http://schemas.microsoft.com/office/drawing/2014/main" id="{383BA1E7-4180-41B6-8C72-60ACF49C3748}"/>
              </a:ext>
            </a:extLst>
          </p:cNvPr>
          <p:cNvSpPr>
            <a:spLocks xmlns:a="http://schemas.openxmlformats.org/drawingml/2006/main" noGrp="1"/>
          </p:cNvSpPr>
          <p:nvPr/>
        </p:nvSpPr>
        <p:spPr>
          <a:xfrm xmlns:a="http://schemas.openxmlformats.org/drawingml/2006/main">
            <a:off x="7124700" y="2133600"/>
            <a:ext cx="438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0">
                <a:solidFill>
                  <a:srgbClr val="172033"/>
                </a:solidFill>
                <a:latin typeface="Arial"/>
                <a:ea typeface="Arial"/>
                <a:cs typeface="Arial"/>
              </a:defRPr>
            </a:pPr>
            <a:r>
              <a:rPr sz="1425" b="0">
                <a:solidFill>
                  <a:srgbClr val="172033"/>
                </a:solidFill>
                <a:latin typeface="Arial"/>
                <a:ea typeface="Arial"/>
                <a:cs typeface="Arial"/>
              </a:rPr>
              <a:t>1,500 images; one reviewer</a:t>
            </a:r>
          </a:p>
        </p:txBody>
      </p:sp>
      <p:sp>
        <p:nvSpPr>
          <p:cNvPr id="17" name="">
            <a:extLst xmlns:a="http://schemas.openxmlformats.org/drawingml/2006/main">
              <a:ext uri="{FF2B5EF4-FFF2-40B4-BE49-F238E27FC236}">
                <a16:creationId xmlns:a16="http://schemas.microsoft.com/office/drawing/2014/main" id="{1E912AF9-D85C-4977-969E-906B3A4C3311}"/>
              </a:ext>
            </a:extLst>
          </p:cNvPr>
          <p:cNvSpPr>
            <a:spLocks xmlns:a="http://schemas.openxmlformats.org/drawingml/2006/main" noGrp="1"/>
          </p:cNvSpPr>
          <p:nvPr/>
        </p:nvSpPr>
        <p:spPr>
          <a:xfrm xmlns:a="http://schemas.openxmlformats.org/drawingml/2006/main">
            <a:off x="5334000" y="2609850"/>
            <a:ext cx="6172200" cy="9525"/>
          </a:xfrm>
          <a:prstGeom xmlns:a="http://schemas.openxmlformats.org/drawingml/2006/main" prst="rect">
            <a:avLst/>
          </a:prstGeom>
          <a:solidFill xmlns:a="http://schemas.openxmlformats.org/drawingml/2006/main">
            <a:srgbClr val="D9DEE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1FEB3410-F8F5-45C3-B8A9-72E8CC0B13F9}"/>
              </a:ext>
            </a:extLst>
          </p:cNvPr>
          <p:cNvSpPr>
            <a:spLocks xmlns:a="http://schemas.openxmlformats.org/drawingml/2006/main" noGrp="1"/>
          </p:cNvSpPr>
          <p:nvPr/>
        </p:nvSpPr>
        <p:spPr>
          <a:xfrm xmlns:a="http://schemas.openxmlformats.org/drawingml/2006/main">
            <a:off x="5334000" y="28194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233A70"/>
                </a:solidFill>
                <a:latin typeface="Arial"/>
                <a:ea typeface="Arial"/>
                <a:cs typeface="Arial"/>
              </a:defRPr>
            </a:pPr>
            <a:r>
              <a:rPr sz="1500" b="1">
                <a:solidFill>
                  <a:srgbClr val="233A70"/>
                </a:solidFill>
                <a:latin typeface="Arial"/>
                <a:ea typeface="Arial"/>
                <a:cs typeface="Arial"/>
              </a:rPr>
              <a:t>Perturbations</a:t>
            </a:r>
          </a:p>
        </p:txBody>
      </p:sp>
      <p:sp>
        <p:nvSpPr>
          <p:cNvPr id="19" name="">
            <a:extLst xmlns:a="http://schemas.openxmlformats.org/drawingml/2006/main">
              <a:ext uri="{FF2B5EF4-FFF2-40B4-BE49-F238E27FC236}">
                <a16:creationId xmlns:a16="http://schemas.microsoft.com/office/drawing/2014/main" id="{528555C9-5DFF-4894-9FE6-D4333953FC88}"/>
              </a:ext>
            </a:extLst>
          </p:cNvPr>
          <p:cNvSpPr>
            <a:spLocks xmlns:a="http://schemas.openxmlformats.org/drawingml/2006/main" noGrp="1"/>
          </p:cNvSpPr>
          <p:nvPr/>
        </p:nvSpPr>
        <p:spPr>
          <a:xfrm xmlns:a="http://schemas.openxmlformats.org/drawingml/2006/main">
            <a:off x="7124700" y="2819400"/>
            <a:ext cx="438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0">
                <a:solidFill>
                  <a:srgbClr val="172033"/>
                </a:solidFill>
                <a:latin typeface="Arial"/>
                <a:ea typeface="Arial"/>
                <a:cs typeface="Arial"/>
              </a:defRPr>
            </a:pPr>
            <a:r>
              <a:rPr sz="1425" b="0">
                <a:solidFill>
                  <a:srgbClr val="172033"/>
                </a:solidFill>
                <a:latin typeface="Arial"/>
                <a:ea typeface="Arial"/>
                <a:cs typeface="Arial"/>
              </a:rPr>
              <a:t>one frozen setting per condition</a:t>
            </a:r>
          </a:p>
        </p:txBody>
      </p:sp>
      <p:sp>
        <p:nvSpPr>
          <p:cNvPr id="20" name="">
            <a:extLst xmlns:a="http://schemas.openxmlformats.org/drawingml/2006/main">
              <a:ext uri="{FF2B5EF4-FFF2-40B4-BE49-F238E27FC236}">
                <a16:creationId xmlns:a16="http://schemas.microsoft.com/office/drawing/2014/main" id="{F89CB595-C0E8-481C-B956-C19F8CDD3C85}"/>
              </a:ext>
            </a:extLst>
          </p:cNvPr>
          <p:cNvSpPr>
            <a:spLocks xmlns:a="http://schemas.openxmlformats.org/drawingml/2006/main" noGrp="1"/>
          </p:cNvSpPr>
          <p:nvPr/>
        </p:nvSpPr>
        <p:spPr>
          <a:xfrm xmlns:a="http://schemas.openxmlformats.org/drawingml/2006/main">
            <a:off x="5334000" y="3295650"/>
            <a:ext cx="6172200" cy="9525"/>
          </a:xfrm>
          <a:prstGeom xmlns:a="http://schemas.openxmlformats.org/drawingml/2006/main" prst="rect">
            <a:avLst/>
          </a:prstGeom>
          <a:solidFill xmlns:a="http://schemas.openxmlformats.org/drawingml/2006/main">
            <a:srgbClr val="D9DEE8"/>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6CF52DE5-B776-4B1D-800C-73C4E4A5C8F6}"/>
              </a:ext>
            </a:extLst>
          </p:cNvPr>
          <p:cNvSpPr>
            <a:spLocks xmlns:a="http://schemas.openxmlformats.org/drawingml/2006/main" noGrp="1"/>
          </p:cNvSpPr>
          <p:nvPr/>
        </p:nvSpPr>
        <p:spPr>
          <a:xfrm xmlns:a="http://schemas.openxmlformats.org/drawingml/2006/main">
            <a:off x="5334000" y="35052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233A70"/>
                </a:solidFill>
                <a:latin typeface="Arial"/>
                <a:ea typeface="Arial"/>
                <a:cs typeface="Arial"/>
              </a:defRPr>
            </a:pPr>
            <a:r>
              <a:rPr sz="1500" b="1">
                <a:solidFill>
                  <a:srgbClr val="233A70"/>
                </a:solidFill>
                <a:latin typeface="Arial"/>
                <a:ea typeface="Arial"/>
                <a:cs typeface="Arial"/>
              </a:rPr>
              <a:t>Attack target</a:t>
            </a:r>
          </a:p>
        </p:txBody>
      </p:sp>
      <p:sp>
        <p:nvSpPr>
          <p:cNvPr id="22" name="">
            <a:extLst xmlns:a="http://schemas.openxmlformats.org/drawingml/2006/main">
              <a:ext uri="{FF2B5EF4-FFF2-40B4-BE49-F238E27FC236}">
                <a16:creationId xmlns:a16="http://schemas.microsoft.com/office/drawing/2014/main" id="{CFA73A27-E6D0-47E7-ADA5-8D98B5FD3677}"/>
              </a:ext>
            </a:extLst>
          </p:cNvPr>
          <p:cNvSpPr>
            <a:spLocks xmlns:a="http://schemas.openxmlformats.org/drawingml/2006/main" noGrp="1"/>
          </p:cNvSpPr>
          <p:nvPr/>
        </p:nvSpPr>
        <p:spPr>
          <a:xfrm xmlns:a="http://schemas.openxmlformats.org/drawingml/2006/main">
            <a:off x="7124700" y="3505200"/>
            <a:ext cx="438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0">
                <a:solidFill>
                  <a:srgbClr val="172033"/>
                </a:solidFill>
                <a:latin typeface="Arial"/>
                <a:ea typeface="Arial"/>
                <a:cs typeface="Arial"/>
              </a:defRPr>
            </a:pPr>
            <a:r>
              <a:rPr sz="1425" b="0">
                <a:solidFill>
                  <a:srgbClr val="172033"/>
                </a:solidFill>
                <a:latin typeface="Arial"/>
                <a:ea typeface="Arial"/>
                <a:cs typeface="Arial"/>
              </a:rPr>
              <a:t>direct attacks only on EfficientNet-B0</a:t>
            </a:r>
          </a:p>
        </p:txBody>
      </p:sp>
      <p:sp>
        <p:nvSpPr>
          <p:cNvPr id="23" name="">
            <a:extLst xmlns:a="http://schemas.openxmlformats.org/drawingml/2006/main">
              <a:ext uri="{FF2B5EF4-FFF2-40B4-BE49-F238E27FC236}">
                <a16:creationId xmlns:a16="http://schemas.microsoft.com/office/drawing/2014/main" id="{6730AD67-EBD7-4FFB-A38A-B32B95B85FDA}"/>
              </a:ext>
            </a:extLst>
          </p:cNvPr>
          <p:cNvSpPr>
            <a:spLocks xmlns:a="http://schemas.openxmlformats.org/drawingml/2006/main" noGrp="1"/>
          </p:cNvSpPr>
          <p:nvPr/>
        </p:nvSpPr>
        <p:spPr>
          <a:xfrm xmlns:a="http://schemas.openxmlformats.org/drawingml/2006/main">
            <a:off x="5334000" y="3981450"/>
            <a:ext cx="6172200" cy="9525"/>
          </a:xfrm>
          <a:prstGeom xmlns:a="http://schemas.openxmlformats.org/drawingml/2006/main" prst="rect">
            <a:avLst/>
          </a:prstGeom>
          <a:solidFill xmlns:a="http://schemas.openxmlformats.org/drawingml/2006/main">
            <a:srgbClr val="D9DEE8"/>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297D8C7E-D048-4389-B744-C095380C76FF}"/>
              </a:ext>
            </a:extLst>
          </p:cNvPr>
          <p:cNvSpPr>
            <a:spLocks xmlns:a="http://schemas.openxmlformats.org/drawingml/2006/main" noGrp="1"/>
          </p:cNvSpPr>
          <p:nvPr/>
        </p:nvSpPr>
        <p:spPr>
          <a:xfrm xmlns:a="http://schemas.openxmlformats.org/drawingml/2006/main">
            <a:off x="5334000" y="41910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233A70"/>
                </a:solidFill>
                <a:latin typeface="Arial"/>
                <a:ea typeface="Arial"/>
                <a:cs typeface="Arial"/>
              </a:defRPr>
            </a:pPr>
            <a:r>
              <a:rPr sz="1500" b="1">
                <a:solidFill>
                  <a:srgbClr val="233A70"/>
                </a:solidFill>
                <a:latin typeface="Arial"/>
                <a:ea typeface="Arial"/>
                <a:cs typeface="Arial"/>
              </a:rPr>
              <a:t>Black-box</a:t>
            </a:r>
          </a:p>
        </p:txBody>
      </p:sp>
      <p:sp>
        <p:nvSpPr>
          <p:cNvPr id="25" name="">
            <a:extLst xmlns:a="http://schemas.openxmlformats.org/drawingml/2006/main">
              <a:ext uri="{FF2B5EF4-FFF2-40B4-BE49-F238E27FC236}">
                <a16:creationId xmlns:a16="http://schemas.microsoft.com/office/drawing/2014/main" id="{FB545777-3A93-46AD-B3E0-2631B388AFF4}"/>
              </a:ext>
            </a:extLst>
          </p:cNvPr>
          <p:cNvSpPr>
            <a:spLocks xmlns:a="http://schemas.openxmlformats.org/drawingml/2006/main" noGrp="1"/>
          </p:cNvSpPr>
          <p:nvPr/>
        </p:nvSpPr>
        <p:spPr>
          <a:xfrm xmlns:a="http://schemas.openxmlformats.org/drawingml/2006/main">
            <a:off x="7124700" y="4191000"/>
            <a:ext cx="438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0">
                <a:solidFill>
                  <a:srgbClr val="172033"/>
                </a:solidFill>
                <a:latin typeface="Arial"/>
                <a:ea typeface="Arial"/>
                <a:cs typeface="Arial"/>
              </a:defRPr>
            </a:pPr>
            <a:r>
              <a:rPr sz="1425" b="0">
                <a:solidFill>
                  <a:srgbClr val="172033"/>
                </a:solidFill>
                <a:latin typeface="Arial"/>
                <a:ea typeface="Arial"/>
                <a:cs typeface="Arial"/>
              </a:rPr>
              <a:t>tool version + settings + output mapping</a:t>
            </a:r>
          </a:p>
        </p:txBody>
      </p:sp>
      <p:sp>
        <p:nvSpPr>
          <p:cNvPr id="26" name="">
            <a:extLst xmlns:a="http://schemas.openxmlformats.org/drawingml/2006/main">
              <a:ext uri="{FF2B5EF4-FFF2-40B4-BE49-F238E27FC236}">
                <a16:creationId xmlns:a16="http://schemas.microsoft.com/office/drawing/2014/main" id="{3C77DA9F-A647-486F-87C1-3A6BA389185F}"/>
              </a:ext>
            </a:extLst>
          </p:cNvPr>
          <p:cNvSpPr>
            <a:spLocks xmlns:a="http://schemas.openxmlformats.org/drawingml/2006/main" noGrp="1"/>
          </p:cNvSpPr>
          <p:nvPr/>
        </p:nvSpPr>
        <p:spPr>
          <a:xfrm xmlns:a="http://schemas.openxmlformats.org/drawingml/2006/main">
            <a:off x="5334000" y="4667250"/>
            <a:ext cx="6172200" cy="9525"/>
          </a:xfrm>
          <a:prstGeom xmlns:a="http://schemas.openxmlformats.org/drawingml/2006/main" prst="rect">
            <a:avLst/>
          </a:prstGeom>
          <a:solidFill xmlns:a="http://schemas.openxmlformats.org/drawingml/2006/main">
            <a:srgbClr val="D9DEE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8E6250E2-E927-4F06-BBD5-AC880A4A2AFA}"/>
              </a:ext>
            </a:extLst>
          </p:cNvPr>
          <p:cNvSpPr>
            <a:spLocks xmlns:a="http://schemas.openxmlformats.org/drawingml/2006/main" noGrp="1"/>
          </p:cNvSpPr>
          <p:nvPr/>
        </p:nvSpPr>
        <p:spPr>
          <a:xfrm xmlns:a="http://schemas.openxmlformats.org/drawingml/2006/main">
            <a:off x="5334000" y="48768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BE3C37"/>
                </a:solidFill>
                <a:latin typeface="Arial"/>
                <a:ea typeface="Arial"/>
                <a:cs typeface="Arial"/>
              </a:defRPr>
            </a:pPr>
            <a:r>
              <a:rPr sz="1500" b="1">
                <a:solidFill>
                  <a:srgbClr val="BE3C37"/>
                </a:solidFill>
                <a:latin typeface="Arial"/>
                <a:ea typeface="Arial"/>
                <a:cs typeface="Arial"/>
              </a:rPr>
              <a:t>Legal scope</a:t>
            </a:r>
          </a:p>
        </p:txBody>
      </p:sp>
      <p:sp>
        <p:nvSpPr>
          <p:cNvPr id="28" name="">
            <a:extLst xmlns:a="http://schemas.openxmlformats.org/drawingml/2006/main">
              <a:ext uri="{FF2B5EF4-FFF2-40B4-BE49-F238E27FC236}">
                <a16:creationId xmlns:a16="http://schemas.microsoft.com/office/drawing/2014/main" id="{096B4D8D-5682-4A6A-9047-F2FEEF48A8B7}"/>
              </a:ext>
            </a:extLst>
          </p:cNvPr>
          <p:cNvSpPr>
            <a:spLocks xmlns:a="http://schemas.openxmlformats.org/drawingml/2006/main" noGrp="1"/>
          </p:cNvSpPr>
          <p:nvPr/>
        </p:nvSpPr>
        <p:spPr>
          <a:xfrm xmlns:a="http://schemas.openxmlformats.org/drawingml/2006/main">
            <a:off x="7124700" y="4876800"/>
            <a:ext cx="438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0">
                <a:solidFill>
                  <a:srgbClr val="172033"/>
                </a:solidFill>
                <a:latin typeface="Arial"/>
                <a:ea typeface="Arial"/>
                <a:cs typeface="Arial"/>
              </a:defRPr>
            </a:pPr>
            <a:r>
              <a:rPr sz="1425" b="0">
                <a:solidFill>
                  <a:srgbClr val="172033"/>
                </a:solidFill>
                <a:latin typeface="Arial"/>
                <a:ea typeface="Arial"/>
                <a:cs typeface="Arial"/>
              </a:rPr>
              <a:t>operational triage only; no legal claim</a:t>
            </a:r>
          </a:p>
        </p:txBody>
      </p:sp>
      <p:sp>
        <p:nvSpPr>
          <p:cNvPr id="29" name="">
            <a:extLst xmlns:a="http://schemas.openxmlformats.org/drawingml/2006/main">
              <a:ext uri="{FF2B5EF4-FFF2-40B4-BE49-F238E27FC236}">
                <a16:creationId xmlns:a16="http://schemas.microsoft.com/office/drawing/2014/main" id="{61709ABF-C6C7-4CB5-B2B9-481AE4E3DAC9}"/>
              </a:ext>
            </a:extLst>
          </p:cNvPr>
          <p:cNvSpPr>
            <a:spLocks xmlns:a="http://schemas.openxmlformats.org/drawingml/2006/main" noGrp="1"/>
          </p:cNvSpPr>
          <p:nvPr/>
        </p:nvSpPr>
        <p:spPr>
          <a:xfrm xmlns:a="http://schemas.openxmlformats.org/drawingml/2006/main">
            <a:off x="5334000" y="5676900"/>
            <a:ext cx="6172200" cy="457200"/>
          </a:xfrm>
          <a:prstGeom xmlns:a="http://schemas.openxmlformats.org/drawingml/2006/main" prst="roundRect">
            <a:avLst>
              <a:gd name="adj" fmla="val 25000"/>
            </a:avLst>
          </a:prstGeom>
          <a:solidFill xmlns:a="http://schemas.openxmlformats.org/drawingml/2006/main">
            <a:srgbClr val="E9EEF8"/>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9FA4F0A5-3312-4D65-952B-9A4883F78124}"/>
              </a:ext>
            </a:extLst>
          </p:cNvPr>
          <p:cNvSpPr>
            <a:spLocks xmlns:a="http://schemas.openxmlformats.org/drawingml/2006/main" noGrp="1"/>
          </p:cNvSpPr>
          <p:nvPr/>
        </p:nvSpPr>
        <p:spPr>
          <a:xfrm xmlns:a="http://schemas.openxmlformats.org/drawingml/2006/main">
            <a:off x="5562600" y="5800725"/>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350" b="1">
                <a:solidFill>
                  <a:srgbClr val="233A70"/>
                </a:solidFill>
                <a:latin typeface="Arial"/>
                <a:ea typeface="Arial"/>
                <a:cs typeface="Arial"/>
              </a:defRPr>
            </a:pPr>
            <a:r>
              <a:rPr sz="1350" b="1">
                <a:solidFill>
                  <a:srgbClr val="233A70"/>
                </a:solidFill>
                <a:latin typeface="Arial"/>
                <a:ea typeface="Arial"/>
                <a:cs typeface="Arial"/>
              </a:rPr>
              <a:t>Protocol-specific assessment—not certification or universal ranking.</a:t>
            </a:r>
          </a:p>
        </p:txBody>
      </p:sp>
    </p:spTree>
    <p:extLst>
      <p:ext uri="{BB962C8B-B14F-4D97-AF65-F5344CB8AC3E}">
        <p14:creationId xmlns:p14="http://schemas.microsoft.com/office/powerpoint/2010/main" val="50713968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2026-09-02T20:58:20.0780000Z</dcterms:created>
  <dcterms:modified xsi:type="dcterms:W3CDTF">2026-09-02T20:58:20.0780000Z</dcterms:modified>
</coreProperties>
</file>